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Welcome to this engineering walkthrough of Kubernetes cluster architecture. Over the next ten drawings, we will read the system the way an engineer reads a blueprint: starting from the topology overview, going inside each component, then watching the whole thing operate. Every diagram is drawn as an isometric schematic rather than a marketing illustration, because the point is to see the structure, not the brand.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thing to internalize about Kubernetes is that it has two planes, not one. The control plane makes global decisions and holds the desired state of every API object. The data plane runs the actual workloads, one or more worker nodes carrying the Pods. The spine connecting them is the API server, and every line that crosses from one plane to the other must pass through it. Hold that picture in your head — every later drawing is a zoom into one part of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control plane is five components arranged around one hub. At the center sits kube-apiserver, the only component allowed to talk to etcd, the persistent key-value store on its left. Around the apiserver three reconciliation loops listen and act: the scheduler picks a node for every unscheduled Pod, the controller-manager runs the workload controllers, and the optional cloud-controller-manager translates cluster intent into cloud-provider primitives like load balancers and routes. Notice that every spoke watches the apiserver — none of them call each other directly.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we drop into a single worker node. Three layers stack inside it. At the top, the kubelet acts as the node-level agent — it watches the apiserver for Pods scheduled to this node and instructs the runtime to make those Pods real. Below it, kube-proxy programs the network rules so that Service virtual IPs route to the correct backing Pods, using iptables, IPVS, or nftables depending on configuration. At the base, the container runtime — containerd or CRI-O — actually starts the containers through the CRI interface. The green cubes inside are the Pods, the smallest unit you can schedule.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 Pod is scheduled exactly once in its lifetime. It begins in the Pending phase while the scheduler binds it to a node and the runtime pulls images. Once at least one container is live, the phase becomes Running, the highlighted middle box of this diagram. From Running there are two terminal exits: Succeeded if every container exited cleanly, Failed if any exited with a non-zero status. A third branch, Unknown, appears when the apiserver loses contact with the node. Below the phases, the container-state track shows the per-container view: Waiting, Running, Terminated, with the restart policy controlling how kubelet handles failures, backed by exponential backoff up to five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 Service gives you a stable virtual endpoint in front of an ever-changing set of Pods. Four pillars, ordered from internal to external reach. ClusterIP is the default and the most common — internal only, virtual IP only, kube-proxy translates it. NodePort opens a static port on every node in the thirty-thousand range, useful when there is no cloud load balancer available. LoadBalancer, the highlighted production pattern, asks the cloud-controller-manager to provision a real external load balancer with a public IP. ExternalName is the edge case — no proxying, just a DNS CNAME alias pointing at something outside the cluster, typically used as a migration shim or to model an external database as a Kubernetes Service.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Persistent storage in Kubernetes is a three-resource contract. On the left stack, the Pod claims storage by naming a PersistentVolumeClaim, the PVC requests size and access mode, and the PersistentVolume represents a concrete backing disk — a cloud volume, an NFS share, or any storage backend. On the right side, the admin defines a StorageClass — a recipe — and a CSI driver implements it. When dynamic provisioning is enabled, a PVC request triggers the StorageClass to create a fresh PV on demand. The access modes ReadWriteOnce, ReadOnlyMany, ReadWriteMany, and ReadWriteOncePod control how many nodes or Pods can mount the volume, and the reclaim policy decides what happens to the data when the PVC is deleted.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Production clusters need at least three control-plane hosts and an odd number of etcd members for Raft quorum. Two topologies are common. On the left, stacked: etcd runs on the same host as the apiserver, simpler to operate and cheaper, at the cost of weaker failure isolation — losing one host loses one apiserver and one etcd member at the same time. On the right, the recommended external topology: etcd runs on dedicated hosts in its own tier, so the storage layer can survive apiserver pressure independently. Scheduler and controller-manager are leader-elected in either topology, which is why running three replicas is safe.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the punchline drawing. Every component on the left — kubectl clients, the scheduler, the controller-manager, every kubelet on every node, kube-proxy, and the cloud-controller-manager — talks to one component in the middle, kube-apiserver. On the right, the apiserver is the only thing that writes to etcd, the cluster's sole persistent store. The arrows in green going back left are status reports and decisions; the arrows in cyan going right are watches and patches. This pattern — everything is API-mediated — is what makes Kubernetes pluggable, observable, and auditable. You can join the cluster by writing a controller that watches the API, and everything else falls into place.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If you remember three things from this walkthrough, take these. First, one spine — kube-apiserver mediates every state change; no component talks to another directly, and that constraint is the architecture. Second, one truth — etcd is the only persistent store; back it up, run an odd number, and Raft handles the rest. Third, one loop — every controller in Kubernetes is the same shape: watch the API for desired state, diff it against actual state, act to converge. Once you see that loop, you can read the source of any controller in the ecosystem, because they are all variations on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5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70000"/>
                </a:srgbClr>
              </a:fgClr>
              <a:bgClr>
                <a:srgbClr val="0E2A47"/>
              </a:bgClr>
            </a:pattFill>
            <a:ln>
              <a:noFill/>
            </a:ln>
          </p:spPr>
        </p:sp>
        <p:sp>
          <p:nvSpPr>
            <p:cNvPr id="5" name="Rectangle 5"/>
            <p:cNvSpPr/>
            <p:nvPr/>
          </p:nvSpPr>
          <p:spPr>
            <a:xfrm>
              <a:off x="0" y="0"/>
              <a:ext cx="12192000" cy="6858000"/>
            </a:xfrm>
            <a:prstGeom prst="rect">
              <a:avLst/>
            </a:prstGeom>
            <a:gradFill>
              <a:gsLst>
                <a:gs pos="60000">
                  <a:srgbClr val="0E2A47">
                    <a:alpha val="0"/>
                  </a:srgbClr>
                </a:gs>
                <a:gs pos="100000">
                  <a:srgbClr val="000000">
                    <a:alpha val="45000"/>
                  </a:srgbClr>
                </a:gs>
              </a:gsLst>
              <a:path path="circle">
                <a:fillToRect l="50000" t="50000" r="50000" b="50000"/>
              </a:path>
            </a:gradFill>
            <a:ln>
              <a:noFill/>
            </a:ln>
          </p:spPr>
        </p:sp>
      </p:grpSp>
      <p:grpSp>
        <p:nvGrpSpPr>
          <p:cNvPr id="12" name="Group 12"/>
          <p:cNvGrpSpPr/>
          <p:nvPr/>
        </p:nvGrpSpPr>
        <p:grpSpPr>
          <a:xfrm>
            <a:off x="510540" y="952500"/>
            <a:ext cx="4990624" cy="2219325"/>
            <a:chOff x="510540" y="952500"/>
            <a:chExt cx="4990624" cy="2219325"/>
          </a:xfrm>
        </p:grpSpPr>
        <p:sp>
          <p:nvSpPr>
            <p:cNvPr id="7" name="Line 7"/>
            <p:cNvSpPr/>
            <p:nvPr/>
          </p:nvSpPr>
          <p:spPr>
            <a:xfrm>
              <a:off x="571500" y="952500"/>
              <a:ext cx="1524000" cy="9525"/>
            </a:xfrm>
            <a:custGeom>
              <a:avLst/>
              <a:gdLst/>
              <a:ahLst/>
              <a:cxnLst/>
              <a:rect l="l" t="t" r="r" b="b"/>
              <a:pathLst>
                <a:path w="1524000" h="9525">
                  <a:moveTo>
                    <a:pt x="0" y="0"/>
                  </a:moveTo>
                  <a:lnTo>
                    <a:pt x="1524000" y="0"/>
                  </a:lnTo>
                </a:path>
              </a:pathLst>
            </a:custGeom>
            <a:noFill/>
            <a:ln w="19050">
              <a:solidFill>
                <a:srgbClr val="FFB627"/>
              </a:solidFill>
            </a:ln>
          </p:spPr>
        </p:sp>
        <p:sp>
          <p:nvSpPr>
            <p:cNvPr id="8" name="TextBox 8"/>
            <p:cNvSpPr txBox="1"/>
            <p:nvPr/>
          </p:nvSpPr>
          <p:spPr>
            <a:xfrm>
              <a:off x="559118" y="1132999"/>
              <a:ext cx="2027015" cy="198120"/>
            </a:xfrm>
            <a:prstGeom prst="rect">
              <a:avLst/>
            </a:prstGeom>
            <a:noFill/>
            <a:ln>
              <a:noFill/>
            </a:ln>
          </p:spPr>
          <p:txBody>
            <a:bodyPr wrap="none" lIns="0" tIns="0" rIns="0" bIns="0" anchor="t" anchorCtr="0">
              <a:spAutoFit/>
            </a:bodyPr>
            <a:lstStyle/>
            <a:p>
              <a:pPr algn="l"/>
              <a:r>
                <a:rPr lang="zh-CN" sz="975" dirty="0">
                  <a:solidFill>
                    <a:srgbClr val="FFB627"/>
                  </a:solidFill>
                  <a:latin typeface="Consolas"/>
                  <a:ea typeface="Microsoft YaHei"/>
                  <a:cs typeface="Consolas"/>
                </a:rPr>
                <a:t>DRAWING NO. K8S-ARCH-2026 / 01</a:t>
              </a:r>
            </a:p>
          </p:txBody>
        </p:sp>
        <p:sp>
          <p:nvSpPr>
            <p:cNvPr id="9" name="TextBox 9"/>
            <p:cNvSpPr txBox="1"/>
            <p:nvPr/>
          </p:nvSpPr>
          <p:spPr>
            <a:xfrm>
              <a:off x="510540" y="1577340"/>
              <a:ext cx="3818382" cy="975360"/>
            </a:xfrm>
            <a:prstGeom prst="rect">
              <a:avLst/>
            </a:prstGeom>
            <a:noFill/>
            <a:ln>
              <a:noFill/>
            </a:ln>
          </p:spPr>
          <p:txBody>
            <a:bodyPr wrap="none" lIns="0" tIns="0" rIns="0" bIns="0" anchor="t" anchorCtr="0">
              <a:spAutoFit/>
            </a:bodyPr>
            <a:lstStyle/>
            <a:p>
              <a:pPr algn="l"/>
              <a:r>
                <a:rPr lang="zh-CN" sz="4800" b="1" dirty="0">
                  <a:solidFill>
                    <a:srgbClr val="F0F4F8"/>
                  </a:solidFill>
                  <a:latin typeface="Arial"/>
                  <a:ea typeface="Microsoft YaHei"/>
                  <a:cs typeface="Arial"/>
                </a:rPr>
                <a:t>Kubernetes</a:t>
              </a:r>
            </a:p>
          </p:txBody>
        </p:sp>
        <p:sp>
          <p:nvSpPr>
            <p:cNvPr id="10" name="TextBox 10"/>
            <p:cNvSpPr txBox="1"/>
            <p:nvPr/>
          </p:nvSpPr>
          <p:spPr>
            <a:xfrm>
              <a:off x="528638" y="2283619"/>
              <a:ext cx="4929455" cy="685800"/>
            </a:xfrm>
            <a:prstGeom prst="rect">
              <a:avLst/>
            </a:prstGeom>
            <a:noFill/>
            <a:ln>
              <a:noFill/>
            </a:ln>
          </p:spPr>
          <p:txBody>
            <a:bodyPr wrap="none" lIns="0" tIns="0" rIns="0" bIns="0" anchor="t" anchorCtr="0">
              <a:spAutoFit/>
            </a:bodyPr>
            <a:lstStyle/>
            <a:p>
              <a:pPr algn="l"/>
              <a:r>
                <a:rPr lang="zh-CN" sz="3375" b="1" dirty="0">
                  <a:solidFill>
                    <a:srgbClr val="5BA3E0"/>
                  </a:solidFill>
                  <a:latin typeface="Arial"/>
                  <a:ea typeface="Microsoft YaHei"/>
                  <a:cs typeface="Arial"/>
                </a:rPr>
                <a:t>Cluster Architecture</a:t>
              </a:r>
            </a:p>
          </p:txBody>
        </p:sp>
        <p:sp>
          <p:nvSpPr>
            <p:cNvPr id="11" name="TextBox 11"/>
            <p:cNvSpPr txBox="1"/>
            <p:nvPr/>
          </p:nvSpPr>
          <p:spPr>
            <a:xfrm>
              <a:off x="552450" y="2867025"/>
              <a:ext cx="4948714" cy="304800"/>
            </a:xfrm>
            <a:prstGeom prst="rect">
              <a:avLst/>
            </a:prstGeom>
            <a:noFill/>
            <a:ln>
              <a:noFill/>
            </a:ln>
          </p:spPr>
          <p:txBody>
            <a:bodyPr wrap="none" lIns="0" tIns="0" rIns="0" bIns="0" anchor="t" anchorCtr="0">
              <a:spAutoFit/>
            </a:bodyPr>
            <a:lstStyle/>
            <a:p>
              <a:pPr algn="l"/>
              <a:r>
                <a:rPr lang="zh-CN" sz="1500" dirty="0">
                  <a:solidFill>
                    <a:srgbClr val="A0B8D0"/>
                  </a:solidFill>
                  <a:latin typeface="Arial"/>
                  <a:ea typeface="Microsoft YaHei"/>
                  <a:cs typeface="Arial"/>
                </a:rPr>
                <a:t>A Blueprint of the Modern Container Orchestrator</a:t>
              </a:r>
            </a:p>
          </p:txBody>
        </p:sp>
      </p:grpSp>
      <p:grpSp>
        <p:nvGrpSpPr>
          <p:cNvPr id="25" name="Group 25"/>
          <p:cNvGrpSpPr/>
          <p:nvPr/>
        </p:nvGrpSpPr>
        <p:grpSpPr>
          <a:xfrm>
            <a:off x="571500" y="5810250"/>
            <a:ext cx="4309110" cy="519112"/>
            <a:chOff x="571500" y="5810250"/>
            <a:chExt cx="4309110" cy="519112"/>
          </a:xfrm>
        </p:grpSpPr>
        <p:sp>
          <p:nvSpPr>
            <p:cNvPr id="13" name="Line 13"/>
            <p:cNvSpPr/>
            <p:nvPr/>
          </p:nvSpPr>
          <p:spPr>
            <a:xfrm>
              <a:off x="571500" y="5810250"/>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14" name="TextBox 14"/>
            <p:cNvSpPr txBox="1"/>
            <p:nvPr/>
          </p:nvSpPr>
          <p:spPr>
            <a:xfrm>
              <a:off x="732472" y="5854541"/>
              <a:ext cx="32349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SCALE</a:t>
              </a:r>
            </a:p>
          </p:txBody>
        </p:sp>
        <p:sp>
          <p:nvSpPr>
            <p:cNvPr id="15" name="TextBox 15"/>
            <p:cNvSpPr txBox="1"/>
            <p:nvPr/>
          </p:nvSpPr>
          <p:spPr>
            <a:xfrm>
              <a:off x="730568" y="5990749"/>
              <a:ext cx="284798" cy="198120"/>
            </a:xfrm>
            <a:prstGeom prst="rect">
              <a:avLst/>
            </a:prstGeom>
            <a:noFill/>
            <a:ln>
              <a:noFill/>
            </a:ln>
          </p:spPr>
          <p:txBody>
            <a:bodyPr wrap="none" lIns="0" tIns="0" rIns="0" bIns="0" anchor="t" anchorCtr="0">
              <a:spAutoFit/>
            </a:bodyPr>
            <a:lstStyle/>
            <a:p>
              <a:pPr algn="l"/>
              <a:r>
                <a:rPr lang="zh-CN" sz="975" dirty="0">
                  <a:solidFill>
                    <a:srgbClr val="F0F4F8"/>
                  </a:solidFill>
                  <a:latin typeface="Consolas"/>
                  <a:ea typeface="Microsoft YaHei"/>
                  <a:cs typeface="Consolas"/>
                </a:rPr>
                <a:t>1 : ∞</a:t>
              </a:r>
            </a:p>
          </p:txBody>
        </p:sp>
        <p:sp>
          <p:nvSpPr>
            <p:cNvPr id="16" name="TextBox 16"/>
            <p:cNvSpPr txBox="1"/>
            <p:nvPr/>
          </p:nvSpPr>
          <p:spPr>
            <a:xfrm>
              <a:off x="733425" y="6176962"/>
              <a:ext cx="979170"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CLUSTER-LEVEL VIEW</a:t>
              </a:r>
            </a:p>
          </p:txBody>
        </p:sp>
        <p:sp>
          <p:nvSpPr>
            <p:cNvPr id="17" name="Line 17"/>
            <p:cNvSpPr/>
            <p:nvPr/>
          </p:nvSpPr>
          <p:spPr>
            <a:xfrm>
              <a:off x="2095500" y="5810250"/>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18" name="TextBox 18"/>
            <p:cNvSpPr txBox="1"/>
            <p:nvPr/>
          </p:nvSpPr>
          <p:spPr>
            <a:xfrm>
              <a:off x="2256472" y="5854541"/>
              <a:ext cx="64253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PROJECTION</a:t>
              </a:r>
            </a:p>
          </p:txBody>
        </p:sp>
        <p:sp>
          <p:nvSpPr>
            <p:cNvPr id="19" name="TextBox 19"/>
            <p:cNvSpPr txBox="1"/>
            <p:nvPr/>
          </p:nvSpPr>
          <p:spPr>
            <a:xfrm>
              <a:off x="2254568" y="5990749"/>
              <a:ext cx="655344" cy="198120"/>
            </a:xfrm>
            <a:prstGeom prst="rect">
              <a:avLst/>
            </a:prstGeom>
            <a:noFill/>
            <a:ln>
              <a:noFill/>
            </a:ln>
          </p:spPr>
          <p:txBody>
            <a:bodyPr wrap="none" lIns="0" tIns="0" rIns="0" bIns="0" anchor="t" anchorCtr="0">
              <a:spAutoFit/>
            </a:bodyPr>
            <a:lstStyle/>
            <a:p>
              <a:pPr algn="l"/>
              <a:r>
                <a:rPr lang="zh-CN" sz="975" dirty="0">
                  <a:solidFill>
                    <a:srgbClr val="F0F4F8"/>
                  </a:solidFill>
                  <a:latin typeface="Consolas"/>
                  <a:ea typeface="Microsoft YaHei"/>
                  <a:cs typeface="Consolas"/>
                </a:rPr>
                <a:t>ISOMETRIC</a:t>
              </a:r>
            </a:p>
          </p:txBody>
        </p:sp>
        <p:sp>
          <p:nvSpPr>
            <p:cNvPr id="20" name="TextBox 20"/>
            <p:cNvSpPr txBox="1"/>
            <p:nvPr/>
          </p:nvSpPr>
          <p:spPr>
            <a:xfrm>
              <a:off x="2257425" y="6176962"/>
              <a:ext cx="744141"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30° / 30° / 90°</a:t>
              </a:r>
            </a:p>
          </p:txBody>
        </p:sp>
        <p:sp>
          <p:nvSpPr>
            <p:cNvPr id="21" name="Line 21"/>
            <p:cNvSpPr/>
            <p:nvPr/>
          </p:nvSpPr>
          <p:spPr>
            <a:xfrm>
              <a:off x="3619500" y="5810250"/>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22" name="TextBox 22"/>
            <p:cNvSpPr txBox="1"/>
            <p:nvPr/>
          </p:nvSpPr>
          <p:spPr>
            <a:xfrm>
              <a:off x="3780472" y="5854541"/>
              <a:ext cx="38400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SHEETS</a:t>
              </a:r>
            </a:p>
          </p:txBody>
        </p:sp>
        <p:sp>
          <p:nvSpPr>
            <p:cNvPr id="23" name="TextBox 23"/>
            <p:cNvSpPr txBox="1"/>
            <p:nvPr/>
          </p:nvSpPr>
          <p:spPr>
            <a:xfrm>
              <a:off x="3778568" y="5990749"/>
              <a:ext cx="395311" cy="198120"/>
            </a:xfrm>
            <a:prstGeom prst="rect">
              <a:avLst/>
            </a:prstGeom>
            <a:noFill/>
            <a:ln>
              <a:noFill/>
            </a:ln>
          </p:spPr>
          <p:txBody>
            <a:bodyPr wrap="none" lIns="0" tIns="0" rIns="0" bIns="0" anchor="t" anchorCtr="0">
              <a:spAutoFit/>
            </a:bodyPr>
            <a:lstStyle/>
            <a:p>
              <a:pPr algn="l"/>
              <a:r>
                <a:rPr lang="zh-CN" sz="975" dirty="0">
                  <a:solidFill>
                    <a:srgbClr val="F0F4F8"/>
                  </a:solidFill>
                  <a:latin typeface="Consolas"/>
                  <a:ea typeface="Microsoft YaHei"/>
                  <a:cs typeface="Consolas"/>
                </a:rPr>
                <a:t>10 / 10</a:t>
              </a:r>
            </a:p>
          </p:txBody>
        </p:sp>
        <p:sp>
          <p:nvSpPr>
            <p:cNvPr id="24" name="TextBox 24"/>
            <p:cNvSpPr txBox="1"/>
            <p:nvPr/>
          </p:nvSpPr>
          <p:spPr>
            <a:xfrm>
              <a:off x="3781425" y="6176962"/>
              <a:ext cx="1099185"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ENGINEERING REFERENCE</a:t>
              </a:r>
            </a:p>
          </p:txBody>
        </p:sp>
      </p:grpSp>
      <p:grpSp>
        <p:nvGrpSpPr>
          <p:cNvPr id="36" name="Group 36"/>
          <p:cNvGrpSpPr/>
          <p:nvPr/>
        </p:nvGrpSpPr>
        <p:grpSpPr>
          <a:xfrm>
            <a:off x="5276850" y="1966912"/>
            <a:ext cx="5962650" cy="3533776"/>
            <a:chOff x="5276850" y="1966912"/>
            <a:chExt cx="5962650" cy="3533776"/>
          </a:xfrm>
        </p:grpSpPr>
        <p:sp>
          <p:nvSpPr>
            <p:cNvPr id="26" name="Ellipse 26"/>
            <p:cNvSpPr/>
            <p:nvPr/>
          </p:nvSpPr>
          <p:spPr>
            <a:xfrm>
              <a:off x="5905500" y="3381375"/>
              <a:ext cx="5334000" cy="762000"/>
            </a:xfrm>
            <a:prstGeom prst="ellipse">
              <a:avLst/>
            </a:prstGeom>
            <a:solidFill>
              <a:srgbClr val="5BA3E0">
                <a:alpha val="4000"/>
              </a:srgbClr>
            </a:solidFill>
            <a:ln w="4762">
              <a:solidFill>
                <a:srgbClr val="3E7AB8"/>
              </a:solidFill>
              <a:custDash>
                <a:ds d="600000" sp="1000000"/>
              </a:custDash>
            </a:ln>
          </p:spPr>
        </p:sp>
        <p:sp>
          <p:nvSpPr>
            <p:cNvPr id="27" name="Line 27"/>
            <p:cNvSpPr/>
            <p:nvPr/>
          </p:nvSpPr>
          <p:spPr>
            <a:xfrm>
              <a:off x="6953250" y="3048000"/>
              <a:ext cx="1619250" cy="714375"/>
            </a:xfrm>
            <a:custGeom>
              <a:avLst/>
              <a:gdLst/>
              <a:ahLst/>
              <a:cxnLst/>
              <a:rect l="l" t="t" r="r" b="b"/>
              <a:pathLst>
                <a:path w="1619250" h="714375">
                  <a:moveTo>
                    <a:pt x="1619250" y="0"/>
                  </a:moveTo>
                  <a:lnTo>
                    <a:pt x="0" y="714375"/>
                  </a:lnTo>
                </a:path>
              </a:pathLst>
            </a:custGeom>
            <a:noFill/>
            <a:ln w="9525">
              <a:solidFill>
                <a:srgbClr val="5BA3E0">
                  <a:alpha val="60000"/>
                </a:srgbClr>
              </a:solidFill>
              <a:custDash>
                <a:ds d="300000" sp="400000"/>
              </a:custDash>
            </a:ln>
          </p:spPr>
        </p:sp>
        <p:sp>
          <p:nvSpPr>
            <p:cNvPr id="28" name="Line 28"/>
            <p:cNvSpPr/>
            <p:nvPr/>
          </p:nvSpPr>
          <p:spPr>
            <a:xfrm>
              <a:off x="8572500" y="3048000"/>
              <a:ext cx="9525" cy="714375"/>
            </a:xfrm>
            <a:custGeom>
              <a:avLst/>
              <a:gdLst/>
              <a:ahLst/>
              <a:cxnLst/>
              <a:rect l="l" t="t" r="r" b="b"/>
              <a:pathLst>
                <a:path w="9525" h="714375">
                  <a:moveTo>
                    <a:pt x="0" y="0"/>
                  </a:moveTo>
                  <a:lnTo>
                    <a:pt x="0" y="714375"/>
                  </a:lnTo>
                </a:path>
              </a:pathLst>
            </a:custGeom>
            <a:noFill/>
            <a:ln w="9525">
              <a:solidFill>
                <a:srgbClr val="5BA3E0">
                  <a:alpha val="60000"/>
                </a:srgbClr>
              </a:solidFill>
              <a:custDash>
                <a:ds d="300000" sp="400000"/>
              </a:custDash>
            </a:ln>
          </p:spPr>
        </p:sp>
        <p:sp>
          <p:nvSpPr>
            <p:cNvPr id="29" name="Line 29"/>
            <p:cNvSpPr/>
            <p:nvPr/>
          </p:nvSpPr>
          <p:spPr>
            <a:xfrm>
              <a:off x="8572500" y="3048000"/>
              <a:ext cx="1619250" cy="714375"/>
            </a:xfrm>
            <a:custGeom>
              <a:avLst/>
              <a:gdLst/>
              <a:ahLst/>
              <a:cxnLst/>
              <a:rect l="l" t="t" r="r" b="b"/>
              <a:pathLst>
                <a:path w="1619250" h="714375">
                  <a:moveTo>
                    <a:pt x="0" y="0"/>
                  </a:moveTo>
                  <a:lnTo>
                    <a:pt x="1619250" y="714375"/>
                  </a:lnTo>
                </a:path>
              </a:pathLst>
            </a:custGeom>
            <a:noFill/>
            <a:ln w="9525">
              <a:solidFill>
                <a:srgbClr val="5BA3E0">
                  <a:alpha val="60000"/>
                </a:srgbClr>
              </a:solidFill>
              <a:custDash>
                <a:ds d="300000" sp="400000"/>
              </a:custDash>
            </a:ln>
          </p:spPr>
        </p:sp>
        <p:sp>
          <p:nvSpPr>
            <p:cNvPr id="30" name="Line 30"/>
            <p:cNvSpPr/>
            <p:nvPr/>
          </p:nvSpPr>
          <p:spPr>
            <a:xfrm>
              <a:off x="5715000" y="2381250"/>
              <a:ext cx="381000" cy="9525"/>
            </a:xfrm>
            <a:custGeom>
              <a:avLst/>
              <a:gdLst/>
              <a:ahLst/>
              <a:cxnLst/>
              <a:rect l="l" t="t" r="r" b="b"/>
              <a:pathLst>
                <a:path w="381000" h="9525">
                  <a:moveTo>
                    <a:pt x="0" y="0"/>
                  </a:moveTo>
                  <a:lnTo>
                    <a:pt x="381000" y="0"/>
                  </a:lnTo>
                </a:path>
              </a:pathLst>
            </a:custGeom>
            <a:noFill/>
            <a:ln w="7620">
              <a:solidFill>
                <a:srgbClr val="FFB627"/>
              </a:solidFill>
            </a:ln>
          </p:spPr>
        </p:sp>
        <p:sp>
          <p:nvSpPr>
            <p:cNvPr id="31" name="Line 31"/>
            <p:cNvSpPr/>
            <p:nvPr/>
          </p:nvSpPr>
          <p:spPr>
            <a:xfrm>
              <a:off x="5715000" y="2095500"/>
              <a:ext cx="9525" cy="285750"/>
            </a:xfrm>
            <a:custGeom>
              <a:avLst/>
              <a:gdLst/>
              <a:ahLst/>
              <a:cxnLst/>
              <a:rect l="l" t="t" r="r" b="b"/>
              <a:pathLst>
                <a:path w="9525" h="285750">
                  <a:moveTo>
                    <a:pt x="0" y="285750"/>
                  </a:moveTo>
                  <a:lnTo>
                    <a:pt x="0" y="0"/>
                  </a:lnTo>
                </a:path>
              </a:pathLst>
            </a:custGeom>
            <a:noFill/>
            <a:ln w="7620">
              <a:solidFill>
                <a:srgbClr val="FFB627"/>
              </a:solidFill>
            </a:ln>
          </p:spPr>
        </p:sp>
        <p:sp>
          <p:nvSpPr>
            <p:cNvPr id="32" name="TextBox 32"/>
            <p:cNvSpPr txBox="1"/>
            <p:nvPr/>
          </p:nvSpPr>
          <p:spPr>
            <a:xfrm>
              <a:off x="5800725" y="1966912"/>
              <a:ext cx="749141"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CONTROL PLANE</a:t>
              </a:r>
            </a:p>
          </p:txBody>
        </p:sp>
        <p:sp>
          <p:nvSpPr>
            <p:cNvPr id="33" name="Line 33"/>
            <p:cNvSpPr/>
            <p:nvPr/>
          </p:nvSpPr>
          <p:spPr>
            <a:xfrm>
              <a:off x="5715000" y="4429125"/>
              <a:ext cx="381000" cy="9525"/>
            </a:xfrm>
            <a:custGeom>
              <a:avLst/>
              <a:gdLst/>
              <a:ahLst/>
              <a:cxnLst/>
              <a:rect l="l" t="t" r="r" b="b"/>
              <a:pathLst>
                <a:path w="381000" h="9525">
                  <a:moveTo>
                    <a:pt x="0" y="0"/>
                  </a:moveTo>
                  <a:lnTo>
                    <a:pt x="381000" y="0"/>
                  </a:lnTo>
                </a:path>
              </a:pathLst>
            </a:custGeom>
            <a:noFill/>
            <a:ln w="7620">
              <a:solidFill>
                <a:srgbClr val="5BA3E0"/>
              </a:solidFill>
            </a:ln>
          </p:spPr>
        </p:sp>
        <p:sp>
          <p:nvSpPr>
            <p:cNvPr id="34" name="Line 34"/>
            <p:cNvSpPr/>
            <p:nvPr/>
          </p:nvSpPr>
          <p:spPr>
            <a:xfrm>
              <a:off x="5715000" y="4429125"/>
              <a:ext cx="9525" cy="857250"/>
            </a:xfrm>
            <a:custGeom>
              <a:avLst/>
              <a:gdLst/>
              <a:ahLst/>
              <a:cxnLst/>
              <a:rect l="l" t="t" r="r" b="b"/>
              <a:pathLst>
                <a:path w="9525" h="857250">
                  <a:moveTo>
                    <a:pt x="0" y="0"/>
                  </a:moveTo>
                  <a:lnTo>
                    <a:pt x="0" y="857250"/>
                  </a:lnTo>
                </a:path>
              </a:pathLst>
            </a:custGeom>
            <a:noFill/>
            <a:ln w="7620">
              <a:solidFill>
                <a:srgbClr val="5BA3E0"/>
              </a:solidFill>
            </a:ln>
          </p:spPr>
        </p:sp>
        <p:sp>
          <p:nvSpPr>
            <p:cNvPr id="35" name="TextBox 35"/>
            <p:cNvSpPr txBox="1"/>
            <p:nvPr/>
          </p:nvSpPr>
          <p:spPr>
            <a:xfrm>
              <a:off x="5276850" y="5348288"/>
              <a:ext cx="544116" cy="152400"/>
            </a:xfrm>
            <a:prstGeom prst="rect">
              <a:avLst/>
            </a:prstGeom>
            <a:noFill/>
            <a:ln>
              <a:noFill/>
            </a:ln>
          </p:spPr>
          <p:txBody>
            <a:bodyPr wrap="none" lIns="0" tIns="0" rIns="0" bIns="0" anchor="t" anchorCtr="0">
              <a:spAutoFit/>
            </a:bodyPr>
            <a:lstStyle/>
            <a:p>
              <a:pPr algn="l"/>
              <a:r>
                <a:rPr lang="zh-CN" sz="750" dirty="0">
                  <a:solidFill>
                    <a:srgbClr val="5BA3E0"/>
                  </a:solidFill>
                  <a:latin typeface="Consolas"/>
                  <a:ea typeface="Microsoft YaHei"/>
                  <a:cs typeface="Consolas"/>
                </a:rPr>
                <a:t>DATA PLANE</a:t>
              </a:r>
            </a:p>
          </p:txBody>
        </p:sp>
      </p:grpSp>
      <p:grpSp>
        <p:nvGrpSpPr>
          <p:cNvPr id="46" name="Group 46"/>
          <p:cNvGrpSpPr/>
          <p:nvPr/>
        </p:nvGrpSpPr>
        <p:grpSpPr>
          <a:xfrm>
            <a:off x="7429500" y="1238250"/>
            <a:ext cx="2286000" cy="2286000"/>
            <a:chOff x="7429500" y="1238250"/>
            <a:chExt cx="2286000" cy="2286000"/>
          </a:xfrm>
        </p:grpSpPr>
        <p:sp>
          <p:nvSpPr>
            <p:cNvPr id="37" name="Ellipse 37"/>
            <p:cNvSpPr/>
            <p:nvPr/>
          </p:nvSpPr>
          <p:spPr>
            <a:xfrm>
              <a:off x="7429500" y="1238250"/>
              <a:ext cx="2286000" cy="2286000"/>
            </a:xfrm>
            <a:prstGeom prst="ellipse">
              <a:avLst/>
            </a:prstGeom>
            <a:gradFill>
              <a:gsLst>
                <a:gs pos="0">
                  <a:srgbClr val="FFB627">
                    <a:alpha val="35000"/>
                  </a:srgbClr>
                </a:gs>
                <a:gs pos="100000">
                  <a:srgbClr val="FFB627">
                    <a:alpha val="0"/>
                  </a:srgbClr>
                </a:gs>
              </a:gsLst>
              <a:path path="circle">
                <a:fillToRect l="50000" t="50000" r="50000" b="50000"/>
              </a:path>
            </a:gradFill>
            <a:ln>
              <a:noFill/>
            </a:ln>
          </p:spPr>
        </p:sp>
        <p:sp>
          <p:nvSpPr>
            <p:cNvPr id="38" name="Polygon 38"/>
            <p:cNvSpPr/>
            <p:nvPr/>
          </p:nvSpPr>
          <p:spPr>
            <a:xfrm>
              <a:off x="7905750" y="1714500"/>
              <a:ext cx="1333500" cy="1619250"/>
            </a:xfrm>
            <a:custGeom>
              <a:avLst/>
              <a:gdLst/>
              <a:ahLst/>
              <a:cxnLst/>
              <a:rect l="l" t="t" r="r" b="b"/>
              <a:pathLst>
                <a:path w="1333500" h="1619250">
                  <a:moveTo>
                    <a:pt x="666750" y="0"/>
                  </a:moveTo>
                  <a:lnTo>
                    <a:pt x="1333500" y="381000"/>
                  </a:lnTo>
                  <a:lnTo>
                    <a:pt x="1333500" y="1238250"/>
                  </a:lnTo>
                  <a:lnTo>
                    <a:pt x="666750" y="1619250"/>
                  </a:lnTo>
                  <a:lnTo>
                    <a:pt x="0" y="1238250"/>
                  </a:lnTo>
                  <a:lnTo>
                    <a:pt x="0" y="381000"/>
                  </a:lnTo>
                  <a:close/>
                </a:path>
              </a:pathLst>
            </a:custGeom>
            <a:solidFill>
              <a:srgbClr val="1A3A5C"/>
            </a:solidFill>
            <a:ln w="19050">
              <a:solidFill>
                <a:srgbClr val="FFB627"/>
              </a:solidFill>
            </a:ln>
          </p:spPr>
        </p:sp>
        <p:sp>
          <p:nvSpPr>
            <p:cNvPr id="39" name="Line 39"/>
            <p:cNvSpPr/>
            <p:nvPr/>
          </p:nvSpPr>
          <p:spPr>
            <a:xfrm>
              <a:off x="8572500" y="1714500"/>
              <a:ext cx="9525" cy="762000"/>
            </a:xfrm>
            <a:custGeom>
              <a:avLst/>
              <a:gdLst/>
              <a:ahLst/>
              <a:cxnLst/>
              <a:rect l="l" t="t" r="r" b="b"/>
              <a:pathLst>
                <a:path w="9525" h="762000">
                  <a:moveTo>
                    <a:pt x="0" y="0"/>
                  </a:moveTo>
                  <a:lnTo>
                    <a:pt x="0" y="762000"/>
                  </a:lnTo>
                </a:path>
              </a:pathLst>
            </a:custGeom>
            <a:noFill/>
            <a:ln w="14288">
              <a:solidFill>
                <a:srgbClr val="FFB627"/>
              </a:solidFill>
            </a:ln>
          </p:spPr>
        </p:sp>
        <p:sp>
          <p:nvSpPr>
            <p:cNvPr id="40" name="Line 40"/>
            <p:cNvSpPr/>
            <p:nvPr/>
          </p:nvSpPr>
          <p:spPr>
            <a:xfrm>
              <a:off x="7905750" y="2095500"/>
              <a:ext cx="666750" cy="381000"/>
            </a:xfrm>
            <a:custGeom>
              <a:avLst/>
              <a:gdLst/>
              <a:ahLst/>
              <a:cxnLst/>
              <a:rect l="l" t="t" r="r" b="b"/>
              <a:pathLst>
                <a:path w="666750" h="381000">
                  <a:moveTo>
                    <a:pt x="666750" y="381000"/>
                  </a:moveTo>
                  <a:lnTo>
                    <a:pt x="0" y="0"/>
                  </a:lnTo>
                </a:path>
              </a:pathLst>
            </a:custGeom>
            <a:noFill/>
            <a:ln w="14288">
              <a:solidFill>
                <a:srgbClr val="FFB627"/>
              </a:solidFill>
            </a:ln>
          </p:spPr>
        </p:sp>
        <p:sp>
          <p:nvSpPr>
            <p:cNvPr id="41" name="Line 41"/>
            <p:cNvSpPr/>
            <p:nvPr/>
          </p:nvSpPr>
          <p:spPr>
            <a:xfrm>
              <a:off x="8572500" y="2095500"/>
              <a:ext cx="666750" cy="381000"/>
            </a:xfrm>
            <a:custGeom>
              <a:avLst/>
              <a:gdLst/>
              <a:ahLst/>
              <a:cxnLst/>
              <a:rect l="l" t="t" r="r" b="b"/>
              <a:pathLst>
                <a:path w="666750" h="381000">
                  <a:moveTo>
                    <a:pt x="0" y="381000"/>
                  </a:moveTo>
                  <a:lnTo>
                    <a:pt x="666750" y="0"/>
                  </a:lnTo>
                </a:path>
              </a:pathLst>
            </a:custGeom>
            <a:noFill/>
            <a:ln w="14288">
              <a:solidFill>
                <a:srgbClr val="FFB627"/>
              </a:solidFill>
            </a:ln>
          </p:spPr>
        </p:sp>
        <p:sp>
          <p:nvSpPr>
            <p:cNvPr id="42" name="TextBox 42"/>
            <p:cNvSpPr txBox="1"/>
            <p:nvPr/>
          </p:nvSpPr>
          <p:spPr>
            <a:xfrm>
              <a:off x="8328243" y="2539841"/>
              <a:ext cx="488513"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CONTROL</a:t>
              </a:r>
            </a:p>
          </p:txBody>
        </p:sp>
        <p:sp>
          <p:nvSpPr>
            <p:cNvPr id="43" name="TextBox 43"/>
            <p:cNvSpPr txBox="1"/>
            <p:nvPr/>
          </p:nvSpPr>
          <p:spPr>
            <a:xfrm>
              <a:off x="8410754" y="2673191"/>
              <a:ext cx="323493"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PLANE</a:t>
              </a:r>
            </a:p>
          </p:txBody>
        </p:sp>
        <p:sp>
          <p:nvSpPr>
            <p:cNvPr id="44" name="TextBox 44"/>
            <p:cNvSpPr txBox="1"/>
            <p:nvPr/>
          </p:nvSpPr>
          <p:spPr>
            <a:xfrm>
              <a:off x="8201632" y="2908459"/>
              <a:ext cx="741736" cy="137160"/>
            </a:xfrm>
            <a:prstGeom prst="rect">
              <a:avLst/>
            </a:prstGeom>
            <a:noFill/>
            <a:ln>
              <a:noFill/>
            </a:ln>
          </p:spPr>
          <p:txBody>
            <a:bodyPr wrap="none" lIns="0" tIns="0" rIns="0" bIns="0" anchor="t" anchorCtr="0">
              <a:spAutoFit/>
            </a:bodyPr>
            <a:lstStyle/>
            <a:p>
              <a:pPr algn="ctr"/>
              <a:r>
                <a:rPr lang="zh-CN" sz="675" dirty="0">
                  <a:solidFill>
                    <a:srgbClr val="F0F4F8">
                      <a:alphaMod val="80000"/>
                    </a:srgbClr>
                  </a:solidFill>
                  <a:latin typeface="Consolas"/>
                  <a:ea typeface="Microsoft YaHei"/>
                  <a:cs typeface="Consolas"/>
                </a:rPr>
                <a:t>apiserver · etcd</a:t>
              </a:r>
            </a:p>
          </p:txBody>
        </p:sp>
        <p:sp>
          <p:nvSpPr>
            <p:cNvPr id="45" name="TextBox 45"/>
            <p:cNvSpPr txBox="1"/>
            <p:nvPr/>
          </p:nvSpPr>
          <p:spPr>
            <a:xfrm>
              <a:off x="8104870" y="3032284"/>
              <a:ext cx="935260" cy="137160"/>
            </a:xfrm>
            <a:prstGeom prst="rect">
              <a:avLst/>
            </a:prstGeom>
            <a:noFill/>
            <a:ln>
              <a:noFill/>
            </a:ln>
          </p:spPr>
          <p:txBody>
            <a:bodyPr wrap="none" lIns="0" tIns="0" rIns="0" bIns="0" anchor="t" anchorCtr="0">
              <a:spAutoFit/>
            </a:bodyPr>
            <a:lstStyle/>
            <a:p>
              <a:pPr algn="ctr"/>
              <a:r>
                <a:rPr lang="zh-CN" sz="675" dirty="0">
                  <a:solidFill>
                    <a:srgbClr val="F0F4F8">
                      <a:alphaMod val="80000"/>
                    </a:srgbClr>
                  </a:solidFill>
                  <a:latin typeface="Consolas"/>
                  <a:ea typeface="Microsoft YaHei"/>
                  <a:cs typeface="Consolas"/>
                </a:rPr>
                <a:t>scheduler · ctrl-mgr</a:t>
              </a:r>
            </a:p>
          </p:txBody>
        </p:sp>
      </p:grpSp>
      <p:grpSp>
        <p:nvGrpSpPr>
          <p:cNvPr id="52" name="Group 52"/>
          <p:cNvGrpSpPr/>
          <p:nvPr/>
        </p:nvGrpSpPr>
        <p:grpSpPr>
          <a:xfrm>
            <a:off x="6457950" y="3762375"/>
            <a:ext cx="990600" cy="1459706"/>
            <a:chOff x="6457950" y="3762375"/>
            <a:chExt cx="990600" cy="1459706"/>
          </a:xfrm>
        </p:grpSpPr>
        <p:sp>
          <p:nvSpPr>
            <p:cNvPr id="47" name="Polygon 47"/>
            <p:cNvSpPr/>
            <p:nvPr/>
          </p:nvSpPr>
          <p:spPr>
            <a:xfrm>
              <a:off x="6457950" y="3762375"/>
              <a:ext cx="990600" cy="1047750"/>
            </a:xfrm>
            <a:custGeom>
              <a:avLst/>
              <a:gdLst/>
              <a:ahLst/>
              <a:cxnLst/>
              <a:rect l="l" t="t" r="r" b="b"/>
              <a:pathLst>
                <a:path w="990600" h="1047750">
                  <a:moveTo>
                    <a:pt x="495300" y="0"/>
                  </a:moveTo>
                  <a:lnTo>
                    <a:pt x="990600" y="285750"/>
                  </a:lnTo>
                  <a:lnTo>
                    <a:pt x="990600" y="762000"/>
                  </a:lnTo>
                  <a:lnTo>
                    <a:pt x="495300" y="1047750"/>
                  </a:lnTo>
                  <a:lnTo>
                    <a:pt x="0" y="762000"/>
                  </a:lnTo>
                  <a:lnTo>
                    <a:pt x="0" y="285750"/>
                  </a:lnTo>
                  <a:close/>
                </a:path>
              </a:pathLst>
            </a:custGeom>
            <a:solidFill>
              <a:srgbClr val="1A3A5C"/>
            </a:solidFill>
            <a:ln w="14288">
              <a:solidFill>
                <a:srgbClr val="5BA3E0"/>
              </a:solidFill>
            </a:ln>
          </p:spPr>
        </p:sp>
        <p:sp>
          <p:nvSpPr>
            <p:cNvPr id="48" name="Line 48"/>
            <p:cNvSpPr/>
            <p:nvPr/>
          </p:nvSpPr>
          <p:spPr>
            <a:xfrm>
              <a:off x="6953250" y="3762375"/>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49" name="Line 49"/>
            <p:cNvSpPr/>
            <p:nvPr/>
          </p:nvSpPr>
          <p:spPr>
            <a:xfrm>
              <a:off x="6457950" y="4048125"/>
              <a:ext cx="495300" cy="190500"/>
            </a:xfrm>
            <a:custGeom>
              <a:avLst/>
              <a:gdLst/>
              <a:ahLst/>
              <a:cxnLst/>
              <a:rect l="l" t="t" r="r" b="b"/>
              <a:pathLst>
                <a:path w="495300" h="190500">
                  <a:moveTo>
                    <a:pt x="495300" y="190500"/>
                  </a:moveTo>
                  <a:lnTo>
                    <a:pt x="0" y="0"/>
                  </a:lnTo>
                </a:path>
              </a:pathLst>
            </a:custGeom>
            <a:noFill/>
            <a:ln w="9525">
              <a:solidFill>
                <a:srgbClr val="5BA3E0"/>
              </a:solidFill>
            </a:ln>
          </p:spPr>
        </p:sp>
        <p:sp>
          <p:nvSpPr>
            <p:cNvPr id="50" name="Line 50"/>
            <p:cNvSpPr/>
            <p:nvPr/>
          </p:nvSpPr>
          <p:spPr>
            <a:xfrm>
              <a:off x="6953250" y="4048125"/>
              <a:ext cx="495300" cy="190500"/>
            </a:xfrm>
            <a:custGeom>
              <a:avLst/>
              <a:gdLst/>
              <a:ahLst/>
              <a:cxnLst/>
              <a:rect l="l" t="t" r="r" b="b"/>
              <a:pathLst>
                <a:path w="495300" h="190500">
                  <a:moveTo>
                    <a:pt x="0" y="190500"/>
                  </a:moveTo>
                  <a:lnTo>
                    <a:pt x="495300" y="0"/>
                  </a:lnTo>
                </a:path>
              </a:pathLst>
            </a:custGeom>
            <a:noFill/>
            <a:ln w="9525">
              <a:solidFill>
                <a:srgbClr val="5BA3E0"/>
              </a:solidFill>
            </a:ln>
          </p:spPr>
        </p:sp>
        <p:sp>
          <p:nvSpPr>
            <p:cNvPr id="51" name="TextBox 51"/>
            <p:cNvSpPr txBox="1"/>
            <p:nvPr/>
          </p:nvSpPr>
          <p:spPr>
            <a:xfrm>
              <a:off x="6744748" y="5054441"/>
              <a:ext cx="417005"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node-01</a:t>
              </a:r>
            </a:p>
          </p:txBody>
        </p:sp>
      </p:grpSp>
      <p:grpSp>
        <p:nvGrpSpPr>
          <p:cNvPr id="58" name="Group 58"/>
          <p:cNvGrpSpPr/>
          <p:nvPr/>
        </p:nvGrpSpPr>
        <p:grpSpPr>
          <a:xfrm>
            <a:off x="8077200" y="3762375"/>
            <a:ext cx="990600" cy="1459706"/>
            <a:chOff x="8077200" y="3762375"/>
            <a:chExt cx="990600" cy="1459706"/>
          </a:xfrm>
        </p:grpSpPr>
        <p:sp>
          <p:nvSpPr>
            <p:cNvPr id="53" name="Polygon 53"/>
            <p:cNvSpPr/>
            <p:nvPr/>
          </p:nvSpPr>
          <p:spPr>
            <a:xfrm>
              <a:off x="8077200" y="3762375"/>
              <a:ext cx="990600" cy="1047750"/>
            </a:xfrm>
            <a:custGeom>
              <a:avLst/>
              <a:gdLst/>
              <a:ahLst/>
              <a:cxnLst/>
              <a:rect l="l" t="t" r="r" b="b"/>
              <a:pathLst>
                <a:path w="990600" h="1047750">
                  <a:moveTo>
                    <a:pt x="495300" y="0"/>
                  </a:moveTo>
                  <a:lnTo>
                    <a:pt x="990600" y="285750"/>
                  </a:lnTo>
                  <a:lnTo>
                    <a:pt x="990600" y="762000"/>
                  </a:lnTo>
                  <a:lnTo>
                    <a:pt x="495300" y="1047750"/>
                  </a:lnTo>
                  <a:lnTo>
                    <a:pt x="0" y="762000"/>
                  </a:lnTo>
                  <a:lnTo>
                    <a:pt x="0" y="285750"/>
                  </a:lnTo>
                  <a:close/>
                </a:path>
              </a:pathLst>
            </a:custGeom>
            <a:solidFill>
              <a:srgbClr val="1A3A5C"/>
            </a:solidFill>
            <a:ln w="14288">
              <a:solidFill>
                <a:srgbClr val="5BA3E0"/>
              </a:solidFill>
            </a:ln>
          </p:spPr>
        </p:sp>
        <p:sp>
          <p:nvSpPr>
            <p:cNvPr id="54" name="Line 54"/>
            <p:cNvSpPr/>
            <p:nvPr/>
          </p:nvSpPr>
          <p:spPr>
            <a:xfrm>
              <a:off x="8572500" y="3762375"/>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55" name="Line 55"/>
            <p:cNvSpPr/>
            <p:nvPr/>
          </p:nvSpPr>
          <p:spPr>
            <a:xfrm>
              <a:off x="8077200" y="4048125"/>
              <a:ext cx="495300" cy="190500"/>
            </a:xfrm>
            <a:custGeom>
              <a:avLst/>
              <a:gdLst/>
              <a:ahLst/>
              <a:cxnLst/>
              <a:rect l="l" t="t" r="r" b="b"/>
              <a:pathLst>
                <a:path w="495300" h="190500">
                  <a:moveTo>
                    <a:pt x="495300" y="190500"/>
                  </a:moveTo>
                  <a:lnTo>
                    <a:pt x="0" y="0"/>
                  </a:lnTo>
                </a:path>
              </a:pathLst>
            </a:custGeom>
            <a:noFill/>
            <a:ln w="9525">
              <a:solidFill>
                <a:srgbClr val="5BA3E0"/>
              </a:solidFill>
            </a:ln>
          </p:spPr>
        </p:sp>
        <p:sp>
          <p:nvSpPr>
            <p:cNvPr id="56" name="Line 56"/>
            <p:cNvSpPr/>
            <p:nvPr/>
          </p:nvSpPr>
          <p:spPr>
            <a:xfrm>
              <a:off x="8572500" y="4048125"/>
              <a:ext cx="495300" cy="190500"/>
            </a:xfrm>
            <a:custGeom>
              <a:avLst/>
              <a:gdLst/>
              <a:ahLst/>
              <a:cxnLst/>
              <a:rect l="l" t="t" r="r" b="b"/>
              <a:pathLst>
                <a:path w="495300" h="190500">
                  <a:moveTo>
                    <a:pt x="0" y="190500"/>
                  </a:moveTo>
                  <a:lnTo>
                    <a:pt x="495300" y="0"/>
                  </a:lnTo>
                </a:path>
              </a:pathLst>
            </a:custGeom>
            <a:noFill/>
            <a:ln w="9525">
              <a:solidFill>
                <a:srgbClr val="5BA3E0"/>
              </a:solidFill>
            </a:ln>
          </p:spPr>
        </p:sp>
        <p:sp>
          <p:nvSpPr>
            <p:cNvPr id="57" name="TextBox 57"/>
            <p:cNvSpPr txBox="1"/>
            <p:nvPr/>
          </p:nvSpPr>
          <p:spPr>
            <a:xfrm>
              <a:off x="8350246" y="5054441"/>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node-02</a:t>
              </a:r>
            </a:p>
          </p:txBody>
        </p:sp>
      </p:grpSp>
      <p:grpSp>
        <p:nvGrpSpPr>
          <p:cNvPr id="64" name="Group 64"/>
          <p:cNvGrpSpPr/>
          <p:nvPr/>
        </p:nvGrpSpPr>
        <p:grpSpPr>
          <a:xfrm>
            <a:off x="9696450" y="3762375"/>
            <a:ext cx="990600" cy="1459706"/>
            <a:chOff x="9696450" y="3762375"/>
            <a:chExt cx="990600" cy="1459706"/>
          </a:xfrm>
        </p:grpSpPr>
        <p:sp>
          <p:nvSpPr>
            <p:cNvPr id="59" name="Polygon 59"/>
            <p:cNvSpPr/>
            <p:nvPr/>
          </p:nvSpPr>
          <p:spPr>
            <a:xfrm>
              <a:off x="9696450" y="3762375"/>
              <a:ext cx="990600" cy="1047750"/>
            </a:xfrm>
            <a:custGeom>
              <a:avLst/>
              <a:gdLst/>
              <a:ahLst/>
              <a:cxnLst/>
              <a:rect l="l" t="t" r="r" b="b"/>
              <a:pathLst>
                <a:path w="990600" h="1047750">
                  <a:moveTo>
                    <a:pt x="495300" y="0"/>
                  </a:moveTo>
                  <a:lnTo>
                    <a:pt x="990600" y="285750"/>
                  </a:lnTo>
                  <a:lnTo>
                    <a:pt x="990600" y="762000"/>
                  </a:lnTo>
                  <a:lnTo>
                    <a:pt x="495300" y="1047750"/>
                  </a:lnTo>
                  <a:lnTo>
                    <a:pt x="0" y="762000"/>
                  </a:lnTo>
                  <a:lnTo>
                    <a:pt x="0" y="285750"/>
                  </a:lnTo>
                  <a:close/>
                </a:path>
              </a:pathLst>
            </a:custGeom>
            <a:solidFill>
              <a:srgbClr val="1A3A5C"/>
            </a:solidFill>
            <a:ln w="14288">
              <a:solidFill>
                <a:srgbClr val="5BA3E0"/>
              </a:solidFill>
            </a:ln>
          </p:spPr>
        </p:sp>
        <p:sp>
          <p:nvSpPr>
            <p:cNvPr id="60" name="Line 60"/>
            <p:cNvSpPr/>
            <p:nvPr/>
          </p:nvSpPr>
          <p:spPr>
            <a:xfrm>
              <a:off x="10191750" y="3762375"/>
              <a:ext cx="9525" cy="476250"/>
            </a:xfrm>
            <a:custGeom>
              <a:avLst/>
              <a:gdLst/>
              <a:ahLst/>
              <a:cxnLst/>
              <a:rect l="l" t="t" r="r" b="b"/>
              <a:pathLst>
                <a:path w="9525" h="476250">
                  <a:moveTo>
                    <a:pt x="0" y="0"/>
                  </a:moveTo>
                  <a:lnTo>
                    <a:pt x="0" y="476250"/>
                  </a:lnTo>
                </a:path>
              </a:pathLst>
            </a:custGeom>
            <a:noFill/>
            <a:ln w="9525">
              <a:solidFill>
                <a:srgbClr val="5BA3E0"/>
              </a:solidFill>
            </a:ln>
          </p:spPr>
        </p:sp>
        <p:sp>
          <p:nvSpPr>
            <p:cNvPr id="61" name="Line 61"/>
            <p:cNvSpPr/>
            <p:nvPr/>
          </p:nvSpPr>
          <p:spPr>
            <a:xfrm>
              <a:off x="9696450" y="4048125"/>
              <a:ext cx="495300" cy="190500"/>
            </a:xfrm>
            <a:custGeom>
              <a:avLst/>
              <a:gdLst/>
              <a:ahLst/>
              <a:cxnLst/>
              <a:rect l="l" t="t" r="r" b="b"/>
              <a:pathLst>
                <a:path w="495300" h="190500">
                  <a:moveTo>
                    <a:pt x="495300" y="190500"/>
                  </a:moveTo>
                  <a:lnTo>
                    <a:pt x="0" y="0"/>
                  </a:lnTo>
                </a:path>
              </a:pathLst>
            </a:custGeom>
            <a:noFill/>
            <a:ln w="9525">
              <a:solidFill>
                <a:srgbClr val="5BA3E0"/>
              </a:solidFill>
            </a:ln>
          </p:spPr>
        </p:sp>
        <p:sp>
          <p:nvSpPr>
            <p:cNvPr id="62" name="Line 62"/>
            <p:cNvSpPr/>
            <p:nvPr/>
          </p:nvSpPr>
          <p:spPr>
            <a:xfrm>
              <a:off x="10191750" y="4048125"/>
              <a:ext cx="495300" cy="190500"/>
            </a:xfrm>
            <a:custGeom>
              <a:avLst/>
              <a:gdLst/>
              <a:ahLst/>
              <a:cxnLst/>
              <a:rect l="l" t="t" r="r" b="b"/>
              <a:pathLst>
                <a:path w="495300" h="190500">
                  <a:moveTo>
                    <a:pt x="0" y="190500"/>
                  </a:moveTo>
                  <a:lnTo>
                    <a:pt x="495300" y="0"/>
                  </a:lnTo>
                </a:path>
              </a:pathLst>
            </a:custGeom>
            <a:noFill/>
            <a:ln w="9525">
              <a:solidFill>
                <a:srgbClr val="5BA3E0"/>
              </a:solidFill>
            </a:ln>
          </p:spPr>
        </p:sp>
        <p:sp>
          <p:nvSpPr>
            <p:cNvPr id="63" name="TextBox 63"/>
            <p:cNvSpPr txBox="1"/>
            <p:nvPr/>
          </p:nvSpPr>
          <p:spPr>
            <a:xfrm>
              <a:off x="9969496" y="5054441"/>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node-03</a:t>
              </a:r>
            </a:p>
          </p:txBody>
        </p:sp>
      </p:grpSp>
      <p:grpSp>
        <p:nvGrpSpPr>
          <p:cNvPr id="68" name="Group 68"/>
          <p:cNvGrpSpPr/>
          <p:nvPr/>
        </p:nvGrpSpPr>
        <p:grpSpPr>
          <a:xfrm>
            <a:off x="561022" y="6477000"/>
            <a:ext cx="11069956" cy="269081"/>
            <a:chOff x="561022" y="6477000"/>
            <a:chExt cx="11069956" cy="269081"/>
          </a:xfrm>
        </p:grpSpPr>
        <p:sp>
          <p:nvSpPr>
            <p:cNvPr id="65" name="Line 65"/>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66" name="TextBox 66"/>
            <p:cNvSpPr txBox="1"/>
            <p:nvPr/>
          </p:nvSpPr>
          <p:spPr>
            <a:xfrm>
              <a:off x="561022" y="6578441"/>
              <a:ext cx="2232231"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01 OF 10 · COVER</a:t>
              </a:r>
            </a:p>
          </p:txBody>
        </p:sp>
        <p:sp>
          <p:nvSpPr>
            <p:cNvPr id="67" name="TextBox 67"/>
            <p:cNvSpPr txBox="1"/>
            <p:nvPr/>
          </p:nvSpPr>
          <p:spPr>
            <a:xfrm>
              <a:off x="10691408" y="6578441"/>
              <a:ext cx="93957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REV 1.0 · 2026-05</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childTnLst>
                                </p:cTn>
                              </p:par>
                            </p:childTnLst>
                          </p:cTn>
                        </p:par>
                        <p:par>
                          <p:cTn id="8" fill="hold">
                            <p:stCondLst>
                              <p:cond delay="82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50"/>
                                        <p:tgtEl>
                                          <p:spTgt spid="25"/>
                                        </p:tgtEl>
                                      </p:cBhvr>
                                    </p:animEffect>
                                  </p:childTnLst>
                                </p:cTn>
                              </p:par>
                            </p:childTnLst>
                          </p:cTn>
                        </p:par>
                        <p:par>
                          <p:cTn id="12" fill="hold">
                            <p:stCondLst>
                              <p:cond delay="1420"/>
                            </p:stCondLst>
                            <p:childTnLst>
                              <p:par>
                                <p:cTn id="13" presetID="23"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image">
                                      <p:cBhvr>
                                        <p:cTn id="15" dur="700"/>
                                        <p:tgtEl>
                                          <p:spTgt spid="46"/>
                                        </p:tgtEl>
                                      </p:cBhvr>
                                    </p:animEffect>
                                  </p:childTnLst>
                                </p:cTn>
                              </p:par>
                            </p:childTnLst>
                          </p:cTn>
                        </p:par>
                        <p:par>
                          <p:cTn id="16" fill="hold">
                            <p:stCondLst>
                              <p:cond delay="2340"/>
                            </p:stCondLst>
                            <p:childTnLst>
                              <p:par>
                                <p:cTn id="17" presetID="22" presetClass="entr" presetSubtype="1"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wipe(left)">
                                      <p:cBhvr>
                                        <p:cTn id="19" dur="550"/>
                                        <p:tgtEl>
                                          <p:spTgt spid="52"/>
                                        </p:tgtEl>
                                      </p:cBhvr>
                                    </p:animEffect>
                                  </p:childTnLst>
                                </p:cTn>
                              </p:par>
                            </p:childTnLst>
                          </p:cTn>
                        </p:par>
                        <p:par>
                          <p:cTn id="20" fill="hold">
                            <p:stCondLst>
                              <p:cond delay="3110"/>
                            </p:stCondLst>
                            <p:childTnLst>
                              <p:par>
                                <p:cTn id="21" presetID="22" presetClass="entr" presetSubtype="1" fill="hold"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left)">
                                      <p:cBhvr>
                                        <p:cTn id="23" dur="550"/>
                                        <p:tgtEl>
                                          <p:spTgt spid="58"/>
                                        </p:tgtEl>
                                      </p:cBhvr>
                                    </p:animEffect>
                                  </p:childTnLst>
                                </p:cTn>
                              </p:par>
                            </p:childTnLst>
                          </p:cTn>
                        </p:par>
                        <p:par>
                          <p:cTn id="24" fill="hold">
                            <p:stCondLst>
                              <p:cond delay="3880"/>
                            </p:stCondLst>
                            <p:childTnLst>
                              <p:par>
                                <p:cTn id="25" presetID="22" presetClass="entr" presetSubtype="1"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left)">
                                      <p:cBhvr>
                                        <p:cTn id="27" dur="5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5" grpId="0"/>
      <p:bldP spid="46" grpId="0"/>
      <p:bldP spid="52" grpId="0"/>
      <p:bldP spid="58" grpId="0"/>
      <p:bldP spid="6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3428071"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Two Planes, One Spine</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P02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2878622"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 xml:space="preserve">EVERY DECISION GOES THROUGH </a:t>
              </a:r>
              <a:r>
                <a:rPr lang="zh-CN" sz="975" dirty="0">
                  <a:solidFill>
                    <a:srgbClr val="FFB627"/>
                  </a:solidFill>
                  <a:latin typeface="Consolas"/>
                  <a:ea typeface="Microsoft YaHei"/>
                  <a:cs typeface="Consolas"/>
                </a:rPr>
                <a:t>kube-apiserver</a:t>
              </a:r>
            </a:p>
          </p:txBody>
        </p:sp>
      </p:grpSp>
      <p:grpSp>
        <p:nvGrpSpPr>
          <p:cNvPr id="14" name="Group 14"/>
          <p:cNvGrpSpPr/>
          <p:nvPr/>
        </p:nvGrpSpPr>
        <p:grpSpPr>
          <a:xfrm>
            <a:off x="762000" y="1000125"/>
            <a:ext cx="10668000" cy="2286000"/>
            <a:chOff x="762000" y="1000125"/>
            <a:chExt cx="10668000" cy="2286000"/>
          </a:xfrm>
        </p:grpSpPr>
        <p:sp>
          <p:nvSpPr>
            <p:cNvPr id="11" name="Rectangle 11"/>
            <p:cNvSpPr/>
            <p:nvPr/>
          </p:nvSpPr>
          <p:spPr>
            <a:xfrm>
              <a:off x="762000" y="1000125"/>
              <a:ext cx="10668000" cy="2286000"/>
            </a:xfrm>
            <a:prstGeom prst="rect">
              <a:avLst/>
            </a:prstGeom>
            <a:solidFill>
              <a:srgbClr val="1A3A5C">
                <a:alpha val="35000"/>
              </a:srgbClr>
            </a:solidFill>
            <a:ln w="5715">
              <a:solidFill>
                <a:srgbClr val="3E7AB8"/>
              </a:solidFill>
              <a:prstDash val="dash"/>
            </a:ln>
          </p:spPr>
        </p:sp>
        <p:sp>
          <p:nvSpPr>
            <p:cNvPr id="12" name="TextBox 12"/>
            <p:cNvSpPr txBox="1"/>
            <p:nvPr/>
          </p:nvSpPr>
          <p:spPr>
            <a:xfrm>
              <a:off x="941070" y="1141095"/>
              <a:ext cx="1102995" cy="182880"/>
            </a:xfrm>
            <a:prstGeom prst="rect">
              <a:avLst/>
            </a:prstGeom>
            <a:noFill/>
            <a:ln>
              <a:noFill/>
            </a:ln>
          </p:spPr>
          <p:txBody>
            <a:bodyPr wrap="none" lIns="0" tIns="0" rIns="0" bIns="0" anchor="t" anchorCtr="0">
              <a:spAutoFit/>
            </a:bodyPr>
            <a:lstStyle/>
            <a:p>
              <a:pPr algn="l"/>
              <a:r>
                <a:rPr lang="zh-CN" sz="900" dirty="0">
                  <a:solidFill>
                    <a:srgbClr val="FFB627"/>
                  </a:solidFill>
                  <a:latin typeface="Consolas"/>
                  <a:ea typeface="Microsoft YaHei"/>
                  <a:cs typeface="Consolas"/>
                </a:rPr>
                <a:t>[ CONTROL PLANE ]</a:t>
              </a:r>
            </a:p>
          </p:txBody>
        </p:sp>
        <p:sp>
          <p:nvSpPr>
            <p:cNvPr id="13" name="TextBox 13"/>
            <p:cNvSpPr txBox="1"/>
            <p:nvPr/>
          </p:nvSpPr>
          <p:spPr>
            <a:xfrm>
              <a:off x="940118" y="1304449"/>
              <a:ext cx="2911126" cy="198120"/>
            </a:xfrm>
            <a:prstGeom prst="rect">
              <a:avLst/>
            </a:prstGeom>
            <a:noFill/>
            <a:ln>
              <a:noFill/>
            </a:ln>
          </p:spPr>
          <p:txBody>
            <a:bodyPr wrap="none" lIns="0" tIns="0" rIns="0" bIns="0" anchor="t" anchorCtr="0">
              <a:spAutoFit/>
            </a:bodyPr>
            <a:lstStyle/>
            <a:p>
              <a:pPr algn="l"/>
              <a:r>
                <a:rPr lang="zh-CN" sz="975" dirty="0">
                  <a:solidFill>
                    <a:srgbClr val="A0B8D0"/>
                  </a:solidFill>
                  <a:latin typeface="Arial"/>
                  <a:ea typeface="Microsoft YaHei"/>
                  <a:cs typeface="Arial"/>
                </a:rPr>
                <a:t>Global decision-making · desired-state holder</a:t>
              </a:r>
            </a:p>
          </p:txBody>
        </p:sp>
      </p:grpSp>
      <p:grpSp>
        <p:nvGrpSpPr>
          <p:cNvPr id="22" name="Group 22"/>
          <p:cNvGrpSpPr/>
          <p:nvPr/>
        </p:nvGrpSpPr>
        <p:grpSpPr>
          <a:xfrm>
            <a:off x="5143500" y="1714500"/>
            <a:ext cx="1905000" cy="1150144"/>
            <a:chOff x="5143500" y="1714500"/>
            <a:chExt cx="1905000" cy="1150144"/>
          </a:xfrm>
        </p:grpSpPr>
        <p:sp>
          <p:nvSpPr>
            <p:cNvPr id="15" name="Rectangle 15"/>
            <p:cNvSpPr/>
            <p:nvPr/>
          </p:nvSpPr>
          <p:spPr>
            <a:xfrm>
              <a:off x="5143500" y="1714500"/>
              <a:ext cx="1905000" cy="1143000"/>
            </a:xfrm>
            <a:prstGeom prst="rect">
              <a:avLst/>
            </a:prstGeom>
            <a:solidFill>
              <a:srgbClr val="0E2A47"/>
            </a:solidFill>
            <a:ln w="19050">
              <a:solidFill>
                <a:srgbClr val="FFB627"/>
              </a:solidFill>
            </a:ln>
          </p:spPr>
        </p:sp>
        <p:sp>
          <p:nvSpPr>
            <p:cNvPr id="16" name="Rectangle 16"/>
            <p:cNvSpPr/>
            <p:nvPr/>
          </p:nvSpPr>
          <p:spPr>
            <a:xfrm>
              <a:off x="5143500" y="1714500"/>
              <a:ext cx="1905000" cy="209550"/>
            </a:xfrm>
            <a:prstGeom prst="rect">
              <a:avLst/>
            </a:prstGeom>
            <a:solidFill>
              <a:srgbClr val="FFB627"/>
            </a:solidFill>
            <a:ln>
              <a:noFill/>
            </a:ln>
          </p:spPr>
        </p:sp>
        <p:sp>
          <p:nvSpPr>
            <p:cNvPr id="17" name="TextBox 17"/>
            <p:cNvSpPr txBox="1"/>
            <p:nvPr/>
          </p:nvSpPr>
          <p:spPr>
            <a:xfrm>
              <a:off x="5941129" y="1777841"/>
              <a:ext cx="309741"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 HUB</a:t>
              </a:r>
            </a:p>
          </p:txBody>
        </p:sp>
        <p:sp>
          <p:nvSpPr>
            <p:cNvPr id="18" name="TextBox 18"/>
            <p:cNvSpPr txBox="1"/>
            <p:nvPr/>
          </p:nvSpPr>
          <p:spPr>
            <a:xfrm>
              <a:off x="5494952" y="2107406"/>
              <a:ext cx="1202097" cy="228600"/>
            </a:xfrm>
            <a:prstGeom prst="rect">
              <a:avLst/>
            </a:prstGeom>
            <a:noFill/>
            <a:ln>
              <a:noFill/>
            </a:ln>
          </p:spPr>
          <p:txBody>
            <a:bodyPr wrap="none" lIns="0" tIns="0" rIns="0" bIns="0" anchor="t" anchorCtr="0">
              <a:spAutoFit/>
            </a:bodyPr>
            <a:lstStyle/>
            <a:p>
              <a:pPr algn="ctr"/>
              <a:r>
                <a:rPr lang="zh-CN" sz="1125" b="1" dirty="0">
                  <a:solidFill>
                    <a:srgbClr val="FFB627"/>
                  </a:solidFill>
                  <a:latin typeface="Consolas"/>
                  <a:ea typeface="Microsoft YaHei"/>
                  <a:cs typeface="Consolas"/>
                </a:rPr>
                <a:t>kube-apiserver</a:t>
              </a:r>
            </a:p>
          </p:txBody>
        </p:sp>
        <p:sp>
          <p:nvSpPr>
            <p:cNvPr id="19" name="TextBox 19"/>
            <p:cNvSpPr txBox="1"/>
            <p:nvPr/>
          </p:nvSpPr>
          <p:spPr>
            <a:xfrm>
              <a:off x="5645467" y="2368391"/>
              <a:ext cx="901065"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REST + admission</a:t>
              </a:r>
            </a:p>
          </p:txBody>
        </p:sp>
        <p:sp>
          <p:nvSpPr>
            <p:cNvPr id="20" name="TextBox 20"/>
            <p:cNvSpPr txBox="1"/>
            <p:nvPr/>
          </p:nvSpPr>
          <p:spPr>
            <a:xfrm>
              <a:off x="5538204" y="2539841"/>
              <a:ext cx="1115592"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 validation gateway</a:t>
              </a:r>
            </a:p>
          </p:txBody>
        </p:sp>
        <p:sp>
          <p:nvSpPr>
            <p:cNvPr id="21" name="TextBox 21"/>
            <p:cNvSpPr txBox="1"/>
            <p:nvPr/>
          </p:nvSpPr>
          <p:spPr>
            <a:xfrm>
              <a:off x="5659874" y="2727484"/>
              <a:ext cx="872252"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 talks to etcd only</a:t>
              </a:r>
            </a:p>
          </p:txBody>
        </p:sp>
      </p:grpSp>
      <p:grpSp>
        <p:nvGrpSpPr>
          <p:cNvPr id="28" name="Group 28"/>
          <p:cNvGrpSpPr/>
          <p:nvPr/>
        </p:nvGrpSpPr>
        <p:grpSpPr>
          <a:xfrm>
            <a:off x="1143000" y="1857375"/>
            <a:ext cx="1524000" cy="857250"/>
            <a:chOff x="1143000" y="1857375"/>
            <a:chExt cx="1524000" cy="857250"/>
          </a:xfrm>
        </p:grpSpPr>
        <p:sp>
          <p:nvSpPr>
            <p:cNvPr id="23" name="Rectangle 23"/>
            <p:cNvSpPr/>
            <p:nvPr/>
          </p:nvSpPr>
          <p:spPr>
            <a:xfrm>
              <a:off x="1143000" y="1857375"/>
              <a:ext cx="1524000" cy="857250"/>
            </a:xfrm>
            <a:prstGeom prst="rect">
              <a:avLst/>
            </a:prstGeom>
            <a:solidFill>
              <a:srgbClr val="0E2A47"/>
            </a:solidFill>
            <a:ln w="14288">
              <a:solidFill>
                <a:srgbClr val="5BA3E0"/>
              </a:solidFill>
            </a:ln>
          </p:spPr>
        </p:sp>
        <p:sp>
          <p:nvSpPr>
            <p:cNvPr id="24" name="TextBox 24"/>
            <p:cNvSpPr txBox="1"/>
            <p:nvPr/>
          </p:nvSpPr>
          <p:spPr>
            <a:xfrm>
              <a:off x="1742449" y="1990249"/>
              <a:ext cx="325103" cy="198120"/>
            </a:xfrm>
            <a:prstGeom prst="rect">
              <a:avLst/>
            </a:prstGeom>
            <a:noFill/>
            <a:ln>
              <a:noFill/>
            </a:ln>
          </p:spPr>
          <p:txBody>
            <a:bodyPr wrap="none" lIns="0" tIns="0" rIns="0" bIns="0" anchor="t" anchorCtr="0">
              <a:spAutoFit/>
            </a:bodyPr>
            <a:lstStyle/>
            <a:p>
              <a:pPr algn="ctr"/>
              <a:r>
                <a:rPr lang="zh-CN" sz="975" b="1" dirty="0">
                  <a:solidFill>
                    <a:srgbClr val="5BA3E0"/>
                  </a:solidFill>
                  <a:latin typeface="Consolas"/>
                  <a:ea typeface="Microsoft YaHei"/>
                  <a:cs typeface="Consolas"/>
                </a:rPr>
                <a:t>etcd</a:t>
              </a:r>
            </a:p>
          </p:txBody>
        </p:sp>
        <p:sp>
          <p:nvSpPr>
            <p:cNvPr id="25" name="TextBox 25"/>
            <p:cNvSpPr txBox="1"/>
            <p:nvPr/>
          </p:nvSpPr>
          <p:spPr>
            <a:xfrm>
              <a:off x="1468219" y="2235041"/>
              <a:ext cx="873562"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key-value store</a:t>
              </a:r>
            </a:p>
          </p:txBody>
        </p:sp>
        <p:sp>
          <p:nvSpPr>
            <p:cNvPr id="26" name="TextBox 26"/>
            <p:cNvSpPr txBox="1"/>
            <p:nvPr/>
          </p:nvSpPr>
          <p:spPr>
            <a:xfrm>
              <a:off x="1517725" y="2387441"/>
              <a:ext cx="774549"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Raft · quorum</a:t>
              </a:r>
            </a:p>
          </p:txBody>
        </p:sp>
        <p:sp>
          <p:nvSpPr>
            <p:cNvPr id="27" name="TextBox 27"/>
            <p:cNvSpPr txBox="1"/>
            <p:nvPr/>
          </p:nvSpPr>
          <p:spPr>
            <a:xfrm>
              <a:off x="1565636" y="2556034"/>
              <a:ext cx="678728" cy="137160"/>
            </a:xfrm>
            <a:prstGeom prst="rect">
              <a:avLst/>
            </a:prstGeom>
            <a:noFill/>
            <a:ln>
              <a:noFill/>
            </a:ln>
          </p:spPr>
          <p:txBody>
            <a:bodyPr wrap="none" lIns="0" tIns="0" rIns="0" bIns="0" anchor="t" anchorCtr="0">
              <a:spAutoFit/>
            </a:bodyPr>
            <a:lstStyle/>
            <a:p>
              <a:pPr algn="ctr"/>
              <a:r>
                <a:rPr lang="zh-CN" sz="675" dirty="0">
                  <a:solidFill>
                    <a:srgbClr val="6B85A3"/>
                  </a:solidFill>
                  <a:latin typeface="Consolas"/>
                  <a:ea typeface="Microsoft YaHei"/>
                  <a:cs typeface="Consolas"/>
                </a:rPr>
                <a:t>3 or 5 members</a:t>
              </a:r>
            </a:p>
          </p:txBody>
        </p:sp>
      </p:grpSp>
      <p:grpSp>
        <p:nvGrpSpPr>
          <p:cNvPr id="33" name="Group 33"/>
          <p:cNvGrpSpPr/>
          <p:nvPr/>
        </p:nvGrpSpPr>
        <p:grpSpPr>
          <a:xfrm>
            <a:off x="3048000" y="1857375"/>
            <a:ext cx="1714500" cy="857250"/>
            <a:chOff x="3048000" y="1857375"/>
            <a:chExt cx="1714500" cy="857250"/>
          </a:xfrm>
        </p:grpSpPr>
        <p:sp>
          <p:nvSpPr>
            <p:cNvPr id="29" name="Rectangle 29"/>
            <p:cNvSpPr/>
            <p:nvPr/>
          </p:nvSpPr>
          <p:spPr>
            <a:xfrm>
              <a:off x="3048000" y="1857375"/>
              <a:ext cx="1714500" cy="857250"/>
            </a:xfrm>
            <a:prstGeom prst="rect">
              <a:avLst/>
            </a:prstGeom>
            <a:solidFill>
              <a:srgbClr val="0E2A47"/>
            </a:solidFill>
            <a:ln w="14288">
              <a:solidFill>
                <a:srgbClr val="5BA3E0"/>
              </a:solidFill>
            </a:ln>
          </p:spPr>
        </p:sp>
        <p:sp>
          <p:nvSpPr>
            <p:cNvPr id="30" name="TextBox 30"/>
            <p:cNvSpPr txBox="1"/>
            <p:nvPr/>
          </p:nvSpPr>
          <p:spPr>
            <a:xfrm>
              <a:off x="3384341" y="1990249"/>
              <a:ext cx="1041817" cy="198120"/>
            </a:xfrm>
            <a:prstGeom prst="rect">
              <a:avLst/>
            </a:prstGeom>
            <a:noFill/>
            <a:ln>
              <a:noFill/>
            </a:ln>
          </p:spPr>
          <p:txBody>
            <a:bodyPr wrap="none" lIns="0" tIns="0" rIns="0" bIns="0" anchor="t" anchorCtr="0">
              <a:spAutoFit/>
            </a:bodyPr>
            <a:lstStyle/>
            <a:p>
              <a:pPr algn="ctr"/>
              <a:r>
                <a:rPr lang="zh-CN" sz="975" b="1" dirty="0">
                  <a:solidFill>
                    <a:srgbClr val="5BA3E0"/>
                  </a:solidFill>
                  <a:latin typeface="Consolas"/>
                  <a:ea typeface="Microsoft YaHei"/>
                  <a:cs typeface="Consolas"/>
                </a:rPr>
                <a:t>kube-scheduler</a:t>
              </a:r>
            </a:p>
          </p:txBody>
        </p:sp>
        <p:sp>
          <p:nvSpPr>
            <p:cNvPr id="31" name="TextBox 31"/>
            <p:cNvSpPr txBox="1"/>
            <p:nvPr/>
          </p:nvSpPr>
          <p:spPr>
            <a:xfrm>
              <a:off x="3355705" y="2235041"/>
              <a:ext cx="1099090"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filter → score → bind</a:t>
              </a:r>
            </a:p>
          </p:txBody>
        </p:sp>
        <p:sp>
          <p:nvSpPr>
            <p:cNvPr id="32" name="TextBox 32"/>
            <p:cNvSpPr txBox="1"/>
            <p:nvPr/>
          </p:nvSpPr>
          <p:spPr>
            <a:xfrm>
              <a:off x="3405211" y="2387441"/>
              <a:ext cx="1000077"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picks node per Pod</a:t>
              </a:r>
            </a:p>
          </p:txBody>
        </p:sp>
      </p:grpSp>
      <p:grpSp>
        <p:nvGrpSpPr>
          <p:cNvPr id="38" name="Group 38"/>
          <p:cNvGrpSpPr/>
          <p:nvPr/>
        </p:nvGrpSpPr>
        <p:grpSpPr>
          <a:xfrm>
            <a:off x="7429500" y="1857375"/>
            <a:ext cx="1905000" cy="857250"/>
            <a:chOff x="7429500" y="1857375"/>
            <a:chExt cx="1905000" cy="857250"/>
          </a:xfrm>
        </p:grpSpPr>
        <p:sp>
          <p:nvSpPr>
            <p:cNvPr id="34" name="Rectangle 34"/>
            <p:cNvSpPr/>
            <p:nvPr/>
          </p:nvSpPr>
          <p:spPr>
            <a:xfrm>
              <a:off x="7429500" y="1857375"/>
              <a:ext cx="1905000" cy="857250"/>
            </a:xfrm>
            <a:prstGeom prst="rect">
              <a:avLst/>
            </a:prstGeom>
            <a:solidFill>
              <a:srgbClr val="0E2A47"/>
            </a:solidFill>
            <a:ln w="14288">
              <a:solidFill>
                <a:srgbClr val="5BA3E0"/>
              </a:solidFill>
            </a:ln>
          </p:spPr>
        </p:sp>
        <p:sp>
          <p:nvSpPr>
            <p:cNvPr id="35" name="TextBox 35"/>
            <p:cNvSpPr txBox="1"/>
            <p:nvPr/>
          </p:nvSpPr>
          <p:spPr>
            <a:xfrm>
              <a:off x="7765694" y="1998345"/>
              <a:ext cx="1232611" cy="182880"/>
            </a:xfrm>
            <a:prstGeom prst="rect">
              <a:avLst/>
            </a:prstGeom>
            <a:noFill/>
            <a:ln>
              <a:noFill/>
            </a:ln>
          </p:spPr>
          <p:txBody>
            <a:bodyPr wrap="none" lIns="0" tIns="0" rIns="0" bIns="0" anchor="t" anchorCtr="0">
              <a:spAutoFit/>
            </a:bodyPr>
            <a:lstStyle/>
            <a:p>
              <a:pPr algn="ctr"/>
              <a:r>
                <a:rPr lang="zh-CN" sz="900" b="1" dirty="0">
                  <a:solidFill>
                    <a:srgbClr val="5BA3E0"/>
                  </a:solidFill>
                  <a:latin typeface="Consolas"/>
                  <a:ea typeface="Microsoft YaHei"/>
                  <a:cs typeface="Consolas"/>
                </a:rPr>
                <a:t>controller-manager</a:t>
              </a:r>
            </a:p>
          </p:txBody>
        </p:sp>
        <p:sp>
          <p:nvSpPr>
            <p:cNvPr id="36" name="TextBox 36"/>
            <p:cNvSpPr txBox="1"/>
            <p:nvPr/>
          </p:nvSpPr>
          <p:spPr>
            <a:xfrm>
              <a:off x="7884712" y="2235041"/>
              <a:ext cx="994577"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watch · diff · act</a:t>
              </a:r>
            </a:p>
          </p:txBody>
        </p:sp>
        <p:sp>
          <p:nvSpPr>
            <p:cNvPr id="37" name="TextBox 37"/>
            <p:cNvSpPr txBox="1"/>
            <p:nvPr/>
          </p:nvSpPr>
          <p:spPr>
            <a:xfrm>
              <a:off x="7925967" y="2387441"/>
              <a:ext cx="91206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N reconcile loops</a:t>
              </a:r>
            </a:p>
          </p:txBody>
        </p:sp>
      </p:grpSp>
      <p:grpSp>
        <p:nvGrpSpPr>
          <p:cNvPr id="44" name="Group 44"/>
          <p:cNvGrpSpPr/>
          <p:nvPr/>
        </p:nvGrpSpPr>
        <p:grpSpPr>
          <a:xfrm>
            <a:off x="9715500" y="1857375"/>
            <a:ext cx="1524000" cy="857250"/>
            <a:chOff x="9715500" y="1857375"/>
            <a:chExt cx="1524000" cy="857250"/>
          </a:xfrm>
        </p:grpSpPr>
        <p:sp>
          <p:nvSpPr>
            <p:cNvPr id="39" name="Rectangle 39"/>
            <p:cNvSpPr/>
            <p:nvPr/>
          </p:nvSpPr>
          <p:spPr>
            <a:xfrm>
              <a:off x="9715500" y="1857375"/>
              <a:ext cx="1524000" cy="857250"/>
            </a:xfrm>
            <a:prstGeom prst="rect">
              <a:avLst/>
            </a:prstGeom>
            <a:solidFill>
              <a:srgbClr val="0E2A47"/>
            </a:solidFill>
            <a:ln w="14288">
              <a:solidFill>
                <a:srgbClr val="3E7AB8"/>
              </a:solidFill>
              <a:custDash>
                <a:ds d="266666" sp="200000"/>
              </a:custDash>
            </a:ln>
          </p:spPr>
        </p:sp>
        <p:sp>
          <p:nvSpPr>
            <p:cNvPr id="40" name="TextBox 40"/>
            <p:cNvSpPr txBox="1"/>
            <p:nvPr/>
          </p:nvSpPr>
          <p:spPr>
            <a:xfrm>
              <a:off x="9999812" y="1998345"/>
              <a:ext cx="955377" cy="182880"/>
            </a:xfrm>
            <a:prstGeom prst="rect">
              <a:avLst/>
            </a:prstGeom>
            <a:noFill/>
            <a:ln>
              <a:noFill/>
            </a:ln>
          </p:spPr>
          <p:txBody>
            <a:bodyPr wrap="none" lIns="0" tIns="0" rIns="0" bIns="0" anchor="t" anchorCtr="0">
              <a:spAutoFit/>
            </a:bodyPr>
            <a:lstStyle/>
            <a:p>
              <a:pPr algn="ctr"/>
              <a:r>
                <a:rPr lang="zh-CN" sz="900" b="1" dirty="0">
                  <a:solidFill>
                    <a:srgbClr val="3E7AB8"/>
                  </a:solidFill>
                  <a:latin typeface="Consolas"/>
                  <a:ea typeface="Microsoft YaHei"/>
                  <a:cs typeface="Consolas"/>
                </a:rPr>
                <a:t>cloud-ctrl-mgr</a:t>
              </a:r>
            </a:p>
          </p:txBody>
        </p:sp>
        <p:sp>
          <p:nvSpPr>
            <p:cNvPr id="41" name="TextBox 41"/>
            <p:cNvSpPr txBox="1"/>
            <p:nvPr/>
          </p:nvSpPr>
          <p:spPr>
            <a:xfrm>
              <a:off x="10205740" y="2235041"/>
              <a:ext cx="543520"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cloud only</a:t>
              </a:r>
            </a:p>
          </p:txBody>
        </p:sp>
        <p:sp>
          <p:nvSpPr>
            <p:cNvPr id="42" name="TextBox 42"/>
            <p:cNvSpPr txBox="1"/>
            <p:nvPr/>
          </p:nvSpPr>
          <p:spPr>
            <a:xfrm>
              <a:off x="9947208" y="2387441"/>
              <a:ext cx="1060585"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LB · routes · nodes</a:t>
              </a:r>
            </a:p>
          </p:txBody>
        </p:sp>
        <p:sp>
          <p:nvSpPr>
            <p:cNvPr id="43" name="TextBox 43"/>
            <p:cNvSpPr txBox="1"/>
            <p:nvPr/>
          </p:nvSpPr>
          <p:spPr>
            <a:xfrm>
              <a:off x="10293406" y="2565559"/>
              <a:ext cx="368189" cy="137160"/>
            </a:xfrm>
            <a:prstGeom prst="rect">
              <a:avLst/>
            </a:prstGeom>
            <a:noFill/>
            <a:ln>
              <a:noFill/>
            </a:ln>
          </p:spPr>
          <p:txBody>
            <a:bodyPr wrap="none" lIns="0" tIns="0" rIns="0" bIns="0" anchor="t" anchorCtr="0">
              <a:spAutoFit/>
            </a:bodyPr>
            <a:lstStyle/>
            <a:p>
              <a:pPr algn="ctr"/>
              <a:r>
                <a:rPr lang="zh-CN" sz="675" dirty="0">
                  <a:solidFill>
                    <a:srgbClr val="6B85A3"/>
                  </a:solidFill>
                  <a:latin typeface="Consolas"/>
                  <a:ea typeface="Microsoft YaHei"/>
                  <a:cs typeface="Consolas"/>
                </a:rPr>
                <a:t>optional</a:t>
              </a:r>
            </a:p>
          </p:txBody>
        </p:sp>
      </p:grpSp>
      <p:grpSp>
        <p:nvGrpSpPr>
          <p:cNvPr id="49" name="Group 49"/>
          <p:cNvGrpSpPr/>
          <p:nvPr/>
        </p:nvGrpSpPr>
        <p:grpSpPr>
          <a:xfrm>
            <a:off x="2476500" y="2286000"/>
            <a:ext cx="7239000" cy="742950"/>
            <a:chOff x="2476500" y="2286000"/>
            <a:chExt cx="7239000" cy="742950"/>
          </a:xfrm>
        </p:grpSpPr>
        <p:sp>
          <p:nvSpPr>
            <p:cNvPr id="45" name="Freeform 45"/>
            <p:cNvSpPr/>
            <p:nvPr/>
          </p:nvSpPr>
          <p:spPr>
            <a:xfrm>
              <a:off x="2476500" y="2714625"/>
              <a:ext cx="3048000" cy="314325"/>
            </a:xfrm>
            <a:custGeom>
              <a:avLst/>
              <a:gdLst/>
              <a:ahLst/>
              <a:cxnLst/>
              <a:rect l="l" t="t" r="r" b="b"/>
              <a:pathLst>
                <a:path w="3048000" h="314325">
                  <a:moveTo>
                    <a:pt x="0" y="0"/>
                  </a:moveTo>
                  <a:cubicBezTo>
                    <a:pt x="0" y="209550"/>
                    <a:pt x="508000" y="314325"/>
                    <a:pt x="1524000" y="314325"/>
                  </a:cubicBezTo>
                  <a:cubicBezTo>
                    <a:pt x="2540000" y="314325"/>
                    <a:pt x="3048000" y="225425"/>
                    <a:pt x="3048000" y="47625"/>
                  </a:cubicBezTo>
                </a:path>
              </a:pathLst>
            </a:custGeom>
            <a:noFill/>
            <a:ln w="11430">
              <a:solidFill>
                <a:srgbClr val="FFB627"/>
              </a:solidFill>
            </a:ln>
          </p:spPr>
        </p:sp>
        <p:sp>
          <p:nvSpPr>
            <p:cNvPr id="46" name="Polygon 46"/>
            <p:cNvSpPr/>
            <p:nvPr/>
          </p:nvSpPr>
          <p:spPr>
            <a:xfrm>
              <a:off x="5476875" y="2762250"/>
              <a:ext cx="95250" cy="95250"/>
            </a:xfrm>
            <a:custGeom>
              <a:avLst/>
              <a:gdLst/>
              <a:ahLst/>
              <a:cxnLst/>
              <a:rect l="l" t="t" r="r" b="b"/>
              <a:pathLst>
                <a:path w="95250" h="95250">
                  <a:moveTo>
                    <a:pt x="47625" y="0"/>
                  </a:moveTo>
                  <a:lnTo>
                    <a:pt x="0" y="95250"/>
                  </a:lnTo>
                  <a:lnTo>
                    <a:pt x="95250" y="95250"/>
                  </a:lnTo>
                  <a:close/>
                </a:path>
              </a:pathLst>
            </a:custGeom>
            <a:solidFill>
              <a:srgbClr val="FFB627"/>
            </a:solidFill>
            <a:ln>
              <a:noFill/>
            </a:ln>
          </p:spPr>
        </p:sp>
        <p:sp>
          <p:nvSpPr>
            <p:cNvPr id="47" name="Line 47"/>
            <p:cNvSpPr/>
            <p:nvPr/>
          </p:nvSpPr>
          <p:spPr>
            <a:xfrm>
              <a:off x="7048500" y="2286000"/>
              <a:ext cx="381000" cy="9525"/>
            </a:xfrm>
            <a:custGeom>
              <a:avLst/>
              <a:gdLst/>
              <a:ahLst/>
              <a:cxnLst/>
              <a:rect l="l" t="t" r="r" b="b"/>
              <a:pathLst>
                <a:path w="381000" h="9525">
                  <a:moveTo>
                    <a:pt x="0" y="0"/>
                  </a:moveTo>
                  <a:lnTo>
                    <a:pt x="381000" y="0"/>
                  </a:lnTo>
                </a:path>
              </a:pathLst>
            </a:custGeom>
            <a:noFill/>
            <a:ln w="11430">
              <a:solidFill>
                <a:srgbClr val="FFB627"/>
              </a:solidFill>
            </a:ln>
          </p:spPr>
        </p:sp>
        <p:sp>
          <p:nvSpPr>
            <p:cNvPr id="48" name="Line 48"/>
            <p:cNvSpPr/>
            <p:nvPr/>
          </p:nvSpPr>
          <p:spPr>
            <a:xfrm>
              <a:off x="9334500" y="2286000"/>
              <a:ext cx="381000" cy="9525"/>
            </a:xfrm>
            <a:custGeom>
              <a:avLst/>
              <a:gdLst/>
              <a:ahLst/>
              <a:cxnLst/>
              <a:rect l="l" t="t" r="r" b="b"/>
              <a:pathLst>
                <a:path w="381000" h="9525">
                  <a:moveTo>
                    <a:pt x="0" y="0"/>
                  </a:moveTo>
                  <a:lnTo>
                    <a:pt x="381000" y="0"/>
                  </a:lnTo>
                </a:path>
              </a:pathLst>
            </a:custGeom>
            <a:noFill/>
            <a:ln w="9525">
              <a:solidFill>
                <a:srgbClr val="3E7AB8"/>
              </a:solidFill>
              <a:custDash>
                <a:ds d="300000" sp="300000"/>
              </a:custDash>
            </a:ln>
          </p:spPr>
        </p:sp>
      </p:grpSp>
      <p:grpSp>
        <p:nvGrpSpPr>
          <p:cNvPr id="55" name="Group 55"/>
          <p:cNvGrpSpPr/>
          <p:nvPr/>
        </p:nvGrpSpPr>
        <p:grpSpPr>
          <a:xfrm>
            <a:off x="5286375" y="3286125"/>
            <a:ext cx="1619250" cy="666750"/>
            <a:chOff x="5286375" y="3286125"/>
            <a:chExt cx="1619250" cy="666750"/>
          </a:xfrm>
        </p:grpSpPr>
        <p:sp>
          <p:nvSpPr>
            <p:cNvPr id="50" name="Line 50"/>
            <p:cNvSpPr/>
            <p:nvPr/>
          </p:nvSpPr>
          <p:spPr>
            <a:xfrm>
              <a:off x="6096000" y="3286125"/>
              <a:ext cx="9525" cy="666750"/>
            </a:xfrm>
            <a:custGeom>
              <a:avLst/>
              <a:gdLst/>
              <a:ahLst/>
              <a:cxnLst/>
              <a:rect l="l" t="t" r="r" b="b"/>
              <a:pathLst>
                <a:path w="9525" h="666750">
                  <a:moveTo>
                    <a:pt x="0" y="0"/>
                  </a:moveTo>
                  <a:lnTo>
                    <a:pt x="0" y="666750"/>
                  </a:lnTo>
                </a:path>
              </a:pathLst>
            </a:custGeom>
            <a:noFill/>
            <a:ln w="19050">
              <a:solidFill>
                <a:srgbClr val="FFB627"/>
              </a:solidFill>
            </a:ln>
          </p:spPr>
        </p:sp>
        <p:sp>
          <p:nvSpPr>
            <p:cNvPr id="51" name="Polygon 51"/>
            <p:cNvSpPr/>
            <p:nvPr/>
          </p:nvSpPr>
          <p:spPr>
            <a:xfrm>
              <a:off x="6038850" y="3857625"/>
              <a:ext cx="114300" cy="95250"/>
            </a:xfrm>
            <a:custGeom>
              <a:avLst/>
              <a:gdLst/>
              <a:ahLst/>
              <a:cxnLst/>
              <a:rect l="l" t="t" r="r" b="b"/>
              <a:pathLst>
                <a:path w="114300" h="95250">
                  <a:moveTo>
                    <a:pt x="57150" y="95250"/>
                  </a:moveTo>
                  <a:lnTo>
                    <a:pt x="0" y="0"/>
                  </a:lnTo>
                  <a:lnTo>
                    <a:pt x="114300" y="0"/>
                  </a:lnTo>
                  <a:close/>
                </a:path>
              </a:pathLst>
            </a:custGeom>
            <a:solidFill>
              <a:srgbClr val="FFB627"/>
            </a:solidFill>
            <a:ln>
              <a:noFill/>
            </a:ln>
          </p:spPr>
        </p:sp>
        <p:sp>
          <p:nvSpPr>
            <p:cNvPr id="52" name="Polygon 52"/>
            <p:cNvSpPr/>
            <p:nvPr/>
          </p:nvSpPr>
          <p:spPr>
            <a:xfrm>
              <a:off x="6038850" y="3286125"/>
              <a:ext cx="114300" cy="95250"/>
            </a:xfrm>
            <a:custGeom>
              <a:avLst/>
              <a:gdLst/>
              <a:ahLst/>
              <a:cxnLst/>
              <a:rect l="l" t="t" r="r" b="b"/>
              <a:pathLst>
                <a:path w="114300" h="95250">
                  <a:moveTo>
                    <a:pt x="57150" y="0"/>
                  </a:moveTo>
                  <a:lnTo>
                    <a:pt x="0" y="95250"/>
                  </a:lnTo>
                  <a:lnTo>
                    <a:pt x="114300" y="95250"/>
                  </a:lnTo>
                  <a:close/>
                </a:path>
              </a:pathLst>
            </a:custGeom>
            <a:solidFill>
              <a:srgbClr val="FFB627"/>
            </a:solidFill>
            <a:ln>
              <a:noFill/>
            </a:ln>
          </p:spPr>
        </p:sp>
        <p:sp>
          <p:nvSpPr>
            <p:cNvPr id="53" name="Rectangle 53"/>
            <p:cNvSpPr/>
            <p:nvPr/>
          </p:nvSpPr>
          <p:spPr>
            <a:xfrm>
              <a:off x="5286375" y="3505200"/>
              <a:ext cx="1619250" cy="209550"/>
            </a:xfrm>
            <a:prstGeom prst="rect">
              <a:avLst/>
            </a:prstGeom>
            <a:solidFill>
              <a:srgbClr val="0E2A47"/>
            </a:solidFill>
            <a:ln>
              <a:noFill/>
            </a:ln>
          </p:spPr>
        </p:sp>
        <p:sp>
          <p:nvSpPr>
            <p:cNvPr id="54" name="TextBox 54"/>
            <p:cNvSpPr txBox="1"/>
            <p:nvPr/>
          </p:nvSpPr>
          <p:spPr>
            <a:xfrm>
              <a:off x="5706523" y="3560445"/>
              <a:ext cx="778955" cy="182880"/>
            </a:xfrm>
            <a:prstGeom prst="rect">
              <a:avLst/>
            </a:prstGeom>
            <a:noFill/>
            <a:ln>
              <a:noFill/>
            </a:ln>
          </p:spPr>
          <p:txBody>
            <a:bodyPr wrap="none" lIns="0" tIns="0" rIns="0" bIns="0" anchor="t" anchorCtr="0">
              <a:spAutoFit/>
            </a:bodyPr>
            <a:lstStyle/>
            <a:p>
              <a:pPr algn="ctr"/>
              <a:r>
                <a:rPr lang="zh-CN" sz="900" dirty="0">
                  <a:solidFill>
                    <a:srgbClr val="FFB627"/>
                  </a:solidFill>
                  <a:latin typeface="Consolas"/>
                  <a:ea typeface="Microsoft YaHei"/>
                  <a:cs typeface="Consolas"/>
                </a:rPr>
                <a:t>API-MEDIATED</a:t>
              </a:r>
            </a:p>
          </p:txBody>
        </p:sp>
      </p:grpSp>
      <p:grpSp>
        <p:nvGrpSpPr>
          <p:cNvPr id="65" name="Group 65"/>
          <p:cNvGrpSpPr/>
          <p:nvPr/>
        </p:nvGrpSpPr>
        <p:grpSpPr>
          <a:xfrm>
            <a:off x="762000" y="3952875"/>
            <a:ext cx="10668000" cy="2095500"/>
            <a:chOff x="762000" y="3952875"/>
            <a:chExt cx="10668000" cy="2095500"/>
          </a:xfrm>
        </p:grpSpPr>
        <p:sp>
          <p:nvSpPr>
            <p:cNvPr id="56" name="Rectangle 56"/>
            <p:cNvSpPr/>
            <p:nvPr/>
          </p:nvSpPr>
          <p:spPr>
            <a:xfrm>
              <a:off x="762000" y="3952875"/>
              <a:ext cx="10668000" cy="2095500"/>
            </a:xfrm>
            <a:prstGeom prst="rect">
              <a:avLst/>
            </a:prstGeom>
            <a:solidFill>
              <a:srgbClr val="1A3A5C">
                <a:alpha val="35000"/>
              </a:srgbClr>
            </a:solidFill>
            <a:ln w="5715">
              <a:solidFill>
                <a:srgbClr val="3E7AB8"/>
              </a:solidFill>
              <a:prstDash val="dash"/>
            </a:ln>
          </p:spPr>
        </p:sp>
        <p:sp>
          <p:nvSpPr>
            <p:cNvPr id="57" name="TextBox 57"/>
            <p:cNvSpPr txBox="1"/>
            <p:nvPr/>
          </p:nvSpPr>
          <p:spPr>
            <a:xfrm>
              <a:off x="941070" y="4093845"/>
              <a:ext cx="856964" cy="182880"/>
            </a:xfrm>
            <a:prstGeom prst="rect">
              <a:avLst/>
            </a:prstGeom>
            <a:noFill/>
            <a:ln>
              <a:noFill/>
            </a:ln>
          </p:spPr>
          <p:txBody>
            <a:bodyPr wrap="none" lIns="0" tIns="0" rIns="0" bIns="0" anchor="t" anchorCtr="0">
              <a:spAutoFit/>
            </a:bodyPr>
            <a:lstStyle/>
            <a:p>
              <a:pPr algn="l"/>
              <a:r>
                <a:rPr lang="zh-CN" sz="900" dirty="0">
                  <a:solidFill>
                    <a:srgbClr val="5BA3E0"/>
                  </a:solidFill>
                  <a:latin typeface="Consolas"/>
                  <a:ea typeface="Microsoft YaHei"/>
                  <a:cs typeface="Consolas"/>
                </a:rPr>
                <a:t>[ DATA PLANE ]</a:t>
              </a:r>
            </a:p>
          </p:txBody>
        </p:sp>
        <p:sp>
          <p:nvSpPr>
            <p:cNvPr id="58" name="TextBox 58"/>
            <p:cNvSpPr txBox="1"/>
            <p:nvPr/>
          </p:nvSpPr>
          <p:spPr>
            <a:xfrm>
              <a:off x="940118" y="4257199"/>
              <a:ext cx="2137529" cy="198120"/>
            </a:xfrm>
            <a:prstGeom prst="rect">
              <a:avLst/>
            </a:prstGeom>
            <a:noFill/>
            <a:ln>
              <a:noFill/>
            </a:ln>
          </p:spPr>
          <p:txBody>
            <a:bodyPr wrap="none" lIns="0" tIns="0" rIns="0" bIns="0" anchor="t" anchorCtr="0">
              <a:spAutoFit/>
            </a:bodyPr>
            <a:lstStyle/>
            <a:p>
              <a:pPr algn="l"/>
              <a:r>
                <a:rPr lang="zh-CN" sz="975" dirty="0">
                  <a:solidFill>
                    <a:srgbClr val="A0B8D0"/>
                  </a:solidFill>
                  <a:latin typeface="Arial"/>
                  <a:ea typeface="Microsoft YaHei"/>
                  <a:cs typeface="Arial"/>
                </a:rPr>
                <a:t>Pod execution · workload runtime</a:t>
              </a:r>
            </a:p>
          </p:txBody>
        </p:sp>
        <p:sp>
          <p:nvSpPr>
            <p:cNvPr id="59" name="Line 59"/>
            <p:cNvSpPr/>
            <p:nvPr/>
          </p:nvSpPr>
          <p:spPr>
            <a:xfrm>
              <a:off x="6096000" y="3952875"/>
              <a:ext cx="9525" cy="285750"/>
            </a:xfrm>
            <a:custGeom>
              <a:avLst/>
              <a:gdLst/>
              <a:ahLst/>
              <a:cxnLst/>
              <a:rect l="l" t="t" r="r" b="b"/>
              <a:pathLst>
                <a:path w="9525" h="285750">
                  <a:moveTo>
                    <a:pt x="0" y="0"/>
                  </a:moveTo>
                  <a:lnTo>
                    <a:pt x="0" y="285750"/>
                  </a:lnTo>
                </a:path>
              </a:pathLst>
            </a:custGeom>
            <a:noFill/>
            <a:ln w="9525">
              <a:solidFill>
                <a:srgbClr val="5BA3E0">
                  <a:alpha val="50000"/>
                </a:srgbClr>
              </a:solidFill>
              <a:custDash>
                <a:ds d="300000" sp="300000"/>
              </a:custDash>
            </a:ln>
          </p:spPr>
        </p:sp>
        <p:sp>
          <p:nvSpPr>
            <p:cNvPr id="60" name="Line 60"/>
            <p:cNvSpPr/>
            <p:nvPr/>
          </p:nvSpPr>
          <p:spPr>
            <a:xfrm>
              <a:off x="2571750" y="4238625"/>
              <a:ext cx="3524250" cy="9525"/>
            </a:xfrm>
            <a:custGeom>
              <a:avLst/>
              <a:gdLst/>
              <a:ahLst/>
              <a:cxnLst/>
              <a:rect l="l" t="t" r="r" b="b"/>
              <a:pathLst>
                <a:path w="3524250" h="9525">
                  <a:moveTo>
                    <a:pt x="0" y="0"/>
                  </a:moveTo>
                  <a:lnTo>
                    <a:pt x="3524250" y="0"/>
                  </a:lnTo>
                </a:path>
              </a:pathLst>
            </a:custGeom>
            <a:noFill/>
            <a:ln w="9525">
              <a:solidFill>
                <a:srgbClr val="5BA3E0">
                  <a:alpha val="50000"/>
                </a:srgbClr>
              </a:solidFill>
              <a:custDash>
                <a:ds d="300000" sp="300000"/>
              </a:custDash>
            </a:ln>
          </p:spPr>
        </p:sp>
        <p:sp>
          <p:nvSpPr>
            <p:cNvPr id="61" name="Line 61"/>
            <p:cNvSpPr/>
            <p:nvPr/>
          </p:nvSpPr>
          <p:spPr>
            <a:xfrm>
              <a:off x="6096000" y="4238625"/>
              <a:ext cx="3524250" cy="9525"/>
            </a:xfrm>
            <a:custGeom>
              <a:avLst/>
              <a:gdLst/>
              <a:ahLst/>
              <a:cxnLst/>
              <a:rect l="l" t="t" r="r" b="b"/>
              <a:pathLst>
                <a:path w="3524250" h="9525">
                  <a:moveTo>
                    <a:pt x="0" y="0"/>
                  </a:moveTo>
                  <a:lnTo>
                    <a:pt x="3524250" y="0"/>
                  </a:lnTo>
                </a:path>
              </a:pathLst>
            </a:custGeom>
            <a:noFill/>
            <a:ln w="9525">
              <a:solidFill>
                <a:srgbClr val="5BA3E0">
                  <a:alpha val="50000"/>
                </a:srgbClr>
              </a:solidFill>
              <a:custDash>
                <a:ds d="300000" sp="300000"/>
              </a:custDash>
            </a:ln>
          </p:spPr>
        </p:sp>
        <p:sp>
          <p:nvSpPr>
            <p:cNvPr id="62" name="Line 62"/>
            <p:cNvSpPr/>
            <p:nvPr/>
          </p:nvSpPr>
          <p:spPr>
            <a:xfrm>
              <a:off x="2571750" y="4238625"/>
              <a:ext cx="9525" cy="428625"/>
            </a:xfrm>
            <a:custGeom>
              <a:avLst/>
              <a:gdLst/>
              <a:ahLst/>
              <a:cxnLst/>
              <a:rect l="l" t="t" r="r" b="b"/>
              <a:pathLst>
                <a:path w="9525" h="428625">
                  <a:moveTo>
                    <a:pt x="0" y="0"/>
                  </a:moveTo>
                  <a:lnTo>
                    <a:pt x="0" y="428625"/>
                  </a:lnTo>
                </a:path>
              </a:pathLst>
            </a:custGeom>
            <a:noFill/>
            <a:ln w="9525">
              <a:solidFill>
                <a:srgbClr val="5BA3E0">
                  <a:alpha val="50000"/>
                </a:srgbClr>
              </a:solidFill>
              <a:custDash>
                <a:ds d="300000" sp="300000"/>
              </a:custDash>
            </a:ln>
          </p:spPr>
        </p:sp>
        <p:sp>
          <p:nvSpPr>
            <p:cNvPr id="63" name="Line 63"/>
            <p:cNvSpPr/>
            <p:nvPr/>
          </p:nvSpPr>
          <p:spPr>
            <a:xfrm>
              <a:off x="6096000" y="4238625"/>
              <a:ext cx="9525" cy="428625"/>
            </a:xfrm>
            <a:custGeom>
              <a:avLst/>
              <a:gdLst/>
              <a:ahLst/>
              <a:cxnLst/>
              <a:rect l="l" t="t" r="r" b="b"/>
              <a:pathLst>
                <a:path w="9525" h="428625">
                  <a:moveTo>
                    <a:pt x="0" y="0"/>
                  </a:moveTo>
                  <a:lnTo>
                    <a:pt x="0" y="428625"/>
                  </a:lnTo>
                </a:path>
              </a:pathLst>
            </a:custGeom>
            <a:noFill/>
            <a:ln w="9525">
              <a:solidFill>
                <a:srgbClr val="5BA3E0">
                  <a:alpha val="50000"/>
                </a:srgbClr>
              </a:solidFill>
              <a:custDash>
                <a:ds d="300000" sp="300000"/>
              </a:custDash>
            </a:ln>
          </p:spPr>
        </p:sp>
        <p:sp>
          <p:nvSpPr>
            <p:cNvPr id="64" name="Line 64"/>
            <p:cNvSpPr/>
            <p:nvPr/>
          </p:nvSpPr>
          <p:spPr>
            <a:xfrm>
              <a:off x="9620250" y="4238625"/>
              <a:ext cx="9525" cy="428625"/>
            </a:xfrm>
            <a:custGeom>
              <a:avLst/>
              <a:gdLst/>
              <a:ahLst/>
              <a:cxnLst/>
              <a:rect l="l" t="t" r="r" b="b"/>
              <a:pathLst>
                <a:path w="9525" h="428625">
                  <a:moveTo>
                    <a:pt x="0" y="0"/>
                  </a:moveTo>
                  <a:lnTo>
                    <a:pt x="0" y="428625"/>
                  </a:lnTo>
                </a:path>
              </a:pathLst>
            </a:custGeom>
            <a:noFill/>
            <a:ln w="9525">
              <a:solidFill>
                <a:srgbClr val="5BA3E0">
                  <a:alpha val="50000"/>
                </a:srgbClr>
              </a:solidFill>
              <a:custDash>
                <a:ds d="300000" sp="300000"/>
              </a:custDash>
            </a:ln>
          </p:spPr>
        </p:sp>
      </p:grpSp>
      <p:grpSp>
        <p:nvGrpSpPr>
          <p:cNvPr id="74" name="Group 74"/>
          <p:cNvGrpSpPr/>
          <p:nvPr/>
        </p:nvGrpSpPr>
        <p:grpSpPr>
          <a:xfrm>
            <a:off x="1714500" y="4667250"/>
            <a:ext cx="1714500" cy="1847850"/>
            <a:chOff x="1714500" y="4667250"/>
            <a:chExt cx="1714500" cy="1847850"/>
          </a:xfrm>
        </p:grpSpPr>
        <p:sp>
          <p:nvSpPr>
            <p:cNvPr id="66" name="Polygon 66"/>
            <p:cNvSpPr/>
            <p:nvPr/>
          </p:nvSpPr>
          <p:spPr>
            <a:xfrm>
              <a:off x="1714500" y="4667250"/>
              <a:ext cx="1714500" cy="1524000"/>
            </a:xfrm>
            <a:custGeom>
              <a:avLst/>
              <a:gdLst/>
              <a:ahLst/>
              <a:cxnLst/>
              <a:rect l="l" t="t" r="r" b="b"/>
              <a:pathLst>
                <a:path w="1714500" h="1524000">
                  <a:moveTo>
                    <a:pt x="857250" y="0"/>
                  </a:moveTo>
                  <a:lnTo>
                    <a:pt x="1714500" y="428625"/>
                  </a:lnTo>
                  <a:lnTo>
                    <a:pt x="1714500" y="1095375"/>
                  </a:lnTo>
                  <a:lnTo>
                    <a:pt x="857250" y="1524000"/>
                  </a:lnTo>
                  <a:lnTo>
                    <a:pt x="0" y="1095375"/>
                  </a:lnTo>
                  <a:lnTo>
                    <a:pt x="0" y="428625"/>
                  </a:lnTo>
                  <a:close/>
                </a:path>
              </a:pathLst>
            </a:custGeom>
            <a:solidFill>
              <a:srgbClr val="0E2A47"/>
            </a:solidFill>
            <a:ln w="14288">
              <a:solidFill>
                <a:srgbClr val="5BA3E0"/>
              </a:solidFill>
            </a:ln>
          </p:spPr>
        </p:sp>
        <p:sp>
          <p:nvSpPr>
            <p:cNvPr id="67" name="Line 67"/>
            <p:cNvSpPr/>
            <p:nvPr/>
          </p:nvSpPr>
          <p:spPr>
            <a:xfrm>
              <a:off x="2571750" y="4667250"/>
              <a:ext cx="9525" cy="762000"/>
            </a:xfrm>
            <a:custGeom>
              <a:avLst/>
              <a:gdLst/>
              <a:ahLst/>
              <a:cxnLst/>
              <a:rect l="l" t="t" r="r" b="b"/>
              <a:pathLst>
                <a:path w="9525" h="762000">
                  <a:moveTo>
                    <a:pt x="0" y="0"/>
                  </a:moveTo>
                  <a:lnTo>
                    <a:pt x="0" y="762000"/>
                  </a:lnTo>
                </a:path>
              </a:pathLst>
            </a:custGeom>
            <a:noFill/>
            <a:ln w="9525">
              <a:solidFill>
                <a:srgbClr val="5BA3E0"/>
              </a:solidFill>
            </a:ln>
          </p:spPr>
        </p:sp>
        <p:sp>
          <p:nvSpPr>
            <p:cNvPr id="68" name="Line 68"/>
            <p:cNvSpPr/>
            <p:nvPr/>
          </p:nvSpPr>
          <p:spPr>
            <a:xfrm>
              <a:off x="1714500" y="5095875"/>
              <a:ext cx="857250" cy="333375"/>
            </a:xfrm>
            <a:custGeom>
              <a:avLst/>
              <a:gdLst/>
              <a:ahLst/>
              <a:cxnLst/>
              <a:rect l="l" t="t" r="r" b="b"/>
              <a:pathLst>
                <a:path w="857250" h="333375">
                  <a:moveTo>
                    <a:pt x="857250" y="333375"/>
                  </a:moveTo>
                  <a:lnTo>
                    <a:pt x="0" y="0"/>
                  </a:lnTo>
                </a:path>
              </a:pathLst>
            </a:custGeom>
            <a:noFill/>
            <a:ln w="9525">
              <a:solidFill>
                <a:srgbClr val="5BA3E0"/>
              </a:solidFill>
            </a:ln>
          </p:spPr>
        </p:sp>
        <p:sp>
          <p:nvSpPr>
            <p:cNvPr id="69" name="Line 69"/>
            <p:cNvSpPr/>
            <p:nvPr/>
          </p:nvSpPr>
          <p:spPr>
            <a:xfrm>
              <a:off x="2571750" y="5095875"/>
              <a:ext cx="857250" cy="333375"/>
            </a:xfrm>
            <a:custGeom>
              <a:avLst/>
              <a:gdLst/>
              <a:ahLst/>
              <a:cxnLst/>
              <a:rect l="l" t="t" r="r" b="b"/>
              <a:pathLst>
                <a:path w="857250" h="333375">
                  <a:moveTo>
                    <a:pt x="0" y="333375"/>
                  </a:moveTo>
                  <a:lnTo>
                    <a:pt x="857250" y="0"/>
                  </a:lnTo>
                </a:path>
              </a:pathLst>
            </a:custGeom>
            <a:noFill/>
            <a:ln w="9525">
              <a:solidFill>
                <a:srgbClr val="5BA3E0"/>
              </a:solidFill>
            </a:ln>
          </p:spPr>
        </p:sp>
        <p:sp>
          <p:nvSpPr>
            <p:cNvPr id="70" name="Rectangle 70"/>
            <p:cNvSpPr/>
            <p:nvPr/>
          </p:nvSpPr>
          <p:spPr>
            <a:xfrm>
              <a:off x="2190750" y="5667375"/>
              <a:ext cx="209550" cy="133350"/>
            </a:xfrm>
            <a:prstGeom prst="rect">
              <a:avLst/>
            </a:prstGeom>
            <a:noFill/>
            <a:ln w="9525">
              <a:solidFill>
                <a:srgbClr val="7FD99F"/>
              </a:solidFill>
            </a:ln>
          </p:spPr>
        </p:sp>
        <p:sp>
          <p:nvSpPr>
            <p:cNvPr id="71" name="Rectangle 71"/>
            <p:cNvSpPr/>
            <p:nvPr/>
          </p:nvSpPr>
          <p:spPr>
            <a:xfrm>
              <a:off x="2466975" y="5667375"/>
              <a:ext cx="209550" cy="133350"/>
            </a:xfrm>
            <a:prstGeom prst="rect">
              <a:avLst/>
            </a:prstGeom>
            <a:noFill/>
            <a:ln w="9525">
              <a:solidFill>
                <a:srgbClr val="7FD99F"/>
              </a:solidFill>
            </a:ln>
          </p:spPr>
        </p:sp>
        <p:sp>
          <p:nvSpPr>
            <p:cNvPr id="72" name="Rectangle 72"/>
            <p:cNvSpPr/>
            <p:nvPr/>
          </p:nvSpPr>
          <p:spPr>
            <a:xfrm>
              <a:off x="2743200" y="5667375"/>
              <a:ext cx="209550" cy="133350"/>
            </a:xfrm>
            <a:prstGeom prst="rect">
              <a:avLst/>
            </a:prstGeom>
            <a:noFill/>
            <a:ln w="9525">
              <a:solidFill>
                <a:srgbClr val="7FD99F"/>
              </a:solidFill>
            </a:ln>
          </p:spPr>
        </p:sp>
        <p:sp>
          <p:nvSpPr>
            <p:cNvPr id="73" name="TextBox 73"/>
            <p:cNvSpPr txBox="1"/>
            <p:nvPr/>
          </p:nvSpPr>
          <p:spPr>
            <a:xfrm>
              <a:off x="2101263" y="6332220"/>
              <a:ext cx="940975" cy="182880"/>
            </a:xfrm>
            <a:prstGeom prst="rect">
              <a:avLst/>
            </a:prstGeom>
            <a:noFill/>
            <a:ln>
              <a:noFill/>
            </a:ln>
          </p:spPr>
          <p:txBody>
            <a:bodyPr wrap="none" lIns="0" tIns="0" rIns="0" bIns="0" anchor="t" anchorCtr="0">
              <a:spAutoFit/>
            </a:bodyPr>
            <a:lstStyle/>
            <a:p>
              <a:pPr algn="ctr"/>
              <a:r>
                <a:rPr lang="zh-CN" sz="900" dirty="0">
                  <a:solidFill>
                    <a:srgbClr val="A0B8D0"/>
                  </a:solidFill>
                  <a:latin typeface="Consolas"/>
                  <a:ea typeface="Microsoft YaHei"/>
                  <a:cs typeface="Consolas"/>
                </a:rPr>
                <a:t>worker-node-01</a:t>
              </a:r>
            </a:p>
          </p:txBody>
        </p:sp>
      </p:grpSp>
      <p:grpSp>
        <p:nvGrpSpPr>
          <p:cNvPr id="83" name="Group 83"/>
          <p:cNvGrpSpPr/>
          <p:nvPr/>
        </p:nvGrpSpPr>
        <p:grpSpPr>
          <a:xfrm>
            <a:off x="5238750" y="4667250"/>
            <a:ext cx="1714500" cy="1847850"/>
            <a:chOff x="5238750" y="4667250"/>
            <a:chExt cx="1714500" cy="1847850"/>
          </a:xfrm>
        </p:grpSpPr>
        <p:sp>
          <p:nvSpPr>
            <p:cNvPr id="75" name="Polygon 75"/>
            <p:cNvSpPr/>
            <p:nvPr/>
          </p:nvSpPr>
          <p:spPr>
            <a:xfrm>
              <a:off x="5238750" y="4667250"/>
              <a:ext cx="1714500" cy="1524000"/>
            </a:xfrm>
            <a:custGeom>
              <a:avLst/>
              <a:gdLst/>
              <a:ahLst/>
              <a:cxnLst/>
              <a:rect l="l" t="t" r="r" b="b"/>
              <a:pathLst>
                <a:path w="1714500" h="1524000">
                  <a:moveTo>
                    <a:pt x="857250" y="0"/>
                  </a:moveTo>
                  <a:lnTo>
                    <a:pt x="1714500" y="428625"/>
                  </a:lnTo>
                  <a:lnTo>
                    <a:pt x="1714500" y="1095375"/>
                  </a:lnTo>
                  <a:lnTo>
                    <a:pt x="857250" y="1524000"/>
                  </a:lnTo>
                  <a:lnTo>
                    <a:pt x="0" y="1095375"/>
                  </a:lnTo>
                  <a:lnTo>
                    <a:pt x="0" y="428625"/>
                  </a:lnTo>
                  <a:close/>
                </a:path>
              </a:pathLst>
            </a:custGeom>
            <a:solidFill>
              <a:srgbClr val="0E2A47"/>
            </a:solidFill>
            <a:ln w="14288">
              <a:solidFill>
                <a:srgbClr val="5BA3E0"/>
              </a:solidFill>
            </a:ln>
          </p:spPr>
        </p:sp>
        <p:sp>
          <p:nvSpPr>
            <p:cNvPr id="76" name="Line 76"/>
            <p:cNvSpPr/>
            <p:nvPr/>
          </p:nvSpPr>
          <p:spPr>
            <a:xfrm>
              <a:off x="6096000" y="4667250"/>
              <a:ext cx="9525" cy="762000"/>
            </a:xfrm>
            <a:custGeom>
              <a:avLst/>
              <a:gdLst/>
              <a:ahLst/>
              <a:cxnLst/>
              <a:rect l="l" t="t" r="r" b="b"/>
              <a:pathLst>
                <a:path w="9525" h="762000">
                  <a:moveTo>
                    <a:pt x="0" y="0"/>
                  </a:moveTo>
                  <a:lnTo>
                    <a:pt x="0" y="762000"/>
                  </a:lnTo>
                </a:path>
              </a:pathLst>
            </a:custGeom>
            <a:noFill/>
            <a:ln w="9525">
              <a:solidFill>
                <a:srgbClr val="5BA3E0"/>
              </a:solidFill>
            </a:ln>
          </p:spPr>
        </p:sp>
        <p:sp>
          <p:nvSpPr>
            <p:cNvPr id="77" name="Line 77"/>
            <p:cNvSpPr/>
            <p:nvPr/>
          </p:nvSpPr>
          <p:spPr>
            <a:xfrm>
              <a:off x="5238750" y="5095875"/>
              <a:ext cx="857250" cy="333375"/>
            </a:xfrm>
            <a:custGeom>
              <a:avLst/>
              <a:gdLst/>
              <a:ahLst/>
              <a:cxnLst/>
              <a:rect l="l" t="t" r="r" b="b"/>
              <a:pathLst>
                <a:path w="857250" h="333375">
                  <a:moveTo>
                    <a:pt x="857250" y="333375"/>
                  </a:moveTo>
                  <a:lnTo>
                    <a:pt x="0" y="0"/>
                  </a:lnTo>
                </a:path>
              </a:pathLst>
            </a:custGeom>
            <a:noFill/>
            <a:ln w="9525">
              <a:solidFill>
                <a:srgbClr val="5BA3E0"/>
              </a:solidFill>
            </a:ln>
          </p:spPr>
        </p:sp>
        <p:sp>
          <p:nvSpPr>
            <p:cNvPr id="78" name="Line 78"/>
            <p:cNvSpPr/>
            <p:nvPr/>
          </p:nvSpPr>
          <p:spPr>
            <a:xfrm>
              <a:off x="6096000" y="5095875"/>
              <a:ext cx="857250" cy="333375"/>
            </a:xfrm>
            <a:custGeom>
              <a:avLst/>
              <a:gdLst/>
              <a:ahLst/>
              <a:cxnLst/>
              <a:rect l="l" t="t" r="r" b="b"/>
              <a:pathLst>
                <a:path w="857250" h="333375">
                  <a:moveTo>
                    <a:pt x="0" y="333375"/>
                  </a:moveTo>
                  <a:lnTo>
                    <a:pt x="857250" y="0"/>
                  </a:lnTo>
                </a:path>
              </a:pathLst>
            </a:custGeom>
            <a:noFill/>
            <a:ln w="9525">
              <a:solidFill>
                <a:srgbClr val="5BA3E0"/>
              </a:solidFill>
            </a:ln>
          </p:spPr>
        </p:sp>
        <p:sp>
          <p:nvSpPr>
            <p:cNvPr id="79" name="Rectangle 79"/>
            <p:cNvSpPr/>
            <p:nvPr/>
          </p:nvSpPr>
          <p:spPr>
            <a:xfrm>
              <a:off x="5715000" y="5667375"/>
              <a:ext cx="209550" cy="133350"/>
            </a:xfrm>
            <a:prstGeom prst="rect">
              <a:avLst/>
            </a:prstGeom>
            <a:noFill/>
            <a:ln w="9525">
              <a:solidFill>
                <a:srgbClr val="7FD99F"/>
              </a:solidFill>
            </a:ln>
          </p:spPr>
        </p:sp>
        <p:sp>
          <p:nvSpPr>
            <p:cNvPr id="80" name="Rectangle 80"/>
            <p:cNvSpPr/>
            <p:nvPr/>
          </p:nvSpPr>
          <p:spPr>
            <a:xfrm>
              <a:off x="5991225" y="5667375"/>
              <a:ext cx="209550" cy="133350"/>
            </a:xfrm>
            <a:prstGeom prst="rect">
              <a:avLst/>
            </a:prstGeom>
            <a:noFill/>
            <a:ln w="9525">
              <a:solidFill>
                <a:srgbClr val="7FD99F"/>
              </a:solidFill>
            </a:ln>
          </p:spPr>
        </p:sp>
        <p:sp>
          <p:nvSpPr>
            <p:cNvPr id="81" name="Rectangle 81"/>
            <p:cNvSpPr/>
            <p:nvPr/>
          </p:nvSpPr>
          <p:spPr>
            <a:xfrm>
              <a:off x="6267450" y="5667375"/>
              <a:ext cx="209550" cy="133350"/>
            </a:xfrm>
            <a:prstGeom prst="rect">
              <a:avLst/>
            </a:prstGeom>
            <a:noFill/>
            <a:ln w="9525">
              <a:solidFill>
                <a:srgbClr val="7FD99F"/>
              </a:solidFill>
            </a:ln>
          </p:spPr>
        </p:sp>
        <p:sp>
          <p:nvSpPr>
            <p:cNvPr id="82" name="TextBox 82"/>
            <p:cNvSpPr txBox="1"/>
            <p:nvPr/>
          </p:nvSpPr>
          <p:spPr>
            <a:xfrm>
              <a:off x="5610511" y="6332220"/>
              <a:ext cx="970978" cy="182880"/>
            </a:xfrm>
            <a:prstGeom prst="rect">
              <a:avLst/>
            </a:prstGeom>
            <a:noFill/>
            <a:ln>
              <a:noFill/>
            </a:ln>
          </p:spPr>
          <p:txBody>
            <a:bodyPr wrap="none" lIns="0" tIns="0" rIns="0" bIns="0" anchor="t" anchorCtr="0">
              <a:spAutoFit/>
            </a:bodyPr>
            <a:lstStyle/>
            <a:p>
              <a:pPr algn="ctr"/>
              <a:r>
                <a:rPr lang="zh-CN" sz="900" dirty="0">
                  <a:solidFill>
                    <a:srgbClr val="A0B8D0"/>
                  </a:solidFill>
                  <a:latin typeface="Consolas"/>
                  <a:ea typeface="Microsoft YaHei"/>
                  <a:cs typeface="Consolas"/>
                </a:rPr>
                <a:t>worker-node-02</a:t>
              </a:r>
            </a:p>
          </p:txBody>
        </p:sp>
      </p:grpSp>
      <p:grpSp>
        <p:nvGrpSpPr>
          <p:cNvPr id="91" name="Group 91"/>
          <p:cNvGrpSpPr/>
          <p:nvPr/>
        </p:nvGrpSpPr>
        <p:grpSpPr>
          <a:xfrm>
            <a:off x="8763000" y="4667250"/>
            <a:ext cx="1714500" cy="1847850"/>
            <a:chOff x="8763000" y="4667250"/>
            <a:chExt cx="1714500" cy="1847850"/>
          </a:xfrm>
        </p:grpSpPr>
        <p:sp>
          <p:nvSpPr>
            <p:cNvPr id="84" name="Polygon 84"/>
            <p:cNvSpPr/>
            <p:nvPr/>
          </p:nvSpPr>
          <p:spPr>
            <a:xfrm>
              <a:off x="8763000" y="4667250"/>
              <a:ext cx="1714500" cy="1524000"/>
            </a:xfrm>
            <a:custGeom>
              <a:avLst/>
              <a:gdLst/>
              <a:ahLst/>
              <a:cxnLst/>
              <a:rect l="l" t="t" r="r" b="b"/>
              <a:pathLst>
                <a:path w="1714500" h="1524000">
                  <a:moveTo>
                    <a:pt x="857250" y="0"/>
                  </a:moveTo>
                  <a:lnTo>
                    <a:pt x="1714500" y="428625"/>
                  </a:lnTo>
                  <a:lnTo>
                    <a:pt x="1714500" y="1095375"/>
                  </a:lnTo>
                  <a:lnTo>
                    <a:pt x="857250" y="1524000"/>
                  </a:lnTo>
                  <a:lnTo>
                    <a:pt x="0" y="1095375"/>
                  </a:lnTo>
                  <a:lnTo>
                    <a:pt x="0" y="428625"/>
                  </a:lnTo>
                  <a:close/>
                </a:path>
              </a:pathLst>
            </a:custGeom>
            <a:solidFill>
              <a:srgbClr val="0E2A47"/>
            </a:solidFill>
            <a:ln w="14288">
              <a:solidFill>
                <a:srgbClr val="5BA3E0"/>
              </a:solidFill>
            </a:ln>
          </p:spPr>
        </p:sp>
        <p:sp>
          <p:nvSpPr>
            <p:cNvPr id="85" name="Line 85"/>
            <p:cNvSpPr/>
            <p:nvPr/>
          </p:nvSpPr>
          <p:spPr>
            <a:xfrm>
              <a:off x="9620250" y="4667250"/>
              <a:ext cx="9525" cy="762000"/>
            </a:xfrm>
            <a:custGeom>
              <a:avLst/>
              <a:gdLst/>
              <a:ahLst/>
              <a:cxnLst/>
              <a:rect l="l" t="t" r="r" b="b"/>
              <a:pathLst>
                <a:path w="9525" h="762000">
                  <a:moveTo>
                    <a:pt x="0" y="0"/>
                  </a:moveTo>
                  <a:lnTo>
                    <a:pt x="0" y="762000"/>
                  </a:lnTo>
                </a:path>
              </a:pathLst>
            </a:custGeom>
            <a:noFill/>
            <a:ln w="9525">
              <a:solidFill>
                <a:srgbClr val="5BA3E0"/>
              </a:solidFill>
            </a:ln>
          </p:spPr>
        </p:sp>
        <p:sp>
          <p:nvSpPr>
            <p:cNvPr id="86" name="Line 86"/>
            <p:cNvSpPr/>
            <p:nvPr/>
          </p:nvSpPr>
          <p:spPr>
            <a:xfrm>
              <a:off x="8763000" y="5095875"/>
              <a:ext cx="857250" cy="333375"/>
            </a:xfrm>
            <a:custGeom>
              <a:avLst/>
              <a:gdLst/>
              <a:ahLst/>
              <a:cxnLst/>
              <a:rect l="l" t="t" r="r" b="b"/>
              <a:pathLst>
                <a:path w="857250" h="333375">
                  <a:moveTo>
                    <a:pt x="857250" y="333375"/>
                  </a:moveTo>
                  <a:lnTo>
                    <a:pt x="0" y="0"/>
                  </a:lnTo>
                </a:path>
              </a:pathLst>
            </a:custGeom>
            <a:noFill/>
            <a:ln w="9525">
              <a:solidFill>
                <a:srgbClr val="5BA3E0"/>
              </a:solidFill>
            </a:ln>
          </p:spPr>
        </p:sp>
        <p:sp>
          <p:nvSpPr>
            <p:cNvPr id="87" name="Line 87"/>
            <p:cNvSpPr/>
            <p:nvPr/>
          </p:nvSpPr>
          <p:spPr>
            <a:xfrm>
              <a:off x="9620250" y="5095875"/>
              <a:ext cx="857250" cy="333375"/>
            </a:xfrm>
            <a:custGeom>
              <a:avLst/>
              <a:gdLst/>
              <a:ahLst/>
              <a:cxnLst/>
              <a:rect l="l" t="t" r="r" b="b"/>
              <a:pathLst>
                <a:path w="857250" h="333375">
                  <a:moveTo>
                    <a:pt x="0" y="333375"/>
                  </a:moveTo>
                  <a:lnTo>
                    <a:pt x="857250" y="0"/>
                  </a:lnTo>
                </a:path>
              </a:pathLst>
            </a:custGeom>
            <a:noFill/>
            <a:ln w="9525">
              <a:solidFill>
                <a:srgbClr val="5BA3E0"/>
              </a:solidFill>
            </a:ln>
          </p:spPr>
        </p:sp>
        <p:sp>
          <p:nvSpPr>
            <p:cNvPr id="88" name="Rectangle 88"/>
            <p:cNvSpPr/>
            <p:nvPr/>
          </p:nvSpPr>
          <p:spPr>
            <a:xfrm>
              <a:off x="9239250" y="5667375"/>
              <a:ext cx="209550" cy="133350"/>
            </a:xfrm>
            <a:prstGeom prst="rect">
              <a:avLst/>
            </a:prstGeom>
            <a:noFill/>
            <a:ln w="9525">
              <a:solidFill>
                <a:srgbClr val="7FD99F"/>
              </a:solidFill>
            </a:ln>
          </p:spPr>
        </p:sp>
        <p:sp>
          <p:nvSpPr>
            <p:cNvPr id="89" name="Rectangle 89"/>
            <p:cNvSpPr/>
            <p:nvPr/>
          </p:nvSpPr>
          <p:spPr>
            <a:xfrm>
              <a:off x="9515475" y="5667375"/>
              <a:ext cx="209550" cy="133350"/>
            </a:xfrm>
            <a:prstGeom prst="rect">
              <a:avLst/>
            </a:prstGeom>
            <a:noFill/>
            <a:ln w="9525">
              <a:solidFill>
                <a:srgbClr val="7FD99F"/>
              </a:solidFill>
            </a:ln>
          </p:spPr>
        </p:sp>
        <p:sp>
          <p:nvSpPr>
            <p:cNvPr id="90" name="TextBox 90"/>
            <p:cNvSpPr txBox="1"/>
            <p:nvPr/>
          </p:nvSpPr>
          <p:spPr>
            <a:xfrm>
              <a:off x="9134761" y="6332220"/>
              <a:ext cx="970978" cy="182880"/>
            </a:xfrm>
            <a:prstGeom prst="rect">
              <a:avLst/>
            </a:prstGeom>
            <a:noFill/>
            <a:ln>
              <a:noFill/>
            </a:ln>
          </p:spPr>
          <p:txBody>
            <a:bodyPr wrap="none" lIns="0" tIns="0" rIns="0" bIns="0" anchor="t" anchorCtr="0">
              <a:spAutoFit/>
            </a:bodyPr>
            <a:lstStyle/>
            <a:p>
              <a:pPr algn="ctr"/>
              <a:r>
                <a:rPr lang="zh-CN" sz="900" dirty="0">
                  <a:solidFill>
                    <a:srgbClr val="A0B8D0"/>
                  </a:solidFill>
                  <a:latin typeface="Consolas"/>
                  <a:ea typeface="Microsoft YaHei"/>
                  <a:cs typeface="Consolas"/>
                </a:rPr>
                <a:t>worker-node-03</a:t>
              </a:r>
            </a:p>
          </p:txBody>
        </p:sp>
      </p:grpSp>
      <p:grpSp>
        <p:nvGrpSpPr>
          <p:cNvPr id="95" name="Group 95"/>
          <p:cNvGrpSpPr/>
          <p:nvPr/>
        </p:nvGrpSpPr>
        <p:grpSpPr>
          <a:xfrm>
            <a:off x="561022" y="6477000"/>
            <a:ext cx="11069956" cy="269081"/>
            <a:chOff x="561022" y="6477000"/>
            <a:chExt cx="11069956" cy="269081"/>
          </a:xfrm>
        </p:grpSpPr>
        <p:sp>
          <p:nvSpPr>
            <p:cNvPr id="92" name="Line 92"/>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3" name="TextBox 93"/>
            <p:cNvSpPr txBox="1"/>
            <p:nvPr/>
          </p:nvSpPr>
          <p:spPr>
            <a:xfrm>
              <a:off x="561022" y="6578441"/>
              <a:ext cx="301883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02 OF 10 · TOPOLOGY OVERVIEW</a:t>
              </a:r>
            </a:p>
          </p:txBody>
        </p:sp>
        <p:sp>
          <p:nvSpPr>
            <p:cNvPr id="94" name="TextBox 94"/>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02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image">
                                      <p:cBhvr>
                                        <p:cTn id="7" dur="550"/>
                                        <p:tgtEl>
                                          <p:spTgt spid="22"/>
                                        </p:tgtEl>
                                      </p:cBhvr>
                                    </p:animEffect>
                                  </p:childTnLst>
                                </p:cTn>
                              </p:par>
                            </p:childTnLst>
                          </p:cTn>
                        </p:par>
                        <p:par>
                          <p:cTn id="8" fill="hold">
                            <p:stCondLst>
                              <p:cond delay="69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childTnLst>
                          </p:cTn>
                        </p:par>
                        <p:par>
                          <p:cTn id="12" fill="hold">
                            <p:stCondLst>
                              <p:cond delay="123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1770"/>
                            </p:stCondLst>
                            <p:childTnLst>
                              <p:par>
                                <p:cTn id="17" presetID="10"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400"/>
                                        <p:tgtEl>
                                          <p:spTgt spid="38"/>
                                        </p:tgtEl>
                                      </p:cBhvr>
                                    </p:animEffect>
                                  </p:childTnLst>
                                </p:cTn>
                              </p:par>
                            </p:childTnLst>
                          </p:cTn>
                        </p:par>
                        <p:par>
                          <p:cTn id="20" fill="hold">
                            <p:stCondLst>
                              <p:cond delay="2310"/>
                            </p:stCondLst>
                            <p:childTnLst>
                              <p:par>
                                <p:cTn id="21" presetID="10" presetClass="entr" presetSubtype="0"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400"/>
                                        <p:tgtEl>
                                          <p:spTgt spid="44"/>
                                        </p:tgtEl>
                                      </p:cBhvr>
                                    </p:animEffect>
                                  </p:childTnLst>
                                </p:cTn>
                              </p:par>
                            </p:childTnLst>
                          </p:cTn>
                        </p:par>
                        <p:par>
                          <p:cTn id="24" fill="hold">
                            <p:stCondLst>
                              <p:cond delay="2810"/>
                            </p:stCondLst>
                            <p:childTnLst>
                              <p:par>
                                <p:cTn id="25" presetID="22" presetClass="entr" presetSubtype="1"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wipe(left)">
                                      <p:cBhvr>
                                        <p:cTn id="27" dur="550"/>
                                        <p:tgtEl>
                                          <p:spTgt spid="55"/>
                                        </p:tgtEl>
                                      </p:cBhvr>
                                    </p:animEffect>
                                  </p:childTnLst>
                                </p:cTn>
                              </p:par>
                            </p:childTnLst>
                          </p:cTn>
                        </p:par>
                        <p:par>
                          <p:cTn id="28" fill="hold">
                            <p:stCondLst>
                              <p:cond delay="3500"/>
                            </p:stCondLst>
                            <p:childTnLst>
                              <p:par>
                                <p:cTn id="29" presetID="22" presetClass="entr" presetSubtype="1" fill="hold" nodeType="after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wipe(left)">
                                      <p:cBhvr>
                                        <p:cTn id="31" dur="400"/>
                                        <p:tgtEl>
                                          <p:spTgt spid="74"/>
                                        </p:tgtEl>
                                      </p:cBhvr>
                                    </p:animEffect>
                                  </p:childTnLst>
                                </p:cTn>
                              </p:par>
                            </p:childTnLst>
                          </p:cTn>
                        </p:par>
                        <p:par>
                          <p:cTn id="32" fill="hold">
                            <p:stCondLst>
                              <p:cond delay="4040"/>
                            </p:stCondLst>
                            <p:childTnLst>
                              <p:par>
                                <p:cTn id="33" presetID="22" presetClass="entr" presetSubtype="1" fill="hold" nodeType="afterEffect">
                                  <p:stCondLst>
                                    <p:cond delay="0"/>
                                  </p:stCondLst>
                                  <p:childTnLst>
                                    <p:set>
                                      <p:cBhvr>
                                        <p:cTn id="34" dur="1" fill="hold">
                                          <p:stCondLst>
                                            <p:cond delay="0"/>
                                          </p:stCondLst>
                                        </p:cTn>
                                        <p:tgtEl>
                                          <p:spTgt spid="83"/>
                                        </p:tgtEl>
                                        <p:attrNameLst>
                                          <p:attrName>style.visibility</p:attrName>
                                        </p:attrNameLst>
                                      </p:cBhvr>
                                      <p:to>
                                        <p:strVal val="visible"/>
                                      </p:to>
                                    </p:set>
                                    <p:animEffect transition="in" filter="wipe(left)">
                                      <p:cBhvr>
                                        <p:cTn id="35" dur="400"/>
                                        <p:tgtEl>
                                          <p:spTgt spid="83"/>
                                        </p:tgtEl>
                                      </p:cBhvr>
                                    </p:animEffect>
                                  </p:childTnLst>
                                </p:cTn>
                              </p:par>
                            </p:childTnLst>
                          </p:cTn>
                        </p:par>
                        <p:par>
                          <p:cTn id="36" fill="hold">
                            <p:stCondLst>
                              <p:cond delay="4580"/>
                            </p:stCondLst>
                            <p:childTnLst>
                              <p:par>
                                <p:cTn id="37" presetID="22" presetClass="entr" presetSubtype="1" fill="hold" nodeType="afterEffect">
                                  <p:stCondLst>
                                    <p:cond delay="0"/>
                                  </p:stCondLst>
                                  <p:childTnLst>
                                    <p:set>
                                      <p:cBhvr>
                                        <p:cTn id="38" dur="1" fill="hold">
                                          <p:stCondLst>
                                            <p:cond delay="0"/>
                                          </p:stCondLst>
                                        </p:cTn>
                                        <p:tgtEl>
                                          <p:spTgt spid="91"/>
                                        </p:tgtEl>
                                        <p:attrNameLst>
                                          <p:attrName>style.visibility</p:attrName>
                                        </p:attrNameLst>
                                      </p:cBhvr>
                                      <p:to>
                                        <p:strVal val="visible"/>
                                      </p:to>
                                    </p:set>
                                    <p:animEffect transition="in" filter="wipe(left)">
                                      <p:cBhvr>
                                        <p:cTn id="39" dur="4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8" grpId="0"/>
      <p:bldP spid="33" grpId="0"/>
      <p:bldP spid="38" grpId="0"/>
      <p:bldP spid="44" grpId="0"/>
      <p:bldP spid="55" grpId="0"/>
      <p:bldP spid="74" grpId="0"/>
      <p:bldP spid="83" grpId="0"/>
      <p:bldP spid="9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460075"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The Control Plane: Five Components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P03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641467"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ONE HUB · ONE PERSISTENT STORE · THREE SATELLITE LOOPS · ONE OPTIONAL CLOUD ADAPTER</a:t>
              </a:r>
            </a:p>
          </p:txBody>
        </p:sp>
      </p:grpSp>
      <p:grpSp>
        <p:nvGrpSpPr>
          <p:cNvPr id="14" name="Group 14"/>
          <p:cNvGrpSpPr/>
          <p:nvPr/>
        </p:nvGrpSpPr>
        <p:grpSpPr>
          <a:xfrm>
            <a:off x="3524250" y="1333500"/>
            <a:ext cx="5143500" cy="5143500"/>
            <a:chOff x="3524250" y="1333500"/>
            <a:chExt cx="5143500" cy="5143500"/>
          </a:xfrm>
        </p:grpSpPr>
        <p:sp>
          <p:nvSpPr>
            <p:cNvPr id="11" name="Ellipse 11"/>
            <p:cNvSpPr/>
            <p:nvPr/>
          </p:nvSpPr>
          <p:spPr>
            <a:xfrm>
              <a:off x="4000500" y="1809750"/>
              <a:ext cx="4191000" cy="4191000"/>
            </a:xfrm>
            <a:prstGeom prst="ellipse">
              <a:avLst/>
            </a:prstGeom>
            <a:noFill/>
            <a:ln w="4762">
              <a:solidFill>
                <a:srgbClr val="3E7AB8">
                  <a:alpha val="40000"/>
                </a:srgbClr>
              </a:solidFill>
              <a:custDash>
                <a:ds d="400000" sp="1200000"/>
              </a:custDash>
            </a:ln>
          </p:spPr>
        </p:sp>
        <p:sp>
          <p:nvSpPr>
            <p:cNvPr id="12" name="Ellipse 12"/>
            <p:cNvSpPr/>
            <p:nvPr/>
          </p:nvSpPr>
          <p:spPr>
            <a:xfrm>
              <a:off x="4572000" y="2381250"/>
              <a:ext cx="3048000" cy="3048000"/>
            </a:xfrm>
            <a:prstGeom prst="ellipse">
              <a:avLst/>
            </a:prstGeom>
            <a:noFill/>
            <a:ln w="5715">
              <a:solidFill>
                <a:srgbClr val="3E7AB8">
                  <a:alpha val="50000"/>
                </a:srgbClr>
              </a:solidFill>
              <a:prstDash val="dash"/>
            </a:ln>
          </p:spPr>
        </p:sp>
        <p:sp>
          <p:nvSpPr>
            <p:cNvPr id="13" name="Ellipse 13"/>
            <p:cNvSpPr/>
            <p:nvPr/>
          </p:nvSpPr>
          <p:spPr>
            <a:xfrm>
              <a:off x="3524250" y="1333500"/>
              <a:ext cx="5143500" cy="5143500"/>
            </a:xfrm>
            <a:prstGeom prst="ellipse">
              <a:avLst/>
            </a:prstGeom>
            <a:noFill/>
            <a:ln w="3810">
              <a:solidFill>
                <a:srgbClr val="3E7AB8">
                  <a:alpha val="30000"/>
                </a:srgbClr>
              </a:solidFill>
              <a:custDash>
                <a:ds d="250000" sp="1250000"/>
              </a:custDash>
            </a:ln>
          </p:spPr>
        </p:sp>
      </p:grpSp>
      <p:grpSp>
        <p:nvGrpSpPr>
          <p:cNvPr id="20" name="Group 20"/>
          <p:cNvGrpSpPr/>
          <p:nvPr/>
        </p:nvGrpSpPr>
        <p:grpSpPr>
          <a:xfrm>
            <a:off x="4048125" y="1905000"/>
            <a:ext cx="4095750" cy="3143250"/>
            <a:chOff x="4048125" y="1905000"/>
            <a:chExt cx="4095750" cy="3143250"/>
          </a:xfrm>
        </p:grpSpPr>
        <p:sp>
          <p:nvSpPr>
            <p:cNvPr id="15" name="Line 15"/>
            <p:cNvSpPr/>
            <p:nvPr/>
          </p:nvSpPr>
          <p:spPr>
            <a:xfrm>
              <a:off x="6096000" y="1905000"/>
              <a:ext cx="9525" cy="2000250"/>
            </a:xfrm>
            <a:custGeom>
              <a:avLst/>
              <a:gdLst/>
              <a:ahLst/>
              <a:cxnLst/>
              <a:rect l="l" t="t" r="r" b="b"/>
              <a:pathLst>
                <a:path w="9525" h="2000250">
                  <a:moveTo>
                    <a:pt x="0" y="2000250"/>
                  </a:moveTo>
                  <a:lnTo>
                    <a:pt x="0" y="0"/>
                  </a:lnTo>
                </a:path>
              </a:pathLst>
            </a:custGeom>
            <a:noFill/>
            <a:ln w="14288">
              <a:solidFill>
                <a:srgbClr val="FFB627"/>
              </a:solidFill>
            </a:ln>
          </p:spPr>
        </p:sp>
        <p:sp>
          <p:nvSpPr>
            <p:cNvPr id="16" name="Line 16"/>
            <p:cNvSpPr/>
            <p:nvPr/>
          </p:nvSpPr>
          <p:spPr>
            <a:xfrm>
              <a:off x="6096000" y="2762250"/>
              <a:ext cx="2047875" cy="1143000"/>
            </a:xfrm>
            <a:custGeom>
              <a:avLst/>
              <a:gdLst/>
              <a:ahLst/>
              <a:cxnLst/>
              <a:rect l="l" t="t" r="r" b="b"/>
              <a:pathLst>
                <a:path w="2047875" h="1143000">
                  <a:moveTo>
                    <a:pt x="0" y="1143000"/>
                  </a:moveTo>
                  <a:lnTo>
                    <a:pt x="2047875" y="0"/>
                  </a:lnTo>
                </a:path>
              </a:pathLst>
            </a:custGeom>
            <a:noFill/>
            <a:ln w="11430">
              <a:solidFill>
                <a:srgbClr val="5BA3E0"/>
              </a:solidFill>
            </a:ln>
          </p:spPr>
        </p:sp>
        <p:sp>
          <p:nvSpPr>
            <p:cNvPr id="17" name="Line 17"/>
            <p:cNvSpPr/>
            <p:nvPr/>
          </p:nvSpPr>
          <p:spPr>
            <a:xfrm>
              <a:off x="6096000" y="3905250"/>
              <a:ext cx="2047875" cy="1143000"/>
            </a:xfrm>
            <a:custGeom>
              <a:avLst/>
              <a:gdLst/>
              <a:ahLst/>
              <a:cxnLst/>
              <a:rect l="l" t="t" r="r" b="b"/>
              <a:pathLst>
                <a:path w="2047875" h="1143000">
                  <a:moveTo>
                    <a:pt x="0" y="0"/>
                  </a:moveTo>
                  <a:lnTo>
                    <a:pt x="2047875" y="1143000"/>
                  </a:lnTo>
                </a:path>
              </a:pathLst>
            </a:custGeom>
            <a:noFill/>
            <a:ln w="11430">
              <a:solidFill>
                <a:srgbClr val="5BA3E0"/>
              </a:solidFill>
            </a:ln>
          </p:spPr>
        </p:sp>
        <p:sp>
          <p:nvSpPr>
            <p:cNvPr id="18" name="Line 18"/>
            <p:cNvSpPr/>
            <p:nvPr/>
          </p:nvSpPr>
          <p:spPr>
            <a:xfrm>
              <a:off x="4048125" y="3905250"/>
              <a:ext cx="2047875" cy="1143000"/>
            </a:xfrm>
            <a:custGeom>
              <a:avLst/>
              <a:gdLst/>
              <a:ahLst/>
              <a:cxnLst/>
              <a:rect l="l" t="t" r="r" b="b"/>
              <a:pathLst>
                <a:path w="2047875" h="1143000">
                  <a:moveTo>
                    <a:pt x="2047875" y="0"/>
                  </a:moveTo>
                  <a:lnTo>
                    <a:pt x="0" y="1143000"/>
                  </a:lnTo>
                </a:path>
              </a:pathLst>
            </a:custGeom>
            <a:noFill/>
            <a:ln w="11430">
              <a:solidFill>
                <a:srgbClr val="5BA3E0"/>
              </a:solidFill>
            </a:ln>
          </p:spPr>
        </p:sp>
        <p:sp>
          <p:nvSpPr>
            <p:cNvPr id="19" name="Line 19"/>
            <p:cNvSpPr/>
            <p:nvPr/>
          </p:nvSpPr>
          <p:spPr>
            <a:xfrm>
              <a:off x="4048125" y="2762250"/>
              <a:ext cx="2047875" cy="1143000"/>
            </a:xfrm>
            <a:custGeom>
              <a:avLst/>
              <a:gdLst/>
              <a:ahLst/>
              <a:cxnLst/>
              <a:rect l="l" t="t" r="r" b="b"/>
              <a:pathLst>
                <a:path w="2047875" h="1143000">
                  <a:moveTo>
                    <a:pt x="2047875" y="1143000"/>
                  </a:moveTo>
                  <a:lnTo>
                    <a:pt x="0" y="0"/>
                  </a:lnTo>
                </a:path>
              </a:pathLst>
            </a:custGeom>
            <a:noFill/>
            <a:ln w="11430">
              <a:solidFill>
                <a:srgbClr val="3E7AB8"/>
              </a:solidFill>
              <a:custDash>
                <a:ds d="333333" sp="250000"/>
              </a:custDash>
            </a:ln>
          </p:spPr>
        </p:sp>
      </p:grpSp>
      <p:grpSp>
        <p:nvGrpSpPr>
          <p:cNvPr id="30" name="Group 30"/>
          <p:cNvGrpSpPr/>
          <p:nvPr/>
        </p:nvGrpSpPr>
        <p:grpSpPr>
          <a:xfrm>
            <a:off x="5048250" y="2857500"/>
            <a:ext cx="2095500" cy="2095500"/>
            <a:chOff x="5048250" y="2857500"/>
            <a:chExt cx="2095500" cy="2095500"/>
          </a:xfrm>
        </p:grpSpPr>
        <p:sp>
          <p:nvSpPr>
            <p:cNvPr id="21" name="Ellipse 21"/>
            <p:cNvSpPr/>
            <p:nvPr/>
          </p:nvSpPr>
          <p:spPr>
            <a:xfrm>
              <a:off x="5048250" y="2857500"/>
              <a:ext cx="2095500" cy="2095500"/>
            </a:xfrm>
            <a:prstGeom prst="ellipse">
              <a:avLst/>
            </a:prstGeom>
            <a:gradFill>
              <a:gsLst>
                <a:gs pos="0">
                  <a:srgbClr val="FFB627">
                    <a:alpha val="25000"/>
                  </a:srgbClr>
                </a:gs>
                <a:gs pos="100000">
                  <a:srgbClr val="FFB627">
                    <a:alpha val="0"/>
                  </a:srgbClr>
                </a:gs>
              </a:gsLst>
              <a:path path="circle">
                <a:fillToRect l="50000" t="50000" r="50000" b="50000"/>
              </a:path>
            </a:gradFill>
            <a:ln>
              <a:noFill/>
            </a:ln>
          </p:spPr>
        </p:sp>
        <p:sp>
          <p:nvSpPr>
            <p:cNvPr id="22" name="Polygon 22"/>
            <p:cNvSpPr/>
            <p:nvPr/>
          </p:nvSpPr>
          <p:spPr>
            <a:xfrm>
              <a:off x="5524500" y="3143250"/>
              <a:ext cx="1143000" cy="1524000"/>
            </a:xfrm>
            <a:custGeom>
              <a:avLst/>
              <a:gdLst/>
              <a:ahLst/>
              <a:cxnLst/>
              <a:rect l="l" t="t" r="r" b="b"/>
              <a:pathLst>
                <a:path w="1143000" h="1524000">
                  <a:moveTo>
                    <a:pt x="571500" y="0"/>
                  </a:moveTo>
                  <a:lnTo>
                    <a:pt x="1143000" y="333375"/>
                  </a:lnTo>
                  <a:lnTo>
                    <a:pt x="1143000" y="1190625"/>
                  </a:lnTo>
                  <a:lnTo>
                    <a:pt x="571500" y="1524000"/>
                  </a:lnTo>
                  <a:lnTo>
                    <a:pt x="0" y="1190625"/>
                  </a:lnTo>
                  <a:lnTo>
                    <a:pt x="0" y="333375"/>
                  </a:lnTo>
                  <a:close/>
                </a:path>
              </a:pathLst>
            </a:custGeom>
            <a:solidFill>
              <a:srgbClr val="0E2A47"/>
            </a:solidFill>
            <a:ln w="19050">
              <a:solidFill>
                <a:srgbClr val="FFB627"/>
              </a:solidFill>
            </a:ln>
          </p:spPr>
        </p:sp>
        <p:sp>
          <p:nvSpPr>
            <p:cNvPr id="23" name="Line 23"/>
            <p:cNvSpPr/>
            <p:nvPr/>
          </p:nvSpPr>
          <p:spPr>
            <a:xfrm>
              <a:off x="6096000" y="3143250"/>
              <a:ext cx="9525" cy="762000"/>
            </a:xfrm>
            <a:custGeom>
              <a:avLst/>
              <a:gdLst/>
              <a:ahLst/>
              <a:cxnLst/>
              <a:rect l="l" t="t" r="r" b="b"/>
              <a:pathLst>
                <a:path w="9525" h="762000">
                  <a:moveTo>
                    <a:pt x="0" y="0"/>
                  </a:moveTo>
                  <a:lnTo>
                    <a:pt x="0" y="762000"/>
                  </a:lnTo>
                </a:path>
              </a:pathLst>
            </a:custGeom>
            <a:noFill/>
            <a:ln w="11430">
              <a:solidFill>
                <a:srgbClr val="FFB627"/>
              </a:solidFill>
            </a:ln>
          </p:spPr>
        </p:sp>
        <p:sp>
          <p:nvSpPr>
            <p:cNvPr id="24" name="Line 24"/>
            <p:cNvSpPr/>
            <p:nvPr/>
          </p:nvSpPr>
          <p:spPr>
            <a:xfrm>
              <a:off x="5524500" y="3476625"/>
              <a:ext cx="571500" cy="428625"/>
            </a:xfrm>
            <a:custGeom>
              <a:avLst/>
              <a:gdLst/>
              <a:ahLst/>
              <a:cxnLst/>
              <a:rect l="l" t="t" r="r" b="b"/>
              <a:pathLst>
                <a:path w="571500" h="428625">
                  <a:moveTo>
                    <a:pt x="571500" y="428625"/>
                  </a:moveTo>
                  <a:lnTo>
                    <a:pt x="0" y="0"/>
                  </a:lnTo>
                </a:path>
              </a:pathLst>
            </a:custGeom>
            <a:noFill/>
            <a:ln w="11430">
              <a:solidFill>
                <a:srgbClr val="FFB627"/>
              </a:solidFill>
            </a:ln>
          </p:spPr>
        </p:sp>
        <p:sp>
          <p:nvSpPr>
            <p:cNvPr id="25" name="Line 25"/>
            <p:cNvSpPr/>
            <p:nvPr/>
          </p:nvSpPr>
          <p:spPr>
            <a:xfrm>
              <a:off x="6096000" y="3476625"/>
              <a:ext cx="571500" cy="428625"/>
            </a:xfrm>
            <a:custGeom>
              <a:avLst/>
              <a:gdLst/>
              <a:ahLst/>
              <a:cxnLst/>
              <a:rect l="l" t="t" r="r" b="b"/>
              <a:pathLst>
                <a:path w="571500" h="428625">
                  <a:moveTo>
                    <a:pt x="0" y="428625"/>
                  </a:moveTo>
                  <a:lnTo>
                    <a:pt x="571500" y="0"/>
                  </a:lnTo>
                </a:path>
              </a:pathLst>
            </a:custGeom>
            <a:noFill/>
            <a:ln w="11430">
              <a:solidFill>
                <a:srgbClr val="FFB627"/>
              </a:solidFill>
            </a:ln>
          </p:spPr>
        </p:sp>
        <p:sp>
          <p:nvSpPr>
            <p:cNvPr id="26" name="TextBox 26"/>
            <p:cNvSpPr txBox="1"/>
            <p:nvPr/>
          </p:nvSpPr>
          <p:spPr>
            <a:xfrm>
              <a:off x="5535022" y="3982402"/>
              <a:ext cx="1121957" cy="213360"/>
            </a:xfrm>
            <a:prstGeom prst="rect">
              <a:avLst/>
            </a:prstGeom>
            <a:noFill/>
            <a:ln>
              <a:noFill/>
            </a:ln>
          </p:spPr>
          <p:txBody>
            <a:bodyPr wrap="none" lIns="0" tIns="0" rIns="0" bIns="0" anchor="t" anchorCtr="0">
              <a:spAutoFit/>
            </a:bodyPr>
            <a:lstStyle/>
            <a:p>
              <a:pPr algn="ctr"/>
              <a:r>
                <a:rPr lang="zh-CN" sz="1050" b="1" dirty="0">
                  <a:solidFill>
                    <a:srgbClr val="FFB627"/>
                  </a:solidFill>
                  <a:latin typeface="Consolas"/>
                  <a:ea typeface="Microsoft YaHei"/>
                  <a:cs typeface="Consolas"/>
                </a:rPr>
                <a:t>kube-apiserver</a:t>
              </a:r>
            </a:p>
          </p:txBody>
        </p:sp>
        <p:sp>
          <p:nvSpPr>
            <p:cNvPr id="27" name="TextBox 27"/>
            <p:cNvSpPr txBox="1"/>
            <p:nvPr/>
          </p:nvSpPr>
          <p:spPr>
            <a:xfrm>
              <a:off x="5645467" y="4197191"/>
              <a:ext cx="901065"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REST + admission</a:t>
              </a:r>
            </a:p>
          </p:txBody>
        </p:sp>
        <p:sp>
          <p:nvSpPr>
            <p:cNvPr id="28" name="TextBox 28"/>
            <p:cNvSpPr txBox="1"/>
            <p:nvPr/>
          </p:nvSpPr>
          <p:spPr>
            <a:xfrm>
              <a:off x="5777484" y="4349591"/>
              <a:ext cx="637032"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 validation</a:t>
              </a:r>
            </a:p>
          </p:txBody>
        </p:sp>
        <p:sp>
          <p:nvSpPr>
            <p:cNvPr id="29" name="TextBox 29"/>
            <p:cNvSpPr txBox="1"/>
            <p:nvPr/>
          </p:nvSpPr>
          <p:spPr>
            <a:xfrm>
              <a:off x="5547360" y="4537234"/>
              <a:ext cx="1097280"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HUB · scales horizontally</a:t>
              </a:r>
            </a:p>
          </p:txBody>
        </p:sp>
      </p:grpSp>
      <p:grpSp>
        <p:nvGrpSpPr>
          <p:cNvPr id="42" name="Group 42"/>
          <p:cNvGrpSpPr/>
          <p:nvPr/>
        </p:nvGrpSpPr>
        <p:grpSpPr>
          <a:xfrm>
            <a:off x="5143500" y="1409700"/>
            <a:ext cx="2006680" cy="1257300"/>
            <a:chOff x="5143500" y="1409700"/>
            <a:chExt cx="2006680" cy="1257300"/>
          </a:xfrm>
        </p:grpSpPr>
        <p:sp>
          <p:nvSpPr>
            <p:cNvPr id="31" name="Rectangle 31"/>
            <p:cNvSpPr/>
            <p:nvPr/>
          </p:nvSpPr>
          <p:spPr>
            <a:xfrm>
              <a:off x="5143500" y="1409700"/>
              <a:ext cx="1905000" cy="800100"/>
            </a:xfrm>
            <a:prstGeom prst="rect">
              <a:avLst/>
            </a:prstGeom>
            <a:solidFill>
              <a:srgbClr val="0E2A47"/>
            </a:solidFill>
            <a:ln w="17145">
              <a:solidFill>
                <a:srgbClr val="FFB627"/>
              </a:solidFill>
            </a:ln>
          </p:spPr>
        </p:sp>
        <p:sp>
          <p:nvSpPr>
            <p:cNvPr id="32" name="Rectangle 32"/>
            <p:cNvSpPr/>
            <p:nvPr/>
          </p:nvSpPr>
          <p:spPr>
            <a:xfrm>
              <a:off x="5143500" y="1409700"/>
              <a:ext cx="57150" cy="800100"/>
            </a:xfrm>
            <a:prstGeom prst="rect">
              <a:avLst/>
            </a:prstGeom>
            <a:solidFill>
              <a:srgbClr val="FFB627"/>
            </a:solidFill>
            <a:ln>
              <a:noFill/>
            </a:ln>
          </p:spPr>
        </p:sp>
        <p:grpSp>
          <p:nvGrpSpPr>
            <p:cNvPr id="36" name="Group 36"/>
            <p:cNvGrpSpPr/>
            <p:nvPr/>
          </p:nvGrpSpPr>
          <p:grpSpPr>
            <a:xfrm>
              <a:off x="5330825" y="1607344"/>
              <a:ext cx="139700" cy="157162"/>
              <a:chOff x="5330825" y="1607344"/>
              <a:chExt cx="139700" cy="157162"/>
            </a:xfrm>
          </p:grpSpPr>
          <p:sp>
            <p:nvSpPr>
              <p:cNvPr id="33" name="Freeform 33"/>
              <p:cNvSpPr/>
              <p:nvPr/>
            </p:nvSpPr>
            <p:spPr>
              <a:xfrm>
                <a:off x="5330825" y="1607344"/>
                <a:ext cx="139700" cy="52388"/>
              </a:xfrm>
              <a:custGeom>
                <a:avLst/>
                <a:gdLst/>
                <a:ahLst/>
                <a:cxnLst/>
                <a:rect l="l" t="t" r="r" b="b"/>
                <a:pathLst>
                  <a:path w="139700" h="52388">
                    <a:moveTo>
                      <a:pt x="0" y="26194"/>
                    </a:moveTo>
                    <a:cubicBezTo>
                      <a:pt x="0" y="40660"/>
                      <a:pt x="31273" y="52388"/>
                      <a:pt x="69850" y="52388"/>
                    </a:cubicBezTo>
                    <a:cubicBezTo>
                      <a:pt x="108427" y="52388"/>
                      <a:pt x="139700" y="40660"/>
                      <a:pt x="139700" y="26194"/>
                    </a:cubicBezTo>
                    <a:cubicBezTo>
                      <a:pt x="139700" y="11727"/>
                      <a:pt x="108427" y="0"/>
                      <a:pt x="69850" y="0"/>
                    </a:cubicBezTo>
                    <a:cubicBezTo>
                      <a:pt x="31273" y="0"/>
                      <a:pt x="0" y="11727"/>
                      <a:pt x="0" y="26194"/>
                    </a:cubicBezTo>
                  </a:path>
                </a:pathLst>
              </a:custGeom>
              <a:noFill/>
              <a:ln w="14288">
                <a:solidFill>
                  <a:srgbClr val="FFB627"/>
                </a:solidFill>
              </a:ln>
            </p:spPr>
          </p:sp>
          <p:sp>
            <p:nvSpPr>
              <p:cNvPr id="34" name="Freeform 34"/>
              <p:cNvSpPr/>
              <p:nvPr/>
            </p:nvSpPr>
            <p:spPr>
              <a:xfrm>
                <a:off x="5330825" y="1633538"/>
                <a:ext cx="139700" cy="78581"/>
              </a:xfrm>
              <a:custGeom>
                <a:avLst/>
                <a:gdLst/>
                <a:ahLst/>
                <a:cxnLst/>
                <a:rect l="l" t="t" r="r" b="b"/>
                <a:pathLst>
                  <a:path w="139700" h="78581">
                    <a:moveTo>
                      <a:pt x="0" y="0"/>
                    </a:moveTo>
                    <a:lnTo>
                      <a:pt x="0" y="52388"/>
                    </a:lnTo>
                    <a:cubicBezTo>
                      <a:pt x="0" y="66854"/>
                      <a:pt x="31273" y="78581"/>
                      <a:pt x="69850" y="78581"/>
                    </a:cubicBezTo>
                    <a:cubicBezTo>
                      <a:pt x="108427" y="78581"/>
                      <a:pt x="139700" y="66854"/>
                      <a:pt x="139700" y="52388"/>
                    </a:cubicBezTo>
                    <a:lnTo>
                      <a:pt x="139700" y="0"/>
                    </a:lnTo>
                  </a:path>
                </a:pathLst>
              </a:custGeom>
              <a:noFill/>
              <a:ln w="14288">
                <a:solidFill>
                  <a:srgbClr val="FFB627"/>
                </a:solidFill>
              </a:ln>
            </p:spPr>
          </p:sp>
          <p:sp>
            <p:nvSpPr>
              <p:cNvPr id="35" name="Freeform 35"/>
              <p:cNvSpPr/>
              <p:nvPr/>
            </p:nvSpPr>
            <p:spPr>
              <a:xfrm>
                <a:off x="5330825" y="1685925"/>
                <a:ext cx="139700" cy="78581"/>
              </a:xfrm>
              <a:custGeom>
                <a:avLst/>
                <a:gdLst/>
                <a:ahLst/>
                <a:cxnLst/>
                <a:rect l="l" t="t" r="r" b="b"/>
                <a:pathLst>
                  <a:path w="139700" h="78581">
                    <a:moveTo>
                      <a:pt x="0" y="0"/>
                    </a:moveTo>
                    <a:lnTo>
                      <a:pt x="0" y="52388"/>
                    </a:lnTo>
                    <a:cubicBezTo>
                      <a:pt x="0" y="66854"/>
                      <a:pt x="31273" y="78581"/>
                      <a:pt x="69850" y="78581"/>
                    </a:cubicBezTo>
                    <a:cubicBezTo>
                      <a:pt x="108427" y="78581"/>
                      <a:pt x="139700" y="66854"/>
                      <a:pt x="139700" y="52388"/>
                    </a:cubicBezTo>
                    <a:lnTo>
                      <a:pt x="139700" y="0"/>
                    </a:lnTo>
                  </a:path>
                </a:pathLst>
              </a:custGeom>
              <a:noFill/>
              <a:ln w="14288">
                <a:solidFill>
                  <a:srgbClr val="FFB627"/>
                </a:solidFill>
              </a:ln>
            </p:spPr>
          </p:sp>
        </p:grpSp>
        <p:sp>
          <p:nvSpPr>
            <p:cNvPr id="37" name="TextBox 37"/>
            <p:cNvSpPr txBox="1"/>
            <p:nvPr/>
          </p:nvSpPr>
          <p:spPr>
            <a:xfrm>
              <a:off x="5587365" y="1639252"/>
              <a:ext cx="350110" cy="213360"/>
            </a:xfrm>
            <a:prstGeom prst="rect">
              <a:avLst/>
            </a:prstGeom>
            <a:noFill/>
            <a:ln>
              <a:noFill/>
            </a:ln>
          </p:spPr>
          <p:txBody>
            <a:bodyPr wrap="none" lIns="0" tIns="0" rIns="0" bIns="0" anchor="t" anchorCtr="0">
              <a:spAutoFit/>
            </a:bodyPr>
            <a:lstStyle/>
            <a:p>
              <a:pPr algn="l"/>
              <a:r>
                <a:rPr lang="zh-CN" sz="1050" b="1" dirty="0">
                  <a:solidFill>
                    <a:srgbClr val="F0F4F8"/>
                  </a:solidFill>
                  <a:latin typeface="Consolas"/>
                  <a:ea typeface="Microsoft YaHei"/>
                  <a:cs typeface="Consolas"/>
                </a:rPr>
                <a:t>etcd</a:t>
              </a:r>
            </a:p>
          </p:txBody>
        </p:sp>
        <p:sp>
          <p:nvSpPr>
            <p:cNvPr id="38" name="TextBox 38"/>
            <p:cNvSpPr txBox="1"/>
            <p:nvPr/>
          </p:nvSpPr>
          <p:spPr>
            <a:xfrm>
              <a:off x="5285422" y="1873091"/>
              <a:ext cx="118160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Distributed K/V store</a:t>
              </a:r>
            </a:p>
          </p:txBody>
        </p:sp>
        <p:sp>
          <p:nvSpPr>
            <p:cNvPr id="39" name="TextBox 39"/>
            <p:cNvSpPr txBox="1"/>
            <p:nvPr/>
          </p:nvSpPr>
          <p:spPr>
            <a:xfrm>
              <a:off x="5285422" y="2025491"/>
              <a:ext cx="1280612"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Raft · all cluster state</a:t>
              </a:r>
            </a:p>
          </p:txBody>
        </p:sp>
        <p:sp>
          <p:nvSpPr>
            <p:cNvPr id="40" name="Line 40"/>
            <p:cNvSpPr/>
            <p:nvPr/>
          </p:nvSpPr>
          <p:spPr>
            <a:xfrm>
              <a:off x="6096000" y="2209800"/>
              <a:ext cx="9525" cy="457200"/>
            </a:xfrm>
            <a:custGeom>
              <a:avLst/>
              <a:gdLst/>
              <a:ahLst/>
              <a:cxnLst/>
              <a:rect l="l" t="t" r="r" b="b"/>
              <a:pathLst>
                <a:path w="9525" h="457200">
                  <a:moveTo>
                    <a:pt x="0" y="0"/>
                  </a:moveTo>
                  <a:lnTo>
                    <a:pt x="0" y="457200"/>
                  </a:lnTo>
                </a:path>
              </a:pathLst>
            </a:custGeom>
            <a:noFill/>
            <a:ln w="9525">
              <a:solidFill>
                <a:srgbClr val="FFB627"/>
              </a:solidFill>
              <a:custDash>
                <a:ds d="200000" sp="300000"/>
              </a:custDash>
            </a:ln>
          </p:spPr>
        </p:sp>
        <p:sp>
          <p:nvSpPr>
            <p:cNvPr id="41" name="TextBox 41"/>
            <p:cNvSpPr txBox="1"/>
            <p:nvPr/>
          </p:nvSpPr>
          <p:spPr>
            <a:xfrm>
              <a:off x="6277928" y="2403634"/>
              <a:ext cx="872252" cy="137160"/>
            </a:xfrm>
            <a:prstGeom prst="rect">
              <a:avLst/>
            </a:prstGeom>
            <a:noFill/>
            <a:ln>
              <a:noFill/>
            </a:ln>
          </p:spPr>
          <p:txBody>
            <a:bodyPr wrap="none" lIns="0" tIns="0" rIns="0" bIns="0" anchor="t" anchorCtr="0">
              <a:spAutoFit/>
            </a:bodyPr>
            <a:lstStyle/>
            <a:p>
              <a:pPr algn="l"/>
              <a:r>
                <a:rPr lang="zh-CN" sz="675" dirty="0">
                  <a:solidFill>
                    <a:srgbClr val="FFB627"/>
                  </a:solidFill>
                  <a:latin typeface="Consolas"/>
                  <a:ea typeface="Microsoft YaHei"/>
                  <a:cs typeface="Consolas"/>
                </a:rPr>
                <a:t>↕ only direct talker</a:t>
              </a:r>
            </a:p>
          </p:txBody>
        </p:sp>
      </p:grpSp>
      <p:grpSp>
        <p:nvGrpSpPr>
          <p:cNvPr id="51" name="Group 51"/>
          <p:cNvGrpSpPr/>
          <p:nvPr/>
        </p:nvGrpSpPr>
        <p:grpSpPr>
          <a:xfrm>
            <a:off x="7620000" y="2362200"/>
            <a:ext cx="2095500" cy="800100"/>
            <a:chOff x="7620000" y="2362200"/>
            <a:chExt cx="2095500" cy="800100"/>
          </a:xfrm>
        </p:grpSpPr>
        <p:sp>
          <p:nvSpPr>
            <p:cNvPr id="43" name="Rectangle 43"/>
            <p:cNvSpPr/>
            <p:nvPr/>
          </p:nvSpPr>
          <p:spPr>
            <a:xfrm>
              <a:off x="7620000" y="2362200"/>
              <a:ext cx="2095500" cy="800100"/>
            </a:xfrm>
            <a:prstGeom prst="rect">
              <a:avLst/>
            </a:prstGeom>
            <a:solidFill>
              <a:srgbClr val="0E2A47"/>
            </a:solidFill>
            <a:ln w="14288">
              <a:solidFill>
                <a:srgbClr val="5BA3E0"/>
              </a:solidFill>
            </a:ln>
          </p:spPr>
        </p:sp>
        <p:sp>
          <p:nvSpPr>
            <p:cNvPr id="44" name="Rectangle 44"/>
            <p:cNvSpPr/>
            <p:nvPr/>
          </p:nvSpPr>
          <p:spPr>
            <a:xfrm>
              <a:off x="7620000" y="2362200"/>
              <a:ext cx="57150" cy="800100"/>
            </a:xfrm>
            <a:prstGeom prst="rect">
              <a:avLst/>
            </a:prstGeom>
            <a:solidFill>
              <a:srgbClr val="5BA3E0"/>
            </a:solidFill>
            <a:ln>
              <a:noFill/>
            </a:ln>
          </p:spPr>
        </p:sp>
        <p:grpSp>
          <p:nvGrpSpPr>
            <p:cNvPr id="47" name="Group 47"/>
            <p:cNvGrpSpPr/>
            <p:nvPr/>
          </p:nvGrpSpPr>
          <p:grpSpPr>
            <a:xfrm>
              <a:off x="7794761" y="2556011"/>
              <a:ext cx="164829" cy="164829"/>
              <a:chOff x="7794761" y="2556011"/>
              <a:chExt cx="164829" cy="164829"/>
            </a:xfrm>
          </p:grpSpPr>
          <p:sp>
            <p:nvSpPr>
              <p:cNvPr id="45" name="Freeform 45"/>
              <p:cNvSpPr/>
              <p:nvPr/>
            </p:nvSpPr>
            <p:spPr>
              <a:xfrm>
                <a:off x="7794761" y="2556011"/>
                <a:ext cx="164829" cy="164829"/>
              </a:xfrm>
              <a:custGeom>
                <a:avLst/>
                <a:gdLst/>
                <a:ahLst/>
                <a:cxnLst/>
                <a:rect l="l" t="t" r="r" b="b"/>
                <a:pathLst>
                  <a:path w="164829" h="164829">
                    <a:moveTo>
                      <a:pt x="67789" y="15332"/>
                    </a:moveTo>
                    <a:cubicBezTo>
                      <a:pt x="71509" y="0"/>
                      <a:pt x="93320" y="0"/>
                      <a:pt x="97039" y="15332"/>
                    </a:cubicBezTo>
                    <a:cubicBezTo>
                      <a:pt x="98171" y="20004"/>
                      <a:pt x="101466" y="23854"/>
                      <a:pt x="105907" y="25694"/>
                    </a:cubicBezTo>
                    <a:cubicBezTo>
                      <a:pt x="110348" y="27534"/>
                      <a:pt x="115400" y="27142"/>
                      <a:pt x="119505" y="24640"/>
                    </a:cubicBezTo>
                    <a:cubicBezTo>
                      <a:pt x="132977" y="16432"/>
                      <a:pt x="148405" y="31852"/>
                      <a:pt x="140198" y="45333"/>
                    </a:cubicBezTo>
                    <a:cubicBezTo>
                      <a:pt x="137699" y="49435"/>
                      <a:pt x="137308" y="54484"/>
                      <a:pt x="139146" y="58922"/>
                    </a:cubicBezTo>
                    <a:cubicBezTo>
                      <a:pt x="140984" y="63360"/>
                      <a:pt x="144829" y="66654"/>
                      <a:pt x="149496" y="67789"/>
                    </a:cubicBezTo>
                    <a:cubicBezTo>
                      <a:pt x="164829" y="71509"/>
                      <a:pt x="164829" y="93320"/>
                      <a:pt x="149496" y="97039"/>
                    </a:cubicBezTo>
                    <a:cubicBezTo>
                      <a:pt x="144825" y="98171"/>
                      <a:pt x="140975" y="101466"/>
                      <a:pt x="139135" y="105907"/>
                    </a:cubicBezTo>
                    <a:cubicBezTo>
                      <a:pt x="137295" y="110348"/>
                      <a:pt x="137687" y="115400"/>
                      <a:pt x="140189" y="119505"/>
                    </a:cubicBezTo>
                    <a:cubicBezTo>
                      <a:pt x="148396" y="132977"/>
                      <a:pt x="132977" y="148405"/>
                      <a:pt x="119496" y="140198"/>
                    </a:cubicBezTo>
                    <a:cubicBezTo>
                      <a:pt x="115393" y="137699"/>
                      <a:pt x="110345" y="137308"/>
                      <a:pt x="105907" y="139146"/>
                    </a:cubicBezTo>
                    <a:cubicBezTo>
                      <a:pt x="101469" y="140984"/>
                      <a:pt x="98174" y="144829"/>
                      <a:pt x="97039" y="149496"/>
                    </a:cubicBezTo>
                    <a:cubicBezTo>
                      <a:pt x="93320" y="164829"/>
                      <a:pt x="71509" y="164829"/>
                      <a:pt x="67789" y="149496"/>
                    </a:cubicBezTo>
                    <a:cubicBezTo>
                      <a:pt x="66657" y="144825"/>
                      <a:pt x="63362" y="140975"/>
                      <a:pt x="58922" y="139135"/>
                    </a:cubicBezTo>
                    <a:cubicBezTo>
                      <a:pt x="54481" y="137295"/>
                      <a:pt x="49428" y="137687"/>
                      <a:pt x="45324" y="140189"/>
                    </a:cubicBezTo>
                    <a:cubicBezTo>
                      <a:pt x="31852" y="148396"/>
                      <a:pt x="16423" y="132977"/>
                      <a:pt x="24631" y="119496"/>
                    </a:cubicBezTo>
                    <a:cubicBezTo>
                      <a:pt x="27130" y="115393"/>
                      <a:pt x="27520" y="110345"/>
                      <a:pt x="25683" y="105907"/>
                    </a:cubicBezTo>
                    <a:cubicBezTo>
                      <a:pt x="23845" y="101469"/>
                      <a:pt x="20000" y="98174"/>
                      <a:pt x="15332" y="97039"/>
                    </a:cubicBezTo>
                    <a:cubicBezTo>
                      <a:pt x="0" y="93320"/>
                      <a:pt x="0" y="71509"/>
                      <a:pt x="15332" y="67789"/>
                    </a:cubicBezTo>
                    <a:cubicBezTo>
                      <a:pt x="20004" y="66657"/>
                      <a:pt x="23854" y="63362"/>
                      <a:pt x="25694" y="58922"/>
                    </a:cubicBezTo>
                    <a:cubicBezTo>
                      <a:pt x="27534" y="54481"/>
                      <a:pt x="27142" y="49428"/>
                      <a:pt x="24640" y="45324"/>
                    </a:cubicBezTo>
                    <a:cubicBezTo>
                      <a:pt x="16432" y="31852"/>
                      <a:pt x="31852" y="16423"/>
                      <a:pt x="45333" y="24631"/>
                    </a:cubicBezTo>
                    <a:cubicBezTo>
                      <a:pt x="54064" y="29939"/>
                      <a:pt x="65380" y="25242"/>
                      <a:pt x="67789" y="15332"/>
                    </a:cubicBezTo>
                  </a:path>
                </a:pathLst>
              </a:custGeom>
              <a:noFill/>
              <a:ln w="14288">
                <a:solidFill>
                  <a:srgbClr val="5BA3E0"/>
                </a:solidFill>
              </a:ln>
            </p:spPr>
          </p:sp>
          <p:sp>
            <p:nvSpPr>
              <p:cNvPr id="46" name="Freeform 46"/>
              <p:cNvSpPr/>
              <p:nvPr/>
            </p:nvSpPr>
            <p:spPr>
              <a:xfrm>
                <a:off x="7850981" y="2612231"/>
                <a:ext cx="52388" cy="52388"/>
              </a:xfrm>
              <a:custGeom>
                <a:avLst/>
                <a:gdLst/>
                <a:ahLst/>
                <a:cxnLst/>
                <a:rect l="l" t="t" r="r" b="b"/>
                <a:pathLst>
                  <a:path w="52388" h="52388">
                    <a:moveTo>
                      <a:pt x="0" y="26194"/>
                    </a:moveTo>
                    <a:cubicBezTo>
                      <a:pt x="0" y="40660"/>
                      <a:pt x="11727" y="52388"/>
                      <a:pt x="26194" y="52388"/>
                    </a:cubicBezTo>
                    <a:cubicBezTo>
                      <a:pt x="40660" y="52388"/>
                      <a:pt x="52388" y="40660"/>
                      <a:pt x="52388" y="26194"/>
                    </a:cubicBezTo>
                    <a:cubicBezTo>
                      <a:pt x="52388" y="11727"/>
                      <a:pt x="40660" y="0"/>
                      <a:pt x="26194" y="0"/>
                    </a:cubicBezTo>
                    <a:cubicBezTo>
                      <a:pt x="11727" y="0"/>
                      <a:pt x="0" y="11727"/>
                      <a:pt x="0" y="26194"/>
                    </a:cubicBezTo>
                  </a:path>
                </a:pathLst>
              </a:custGeom>
              <a:noFill/>
              <a:ln w="14288">
                <a:solidFill>
                  <a:srgbClr val="5BA3E0"/>
                </a:solidFill>
              </a:ln>
            </p:spPr>
          </p:sp>
        </p:grpSp>
        <p:sp>
          <p:nvSpPr>
            <p:cNvPr id="48" name="TextBox 48"/>
            <p:cNvSpPr txBox="1"/>
            <p:nvPr/>
          </p:nvSpPr>
          <p:spPr>
            <a:xfrm>
              <a:off x="8064818" y="2599849"/>
              <a:ext cx="1041817" cy="198120"/>
            </a:xfrm>
            <a:prstGeom prst="rect">
              <a:avLst/>
            </a:prstGeom>
            <a:noFill/>
            <a:ln>
              <a:noFill/>
            </a:ln>
          </p:spPr>
          <p:txBody>
            <a:bodyPr wrap="none" lIns="0" tIns="0" rIns="0" bIns="0" anchor="t" anchorCtr="0">
              <a:spAutoFit/>
            </a:bodyPr>
            <a:lstStyle/>
            <a:p>
              <a:pPr algn="l"/>
              <a:r>
                <a:rPr lang="zh-CN" sz="975" b="1" dirty="0">
                  <a:solidFill>
                    <a:srgbClr val="F0F4F8"/>
                  </a:solidFill>
                  <a:latin typeface="Consolas"/>
                  <a:ea typeface="Microsoft YaHei"/>
                  <a:cs typeface="Consolas"/>
                </a:rPr>
                <a:t>kube-scheduler</a:t>
              </a:r>
            </a:p>
          </p:txBody>
        </p:sp>
        <p:sp>
          <p:nvSpPr>
            <p:cNvPr id="49" name="TextBox 49"/>
            <p:cNvSpPr txBox="1"/>
            <p:nvPr/>
          </p:nvSpPr>
          <p:spPr>
            <a:xfrm>
              <a:off x="7761922" y="2825591"/>
              <a:ext cx="109909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filter → score → bind</a:t>
              </a:r>
            </a:p>
          </p:txBody>
        </p:sp>
        <p:sp>
          <p:nvSpPr>
            <p:cNvPr id="50" name="TextBox 50"/>
            <p:cNvSpPr txBox="1"/>
            <p:nvPr/>
          </p:nvSpPr>
          <p:spPr>
            <a:xfrm>
              <a:off x="7761922" y="2977991"/>
              <a:ext cx="100007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picks node per Pod</a:t>
              </a:r>
            </a:p>
          </p:txBody>
        </p:sp>
      </p:grpSp>
      <p:grpSp>
        <p:nvGrpSpPr>
          <p:cNvPr id="60" name="Group 60"/>
          <p:cNvGrpSpPr/>
          <p:nvPr/>
        </p:nvGrpSpPr>
        <p:grpSpPr>
          <a:xfrm>
            <a:off x="7620000" y="4648200"/>
            <a:ext cx="2095500" cy="800100"/>
            <a:chOff x="7620000" y="4648200"/>
            <a:chExt cx="2095500" cy="800100"/>
          </a:xfrm>
        </p:grpSpPr>
        <p:sp>
          <p:nvSpPr>
            <p:cNvPr id="52" name="Rectangle 52"/>
            <p:cNvSpPr/>
            <p:nvPr/>
          </p:nvSpPr>
          <p:spPr>
            <a:xfrm>
              <a:off x="7620000" y="4648200"/>
              <a:ext cx="2095500" cy="800100"/>
            </a:xfrm>
            <a:prstGeom prst="rect">
              <a:avLst/>
            </a:prstGeom>
            <a:solidFill>
              <a:srgbClr val="0E2A47"/>
            </a:solidFill>
            <a:ln w="14288">
              <a:solidFill>
                <a:srgbClr val="5BA3E0"/>
              </a:solidFill>
            </a:ln>
          </p:spPr>
        </p:sp>
        <p:sp>
          <p:nvSpPr>
            <p:cNvPr id="53" name="Rectangle 53"/>
            <p:cNvSpPr/>
            <p:nvPr/>
          </p:nvSpPr>
          <p:spPr>
            <a:xfrm>
              <a:off x="7620000" y="4648200"/>
              <a:ext cx="57150" cy="800100"/>
            </a:xfrm>
            <a:prstGeom prst="rect">
              <a:avLst/>
            </a:prstGeom>
            <a:solidFill>
              <a:srgbClr val="5BA3E0"/>
            </a:solidFill>
            <a:ln>
              <a:noFill/>
            </a:ln>
          </p:spPr>
        </p:sp>
        <p:grpSp>
          <p:nvGrpSpPr>
            <p:cNvPr id="56" name="Group 56"/>
            <p:cNvGrpSpPr/>
            <p:nvPr/>
          </p:nvGrpSpPr>
          <p:grpSpPr>
            <a:xfrm>
              <a:off x="7807325" y="4851206"/>
              <a:ext cx="139700" cy="146438"/>
              <a:chOff x="7807325" y="4851206"/>
              <a:chExt cx="139700" cy="146438"/>
            </a:xfrm>
          </p:grpSpPr>
          <p:sp>
            <p:nvSpPr>
              <p:cNvPr id="54" name="Freeform 54"/>
              <p:cNvSpPr/>
              <p:nvPr/>
            </p:nvSpPr>
            <p:spPr>
              <a:xfrm>
                <a:off x="7807325" y="4851206"/>
                <a:ext cx="139700" cy="64488"/>
              </a:xfrm>
              <a:custGeom>
                <a:avLst/>
                <a:gdLst/>
                <a:ahLst/>
                <a:cxnLst/>
                <a:rect l="l" t="t" r="r" b="b"/>
                <a:pathLst>
                  <a:path w="139700" h="64488">
                    <a:moveTo>
                      <a:pt x="139700" y="64488"/>
                    </a:moveTo>
                    <a:cubicBezTo>
                      <a:pt x="135311" y="32903"/>
                      <a:pt x="110327" y="8162"/>
                      <a:pt x="78701" y="4081"/>
                    </a:cubicBezTo>
                    <a:cubicBezTo>
                      <a:pt x="47074" y="0"/>
                      <a:pt x="16629" y="17589"/>
                      <a:pt x="4366" y="47025"/>
                    </a:cubicBezTo>
                    <a:moveTo>
                      <a:pt x="0" y="12100"/>
                    </a:moveTo>
                    <a:lnTo>
                      <a:pt x="0" y="47025"/>
                    </a:lnTo>
                    <a:lnTo>
                      <a:pt x="34925" y="47025"/>
                    </a:lnTo>
                  </a:path>
                </a:pathLst>
              </a:custGeom>
              <a:noFill/>
              <a:ln w="14288">
                <a:solidFill>
                  <a:srgbClr val="5BA3E0"/>
                </a:solidFill>
              </a:ln>
            </p:spPr>
          </p:sp>
          <p:sp>
            <p:nvSpPr>
              <p:cNvPr id="55" name="Freeform 55"/>
              <p:cNvSpPr/>
              <p:nvPr/>
            </p:nvSpPr>
            <p:spPr>
              <a:xfrm>
                <a:off x="7807325" y="4933156"/>
                <a:ext cx="139700" cy="64488"/>
              </a:xfrm>
              <a:custGeom>
                <a:avLst/>
                <a:gdLst/>
                <a:ahLst/>
                <a:cxnLst/>
                <a:rect l="l" t="t" r="r" b="b"/>
                <a:pathLst>
                  <a:path w="139700" h="64488">
                    <a:moveTo>
                      <a:pt x="0" y="0"/>
                    </a:moveTo>
                    <a:cubicBezTo>
                      <a:pt x="4389" y="31585"/>
                      <a:pt x="29373" y="56326"/>
                      <a:pt x="60999" y="60407"/>
                    </a:cubicBezTo>
                    <a:cubicBezTo>
                      <a:pt x="92626" y="64488"/>
                      <a:pt x="123071" y="46899"/>
                      <a:pt x="135334" y="17463"/>
                    </a:cubicBezTo>
                    <a:moveTo>
                      <a:pt x="139700" y="52388"/>
                    </a:moveTo>
                    <a:lnTo>
                      <a:pt x="139700" y="17463"/>
                    </a:lnTo>
                    <a:lnTo>
                      <a:pt x="104775" y="17463"/>
                    </a:lnTo>
                  </a:path>
                </a:pathLst>
              </a:custGeom>
              <a:noFill/>
              <a:ln w="14288">
                <a:solidFill>
                  <a:srgbClr val="5BA3E0"/>
                </a:solidFill>
              </a:ln>
            </p:spPr>
          </p:sp>
        </p:grpSp>
        <p:sp>
          <p:nvSpPr>
            <p:cNvPr id="57" name="TextBox 57"/>
            <p:cNvSpPr txBox="1"/>
            <p:nvPr/>
          </p:nvSpPr>
          <p:spPr>
            <a:xfrm>
              <a:off x="8065770" y="4893945"/>
              <a:ext cx="1232611"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controller-manager</a:t>
              </a:r>
            </a:p>
          </p:txBody>
        </p:sp>
        <p:sp>
          <p:nvSpPr>
            <p:cNvPr id="58" name="TextBox 58"/>
            <p:cNvSpPr txBox="1"/>
            <p:nvPr/>
          </p:nvSpPr>
          <p:spPr>
            <a:xfrm>
              <a:off x="7761922" y="5111591"/>
              <a:ext cx="91206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N reconcile loops</a:t>
              </a:r>
            </a:p>
          </p:txBody>
        </p:sp>
        <p:sp>
          <p:nvSpPr>
            <p:cNvPr id="59" name="TextBox 59"/>
            <p:cNvSpPr txBox="1"/>
            <p:nvPr/>
          </p:nvSpPr>
          <p:spPr>
            <a:xfrm>
              <a:off x="7761922" y="5263991"/>
              <a:ext cx="99457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watch · diff · act</a:t>
              </a:r>
            </a:p>
          </p:txBody>
        </p:sp>
      </p:grpSp>
      <p:grpSp>
        <p:nvGrpSpPr>
          <p:cNvPr id="67" name="Group 67"/>
          <p:cNvGrpSpPr/>
          <p:nvPr/>
        </p:nvGrpSpPr>
        <p:grpSpPr>
          <a:xfrm>
            <a:off x="2476500" y="2362200"/>
            <a:ext cx="1905000" cy="800100"/>
            <a:chOff x="2476500" y="2362200"/>
            <a:chExt cx="1905000" cy="800100"/>
          </a:xfrm>
        </p:grpSpPr>
        <p:sp>
          <p:nvSpPr>
            <p:cNvPr id="61" name="Rectangle 61"/>
            <p:cNvSpPr/>
            <p:nvPr/>
          </p:nvSpPr>
          <p:spPr>
            <a:xfrm>
              <a:off x="2476500" y="2362200"/>
              <a:ext cx="1905000" cy="800100"/>
            </a:xfrm>
            <a:prstGeom prst="rect">
              <a:avLst/>
            </a:prstGeom>
            <a:solidFill>
              <a:srgbClr val="0E2A47"/>
            </a:solidFill>
            <a:ln w="14288">
              <a:solidFill>
                <a:srgbClr val="3E7AB8"/>
              </a:solidFill>
              <a:custDash>
                <a:ds d="333333" sp="200000"/>
              </a:custDash>
            </a:ln>
          </p:spPr>
        </p:sp>
        <p:sp>
          <p:nvSpPr>
            <p:cNvPr id="62" name="Rectangle 62"/>
            <p:cNvSpPr/>
            <p:nvPr/>
          </p:nvSpPr>
          <p:spPr>
            <a:xfrm>
              <a:off x="2476500" y="2362200"/>
              <a:ext cx="57150" cy="800100"/>
            </a:xfrm>
            <a:prstGeom prst="rect">
              <a:avLst/>
            </a:prstGeom>
            <a:solidFill>
              <a:srgbClr val="3E7AB8"/>
            </a:solidFill>
            <a:ln>
              <a:noFill/>
            </a:ln>
          </p:spPr>
        </p:sp>
        <p:sp>
          <p:nvSpPr>
            <p:cNvPr id="63" name="Freeform 63"/>
            <p:cNvSpPr/>
            <p:nvPr/>
          </p:nvSpPr>
          <p:spPr>
            <a:xfrm>
              <a:off x="2646362" y="2574600"/>
              <a:ext cx="174625" cy="116248"/>
            </a:xfrm>
            <a:custGeom>
              <a:avLst/>
              <a:gdLst/>
              <a:ahLst/>
              <a:cxnLst/>
              <a:rect l="l" t="t" r="r" b="b"/>
              <a:pathLst>
                <a:path w="174625" h="116248">
                  <a:moveTo>
                    <a:pt x="40661" y="116213"/>
                  </a:moveTo>
                  <a:cubicBezTo>
                    <a:pt x="18205" y="116213"/>
                    <a:pt x="0" y="98689"/>
                    <a:pt x="0" y="77071"/>
                  </a:cubicBezTo>
                  <a:cubicBezTo>
                    <a:pt x="0" y="55461"/>
                    <a:pt x="18205" y="37937"/>
                    <a:pt x="40661" y="37937"/>
                  </a:cubicBezTo>
                  <a:cubicBezTo>
                    <a:pt x="44093" y="22553"/>
                    <a:pt x="56325" y="9997"/>
                    <a:pt x="72749" y="4994"/>
                  </a:cubicBezTo>
                  <a:cubicBezTo>
                    <a:pt x="89164" y="0"/>
                    <a:pt x="107290" y="3309"/>
                    <a:pt x="120282" y="13726"/>
                  </a:cubicBezTo>
                  <a:cubicBezTo>
                    <a:pt x="133274" y="24116"/>
                    <a:pt x="139159" y="39980"/>
                    <a:pt x="135736" y="55365"/>
                  </a:cubicBezTo>
                  <a:lnTo>
                    <a:pt x="144380" y="55365"/>
                  </a:lnTo>
                  <a:cubicBezTo>
                    <a:pt x="161083" y="55365"/>
                    <a:pt x="174625" y="68986"/>
                    <a:pt x="174625" y="85802"/>
                  </a:cubicBezTo>
                  <a:cubicBezTo>
                    <a:pt x="174625" y="102627"/>
                    <a:pt x="161083" y="116248"/>
                    <a:pt x="144371" y="116248"/>
                  </a:cubicBezTo>
                  <a:lnTo>
                    <a:pt x="40661" y="116248"/>
                  </a:lnTo>
                </a:path>
              </a:pathLst>
            </a:custGeom>
            <a:noFill/>
            <a:ln w="14288">
              <a:solidFill>
                <a:srgbClr val="3E7AB8"/>
              </a:solidFill>
            </a:ln>
          </p:spPr>
        </p:sp>
        <p:sp>
          <p:nvSpPr>
            <p:cNvPr id="64" name="TextBox 64"/>
            <p:cNvSpPr txBox="1"/>
            <p:nvPr/>
          </p:nvSpPr>
          <p:spPr>
            <a:xfrm>
              <a:off x="2922270" y="2607945"/>
              <a:ext cx="95537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cloud-ctrl-mgr</a:t>
              </a:r>
            </a:p>
          </p:txBody>
        </p:sp>
        <p:sp>
          <p:nvSpPr>
            <p:cNvPr id="65" name="TextBox 65"/>
            <p:cNvSpPr txBox="1"/>
            <p:nvPr/>
          </p:nvSpPr>
          <p:spPr>
            <a:xfrm>
              <a:off x="2618422" y="2825591"/>
              <a:ext cx="106058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LB · routes · nodes</a:t>
              </a:r>
            </a:p>
          </p:txBody>
        </p:sp>
        <p:sp>
          <p:nvSpPr>
            <p:cNvPr id="66" name="TextBox 66"/>
            <p:cNvSpPr txBox="1"/>
            <p:nvPr/>
          </p:nvSpPr>
          <p:spPr>
            <a:xfrm>
              <a:off x="2619375" y="2986088"/>
              <a:ext cx="999172"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optional · cloud only</a:t>
              </a:r>
            </a:p>
          </p:txBody>
        </p:sp>
      </p:grpSp>
      <p:grpSp>
        <p:nvGrpSpPr>
          <p:cNvPr id="76" name="Group 76"/>
          <p:cNvGrpSpPr/>
          <p:nvPr/>
        </p:nvGrpSpPr>
        <p:grpSpPr>
          <a:xfrm>
            <a:off x="2476500" y="4648200"/>
            <a:ext cx="1905000" cy="800100"/>
            <a:chOff x="2476500" y="4648200"/>
            <a:chExt cx="1905000" cy="800100"/>
          </a:xfrm>
        </p:grpSpPr>
        <p:sp>
          <p:nvSpPr>
            <p:cNvPr id="68" name="Rectangle 68"/>
            <p:cNvSpPr/>
            <p:nvPr/>
          </p:nvSpPr>
          <p:spPr>
            <a:xfrm>
              <a:off x="2476500" y="4648200"/>
              <a:ext cx="1905000" cy="800100"/>
            </a:xfrm>
            <a:prstGeom prst="rect">
              <a:avLst/>
            </a:prstGeom>
            <a:solidFill>
              <a:srgbClr val="0E2A47"/>
            </a:solidFill>
            <a:ln w="14288">
              <a:solidFill>
                <a:srgbClr val="5BA3E0"/>
              </a:solidFill>
            </a:ln>
          </p:spPr>
        </p:sp>
        <p:sp>
          <p:nvSpPr>
            <p:cNvPr id="69" name="Rectangle 69"/>
            <p:cNvSpPr/>
            <p:nvPr/>
          </p:nvSpPr>
          <p:spPr>
            <a:xfrm>
              <a:off x="2476500" y="4648200"/>
              <a:ext cx="57150" cy="800100"/>
            </a:xfrm>
            <a:prstGeom prst="rect">
              <a:avLst/>
            </a:prstGeom>
            <a:solidFill>
              <a:srgbClr val="5BA3E0"/>
            </a:solidFill>
            <a:ln>
              <a:noFill/>
            </a:ln>
          </p:spPr>
        </p:sp>
        <p:grpSp>
          <p:nvGrpSpPr>
            <p:cNvPr id="72" name="Group 72"/>
            <p:cNvGrpSpPr/>
            <p:nvPr/>
          </p:nvGrpSpPr>
          <p:grpSpPr>
            <a:xfrm>
              <a:off x="2672556" y="4880769"/>
              <a:ext cx="122238" cy="114300"/>
              <a:chOff x="2672556" y="4880769"/>
              <a:chExt cx="122238" cy="114300"/>
            </a:xfrm>
          </p:grpSpPr>
          <p:sp>
            <p:nvSpPr>
              <p:cNvPr id="70" name="Freeform 70"/>
              <p:cNvSpPr/>
              <p:nvPr/>
            </p:nvSpPr>
            <p:spPr>
              <a:xfrm>
                <a:off x="2672556" y="4880769"/>
                <a:ext cx="43656" cy="87313"/>
              </a:xfrm>
              <a:custGeom>
                <a:avLst/>
                <a:gdLst/>
                <a:ahLst/>
                <a:cxnLst/>
                <a:rect l="l" t="t" r="r" b="b"/>
                <a:pathLst>
                  <a:path w="43656" h="87313">
                    <a:moveTo>
                      <a:pt x="0" y="0"/>
                    </a:moveTo>
                    <a:lnTo>
                      <a:pt x="43656" y="43656"/>
                    </a:lnTo>
                    <a:lnTo>
                      <a:pt x="0" y="87313"/>
                    </a:lnTo>
                  </a:path>
                </a:pathLst>
              </a:custGeom>
              <a:noFill/>
              <a:ln w="14288">
                <a:solidFill>
                  <a:srgbClr val="5BA3E0"/>
                </a:solidFill>
              </a:ln>
            </p:spPr>
          </p:sp>
          <p:sp>
            <p:nvSpPr>
              <p:cNvPr id="71" name="Freeform 71"/>
              <p:cNvSpPr/>
              <p:nvPr/>
            </p:nvSpPr>
            <p:spPr>
              <a:xfrm>
                <a:off x="2733675" y="4985544"/>
                <a:ext cx="61119" cy="9525"/>
              </a:xfrm>
              <a:custGeom>
                <a:avLst/>
                <a:gdLst/>
                <a:ahLst/>
                <a:cxnLst/>
                <a:rect l="l" t="t" r="r" b="b"/>
                <a:pathLst>
                  <a:path w="61119" h="9525">
                    <a:moveTo>
                      <a:pt x="0" y="0"/>
                    </a:moveTo>
                    <a:lnTo>
                      <a:pt x="61119" y="0"/>
                    </a:lnTo>
                  </a:path>
                </a:pathLst>
              </a:custGeom>
              <a:noFill/>
              <a:ln w="14288">
                <a:solidFill>
                  <a:srgbClr val="5BA3E0"/>
                </a:solidFill>
              </a:ln>
            </p:spPr>
          </p:sp>
        </p:grpSp>
        <p:sp>
          <p:nvSpPr>
            <p:cNvPr id="73" name="TextBox 73"/>
            <p:cNvSpPr txBox="1"/>
            <p:nvPr/>
          </p:nvSpPr>
          <p:spPr>
            <a:xfrm>
              <a:off x="2921318" y="4885849"/>
              <a:ext cx="1130553" cy="198120"/>
            </a:xfrm>
            <a:prstGeom prst="rect">
              <a:avLst/>
            </a:prstGeom>
            <a:noFill/>
            <a:ln>
              <a:noFill/>
            </a:ln>
          </p:spPr>
          <p:txBody>
            <a:bodyPr wrap="none" lIns="0" tIns="0" rIns="0" bIns="0" anchor="t" anchorCtr="0">
              <a:spAutoFit/>
            </a:bodyPr>
            <a:lstStyle/>
            <a:p>
              <a:pPr algn="l"/>
              <a:r>
                <a:rPr lang="zh-CN" sz="975" b="1" dirty="0">
                  <a:solidFill>
                    <a:srgbClr val="F0F4F8"/>
                  </a:solidFill>
                  <a:latin typeface="Consolas"/>
                  <a:ea typeface="Microsoft YaHei"/>
                  <a:cs typeface="Consolas"/>
                </a:rPr>
                <a:t>kubectl / clients</a:t>
              </a:r>
            </a:p>
          </p:txBody>
        </p:sp>
        <p:sp>
          <p:nvSpPr>
            <p:cNvPr id="74" name="TextBox 74"/>
            <p:cNvSpPr txBox="1"/>
            <p:nvPr/>
          </p:nvSpPr>
          <p:spPr>
            <a:xfrm>
              <a:off x="2618422" y="5111591"/>
              <a:ext cx="106608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CLI · operators · CI</a:t>
              </a:r>
            </a:p>
          </p:txBody>
        </p:sp>
        <p:sp>
          <p:nvSpPr>
            <p:cNvPr id="75" name="TextBox 75"/>
            <p:cNvSpPr txBox="1"/>
            <p:nvPr/>
          </p:nvSpPr>
          <p:spPr>
            <a:xfrm>
              <a:off x="2618422" y="5263991"/>
              <a:ext cx="59852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HTTPS REST</a:t>
              </a:r>
            </a:p>
          </p:txBody>
        </p:sp>
      </p:grpSp>
      <p:grpSp>
        <p:nvGrpSpPr>
          <p:cNvPr id="88" name="Group 88"/>
          <p:cNvGrpSpPr/>
          <p:nvPr/>
        </p:nvGrpSpPr>
        <p:grpSpPr>
          <a:xfrm>
            <a:off x="705802" y="1289209"/>
            <a:ext cx="10678526" cy="3768566"/>
            <a:chOff x="705802" y="1289209"/>
            <a:chExt cx="10678526" cy="3768566"/>
          </a:xfrm>
        </p:grpSpPr>
        <p:sp>
          <p:nvSpPr>
            <p:cNvPr id="77" name="Line 77"/>
            <p:cNvSpPr/>
            <p:nvPr/>
          </p:nvSpPr>
          <p:spPr>
            <a:xfrm>
              <a:off x="714375" y="1409700"/>
              <a:ext cx="428625" cy="9525"/>
            </a:xfrm>
            <a:custGeom>
              <a:avLst/>
              <a:gdLst/>
              <a:ahLst/>
              <a:cxnLst/>
              <a:rect l="l" t="t" r="r" b="b"/>
              <a:pathLst>
                <a:path w="428625" h="9525">
                  <a:moveTo>
                    <a:pt x="0" y="0"/>
                  </a:moveTo>
                  <a:lnTo>
                    <a:pt x="428625" y="0"/>
                  </a:lnTo>
                </a:path>
              </a:pathLst>
            </a:custGeom>
            <a:noFill/>
            <a:ln w="7620">
              <a:solidFill>
                <a:srgbClr val="FFB627"/>
              </a:solidFill>
            </a:ln>
          </p:spPr>
        </p:sp>
        <p:sp>
          <p:nvSpPr>
            <p:cNvPr id="78" name="Line 78"/>
            <p:cNvSpPr/>
            <p:nvPr/>
          </p:nvSpPr>
          <p:spPr>
            <a:xfrm>
              <a:off x="714375" y="1409700"/>
              <a:ext cx="9525" cy="800100"/>
            </a:xfrm>
            <a:custGeom>
              <a:avLst/>
              <a:gdLst/>
              <a:ahLst/>
              <a:cxnLst/>
              <a:rect l="l" t="t" r="r" b="b"/>
              <a:pathLst>
                <a:path w="9525" h="800100">
                  <a:moveTo>
                    <a:pt x="0" y="0"/>
                  </a:moveTo>
                  <a:lnTo>
                    <a:pt x="0" y="800100"/>
                  </a:lnTo>
                </a:path>
              </a:pathLst>
            </a:custGeom>
            <a:noFill/>
            <a:ln w="7620">
              <a:solidFill>
                <a:srgbClr val="FFB627"/>
              </a:solidFill>
            </a:ln>
          </p:spPr>
        </p:sp>
        <p:sp>
          <p:nvSpPr>
            <p:cNvPr id="79" name="TextBox 79"/>
            <p:cNvSpPr txBox="1"/>
            <p:nvPr/>
          </p:nvSpPr>
          <p:spPr>
            <a:xfrm>
              <a:off x="705802" y="1289209"/>
              <a:ext cx="539210" cy="137160"/>
            </a:xfrm>
            <a:prstGeom prst="rect">
              <a:avLst/>
            </a:prstGeom>
            <a:noFill/>
            <a:ln>
              <a:noFill/>
            </a:ln>
          </p:spPr>
          <p:txBody>
            <a:bodyPr wrap="none" lIns="0" tIns="0" rIns="0" bIns="0" anchor="t" anchorCtr="0">
              <a:spAutoFit/>
            </a:bodyPr>
            <a:lstStyle/>
            <a:p>
              <a:pPr algn="l"/>
              <a:r>
                <a:rPr lang="zh-CN" sz="675" dirty="0">
                  <a:solidFill>
                    <a:srgbClr val="FFB627"/>
                  </a:solidFill>
                  <a:latin typeface="Consolas"/>
                  <a:ea typeface="Microsoft YaHei"/>
                  <a:cs typeface="Consolas"/>
                </a:rPr>
                <a:t>PERSISTENCE</a:t>
              </a:r>
            </a:p>
          </p:txBody>
        </p:sp>
        <p:sp>
          <p:nvSpPr>
            <p:cNvPr id="80" name="Line 80"/>
            <p:cNvSpPr/>
            <p:nvPr/>
          </p:nvSpPr>
          <p:spPr>
            <a:xfrm>
              <a:off x="10287000" y="2762250"/>
              <a:ext cx="571500" cy="9525"/>
            </a:xfrm>
            <a:custGeom>
              <a:avLst/>
              <a:gdLst/>
              <a:ahLst/>
              <a:cxnLst/>
              <a:rect l="l" t="t" r="r" b="b"/>
              <a:pathLst>
                <a:path w="571500" h="9525">
                  <a:moveTo>
                    <a:pt x="0" y="0"/>
                  </a:moveTo>
                  <a:lnTo>
                    <a:pt x="571500" y="0"/>
                  </a:lnTo>
                </a:path>
              </a:pathLst>
            </a:custGeom>
            <a:noFill/>
            <a:ln w="7620">
              <a:solidFill>
                <a:srgbClr val="5BA3E0"/>
              </a:solidFill>
            </a:ln>
          </p:spPr>
        </p:sp>
        <p:sp>
          <p:nvSpPr>
            <p:cNvPr id="81" name="Line 81"/>
            <p:cNvSpPr/>
            <p:nvPr/>
          </p:nvSpPr>
          <p:spPr>
            <a:xfrm>
              <a:off x="10858500" y="2762250"/>
              <a:ext cx="9525" cy="2286000"/>
            </a:xfrm>
            <a:custGeom>
              <a:avLst/>
              <a:gdLst/>
              <a:ahLst/>
              <a:cxnLst/>
              <a:rect l="l" t="t" r="r" b="b"/>
              <a:pathLst>
                <a:path w="9525" h="2286000">
                  <a:moveTo>
                    <a:pt x="0" y="0"/>
                  </a:moveTo>
                  <a:lnTo>
                    <a:pt x="0" y="2286000"/>
                  </a:lnTo>
                </a:path>
              </a:pathLst>
            </a:custGeom>
            <a:noFill/>
            <a:ln w="7620">
              <a:solidFill>
                <a:srgbClr val="5BA3E0"/>
              </a:solidFill>
            </a:ln>
          </p:spPr>
        </p:sp>
        <p:sp>
          <p:nvSpPr>
            <p:cNvPr id="82" name="Line 82"/>
            <p:cNvSpPr/>
            <p:nvPr/>
          </p:nvSpPr>
          <p:spPr>
            <a:xfrm>
              <a:off x="10287000" y="5048250"/>
              <a:ext cx="571500" cy="9525"/>
            </a:xfrm>
            <a:custGeom>
              <a:avLst/>
              <a:gdLst/>
              <a:ahLst/>
              <a:cxnLst/>
              <a:rect l="l" t="t" r="r" b="b"/>
              <a:pathLst>
                <a:path w="571500" h="9525">
                  <a:moveTo>
                    <a:pt x="0" y="0"/>
                  </a:moveTo>
                  <a:lnTo>
                    <a:pt x="571500" y="0"/>
                  </a:lnTo>
                </a:path>
              </a:pathLst>
            </a:custGeom>
            <a:noFill/>
            <a:ln w="7620">
              <a:solidFill>
                <a:srgbClr val="5BA3E0"/>
              </a:solidFill>
            </a:ln>
          </p:spPr>
        </p:sp>
        <p:sp>
          <p:nvSpPr>
            <p:cNvPr id="83" name="TextBox 83"/>
            <p:cNvSpPr txBox="1"/>
            <p:nvPr/>
          </p:nvSpPr>
          <p:spPr>
            <a:xfrm>
              <a:off x="10926128" y="3679984"/>
              <a:ext cx="458200" cy="137160"/>
            </a:xfrm>
            <a:prstGeom prst="rect">
              <a:avLst/>
            </a:prstGeom>
            <a:noFill/>
            <a:ln>
              <a:noFill/>
            </a:ln>
          </p:spPr>
          <p:txBody>
            <a:bodyPr wrap="none" lIns="0" tIns="0" rIns="0" bIns="0" anchor="t" anchorCtr="0">
              <a:spAutoFit/>
            </a:bodyPr>
            <a:lstStyle/>
            <a:p>
              <a:pPr algn="l"/>
              <a:r>
                <a:rPr lang="zh-CN" sz="675" dirty="0">
                  <a:solidFill>
                    <a:srgbClr val="5BA3E0"/>
                  </a:solidFill>
                  <a:latin typeface="Consolas"/>
                  <a:ea typeface="Microsoft YaHei"/>
                  <a:cs typeface="Consolas"/>
                </a:rPr>
                <a:t>RECONCILE</a:t>
              </a:r>
            </a:p>
          </p:txBody>
        </p:sp>
        <p:sp>
          <p:nvSpPr>
            <p:cNvPr id="84" name="TextBox 84"/>
            <p:cNvSpPr txBox="1"/>
            <p:nvPr/>
          </p:nvSpPr>
          <p:spPr>
            <a:xfrm>
              <a:off x="10926128" y="3832384"/>
              <a:ext cx="300680" cy="137160"/>
            </a:xfrm>
            <a:prstGeom prst="rect">
              <a:avLst/>
            </a:prstGeom>
            <a:noFill/>
            <a:ln>
              <a:noFill/>
            </a:ln>
          </p:spPr>
          <p:txBody>
            <a:bodyPr wrap="none" lIns="0" tIns="0" rIns="0" bIns="0" anchor="t" anchorCtr="0">
              <a:spAutoFit/>
            </a:bodyPr>
            <a:lstStyle/>
            <a:p>
              <a:pPr algn="l"/>
              <a:r>
                <a:rPr lang="zh-CN" sz="675" dirty="0">
                  <a:solidFill>
                    <a:srgbClr val="5BA3E0"/>
                  </a:solidFill>
                  <a:latin typeface="Consolas"/>
                  <a:ea typeface="Microsoft YaHei"/>
                  <a:cs typeface="Consolas"/>
                </a:rPr>
                <a:t>LOOPS</a:t>
              </a:r>
            </a:p>
          </p:txBody>
        </p:sp>
        <p:sp>
          <p:nvSpPr>
            <p:cNvPr id="85" name="Line 85"/>
            <p:cNvSpPr/>
            <p:nvPr/>
          </p:nvSpPr>
          <p:spPr>
            <a:xfrm>
              <a:off x="1333500" y="2762250"/>
              <a:ext cx="571500" cy="9525"/>
            </a:xfrm>
            <a:custGeom>
              <a:avLst/>
              <a:gdLst/>
              <a:ahLst/>
              <a:cxnLst/>
              <a:rect l="l" t="t" r="r" b="b"/>
              <a:pathLst>
                <a:path w="571500" h="9525">
                  <a:moveTo>
                    <a:pt x="0" y="0"/>
                  </a:moveTo>
                  <a:lnTo>
                    <a:pt x="571500" y="0"/>
                  </a:lnTo>
                </a:path>
              </a:pathLst>
            </a:custGeom>
            <a:noFill/>
            <a:ln w="7620">
              <a:solidFill>
                <a:srgbClr val="3E7AB8"/>
              </a:solidFill>
            </a:ln>
          </p:spPr>
        </p:sp>
        <p:sp>
          <p:nvSpPr>
            <p:cNvPr id="86" name="Line 86"/>
            <p:cNvSpPr/>
            <p:nvPr/>
          </p:nvSpPr>
          <p:spPr>
            <a:xfrm>
              <a:off x="1333500" y="2762250"/>
              <a:ext cx="9525" cy="400050"/>
            </a:xfrm>
            <a:custGeom>
              <a:avLst/>
              <a:gdLst/>
              <a:ahLst/>
              <a:cxnLst/>
              <a:rect l="l" t="t" r="r" b="b"/>
              <a:pathLst>
                <a:path w="9525" h="400050">
                  <a:moveTo>
                    <a:pt x="0" y="0"/>
                  </a:moveTo>
                  <a:lnTo>
                    <a:pt x="0" y="400050"/>
                  </a:lnTo>
                </a:path>
              </a:pathLst>
            </a:custGeom>
            <a:noFill/>
            <a:ln w="7620">
              <a:solidFill>
                <a:srgbClr val="3E7AB8"/>
              </a:solidFill>
            </a:ln>
          </p:spPr>
        </p:sp>
        <p:sp>
          <p:nvSpPr>
            <p:cNvPr id="87" name="TextBox 87"/>
            <p:cNvSpPr txBox="1"/>
            <p:nvPr/>
          </p:nvSpPr>
          <p:spPr>
            <a:xfrm>
              <a:off x="753428" y="2937034"/>
              <a:ext cx="507706" cy="137160"/>
            </a:xfrm>
            <a:prstGeom prst="rect">
              <a:avLst/>
            </a:prstGeom>
            <a:noFill/>
            <a:ln>
              <a:noFill/>
            </a:ln>
          </p:spPr>
          <p:txBody>
            <a:bodyPr wrap="none" lIns="0" tIns="0" rIns="0" bIns="0" anchor="t" anchorCtr="0">
              <a:spAutoFit/>
            </a:bodyPr>
            <a:lstStyle/>
            <a:p>
              <a:pPr algn="l"/>
              <a:r>
                <a:rPr lang="zh-CN" sz="675" dirty="0">
                  <a:solidFill>
                    <a:srgbClr val="3E7AB8"/>
                  </a:solidFill>
                  <a:latin typeface="Consolas"/>
                  <a:ea typeface="Microsoft YaHei"/>
                  <a:cs typeface="Consolas"/>
                </a:rPr>
                <a:t>CLOUD GLUE</a:t>
              </a:r>
            </a:p>
          </p:txBody>
        </p:sp>
      </p:grpSp>
      <p:grpSp>
        <p:nvGrpSpPr>
          <p:cNvPr id="95" name="Group 95"/>
          <p:cNvGrpSpPr/>
          <p:nvPr/>
        </p:nvGrpSpPr>
        <p:grpSpPr>
          <a:xfrm>
            <a:off x="571500" y="5857875"/>
            <a:ext cx="11049000" cy="381000"/>
            <a:chOff x="571500" y="5857875"/>
            <a:chExt cx="11049000" cy="381000"/>
          </a:xfrm>
        </p:grpSpPr>
        <p:sp>
          <p:nvSpPr>
            <p:cNvPr id="89" name="Rectangle 89"/>
            <p:cNvSpPr/>
            <p:nvPr/>
          </p:nvSpPr>
          <p:spPr>
            <a:xfrm>
              <a:off x="571500" y="5857875"/>
              <a:ext cx="11049000" cy="381000"/>
            </a:xfrm>
            <a:prstGeom prst="rect">
              <a:avLst/>
            </a:prstGeom>
            <a:solidFill>
              <a:srgbClr val="1A3A5C">
                <a:alpha val="60000"/>
              </a:srgbClr>
            </a:solidFill>
            <a:ln w="7620">
              <a:solidFill>
                <a:srgbClr val="FFB627"/>
              </a:solidFill>
            </a:ln>
          </p:spPr>
        </p:sp>
        <p:grpSp>
          <p:nvGrpSpPr>
            <p:cNvPr id="93" name="Group 93"/>
            <p:cNvGrpSpPr/>
            <p:nvPr/>
          </p:nvGrpSpPr>
          <p:grpSpPr>
            <a:xfrm>
              <a:off x="750094" y="5969794"/>
              <a:ext cx="157162" cy="157162"/>
              <a:chOff x="750094" y="5969794"/>
              <a:chExt cx="157162" cy="157162"/>
            </a:xfrm>
          </p:grpSpPr>
          <p:sp>
            <p:nvSpPr>
              <p:cNvPr id="90" name="Freeform 90"/>
              <p:cNvSpPr/>
              <p:nvPr/>
            </p:nvSpPr>
            <p:spPr>
              <a:xfrm>
                <a:off x="750094" y="59697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4288">
                <a:solidFill>
                  <a:srgbClr val="FFB627"/>
                </a:solidFill>
              </a:ln>
            </p:spPr>
          </p:sp>
          <p:sp>
            <p:nvSpPr>
              <p:cNvPr id="91" name="Freeform 91"/>
              <p:cNvSpPr/>
              <p:nvPr/>
            </p:nvSpPr>
            <p:spPr>
              <a:xfrm>
                <a:off x="828675" y="6022181"/>
                <a:ext cx="9525" cy="9525"/>
              </a:xfrm>
              <a:custGeom>
                <a:avLst/>
                <a:gdLst/>
                <a:ahLst/>
                <a:cxnLst/>
                <a:rect l="l" t="t" r="r" b="b"/>
                <a:pathLst>
                  <a:path w="9525" h="9525">
                    <a:moveTo>
                      <a:pt x="0" y="0"/>
                    </a:moveTo>
                    <a:lnTo>
                      <a:pt x="87" y="0"/>
                    </a:lnTo>
                  </a:path>
                </a:pathLst>
              </a:custGeom>
              <a:noFill/>
              <a:ln w="14288">
                <a:solidFill>
                  <a:srgbClr val="FFB627"/>
                </a:solidFill>
              </a:ln>
            </p:spPr>
          </p:sp>
          <p:sp>
            <p:nvSpPr>
              <p:cNvPr id="92" name="Freeform 92"/>
              <p:cNvSpPr/>
              <p:nvPr/>
            </p:nvSpPr>
            <p:spPr>
              <a:xfrm>
                <a:off x="819944" y="6048375"/>
                <a:ext cx="17463" cy="34925"/>
              </a:xfrm>
              <a:custGeom>
                <a:avLst/>
                <a:gdLst/>
                <a:ahLst/>
                <a:cxnLst/>
                <a:rect l="l" t="t" r="r" b="b"/>
                <a:pathLst>
                  <a:path w="17463" h="34925">
                    <a:moveTo>
                      <a:pt x="0" y="0"/>
                    </a:moveTo>
                    <a:lnTo>
                      <a:pt x="8731" y="0"/>
                    </a:lnTo>
                    <a:lnTo>
                      <a:pt x="8731" y="34925"/>
                    </a:lnTo>
                    <a:lnTo>
                      <a:pt x="17463" y="34925"/>
                    </a:lnTo>
                  </a:path>
                </a:pathLst>
              </a:custGeom>
              <a:noFill/>
              <a:ln w="14288">
                <a:solidFill>
                  <a:srgbClr val="FFB627"/>
                </a:solidFill>
              </a:ln>
            </p:spPr>
          </p:sp>
        </p:grpSp>
        <p:sp>
          <p:nvSpPr>
            <p:cNvPr id="94" name="TextBox 94"/>
            <p:cNvSpPr txBox="1"/>
            <p:nvPr/>
          </p:nvSpPr>
          <p:spPr>
            <a:xfrm>
              <a:off x="1016318" y="5990749"/>
              <a:ext cx="9210413" cy="198120"/>
            </a:xfrm>
            <a:prstGeom prst="rect">
              <a:avLst/>
            </a:prstGeom>
            <a:noFill/>
            <a:ln>
              <a:noFill/>
            </a:ln>
          </p:spPr>
          <p:txBody>
            <a:bodyPr wrap="none" lIns="0" tIns="0" rIns="0" bIns="0" anchor="t" anchorCtr="0">
              <a:spAutoFit/>
            </a:bodyPr>
            <a:lstStyle/>
            <a:p>
              <a:pPr algn="l"/>
              <a:r>
                <a:rPr lang="zh-CN" sz="975" dirty="0">
                  <a:solidFill>
                    <a:srgbClr val="F0F4F8"/>
                  </a:solidFill>
                  <a:latin typeface="Arial"/>
                  <a:ea typeface="Microsoft YaHei"/>
                  <a:cs typeface="Arial"/>
                </a:rPr>
                <a:t xml:space="preserve">Every state transition flows through </a:t>
              </a:r>
              <a:r>
                <a:rPr lang="zh-CN" sz="975" b="1" dirty="0">
                  <a:solidFill>
                    <a:srgbClr val="FFB627"/>
                  </a:solidFill>
                  <a:latin typeface="Consolas"/>
                  <a:ea typeface="Microsoft YaHei"/>
                  <a:cs typeface="Consolas"/>
                </a:rPr>
                <a:t>kube-apiserver</a:t>
              </a:r>
              <a:r>
                <a:rPr lang="zh-CN" sz="975" dirty="0">
                  <a:solidFill>
                    <a:srgbClr val="F0F4F8"/>
                  </a:solidFill>
                  <a:latin typeface="Arial"/>
                  <a:ea typeface="Microsoft YaHei"/>
                  <a:cs typeface="Arial"/>
                </a:rPr>
                <a:t xml:space="preserve">; only the apiserver talks to </a:t>
              </a:r>
              <a:r>
                <a:rPr lang="zh-CN" sz="975" b="1" dirty="0">
                  <a:solidFill>
                    <a:srgbClr val="FFB627"/>
                  </a:solidFill>
                  <a:latin typeface="Consolas"/>
                  <a:ea typeface="Microsoft YaHei"/>
                  <a:cs typeface="Consolas"/>
                </a:rPr>
                <a:t>etcd</a:t>
              </a:r>
              <a:r>
                <a:rPr lang="zh-CN" sz="975" dirty="0">
                  <a:solidFill>
                    <a:srgbClr val="F0F4F8"/>
                  </a:solidFill>
                  <a:latin typeface="Arial"/>
                  <a:ea typeface="Microsoft YaHei"/>
                  <a:cs typeface="Arial"/>
                </a:rPr>
                <a:t>. Every other component is a watcher of the API surface.</a:t>
              </a:r>
            </a:p>
          </p:txBody>
        </p:sp>
      </p:grpSp>
      <p:grpSp>
        <p:nvGrpSpPr>
          <p:cNvPr id="99" name="Group 99"/>
          <p:cNvGrpSpPr/>
          <p:nvPr/>
        </p:nvGrpSpPr>
        <p:grpSpPr>
          <a:xfrm>
            <a:off x="561022" y="6477000"/>
            <a:ext cx="11069956" cy="269081"/>
            <a:chOff x="561022" y="6477000"/>
            <a:chExt cx="11069956" cy="269081"/>
          </a:xfrm>
        </p:grpSpPr>
        <p:sp>
          <p:nvSpPr>
            <p:cNvPr id="96" name="Line 96"/>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7" name="TextBox 97"/>
            <p:cNvSpPr txBox="1"/>
            <p:nvPr/>
          </p:nvSpPr>
          <p:spPr>
            <a:xfrm>
              <a:off x="561022" y="6578441"/>
              <a:ext cx="2738295"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03 OF 10 · CONTROL PLANE</a:t>
              </a:r>
            </a:p>
          </p:txBody>
        </p:sp>
        <p:sp>
          <p:nvSpPr>
            <p:cNvPr id="98" name="TextBox 98"/>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03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600"/>
                            </p:stCondLst>
                            <p:childTnLst>
                              <p:par>
                                <p:cTn id="9" presetID="23" presetClass="entr" presetSubtype="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image">
                                      <p:cBhvr>
                                        <p:cTn id="11" dur="600"/>
                                        <p:tgtEl>
                                          <p:spTgt spid="30"/>
                                        </p:tgtEl>
                                      </p:cBhvr>
                                    </p:animEffect>
                                  </p:childTnLst>
                                </p:cTn>
                              </p:par>
                            </p:childTnLst>
                          </p:cTn>
                        </p:par>
                        <p:par>
                          <p:cTn id="12" fill="hold">
                            <p:stCondLst>
                              <p:cond delay="1350"/>
                            </p:stCondLst>
                            <p:childTnLst>
                              <p:par>
                                <p:cTn id="13" presetID="22" presetClass="entr" presetSubtype="1"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600"/>
                                        <p:tgtEl>
                                          <p:spTgt spid="20"/>
                                        </p:tgtEl>
                                      </p:cBhvr>
                                    </p:animEffect>
                                  </p:childTnLst>
                                </p:cTn>
                              </p:par>
                            </p:childTnLst>
                          </p:cTn>
                        </p:par>
                        <p:par>
                          <p:cTn id="16" fill="hold">
                            <p:stCondLst>
                              <p:cond delay="2100"/>
                            </p:stCondLst>
                            <p:childTnLst>
                              <p:par>
                                <p:cTn id="17" presetID="10"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400"/>
                                        <p:tgtEl>
                                          <p:spTgt spid="42"/>
                                        </p:tgtEl>
                                      </p:cBhvr>
                                    </p:animEffect>
                                  </p:childTnLst>
                                </p:cTn>
                              </p:par>
                            </p:childTnLst>
                          </p:cTn>
                        </p:par>
                        <p:par>
                          <p:cTn id="20" fill="hold">
                            <p:stCondLst>
                              <p:cond delay="2650"/>
                            </p:stCondLst>
                            <p:childTnLst>
                              <p:par>
                                <p:cTn id="21" presetID="10" presetClass="entr" presetSubtype="0" fill="hold"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400"/>
                                        <p:tgtEl>
                                          <p:spTgt spid="51"/>
                                        </p:tgtEl>
                                      </p:cBhvr>
                                    </p:animEffect>
                                  </p:childTnLst>
                                </p:cTn>
                              </p:par>
                            </p:childTnLst>
                          </p:cTn>
                        </p:par>
                        <p:par>
                          <p:cTn id="24" fill="hold">
                            <p:stCondLst>
                              <p:cond delay="3200"/>
                            </p:stCondLst>
                            <p:childTnLst>
                              <p:par>
                                <p:cTn id="25" presetID="10" presetClass="entr" presetSubtype="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400"/>
                                        <p:tgtEl>
                                          <p:spTgt spid="60"/>
                                        </p:tgtEl>
                                      </p:cBhvr>
                                    </p:animEffect>
                                  </p:childTnLst>
                                </p:cTn>
                              </p:par>
                            </p:childTnLst>
                          </p:cTn>
                        </p:par>
                        <p:par>
                          <p:cTn id="28" fill="hold">
                            <p:stCondLst>
                              <p:cond delay="3750"/>
                            </p:stCondLst>
                            <p:childTnLst>
                              <p:par>
                                <p:cTn id="29" presetID="10" presetClass="entr" presetSubtype="0" fill="hold" nodeType="after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400"/>
                                        <p:tgtEl>
                                          <p:spTgt spid="67"/>
                                        </p:tgtEl>
                                      </p:cBhvr>
                                    </p:animEffect>
                                  </p:childTnLst>
                                </p:cTn>
                              </p:par>
                            </p:childTnLst>
                          </p:cTn>
                        </p:par>
                        <p:par>
                          <p:cTn id="32" fill="hold">
                            <p:stCondLst>
                              <p:cond delay="4300"/>
                            </p:stCondLst>
                            <p:childTnLst>
                              <p:par>
                                <p:cTn id="33" presetID="10" presetClass="entr" presetSubtype="0" fill="hold" nodeType="afterEffect">
                                  <p:stCondLst>
                                    <p:cond delay="0"/>
                                  </p:stCondLst>
                                  <p:childTnLst>
                                    <p:set>
                                      <p:cBhvr>
                                        <p:cTn id="34" dur="1" fill="hold">
                                          <p:stCondLst>
                                            <p:cond delay="0"/>
                                          </p:stCondLst>
                                        </p:cTn>
                                        <p:tgtEl>
                                          <p:spTgt spid="76"/>
                                        </p:tgtEl>
                                        <p:attrNameLst>
                                          <p:attrName>style.visibility</p:attrName>
                                        </p:attrNameLst>
                                      </p:cBhvr>
                                      <p:to>
                                        <p:strVal val="visible"/>
                                      </p:to>
                                    </p:set>
                                    <p:animEffect transition="in" filter="fade">
                                      <p:cBhvr>
                                        <p:cTn id="35" dur="400"/>
                                        <p:tgtEl>
                                          <p:spTgt spid="76"/>
                                        </p:tgtEl>
                                      </p:cBhvr>
                                    </p:animEffect>
                                  </p:childTnLst>
                                </p:cTn>
                              </p:par>
                            </p:childTnLst>
                          </p:cTn>
                        </p:par>
                        <p:par>
                          <p:cTn id="36" fill="hold">
                            <p:stCondLst>
                              <p:cond delay="4850"/>
                            </p:stCondLst>
                            <p:childTnLst>
                              <p:par>
                                <p:cTn id="37" presetID="10" presetClass="entr" presetSubtype="0" fill="hold" nodeType="afterEffect">
                                  <p:stCondLst>
                                    <p:cond delay="0"/>
                                  </p:stCondLst>
                                  <p:childTnLst>
                                    <p:set>
                                      <p:cBhvr>
                                        <p:cTn id="38" dur="1" fill="hold">
                                          <p:stCondLst>
                                            <p:cond delay="0"/>
                                          </p:stCondLst>
                                        </p:cTn>
                                        <p:tgtEl>
                                          <p:spTgt spid="88"/>
                                        </p:tgtEl>
                                        <p:attrNameLst>
                                          <p:attrName>style.visibility</p:attrName>
                                        </p:attrNameLst>
                                      </p:cBhvr>
                                      <p:to>
                                        <p:strVal val="visible"/>
                                      </p:to>
                                    </p:set>
                                    <p:animEffect transition="in" filter="fade">
                                      <p:cBhvr>
                                        <p:cTn id="39" dur="400"/>
                                        <p:tgtEl>
                                          <p:spTgt spid="88"/>
                                        </p:tgtEl>
                                      </p:cBhvr>
                                    </p:animEffect>
                                  </p:childTnLst>
                                </p:cTn>
                              </p:par>
                            </p:childTnLst>
                          </p:cTn>
                        </p:par>
                        <p:par>
                          <p:cTn id="40" fill="hold">
                            <p:stCondLst>
                              <p:cond delay="5400"/>
                            </p:stCondLst>
                            <p:childTnLst>
                              <p:par>
                                <p:cTn id="41" presetID="10" presetClass="entr" presetSubtype="0" fill="hold" nodeType="afterEffect">
                                  <p:stCondLst>
                                    <p:cond delay="0"/>
                                  </p:stCondLst>
                                  <p:childTnLst>
                                    <p:set>
                                      <p:cBhvr>
                                        <p:cTn id="42" dur="1" fill="hold">
                                          <p:stCondLst>
                                            <p:cond delay="0"/>
                                          </p:stCondLst>
                                        </p:cTn>
                                        <p:tgtEl>
                                          <p:spTgt spid="95"/>
                                        </p:tgtEl>
                                        <p:attrNameLst>
                                          <p:attrName>style.visibility</p:attrName>
                                        </p:attrNameLst>
                                      </p:cBhvr>
                                      <p:to>
                                        <p:strVal val="visible"/>
                                      </p:to>
                                    </p:set>
                                    <p:animEffect transition="in" filter="fade">
                                      <p:cBhvr>
                                        <p:cTn id="43" dur="4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0" grpId="0"/>
      <p:bldP spid="20" grpId="0"/>
      <p:bldP spid="42" grpId="0"/>
      <p:bldP spid="51" grpId="0"/>
      <p:bldP spid="60" grpId="0"/>
      <p:bldP spid="67" grpId="0"/>
      <p:bldP spid="76" grpId="0"/>
      <p:bldP spid="88" grpId="0"/>
      <p:bldP spid="9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4215670"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Worker Node: Three Layers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P04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4471321"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EXPLODED ISOMETRIC VIEW · KUBELET / KUBE-PROXY / CONTAINER RUNTIME</a:t>
              </a:r>
            </a:p>
          </p:txBody>
        </p:sp>
      </p:grpSp>
      <p:grpSp>
        <p:nvGrpSpPr>
          <p:cNvPr id="43" name="Group 43"/>
          <p:cNvGrpSpPr/>
          <p:nvPr/>
        </p:nvGrpSpPr>
        <p:grpSpPr>
          <a:xfrm>
            <a:off x="952500" y="1905000"/>
            <a:ext cx="6048375" cy="4505325"/>
            <a:chOff x="952500" y="1905000"/>
            <a:chExt cx="6048375" cy="4505325"/>
          </a:xfrm>
        </p:grpSpPr>
        <p:sp>
          <p:nvSpPr>
            <p:cNvPr id="11" name="Polygon 11"/>
            <p:cNvSpPr/>
            <p:nvPr/>
          </p:nvSpPr>
          <p:spPr>
            <a:xfrm>
              <a:off x="952500" y="1905000"/>
              <a:ext cx="5715000" cy="4286250"/>
            </a:xfrm>
            <a:custGeom>
              <a:avLst/>
              <a:gdLst/>
              <a:ahLst/>
              <a:cxnLst/>
              <a:rect l="l" t="t" r="r" b="b"/>
              <a:pathLst>
                <a:path w="5715000" h="4286250">
                  <a:moveTo>
                    <a:pt x="2857500" y="0"/>
                  </a:moveTo>
                  <a:lnTo>
                    <a:pt x="5715000" y="1476375"/>
                  </a:lnTo>
                  <a:lnTo>
                    <a:pt x="5715000" y="2905125"/>
                  </a:lnTo>
                  <a:lnTo>
                    <a:pt x="2857500" y="4286250"/>
                  </a:lnTo>
                  <a:lnTo>
                    <a:pt x="0" y="2905125"/>
                  </a:lnTo>
                  <a:lnTo>
                    <a:pt x="0" y="1476375"/>
                  </a:lnTo>
                  <a:close/>
                </a:path>
              </a:pathLst>
            </a:custGeom>
            <a:solidFill>
              <a:srgbClr val="1A3A5C">
                <a:alpha val="40000"/>
              </a:srgbClr>
            </a:solidFill>
            <a:ln w="17145">
              <a:solidFill>
                <a:srgbClr val="5BA3E0"/>
              </a:solidFill>
            </a:ln>
          </p:spPr>
        </p:sp>
        <p:sp>
          <p:nvSpPr>
            <p:cNvPr id="12" name="Line 12"/>
            <p:cNvSpPr/>
            <p:nvPr/>
          </p:nvSpPr>
          <p:spPr>
            <a:xfrm>
              <a:off x="3810000" y="1905000"/>
              <a:ext cx="9525" cy="1428750"/>
            </a:xfrm>
            <a:custGeom>
              <a:avLst/>
              <a:gdLst/>
              <a:ahLst/>
              <a:cxnLst/>
              <a:rect l="l" t="t" r="r" b="b"/>
              <a:pathLst>
                <a:path w="9525" h="1428750">
                  <a:moveTo>
                    <a:pt x="0" y="0"/>
                  </a:moveTo>
                  <a:lnTo>
                    <a:pt x="0" y="1428750"/>
                  </a:lnTo>
                </a:path>
              </a:pathLst>
            </a:custGeom>
            <a:noFill/>
            <a:ln w="9525">
              <a:solidFill>
                <a:srgbClr val="5BA3E0"/>
              </a:solidFill>
            </a:ln>
          </p:spPr>
        </p:sp>
        <p:sp>
          <p:nvSpPr>
            <p:cNvPr id="13" name="Line 13"/>
            <p:cNvSpPr/>
            <p:nvPr/>
          </p:nvSpPr>
          <p:spPr>
            <a:xfrm>
              <a:off x="952500" y="3333750"/>
              <a:ext cx="2857500" cy="47625"/>
            </a:xfrm>
            <a:custGeom>
              <a:avLst/>
              <a:gdLst/>
              <a:ahLst/>
              <a:cxnLst/>
              <a:rect l="l" t="t" r="r" b="b"/>
              <a:pathLst>
                <a:path w="2857500" h="47625">
                  <a:moveTo>
                    <a:pt x="2857500" y="0"/>
                  </a:moveTo>
                  <a:lnTo>
                    <a:pt x="0" y="47625"/>
                  </a:lnTo>
                </a:path>
              </a:pathLst>
            </a:custGeom>
            <a:noFill/>
            <a:ln w="9525">
              <a:solidFill>
                <a:srgbClr val="5BA3E0"/>
              </a:solidFill>
            </a:ln>
          </p:spPr>
        </p:sp>
        <p:sp>
          <p:nvSpPr>
            <p:cNvPr id="14" name="Line 14"/>
            <p:cNvSpPr/>
            <p:nvPr/>
          </p:nvSpPr>
          <p:spPr>
            <a:xfrm>
              <a:off x="3810000" y="3333750"/>
              <a:ext cx="2857500" cy="47625"/>
            </a:xfrm>
            <a:custGeom>
              <a:avLst/>
              <a:gdLst/>
              <a:ahLst/>
              <a:cxnLst/>
              <a:rect l="l" t="t" r="r" b="b"/>
              <a:pathLst>
                <a:path w="2857500" h="47625">
                  <a:moveTo>
                    <a:pt x="0" y="0"/>
                  </a:moveTo>
                  <a:lnTo>
                    <a:pt x="2857500" y="47625"/>
                  </a:lnTo>
                </a:path>
              </a:pathLst>
            </a:custGeom>
            <a:noFill/>
            <a:ln w="9525">
              <a:solidFill>
                <a:srgbClr val="5BA3E0"/>
              </a:solidFill>
            </a:ln>
          </p:spPr>
        </p:sp>
        <p:grpSp>
          <p:nvGrpSpPr>
            <p:cNvPr id="20" name="Group 20"/>
            <p:cNvGrpSpPr/>
            <p:nvPr/>
          </p:nvGrpSpPr>
          <p:grpSpPr>
            <a:xfrm>
              <a:off x="2095500" y="2619375"/>
              <a:ext cx="3429000" cy="1762125"/>
              <a:chOff x="2095500" y="2619375"/>
              <a:chExt cx="3429000" cy="1762125"/>
            </a:xfrm>
          </p:grpSpPr>
          <p:sp>
            <p:nvSpPr>
              <p:cNvPr id="15" name="Polygon 15"/>
              <p:cNvSpPr/>
              <p:nvPr/>
            </p:nvSpPr>
            <p:spPr>
              <a:xfrm>
                <a:off x="3810000" y="2619375"/>
                <a:ext cx="1714500" cy="1171575"/>
              </a:xfrm>
              <a:custGeom>
                <a:avLst/>
                <a:gdLst/>
                <a:ahLst/>
                <a:cxnLst/>
                <a:rect l="l" t="t" r="r" b="b"/>
                <a:pathLst>
                  <a:path w="1714500" h="1171575">
                    <a:moveTo>
                      <a:pt x="0" y="0"/>
                    </a:moveTo>
                    <a:lnTo>
                      <a:pt x="1714500" y="885825"/>
                    </a:lnTo>
                    <a:lnTo>
                      <a:pt x="1714500" y="1171575"/>
                    </a:lnTo>
                    <a:lnTo>
                      <a:pt x="0" y="285750"/>
                    </a:lnTo>
                    <a:close/>
                  </a:path>
                </a:pathLst>
              </a:custGeom>
              <a:solidFill>
                <a:srgbClr val="FFB627">
                  <a:alpha val="15000"/>
                </a:srgbClr>
              </a:solidFill>
              <a:ln w="14288">
                <a:solidFill>
                  <a:srgbClr val="FFB627"/>
                </a:solidFill>
              </a:ln>
            </p:spPr>
          </p:sp>
          <p:sp>
            <p:nvSpPr>
              <p:cNvPr id="16" name="Polygon 16"/>
              <p:cNvSpPr/>
              <p:nvPr/>
            </p:nvSpPr>
            <p:spPr>
              <a:xfrm>
                <a:off x="2095500" y="2619375"/>
                <a:ext cx="1714500" cy="1171575"/>
              </a:xfrm>
              <a:custGeom>
                <a:avLst/>
                <a:gdLst/>
                <a:ahLst/>
                <a:cxnLst/>
                <a:rect l="l" t="t" r="r" b="b"/>
                <a:pathLst>
                  <a:path w="1714500" h="1171575">
                    <a:moveTo>
                      <a:pt x="1714500" y="0"/>
                    </a:moveTo>
                    <a:lnTo>
                      <a:pt x="0" y="885825"/>
                    </a:lnTo>
                    <a:lnTo>
                      <a:pt x="0" y="1171575"/>
                    </a:lnTo>
                    <a:lnTo>
                      <a:pt x="1714500" y="285750"/>
                    </a:lnTo>
                    <a:close/>
                  </a:path>
                </a:pathLst>
              </a:custGeom>
              <a:solidFill>
                <a:srgbClr val="FFB627">
                  <a:alpha val="15000"/>
                </a:srgbClr>
              </a:solidFill>
              <a:ln w="14288">
                <a:solidFill>
                  <a:srgbClr val="FFB627"/>
                </a:solidFill>
              </a:ln>
            </p:spPr>
          </p:sp>
          <p:sp>
            <p:nvSpPr>
              <p:cNvPr id="17" name="Polygon 17"/>
              <p:cNvSpPr/>
              <p:nvPr/>
            </p:nvSpPr>
            <p:spPr>
              <a:xfrm>
                <a:off x="2095500" y="2619375"/>
                <a:ext cx="3429000" cy="1762125"/>
              </a:xfrm>
              <a:custGeom>
                <a:avLst/>
                <a:gdLst/>
                <a:ahLst/>
                <a:cxnLst/>
                <a:rect l="l" t="t" r="r" b="b"/>
                <a:pathLst>
                  <a:path w="3429000" h="1762125">
                    <a:moveTo>
                      <a:pt x="0" y="885825"/>
                    </a:moveTo>
                    <a:lnTo>
                      <a:pt x="1714500" y="0"/>
                    </a:lnTo>
                    <a:lnTo>
                      <a:pt x="3429000" y="885825"/>
                    </a:lnTo>
                    <a:lnTo>
                      <a:pt x="1714500" y="1762125"/>
                    </a:lnTo>
                    <a:close/>
                  </a:path>
                </a:pathLst>
              </a:custGeom>
              <a:noFill/>
              <a:ln w="4762">
                <a:solidFill>
                  <a:srgbClr val="FFB627"/>
                </a:solidFill>
                <a:custDash>
                  <a:ds d="400000" sp="600000"/>
                </a:custDash>
              </a:ln>
            </p:spPr>
          </p:sp>
          <p:sp>
            <p:nvSpPr>
              <p:cNvPr id="18" name="TextBox 18"/>
              <p:cNvSpPr txBox="1"/>
              <p:nvPr/>
            </p:nvSpPr>
            <p:spPr>
              <a:xfrm>
                <a:off x="3532032" y="3410902"/>
                <a:ext cx="555936" cy="213360"/>
              </a:xfrm>
              <a:prstGeom prst="rect">
                <a:avLst/>
              </a:prstGeom>
              <a:noFill/>
              <a:ln>
                <a:noFill/>
              </a:ln>
            </p:spPr>
            <p:txBody>
              <a:bodyPr wrap="none" lIns="0" tIns="0" rIns="0" bIns="0" anchor="t" anchorCtr="0">
                <a:spAutoFit/>
              </a:bodyPr>
              <a:lstStyle/>
              <a:p>
                <a:pPr algn="ctr"/>
                <a:r>
                  <a:rPr lang="zh-CN" sz="1050" b="1" dirty="0">
                    <a:solidFill>
                      <a:srgbClr val="FFB627"/>
                    </a:solidFill>
                    <a:latin typeface="Consolas"/>
                    <a:ea typeface="Microsoft YaHei"/>
                    <a:cs typeface="Consolas"/>
                  </a:rPr>
                  <a:t>kubelet</a:t>
                </a:r>
              </a:p>
            </p:txBody>
          </p:sp>
          <p:sp>
            <p:nvSpPr>
              <p:cNvPr id="19" name="TextBox 19"/>
              <p:cNvSpPr txBox="1"/>
              <p:nvPr/>
            </p:nvSpPr>
            <p:spPr>
              <a:xfrm>
                <a:off x="3510736" y="3625691"/>
                <a:ext cx="598527"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node agent</a:t>
                </a:r>
              </a:p>
            </p:txBody>
          </p:sp>
        </p:grpSp>
        <p:grpSp>
          <p:nvGrpSpPr>
            <p:cNvPr id="25" name="Group 25"/>
            <p:cNvGrpSpPr/>
            <p:nvPr/>
          </p:nvGrpSpPr>
          <p:grpSpPr>
            <a:xfrm>
              <a:off x="2095500" y="4333875"/>
              <a:ext cx="3429000" cy="1171575"/>
              <a:chOff x="2095500" y="4333875"/>
              <a:chExt cx="3429000" cy="1171575"/>
            </a:xfrm>
          </p:grpSpPr>
          <p:sp>
            <p:nvSpPr>
              <p:cNvPr id="21" name="Polygon 21"/>
              <p:cNvSpPr/>
              <p:nvPr/>
            </p:nvSpPr>
            <p:spPr>
              <a:xfrm>
                <a:off x="3810000" y="4333875"/>
                <a:ext cx="1714500" cy="1171575"/>
              </a:xfrm>
              <a:custGeom>
                <a:avLst/>
                <a:gdLst/>
                <a:ahLst/>
                <a:cxnLst/>
                <a:rect l="l" t="t" r="r" b="b"/>
                <a:pathLst>
                  <a:path w="1714500" h="1171575">
                    <a:moveTo>
                      <a:pt x="0" y="0"/>
                    </a:moveTo>
                    <a:lnTo>
                      <a:pt x="1714500" y="885825"/>
                    </a:lnTo>
                    <a:lnTo>
                      <a:pt x="1714500" y="1171575"/>
                    </a:lnTo>
                    <a:lnTo>
                      <a:pt x="0" y="285750"/>
                    </a:lnTo>
                    <a:close/>
                  </a:path>
                </a:pathLst>
              </a:custGeom>
              <a:solidFill>
                <a:srgbClr val="5BA3E0">
                  <a:alpha val="12000"/>
                </a:srgbClr>
              </a:solidFill>
              <a:ln w="12382">
                <a:solidFill>
                  <a:srgbClr val="5BA3E0"/>
                </a:solidFill>
              </a:ln>
            </p:spPr>
          </p:sp>
          <p:sp>
            <p:nvSpPr>
              <p:cNvPr id="22" name="Polygon 22"/>
              <p:cNvSpPr/>
              <p:nvPr/>
            </p:nvSpPr>
            <p:spPr>
              <a:xfrm>
                <a:off x="2095500" y="4333875"/>
                <a:ext cx="1714500" cy="1171575"/>
              </a:xfrm>
              <a:custGeom>
                <a:avLst/>
                <a:gdLst/>
                <a:ahLst/>
                <a:cxnLst/>
                <a:rect l="l" t="t" r="r" b="b"/>
                <a:pathLst>
                  <a:path w="1714500" h="1171575">
                    <a:moveTo>
                      <a:pt x="1714500" y="0"/>
                    </a:moveTo>
                    <a:lnTo>
                      <a:pt x="0" y="885825"/>
                    </a:lnTo>
                    <a:lnTo>
                      <a:pt x="0" y="1171575"/>
                    </a:lnTo>
                    <a:lnTo>
                      <a:pt x="1714500" y="285750"/>
                    </a:lnTo>
                    <a:close/>
                  </a:path>
                </a:pathLst>
              </a:custGeom>
              <a:solidFill>
                <a:srgbClr val="5BA3E0">
                  <a:alpha val="12000"/>
                </a:srgbClr>
              </a:solidFill>
              <a:ln w="12382">
                <a:solidFill>
                  <a:srgbClr val="5BA3E0"/>
                </a:solidFill>
              </a:ln>
            </p:spPr>
          </p:sp>
          <p:sp>
            <p:nvSpPr>
              <p:cNvPr id="23" name="TextBox 23"/>
              <p:cNvSpPr txBox="1"/>
              <p:nvPr/>
            </p:nvSpPr>
            <p:spPr>
              <a:xfrm>
                <a:off x="3422196" y="5038249"/>
                <a:ext cx="775609" cy="198120"/>
              </a:xfrm>
              <a:prstGeom prst="rect">
                <a:avLst/>
              </a:prstGeom>
              <a:noFill/>
              <a:ln>
                <a:noFill/>
              </a:ln>
            </p:spPr>
            <p:txBody>
              <a:bodyPr wrap="none" lIns="0" tIns="0" rIns="0" bIns="0" anchor="t" anchorCtr="0">
                <a:spAutoFit/>
              </a:bodyPr>
              <a:lstStyle/>
              <a:p>
                <a:pPr algn="ctr"/>
                <a:r>
                  <a:rPr lang="zh-CN" sz="975" b="1" dirty="0">
                    <a:solidFill>
                      <a:srgbClr val="5BA3E0"/>
                    </a:solidFill>
                    <a:latin typeface="Consolas"/>
                    <a:ea typeface="Microsoft YaHei"/>
                    <a:cs typeface="Consolas"/>
                  </a:rPr>
                  <a:t>kube-proxy</a:t>
                </a:r>
              </a:p>
            </p:txBody>
          </p:sp>
          <p:sp>
            <p:nvSpPr>
              <p:cNvPr id="24" name="TextBox 24"/>
              <p:cNvSpPr txBox="1"/>
              <p:nvPr/>
            </p:nvSpPr>
            <p:spPr>
              <a:xfrm>
                <a:off x="3447478" y="5244941"/>
                <a:ext cx="725043"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service rules</a:t>
                </a:r>
              </a:p>
            </p:txBody>
          </p:sp>
        </p:grpSp>
        <p:grpSp>
          <p:nvGrpSpPr>
            <p:cNvPr id="30" name="Group 30"/>
            <p:cNvGrpSpPr/>
            <p:nvPr/>
          </p:nvGrpSpPr>
          <p:grpSpPr>
            <a:xfrm>
              <a:off x="2095500" y="4810125"/>
              <a:ext cx="3429000" cy="1600200"/>
              <a:chOff x="2095500" y="4810125"/>
              <a:chExt cx="3429000" cy="1600200"/>
            </a:xfrm>
          </p:grpSpPr>
          <p:sp>
            <p:nvSpPr>
              <p:cNvPr id="26" name="Polygon 26"/>
              <p:cNvSpPr/>
              <p:nvPr/>
            </p:nvSpPr>
            <p:spPr>
              <a:xfrm>
                <a:off x="3810000" y="4810125"/>
                <a:ext cx="1714500" cy="1600200"/>
              </a:xfrm>
              <a:custGeom>
                <a:avLst/>
                <a:gdLst/>
                <a:ahLst/>
                <a:cxnLst/>
                <a:rect l="l" t="t" r="r" b="b"/>
                <a:pathLst>
                  <a:path w="1714500" h="1600200">
                    <a:moveTo>
                      <a:pt x="0" y="714375"/>
                    </a:moveTo>
                    <a:lnTo>
                      <a:pt x="1714500" y="1600200"/>
                    </a:lnTo>
                    <a:lnTo>
                      <a:pt x="1714500" y="0"/>
                    </a:lnTo>
                    <a:lnTo>
                      <a:pt x="0" y="0"/>
                    </a:lnTo>
                    <a:close/>
                  </a:path>
                </a:pathLst>
              </a:custGeom>
              <a:solidFill>
                <a:srgbClr val="3E7AB8">
                  <a:alpha val="12000"/>
                </a:srgbClr>
              </a:solidFill>
              <a:ln w="12382">
                <a:solidFill>
                  <a:srgbClr val="3E7AB8"/>
                </a:solidFill>
              </a:ln>
            </p:spPr>
          </p:sp>
          <p:sp>
            <p:nvSpPr>
              <p:cNvPr id="27" name="Polygon 27"/>
              <p:cNvSpPr/>
              <p:nvPr/>
            </p:nvSpPr>
            <p:spPr>
              <a:xfrm>
                <a:off x="2095500" y="4810125"/>
                <a:ext cx="1714500" cy="1600200"/>
              </a:xfrm>
              <a:custGeom>
                <a:avLst/>
                <a:gdLst/>
                <a:ahLst/>
                <a:cxnLst/>
                <a:rect l="l" t="t" r="r" b="b"/>
                <a:pathLst>
                  <a:path w="1714500" h="1600200">
                    <a:moveTo>
                      <a:pt x="1714500" y="714375"/>
                    </a:moveTo>
                    <a:lnTo>
                      <a:pt x="0" y="1600200"/>
                    </a:lnTo>
                    <a:lnTo>
                      <a:pt x="0" y="0"/>
                    </a:lnTo>
                    <a:lnTo>
                      <a:pt x="1714500" y="0"/>
                    </a:lnTo>
                    <a:close/>
                  </a:path>
                </a:pathLst>
              </a:custGeom>
              <a:solidFill>
                <a:srgbClr val="3E7AB8">
                  <a:alpha val="12000"/>
                </a:srgbClr>
              </a:solidFill>
              <a:ln w="12382">
                <a:solidFill>
                  <a:srgbClr val="3E7AB8"/>
                </a:solidFill>
              </a:ln>
            </p:spPr>
          </p:sp>
          <p:sp>
            <p:nvSpPr>
              <p:cNvPr id="28" name="TextBox 28"/>
              <p:cNvSpPr txBox="1"/>
              <p:nvPr/>
            </p:nvSpPr>
            <p:spPr>
              <a:xfrm>
                <a:off x="3196942" y="5800249"/>
                <a:ext cx="1226115" cy="198120"/>
              </a:xfrm>
              <a:prstGeom prst="rect">
                <a:avLst/>
              </a:prstGeom>
              <a:noFill/>
              <a:ln>
                <a:noFill/>
              </a:ln>
            </p:spPr>
            <p:txBody>
              <a:bodyPr wrap="none" lIns="0" tIns="0" rIns="0" bIns="0" anchor="t" anchorCtr="0">
                <a:spAutoFit/>
              </a:bodyPr>
              <a:lstStyle/>
              <a:p>
                <a:pPr algn="ctr"/>
                <a:r>
                  <a:rPr lang="zh-CN" sz="975" b="1" dirty="0">
                    <a:solidFill>
                      <a:srgbClr val="A0B8D0"/>
                    </a:solidFill>
                    <a:latin typeface="Consolas"/>
                    <a:ea typeface="Microsoft YaHei"/>
                    <a:cs typeface="Consolas"/>
                  </a:rPr>
                  <a:t>container runtime</a:t>
                </a:r>
              </a:p>
            </p:txBody>
          </p:sp>
          <p:sp>
            <p:nvSpPr>
              <p:cNvPr id="29" name="TextBox 29"/>
              <p:cNvSpPr txBox="1"/>
              <p:nvPr/>
            </p:nvSpPr>
            <p:spPr>
              <a:xfrm>
                <a:off x="3217902" y="6015038"/>
                <a:ext cx="1184196"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Arial"/>
                    <a:ea typeface="Microsoft YaHei"/>
                    <a:cs typeface="Arial"/>
                  </a:rPr>
                  <a:t>CRI · containerd / CRI-O</a:t>
                </a:r>
              </a:p>
            </p:txBody>
          </p:sp>
        </p:grpSp>
        <p:grpSp>
          <p:nvGrpSpPr>
            <p:cNvPr id="34" name="Group 34"/>
            <p:cNvGrpSpPr/>
            <p:nvPr/>
          </p:nvGrpSpPr>
          <p:grpSpPr>
            <a:xfrm>
              <a:off x="3190875" y="5448300"/>
              <a:ext cx="1143000" cy="657225"/>
              <a:chOff x="3190875" y="5448300"/>
              <a:chExt cx="1143000" cy="657225"/>
            </a:xfrm>
          </p:grpSpPr>
          <p:sp>
            <p:nvSpPr>
              <p:cNvPr id="31" name="Polygon 31"/>
              <p:cNvSpPr/>
              <p:nvPr/>
            </p:nvSpPr>
            <p:spPr>
              <a:xfrm>
                <a:off x="3190875" y="5448300"/>
                <a:ext cx="285750" cy="238125"/>
              </a:xfrm>
              <a:custGeom>
                <a:avLst/>
                <a:gdLst/>
                <a:ahLst/>
                <a:cxnLst/>
                <a:rect l="l" t="t" r="r" b="b"/>
                <a:pathLst>
                  <a:path w="285750" h="238125">
                    <a:moveTo>
                      <a:pt x="0" y="0"/>
                    </a:moveTo>
                    <a:lnTo>
                      <a:pt x="285750" y="142875"/>
                    </a:lnTo>
                    <a:lnTo>
                      <a:pt x="285750" y="238125"/>
                    </a:lnTo>
                    <a:lnTo>
                      <a:pt x="0" y="95250"/>
                    </a:lnTo>
                    <a:close/>
                  </a:path>
                </a:pathLst>
              </a:custGeom>
              <a:solidFill>
                <a:srgbClr val="7FD99F">
                  <a:alpha val="20000"/>
                </a:srgbClr>
              </a:solidFill>
              <a:ln w="7620">
                <a:solidFill>
                  <a:srgbClr val="7FD99F"/>
                </a:solidFill>
              </a:ln>
            </p:spPr>
          </p:sp>
          <p:sp>
            <p:nvSpPr>
              <p:cNvPr id="32" name="Polygon 32"/>
              <p:cNvSpPr/>
              <p:nvPr/>
            </p:nvSpPr>
            <p:spPr>
              <a:xfrm>
                <a:off x="3619500" y="5657850"/>
                <a:ext cx="285750" cy="238125"/>
              </a:xfrm>
              <a:custGeom>
                <a:avLst/>
                <a:gdLst/>
                <a:ahLst/>
                <a:cxnLst/>
                <a:rect l="l" t="t" r="r" b="b"/>
                <a:pathLst>
                  <a:path w="285750" h="238125">
                    <a:moveTo>
                      <a:pt x="0" y="0"/>
                    </a:moveTo>
                    <a:lnTo>
                      <a:pt x="285750" y="142875"/>
                    </a:lnTo>
                    <a:lnTo>
                      <a:pt x="285750" y="238125"/>
                    </a:lnTo>
                    <a:lnTo>
                      <a:pt x="0" y="95250"/>
                    </a:lnTo>
                    <a:close/>
                  </a:path>
                </a:pathLst>
              </a:custGeom>
              <a:solidFill>
                <a:srgbClr val="7FD99F">
                  <a:alpha val="20000"/>
                </a:srgbClr>
              </a:solidFill>
              <a:ln w="7620">
                <a:solidFill>
                  <a:srgbClr val="7FD99F"/>
                </a:solidFill>
              </a:ln>
            </p:spPr>
          </p:sp>
          <p:sp>
            <p:nvSpPr>
              <p:cNvPr id="33" name="Polygon 33"/>
              <p:cNvSpPr/>
              <p:nvPr/>
            </p:nvSpPr>
            <p:spPr>
              <a:xfrm>
                <a:off x="4048125" y="5867400"/>
                <a:ext cx="285750" cy="238125"/>
              </a:xfrm>
              <a:custGeom>
                <a:avLst/>
                <a:gdLst/>
                <a:ahLst/>
                <a:cxnLst/>
                <a:rect l="l" t="t" r="r" b="b"/>
                <a:pathLst>
                  <a:path w="285750" h="238125">
                    <a:moveTo>
                      <a:pt x="0" y="0"/>
                    </a:moveTo>
                    <a:lnTo>
                      <a:pt x="285750" y="142875"/>
                    </a:lnTo>
                    <a:lnTo>
                      <a:pt x="285750" y="238125"/>
                    </a:lnTo>
                    <a:lnTo>
                      <a:pt x="0" y="95250"/>
                    </a:lnTo>
                    <a:close/>
                  </a:path>
                </a:pathLst>
              </a:custGeom>
              <a:solidFill>
                <a:srgbClr val="7FD99F">
                  <a:alpha val="20000"/>
                </a:srgbClr>
              </a:solidFill>
              <a:ln w="7620">
                <a:solidFill>
                  <a:srgbClr val="7FD99F"/>
                </a:solidFill>
              </a:ln>
            </p:spPr>
          </p:sp>
        </p:grpSp>
        <p:grpSp>
          <p:nvGrpSpPr>
            <p:cNvPr id="42" name="Group 42"/>
            <p:cNvGrpSpPr/>
            <p:nvPr/>
          </p:nvGrpSpPr>
          <p:grpSpPr>
            <a:xfrm>
              <a:off x="6286500" y="1905000"/>
              <a:ext cx="714375" cy="4295775"/>
              <a:chOff x="6286500" y="1905000"/>
              <a:chExt cx="714375" cy="4295775"/>
            </a:xfrm>
          </p:grpSpPr>
          <p:sp>
            <p:nvSpPr>
              <p:cNvPr id="35" name="Line 35"/>
              <p:cNvSpPr/>
              <p:nvPr/>
            </p:nvSpPr>
            <p:spPr>
              <a:xfrm>
                <a:off x="6286500" y="1905000"/>
                <a:ext cx="571500" cy="9525"/>
              </a:xfrm>
              <a:custGeom>
                <a:avLst/>
                <a:gdLst/>
                <a:ahLst/>
                <a:cxnLst/>
                <a:rect l="l" t="t" r="r" b="b"/>
                <a:pathLst>
                  <a:path w="571500" h="9525">
                    <a:moveTo>
                      <a:pt x="0" y="0"/>
                    </a:moveTo>
                    <a:lnTo>
                      <a:pt x="571500" y="0"/>
                    </a:lnTo>
                  </a:path>
                </a:pathLst>
              </a:custGeom>
              <a:noFill/>
              <a:ln w="5715">
                <a:solidFill>
                  <a:srgbClr val="5BA3E0"/>
                </a:solidFill>
              </a:ln>
            </p:spPr>
          </p:sp>
          <p:sp>
            <p:nvSpPr>
              <p:cNvPr id="36" name="Line 36"/>
              <p:cNvSpPr/>
              <p:nvPr/>
            </p:nvSpPr>
            <p:spPr>
              <a:xfrm>
                <a:off x="6286500" y="6191250"/>
                <a:ext cx="571500" cy="9525"/>
              </a:xfrm>
              <a:custGeom>
                <a:avLst/>
                <a:gdLst/>
                <a:ahLst/>
                <a:cxnLst/>
                <a:rect l="l" t="t" r="r" b="b"/>
                <a:pathLst>
                  <a:path w="571500" h="9525">
                    <a:moveTo>
                      <a:pt x="0" y="0"/>
                    </a:moveTo>
                    <a:lnTo>
                      <a:pt x="571500" y="0"/>
                    </a:lnTo>
                  </a:path>
                </a:pathLst>
              </a:custGeom>
              <a:noFill/>
              <a:ln w="5715">
                <a:solidFill>
                  <a:srgbClr val="5BA3E0"/>
                </a:solidFill>
              </a:ln>
            </p:spPr>
          </p:sp>
          <p:sp>
            <p:nvSpPr>
              <p:cNvPr id="37" name="Line 37"/>
              <p:cNvSpPr/>
              <p:nvPr/>
            </p:nvSpPr>
            <p:spPr>
              <a:xfrm>
                <a:off x="6762750" y="1905000"/>
                <a:ext cx="9525" cy="4286250"/>
              </a:xfrm>
              <a:custGeom>
                <a:avLst/>
                <a:gdLst/>
                <a:ahLst/>
                <a:cxnLst/>
                <a:rect l="l" t="t" r="r" b="b"/>
                <a:pathLst>
                  <a:path w="9525" h="4286250">
                    <a:moveTo>
                      <a:pt x="0" y="0"/>
                    </a:moveTo>
                    <a:lnTo>
                      <a:pt x="0" y="4286250"/>
                    </a:lnTo>
                  </a:path>
                </a:pathLst>
              </a:custGeom>
              <a:noFill/>
              <a:ln w="5715">
                <a:solidFill>
                  <a:srgbClr val="5BA3E0"/>
                </a:solidFill>
              </a:ln>
            </p:spPr>
          </p:sp>
          <p:sp>
            <p:nvSpPr>
              <p:cNvPr id="38" name="Polygon 38"/>
              <p:cNvSpPr/>
              <p:nvPr/>
            </p:nvSpPr>
            <p:spPr>
              <a:xfrm>
                <a:off x="6724650" y="1905000"/>
                <a:ext cx="76200" cy="95250"/>
              </a:xfrm>
              <a:custGeom>
                <a:avLst/>
                <a:gdLst/>
                <a:ahLst/>
                <a:cxnLst/>
                <a:rect l="l" t="t" r="r" b="b"/>
                <a:pathLst>
                  <a:path w="76200" h="95250">
                    <a:moveTo>
                      <a:pt x="38100" y="0"/>
                    </a:moveTo>
                    <a:lnTo>
                      <a:pt x="0" y="95250"/>
                    </a:lnTo>
                    <a:lnTo>
                      <a:pt x="76200" y="95250"/>
                    </a:lnTo>
                    <a:close/>
                  </a:path>
                </a:pathLst>
              </a:custGeom>
              <a:solidFill>
                <a:srgbClr val="5BA3E0"/>
              </a:solidFill>
              <a:ln>
                <a:noFill/>
              </a:ln>
            </p:spPr>
          </p:sp>
          <p:sp>
            <p:nvSpPr>
              <p:cNvPr id="39" name="Polygon 39"/>
              <p:cNvSpPr/>
              <p:nvPr/>
            </p:nvSpPr>
            <p:spPr>
              <a:xfrm>
                <a:off x="6724650" y="6096000"/>
                <a:ext cx="76200" cy="95250"/>
              </a:xfrm>
              <a:custGeom>
                <a:avLst/>
                <a:gdLst/>
                <a:ahLst/>
                <a:cxnLst/>
                <a:rect l="l" t="t" r="r" b="b"/>
                <a:pathLst>
                  <a:path w="76200" h="95250">
                    <a:moveTo>
                      <a:pt x="38100" y="95250"/>
                    </a:moveTo>
                    <a:lnTo>
                      <a:pt x="0" y="0"/>
                    </a:lnTo>
                    <a:lnTo>
                      <a:pt x="76200" y="0"/>
                    </a:lnTo>
                    <a:close/>
                  </a:path>
                </a:pathLst>
              </a:custGeom>
              <a:solidFill>
                <a:srgbClr val="5BA3E0"/>
              </a:solidFill>
              <a:ln>
                <a:noFill/>
              </a:ln>
            </p:spPr>
          </p:sp>
          <p:sp>
            <p:nvSpPr>
              <p:cNvPr id="40" name="Rectangle 40"/>
              <p:cNvSpPr/>
              <p:nvPr/>
            </p:nvSpPr>
            <p:spPr>
              <a:xfrm>
                <a:off x="6524625" y="3952875"/>
                <a:ext cx="476250" cy="190500"/>
              </a:xfrm>
              <a:prstGeom prst="rect">
                <a:avLst/>
              </a:prstGeom>
              <a:solidFill>
                <a:srgbClr val="0E2A47"/>
              </a:solidFill>
              <a:ln>
                <a:noFill/>
              </a:ln>
            </p:spPr>
          </p:sp>
          <p:sp>
            <p:nvSpPr>
              <p:cNvPr id="41" name="TextBox 41"/>
              <p:cNvSpPr txBox="1"/>
              <p:nvPr/>
            </p:nvSpPr>
            <p:spPr>
              <a:xfrm>
                <a:off x="6633210" y="4014788"/>
                <a:ext cx="259080" cy="152400"/>
              </a:xfrm>
              <a:prstGeom prst="rect">
                <a:avLst/>
              </a:prstGeom>
              <a:noFill/>
              <a:ln>
                <a:noFill/>
              </a:ln>
            </p:spPr>
            <p:txBody>
              <a:bodyPr wrap="none" lIns="0" tIns="0" rIns="0" bIns="0" anchor="t" anchorCtr="0">
                <a:spAutoFit/>
              </a:bodyPr>
              <a:lstStyle/>
              <a:p>
                <a:pPr algn="ctr"/>
                <a:r>
                  <a:rPr lang="zh-CN" sz="750" dirty="0">
                    <a:solidFill>
                      <a:srgbClr val="5BA3E0"/>
                    </a:solidFill>
                    <a:latin typeface="Consolas"/>
                    <a:ea typeface="Microsoft YaHei"/>
                    <a:cs typeface="Consolas"/>
                  </a:rPr>
                  <a:t>NODE</a:t>
                </a:r>
              </a:p>
            </p:txBody>
          </p:sp>
        </p:grpSp>
      </p:grpSp>
      <p:grpSp>
        <p:nvGrpSpPr>
          <p:cNvPr id="53" name="Group 53"/>
          <p:cNvGrpSpPr/>
          <p:nvPr/>
        </p:nvGrpSpPr>
        <p:grpSpPr>
          <a:xfrm>
            <a:off x="5500688" y="3190875"/>
            <a:ext cx="5738812" cy="857250"/>
            <a:chOff x="5500688" y="3190875"/>
            <a:chExt cx="5738812" cy="857250"/>
          </a:xfrm>
        </p:grpSpPr>
        <p:sp>
          <p:nvSpPr>
            <p:cNvPr id="44" name="Line 44"/>
            <p:cNvSpPr/>
            <p:nvPr/>
          </p:nvSpPr>
          <p:spPr>
            <a:xfrm>
              <a:off x="5524500" y="3648075"/>
              <a:ext cx="1905000" cy="9525"/>
            </a:xfrm>
            <a:custGeom>
              <a:avLst/>
              <a:gdLst/>
              <a:ahLst/>
              <a:cxnLst/>
              <a:rect l="l" t="t" r="r" b="b"/>
              <a:pathLst>
                <a:path w="1905000" h="9525">
                  <a:moveTo>
                    <a:pt x="0" y="0"/>
                  </a:moveTo>
                  <a:lnTo>
                    <a:pt x="1905000" y="0"/>
                  </a:lnTo>
                </a:path>
              </a:pathLst>
            </a:custGeom>
            <a:noFill/>
            <a:ln w="7620">
              <a:solidFill>
                <a:srgbClr val="FFB627"/>
              </a:solidFill>
            </a:ln>
          </p:spPr>
        </p:sp>
        <p:sp>
          <p:nvSpPr>
            <p:cNvPr id="45" name="Line 45"/>
            <p:cNvSpPr/>
            <p:nvPr/>
          </p:nvSpPr>
          <p:spPr>
            <a:xfrm>
              <a:off x="7429500" y="3648075"/>
              <a:ext cx="190500" cy="9525"/>
            </a:xfrm>
            <a:custGeom>
              <a:avLst/>
              <a:gdLst/>
              <a:ahLst/>
              <a:cxnLst/>
              <a:rect l="l" t="t" r="r" b="b"/>
              <a:pathLst>
                <a:path w="190500" h="9525">
                  <a:moveTo>
                    <a:pt x="0" y="0"/>
                  </a:moveTo>
                  <a:lnTo>
                    <a:pt x="190500" y="0"/>
                  </a:lnTo>
                </a:path>
              </a:pathLst>
            </a:custGeom>
            <a:noFill/>
            <a:ln w="7620">
              <a:solidFill>
                <a:srgbClr val="FFB627"/>
              </a:solidFill>
            </a:ln>
          </p:spPr>
        </p:sp>
        <p:sp>
          <p:nvSpPr>
            <p:cNvPr id="46" name="Ellipse 46"/>
            <p:cNvSpPr/>
            <p:nvPr/>
          </p:nvSpPr>
          <p:spPr>
            <a:xfrm>
              <a:off x="5500688" y="3624262"/>
              <a:ext cx="47625" cy="47625"/>
            </a:xfrm>
            <a:prstGeom prst="ellipse">
              <a:avLst/>
            </a:prstGeom>
            <a:solidFill>
              <a:srgbClr val="FFB627"/>
            </a:solidFill>
            <a:ln>
              <a:noFill/>
            </a:ln>
          </p:spPr>
        </p:sp>
        <p:sp>
          <p:nvSpPr>
            <p:cNvPr id="47" name="Rectangle 47"/>
            <p:cNvSpPr/>
            <p:nvPr/>
          </p:nvSpPr>
          <p:spPr>
            <a:xfrm>
              <a:off x="7620000" y="3190875"/>
              <a:ext cx="3619500" cy="857250"/>
            </a:xfrm>
            <a:prstGeom prst="rect">
              <a:avLst/>
            </a:prstGeom>
            <a:solidFill>
              <a:srgbClr val="1A3A5C">
                <a:alpha val="40000"/>
              </a:srgbClr>
            </a:solidFill>
            <a:ln w="11430">
              <a:solidFill>
                <a:srgbClr val="FFB627"/>
              </a:solidFill>
            </a:ln>
          </p:spPr>
        </p:sp>
        <p:sp>
          <p:nvSpPr>
            <p:cNvPr id="48" name="TextBox 48"/>
            <p:cNvSpPr txBox="1"/>
            <p:nvPr/>
          </p:nvSpPr>
          <p:spPr>
            <a:xfrm>
              <a:off x="7760018" y="3304699"/>
              <a:ext cx="516226" cy="198120"/>
            </a:xfrm>
            <a:prstGeom prst="rect">
              <a:avLst/>
            </a:prstGeom>
            <a:noFill/>
            <a:ln>
              <a:noFill/>
            </a:ln>
          </p:spPr>
          <p:txBody>
            <a:bodyPr wrap="none" lIns="0" tIns="0" rIns="0" bIns="0" anchor="t" anchorCtr="0">
              <a:spAutoFit/>
            </a:bodyPr>
            <a:lstStyle/>
            <a:p>
              <a:pPr algn="l"/>
              <a:r>
                <a:rPr lang="zh-CN" sz="975" b="1" dirty="0">
                  <a:solidFill>
                    <a:srgbClr val="FFB627"/>
                  </a:solidFill>
                  <a:latin typeface="Consolas"/>
                  <a:ea typeface="Microsoft YaHei"/>
                  <a:cs typeface="Consolas"/>
                </a:rPr>
                <a:t>kubelet</a:t>
              </a:r>
            </a:p>
          </p:txBody>
        </p:sp>
        <p:sp>
          <p:nvSpPr>
            <p:cNvPr id="49" name="TextBox 49"/>
            <p:cNvSpPr txBox="1"/>
            <p:nvPr/>
          </p:nvSpPr>
          <p:spPr>
            <a:xfrm>
              <a:off x="8485822" y="3320891"/>
              <a:ext cx="692039"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node agent</a:t>
              </a:r>
            </a:p>
          </p:txBody>
        </p:sp>
        <p:sp>
          <p:nvSpPr>
            <p:cNvPr id="50" name="TextBox 50"/>
            <p:cNvSpPr txBox="1"/>
            <p:nvPr/>
          </p:nvSpPr>
          <p:spPr>
            <a:xfrm>
              <a:off x="7760970" y="3522345"/>
              <a:ext cx="2645188"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Watches apiserver for Pods scheduled here</a:t>
              </a:r>
            </a:p>
          </p:txBody>
        </p:sp>
        <p:sp>
          <p:nvSpPr>
            <p:cNvPr id="51" name="TextBox 51"/>
            <p:cNvSpPr txBox="1"/>
            <p:nvPr/>
          </p:nvSpPr>
          <p:spPr>
            <a:xfrm>
              <a:off x="7760970" y="3684270"/>
              <a:ext cx="2483167"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Reconciles PodSpecs → instructs runtime</a:t>
              </a:r>
            </a:p>
          </p:txBody>
        </p:sp>
        <p:sp>
          <p:nvSpPr>
            <p:cNvPr id="52" name="TextBox 52"/>
            <p:cNvSpPr txBox="1"/>
            <p:nvPr/>
          </p:nvSpPr>
          <p:spPr>
            <a:xfrm>
              <a:off x="7760970" y="3846195"/>
              <a:ext cx="2357152"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Liveness / readiness / startup probes</a:t>
              </a:r>
            </a:p>
          </p:txBody>
        </p:sp>
      </p:grpSp>
      <p:grpSp>
        <p:nvGrpSpPr>
          <p:cNvPr id="62" name="Group 62"/>
          <p:cNvGrpSpPr/>
          <p:nvPr/>
        </p:nvGrpSpPr>
        <p:grpSpPr>
          <a:xfrm>
            <a:off x="5500688" y="4286250"/>
            <a:ext cx="5738812" cy="1023937"/>
            <a:chOff x="5500688" y="4286250"/>
            <a:chExt cx="5738812" cy="1023937"/>
          </a:xfrm>
        </p:grpSpPr>
        <p:sp>
          <p:nvSpPr>
            <p:cNvPr id="54" name="Line 54"/>
            <p:cNvSpPr/>
            <p:nvPr/>
          </p:nvSpPr>
          <p:spPr>
            <a:xfrm>
              <a:off x="5524500" y="5143500"/>
              <a:ext cx="1905000" cy="142875"/>
            </a:xfrm>
            <a:custGeom>
              <a:avLst/>
              <a:gdLst/>
              <a:ahLst/>
              <a:cxnLst/>
              <a:rect l="l" t="t" r="r" b="b"/>
              <a:pathLst>
                <a:path w="1905000" h="142875">
                  <a:moveTo>
                    <a:pt x="0" y="142875"/>
                  </a:moveTo>
                  <a:lnTo>
                    <a:pt x="1905000" y="0"/>
                  </a:lnTo>
                </a:path>
              </a:pathLst>
            </a:custGeom>
            <a:noFill/>
            <a:ln w="7620">
              <a:solidFill>
                <a:srgbClr val="5BA3E0"/>
              </a:solidFill>
            </a:ln>
          </p:spPr>
        </p:sp>
        <p:sp>
          <p:nvSpPr>
            <p:cNvPr id="55" name="Line 55"/>
            <p:cNvSpPr/>
            <p:nvPr/>
          </p:nvSpPr>
          <p:spPr>
            <a:xfrm>
              <a:off x="7429500" y="5143500"/>
              <a:ext cx="190500" cy="9525"/>
            </a:xfrm>
            <a:custGeom>
              <a:avLst/>
              <a:gdLst/>
              <a:ahLst/>
              <a:cxnLst/>
              <a:rect l="l" t="t" r="r" b="b"/>
              <a:pathLst>
                <a:path w="190500" h="9525">
                  <a:moveTo>
                    <a:pt x="0" y="0"/>
                  </a:moveTo>
                  <a:lnTo>
                    <a:pt x="190500" y="0"/>
                  </a:lnTo>
                </a:path>
              </a:pathLst>
            </a:custGeom>
            <a:noFill/>
            <a:ln w="7620">
              <a:solidFill>
                <a:srgbClr val="5BA3E0"/>
              </a:solidFill>
            </a:ln>
          </p:spPr>
        </p:sp>
        <p:sp>
          <p:nvSpPr>
            <p:cNvPr id="56" name="Ellipse 56"/>
            <p:cNvSpPr/>
            <p:nvPr/>
          </p:nvSpPr>
          <p:spPr>
            <a:xfrm>
              <a:off x="5500688" y="5262562"/>
              <a:ext cx="47625" cy="47625"/>
            </a:xfrm>
            <a:prstGeom prst="ellipse">
              <a:avLst/>
            </a:prstGeom>
            <a:solidFill>
              <a:srgbClr val="5BA3E0"/>
            </a:solidFill>
            <a:ln>
              <a:noFill/>
            </a:ln>
          </p:spPr>
        </p:sp>
        <p:sp>
          <p:nvSpPr>
            <p:cNvPr id="57" name="Rectangle 57"/>
            <p:cNvSpPr/>
            <p:nvPr/>
          </p:nvSpPr>
          <p:spPr>
            <a:xfrm>
              <a:off x="7620000" y="4286250"/>
              <a:ext cx="3619500" cy="762000"/>
            </a:xfrm>
            <a:prstGeom prst="rect">
              <a:avLst/>
            </a:prstGeom>
            <a:solidFill>
              <a:srgbClr val="1A3A5C">
                <a:alpha val="40000"/>
              </a:srgbClr>
            </a:solidFill>
            <a:ln w="11430">
              <a:solidFill>
                <a:srgbClr val="5BA3E0"/>
              </a:solidFill>
            </a:ln>
          </p:spPr>
        </p:sp>
        <p:sp>
          <p:nvSpPr>
            <p:cNvPr id="58" name="TextBox 58"/>
            <p:cNvSpPr txBox="1"/>
            <p:nvPr/>
          </p:nvSpPr>
          <p:spPr>
            <a:xfrm>
              <a:off x="7760018" y="4400074"/>
              <a:ext cx="775609" cy="198120"/>
            </a:xfrm>
            <a:prstGeom prst="rect">
              <a:avLst/>
            </a:prstGeom>
            <a:noFill/>
            <a:ln>
              <a:noFill/>
            </a:ln>
          </p:spPr>
          <p:txBody>
            <a:bodyPr wrap="none" lIns="0" tIns="0" rIns="0" bIns="0" anchor="t" anchorCtr="0">
              <a:spAutoFit/>
            </a:bodyPr>
            <a:lstStyle/>
            <a:p>
              <a:pPr algn="l"/>
              <a:r>
                <a:rPr lang="zh-CN" sz="975" b="1" dirty="0">
                  <a:solidFill>
                    <a:srgbClr val="5BA3E0"/>
                  </a:solidFill>
                  <a:latin typeface="Consolas"/>
                  <a:ea typeface="Microsoft YaHei"/>
                  <a:cs typeface="Consolas"/>
                </a:rPr>
                <a:t>kube-proxy</a:t>
              </a:r>
            </a:p>
          </p:txBody>
        </p:sp>
        <p:sp>
          <p:nvSpPr>
            <p:cNvPr id="59" name="TextBox 59"/>
            <p:cNvSpPr txBox="1"/>
            <p:nvPr/>
          </p:nvSpPr>
          <p:spPr>
            <a:xfrm>
              <a:off x="8533448" y="4416266"/>
              <a:ext cx="81855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Service rules</a:t>
              </a:r>
            </a:p>
          </p:txBody>
        </p:sp>
        <p:sp>
          <p:nvSpPr>
            <p:cNvPr id="60" name="TextBox 60"/>
            <p:cNvSpPr txBox="1"/>
            <p:nvPr/>
          </p:nvSpPr>
          <p:spPr>
            <a:xfrm>
              <a:off x="7760970" y="4617720"/>
              <a:ext cx="2339149"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Translates virtual IP → backing Pod IPs</a:t>
              </a:r>
            </a:p>
          </p:txBody>
        </p:sp>
        <p:sp>
          <p:nvSpPr>
            <p:cNvPr id="61" name="TextBox 61"/>
            <p:cNvSpPr txBox="1"/>
            <p:nvPr/>
          </p:nvSpPr>
          <p:spPr>
            <a:xfrm>
              <a:off x="7761922" y="4787741"/>
              <a:ext cx="266128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iptables</a:t>
              </a:r>
              <a:r>
                <a:rPr lang="zh-CN" sz="825" dirty="0">
                  <a:solidFill>
                    <a:srgbClr val="A0B8D0"/>
                  </a:solidFill>
                  <a:latin typeface="Arial"/>
                  <a:ea typeface="Microsoft YaHei"/>
                  <a:cs typeface="Arial"/>
                </a:rPr>
                <a:t xml:space="preserve"> · </a:t>
              </a:r>
              <a:r>
                <a:rPr lang="zh-CN" sz="825" dirty="0">
                  <a:solidFill>
                    <a:srgbClr val="A0B8D0"/>
                  </a:solidFill>
                  <a:latin typeface="Consolas"/>
                  <a:ea typeface="Microsoft YaHei"/>
                  <a:cs typeface="Consolas"/>
                </a:rPr>
                <a:t>IPVS</a:t>
              </a:r>
              <a:r>
                <a:rPr lang="zh-CN" sz="825" dirty="0">
                  <a:solidFill>
                    <a:srgbClr val="A0B8D0"/>
                  </a:solidFill>
                  <a:latin typeface="Arial"/>
                  <a:ea typeface="Microsoft YaHei"/>
                  <a:cs typeface="Arial"/>
                </a:rPr>
                <a:t xml:space="preserve"> · </a:t>
              </a:r>
              <a:r>
                <a:rPr lang="zh-CN" sz="825" dirty="0">
                  <a:solidFill>
                    <a:srgbClr val="A0B8D0"/>
                  </a:solidFill>
                  <a:latin typeface="Consolas"/>
                  <a:ea typeface="Microsoft YaHei"/>
                  <a:cs typeface="Consolas"/>
                </a:rPr>
                <a:t>nftables</a:t>
              </a:r>
              <a:r>
                <a:rPr lang="zh-CN" sz="825" dirty="0">
                  <a:solidFill>
                    <a:srgbClr val="A0B8D0"/>
                  </a:solidFill>
                  <a:latin typeface="Arial"/>
                  <a:ea typeface="Microsoft YaHei"/>
                  <a:cs typeface="Arial"/>
                </a:rPr>
                <a:t xml:space="preserve"> · optional with eBPF CNI</a:t>
              </a:r>
            </a:p>
          </p:txBody>
        </p:sp>
      </p:grpSp>
      <p:grpSp>
        <p:nvGrpSpPr>
          <p:cNvPr id="71" name="Group 71"/>
          <p:cNvGrpSpPr/>
          <p:nvPr/>
        </p:nvGrpSpPr>
        <p:grpSpPr>
          <a:xfrm>
            <a:off x="5500688" y="5286375"/>
            <a:ext cx="5738812" cy="762000"/>
            <a:chOff x="5500688" y="5286375"/>
            <a:chExt cx="5738812" cy="762000"/>
          </a:xfrm>
        </p:grpSpPr>
        <p:sp>
          <p:nvSpPr>
            <p:cNvPr id="63" name="Line 63"/>
            <p:cNvSpPr/>
            <p:nvPr/>
          </p:nvSpPr>
          <p:spPr>
            <a:xfrm>
              <a:off x="5524500" y="5905500"/>
              <a:ext cx="1905000" cy="47625"/>
            </a:xfrm>
            <a:custGeom>
              <a:avLst/>
              <a:gdLst/>
              <a:ahLst/>
              <a:cxnLst/>
              <a:rect l="l" t="t" r="r" b="b"/>
              <a:pathLst>
                <a:path w="1905000" h="47625">
                  <a:moveTo>
                    <a:pt x="0" y="47625"/>
                  </a:moveTo>
                  <a:lnTo>
                    <a:pt x="1905000" y="0"/>
                  </a:lnTo>
                </a:path>
              </a:pathLst>
            </a:custGeom>
            <a:noFill/>
            <a:ln w="7620">
              <a:solidFill>
                <a:srgbClr val="3E7AB8"/>
              </a:solidFill>
            </a:ln>
          </p:spPr>
        </p:sp>
        <p:sp>
          <p:nvSpPr>
            <p:cNvPr id="64" name="Line 64"/>
            <p:cNvSpPr/>
            <p:nvPr/>
          </p:nvSpPr>
          <p:spPr>
            <a:xfrm>
              <a:off x="7429500" y="5905500"/>
              <a:ext cx="190500" cy="9525"/>
            </a:xfrm>
            <a:custGeom>
              <a:avLst/>
              <a:gdLst/>
              <a:ahLst/>
              <a:cxnLst/>
              <a:rect l="l" t="t" r="r" b="b"/>
              <a:pathLst>
                <a:path w="190500" h="9525">
                  <a:moveTo>
                    <a:pt x="0" y="0"/>
                  </a:moveTo>
                  <a:lnTo>
                    <a:pt x="190500" y="0"/>
                  </a:lnTo>
                </a:path>
              </a:pathLst>
            </a:custGeom>
            <a:noFill/>
            <a:ln w="7620">
              <a:solidFill>
                <a:srgbClr val="3E7AB8"/>
              </a:solidFill>
            </a:ln>
          </p:spPr>
        </p:sp>
        <p:sp>
          <p:nvSpPr>
            <p:cNvPr id="65" name="Ellipse 65"/>
            <p:cNvSpPr/>
            <p:nvPr/>
          </p:nvSpPr>
          <p:spPr>
            <a:xfrm>
              <a:off x="5500688" y="5929312"/>
              <a:ext cx="47625" cy="47625"/>
            </a:xfrm>
            <a:prstGeom prst="ellipse">
              <a:avLst/>
            </a:prstGeom>
            <a:solidFill>
              <a:srgbClr val="3E7AB8"/>
            </a:solidFill>
            <a:ln>
              <a:noFill/>
            </a:ln>
          </p:spPr>
        </p:sp>
        <p:sp>
          <p:nvSpPr>
            <p:cNvPr id="66" name="Rectangle 66"/>
            <p:cNvSpPr/>
            <p:nvPr/>
          </p:nvSpPr>
          <p:spPr>
            <a:xfrm>
              <a:off x="7620000" y="5286375"/>
              <a:ext cx="3619500" cy="762000"/>
            </a:xfrm>
            <a:prstGeom prst="rect">
              <a:avLst/>
            </a:prstGeom>
            <a:solidFill>
              <a:srgbClr val="1A3A5C">
                <a:alpha val="40000"/>
              </a:srgbClr>
            </a:solidFill>
            <a:ln w="11430">
              <a:solidFill>
                <a:srgbClr val="3E7AB8"/>
              </a:solidFill>
            </a:ln>
          </p:spPr>
        </p:sp>
        <p:sp>
          <p:nvSpPr>
            <p:cNvPr id="67" name="TextBox 67"/>
            <p:cNvSpPr txBox="1"/>
            <p:nvPr/>
          </p:nvSpPr>
          <p:spPr>
            <a:xfrm>
              <a:off x="7760018" y="5400199"/>
              <a:ext cx="1226115" cy="198120"/>
            </a:xfrm>
            <a:prstGeom prst="rect">
              <a:avLst/>
            </a:prstGeom>
            <a:noFill/>
            <a:ln>
              <a:noFill/>
            </a:ln>
          </p:spPr>
          <p:txBody>
            <a:bodyPr wrap="none" lIns="0" tIns="0" rIns="0" bIns="0" anchor="t" anchorCtr="0">
              <a:spAutoFit/>
            </a:bodyPr>
            <a:lstStyle/>
            <a:p>
              <a:pPr algn="l"/>
              <a:r>
                <a:rPr lang="zh-CN" sz="975" b="1" dirty="0">
                  <a:solidFill>
                    <a:srgbClr val="3E7AB8"/>
                  </a:solidFill>
                  <a:latin typeface="Consolas"/>
                  <a:ea typeface="Microsoft YaHei"/>
                  <a:cs typeface="Consolas"/>
                </a:rPr>
                <a:t>container runtime</a:t>
              </a:r>
            </a:p>
          </p:txBody>
        </p:sp>
        <p:sp>
          <p:nvSpPr>
            <p:cNvPr id="68" name="TextBox 68"/>
            <p:cNvSpPr txBox="1"/>
            <p:nvPr/>
          </p:nvSpPr>
          <p:spPr>
            <a:xfrm>
              <a:off x="8962072" y="5416391"/>
              <a:ext cx="956072"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CRI implementer</a:t>
              </a:r>
            </a:p>
          </p:txBody>
        </p:sp>
        <p:sp>
          <p:nvSpPr>
            <p:cNvPr id="69" name="TextBox 69"/>
            <p:cNvSpPr txBox="1"/>
            <p:nvPr/>
          </p:nvSpPr>
          <p:spPr>
            <a:xfrm>
              <a:off x="7760970" y="5617845"/>
              <a:ext cx="3113246"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Pulls images, starts containers, manages lifecycle</a:t>
              </a:r>
            </a:p>
          </p:txBody>
        </p:sp>
        <p:sp>
          <p:nvSpPr>
            <p:cNvPr id="70" name="TextBox 70"/>
            <p:cNvSpPr txBox="1"/>
            <p:nvPr/>
          </p:nvSpPr>
          <p:spPr>
            <a:xfrm>
              <a:off x="7761922" y="5787866"/>
              <a:ext cx="260627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containerd</a:t>
              </a:r>
              <a:r>
                <a:rPr lang="zh-CN" sz="825" dirty="0">
                  <a:solidFill>
                    <a:srgbClr val="A0B8D0"/>
                  </a:solidFill>
                  <a:latin typeface="Arial"/>
                  <a:ea typeface="Microsoft YaHei"/>
                  <a:cs typeface="Arial"/>
                </a:rPr>
                <a:t xml:space="preserve"> · </a:t>
              </a:r>
              <a:r>
                <a:rPr lang="zh-CN" sz="825" dirty="0">
                  <a:solidFill>
                    <a:srgbClr val="A0B8D0"/>
                  </a:solidFill>
                  <a:latin typeface="Consolas"/>
                  <a:ea typeface="Microsoft YaHei"/>
                  <a:cs typeface="Consolas"/>
                </a:rPr>
                <a:t>CRI-O</a:t>
              </a:r>
              <a:r>
                <a:rPr lang="zh-CN" sz="825" dirty="0">
                  <a:solidFill>
                    <a:srgbClr val="A0B8D0"/>
                  </a:solidFill>
                  <a:latin typeface="Arial"/>
                  <a:ea typeface="Microsoft YaHei"/>
                  <a:cs typeface="Arial"/>
                </a:rPr>
                <a:t xml:space="preserve"> · Docker removed since v1.24</a:t>
              </a:r>
            </a:p>
          </p:txBody>
        </p:sp>
      </p:grpSp>
      <p:grpSp>
        <p:nvGrpSpPr>
          <p:cNvPr id="75" name="Group 75"/>
          <p:cNvGrpSpPr/>
          <p:nvPr/>
        </p:nvGrpSpPr>
        <p:grpSpPr>
          <a:xfrm>
            <a:off x="561022" y="6477000"/>
            <a:ext cx="11069956" cy="269081"/>
            <a:chOff x="561022" y="6477000"/>
            <a:chExt cx="11069956" cy="269081"/>
          </a:xfrm>
        </p:grpSpPr>
        <p:sp>
          <p:nvSpPr>
            <p:cNvPr id="72" name="Line 72"/>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73" name="TextBox 73"/>
            <p:cNvSpPr txBox="1"/>
            <p:nvPr/>
          </p:nvSpPr>
          <p:spPr>
            <a:xfrm>
              <a:off x="561022" y="6578441"/>
              <a:ext cx="263928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04 OF 10 · WORKER NODE</a:t>
              </a:r>
            </a:p>
          </p:txBody>
        </p:sp>
        <p:sp>
          <p:nvSpPr>
            <p:cNvPr id="74" name="TextBox 74"/>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04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650"/>
                                        <p:tgtEl>
                                          <p:spTgt spid="43"/>
                                        </p:tgtEl>
                                      </p:cBhvr>
                                    </p:animEffect>
                                  </p:childTnLst>
                                </p:cTn>
                              </p:par>
                            </p:childTnLst>
                          </p:cTn>
                        </p:par>
                        <p:par>
                          <p:cTn id="8" fill="hold">
                            <p:stCondLst>
                              <p:cond delay="850"/>
                            </p:stCondLst>
                            <p:childTnLst>
                              <p:par>
                                <p:cTn id="9" presetID="10" presetClass="entr" presetSubtype="0"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450"/>
                                        <p:tgtEl>
                                          <p:spTgt spid="53"/>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450"/>
                                        <p:tgtEl>
                                          <p:spTgt spid="62"/>
                                        </p:tgtEl>
                                      </p:cBhvr>
                                    </p:animEffect>
                                  </p:childTnLst>
                                </p:cTn>
                              </p:par>
                            </p:childTnLst>
                          </p:cTn>
                        </p:par>
                        <p:par>
                          <p:cTn id="16" fill="hold">
                            <p:stCondLst>
                              <p:cond delay="2150"/>
                            </p:stCondLst>
                            <p:childTnLst>
                              <p:par>
                                <p:cTn id="17" presetID="10" presetClass="entr" presetSubtype="0"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45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53" grpId="0"/>
      <p:bldP spid="62" grpId="0"/>
      <p:bldP spid="7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6483953"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Pod Lifecycle: One Schedule, Many States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P05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4497324"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A POD IS SCHEDULED ONCE · FAILED PODS ARE REPLACED, NOT RESCHEDULED</a:t>
              </a:r>
            </a:p>
          </p:txBody>
        </p:sp>
      </p:grpSp>
      <p:grpSp>
        <p:nvGrpSpPr>
          <p:cNvPr id="52" name="Group 52"/>
          <p:cNvGrpSpPr/>
          <p:nvPr/>
        </p:nvGrpSpPr>
        <p:grpSpPr>
          <a:xfrm>
            <a:off x="571500" y="1815941"/>
            <a:ext cx="11049000" cy="1946434"/>
            <a:chOff x="571500" y="1815941"/>
            <a:chExt cx="11049000" cy="1946434"/>
          </a:xfrm>
        </p:grpSpPr>
        <p:sp>
          <p:nvSpPr>
            <p:cNvPr id="11" name="TextBox 11"/>
            <p:cNvSpPr txBox="1"/>
            <p:nvPr/>
          </p:nvSpPr>
          <p:spPr>
            <a:xfrm>
              <a:off x="942022" y="1815941"/>
              <a:ext cx="659035"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PHASE TRACK</a:t>
              </a:r>
            </a:p>
          </p:txBody>
        </p:sp>
        <p:sp>
          <p:nvSpPr>
            <p:cNvPr id="12" name="Line 12"/>
            <p:cNvSpPr/>
            <p:nvPr/>
          </p:nvSpPr>
          <p:spPr>
            <a:xfrm>
              <a:off x="571500" y="2047875"/>
              <a:ext cx="11049000" cy="9525"/>
            </a:xfrm>
            <a:custGeom>
              <a:avLst/>
              <a:gdLst/>
              <a:ahLst/>
              <a:cxnLst/>
              <a:rect l="l" t="t" r="r" b="b"/>
              <a:pathLst>
                <a:path w="11049000" h="9525">
                  <a:moveTo>
                    <a:pt x="0" y="0"/>
                  </a:moveTo>
                  <a:lnTo>
                    <a:pt x="11049000" y="0"/>
                  </a:lnTo>
                </a:path>
              </a:pathLst>
            </a:custGeom>
            <a:noFill/>
            <a:ln w="4762">
              <a:solidFill>
                <a:srgbClr val="2D4A6B"/>
              </a:solidFill>
              <a:custDash>
                <a:ds d="400000" sp="800000"/>
              </a:custDash>
            </a:ln>
          </p:spPr>
        </p:sp>
        <p:grpSp>
          <p:nvGrpSpPr>
            <p:cNvPr id="19" name="Group 19"/>
            <p:cNvGrpSpPr/>
            <p:nvPr/>
          </p:nvGrpSpPr>
          <p:grpSpPr>
            <a:xfrm>
              <a:off x="952500" y="2286000"/>
              <a:ext cx="1714500" cy="952500"/>
              <a:chOff x="952500" y="2286000"/>
              <a:chExt cx="1714500" cy="952500"/>
            </a:xfrm>
          </p:grpSpPr>
          <p:sp>
            <p:nvSpPr>
              <p:cNvPr id="13" name="Rectangle 13"/>
              <p:cNvSpPr/>
              <p:nvPr/>
            </p:nvSpPr>
            <p:spPr>
              <a:xfrm>
                <a:off x="952500" y="2286000"/>
                <a:ext cx="1714500" cy="952500"/>
              </a:xfrm>
              <a:prstGeom prst="rect">
                <a:avLst/>
              </a:prstGeom>
              <a:solidFill>
                <a:srgbClr val="0E2A47"/>
              </a:solidFill>
              <a:ln w="14288">
                <a:solidFill>
                  <a:srgbClr val="5BA3E0"/>
                </a:solidFill>
              </a:ln>
            </p:spPr>
          </p:sp>
          <p:sp>
            <p:nvSpPr>
              <p:cNvPr id="14" name="Rectangle 14"/>
              <p:cNvSpPr/>
              <p:nvPr/>
            </p:nvSpPr>
            <p:spPr>
              <a:xfrm>
                <a:off x="952500" y="2286000"/>
                <a:ext cx="1714500" cy="209550"/>
              </a:xfrm>
              <a:prstGeom prst="rect">
                <a:avLst/>
              </a:prstGeom>
              <a:solidFill>
                <a:srgbClr val="5BA3E0"/>
              </a:solidFill>
              <a:ln>
                <a:noFill/>
              </a:ln>
            </p:spPr>
          </p:sp>
          <p:sp>
            <p:nvSpPr>
              <p:cNvPr id="15" name="TextBox 15"/>
              <p:cNvSpPr txBox="1"/>
              <p:nvPr/>
            </p:nvSpPr>
            <p:spPr>
              <a:xfrm>
                <a:off x="1574019" y="2358866"/>
                <a:ext cx="471461"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PHASE 01</a:t>
                </a:r>
              </a:p>
            </p:txBody>
          </p:sp>
          <p:sp>
            <p:nvSpPr>
              <p:cNvPr id="16" name="TextBox 16"/>
              <p:cNvSpPr txBox="1"/>
              <p:nvPr/>
            </p:nvSpPr>
            <p:spPr>
              <a:xfrm>
                <a:off x="1492072" y="2604135"/>
                <a:ext cx="635356" cy="243840"/>
              </a:xfrm>
              <a:prstGeom prst="rect">
                <a:avLst/>
              </a:prstGeom>
              <a:noFill/>
              <a:ln>
                <a:noFill/>
              </a:ln>
            </p:spPr>
            <p:txBody>
              <a:bodyPr wrap="none" lIns="0" tIns="0" rIns="0" bIns="0" anchor="t" anchorCtr="0">
                <a:spAutoFit/>
              </a:bodyPr>
              <a:lstStyle/>
              <a:p>
                <a:pPr algn="ctr"/>
                <a:r>
                  <a:rPr lang="zh-CN" sz="1200" b="1" dirty="0">
                    <a:solidFill>
                      <a:srgbClr val="F0F4F8"/>
                    </a:solidFill>
                    <a:latin typeface="Consolas"/>
                    <a:ea typeface="Microsoft YaHei"/>
                    <a:cs typeface="Consolas"/>
                  </a:rPr>
                  <a:t>Pending</a:t>
                </a:r>
              </a:p>
            </p:txBody>
          </p:sp>
          <p:sp>
            <p:nvSpPr>
              <p:cNvPr id="17" name="TextBox 17"/>
              <p:cNvSpPr txBox="1"/>
              <p:nvPr/>
            </p:nvSpPr>
            <p:spPr>
              <a:xfrm>
                <a:off x="1524238" y="2844641"/>
                <a:ext cx="571024"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scheduling</a:t>
                </a:r>
              </a:p>
            </p:txBody>
          </p:sp>
          <p:sp>
            <p:nvSpPr>
              <p:cNvPr id="18" name="TextBox 18"/>
              <p:cNvSpPr txBox="1"/>
              <p:nvPr/>
            </p:nvSpPr>
            <p:spPr>
              <a:xfrm>
                <a:off x="1493984" y="2997041"/>
                <a:ext cx="631531"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image pull</a:t>
                </a:r>
              </a:p>
            </p:txBody>
          </p:sp>
        </p:grpSp>
        <p:sp>
          <p:nvSpPr>
            <p:cNvPr id="20" name="Line 20"/>
            <p:cNvSpPr/>
            <p:nvPr/>
          </p:nvSpPr>
          <p:spPr>
            <a:xfrm>
              <a:off x="2667000" y="2762250"/>
              <a:ext cx="857250" cy="1"/>
            </a:xfrm>
            <a:prstGeom prst="line">
              <a:avLst/>
            </a:prstGeom>
            <a:noFill/>
            <a:ln w="19050">
              <a:solidFill>
                <a:srgbClr val="5BA3E0"/>
              </a:solidFill>
              <a:tailEnd type="triangle" w="lg" len="lg"/>
            </a:ln>
          </p:spPr>
        </p:sp>
        <p:sp>
          <p:nvSpPr>
            <p:cNvPr id="21" name="TextBox 21"/>
            <p:cNvSpPr txBox="1"/>
            <p:nvPr/>
          </p:nvSpPr>
          <p:spPr>
            <a:xfrm>
              <a:off x="2898029" y="2575084"/>
              <a:ext cx="395192"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bind+pull</a:t>
              </a:r>
            </a:p>
          </p:txBody>
        </p:sp>
        <p:grpSp>
          <p:nvGrpSpPr>
            <p:cNvPr id="28" name="Group 28"/>
            <p:cNvGrpSpPr/>
            <p:nvPr/>
          </p:nvGrpSpPr>
          <p:grpSpPr>
            <a:xfrm>
              <a:off x="3619500" y="2286000"/>
              <a:ext cx="1905000" cy="952500"/>
              <a:chOff x="3619500" y="2286000"/>
              <a:chExt cx="1905000" cy="952500"/>
            </a:xfrm>
          </p:grpSpPr>
          <p:sp>
            <p:nvSpPr>
              <p:cNvPr id="22" name="Rectangle 22"/>
              <p:cNvSpPr/>
              <p:nvPr/>
            </p:nvSpPr>
            <p:spPr>
              <a:xfrm>
                <a:off x="3619500" y="2286000"/>
                <a:ext cx="1905000" cy="952500"/>
              </a:xfrm>
              <a:prstGeom prst="rect">
                <a:avLst/>
              </a:prstGeom>
              <a:solidFill>
                <a:srgbClr val="0E2A47"/>
              </a:solidFill>
              <a:ln w="19050">
                <a:solidFill>
                  <a:srgbClr val="FFB627"/>
                </a:solidFill>
              </a:ln>
            </p:spPr>
          </p:sp>
          <p:sp>
            <p:nvSpPr>
              <p:cNvPr id="23" name="Rectangle 23"/>
              <p:cNvSpPr/>
              <p:nvPr/>
            </p:nvSpPr>
            <p:spPr>
              <a:xfrm>
                <a:off x="3619500" y="2286000"/>
                <a:ext cx="1905000" cy="209550"/>
              </a:xfrm>
              <a:prstGeom prst="rect">
                <a:avLst/>
              </a:prstGeom>
              <a:solidFill>
                <a:srgbClr val="FFB627"/>
              </a:solidFill>
              <a:ln>
                <a:noFill/>
              </a:ln>
            </p:spPr>
          </p:sp>
          <p:sp>
            <p:nvSpPr>
              <p:cNvPr id="24" name="TextBox 24"/>
              <p:cNvSpPr txBox="1"/>
              <p:nvPr/>
            </p:nvSpPr>
            <p:spPr>
              <a:xfrm>
                <a:off x="4033044" y="2358866"/>
                <a:ext cx="1077912"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PHASE 02 · CURRENT</a:t>
                </a:r>
              </a:p>
            </p:txBody>
          </p:sp>
          <p:sp>
            <p:nvSpPr>
              <p:cNvPr id="25" name="TextBox 25"/>
              <p:cNvSpPr txBox="1"/>
              <p:nvPr/>
            </p:nvSpPr>
            <p:spPr>
              <a:xfrm>
                <a:off x="4254322" y="2604135"/>
                <a:ext cx="635356" cy="243840"/>
              </a:xfrm>
              <a:prstGeom prst="rect">
                <a:avLst/>
              </a:prstGeom>
              <a:noFill/>
              <a:ln>
                <a:noFill/>
              </a:ln>
            </p:spPr>
            <p:txBody>
              <a:bodyPr wrap="none" lIns="0" tIns="0" rIns="0" bIns="0" anchor="t" anchorCtr="0">
                <a:spAutoFit/>
              </a:bodyPr>
              <a:lstStyle/>
              <a:p>
                <a:pPr algn="ctr"/>
                <a:r>
                  <a:rPr lang="zh-CN" sz="1200" b="1" dirty="0">
                    <a:solidFill>
                      <a:srgbClr val="FFB627"/>
                    </a:solidFill>
                    <a:latin typeface="Consolas"/>
                    <a:ea typeface="Microsoft YaHei"/>
                    <a:cs typeface="Consolas"/>
                  </a:rPr>
                  <a:t>Running</a:t>
                </a:r>
              </a:p>
            </p:txBody>
          </p:sp>
          <p:sp>
            <p:nvSpPr>
              <p:cNvPr id="26" name="TextBox 26"/>
              <p:cNvSpPr txBox="1"/>
              <p:nvPr/>
            </p:nvSpPr>
            <p:spPr>
              <a:xfrm>
                <a:off x="4129719" y="2844641"/>
                <a:ext cx="884563"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≥1 container live</a:t>
                </a:r>
              </a:p>
            </p:txBody>
          </p:sp>
          <p:sp>
            <p:nvSpPr>
              <p:cNvPr id="27" name="TextBox 27"/>
              <p:cNvSpPr txBox="1"/>
              <p:nvPr/>
            </p:nvSpPr>
            <p:spPr>
              <a:xfrm>
                <a:off x="4195727" y="2997041"/>
                <a:ext cx="75254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probes active</a:t>
                </a:r>
              </a:p>
            </p:txBody>
          </p:sp>
        </p:grpSp>
        <p:sp>
          <p:nvSpPr>
            <p:cNvPr id="29" name="Line 29"/>
            <p:cNvSpPr/>
            <p:nvPr/>
          </p:nvSpPr>
          <p:spPr>
            <a:xfrm>
              <a:off x="5524500" y="2571750"/>
              <a:ext cx="1143000" cy="1"/>
            </a:xfrm>
            <a:prstGeom prst="line">
              <a:avLst/>
            </a:prstGeom>
            <a:noFill/>
            <a:ln w="19050">
              <a:solidFill>
                <a:srgbClr val="5BA3E0"/>
              </a:solidFill>
              <a:tailEnd type="triangle" w="lg" len="lg"/>
            </a:ln>
          </p:spPr>
        </p:sp>
        <p:sp>
          <p:nvSpPr>
            <p:cNvPr id="30" name="Line 30"/>
            <p:cNvSpPr/>
            <p:nvPr/>
          </p:nvSpPr>
          <p:spPr>
            <a:xfrm>
              <a:off x="5524500" y="2952750"/>
              <a:ext cx="1143000" cy="1"/>
            </a:xfrm>
            <a:prstGeom prst="line">
              <a:avLst/>
            </a:prstGeom>
            <a:noFill/>
            <a:ln w="19050">
              <a:solidFill>
                <a:srgbClr val="5BA3E0"/>
              </a:solidFill>
              <a:tailEnd type="triangle" w="lg" len="lg"/>
            </a:ln>
          </p:spPr>
        </p:sp>
        <p:sp>
          <p:nvSpPr>
            <p:cNvPr id="31" name="TextBox 31"/>
            <p:cNvSpPr txBox="1"/>
            <p:nvPr/>
          </p:nvSpPr>
          <p:spPr>
            <a:xfrm>
              <a:off x="5961412" y="2422684"/>
              <a:ext cx="269176" cy="137160"/>
            </a:xfrm>
            <a:prstGeom prst="rect">
              <a:avLst/>
            </a:prstGeom>
            <a:noFill/>
            <a:ln>
              <a:noFill/>
            </a:ln>
          </p:spPr>
          <p:txBody>
            <a:bodyPr wrap="none" lIns="0" tIns="0" rIns="0" bIns="0" anchor="t" anchorCtr="0">
              <a:spAutoFit/>
            </a:bodyPr>
            <a:lstStyle/>
            <a:p>
              <a:pPr algn="ctr"/>
              <a:r>
                <a:rPr lang="zh-CN" sz="675" dirty="0">
                  <a:solidFill>
                    <a:srgbClr val="7FD99F"/>
                  </a:solidFill>
                  <a:latin typeface="Consolas"/>
                  <a:ea typeface="Microsoft YaHei"/>
                  <a:cs typeface="Consolas"/>
                </a:rPr>
                <a:t>exit 0</a:t>
              </a:r>
            </a:p>
          </p:txBody>
        </p:sp>
        <p:sp>
          <p:nvSpPr>
            <p:cNvPr id="32" name="TextBox 32"/>
            <p:cNvSpPr txBox="1"/>
            <p:nvPr/>
          </p:nvSpPr>
          <p:spPr>
            <a:xfrm>
              <a:off x="5923157" y="3051334"/>
              <a:ext cx="345686" cy="137160"/>
            </a:xfrm>
            <a:prstGeom prst="rect">
              <a:avLst/>
            </a:prstGeom>
            <a:noFill/>
            <a:ln>
              <a:noFill/>
            </a:ln>
          </p:spPr>
          <p:txBody>
            <a:bodyPr wrap="none" lIns="0" tIns="0" rIns="0" bIns="0" anchor="t" anchorCtr="0">
              <a:spAutoFit/>
            </a:bodyPr>
            <a:lstStyle/>
            <a:p>
              <a:pPr algn="ctr"/>
              <a:r>
                <a:rPr lang="zh-CN" sz="675" dirty="0">
                  <a:solidFill>
                    <a:srgbClr val="FF6B6B"/>
                  </a:solidFill>
                  <a:latin typeface="Consolas"/>
                  <a:ea typeface="Microsoft YaHei"/>
                  <a:cs typeface="Consolas"/>
                </a:rPr>
                <a:t>exit ≠ 0</a:t>
              </a:r>
            </a:p>
          </p:txBody>
        </p:sp>
        <p:grpSp>
          <p:nvGrpSpPr>
            <p:cNvPr id="37" name="Group 37"/>
            <p:cNvGrpSpPr/>
            <p:nvPr/>
          </p:nvGrpSpPr>
          <p:grpSpPr>
            <a:xfrm>
              <a:off x="6762750" y="2095500"/>
              <a:ext cx="1714500" cy="571500"/>
              <a:chOff x="6762750" y="2095500"/>
              <a:chExt cx="1714500" cy="571500"/>
            </a:xfrm>
          </p:grpSpPr>
          <p:sp>
            <p:nvSpPr>
              <p:cNvPr id="33" name="Rectangle 33"/>
              <p:cNvSpPr/>
              <p:nvPr/>
            </p:nvSpPr>
            <p:spPr>
              <a:xfrm>
                <a:off x="6762750" y="2095500"/>
                <a:ext cx="1714500" cy="571500"/>
              </a:xfrm>
              <a:prstGeom prst="rect">
                <a:avLst/>
              </a:prstGeom>
              <a:solidFill>
                <a:srgbClr val="0E2A47"/>
              </a:solidFill>
              <a:ln w="14288">
                <a:solidFill>
                  <a:srgbClr val="7FD99F"/>
                </a:solidFill>
              </a:ln>
            </p:spPr>
          </p:sp>
          <p:sp>
            <p:nvSpPr>
              <p:cNvPr id="34" name="Rectangle 34"/>
              <p:cNvSpPr/>
              <p:nvPr/>
            </p:nvSpPr>
            <p:spPr>
              <a:xfrm>
                <a:off x="6762750" y="2095500"/>
                <a:ext cx="1714500" cy="190500"/>
              </a:xfrm>
              <a:prstGeom prst="rect">
                <a:avLst/>
              </a:prstGeom>
              <a:solidFill>
                <a:srgbClr val="7FD99F"/>
              </a:solidFill>
              <a:ln>
                <a:noFill/>
              </a:ln>
            </p:spPr>
          </p:sp>
          <p:sp>
            <p:nvSpPr>
              <p:cNvPr id="35" name="TextBox 35"/>
              <p:cNvSpPr txBox="1"/>
              <p:nvPr/>
            </p:nvSpPr>
            <p:spPr>
              <a:xfrm>
                <a:off x="7337441" y="2147888"/>
                <a:ext cx="565118" cy="152400"/>
              </a:xfrm>
              <a:prstGeom prst="rect">
                <a:avLst/>
              </a:prstGeom>
              <a:noFill/>
              <a:ln>
                <a:noFill/>
              </a:ln>
            </p:spPr>
            <p:txBody>
              <a:bodyPr wrap="none" lIns="0" tIns="0" rIns="0" bIns="0" anchor="t" anchorCtr="0">
                <a:spAutoFit/>
              </a:bodyPr>
              <a:lstStyle/>
              <a:p>
                <a:pPr algn="ctr"/>
                <a:r>
                  <a:rPr lang="zh-CN" sz="750" b="1" dirty="0">
                    <a:solidFill>
                      <a:srgbClr val="0E2A47"/>
                    </a:solidFill>
                    <a:latin typeface="Consolas"/>
                    <a:ea typeface="Microsoft YaHei"/>
                    <a:cs typeface="Consolas"/>
                  </a:rPr>
                  <a:t>TERMINAL ✓</a:t>
                </a:r>
              </a:p>
            </p:txBody>
          </p:sp>
          <p:sp>
            <p:nvSpPr>
              <p:cNvPr id="36" name="TextBox 36"/>
              <p:cNvSpPr txBox="1"/>
              <p:nvPr/>
            </p:nvSpPr>
            <p:spPr>
              <a:xfrm>
                <a:off x="7215851" y="2374106"/>
                <a:ext cx="808297" cy="228600"/>
              </a:xfrm>
              <a:prstGeom prst="rect">
                <a:avLst/>
              </a:prstGeom>
              <a:noFill/>
              <a:ln>
                <a:noFill/>
              </a:ln>
            </p:spPr>
            <p:txBody>
              <a:bodyPr wrap="none" lIns="0" tIns="0" rIns="0" bIns="0" anchor="t" anchorCtr="0">
                <a:spAutoFit/>
              </a:bodyPr>
              <a:lstStyle/>
              <a:p>
                <a:pPr algn="ctr"/>
                <a:r>
                  <a:rPr lang="zh-CN" sz="1125" b="1" dirty="0">
                    <a:solidFill>
                      <a:srgbClr val="7FD99F"/>
                    </a:solidFill>
                    <a:latin typeface="Consolas"/>
                    <a:ea typeface="Microsoft YaHei"/>
                    <a:cs typeface="Consolas"/>
                  </a:rPr>
                  <a:t>Succeeded</a:t>
                </a:r>
              </a:p>
            </p:txBody>
          </p:sp>
        </p:grpSp>
        <p:grpSp>
          <p:nvGrpSpPr>
            <p:cNvPr id="42" name="Group 42"/>
            <p:cNvGrpSpPr/>
            <p:nvPr/>
          </p:nvGrpSpPr>
          <p:grpSpPr>
            <a:xfrm>
              <a:off x="6762750" y="2857500"/>
              <a:ext cx="1714500" cy="571500"/>
              <a:chOff x="6762750" y="2857500"/>
              <a:chExt cx="1714500" cy="571500"/>
            </a:xfrm>
          </p:grpSpPr>
          <p:sp>
            <p:nvSpPr>
              <p:cNvPr id="38" name="Rectangle 38"/>
              <p:cNvSpPr/>
              <p:nvPr/>
            </p:nvSpPr>
            <p:spPr>
              <a:xfrm>
                <a:off x="6762750" y="2857500"/>
                <a:ext cx="1714500" cy="571500"/>
              </a:xfrm>
              <a:prstGeom prst="rect">
                <a:avLst/>
              </a:prstGeom>
              <a:solidFill>
                <a:srgbClr val="0E2A47"/>
              </a:solidFill>
              <a:ln w="14288">
                <a:solidFill>
                  <a:srgbClr val="FF6B6B"/>
                </a:solidFill>
              </a:ln>
            </p:spPr>
          </p:sp>
          <p:sp>
            <p:nvSpPr>
              <p:cNvPr id="39" name="Rectangle 39"/>
              <p:cNvSpPr/>
              <p:nvPr/>
            </p:nvSpPr>
            <p:spPr>
              <a:xfrm>
                <a:off x="6762750" y="2857500"/>
                <a:ext cx="1714500" cy="190500"/>
              </a:xfrm>
              <a:prstGeom prst="rect">
                <a:avLst/>
              </a:prstGeom>
              <a:solidFill>
                <a:srgbClr val="FF6B6B"/>
              </a:solidFill>
              <a:ln>
                <a:noFill/>
              </a:ln>
            </p:spPr>
          </p:sp>
          <p:sp>
            <p:nvSpPr>
              <p:cNvPr id="40" name="TextBox 40"/>
              <p:cNvSpPr txBox="1"/>
              <p:nvPr/>
            </p:nvSpPr>
            <p:spPr>
              <a:xfrm>
                <a:off x="7337441" y="2909888"/>
                <a:ext cx="565118" cy="152400"/>
              </a:xfrm>
              <a:prstGeom prst="rect">
                <a:avLst/>
              </a:prstGeom>
              <a:noFill/>
              <a:ln>
                <a:noFill/>
              </a:ln>
            </p:spPr>
            <p:txBody>
              <a:bodyPr wrap="none" lIns="0" tIns="0" rIns="0" bIns="0" anchor="t" anchorCtr="0">
                <a:spAutoFit/>
              </a:bodyPr>
              <a:lstStyle/>
              <a:p>
                <a:pPr algn="ctr"/>
                <a:r>
                  <a:rPr lang="zh-CN" sz="750" b="1" dirty="0">
                    <a:solidFill>
                      <a:srgbClr val="0E2A47"/>
                    </a:solidFill>
                    <a:latin typeface="Consolas"/>
                    <a:ea typeface="Microsoft YaHei"/>
                    <a:cs typeface="Consolas"/>
                  </a:rPr>
                  <a:t>TERMINAL ✗</a:t>
                </a:r>
              </a:p>
            </p:txBody>
          </p:sp>
          <p:sp>
            <p:nvSpPr>
              <p:cNvPr id="41" name="TextBox 41"/>
              <p:cNvSpPr txBox="1"/>
              <p:nvPr/>
            </p:nvSpPr>
            <p:spPr>
              <a:xfrm>
                <a:off x="7385185" y="3136106"/>
                <a:ext cx="469630" cy="228600"/>
              </a:xfrm>
              <a:prstGeom prst="rect">
                <a:avLst/>
              </a:prstGeom>
              <a:noFill/>
              <a:ln>
                <a:noFill/>
              </a:ln>
            </p:spPr>
            <p:txBody>
              <a:bodyPr wrap="none" lIns="0" tIns="0" rIns="0" bIns="0" anchor="t" anchorCtr="0">
                <a:spAutoFit/>
              </a:bodyPr>
              <a:lstStyle/>
              <a:p>
                <a:pPr algn="ctr"/>
                <a:r>
                  <a:rPr lang="zh-CN" sz="1125" b="1" dirty="0">
                    <a:solidFill>
                      <a:srgbClr val="FF6B6B"/>
                    </a:solidFill>
                    <a:latin typeface="Consolas"/>
                    <a:ea typeface="Microsoft YaHei"/>
                    <a:cs typeface="Consolas"/>
                  </a:rPr>
                  <a:t>Failed</a:t>
                </a:r>
              </a:p>
            </p:txBody>
          </p:sp>
        </p:grpSp>
        <p:sp>
          <p:nvSpPr>
            <p:cNvPr id="43" name="Line 43"/>
            <p:cNvSpPr/>
            <p:nvPr/>
          </p:nvSpPr>
          <p:spPr>
            <a:xfrm>
              <a:off x="4572000" y="3238500"/>
              <a:ext cx="1" cy="523875"/>
            </a:xfrm>
            <a:prstGeom prst="line">
              <a:avLst/>
            </a:prstGeom>
            <a:noFill/>
            <a:ln w="14288">
              <a:solidFill>
                <a:srgbClr val="FF6B6B"/>
              </a:solidFill>
              <a:custDash>
                <a:ds d="266666" sp="200000"/>
              </a:custDash>
              <a:tailEnd type="triangle" w="lg" len="lg"/>
            </a:ln>
          </p:spPr>
        </p:sp>
        <p:grpSp>
          <p:nvGrpSpPr>
            <p:cNvPr id="50" name="Group 50"/>
            <p:cNvGrpSpPr/>
            <p:nvPr/>
          </p:nvGrpSpPr>
          <p:grpSpPr>
            <a:xfrm>
              <a:off x="9048750" y="2286000"/>
              <a:ext cx="2095500" cy="952500"/>
              <a:chOff x="9048750" y="2286000"/>
              <a:chExt cx="2095500" cy="952500"/>
            </a:xfrm>
          </p:grpSpPr>
          <p:sp>
            <p:nvSpPr>
              <p:cNvPr id="44" name="Rectangle 44"/>
              <p:cNvSpPr/>
              <p:nvPr/>
            </p:nvSpPr>
            <p:spPr>
              <a:xfrm>
                <a:off x="9048750" y="2286000"/>
                <a:ext cx="2095500" cy="952500"/>
              </a:xfrm>
              <a:prstGeom prst="rect">
                <a:avLst/>
              </a:prstGeom>
              <a:solidFill>
                <a:srgbClr val="0E2A47"/>
              </a:solidFill>
              <a:ln w="12382">
                <a:solidFill>
                  <a:srgbClr val="3E7AB8"/>
                </a:solidFill>
                <a:custDash>
                  <a:ds d="384615" sp="230769"/>
                </a:custDash>
              </a:ln>
            </p:spPr>
          </p:sp>
          <p:sp>
            <p:nvSpPr>
              <p:cNvPr id="45" name="Rectangle 45"/>
              <p:cNvSpPr/>
              <p:nvPr/>
            </p:nvSpPr>
            <p:spPr>
              <a:xfrm>
                <a:off x="9048750" y="2286000"/>
                <a:ext cx="2095500" cy="209550"/>
              </a:xfrm>
              <a:prstGeom prst="rect">
                <a:avLst/>
              </a:prstGeom>
              <a:solidFill>
                <a:srgbClr val="3E7AB8"/>
              </a:solidFill>
              <a:ln>
                <a:noFill/>
              </a:ln>
            </p:spPr>
          </p:sp>
          <p:sp>
            <p:nvSpPr>
              <p:cNvPr id="46" name="TextBox 46"/>
              <p:cNvSpPr txBox="1"/>
              <p:nvPr/>
            </p:nvSpPr>
            <p:spPr>
              <a:xfrm>
                <a:off x="9323627" y="2358866"/>
                <a:ext cx="1545746"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BRANCH · NODE UNREACHABLE</a:t>
                </a:r>
              </a:p>
            </p:txBody>
          </p:sp>
          <p:sp>
            <p:nvSpPr>
              <p:cNvPr id="47" name="TextBox 47"/>
              <p:cNvSpPr txBox="1"/>
              <p:nvPr/>
            </p:nvSpPr>
            <p:spPr>
              <a:xfrm>
                <a:off x="9763235" y="2612231"/>
                <a:ext cx="666530" cy="228600"/>
              </a:xfrm>
              <a:prstGeom prst="rect">
                <a:avLst/>
              </a:prstGeom>
              <a:noFill/>
              <a:ln>
                <a:noFill/>
              </a:ln>
            </p:spPr>
            <p:txBody>
              <a:bodyPr wrap="none" lIns="0" tIns="0" rIns="0" bIns="0" anchor="t" anchorCtr="0">
                <a:spAutoFit/>
              </a:bodyPr>
              <a:lstStyle/>
              <a:p>
                <a:pPr algn="ctr"/>
                <a:r>
                  <a:rPr lang="zh-CN" sz="1125" b="1" dirty="0">
                    <a:solidFill>
                      <a:srgbClr val="A0B8D0"/>
                    </a:solidFill>
                    <a:latin typeface="Consolas"/>
                    <a:ea typeface="Microsoft YaHei"/>
                    <a:cs typeface="Consolas"/>
                  </a:rPr>
                  <a:t>Unknown</a:t>
                </a:r>
              </a:p>
            </p:txBody>
          </p:sp>
          <p:sp>
            <p:nvSpPr>
              <p:cNvPr id="48" name="TextBox 48"/>
              <p:cNvSpPr txBox="1"/>
              <p:nvPr/>
            </p:nvSpPr>
            <p:spPr>
              <a:xfrm>
                <a:off x="9475446" y="2844641"/>
                <a:ext cx="12421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apiserver lost contact</a:t>
                </a:r>
              </a:p>
            </p:txBody>
          </p:sp>
          <p:sp>
            <p:nvSpPr>
              <p:cNvPr id="49" name="TextBox 49"/>
              <p:cNvSpPr txBox="1"/>
              <p:nvPr/>
            </p:nvSpPr>
            <p:spPr>
              <a:xfrm>
                <a:off x="9722977" y="2997041"/>
                <a:ext cx="74704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with the node</a:t>
                </a:r>
              </a:p>
            </p:txBody>
          </p:sp>
        </p:grpSp>
        <p:sp>
          <p:nvSpPr>
            <p:cNvPr id="51" name="Freeform 51"/>
            <p:cNvSpPr/>
            <p:nvPr/>
          </p:nvSpPr>
          <p:spPr>
            <a:xfrm>
              <a:off x="5524500" y="1873250"/>
              <a:ext cx="3524250" cy="412750"/>
            </a:xfrm>
            <a:custGeom>
              <a:avLst/>
              <a:gdLst/>
              <a:ahLst/>
              <a:cxnLst/>
              <a:rect l="l" t="t" r="r" b="b"/>
              <a:pathLst>
                <a:path w="3524250" h="412750">
                  <a:moveTo>
                    <a:pt x="0" y="412750"/>
                  </a:moveTo>
                  <a:cubicBezTo>
                    <a:pt x="1174750" y="0"/>
                    <a:pt x="2349500" y="0"/>
                    <a:pt x="3524250" y="412750"/>
                  </a:cubicBezTo>
                </a:path>
              </a:pathLst>
            </a:custGeom>
            <a:noFill/>
            <a:ln w="14288">
              <a:solidFill>
                <a:srgbClr val="3E7AB8"/>
              </a:solidFill>
              <a:custDash>
                <a:ds d="200000" sp="266666"/>
              </a:custDash>
              <a:tailEnd type="triangle" w="lg" len="lg"/>
            </a:ln>
          </p:spPr>
        </p:sp>
      </p:grpSp>
      <p:grpSp>
        <p:nvGrpSpPr>
          <p:cNvPr id="82" name="Group 82"/>
          <p:cNvGrpSpPr/>
          <p:nvPr/>
        </p:nvGrpSpPr>
        <p:grpSpPr>
          <a:xfrm>
            <a:off x="571500" y="3952875"/>
            <a:ext cx="11049000" cy="1147763"/>
            <a:chOff x="571500" y="3952875"/>
            <a:chExt cx="11049000" cy="1147763"/>
          </a:xfrm>
        </p:grpSpPr>
        <p:sp>
          <p:nvSpPr>
            <p:cNvPr id="53" name="TextBox 53"/>
            <p:cNvSpPr txBox="1"/>
            <p:nvPr/>
          </p:nvSpPr>
          <p:spPr>
            <a:xfrm>
              <a:off x="942022" y="3959066"/>
              <a:ext cx="125861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CONTAINER-STATE TRACK</a:t>
              </a:r>
            </a:p>
          </p:txBody>
        </p:sp>
        <p:sp>
          <p:nvSpPr>
            <p:cNvPr id="54" name="Line 54"/>
            <p:cNvSpPr/>
            <p:nvPr/>
          </p:nvSpPr>
          <p:spPr>
            <a:xfrm>
              <a:off x="571500" y="4191000"/>
              <a:ext cx="11049000" cy="9525"/>
            </a:xfrm>
            <a:custGeom>
              <a:avLst/>
              <a:gdLst/>
              <a:ahLst/>
              <a:cxnLst/>
              <a:rect l="l" t="t" r="r" b="b"/>
              <a:pathLst>
                <a:path w="11049000" h="9525">
                  <a:moveTo>
                    <a:pt x="0" y="0"/>
                  </a:moveTo>
                  <a:lnTo>
                    <a:pt x="11049000" y="0"/>
                  </a:lnTo>
                </a:path>
              </a:pathLst>
            </a:custGeom>
            <a:noFill/>
            <a:ln w="4762">
              <a:solidFill>
                <a:srgbClr val="2D4A6B"/>
              </a:solidFill>
              <a:custDash>
                <a:ds d="400000" sp="800000"/>
              </a:custDash>
            </a:ln>
          </p:spPr>
        </p:sp>
        <p:grpSp>
          <p:nvGrpSpPr>
            <p:cNvPr id="60" name="Group 60"/>
            <p:cNvGrpSpPr/>
            <p:nvPr/>
          </p:nvGrpSpPr>
          <p:grpSpPr>
            <a:xfrm>
              <a:off x="952500" y="4381500"/>
              <a:ext cx="2667000" cy="688181"/>
              <a:chOff x="952500" y="4381500"/>
              <a:chExt cx="2667000" cy="688181"/>
            </a:xfrm>
          </p:grpSpPr>
          <p:sp>
            <p:nvSpPr>
              <p:cNvPr id="55" name="Rectangle 55"/>
              <p:cNvSpPr/>
              <p:nvPr/>
            </p:nvSpPr>
            <p:spPr>
              <a:xfrm>
                <a:off x="952500" y="4381500"/>
                <a:ext cx="2667000" cy="666750"/>
              </a:xfrm>
              <a:prstGeom prst="rect">
                <a:avLst/>
              </a:prstGeom>
              <a:solidFill>
                <a:srgbClr val="0E2A47"/>
              </a:solidFill>
              <a:ln w="11430">
                <a:solidFill>
                  <a:srgbClr val="5BA3E0"/>
                </a:solidFill>
              </a:ln>
            </p:spPr>
          </p:sp>
          <p:sp>
            <p:nvSpPr>
              <p:cNvPr id="56" name="Line 56"/>
              <p:cNvSpPr/>
              <p:nvPr/>
            </p:nvSpPr>
            <p:spPr>
              <a:xfrm>
                <a:off x="952500" y="4667250"/>
                <a:ext cx="2667000" cy="9525"/>
              </a:xfrm>
              <a:custGeom>
                <a:avLst/>
                <a:gdLst/>
                <a:ahLst/>
                <a:cxnLst/>
                <a:rect l="l" t="t" r="r" b="b"/>
                <a:pathLst>
                  <a:path w="2667000" h="9525">
                    <a:moveTo>
                      <a:pt x="0" y="0"/>
                    </a:moveTo>
                    <a:lnTo>
                      <a:pt x="2667000" y="0"/>
                    </a:lnTo>
                  </a:path>
                </a:pathLst>
              </a:custGeom>
              <a:noFill/>
              <a:ln w="5715">
                <a:solidFill>
                  <a:srgbClr val="5BA3E0"/>
                </a:solidFill>
              </a:ln>
            </p:spPr>
          </p:sp>
          <p:sp>
            <p:nvSpPr>
              <p:cNvPr id="57" name="TextBox 57"/>
              <p:cNvSpPr txBox="1"/>
              <p:nvPr/>
            </p:nvSpPr>
            <p:spPr>
              <a:xfrm>
                <a:off x="1092518" y="4485799"/>
                <a:ext cx="509401" cy="198120"/>
              </a:xfrm>
              <a:prstGeom prst="rect">
                <a:avLst/>
              </a:prstGeom>
              <a:noFill/>
              <a:ln>
                <a:noFill/>
              </a:ln>
            </p:spPr>
            <p:txBody>
              <a:bodyPr wrap="none" lIns="0" tIns="0" rIns="0" bIns="0" anchor="t" anchorCtr="0">
                <a:spAutoFit/>
              </a:bodyPr>
              <a:lstStyle/>
              <a:p>
                <a:pPr algn="l"/>
                <a:r>
                  <a:rPr lang="zh-CN" sz="975" b="1" dirty="0">
                    <a:solidFill>
                      <a:srgbClr val="5BA3E0"/>
                    </a:solidFill>
                    <a:latin typeface="Consolas"/>
                    <a:ea typeface="Microsoft YaHei"/>
                    <a:cs typeface="Consolas"/>
                  </a:rPr>
                  <a:t>Waiting</a:t>
                </a:r>
              </a:p>
            </p:txBody>
          </p:sp>
          <p:sp>
            <p:nvSpPr>
              <p:cNvPr id="58" name="TextBox 58"/>
              <p:cNvSpPr txBox="1"/>
              <p:nvPr/>
            </p:nvSpPr>
            <p:spPr>
              <a:xfrm>
                <a:off x="1094422" y="4768691"/>
                <a:ext cx="170416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pulling image · applying secrets</a:t>
                </a:r>
              </a:p>
            </p:txBody>
          </p:sp>
          <p:sp>
            <p:nvSpPr>
              <p:cNvPr id="59" name="TextBox 59"/>
              <p:cNvSpPr txBox="1"/>
              <p:nvPr/>
            </p:nvSpPr>
            <p:spPr>
              <a:xfrm>
                <a:off x="1094422" y="4902041"/>
                <a:ext cx="124210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resolving dependencies</a:t>
                </a:r>
              </a:p>
            </p:txBody>
          </p:sp>
        </p:grpSp>
        <p:grpSp>
          <p:nvGrpSpPr>
            <p:cNvPr id="66" name="Group 66"/>
            <p:cNvGrpSpPr/>
            <p:nvPr/>
          </p:nvGrpSpPr>
          <p:grpSpPr>
            <a:xfrm>
              <a:off x="3810000" y="4381500"/>
              <a:ext cx="2667000" cy="688181"/>
              <a:chOff x="3810000" y="4381500"/>
              <a:chExt cx="2667000" cy="688181"/>
            </a:xfrm>
          </p:grpSpPr>
          <p:sp>
            <p:nvSpPr>
              <p:cNvPr id="61" name="Rectangle 61"/>
              <p:cNvSpPr/>
              <p:nvPr/>
            </p:nvSpPr>
            <p:spPr>
              <a:xfrm>
                <a:off x="3810000" y="4381500"/>
                <a:ext cx="2667000" cy="666750"/>
              </a:xfrm>
              <a:prstGeom prst="rect">
                <a:avLst/>
              </a:prstGeom>
              <a:solidFill>
                <a:srgbClr val="0E2A47"/>
              </a:solidFill>
              <a:ln w="14288">
                <a:solidFill>
                  <a:srgbClr val="FFB627"/>
                </a:solidFill>
              </a:ln>
            </p:spPr>
          </p:sp>
          <p:sp>
            <p:nvSpPr>
              <p:cNvPr id="62" name="Line 62"/>
              <p:cNvSpPr/>
              <p:nvPr/>
            </p:nvSpPr>
            <p:spPr>
              <a:xfrm>
                <a:off x="3810000" y="4667250"/>
                <a:ext cx="2667000" cy="9525"/>
              </a:xfrm>
              <a:custGeom>
                <a:avLst/>
                <a:gdLst/>
                <a:ahLst/>
                <a:cxnLst/>
                <a:rect l="l" t="t" r="r" b="b"/>
                <a:pathLst>
                  <a:path w="2667000" h="9525">
                    <a:moveTo>
                      <a:pt x="0" y="0"/>
                    </a:moveTo>
                    <a:lnTo>
                      <a:pt x="2667000" y="0"/>
                    </a:lnTo>
                  </a:path>
                </a:pathLst>
              </a:custGeom>
              <a:noFill/>
              <a:ln w="5715">
                <a:solidFill>
                  <a:srgbClr val="FFB627"/>
                </a:solidFill>
              </a:ln>
            </p:spPr>
          </p:sp>
          <p:sp>
            <p:nvSpPr>
              <p:cNvPr id="63" name="TextBox 63"/>
              <p:cNvSpPr txBox="1"/>
              <p:nvPr/>
            </p:nvSpPr>
            <p:spPr>
              <a:xfrm>
                <a:off x="3950018" y="4485799"/>
                <a:ext cx="516226" cy="198120"/>
              </a:xfrm>
              <a:prstGeom prst="rect">
                <a:avLst/>
              </a:prstGeom>
              <a:noFill/>
              <a:ln>
                <a:noFill/>
              </a:ln>
            </p:spPr>
            <p:txBody>
              <a:bodyPr wrap="none" lIns="0" tIns="0" rIns="0" bIns="0" anchor="t" anchorCtr="0">
                <a:spAutoFit/>
              </a:bodyPr>
              <a:lstStyle/>
              <a:p>
                <a:pPr algn="l"/>
                <a:r>
                  <a:rPr lang="zh-CN" sz="975" b="1" dirty="0">
                    <a:solidFill>
                      <a:srgbClr val="FFB627"/>
                    </a:solidFill>
                    <a:latin typeface="Consolas"/>
                    <a:ea typeface="Microsoft YaHei"/>
                    <a:cs typeface="Consolas"/>
                  </a:rPr>
                  <a:t>Running</a:t>
                </a:r>
              </a:p>
            </p:txBody>
          </p:sp>
          <p:sp>
            <p:nvSpPr>
              <p:cNvPr id="64" name="TextBox 64"/>
              <p:cNvSpPr txBox="1"/>
              <p:nvPr/>
            </p:nvSpPr>
            <p:spPr>
              <a:xfrm>
                <a:off x="3951922" y="4768691"/>
                <a:ext cx="1242108"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executing successfully</a:t>
                </a:r>
              </a:p>
            </p:txBody>
          </p:sp>
          <p:sp>
            <p:nvSpPr>
              <p:cNvPr id="65" name="TextBox 65"/>
              <p:cNvSpPr txBox="1"/>
              <p:nvPr/>
            </p:nvSpPr>
            <p:spPr>
              <a:xfrm>
                <a:off x="3951922" y="4902041"/>
                <a:ext cx="84055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.startedAt set</a:t>
                </a:r>
              </a:p>
            </p:txBody>
          </p:sp>
        </p:grpSp>
        <p:grpSp>
          <p:nvGrpSpPr>
            <p:cNvPr id="72" name="Group 72"/>
            <p:cNvGrpSpPr/>
            <p:nvPr/>
          </p:nvGrpSpPr>
          <p:grpSpPr>
            <a:xfrm>
              <a:off x="6667500" y="4381500"/>
              <a:ext cx="2667000" cy="688181"/>
              <a:chOff x="6667500" y="4381500"/>
              <a:chExt cx="2667000" cy="688181"/>
            </a:xfrm>
          </p:grpSpPr>
          <p:sp>
            <p:nvSpPr>
              <p:cNvPr id="67" name="Rectangle 67"/>
              <p:cNvSpPr/>
              <p:nvPr/>
            </p:nvSpPr>
            <p:spPr>
              <a:xfrm>
                <a:off x="6667500" y="4381500"/>
                <a:ext cx="2667000" cy="666750"/>
              </a:xfrm>
              <a:prstGeom prst="rect">
                <a:avLst/>
              </a:prstGeom>
              <a:solidFill>
                <a:srgbClr val="0E2A47"/>
              </a:solidFill>
              <a:ln w="11430">
                <a:solidFill>
                  <a:srgbClr val="3E7AB8"/>
                </a:solidFill>
              </a:ln>
            </p:spPr>
          </p:sp>
          <p:sp>
            <p:nvSpPr>
              <p:cNvPr id="68" name="Line 68"/>
              <p:cNvSpPr/>
              <p:nvPr/>
            </p:nvSpPr>
            <p:spPr>
              <a:xfrm>
                <a:off x="6667500" y="4667250"/>
                <a:ext cx="2667000" cy="9525"/>
              </a:xfrm>
              <a:custGeom>
                <a:avLst/>
                <a:gdLst/>
                <a:ahLst/>
                <a:cxnLst/>
                <a:rect l="l" t="t" r="r" b="b"/>
                <a:pathLst>
                  <a:path w="2667000" h="9525">
                    <a:moveTo>
                      <a:pt x="0" y="0"/>
                    </a:moveTo>
                    <a:lnTo>
                      <a:pt x="2667000" y="0"/>
                    </a:lnTo>
                  </a:path>
                </a:pathLst>
              </a:custGeom>
              <a:noFill/>
              <a:ln w="5715">
                <a:solidFill>
                  <a:srgbClr val="3E7AB8"/>
                </a:solidFill>
              </a:ln>
            </p:spPr>
          </p:sp>
          <p:sp>
            <p:nvSpPr>
              <p:cNvPr id="69" name="TextBox 69"/>
              <p:cNvSpPr txBox="1"/>
              <p:nvPr/>
            </p:nvSpPr>
            <p:spPr>
              <a:xfrm>
                <a:off x="6807518" y="4485799"/>
                <a:ext cx="768783" cy="198120"/>
              </a:xfrm>
              <a:prstGeom prst="rect">
                <a:avLst/>
              </a:prstGeom>
              <a:noFill/>
              <a:ln>
                <a:noFill/>
              </a:ln>
            </p:spPr>
            <p:txBody>
              <a:bodyPr wrap="none" lIns="0" tIns="0" rIns="0" bIns="0" anchor="t" anchorCtr="0">
                <a:spAutoFit/>
              </a:bodyPr>
              <a:lstStyle/>
              <a:p>
                <a:pPr algn="l"/>
                <a:r>
                  <a:rPr lang="zh-CN" sz="975" b="1" dirty="0">
                    <a:solidFill>
                      <a:srgbClr val="A0B8D0"/>
                    </a:solidFill>
                    <a:latin typeface="Consolas"/>
                    <a:ea typeface="Microsoft YaHei"/>
                    <a:cs typeface="Consolas"/>
                  </a:rPr>
                  <a:t>Terminated</a:t>
                </a:r>
              </a:p>
            </p:txBody>
          </p:sp>
          <p:sp>
            <p:nvSpPr>
              <p:cNvPr id="70" name="TextBox 70"/>
              <p:cNvSpPr txBox="1"/>
              <p:nvPr/>
            </p:nvSpPr>
            <p:spPr>
              <a:xfrm>
                <a:off x="6809422" y="4768691"/>
                <a:ext cx="158315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exit status · signal recorded</a:t>
                </a:r>
              </a:p>
            </p:txBody>
          </p:sp>
          <p:sp>
            <p:nvSpPr>
              <p:cNvPr id="71" name="TextBox 71"/>
              <p:cNvSpPr txBox="1"/>
              <p:nvPr/>
            </p:nvSpPr>
            <p:spPr>
              <a:xfrm>
                <a:off x="6809422" y="4902041"/>
                <a:ext cx="136312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.startedAt · .finishedAt</a:t>
                </a:r>
              </a:p>
            </p:txBody>
          </p:sp>
        </p:grpSp>
        <p:sp>
          <p:nvSpPr>
            <p:cNvPr id="73" name="Line 73"/>
            <p:cNvSpPr/>
            <p:nvPr/>
          </p:nvSpPr>
          <p:spPr>
            <a:xfrm>
              <a:off x="3619500" y="4714875"/>
              <a:ext cx="190500" cy="1"/>
            </a:xfrm>
            <a:prstGeom prst="line">
              <a:avLst/>
            </a:prstGeom>
            <a:noFill/>
            <a:ln w="14288">
              <a:solidFill>
                <a:srgbClr val="5BA3E0"/>
              </a:solidFill>
              <a:tailEnd type="triangle" w="lg" len="lg"/>
            </a:ln>
          </p:spPr>
        </p:sp>
        <p:sp>
          <p:nvSpPr>
            <p:cNvPr id="74" name="Line 74"/>
            <p:cNvSpPr/>
            <p:nvPr/>
          </p:nvSpPr>
          <p:spPr>
            <a:xfrm>
              <a:off x="6477000" y="4714875"/>
              <a:ext cx="190500" cy="1"/>
            </a:xfrm>
            <a:prstGeom prst="line">
              <a:avLst/>
            </a:prstGeom>
            <a:noFill/>
            <a:ln w="14288">
              <a:solidFill>
                <a:srgbClr val="5BA3E0"/>
              </a:solidFill>
              <a:tailEnd type="triangle" w="lg" len="lg"/>
            </a:ln>
          </p:spPr>
        </p:sp>
        <p:grpSp>
          <p:nvGrpSpPr>
            <p:cNvPr id="80" name="Group 80"/>
            <p:cNvGrpSpPr/>
            <p:nvPr/>
          </p:nvGrpSpPr>
          <p:grpSpPr>
            <a:xfrm>
              <a:off x="9525000" y="4381500"/>
              <a:ext cx="1714500" cy="719138"/>
              <a:chOff x="9525000" y="4381500"/>
              <a:chExt cx="1714500" cy="719138"/>
            </a:xfrm>
          </p:grpSpPr>
          <p:sp>
            <p:nvSpPr>
              <p:cNvPr id="75" name="Rectangle 75"/>
              <p:cNvSpPr/>
              <p:nvPr/>
            </p:nvSpPr>
            <p:spPr>
              <a:xfrm>
                <a:off x="9525000" y="4381500"/>
                <a:ext cx="1714500" cy="666750"/>
              </a:xfrm>
              <a:prstGeom prst="rect">
                <a:avLst/>
              </a:prstGeom>
              <a:solidFill>
                <a:srgbClr val="0E2A47"/>
              </a:solidFill>
              <a:ln w="11430">
                <a:solidFill>
                  <a:srgbClr val="FFB627"/>
                </a:solidFill>
                <a:custDash>
                  <a:ds d="250000" sp="250000"/>
                </a:custDash>
              </a:ln>
            </p:spPr>
          </p:sp>
          <p:sp>
            <p:nvSpPr>
              <p:cNvPr id="76" name="TextBox 76"/>
              <p:cNvSpPr txBox="1"/>
              <p:nvPr/>
            </p:nvSpPr>
            <p:spPr>
              <a:xfrm>
                <a:off x="9987687" y="4501991"/>
                <a:ext cx="789126"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restartPolicy</a:t>
                </a:r>
              </a:p>
            </p:txBody>
          </p:sp>
          <p:sp>
            <p:nvSpPr>
              <p:cNvPr id="77" name="TextBox 77"/>
              <p:cNvSpPr txBox="1"/>
              <p:nvPr/>
            </p:nvSpPr>
            <p:spPr>
              <a:xfrm>
                <a:off x="9920168" y="4681538"/>
                <a:ext cx="924163"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Always · OnFailure</a:t>
                </a:r>
              </a:p>
            </p:txBody>
          </p:sp>
          <p:sp>
            <p:nvSpPr>
              <p:cNvPr id="78" name="TextBox 78"/>
              <p:cNvSpPr txBox="1"/>
              <p:nvPr/>
            </p:nvSpPr>
            <p:spPr>
              <a:xfrm>
                <a:off x="10235208" y="4814888"/>
                <a:ext cx="294084"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Never</a:t>
                </a:r>
              </a:p>
            </p:txBody>
          </p:sp>
          <p:sp>
            <p:nvSpPr>
              <p:cNvPr id="79" name="TextBox 79"/>
              <p:cNvSpPr txBox="1"/>
              <p:nvPr/>
            </p:nvSpPr>
            <p:spPr>
              <a:xfrm>
                <a:off x="9865162" y="4948238"/>
                <a:ext cx="1034177" cy="152400"/>
              </a:xfrm>
              <a:prstGeom prst="rect">
                <a:avLst/>
              </a:prstGeom>
              <a:noFill/>
              <a:ln>
                <a:noFill/>
              </a:ln>
            </p:spPr>
            <p:txBody>
              <a:bodyPr wrap="none" lIns="0" tIns="0" rIns="0" bIns="0" anchor="t" anchorCtr="0">
                <a:spAutoFit/>
              </a:bodyPr>
              <a:lstStyle/>
              <a:p>
                <a:pPr algn="ctr"/>
                <a:r>
                  <a:rPr lang="zh-CN" sz="750" dirty="0">
                    <a:solidFill>
                      <a:srgbClr val="FFB627"/>
                    </a:solidFill>
                    <a:latin typeface="Arial"/>
                    <a:ea typeface="Microsoft YaHei"/>
                    <a:cs typeface="Arial"/>
                  </a:rPr>
                  <a:t>backoff 100ms → 5min</a:t>
                </a:r>
              </a:p>
            </p:txBody>
          </p:sp>
        </p:grpSp>
        <p:sp>
          <p:nvSpPr>
            <p:cNvPr id="81" name="Freeform 81"/>
            <p:cNvSpPr/>
            <p:nvPr/>
          </p:nvSpPr>
          <p:spPr>
            <a:xfrm>
              <a:off x="6667500" y="3952875"/>
              <a:ext cx="3714750" cy="428625"/>
            </a:xfrm>
            <a:custGeom>
              <a:avLst/>
              <a:gdLst/>
              <a:ahLst/>
              <a:cxnLst/>
              <a:rect l="l" t="t" r="r" b="b"/>
              <a:pathLst>
                <a:path w="3714750" h="428625">
                  <a:moveTo>
                    <a:pt x="3714750" y="428625"/>
                  </a:moveTo>
                  <a:cubicBezTo>
                    <a:pt x="3714750" y="142875"/>
                    <a:pt x="2952750" y="0"/>
                    <a:pt x="1428750" y="0"/>
                  </a:cubicBezTo>
                  <a:cubicBezTo>
                    <a:pt x="476250" y="0"/>
                    <a:pt x="0" y="127000"/>
                    <a:pt x="0" y="381000"/>
                  </a:cubicBezTo>
                </a:path>
              </a:pathLst>
            </a:custGeom>
            <a:noFill/>
            <a:ln w="9525">
              <a:solidFill>
                <a:srgbClr val="FFB627"/>
              </a:solidFill>
              <a:custDash>
                <a:ds d="300000" sp="300000"/>
              </a:custDash>
              <a:tailEnd type="triangle" w="lg" len="lg"/>
            </a:ln>
          </p:spPr>
        </p:sp>
      </p:grpSp>
      <p:grpSp>
        <p:nvGrpSpPr>
          <p:cNvPr id="94" name="Group 94"/>
          <p:cNvGrpSpPr/>
          <p:nvPr/>
        </p:nvGrpSpPr>
        <p:grpSpPr>
          <a:xfrm>
            <a:off x="571500" y="5483066"/>
            <a:ext cx="11049000" cy="755809"/>
            <a:chOff x="571500" y="5483066"/>
            <a:chExt cx="11049000" cy="755809"/>
          </a:xfrm>
        </p:grpSpPr>
        <p:sp>
          <p:nvSpPr>
            <p:cNvPr id="83" name="TextBox 83"/>
            <p:cNvSpPr txBox="1"/>
            <p:nvPr/>
          </p:nvSpPr>
          <p:spPr>
            <a:xfrm>
              <a:off x="942022" y="5483066"/>
              <a:ext cx="681037"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PROBE GATES</a:t>
              </a:r>
            </a:p>
          </p:txBody>
        </p:sp>
        <p:sp>
          <p:nvSpPr>
            <p:cNvPr id="84" name="Line 84"/>
            <p:cNvSpPr/>
            <p:nvPr/>
          </p:nvSpPr>
          <p:spPr>
            <a:xfrm>
              <a:off x="571500" y="5715000"/>
              <a:ext cx="11049000" cy="9525"/>
            </a:xfrm>
            <a:custGeom>
              <a:avLst/>
              <a:gdLst/>
              <a:ahLst/>
              <a:cxnLst/>
              <a:rect l="l" t="t" r="r" b="b"/>
              <a:pathLst>
                <a:path w="11049000" h="9525">
                  <a:moveTo>
                    <a:pt x="0" y="0"/>
                  </a:moveTo>
                  <a:lnTo>
                    <a:pt x="11049000" y="0"/>
                  </a:lnTo>
                </a:path>
              </a:pathLst>
            </a:custGeom>
            <a:noFill/>
            <a:ln w="4762">
              <a:solidFill>
                <a:srgbClr val="2D4A6B"/>
              </a:solidFill>
              <a:custDash>
                <a:ds d="400000" sp="800000"/>
              </a:custDash>
            </a:ln>
          </p:spPr>
        </p:sp>
        <p:sp>
          <p:nvSpPr>
            <p:cNvPr id="85" name="Rectangle 85"/>
            <p:cNvSpPr/>
            <p:nvPr/>
          </p:nvSpPr>
          <p:spPr>
            <a:xfrm>
              <a:off x="952500" y="5857875"/>
              <a:ext cx="3333750" cy="381000"/>
            </a:xfrm>
            <a:prstGeom prst="rect">
              <a:avLst/>
            </a:prstGeom>
            <a:noFill/>
            <a:ln w="9525">
              <a:solidFill>
                <a:srgbClr val="5BA3E0"/>
              </a:solidFill>
            </a:ln>
          </p:spPr>
        </p:sp>
        <p:sp>
          <p:nvSpPr>
            <p:cNvPr id="86" name="TextBox 86"/>
            <p:cNvSpPr txBox="1"/>
            <p:nvPr/>
          </p:nvSpPr>
          <p:spPr>
            <a:xfrm>
              <a:off x="1083945" y="5998845"/>
              <a:ext cx="854564" cy="182880"/>
            </a:xfrm>
            <a:prstGeom prst="rect">
              <a:avLst/>
            </a:prstGeom>
            <a:noFill/>
            <a:ln>
              <a:noFill/>
            </a:ln>
          </p:spPr>
          <p:txBody>
            <a:bodyPr wrap="none" lIns="0" tIns="0" rIns="0" bIns="0" anchor="t" anchorCtr="0">
              <a:spAutoFit/>
            </a:bodyPr>
            <a:lstStyle/>
            <a:p>
              <a:pPr algn="l"/>
              <a:r>
                <a:rPr lang="zh-CN" sz="900" b="1" dirty="0">
                  <a:solidFill>
                    <a:srgbClr val="5BA3E0"/>
                  </a:solidFill>
                  <a:latin typeface="Consolas"/>
                  <a:ea typeface="Microsoft YaHei"/>
                  <a:cs typeface="Consolas"/>
                </a:rPr>
                <a:t>startupProbe</a:t>
              </a:r>
            </a:p>
          </p:txBody>
        </p:sp>
        <p:sp>
          <p:nvSpPr>
            <p:cNvPr id="87" name="TextBox 87"/>
            <p:cNvSpPr txBox="1"/>
            <p:nvPr/>
          </p:nvSpPr>
          <p:spPr>
            <a:xfrm>
              <a:off x="2132648" y="6006941"/>
              <a:ext cx="213872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gates liveness + readiness until passing</a:t>
              </a:r>
            </a:p>
          </p:txBody>
        </p:sp>
        <p:sp>
          <p:nvSpPr>
            <p:cNvPr id="88" name="Rectangle 88"/>
            <p:cNvSpPr/>
            <p:nvPr/>
          </p:nvSpPr>
          <p:spPr>
            <a:xfrm>
              <a:off x="4429125" y="5857875"/>
              <a:ext cx="3333750" cy="381000"/>
            </a:xfrm>
            <a:prstGeom prst="rect">
              <a:avLst/>
            </a:prstGeom>
            <a:noFill/>
            <a:ln w="9525">
              <a:solidFill>
                <a:srgbClr val="FFB627"/>
              </a:solidFill>
            </a:ln>
          </p:spPr>
        </p:sp>
        <p:sp>
          <p:nvSpPr>
            <p:cNvPr id="89" name="TextBox 89"/>
            <p:cNvSpPr txBox="1"/>
            <p:nvPr/>
          </p:nvSpPr>
          <p:spPr>
            <a:xfrm>
              <a:off x="4560570" y="5998845"/>
              <a:ext cx="860865" cy="182880"/>
            </a:xfrm>
            <a:prstGeom prst="rect">
              <a:avLst/>
            </a:prstGeom>
            <a:noFill/>
            <a:ln>
              <a:noFill/>
            </a:ln>
          </p:spPr>
          <p:txBody>
            <a:bodyPr wrap="none" lIns="0" tIns="0" rIns="0" bIns="0" anchor="t" anchorCtr="0">
              <a:spAutoFit/>
            </a:bodyPr>
            <a:lstStyle/>
            <a:p>
              <a:pPr algn="l"/>
              <a:r>
                <a:rPr lang="zh-CN" sz="900" b="1" dirty="0">
                  <a:solidFill>
                    <a:srgbClr val="FFB627"/>
                  </a:solidFill>
                  <a:latin typeface="Consolas"/>
                  <a:ea typeface="Microsoft YaHei"/>
                  <a:cs typeface="Consolas"/>
                </a:rPr>
                <a:t>livenessProbe</a:t>
              </a:r>
            </a:p>
          </p:txBody>
        </p:sp>
        <p:sp>
          <p:nvSpPr>
            <p:cNvPr id="90" name="TextBox 90"/>
            <p:cNvSpPr txBox="1"/>
            <p:nvPr/>
          </p:nvSpPr>
          <p:spPr>
            <a:xfrm>
              <a:off x="5609272" y="6006941"/>
              <a:ext cx="1797677"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fail → kubelet restarts container</a:t>
              </a:r>
            </a:p>
          </p:txBody>
        </p:sp>
        <p:sp>
          <p:nvSpPr>
            <p:cNvPr id="91" name="Rectangle 91"/>
            <p:cNvSpPr/>
            <p:nvPr/>
          </p:nvSpPr>
          <p:spPr>
            <a:xfrm>
              <a:off x="7905750" y="5857875"/>
              <a:ext cx="3333750" cy="381000"/>
            </a:xfrm>
            <a:prstGeom prst="rect">
              <a:avLst/>
            </a:prstGeom>
            <a:noFill/>
            <a:ln w="9525">
              <a:solidFill>
                <a:srgbClr val="7FD99F"/>
              </a:solidFill>
            </a:ln>
          </p:spPr>
        </p:sp>
        <p:sp>
          <p:nvSpPr>
            <p:cNvPr id="92" name="TextBox 92"/>
            <p:cNvSpPr txBox="1"/>
            <p:nvPr/>
          </p:nvSpPr>
          <p:spPr>
            <a:xfrm>
              <a:off x="8037195" y="5998845"/>
              <a:ext cx="961677" cy="182880"/>
            </a:xfrm>
            <a:prstGeom prst="rect">
              <a:avLst/>
            </a:prstGeom>
            <a:noFill/>
            <a:ln>
              <a:noFill/>
            </a:ln>
          </p:spPr>
          <p:txBody>
            <a:bodyPr wrap="none" lIns="0" tIns="0" rIns="0" bIns="0" anchor="t" anchorCtr="0">
              <a:spAutoFit/>
            </a:bodyPr>
            <a:lstStyle/>
            <a:p>
              <a:pPr algn="l"/>
              <a:r>
                <a:rPr lang="zh-CN" sz="900" b="1" dirty="0">
                  <a:solidFill>
                    <a:srgbClr val="7FD99F"/>
                  </a:solidFill>
                  <a:latin typeface="Consolas"/>
                  <a:ea typeface="Microsoft YaHei"/>
                  <a:cs typeface="Consolas"/>
                </a:rPr>
                <a:t>readinessProbe</a:t>
              </a:r>
            </a:p>
          </p:txBody>
        </p:sp>
        <p:sp>
          <p:nvSpPr>
            <p:cNvPr id="93" name="TextBox 93"/>
            <p:cNvSpPr txBox="1"/>
            <p:nvPr/>
          </p:nvSpPr>
          <p:spPr>
            <a:xfrm>
              <a:off x="9181148" y="6006941"/>
              <a:ext cx="185268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fail → drop from Service endpoints</a:t>
              </a:r>
            </a:p>
          </p:txBody>
        </p:sp>
      </p:grpSp>
      <p:grpSp>
        <p:nvGrpSpPr>
          <p:cNvPr id="98" name="Group 98"/>
          <p:cNvGrpSpPr/>
          <p:nvPr/>
        </p:nvGrpSpPr>
        <p:grpSpPr>
          <a:xfrm>
            <a:off x="561022" y="6477000"/>
            <a:ext cx="11069956" cy="269081"/>
            <a:chOff x="561022" y="6477000"/>
            <a:chExt cx="11069956" cy="269081"/>
          </a:xfrm>
        </p:grpSpPr>
        <p:sp>
          <p:nvSpPr>
            <p:cNvPr id="95" name="Line 95"/>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6" name="TextBox 96"/>
            <p:cNvSpPr txBox="1"/>
            <p:nvPr/>
          </p:nvSpPr>
          <p:spPr>
            <a:xfrm>
              <a:off x="561022" y="6578441"/>
              <a:ext cx="2688788"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05 OF 10 · POD LIFECYCLE</a:t>
              </a:r>
            </a:p>
          </p:txBody>
        </p:sp>
        <p:sp>
          <p:nvSpPr>
            <p:cNvPr id="97" name="TextBox 97"/>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05 OF 10</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700"/>
                                        <p:tgtEl>
                                          <p:spTgt spid="52"/>
                                        </p:tgtEl>
                                      </p:cBhvr>
                                    </p:animEffect>
                                  </p:childTnLst>
                                </p:cTn>
                              </p:par>
                            </p:childTnLst>
                          </p:cTn>
                        </p:par>
                        <p:par>
                          <p:cTn id="8" fill="hold">
                            <p:stCondLst>
                              <p:cond delay="920"/>
                            </p:stCondLst>
                            <p:childTnLst>
                              <p:par>
                                <p:cTn id="9" presetID="22" presetClass="entr" presetSubtype="1" fill="hold" nodeType="after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wipe(left)">
                                      <p:cBhvr>
                                        <p:cTn id="11" dur="600"/>
                                        <p:tgtEl>
                                          <p:spTgt spid="82"/>
                                        </p:tgtEl>
                                      </p:cBhvr>
                                    </p:animEffect>
                                  </p:childTnLst>
                                </p:cTn>
                              </p:par>
                            </p:childTnLst>
                          </p:cTn>
                        </p:par>
                        <p:par>
                          <p:cTn id="12" fill="hold">
                            <p:stCondLst>
                              <p:cond delay="1740"/>
                            </p:stCondLst>
                            <p:childTnLst>
                              <p:par>
                                <p:cTn id="13" presetID="10" presetClass="entr" presetSubtype="0" fill="hold" nodeType="after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82" grpId="0"/>
      <p:bldP spid="9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633347"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Services: Four Ways to Be Reachable</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P06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569958"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A SERVICE EXPOSES A STABLE VIRTUAL ENDPOINT IN FRONT OF AN EVER-CHANGING SET OF PODS</a:t>
              </a:r>
            </a:p>
          </p:txBody>
        </p:sp>
      </p:grpSp>
      <p:grpSp>
        <p:nvGrpSpPr>
          <p:cNvPr id="14" name="Group 14"/>
          <p:cNvGrpSpPr/>
          <p:nvPr/>
        </p:nvGrpSpPr>
        <p:grpSpPr>
          <a:xfrm>
            <a:off x="762000" y="995362"/>
            <a:ext cx="10668000" cy="157163"/>
            <a:chOff x="762000" y="995362"/>
            <a:chExt cx="10668000" cy="157163"/>
          </a:xfrm>
        </p:grpSpPr>
        <p:sp>
          <p:nvSpPr>
            <p:cNvPr id="11" name="Line 11"/>
            <p:cNvSpPr/>
            <p:nvPr/>
          </p:nvSpPr>
          <p:spPr>
            <a:xfrm>
              <a:off x="762000" y="1143000"/>
              <a:ext cx="10668000" cy="9525"/>
            </a:xfrm>
            <a:custGeom>
              <a:avLst/>
              <a:gdLst/>
              <a:ahLst/>
              <a:cxnLst/>
              <a:rect l="l" t="t" r="r" b="b"/>
              <a:pathLst>
                <a:path w="10668000" h="9525">
                  <a:moveTo>
                    <a:pt x="0" y="0"/>
                  </a:moveTo>
                  <a:lnTo>
                    <a:pt x="10668000" y="0"/>
                  </a:lnTo>
                </a:path>
              </a:pathLst>
            </a:custGeom>
            <a:noFill/>
            <a:ln w="4762">
              <a:solidFill>
                <a:srgbClr val="3E7AB8"/>
              </a:solidFill>
            </a:ln>
          </p:spPr>
        </p:sp>
        <p:sp>
          <p:nvSpPr>
            <p:cNvPr id="12" name="TextBox 12"/>
            <p:cNvSpPr txBox="1"/>
            <p:nvPr/>
          </p:nvSpPr>
          <p:spPr>
            <a:xfrm>
              <a:off x="942975" y="995362"/>
              <a:ext cx="604123" cy="152400"/>
            </a:xfrm>
            <a:prstGeom prst="rect">
              <a:avLst/>
            </a:prstGeom>
            <a:noFill/>
            <a:ln>
              <a:noFill/>
            </a:ln>
          </p:spPr>
          <p:txBody>
            <a:bodyPr wrap="none" lIns="0" tIns="0" rIns="0" bIns="0" anchor="t" anchorCtr="0">
              <a:spAutoFit/>
            </a:bodyPr>
            <a:lstStyle/>
            <a:p>
              <a:pPr algn="l"/>
              <a:r>
                <a:rPr lang="zh-CN" sz="750" dirty="0">
                  <a:solidFill>
                    <a:srgbClr val="6B85A3"/>
                  </a:solidFill>
                  <a:latin typeface="Consolas"/>
                  <a:ea typeface="Microsoft YaHei"/>
                  <a:cs typeface="Consolas"/>
                </a:rPr>
                <a:t>REACH AXIS →</a:t>
              </a:r>
            </a:p>
          </p:txBody>
        </p:sp>
        <p:sp>
          <p:nvSpPr>
            <p:cNvPr id="13" name="TextBox 13"/>
            <p:cNvSpPr txBox="1"/>
            <p:nvPr/>
          </p:nvSpPr>
          <p:spPr>
            <a:xfrm>
              <a:off x="10839926" y="995362"/>
              <a:ext cx="409099" cy="152400"/>
            </a:xfrm>
            <a:prstGeom prst="rect">
              <a:avLst/>
            </a:prstGeom>
            <a:noFill/>
            <a:ln>
              <a:noFill/>
            </a:ln>
          </p:spPr>
          <p:txBody>
            <a:bodyPr wrap="none" lIns="0" tIns="0" rIns="0" bIns="0" anchor="t" anchorCtr="0">
              <a:spAutoFit/>
            </a:bodyPr>
            <a:lstStyle/>
            <a:p>
              <a:pPr algn="r"/>
              <a:r>
                <a:rPr lang="zh-CN" sz="750" dirty="0">
                  <a:solidFill>
                    <a:srgbClr val="FFB627"/>
                  </a:solidFill>
                  <a:latin typeface="Consolas"/>
                  <a:ea typeface="Microsoft YaHei"/>
                  <a:cs typeface="Consolas"/>
                </a:rPr>
                <a:t>PUBLIC ▶</a:t>
              </a:r>
            </a:p>
          </p:txBody>
        </p:sp>
      </p:grpSp>
      <p:grpSp>
        <p:nvGrpSpPr>
          <p:cNvPr id="40" name="Group 40"/>
          <p:cNvGrpSpPr/>
          <p:nvPr/>
        </p:nvGrpSpPr>
        <p:grpSpPr>
          <a:xfrm>
            <a:off x="952500" y="1190625"/>
            <a:ext cx="1524000" cy="5000625"/>
            <a:chOff x="952500" y="1190625"/>
            <a:chExt cx="1524000" cy="5000625"/>
          </a:xfrm>
        </p:grpSpPr>
        <p:sp>
          <p:nvSpPr>
            <p:cNvPr id="15" name="Line 15"/>
            <p:cNvSpPr/>
            <p:nvPr/>
          </p:nvSpPr>
          <p:spPr>
            <a:xfrm>
              <a:off x="1714500" y="1190625"/>
              <a:ext cx="9525" cy="5000625"/>
            </a:xfrm>
            <a:custGeom>
              <a:avLst/>
              <a:gdLst/>
              <a:ahLst/>
              <a:cxnLst/>
              <a:rect l="l" t="t" r="r" b="b"/>
              <a:pathLst>
                <a:path w="9525" h="5000625">
                  <a:moveTo>
                    <a:pt x="0" y="0"/>
                  </a:moveTo>
                  <a:lnTo>
                    <a:pt x="0" y="5000625"/>
                  </a:lnTo>
                </a:path>
              </a:pathLst>
            </a:custGeom>
            <a:noFill/>
            <a:ln w="3810">
              <a:solidFill>
                <a:srgbClr val="5BA3E0">
                  <a:alpha val="50000"/>
                </a:srgbClr>
              </a:solidFill>
              <a:custDash>
                <a:ds d="500000" sp="1000000"/>
              </a:custDash>
            </a:ln>
          </p:spPr>
        </p:sp>
        <p:sp>
          <p:nvSpPr>
            <p:cNvPr id="16" name="Polygon 16"/>
            <p:cNvSpPr/>
            <p:nvPr/>
          </p:nvSpPr>
          <p:spPr>
            <a:xfrm>
              <a:off x="1666875" y="1190625"/>
              <a:ext cx="95250" cy="95250"/>
            </a:xfrm>
            <a:custGeom>
              <a:avLst/>
              <a:gdLst/>
              <a:ahLst/>
              <a:cxnLst/>
              <a:rect l="l" t="t" r="r" b="b"/>
              <a:pathLst>
                <a:path w="95250" h="95250">
                  <a:moveTo>
                    <a:pt x="47625" y="0"/>
                  </a:moveTo>
                  <a:lnTo>
                    <a:pt x="0" y="95250"/>
                  </a:lnTo>
                  <a:lnTo>
                    <a:pt x="95250" y="95250"/>
                  </a:lnTo>
                  <a:close/>
                </a:path>
              </a:pathLst>
            </a:custGeom>
            <a:solidFill>
              <a:srgbClr val="5BA3E0"/>
            </a:solidFill>
            <a:ln>
              <a:noFill/>
            </a:ln>
          </p:spPr>
        </p:sp>
        <p:sp>
          <p:nvSpPr>
            <p:cNvPr id="17" name="Rectangle 17"/>
            <p:cNvSpPr/>
            <p:nvPr/>
          </p:nvSpPr>
          <p:spPr>
            <a:xfrm>
              <a:off x="952500" y="1428750"/>
              <a:ext cx="1524000" cy="4762500"/>
            </a:xfrm>
            <a:prstGeom prst="rect">
              <a:avLst/>
            </a:prstGeom>
            <a:solidFill>
              <a:srgbClr val="1A3A5C">
                <a:alpha val="35000"/>
              </a:srgbClr>
            </a:solidFill>
            <a:ln w="14288">
              <a:solidFill>
                <a:srgbClr val="5BA3E0"/>
              </a:solidFill>
            </a:ln>
          </p:spPr>
        </p:sp>
        <p:sp>
          <p:nvSpPr>
            <p:cNvPr id="18" name="Rectangle 18"/>
            <p:cNvSpPr/>
            <p:nvPr/>
          </p:nvSpPr>
          <p:spPr>
            <a:xfrm>
              <a:off x="952500" y="1428750"/>
              <a:ext cx="1524000" cy="304800"/>
            </a:xfrm>
            <a:prstGeom prst="rect">
              <a:avLst/>
            </a:prstGeom>
            <a:solidFill>
              <a:srgbClr val="5BA3E0"/>
            </a:solidFill>
            <a:ln>
              <a:noFill/>
            </a:ln>
          </p:spPr>
        </p:sp>
        <p:sp>
          <p:nvSpPr>
            <p:cNvPr id="19" name="TextBox 19"/>
            <p:cNvSpPr txBox="1"/>
            <p:nvPr/>
          </p:nvSpPr>
          <p:spPr>
            <a:xfrm>
              <a:off x="1176954" y="1531620"/>
              <a:ext cx="1075092"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TYPE 01 · DEFAULT</a:t>
              </a:r>
            </a:p>
          </p:txBody>
        </p:sp>
        <p:sp>
          <p:nvSpPr>
            <p:cNvPr id="20" name="TextBox 20"/>
            <p:cNvSpPr txBox="1"/>
            <p:nvPr/>
          </p:nvSpPr>
          <p:spPr>
            <a:xfrm>
              <a:off x="1301095" y="1843564"/>
              <a:ext cx="826809" cy="259080"/>
            </a:xfrm>
            <a:prstGeom prst="rect">
              <a:avLst/>
            </a:prstGeom>
            <a:noFill/>
            <a:ln>
              <a:noFill/>
            </a:ln>
          </p:spPr>
          <p:txBody>
            <a:bodyPr wrap="none" lIns="0" tIns="0" rIns="0" bIns="0" anchor="t" anchorCtr="0">
              <a:spAutoFit/>
            </a:bodyPr>
            <a:lstStyle/>
            <a:p>
              <a:pPr algn="ctr"/>
              <a:r>
                <a:rPr lang="zh-CN" sz="1275" b="1" dirty="0">
                  <a:solidFill>
                    <a:srgbClr val="F0F4F8"/>
                  </a:solidFill>
                  <a:latin typeface="Consolas"/>
                  <a:ea typeface="Microsoft YaHei"/>
                  <a:cs typeface="Consolas"/>
                </a:rPr>
                <a:t>ClusterIP</a:t>
              </a:r>
            </a:p>
          </p:txBody>
        </p:sp>
        <p:sp>
          <p:nvSpPr>
            <p:cNvPr id="21" name="Line 21"/>
            <p:cNvSpPr/>
            <p:nvPr/>
          </p:nvSpPr>
          <p:spPr>
            <a:xfrm>
              <a:off x="1143000" y="2114550"/>
              <a:ext cx="1143000" cy="9525"/>
            </a:xfrm>
            <a:custGeom>
              <a:avLst/>
              <a:gdLst/>
              <a:ahLst/>
              <a:cxnLst/>
              <a:rect l="l" t="t" r="r" b="b"/>
              <a:pathLst>
                <a:path w="1143000" h="9525">
                  <a:moveTo>
                    <a:pt x="0" y="0"/>
                  </a:moveTo>
                  <a:lnTo>
                    <a:pt x="1143000" y="0"/>
                  </a:lnTo>
                </a:path>
              </a:pathLst>
            </a:custGeom>
            <a:noFill/>
            <a:ln w="5715">
              <a:solidFill>
                <a:srgbClr val="5BA3E0"/>
              </a:solidFill>
            </a:ln>
          </p:spPr>
        </p:sp>
        <p:sp>
          <p:nvSpPr>
            <p:cNvPr id="22" name="TextBox 22"/>
            <p:cNvSpPr txBox="1"/>
            <p:nvPr/>
          </p:nvSpPr>
          <p:spPr>
            <a:xfrm>
              <a:off x="1261217" y="2235041"/>
              <a:ext cx="90656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cluster-internal</a:t>
              </a:r>
            </a:p>
          </p:txBody>
        </p:sp>
        <p:sp>
          <p:nvSpPr>
            <p:cNvPr id="23" name="TextBox 23"/>
            <p:cNvSpPr txBox="1"/>
            <p:nvPr/>
          </p:nvSpPr>
          <p:spPr>
            <a:xfrm>
              <a:off x="1332726" y="2368391"/>
              <a:ext cx="76354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virtual IP only</a:t>
              </a:r>
            </a:p>
          </p:txBody>
        </p:sp>
        <p:sp>
          <p:nvSpPr>
            <p:cNvPr id="24" name="Line 24"/>
            <p:cNvSpPr/>
            <p:nvPr/>
          </p:nvSpPr>
          <p:spPr>
            <a:xfrm>
              <a:off x="1143000"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25" name="TextBox 25"/>
            <p:cNvSpPr txBox="1"/>
            <p:nvPr/>
          </p:nvSpPr>
          <p:spPr>
            <a:xfrm>
              <a:off x="1133475"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26" name="TextBox 26"/>
            <p:cNvSpPr txBox="1"/>
            <p:nvPr/>
          </p:nvSpPr>
          <p:spPr>
            <a:xfrm>
              <a:off x="1132522" y="2958941"/>
              <a:ext cx="758047"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Inside cluster</a:t>
              </a:r>
            </a:p>
          </p:txBody>
        </p:sp>
        <p:sp>
          <p:nvSpPr>
            <p:cNvPr id="27" name="TextBox 27"/>
            <p:cNvSpPr txBox="1"/>
            <p:nvPr/>
          </p:nvSpPr>
          <p:spPr>
            <a:xfrm>
              <a:off x="1132522" y="3111341"/>
              <a:ext cx="873562"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Pod-to-Pod only</a:t>
              </a:r>
            </a:p>
          </p:txBody>
        </p:sp>
        <p:sp>
          <p:nvSpPr>
            <p:cNvPr id="28" name="TextBox 28"/>
            <p:cNvSpPr txBox="1"/>
            <p:nvPr/>
          </p:nvSpPr>
          <p:spPr>
            <a:xfrm>
              <a:off x="1133475" y="3462338"/>
              <a:ext cx="614124"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Mechanism</a:t>
              </a:r>
            </a:p>
          </p:txBody>
        </p:sp>
        <p:sp>
          <p:nvSpPr>
            <p:cNvPr id="29" name="TextBox 29"/>
            <p:cNvSpPr txBox="1"/>
            <p:nvPr/>
          </p:nvSpPr>
          <p:spPr>
            <a:xfrm>
              <a:off x="1132522" y="3625691"/>
              <a:ext cx="934069"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kube-proxy rules</a:t>
              </a:r>
            </a:p>
          </p:txBody>
        </p:sp>
        <p:sp>
          <p:nvSpPr>
            <p:cNvPr id="30" name="TextBox 30"/>
            <p:cNvSpPr txBox="1"/>
            <p:nvPr/>
          </p:nvSpPr>
          <p:spPr>
            <a:xfrm>
              <a:off x="1133475" y="3786188"/>
              <a:ext cx="719138"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in Service CIDR</a:t>
              </a:r>
            </a:p>
          </p:txBody>
        </p:sp>
        <p:sp>
          <p:nvSpPr>
            <p:cNvPr id="31" name="TextBox 31"/>
            <p:cNvSpPr txBox="1"/>
            <p:nvPr/>
          </p:nvSpPr>
          <p:spPr>
            <a:xfrm>
              <a:off x="1133475" y="4129088"/>
              <a:ext cx="269081"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DNS</a:t>
              </a:r>
            </a:p>
          </p:txBody>
        </p:sp>
        <p:sp>
          <p:nvSpPr>
            <p:cNvPr id="32" name="TextBox 32"/>
            <p:cNvSpPr txBox="1"/>
            <p:nvPr/>
          </p:nvSpPr>
          <p:spPr>
            <a:xfrm>
              <a:off x="1133475" y="4300538"/>
              <a:ext cx="789146" cy="152400"/>
            </a:xfrm>
            <a:prstGeom prst="rect">
              <a:avLst/>
            </a:prstGeom>
            <a:noFill/>
            <a:ln>
              <a:noFill/>
            </a:ln>
          </p:spPr>
          <p:txBody>
            <a:bodyPr wrap="none" lIns="0" tIns="0" rIns="0" bIns="0" anchor="t" anchorCtr="0">
              <a:spAutoFit/>
            </a:bodyPr>
            <a:lstStyle/>
            <a:p>
              <a:pPr algn="l"/>
              <a:r>
                <a:rPr lang="zh-CN" sz="750" dirty="0">
                  <a:solidFill>
                    <a:srgbClr val="F0F4F8"/>
                  </a:solidFill>
                  <a:latin typeface="Consolas"/>
                  <a:ea typeface="Microsoft YaHei"/>
                  <a:cs typeface="Consolas"/>
                </a:rPr>
                <a:t>&lt;svc&gt;.&lt;ns&gt;.svc</a:t>
              </a:r>
            </a:p>
          </p:txBody>
        </p:sp>
        <p:sp>
          <p:nvSpPr>
            <p:cNvPr id="33" name="TextBox 33"/>
            <p:cNvSpPr txBox="1"/>
            <p:nvPr/>
          </p:nvSpPr>
          <p:spPr>
            <a:xfrm>
              <a:off x="1133475" y="4443412"/>
              <a:ext cx="714137"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.cluster.local</a:t>
              </a:r>
            </a:p>
          </p:txBody>
        </p:sp>
        <p:sp>
          <p:nvSpPr>
            <p:cNvPr id="34" name="TextBox 34"/>
            <p:cNvSpPr txBox="1"/>
            <p:nvPr/>
          </p:nvSpPr>
          <p:spPr>
            <a:xfrm>
              <a:off x="1133475"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35" name="TextBox 35"/>
            <p:cNvSpPr txBox="1"/>
            <p:nvPr/>
          </p:nvSpPr>
          <p:spPr>
            <a:xfrm>
              <a:off x="1132522" y="4959191"/>
              <a:ext cx="934069"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Backend services</a:t>
              </a:r>
            </a:p>
          </p:txBody>
        </p:sp>
        <p:sp>
          <p:nvSpPr>
            <p:cNvPr id="36" name="TextBox 36"/>
            <p:cNvSpPr txBox="1"/>
            <p:nvPr/>
          </p:nvSpPr>
          <p:spPr>
            <a:xfrm>
              <a:off x="1132522" y="5111591"/>
              <a:ext cx="69754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internal APIs</a:t>
              </a:r>
            </a:p>
          </p:txBody>
        </p:sp>
        <p:sp>
          <p:nvSpPr>
            <p:cNvPr id="37" name="Line 37"/>
            <p:cNvSpPr/>
            <p:nvPr/>
          </p:nvSpPr>
          <p:spPr>
            <a:xfrm>
              <a:off x="1143000"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38" name="TextBox 38"/>
            <p:cNvSpPr txBox="1"/>
            <p:nvPr/>
          </p:nvSpPr>
          <p:spPr>
            <a:xfrm>
              <a:off x="1532656" y="5737384"/>
              <a:ext cx="36368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DEFAULT</a:t>
              </a:r>
            </a:p>
          </p:txBody>
        </p:sp>
        <p:sp>
          <p:nvSpPr>
            <p:cNvPr id="39" name="TextBox 39"/>
            <p:cNvSpPr txBox="1"/>
            <p:nvPr/>
          </p:nvSpPr>
          <p:spPr>
            <a:xfrm>
              <a:off x="1368385" y="5870734"/>
              <a:ext cx="692229"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90% of services</a:t>
              </a:r>
            </a:p>
          </p:txBody>
        </p:sp>
      </p:grpSp>
      <p:grpSp>
        <p:nvGrpSpPr>
          <p:cNvPr id="66" name="Group 66"/>
          <p:cNvGrpSpPr/>
          <p:nvPr/>
        </p:nvGrpSpPr>
        <p:grpSpPr>
          <a:xfrm>
            <a:off x="3667125" y="1190625"/>
            <a:ext cx="1524000" cy="5000625"/>
            <a:chOff x="3667125" y="1190625"/>
            <a:chExt cx="1524000" cy="5000625"/>
          </a:xfrm>
        </p:grpSpPr>
        <p:sp>
          <p:nvSpPr>
            <p:cNvPr id="41" name="Line 41"/>
            <p:cNvSpPr/>
            <p:nvPr/>
          </p:nvSpPr>
          <p:spPr>
            <a:xfrm>
              <a:off x="4429125" y="1190625"/>
              <a:ext cx="9525" cy="5000625"/>
            </a:xfrm>
            <a:custGeom>
              <a:avLst/>
              <a:gdLst/>
              <a:ahLst/>
              <a:cxnLst/>
              <a:rect l="l" t="t" r="r" b="b"/>
              <a:pathLst>
                <a:path w="9525" h="5000625">
                  <a:moveTo>
                    <a:pt x="0" y="0"/>
                  </a:moveTo>
                  <a:lnTo>
                    <a:pt x="0" y="5000625"/>
                  </a:lnTo>
                </a:path>
              </a:pathLst>
            </a:custGeom>
            <a:noFill/>
            <a:ln w="3810">
              <a:solidFill>
                <a:srgbClr val="5BA3E0">
                  <a:alpha val="50000"/>
                </a:srgbClr>
              </a:solidFill>
              <a:custDash>
                <a:ds d="500000" sp="1000000"/>
              </a:custDash>
            </a:ln>
          </p:spPr>
        </p:sp>
        <p:sp>
          <p:nvSpPr>
            <p:cNvPr id="42" name="Polygon 42"/>
            <p:cNvSpPr/>
            <p:nvPr/>
          </p:nvSpPr>
          <p:spPr>
            <a:xfrm>
              <a:off x="4381500" y="1190625"/>
              <a:ext cx="95250" cy="95250"/>
            </a:xfrm>
            <a:custGeom>
              <a:avLst/>
              <a:gdLst/>
              <a:ahLst/>
              <a:cxnLst/>
              <a:rect l="l" t="t" r="r" b="b"/>
              <a:pathLst>
                <a:path w="95250" h="95250">
                  <a:moveTo>
                    <a:pt x="47625" y="0"/>
                  </a:moveTo>
                  <a:lnTo>
                    <a:pt x="0" y="95250"/>
                  </a:lnTo>
                  <a:lnTo>
                    <a:pt x="95250" y="95250"/>
                  </a:lnTo>
                  <a:close/>
                </a:path>
              </a:pathLst>
            </a:custGeom>
            <a:solidFill>
              <a:srgbClr val="5BA3E0"/>
            </a:solidFill>
            <a:ln>
              <a:noFill/>
            </a:ln>
          </p:spPr>
        </p:sp>
        <p:sp>
          <p:nvSpPr>
            <p:cNvPr id="43" name="Rectangle 43"/>
            <p:cNvSpPr/>
            <p:nvPr/>
          </p:nvSpPr>
          <p:spPr>
            <a:xfrm>
              <a:off x="3667125" y="1428750"/>
              <a:ext cx="1524000" cy="4762500"/>
            </a:xfrm>
            <a:prstGeom prst="rect">
              <a:avLst/>
            </a:prstGeom>
            <a:solidFill>
              <a:srgbClr val="1A3A5C">
                <a:alpha val="35000"/>
              </a:srgbClr>
            </a:solidFill>
            <a:ln w="14288">
              <a:solidFill>
                <a:srgbClr val="5BA3E0"/>
              </a:solidFill>
            </a:ln>
          </p:spPr>
        </p:sp>
        <p:sp>
          <p:nvSpPr>
            <p:cNvPr id="44" name="Rectangle 44"/>
            <p:cNvSpPr/>
            <p:nvPr/>
          </p:nvSpPr>
          <p:spPr>
            <a:xfrm>
              <a:off x="3667125" y="1428750"/>
              <a:ext cx="1524000" cy="304800"/>
            </a:xfrm>
            <a:prstGeom prst="rect">
              <a:avLst/>
            </a:prstGeom>
            <a:solidFill>
              <a:srgbClr val="5BA3E0"/>
            </a:solidFill>
            <a:ln>
              <a:noFill/>
            </a:ln>
          </p:spPr>
        </p:sp>
        <p:sp>
          <p:nvSpPr>
            <p:cNvPr id="45" name="TextBox 45"/>
            <p:cNvSpPr txBox="1"/>
            <p:nvPr/>
          </p:nvSpPr>
          <p:spPr>
            <a:xfrm>
              <a:off x="4190867" y="1531620"/>
              <a:ext cx="476517"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TYPE 02</a:t>
              </a:r>
            </a:p>
          </p:txBody>
        </p:sp>
        <p:sp>
          <p:nvSpPr>
            <p:cNvPr id="46" name="TextBox 46"/>
            <p:cNvSpPr txBox="1"/>
            <p:nvPr/>
          </p:nvSpPr>
          <p:spPr>
            <a:xfrm>
              <a:off x="4020183" y="1843564"/>
              <a:ext cx="817883" cy="259080"/>
            </a:xfrm>
            <a:prstGeom prst="rect">
              <a:avLst/>
            </a:prstGeom>
            <a:noFill/>
            <a:ln>
              <a:noFill/>
            </a:ln>
          </p:spPr>
          <p:txBody>
            <a:bodyPr wrap="none" lIns="0" tIns="0" rIns="0" bIns="0" anchor="t" anchorCtr="0">
              <a:spAutoFit/>
            </a:bodyPr>
            <a:lstStyle/>
            <a:p>
              <a:pPr algn="ctr"/>
              <a:r>
                <a:rPr lang="zh-CN" sz="1275" b="1" dirty="0">
                  <a:solidFill>
                    <a:srgbClr val="F0F4F8"/>
                  </a:solidFill>
                  <a:latin typeface="Consolas"/>
                  <a:ea typeface="Microsoft YaHei"/>
                  <a:cs typeface="Consolas"/>
                </a:rPr>
                <a:t>NodePort</a:t>
              </a:r>
            </a:p>
          </p:txBody>
        </p:sp>
        <p:sp>
          <p:nvSpPr>
            <p:cNvPr id="47" name="Line 47"/>
            <p:cNvSpPr/>
            <p:nvPr/>
          </p:nvSpPr>
          <p:spPr>
            <a:xfrm>
              <a:off x="3857625" y="2114550"/>
              <a:ext cx="1143000" cy="9525"/>
            </a:xfrm>
            <a:custGeom>
              <a:avLst/>
              <a:gdLst/>
              <a:ahLst/>
              <a:cxnLst/>
              <a:rect l="l" t="t" r="r" b="b"/>
              <a:pathLst>
                <a:path w="1143000" h="9525">
                  <a:moveTo>
                    <a:pt x="0" y="0"/>
                  </a:moveTo>
                  <a:lnTo>
                    <a:pt x="1143000" y="0"/>
                  </a:lnTo>
                </a:path>
              </a:pathLst>
            </a:custGeom>
            <a:noFill/>
            <a:ln w="5715">
              <a:solidFill>
                <a:srgbClr val="5BA3E0"/>
              </a:solidFill>
            </a:ln>
          </p:spPr>
        </p:sp>
        <p:sp>
          <p:nvSpPr>
            <p:cNvPr id="48" name="TextBox 48"/>
            <p:cNvSpPr txBox="1"/>
            <p:nvPr/>
          </p:nvSpPr>
          <p:spPr>
            <a:xfrm>
              <a:off x="4036350" y="2235041"/>
              <a:ext cx="785551"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static port on</a:t>
              </a:r>
            </a:p>
          </p:txBody>
        </p:sp>
        <p:sp>
          <p:nvSpPr>
            <p:cNvPr id="49" name="TextBox 49"/>
            <p:cNvSpPr txBox="1"/>
            <p:nvPr/>
          </p:nvSpPr>
          <p:spPr>
            <a:xfrm>
              <a:off x="4066604" y="2368391"/>
              <a:ext cx="725043"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every node IP</a:t>
              </a:r>
            </a:p>
          </p:txBody>
        </p:sp>
        <p:sp>
          <p:nvSpPr>
            <p:cNvPr id="50" name="Line 50"/>
            <p:cNvSpPr/>
            <p:nvPr/>
          </p:nvSpPr>
          <p:spPr>
            <a:xfrm>
              <a:off x="3857625"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51" name="TextBox 51"/>
            <p:cNvSpPr txBox="1"/>
            <p:nvPr/>
          </p:nvSpPr>
          <p:spPr>
            <a:xfrm>
              <a:off x="3848100"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52" name="TextBox 52"/>
            <p:cNvSpPr txBox="1"/>
            <p:nvPr/>
          </p:nvSpPr>
          <p:spPr>
            <a:xfrm>
              <a:off x="3847148" y="2958941"/>
              <a:ext cx="664535"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External via</a:t>
              </a:r>
            </a:p>
          </p:txBody>
        </p:sp>
        <p:sp>
          <p:nvSpPr>
            <p:cNvPr id="53" name="TextBox 53"/>
            <p:cNvSpPr txBox="1"/>
            <p:nvPr/>
          </p:nvSpPr>
          <p:spPr>
            <a:xfrm>
              <a:off x="3847148" y="3111341"/>
              <a:ext cx="96707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NodeIP : NodePort</a:t>
              </a:r>
            </a:p>
          </p:txBody>
        </p:sp>
        <p:sp>
          <p:nvSpPr>
            <p:cNvPr id="54" name="TextBox 54"/>
            <p:cNvSpPr txBox="1"/>
            <p:nvPr/>
          </p:nvSpPr>
          <p:spPr>
            <a:xfrm>
              <a:off x="3848100" y="3462338"/>
              <a:ext cx="629126"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Port range</a:t>
              </a:r>
            </a:p>
          </p:txBody>
        </p:sp>
        <p:sp>
          <p:nvSpPr>
            <p:cNvPr id="55" name="TextBox 55"/>
            <p:cNvSpPr txBox="1"/>
            <p:nvPr/>
          </p:nvSpPr>
          <p:spPr>
            <a:xfrm>
              <a:off x="3844290" y="3601402"/>
              <a:ext cx="916131"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30000-32767</a:t>
              </a:r>
            </a:p>
          </p:txBody>
        </p:sp>
        <p:sp>
          <p:nvSpPr>
            <p:cNvPr id="56" name="TextBox 56"/>
            <p:cNvSpPr txBox="1"/>
            <p:nvPr/>
          </p:nvSpPr>
          <p:spPr>
            <a:xfrm>
              <a:off x="3848100" y="3786188"/>
              <a:ext cx="684133"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default range</a:t>
              </a:r>
            </a:p>
          </p:txBody>
        </p:sp>
        <p:sp>
          <p:nvSpPr>
            <p:cNvPr id="57" name="TextBox 57"/>
            <p:cNvSpPr txBox="1"/>
            <p:nvPr/>
          </p:nvSpPr>
          <p:spPr>
            <a:xfrm>
              <a:off x="3848100" y="4129088"/>
              <a:ext cx="37909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Stack</a:t>
              </a:r>
            </a:p>
          </p:txBody>
        </p:sp>
        <p:sp>
          <p:nvSpPr>
            <p:cNvPr id="58" name="TextBox 58"/>
            <p:cNvSpPr txBox="1"/>
            <p:nvPr/>
          </p:nvSpPr>
          <p:spPr>
            <a:xfrm>
              <a:off x="3847148" y="4292441"/>
              <a:ext cx="97257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opens on all nodes</a:t>
              </a:r>
            </a:p>
          </p:txBody>
        </p:sp>
        <p:sp>
          <p:nvSpPr>
            <p:cNvPr id="59" name="TextBox 59"/>
            <p:cNvSpPr txBox="1"/>
            <p:nvPr/>
          </p:nvSpPr>
          <p:spPr>
            <a:xfrm>
              <a:off x="3847148" y="4444841"/>
              <a:ext cx="91206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ClusterIP → Pod</a:t>
              </a:r>
            </a:p>
          </p:txBody>
        </p:sp>
        <p:sp>
          <p:nvSpPr>
            <p:cNvPr id="60" name="TextBox 60"/>
            <p:cNvSpPr txBox="1"/>
            <p:nvPr/>
          </p:nvSpPr>
          <p:spPr>
            <a:xfrm>
              <a:off x="3848100"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61" name="TextBox 61"/>
            <p:cNvSpPr txBox="1"/>
            <p:nvPr/>
          </p:nvSpPr>
          <p:spPr>
            <a:xfrm>
              <a:off x="3847148" y="4959191"/>
              <a:ext cx="604028"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No cloud LB</a:t>
              </a:r>
            </a:p>
          </p:txBody>
        </p:sp>
        <p:sp>
          <p:nvSpPr>
            <p:cNvPr id="62" name="TextBox 62"/>
            <p:cNvSpPr txBox="1"/>
            <p:nvPr/>
          </p:nvSpPr>
          <p:spPr>
            <a:xfrm>
              <a:off x="3847148" y="5111591"/>
              <a:ext cx="774549"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dev / on-prem</a:t>
              </a:r>
            </a:p>
          </p:txBody>
        </p:sp>
        <p:sp>
          <p:nvSpPr>
            <p:cNvPr id="63" name="Line 63"/>
            <p:cNvSpPr/>
            <p:nvPr/>
          </p:nvSpPr>
          <p:spPr>
            <a:xfrm>
              <a:off x="3857625"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64" name="TextBox 64"/>
            <p:cNvSpPr txBox="1"/>
            <p:nvPr/>
          </p:nvSpPr>
          <p:spPr>
            <a:xfrm>
              <a:off x="4150519" y="5737384"/>
              <a:ext cx="557213"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L4 EXPOSURE</a:t>
              </a:r>
            </a:p>
          </p:txBody>
        </p:sp>
        <p:sp>
          <p:nvSpPr>
            <p:cNvPr id="65" name="TextBox 65"/>
            <p:cNvSpPr txBox="1"/>
            <p:nvPr/>
          </p:nvSpPr>
          <p:spPr>
            <a:xfrm>
              <a:off x="4146018" y="5870734"/>
              <a:ext cx="566214"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no LB needed</a:t>
              </a:r>
            </a:p>
          </p:txBody>
        </p:sp>
      </p:grpSp>
      <p:grpSp>
        <p:nvGrpSpPr>
          <p:cNvPr id="92" name="Group 92"/>
          <p:cNvGrpSpPr/>
          <p:nvPr/>
        </p:nvGrpSpPr>
        <p:grpSpPr>
          <a:xfrm>
            <a:off x="6381750" y="1190625"/>
            <a:ext cx="1524000" cy="5000625"/>
            <a:chOff x="6381750" y="1190625"/>
            <a:chExt cx="1524000" cy="5000625"/>
          </a:xfrm>
        </p:grpSpPr>
        <p:sp>
          <p:nvSpPr>
            <p:cNvPr id="67" name="Line 67"/>
            <p:cNvSpPr/>
            <p:nvPr/>
          </p:nvSpPr>
          <p:spPr>
            <a:xfrm>
              <a:off x="7143750" y="1190625"/>
              <a:ext cx="9525" cy="5000625"/>
            </a:xfrm>
            <a:custGeom>
              <a:avLst/>
              <a:gdLst/>
              <a:ahLst/>
              <a:cxnLst/>
              <a:rect l="l" t="t" r="r" b="b"/>
              <a:pathLst>
                <a:path w="9525" h="5000625">
                  <a:moveTo>
                    <a:pt x="0" y="0"/>
                  </a:moveTo>
                  <a:lnTo>
                    <a:pt x="0" y="5000625"/>
                  </a:lnTo>
                </a:path>
              </a:pathLst>
            </a:custGeom>
            <a:noFill/>
            <a:ln w="3810">
              <a:solidFill>
                <a:srgbClr val="FFB627">
                  <a:alpha val="60000"/>
                </a:srgbClr>
              </a:solidFill>
              <a:custDash>
                <a:ds d="500000" sp="1000000"/>
              </a:custDash>
            </a:ln>
          </p:spPr>
        </p:sp>
        <p:sp>
          <p:nvSpPr>
            <p:cNvPr id="68" name="Polygon 68"/>
            <p:cNvSpPr/>
            <p:nvPr/>
          </p:nvSpPr>
          <p:spPr>
            <a:xfrm>
              <a:off x="7096125" y="1190625"/>
              <a:ext cx="95250" cy="95250"/>
            </a:xfrm>
            <a:custGeom>
              <a:avLst/>
              <a:gdLst/>
              <a:ahLst/>
              <a:cxnLst/>
              <a:rect l="l" t="t" r="r" b="b"/>
              <a:pathLst>
                <a:path w="95250" h="95250">
                  <a:moveTo>
                    <a:pt x="47625" y="0"/>
                  </a:moveTo>
                  <a:lnTo>
                    <a:pt x="0" y="95250"/>
                  </a:lnTo>
                  <a:lnTo>
                    <a:pt x="95250" y="95250"/>
                  </a:lnTo>
                  <a:close/>
                </a:path>
              </a:pathLst>
            </a:custGeom>
            <a:solidFill>
              <a:srgbClr val="FFB627"/>
            </a:solidFill>
            <a:ln>
              <a:noFill/>
            </a:ln>
          </p:spPr>
        </p:sp>
        <p:sp>
          <p:nvSpPr>
            <p:cNvPr id="69" name="Rectangle 69"/>
            <p:cNvSpPr/>
            <p:nvPr/>
          </p:nvSpPr>
          <p:spPr>
            <a:xfrm>
              <a:off x="6381750" y="1428750"/>
              <a:ext cx="1524000" cy="4762500"/>
            </a:xfrm>
            <a:prstGeom prst="rect">
              <a:avLst/>
            </a:prstGeom>
            <a:solidFill>
              <a:srgbClr val="1A3A5C">
                <a:alpha val="35000"/>
              </a:srgbClr>
            </a:solidFill>
            <a:ln w="19050">
              <a:solidFill>
                <a:srgbClr val="FFB627"/>
              </a:solidFill>
            </a:ln>
          </p:spPr>
        </p:sp>
        <p:sp>
          <p:nvSpPr>
            <p:cNvPr id="70" name="Rectangle 70"/>
            <p:cNvSpPr/>
            <p:nvPr/>
          </p:nvSpPr>
          <p:spPr>
            <a:xfrm>
              <a:off x="6381750" y="1428750"/>
              <a:ext cx="1524000" cy="304800"/>
            </a:xfrm>
            <a:prstGeom prst="rect">
              <a:avLst/>
            </a:prstGeom>
            <a:solidFill>
              <a:srgbClr val="FFB627"/>
            </a:solidFill>
            <a:ln>
              <a:noFill/>
            </a:ln>
          </p:spPr>
        </p:sp>
        <p:sp>
          <p:nvSpPr>
            <p:cNvPr id="71" name="TextBox 71"/>
            <p:cNvSpPr txBox="1"/>
            <p:nvPr/>
          </p:nvSpPr>
          <p:spPr>
            <a:xfrm>
              <a:off x="6647159" y="1531620"/>
              <a:ext cx="993181"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TYPE 03 · CLOUD</a:t>
              </a:r>
            </a:p>
          </p:txBody>
        </p:sp>
        <p:sp>
          <p:nvSpPr>
            <p:cNvPr id="72" name="TextBox 72"/>
            <p:cNvSpPr txBox="1"/>
            <p:nvPr/>
          </p:nvSpPr>
          <p:spPr>
            <a:xfrm>
              <a:off x="6629337" y="1859756"/>
              <a:ext cx="1028825" cy="228600"/>
            </a:xfrm>
            <a:prstGeom prst="rect">
              <a:avLst/>
            </a:prstGeom>
            <a:noFill/>
            <a:ln>
              <a:noFill/>
            </a:ln>
          </p:spPr>
          <p:txBody>
            <a:bodyPr wrap="none" lIns="0" tIns="0" rIns="0" bIns="0" anchor="t" anchorCtr="0">
              <a:spAutoFit/>
            </a:bodyPr>
            <a:lstStyle/>
            <a:p>
              <a:pPr algn="ctr"/>
              <a:r>
                <a:rPr lang="zh-CN" sz="1125" b="1" dirty="0">
                  <a:solidFill>
                    <a:srgbClr val="FFB627"/>
                  </a:solidFill>
                  <a:latin typeface="Consolas"/>
                  <a:ea typeface="Microsoft YaHei"/>
                  <a:cs typeface="Consolas"/>
                </a:rPr>
                <a:t>LoadBalancer</a:t>
              </a:r>
            </a:p>
          </p:txBody>
        </p:sp>
        <p:sp>
          <p:nvSpPr>
            <p:cNvPr id="73" name="Line 73"/>
            <p:cNvSpPr/>
            <p:nvPr/>
          </p:nvSpPr>
          <p:spPr>
            <a:xfrm>
              <a:off x="6572250" y="2114550"/>
              <a:ext cx="1143000" cy="9525"/>
            </a:xfrm>
            <a:custGeom>
              <a:avLst/>
              <a:gdLst/>
              <a:ahLst/>
              <a:cxnLst/>
              <a:rect l="l" t="t" r="r" b="b"/>
              <a:pathLst>
                <a:path w="1143000" h="9525">
                  <a:moveTo>
                    <a:pt x="0" y="0"/>
                  </a:moveTo>
                  <a:lnTo>
                    <a:pt x="1143000" y="0"/>
                  </a:lnTo>
                </a:path>
              </a:pathLst>
            </a:custGeom>
            <a:noFill/>
            <a:ln w="5715">
              <a:solidFill>
                <a:srgbClr val="FFB627"/>
              </a:solidFill>
            </a:ln>
          </p:spPr>
        </p:sp>
        <p:sp>
          <p:nvSpPr>
            <p:cNvPr id="74" name="TextBox 74"/>
            <p:cNvSpPr txBox="1"/>
            <p:nvPr/>
          </p:nvSpPr>
          <p:spPr>
            <a:xfrm>
              <a:off x="6783979" y="2235041"/>
              <a:ext cx="719542"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cloud LB with</a:t>
              </a:r>
            </a:p>
          </p:txBody>
        </p:sp>
        <p:sp>
          <p:nvSpPr>
            <p:cNvPr id="75" name="TextBox 75"/>
            <p:cNvSpPr txBox="1"/>
            <p:nvPr/>
          </p:nvSpPr>
          <p:spPr>
            <a:xfrm>
              <a:off x="6841736" y="2368391"/>
              <a:ext cx="60402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external IP</a:t>
              </a:r>
            </a:p>
          </p:txBody>
        </p:sp>
        <p:sp>
          <p:nvSpPr>
            <p:cNvPr id="76" name="Line 76"/>
            <p:cNvSpPr/>
            <p:nvPr/>
          </p:nvSpPr>
          <p:spPr>
            <a:xfrm>
              <a:off x="6572250"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77" name="TextBox 77"/>
            <p:cNvSpPr txBox="1"/>
            <p:nvPr/>
          </p:nvSpPr>
          <p:spPr>
            <a:xfrm>
              <a:off x="6562725"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78" name="TextBox 78"/>
            <p:cNvSpPr txBox="1"/>
            <p:nvPr/>
          </p:nvSpPr>
          <p:spPr>
            <a:xfrm>
              <a:off x="6561772" y="2958941"/>
              <a:ext cx="818555"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Public Internet</a:t>
              </a:r>
            </a:p>
          </p:txBody>
        </p:sp>
        <p:sp>
          <p:nvSpPr>
            <p:cNvPr id="79" name="TextBox 79"/>
            <p:cNvSpPr txBox="1"/>
            <p:nvPr/>
          </p:nvSpPr>
          <p:spPr>
            <a:xfrm>
              <a:off x="6561772" y="3111341"/>
              <a:ext cx="664535"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cloud LB DNS</a:t>
              </a:r>
            </a:p>
          </p:txBody>
        </p:sp>
        <p:sp>
          <p:nvSpPr>
            <p:cNvPr id="80" name="TextBox 80"/>
            <p:cNvSpPr txBox="1"/>
            <p:nvPr/>
          </p:nvSpPr>
          <p:spPr>
            <a:xfrm>
              <a:off x="6562725" y="3462338"/>
              <a:ext cx="79914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Provisioned by</a:t>
              </a:r>
            </a:p>
          </p:txBody>
        </p:sp>
        <p:sp>
          <p:nvSpPr>
            <p:cNvPr id="81" name="TextBox 81"/>
            <p:cNvSpPr txBox="1"/>
            <p:nvPr/>
          </p:nvSpPr>
          <p:spPr>
            <a:xfrm>
              <a:off x="6561772" y="3625691"/>
              <a:ext cx="835057" cy="167640"/>
            </a:xfrm>
            <a:prstGeom prst="rect">
              <a:avLst/>
            </a:prstGeom>
            <a:noFill/>
            <a:ln>
              <a:noFill/>
            </a:ln>
          </p:spPr>
          <p:txBody>
            <a:bodyPr wrap="none" lIns="0" tIns="0" rIns="0" bIns="0" anchor="t" anchorCtr="0">
              <a:spAutoFit/>
            </a:bodyPr>
            <a:lstStyle/>
            <a:p>
              <a:pPr algn="l"/>
              <a:r>
                <a:rPr lang="zh-CN" sz="825" dirty="0">
                  <a:solidFill>
                    <a:srgbClr val="F0F4F8"/>
                  </a:solidFill>
                  <a:latin typeface="Consolas"/>
                  <a:ea typeface="Microsoft YaHei"/>
                  <a:cs typeface="Consolas"/>
                </a:rPr>
                <a:t>cloud-ctrl-mgr</a:t>
              </a:r>
            </a:p>
          </p:txBody>
        </p:sp>
        <p:sp>
          <p:nvSpPr>
            <p:cNvPr id="82" name="TextBox 82"/>
            <p:cNvSpPr txBox="1"/>
            <p:nvPr/>
          </p:nvSpPr>
          <p:spPr>
            <a:xfrm>
              <a:off x="6562725" y="3786188"/>
              <a:ext cx="819150"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AWS ELB · GCP LB</a:t>
              </a:r>
            </a:p>
          </p:txBody>
        </p:sp>
        <p:sp>
          <p:nvSpPr>
            <p:cNvPr id="83" name="TextBox 83"/>
            <p:cNvSpPr txBox="1"/>
            <p:nvPr/>
          </p:nvSpPr>
          <p:spPr>
            <a:xfrm>
              <a:off x="6562725" y="4129088"/>
              <a:ext cx="37909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Stack</a:t>
              </a:r>
            </a:p>
          </p:txBody>
        </p:sp>
        <p:sp>
          <p:nvSpPr>
            <p:cNvPr id="84" name="TextBox 84"/>
            <p:cNvSpPr txBox="1"/>
            <p:nvPr/>
          </p:nvSpPr>
          <p:spPr>
            <a:xfrm>
              <a:off x="6561772" y="4292441"/>
              <a:ext cx="752546"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LB → NodePort</a:t>
              </a:r>
            </a:p>
          </p:txBody>
        </p:sp>
        <p:sp>
          <p:nvSpPr>
            <p:cNvPr id="85" name="TextBox 85"/>
            <p:cNvSpPr txBox="1"/>
            <p:nvPr/>
          </p:nvSpPr>
          <p:spPr>
            <a:xfrm>
              <a:off x="6561772" y="4444841"/>
              <a:ext cx="91206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ClusterIP → Pod</a:t>
              </a:r>
            </a:p>
          </p:txBody>
        </p:sp>
        <p:sp>
          <p:nvSpPr>
            <p:cNvPr id="86" name="TextBox 86"/>
            <p:cNvSpPr txBox="1"/>
            <p:nvPr/>
          </p:nvSpPr>
          <p:spPr>
            <a:xfrm>
              <a:off x="6562725"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87" name="TextBox 87"/>
            <p:cNvSpPr txBox="1"/>
            <p:nvPr/>
          </p:nvSpPr>
          <p:spPr>
            <a:xfrm>
              <a:off x="6561772" y="4959191"/>
              <a:ext cx="939570"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Public-facing app</a:t>
              </a:r>
            </a:p>
          </p:txBody>
        </p:sp>
        <p:sp>
          <p:nvSpPr>
            <p:cNvPr id="88" name="TextBox 88"/>
            <p:cNvSpPr txBox="1"/>
            <p:nvPr/>
          </p:nvSpPr>
          <p:spPr>
            <a:xfrm>
              <a:off x="6561772" y="5111591"/>
              <a:ext cx="785551"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requires cloud</a:t>
              </a:r>
            </a:p>
          </p:txBody>
        </p:sp>
        <p:sp>
          <p:nvSpPr>
            <p:cNvPr id="89" name="Line 89"/>
            <p:cNvSpPr/>
            <p:nvPr/>
          </p:nvSpPr>
          <p:spPr>
            <a:xfrm>
              <a:off x="6572250"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90" name="TextBox 90"/>
            <p:cNvSpPr txBox="1"/>
            <p:nvPr/>
          </p:nvSpPr>
          <p:spPr>
            <a:xfrm>
              <a:off x="6842641" y="5737384"/>
              <a:ext cx="60221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 PRODUCTION</a:t>
              </a:r>
            </a:p>
          </p:txBody>
        </p:sp>
        <p:sp>
          <p:nvSpPr>
            <p:cNvPr id="91" name="TextBox 91"/>
            <p:cNvSpPr txBox="1"/>
            <p:nvPr/>
          </p:nvSpPr>
          <p:spPr>
            <a:xfrm>
              <a:off x="6748129" y="5870734"/>
              <a:ext cx="791242" cy="137160"/>
            </a:xfrm>
            <a:prstGeom prst="rect">
              <a:avLst/>
            </a:prstGeom>
            <a:noFill/>
            <a:ln>
              <a:noFill/>
            </a:ln>
          </p:spPr>
          <p:txBody>
            <a:bodyPr wrap="none" lIns="0" tIns="0" rIns="0" bIns="0" anchor="t" anchorCtr="0">
              <a:spAutoFit/>
            </a:bodyPr>
            <a:lstStyle/>
            <a:p>
              <a:pPr algn="ctr"/>
              <a:r>
                <a:rPr lang="zh-CN" sz="675" dirty="0">
                  <a:solidFill>
                    <a:srgbClr val="F0F4F8"/>
                  </a:solidFill>
                  <a:latin typeface="Consolas"/>
                  <a:ea typeface="Microsoft YaHei"/>
                  <a:cs typeface="Consolas"/>
                </a:rPr>
                <a:t>canonical pattern</a:t>
              </a:r>
            </a:p>
          </p:txBody>
        </p:sp>
      </p:grpSp>
      <p:grpSp>
        <p:nvGrpSpPr>
          <p:cNvPr id="118" name="Group 118"/>
          <p:cNvGrpSpPr/>
          <p:nvPr/>
        </p:nvGrpSpPr>
        <p:grpSpPr>
          <a:xfrm>
            <a:off x="9096375" y="1190625"/>
            <a:ext cx="1524000" cy="5000625"/>
            <a:chOff x="9096375" y="1190625"/>
            <a:chExt cx="1524000" cy="5000625"/>
          </a:xfrm>
        </p:grpSpPr>
        <p:sp>
          <p:nvSpPr>
            <p:cNvPr id="93" name="Line 93"/>
            <p:cNvSpPr/>
            <p:nvPr/>
          </p:nvSpPr>
          <p:spPr>
            <a:xfrm>
              <a:off x="9858375" y="1190625"/>
              <a:ext cx="9525" cy="5000625"/>
            </a:xfrm>
            <a:custGeom>
              <a:avLst/>
              <a:gdLst/>
              <a:ahLst/>
              <a:cxnLst/>
              <a:rect l="l" t="t" r="r" b="b"/>
              <a:pathLst>
                <a:path w="9525" h="5000625">
                  <a:moveTo>
                    <a:pt x="0" y="0"/>
                  </a:moveTo>
                  <a:lnTo>
                    <a:pt x="0" y="5000625"/>
                  </a:lnTo>
                </a:path>
              </a:pathLst>
            </a:custGeom>
            <a:noFill/>
            <a:ln w="3810">
              <a:solidFill>
                <a:srgbClr val="3E7AB8">
                  <a:alpha val="50000"/>
                </a:srgbClr>
              </a:solidFill>
              <a:custDash>
                <a:ds d="500000" sp="1000000"/>
              </a:custDash>
            </a:ln>
          </p:spPr>
        </p:sp>
        <p:sp>
          <p:nvSpPr>
            <p:cNvPr id="94" name="Polygon 94"/>
            <p:cNvSpPr/>
            <p:nvPr/>
          </p:nvSpPr>
          <p:spPr>
            <a:xfrm>
              <a:off x="9810750" y="1190625"/>
              <a:ext cx="95250" cy="95250"/>
            </a:xfrm>
            <a:custGeom>
              <a:avLst/>
              <a:gdLst/>
              <a:ahLst/>
              <a:cxnLst/>
              <a:rect l="l" t="t" r="r" b="b"/>
              <a:pathLst>
                <a:path w="95250" h="95250">
                  <a:moveTo>
                    <a:pt x="47625" y="0"/>
                  </a:moveTo>
                  <a:lnTo>
                    <a:pt x="0" y="95250"/>
                  </a:lnTo>
                  <a:lnTo>
                    <a:pt x="95250" y="95250"/>
                  </a:lnTo>
                  <a:close/>
                </a:path>
              </a:pathLst>
            </a:custGeom>
            <a:solidFill>
              <a:srgbClr val="3E7AB8"/>
            </a:solidFill>
            <a:ln>
              <a:noFill/>
            </a:ln>
          </p:spPr>
        </p:sp>
        <p:sp>
          <p:nvSpPr>
            <p:cNvPr id="95" name="Rectangle 95"/>
            <p:cNvSpPr/>
            <p:nvPr/>
          </p:nvSpPr>
          <p:spPr>
            <a:xfrm>
              <a:off x="9096375" y="1428750"/>
              <a:ext cx="1524000" cy="4762500"/>
            </a:xfrm>
            <a:prstGeom prst="rect">
              <a:avLst/>
            </a:prstGeom>
            <a:solidFill>
              <a:srgbClr val="1A3A5C">
                <a:alpha val="35000"/>
              </a:srgbClr>
            </a:solidFill>
            <a:ln w="12382">
              <a:solidFill>
                <a:srgbClr val="3E7AB8"/>
              </a:solidFill>
              <a:custDash>
                <a:ds d="384615" sp="230769"/>
              </a:custDash>
            </a:ln>
          </p:spPr>
        </p:sp>
        <p:sp>
          <p:nvSpPr>
            <p:cNvPr id="96" name="Rectangle 96"/>
            <p:cNvSpPr/>
            <p:nvPr/>
          </p:nvSpPr>
          <p:spPr>
            <a:xfrm>
              <a:off x="9096375" y="1428750"/>
              <a:ext cx="1524000" cy="304800"/>
            </a:xfrm>
            <a:prstGeom prst="rect">
              <a:avLst/>
            </a:prstGeom>
            <a:solidFill>
              <a:srgbClr val="3E7AB8"/>
            </a:solidFill>
            <a:ln>
              <a:noFill/>
            </a:ln>
          </p:spPr>
        </p:sp>
        <p:sp>
          <p:nvSpPr>
            <p:cNvPr id="97" name="TextBox 97"/>
            <p:cNvSpPr txBox="1"/>
            <p:nvPr/>
          </p:nvSpPr>
          <p:spPr>
            <a:xfrm>
              <a:off x="9322307" y="1539716"/>
              <a:ext cx="1072136"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TYPE 04 · DNS ONLY</a:t>
              </a:r>
            </a:p>
          </p:txBody>
        </p:sp>
        <p:sp>
          <p:nvSpPr>
            <p:cNvPr id="98" name="TextBox 98"/>
            <p:cNvSpPr txBox="1"/>
            <p:nvPr/>
          </p:nvSpPr>
          <p:spPr>
            <a:xfrm>
              <a:off x="9363555" y="1867852"/>
              <a:ext cx="989640" cy="213360"/>
            </a:xfrm>
            <a:prstGeom prst="rect">
              <a:avLst/>
            </a:prstGeom>
            <a:noFill/>
            <a:ln>
              <a:noFill/>
            </a:ln>
          </p:spPr>
          <p:txBody>
            <a:bodyPr wrap="none" lIns="0" tIns="0" rIns="0" bIns="0" anchor="t" anchorCtr="0">
              <a:spAutoFit/>
            </a:bodyPr>
            <a:lstStyle/>
            <a:p>
              <a:pPr algn="ctr"/>
              <a:r>
                <a:rPr lang="zh-CN" sz="1050" b="1" dirty="0">
                  <a:solidFill>
                    <a:srgbClr val="F0F4F8"/>
                  </a:solidFill>
                  <a:latin typeface="Consolas"/>
                  <a:ea typeface="Microsoft YaHei"/>
                  <a:cs typeface="Consolas"/>
                </a:rPr>
                <a:t>ExternalName</a:t>
              </a:r>
            </a:p>
          </p:txBody>
        </p:sp>
        <p:sp>
          <p:nvSpPr>
            <p:cNvPr id="99" name="Line 99"/>
            <p:cNvSpPr/>
            <p:nvPr/>
          </p:nvSpPr>
          <p:spPr>
            <a:xfrm>
              <a:off x="9286875" y="2114550"/>
              <a:ext cx="1143000" cy="9525"/>
            </a:xfrm>
            <a:custGeom>
              <a:avLst/>
              <a:gdLst/>
              <a:ahLst/>
              <a:cxnLst/>
              <a:rect l="l" t="t" r="r" b="b"/>
              <a:pathLst>
                <a:path w="1143000" h="9525">
                  <a:moveTo>
                    <a:pt x="0" y="0"/>
                  </a:moveTo>
                  <a:lnTo>
                    <a:pt x="1143000" y="0"/>
                  </a:lnTo>
                </a:path>
              </a:pathLst>
            </a:custGeom>
            <a:noFill/>
            <a:ln w="5715">
              <a:solidFill>
                <a:srgbClr val="3E7AB8"/>
              </a:solidFill>
            </a:ln>
          </p:spPr>
        </p:sp>
        <p:sp>
          <p:nvSpPr>
            <p:cNvPr id="100" name="TextBox 100"/>
            <p:cNvSpPr txBox="1"/>
            <p:nvPr/>
          </p:nvSpPr>
          <p:spPr>
            <a:xfrm>
              <a:off x="9468350" y="2235041"/>
              <a:ext cx="780050"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CNAME alias to</a:t>
              </a:r>
            </a:p>
          </p:txBody>
        </p:sp>
        <p:sp>
          <p:nvSpPr>
            <p:cNvPr id="101" name="TextBox 101"/>
            <p:cNvSpPr txBox="1"/>
            <p:nvPr/>
          </p:nvSpPr>
          <p:spPr>
            <a:xfrm>
              <a:off x="9512356" y="2368391"/>
              <a:ext cx="692039"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external DNS</a:t>
              </a:r>
            </a:p>
          </p:txBody>
        </p:sp>
        <p:sp>
          <p:nvSpPr>
            <p:cNvPr id="102" name="Line 102"/>
            <p:cNvSpPr/>
            <p:nvPr/>
          </p:nvSpPr>
          <p:spPr>
            <a:xfrm>
              <a:off x="9286875" y="26670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103" name="TextBox 103"/>
            <p:cNvSpPr txBox="1"/>
            <p:nvPr/>
          </p:nvSpPr>
          <p:spPr>
            <a:xfrm>
              <a:off x="9277350" y="2795588"/>
              <a:ext cx="399098"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Where</a:t>
              </a:r>
            </a:p>
          </p:txBody>
        </p:sp>
        <p:sp>
          <p:nvSpPr>
            <p:cNvPr id="104" name="TextBox 104"/>
            <p:cNvSpPr txBox="1"/>
            <p:nvPr/>
          </p:nvSpPr>
          <p:spPr>
            <a:xfrm>
              <a:off x="9276398" y="2958941"/>
              <a:ext cx="868061"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Outside cluster</a:t>
              </a:r>
            </a:p>
          </p:txBody>
        </p:sp>
        <p:sp>
          <p:nvSpPr>
            <p:cNvPr id="105" name="TextBox 105"/>
            <p:cNvSpPr txBox="1"/>
            <p:nvPr/>
          </p:nvSpPr>
          <p:spPr>
            <a:xfrm>
              <a:off x="9276398" y="3111341"/>
              <a:ext cx="972574"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via DNS resolution</a:t>
              </a:r>
            </a:p>
          </p:txBody>
        </p:sp>
        <p:sp>
          <p:nvSpPr>
            <p:cNvPr id="106" name="TextBox 106"/>
            <p:cNvSpPr txBox="1"/>
            <p:nvPr/>
          </p:nvSpPr>
          <p:spPr>
            <a:xfrm>
              <a:off x="9277350" y="3462338"/>
              <a:ext cx="614124"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Mechanism</a:t>
              </a:r>
            </a:p>
          </p:txBody>
        </p:sp>
        <p:sp>
          <p:nvSpPr>
            <p:cNvPr id="107" name="TextBox 107"/>
            <p:cNvSpPr txBox="1"/>
            <p:nvPr/>
          </p:nvSpPr>
          <p:spPr>
            <a:xfrm>
              <a:off x="9276398" y="3625691"/>
              <a:ext cx="956072"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DNS CNAME record</a:t>
              </a:r>
            </a:p>
          </p:txBody>
        </p:sp>
        <p:sp>
          <p:nvSpPr>
            <p:cNvPr id="108" name="TextBox 108"/>
            <p:cNvSpPr txBox="1"/>
            <p:nvPr/>
          </p:nvSpPr>
          <p:spPr>
            <a:xfrm>
              <a:off x="9276398" y="3778091"/>
              <a:ext cx="78005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no kube-proxy</a:t>
              </a:r>
            </a:p>
          </p:txBody>
        </p:sp>
        <p:sp>
          <p:nvSpPr>
            <p:cNvPr id="109" name="TextBox 109"/>
            <p:cNvSpPr txBox="1"/>
            <p:nvPr/>
          </p:nvSpPr>
          <p:spPr>
            <a:xfrm>
              <a:off x="9277350" y="4129088"/>
              <a:ext cx="519112"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Selector</a:t>
              </a:r>
            </a:p>
          </p:txBody>
        </p:sp>
        <p:sp>
          <p:nvSpPr>
            <p:cNvPr id="110" name="TextBox 110"/>
            <p:cNvSpPr txBox="1"/>
            <p:nvPr/>
          </p:nvSpPr>
          <p:spPr>
            <a:xfrm>
              <a:off x="9276398" y="4292441"/>
              <a:ext cx="752546"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none required</a:t>
              </a:r>
            </a:p>
          </p:txBody>
        </p:sp>
        <p:sp>
          <p:nvSpPr>
            <p:cNvPr id="111" name="TextBox 111"/>
            <p:cNvSpPr txBox="1"/>
            <p:nvPr/>
          </p:nvSpPr>
          <p:spPr>
            <a:xfrm>
              <a:off x="9276398" y="4444841"/>
              <a:ext cx="84605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no backing Pods</a:t>
              </a:r>
            </a:p>
          </p:txBody>
        </p:sp>
        <p:sp>
          <p:nvSpPr>
            <p:cNvPr id="112" name="TextBox 112"/>
            <p:cNvSpPr txBox="1"/>
            <p:nvPr/>
          </p:nvSpPr>
          <p:spPr>
            <a:xfrm>
              <a:off x="9277350" y="4795838"/>
              <a:ext cx="539115"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 Use when</a:t>
              </a:r>
            </a:p>
          </p:txBody>
        </p:sp>
        <p:sp>
          <p:nvSpPr>
            <p:cNvPr id="113" name="TextBox 113"/>
            <p:cNvSpPr txBox="1"/>
            <p:nvPr/>
          </p:nvSpPr>
          <p:spPr>
            <a:xfrm>
              <a:off x="9276398" y="4959191"/>
              <a:ext cx="912066"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External DB / API</a:t>
              </a:r>
            </a:p>
          </p:txBody>
        </p:sp>
        <p:sp>
          <p:nvSpPr>
            <p:cNvPr id="114" name="TextBox 114"/>
            <p:cNvSpPr txBox="1"/>
            <p:nvPr/>
          </p:nvSpPr>
          <p:spPr>
            <a:xfrm>
              <a:off x="9276398" y="5111591"/>
              <a:ext cx="80205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migration shim</a:t>
              </a:r>
            </a:p>
          </p:txBody>
        </p:sp>
        <p:sp>
          <p:nvSpPr>
            <p:cNvPr id="115" name="Line 115"/>
            <p:cNvSpPr/>
            <p:nvPr/>
          </p:nvSpPr>
          <p:spPr>
            <a:xfrm>
              <a:off x="9286875" y="5524500"/>
              <a:ext cx="1143000" cy="9525"/>
            </a:xfrm>
            <a:custGeom>
              <a:avLst/>
              <a:gdLst/>
              <a:ahLst/>
              <a:cxnLst/>
              <a:rect l="l" t="t" r="r" b="b"/>
              <a:pathLst>
                <a:path w="1143000" h="9525">
                  <a:moveTo>
                    <a:pt x="0" y="0"/>
                  </a:moveTo>
                  <a:lnTo>
                    <a:pt x="1143000" y="0"/>
                  </a:lnTo>
                </a:path>
              </a:pathLst>
            </a:custGeom>
            <a:noFill/>
            <a:ln w="4762">
              <a:solidFill>
                <a:srgbClr val="2D4A6B"/>
              </a:solidFill>
            </a:ln>
          </p:spPr>
        </p:sp>
        <p:sp>
          <p:nvSpPr>
            <p:cNvPr id="116" name="TextBox 116"/>
            <p:cNvSpPr txBox="1"/>
            <p:nvPr/>
          </p:nvSpPr>
          <p:spPr>
            <a:xfrm>
              <a:off x="9582019" y="5737384"/>
              <a:ext cx="552712" cy="137160"/>
            </a:xfrm>
            <a:prstGeom prst="rect">
              <a:avLst/>
            </a:prstGeom>
            <a:noFill/>
            <a:ln>
              <a:noFill/>
            </a:ln>
          </p:spPr>
          <p:txBody>
            <a:bodyPr wrap="none" lIns="0" tIns="0" rIns="0" bIns="0" anchor="t" anchorCtr="0">
              <a:spAutoFit/>
            </a:bodyPr>
            <a:lstStyle/>
            <a:p>
              <a:pPr algn="ctr"/>
              <a:r>
                <a:rPr lang="zh-CN" sz="675" dirty="0">
                  <a:solidFill>
                    <a:srgbClr val="3E7AB8"/>
                  </a:solidFill>
                  <a:latin typeface="Consolas"/>
                  <a:ea typeface="Microsoft YaHei"/>
                  <a:cs typeface="Consolas"/>
                </a:rPr>
                <a:t>NO PROXYING</a:t>
              </a:r>
            </a:p>
          </p:txBody>
        </p:sp>
        <p:sp>
          <p:nvSpPr>
            <p:cNvPr id="117" name="TextBox 117"/>
            <p:cNvSpPr txBox="1"/>
            <p:nvPr/>
          </p:nvSpPr>
          <p:spPr>
            <a:xfrm>
              <a:off x="9537013" y="5870734"/>
              <a:ext cx="642723"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edge case only</a:t>
              </a:r>
            </a:p>
          </p:txBody>
        </p:sp>
      </p:grpSp>
      <p:grpSp>
        <p:nvGrpSpPr>
          <p:cNvPr id="122" name="Group 122"/>
          <p:cNvGrpSpPr/>
          <p:nvPr/>
        </p:nvGrpSpPr>
        <p:grpSpPr>
          <a:xfrm>
            <a:off x="561022" y="6477000"/>
            <a:ext cx="11069956" cy="269081"/>
            <a:chOff x="561022" y="6477000"/>
            <a:chExt cx="11069956" cy="269081"/>
          </a:xfrm>
        </p:grpSpPr>
        <p:sp>
          <p:nvSpPr>
            <p:cNvPr id="119" name="Line 119"/>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20" name="TextBox 120"/>
            <p:cNvSpPr txBox="1"/>
            <p:nvPr/>
          </p:nvSpPr>
          <p:spPr>
            <a:xfrm>
              <a:off x="561022" y="6578441"/>
              <a:ext cx="2666786"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06 OF 10 · SERVICE TYPES</a:t>
              </a:r>
            </a:p>
          </p:txBody>
        </p:sp>
        <p:sp>
          <p:nvSpPr>
            <p:cNvPr id="121" name="TextBox 121"/>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06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660"/>
                            </p:stCondLst>
                            <p:childTnLst>
                              <p:par>
                                <p:cTn id="9" presetID="22" presetClass="entr" presetSubtype="1"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400"/>
                                        <p:tgtEl>
                                          <p:spTgt spid="40"/>
                                        </p:tgtEl>
                                      </p:cBhvr>
                                    </p:animEffect>
                                  </p:childTnLst>
                                </p:cTn>
                              </p:par>
                            </p:childTnLst>
                          </p:cTn>
                        </p:par>
                        <p:par>
                          <p:cTn id="12" fill="hold">
                            <p:stCondLst>
                              <p:cond delay="1220"/>
                            </p:stCondLst>
                            <p:childTnLst>
                              <p:par>
                                <p:cTn id="13" presetID="22" presetClass="entr" presetSubtype="1" fill="hold"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wipe(left)">
                                      <p:cBhvr>
                                        <p:cTn id="15" dur="400"/>
                                        <p:tgtEl>
                                          <p:spTgt spid="66"/>
                                        </p:tgtEl>
                                      </p:cBhvr>
                                    </p:animEffect>
                                  </p:childTnLst>
                                </p:cTn>
                              </p:par>
                            </p:childTnLst>
                          </p:cTn>
                        </p:par>
                        <p:par>
                          <p:cTn id="16" fill="hold">
                            <p:stCondLst>
                              <p:cond delay="1720"/>
                            </p:stCondLst>
                            <p:childTnLst>
                              <p:par>
                                <p:cTn id="17" presetID="23" presetClass="entr" presetSubtype="0" fill="hold" nodeType="after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image">
                                      <p:cBhvr>
                                        <p:cTn id="19" dur="550"/>
                                        <p:tgtEl>
                                          <p:spTgt spid="92"/>
                                        </p:tgtEl>
                                      </p:cBhvr>
                                    </p:animEffect>
                                  </p:childTnLst>
                                </p:cTn>
                              </p:par>
                            </p:childTnLst>
                          </p:cTn>
                        </p:par>
                        <p:par>
                          <p:cTn id="20" fill="hold">
                            <p:stCondLst>
                              <p:cond delay="2430"/>
                            </p:stCondLst>
                            <p:childTnLst>
                              <p:par>
                                <p:cTn id="21" presetID="22" presetClass="entr" presetSubtype="1" fill="hold" nodeType="afterEffect">
                                  <p:stCondLst>
                                    <p:cond delay="0"/>
                                  </p:stCondLst>
                                  <p:childTnLst>
                                    <p:set>
                                      <p:cBhvr>
                                        <p:cTn id="22" dur="1" fill="hold">
                                          <p:stCondLst>
                                            <p:cond delay="0"/>
                                          </p:stCondLst>
                                        </p:cTn>
                                        <p:tgtEl>
                                          <p:spTgt spid="118"/>
                                        </p:tgtEl>
                                        <p:attrNameLst>
                                          <p:attrName>style.visibility</p:attrName>
                                        </p:attrNameLst>
                                      </p:cBhvr>
                                      <p:to>
                                        <p:strVal val="visible"/>
                                      </p:to>
                                    </p:set>
                                    <p:animEffect transition="in" filter="wipe(left)">
                                      <p:cBhvr>
                                        <p:cTn id="23" dur="4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0" grpId="0"/>
      <p:bldP spid="66" grpId="0"/>
      <p:bldP spid="92" grpId="0"/>
      <p:bldP spid="1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129284"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Storage: PV / PVC / StorageClass</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P07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329428"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PERSISTENT STORAGE IS A THREE-RESOURCE CONTRACT · POD CLAIM + ADMIN PROVISIONER</a:t>
              </a:r>
            </a:p>
          </p:txBody>
        </p:sp>
      </p:grpSp>
      <p:grpSp>
        <p:nvGrpSpPr>
          <p:cNvPr id="64" name="Group 64"/>
          <p:cNvGrpSpPr/>
          <p:nvPr/>
        </p:nvGrpSpPr>
        <p:grpSpPr>
          <a:xfrm>
            <a:off x="751522" y="1053941"/>
            <a:ext cx="4772978" cy="3860959"/>
            <a:chOff x="751522" y="1053941"/>
            <a:chExt cx="4772978" cy="3860959"/>
          </a:xfrm>
        </p:grpSpPr>
        <p:sp>
          <p:nvSpPr>
            <p:cNvPr id="11" name="TextBox 11"/>
            <p:cNvSpPr txBox="1"/>
            <p:nvPr/>
          </p:nvSpPr>
          <p:spPr>
            <a:xfrm>
              <a:off x="751522" y="1053941"/>
              <a:ext cx="1770174"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CONSUMER STACK · TOP → BOTTOM</a:t>
              </a:r>
            </a:p>
          </p:txBody>
        </p:sp>
        <p:grpSp>
          <p:nvGrpSpPr>
            <p:cNvPr id="22" name="Group 22"/>
            <p:cNvGrpSpPr/>
            <p:nvPr/>
          </p:nvGrpSpPr>
          <p:grpSpPr>
            <a:xfrm>
              <a:off x="762000" y="1333500"/>
              <a:ext cx="4762500" cy="571500"/>
              <a:chOff x="762000" y="1333500"/>
              <a:chExt cx="4762500" cy="571500"/>
            </a:xfrm>
          </p:grpSpPr>
          <p:sp>
            <p:nvSpPr>
              <p:cNvPr id="12" name="Rectangle 12"/>
              <p:cNvSpPr/>
              <p:nvPr/>
            </p:nvSpPr>
            <p:spPr>
              <a:xfrm>
                <a:off x="762000" y="1333500"/>
                <a:ext cx="4762500" cy="571500"/>
              </a:xfrm>
              <a:prstGeom prst="rect">
                <a:avLst/>
              </a:prstGeom>
              <a:solidFill>
                <a:srgbClr val="0E2A47"/>
              </a:solidFill>
              <a:ln w="14288">
                <a:solidFill>
                  <a:srgbClr val="7FD99F"/>
                </a:solidFill>
              </a:ln>
            </p:spPr>
          </p:sp>
          <p:sp>
            <p:nvSpPr>
              <p:cNvPr id="13" name="Rectangle 13"/>
              <p:cNvSpPr/>
              <p:nvPr/>
            </p:nvSpPr>
            <p:spPr>
              <a:xfrm>
                <a:off x="762000" y="1333500"/>
                <a:ext cx="57150" cy="571500"/>
              </a:xfrm>
              <a:prstGeom prst="rect">
                <a:avLst/>
              </a:prstGeom>
              <a:solidFill>
                <a:srgbClr val="7FD99F"/>
              </a:solidFill>
              <a:ln>
                <a:noFill/>
              </a:ln>
            </p:spPr>
          </p:sp>
          <p:grpSp>
            <p:nvGrpSpPr>
              <p:cNvPr id="18" name="Group 18"/>
              <p:cNvGrpSpPr/>
              <p:nvPr/>
            </p:nvGrpSpPr>
            <p:grpSpPr>
              <a:xfrm>
                <a:off x="990600" y="1481595"/>
                <a:ext cx="228600" cy="256248"/>
                <a:chOff x="990600" y="1481595"/>
                <a:chExt cx="228600" cy="256248"/>
              </a:xfrm>
            </p:grpSpPr>
            <p:sp>
              <p:nvSpPr>
                <p:cNvPr id="14" name="Freeform 14"/>
                <p:cNvSpPr/>
                <p:nvPr/>
              </p:nvSpPr>
              <p:spPr>
                <a:xfrm>
                  <a:off x="990600" y="1481595"/>
                  <a:ext cx="228600" cy="256248"/>
                </a:xfrm>
                <a:custGeom>
                  <a:avLst/>
                  <a:gdLst/>
                  <a:ahLst/>
                  <a:cxnLst/>
                  <a:rect l="l" t="t" r="r" b="b"/>
                  <a:pathLst>
                    <a:path w="228600" h="256248">
                      <a:moveTo>
                        <a:pt x="228600" y="179032"/>
                      </a:moveTo>
                      <a:lnTo>
                        <a:pt x="228600" y="77203"/>
                      </a:lnTo>
                      <a:cubicBezTo>
                        <a:pt x="228584" y="68183"/>
                        <a:pt x="223738" y="59862"/>
                        <a:pt x="215900" y="55397"/>
                      </a:cubicBezTo>
                      <a:lnTo>
                        <a:pt x="127000" y="4496"/>
                      </a:lnTo>
                      <a:cubicBezTo>
                        <a:pt x="119130" y="0"/>
                        <a:pt x="109470" y="0"/>
                        <a:pt x="101600" y="4496"/>
                      </a:cubicBezTo>
                      <a:lnTo>
                        <a:pt x="12700" y="55397"/>
                      </a:lnTo>
                      <a:cubicBezTo>
                        <a:pt x="4839" y="59906"/>
                        <a:pt x="0" y="68224"/>
                        <a:pt x="0" y="77216"/>
                      </a:cubicBezTo>
                      <a:lnTo>
                        <a:pt x="0" y="179045"/>
                      </a:lnTo>
                      <a:cubicBezTo>
                        <a:pt x="0" y="188049"/>
                        <a:pt x="4839" y="196355"/>
                        <a:pt x="12700" y="200850"/>
                      </a:cubicBezTo>
                      <a:lnTo>
                        <a:pt x="101600" y="251752"/>
                      </a:lnTo>
                      <a:cubicBezTo>
                        <a:pt x="109470" y="256248"/>
                        <a:pt x="119130" y="256248"/>
                        <a:pt x="127000" y="251752"/>
                      </a:cubicBezTo>
                      <a:lnTo>
                        <a:pt x="215900" y="200850"/>
                      </a:lnTo>
                      <a:cubicBezTo>
                        <a:pt x="223761" y="196342"/>
                        <a:pt x="228600" y="188023"/>
                        <a:pt x="228600" y="179032"/>
                      </a:cubicBezTo>
                    </a:path>
                  </a:pathLst>
                </a:custGeom>
                <a:noFill/>
                <a:ln w="14288">
                  <a:solidFill>
                    <a:srgbClr val="7FD99F"/>
                  </a:solidFill>
                </a:ln>
              </p:spPr>
            </p:sp>
            <p:sp>
              <p:nvSpPr>
                <p:cNvPr id="15" name="Freeform 15"/>
                <p:cNvSpPr/>
                <p:nvPr/>
              </p:nvSpPr>
              <p:spPr>
                <a:xfrm>
                  <a:off x="1104900" y="1609725"/>
                  <a:ext cx="9525" cy="127000"/>
                </a:xfrm>
                <a:custGeom>
                  <a:avLst/>
                  <a:gdLst/>
                  <a:ahLst/>
                  <a:cxnLst/>
                  <a:rect l="l" t="t" r="r" b="b"/>
                  <a:pathLst>
                    <a:path w="9525" h="127000">
                      <a:moveTo>
                        <a:pt x="0" y="127000"/>
                      </a:moveTo>
                      <a:lnTo>
                        <a:pt x="0" y="0"/>
                      </a:lnTo>
                    </a:path>
                  </a:pathLst>
                </a:custGeom>
                <a:noFill/>
                <a:ln w="14288">
                  <a:solidFill>
                    <a:srgbClr val="7FD99F"/>
                  </a:solidFill>
                </a:ln>
              </p:spPr>
            </p:sp>
            <p:sp>
              <p:nvSpPr>
                <p:cNvPr id="16" name="Freeform 16"/>
                <p:cNvSpPr/>
                <p:nvPr/>
              </p:nvSpPr>
              <p:spPr>
                <a:xfrm>
                  <a:off x="1104900" y="1545717"/>
                  <a:ext cx="110871" cy="64008"/>
                </a:xfrm>
                <a:custGeom>
                  <a:avLst/>
                  <a:gdLst/>
                  <a:ahLst/>
                  <a:cxnLst/>
                  <a:rect l="l" t="t" r="r" b="b"/>
                  <a:pathLst>
                    <a:path w="110871" h="64008">
                      <a:moveTo>
                        <a:pt x="0" y="64008"/>
                      </a:moveTo>
                      <a:lnTo>
                        <a:pt x="110871" y="0"/>
                      </a:lnTo>
                    </a:path>
                  </a:pathLst>
                </a:custGeom>
                <a:noFill/>
                <a:ln w="14288">
                  <a:solidFill>
                    <a:srgbClr val="7FD99F"/>
                  </a:solidFill>
                </a:ln>
              </p:spPr>
            </p:sp>
            <p:sp>
              <p:nvSpPr>
                <p:cNvPr id="17" name="Freeform 17"/>
                <p:cNvSpPr/>
                <p:nvPr/>
              </p:nvSpPr>
              <p:spPr>
                <a:xfrm>
                  <a:off x="994029" y="1545717"/>
                  <a:ext cx="110871" cy="64008"/>
                </a:xfrm>
                <a:custGeom>
                  <a:avLst/>
                  <a:gdLst/>
                  <a:ahLst/>
                  <a:cxnLst/>
                  <a:rect l="l" t="t" r="r" b="b"/>
                  <a:pathLst>
                    <a:path w="110871" h="64008">
                      <a:moveTo>
                        <a:pt x="0" y="0"/>
                      </a:moveTo>
                      <a:lnTo>
                        <a:pt x="110871" y="64008"/>
                      </a:lnTo>
                    </a:path>
                  </a:pathLst>
                </a:custGeom>
                <a:noFill/>
                <a:ln w="14288">
                  <a:solidFill>
                    <a:srgbClr val="7FD99F"/>
                  </a:solidFill>
                </a:ln>
              </p:spPr>
            </p:sp>
          </p:grpSp>
          <p:sp>
            <p:nvSpPr>
              <p:cNvPr id="19" name="TextBox 19"/>
              <p:cNvSpPr txBox="1"/>
              <p:nvPr/>
            </p:nvSpPr>
            <p:spPr>
              <a:xfrm>
                <a:off x="1367790" y="1477328"/>
                <a:ext cx="269250" cy="213360"/>
              </a:xfrm>
              <a:prstGeom prst="rect">
                <a:avLst/>
              </a:prstGeom>
              <a:noFill/>
              <a:ln>
                <a:noFill/>
              </a:ln>
            </p:spPr>
            <p:txBody>
              <a:bodyPr wrap="none" lIns="0" tIns="0" rIns="0" bIns="0" anchor="t" anchorCtr="0">
                <a:spAutoFit/>
              </a:bodyPr>
              <a:lstStyle/>
              <a:p>
                <a:pPr algn="l"/>
                <a:r>
                  <a:rPr lang="zh-CN" sz="1050" b="1" dirty="0">
                    <a:solidFill>
                      <a:srgbClr val="7FD99F"/>
                    </a:solidFill>
                    <a:latin typeface="Consolas"/>
                    <a:ea typeface="Microsoft YaHei"/>
                    <a:cs typeface="Consolas"/>
                  </a:rPr>
                  <a:t>Pod</a:t>
                </a:r>
              </a:p>
            </p:txBody>
          </p:sp>
          <p:sp>
            <p:nvSpPr>
              <p:cNvPr id="20" name="TextBox 20"/>
              <p:cNvSpPr txBox="1"/>
              <p:nvPr/>
            </p:nvSpPr>
            <p:spPr>
              <a:xfrm>
                <a:off x="1704022" y="1501616"/>
                <a:ext cx="126411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consumes storage via</a:t>
                </a:r>
              </a:p>
            </p:txBody>
          </p:sp>
          <p:sp>
            <p:nvSpPr>
              <p:cNvPr id="21" name="TextBox 21"/>
              <p:cNvSpPr txBox="1"/>
              <p:nvPr/>
            </p:nvSpPr>
            <p:spPr>
              <a:xfrm>
                <a:off x="1369695" y="1684020"/>
                <a:ext cx="2639187" cy="182880"/>
              </a:xfrm>
              <a:prstGeom prst="rect">
                <a:avLst/>
              </a:prstGeom>
              <a:noFill/>
              <a:ln>
                <a:noFill/>
              </a:ln>
            </p:spPr>
            <p:txBody>
              <a:bodyPr wrap="none" lIns="0" tIns="0" rIns="0" bIns="0" anchor="t" anchorCtr="0">
                <a:spAutoFit/>
              </a:bodyPr>
              <a:lstStyle/>
              <a:p>
                <a:pPr algn="l"/>
                <a:r>
                  <a:rPr lang="zh-CN" sz="900" dirty="0">
                    <a:solidFill>
                      <a:srgbClr val="F0F4F8"/>
                    </a:solidFill>
                    <a:latin typeface="Consolas"/>
                    <a:ea typeface="Microsoft YaHei"/>
                    <a:cs typeface="Consolas"/>
                  </a:rPr>
                  <a:t>volumes[].persistentVolumeClaim.claimName</a:t>
                </a:r>
              </a:p>
            </p:txBody>
          </p:sp>
        </p:grpSp>
        <p:sp>
          <p:nvSpPr>
            <p:cNvPr id="23" name="Line 23"/>
            <p:cNvSpPr/>
            <p:nvPr/>
          </p:nvSpPr>
          <p:spPr>
            <a:xfrm>
              <a:off x="1714500" y="1905000"/>
              <a:ext cx="1" cy="238125"/>
            </a:xfrm>
            <a:prstGeom prst="line">
              <a:avLst/>
            </a:prstGeom>
            <a:noFill/>
            <a:ln w="14288">
              <a:solidFill>
                <a:srgbClr val="5BA3E0"/>
              </a:solidFill>
              <a:tailEnd type="triangle" w="lg" len="lg"/>
            </a:ln>
          </p:spPr>
        </p:sp>
        <p:sp>
          <p:nvSpPr>
            <p:cNvPr id="24" name="TextBox 24"/>
            <p:cNvSpPr txBox="1"/>
            <p:nvPr/>
          </p:nvSpPr>
          <p:spPr>
            <a:xfrm>
              <a:off x="1847850" y="1995488"/>
              <a:ext cx="319088"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claims</a:t>
              </a:r>
            </a:p>
          </p:txBody>
        </p:sp>
        <p:grpSp>
          <p:nvGrpSpPr>
            <p:cNvPr id="38" name="Group 38"/>
            <p:cNvGrpSpPr/>
            <p:nvPr/>
          </p:nvGrpSpPr>
          <p:grpSpPr>
            <a:xfrm>
              <a:off x="762000" y="2209800"/>
              <a:ext cx="4762500" cy="762000"/>
              <a:chOff x="762000" y="2209800"/>
              <a:chExt cx="4762500" cy="762000"/>
            </a:xfrm>
          </p:grpSpPr>
          <p:sp>
            <p:nvSpPr>
              <p:cNvPr id="25" name="Rectangle 25"/>
              <p:cNvSpPr/>
              <p:nvPr/>
            </p:nvSpPr>
            <p:spPr>
              <a:xfrm>
                <a:off x="762000" y="2209800"/>
                <a:ext cx="4762500" cy="762000"/>
              </a:xfrm>
              <a:prstGeom prst="rect">
                <a:avLst/>
              </a:prstGeom>
              <a:solidFill>
                <a:srgbClr val="0E2A47"/>
              </a:solidFill>
              <a:ln w="17145">
                <a:solidFill>
                  <a:srgbClr val="FFB627"/>
                </a:solidFill>
              </a:ln>
            </p:spPr>
          </p:sp>
          <p:sp>
            <p:nvSpPr>
              <p:cNvPr id="26" name="Rectangle 26"/>
              <p:cNvSpPr/>
              <p:nvPr/>
            </p:nvSpPr>
            <p:spPr>
              <a:xfrm>
                <a:off x="762000" y="2209800"/>
                <a:ext cx="57150" cy="762000"/>
              </a:xfrm>
              <a:prstGeom prst="rect">
                <a:avLst/>
              </a:prstGeom>
              <a:solidFill>
                <a:srgbClr val="FFB627"/>
              </a:solidFill>
              <a:ln>
                <a:noFill/>
              </a:ln>
            </p:spPr>
          </p:sp>
          <p:grpSp>
            <p:nvGrpSpPr>
              <p:cNvPr id="33" name="Group 33"/>
              <p:cNvGrpSpPr/>
              <p:nvPr/>
            </p:nvGrpSpPr>
            <p:grpSpPr>
              <a:xfrm>
                <a:off x="988219" y="2397919"/>
                <a:ext cx="228721" cy="226219"/>
                <a:chOff x="988219" y="2397919"/>
                <a:chExt cx="228721" cy="226219"/>
              </a:xfrm>
            </p:grpSpPr>
            <p:sp>
              <p:nvSpPr>
                <p:cNvPr id="27" name="Freeform 27"/>
                <p:cNvSpPr/>
                <p:nvPr/>
              </p:nvSpPr>
              <p:spPr>
                <a:xfrm>
                  <a:off x="988219" y="2564606"/>
                  <a:ext cx="65484" cy="47625"/>
                </a:xfrm>
                <a:custGeom>
                  <a:avLst/>
                  <a:gdLst/>
                  <a:ahLst/>
                  <a:cxnLst/>
                  <a:rect l="l" t="t" r="r" b="b"/>
                  <a:pathLst>
                    <a:path w="65484" h="47625">
                      <a:moveTo>
                        <a:pt x="59531" y="47625"/>
                      </a:moveTo>
                      <a:lnTo>
                        <a:pt x="35719" y="47625"/>
                      </a:lnTo>
                      <a:cubicBezTo>
                        <a:pt x="15992" y="47625"/>
                        <a:pt x="0" y="31633"/>
                        <a:pt x="0" y="11906"/>
                      </a:cubicBezTo>
                      <a:lnTo>
                        <a:pt x="0" y="0"/>
                      </a:lnTo>
                      <a:lnTo>
                        <a:pt x="65484" y="0"/>
                      </a:lnTo>
                    </a:path>
                  </a:pathLst>
                </a:custGeom>
                <a:noFill/>
                <a:ln w="14288">
                  <a:solidFill>
                    <a:srgbClr val="FFB627"/>
                  </a:solidFill>
                </a:ln>
              </p:spPr>
            </p:sp>
            <p:sp>
              <p:nvSpPr>
                <p:cNvPr id="28" name="Freeform 28"/>
                <p:cNvSpPr/>
                <p:nvPr/>
              </p:nvSpPr>
              <p:spPr>
                <a:xfrm>
                  <a:off x="1154906" y="2397919"/>
                  <a:ext cx="47625" cy="65484"/>
                </a:xfrm>
                <a:custGeom>
                  <a:avLst/>
                  <a:gdLst/>
                  <a:ahLst/>
                  <a:cxnLst/>
                  <a:rect l="l" t="t" r="r" b="b"/>
                  <a:pathLst>
                    <a:path w="47625" h="65484">
                      <a:moveTo>
                        <a:pt x="0" y="65484"/>
                      </a:moveTo>
                      <a:lnTo>
                        <a:pt x="0" y="23812"/>
                      </a:lnTo>
                      <a:cubicBezTo>
                        <a:pt x="0" y="10661"/>
                        <a:pt x="10661" y="0"/>
                        <a:pt x="23812" y="0"/>
                      </a:cubicBezTo>
                      <a:cubicBezTo>
                        <a:pt x="36964" y="0"/>
                        <a:pt x="47625" y="10661"/>
                        <a:pt x="47625" y="23812"/>
                      </a:cubicBezTo>
                      <a:cubicBezTo>
                        <a:pt x="47625" y="36964"/>
                        <a:pt x="36964" y="47625"/>
                        <a:pt x="23812" y="47625"/>
                      </a:cubicBezTo>
                      <a:lnTo>
                        <a:pt x="0" y="47625"/>
                      </a:lnTo>
                    </a:path>
                  </a:pathLst>
                </a:custGeom>
                <a:noFill/>
                <a:ln w="14288">
                  <a:solidFill>
                    <a:srgbClr val="FFB627"/>
                  </a:solidFill>
                </a:ln>
              </p:spPr>
            </p:sp>
            <p:sp>
              <p:nvSpPr>
                <p:cNvPr id="29" name="Freeform 29"/>
                <p:cNvSpPr/>
                <p:nvPr/>
              </p:nvSpPr>
              <p:spPr>
                <a:xfrm>
                  <a:off x="1012031" y="2397919"/>
                  <a:ext cx="166688" cy="166688"/>
                </a:xfrm>
                <a:custGeom>
                  <a:avLst/>
                  <a:gdLst/>
                  <a:ahLst/>
                  <a:cxnLst/>
                  <a:rect l="l" t="t" r="r" b="b"/>
                  <a:pathLst>
                    <a:path w="166688" h="166688">
                      <a:moveTo>
                        <a:pt x="166688" y="0"/>
                      </a:moveTo>
                      <a:lnTo>
                        <a:pt x="35719" y="0"/>
                      </a:lnTo>
                      <a:cubicBezTo>
                        <a:pt x="15992" y="0"/>
                        <a:pt x="0" y="15992"/>
                        <a:pt x="0" y="35719"/>
                      </a:cubicBezTo>
                      <a:lnTo>
                        <a:pt x="0" y="166688"/>
                      </a:lnTo>
                    </a:path>
                  </a:pathLst>
                </a:custGeom>
                <a:noFill/>
                <a:ln w="14288">
                  <a:solidFill>
                    <a:srgbClr val="FFB627"/>
                  </a:solidFill>
                </a:ln>
              </p:spPr>
            </p:sp>
            <p:sp>
              <p:nvSpPr>
                <p:cNvPr id="30" name="Freeform 30"/>
                <p:cNvSpPr/>
                <p:nvPr/>
              </p:nvSpPr>
              <p:spPr>
                <a:xfrm>
                  <a:off x="1059656" y="2445544"/>
                  <a:ext cx="47625" cy="9525"/>
                </a:xfrm>
                <a:custGeom>
                  <a:avLst/>
                  <a:gdLst/>
                  <a:ahLst/>
                  <a:cxnLst/>
                  <a:rect l="l" t="t" r="r" b="b"/>
                  <a:pathLst>
                    <a:path w="47625" h="9525">
                      <a:moveTo>
                        <a:pt x="0" y="0"/>
                      </a:moveTo>
                      <a:lnTo>
                        <a:pt x="47625" y="0"/>
                      </a:lnTo>
                    </a:path>
                  </a:pathLst>
                </a:custGeom>
                <a:noFill/>
                <a:ln w="14288">
                  <a:solidFill>
                    <a:srgbClr val="FFB627"/>
                  </a:solidFill>
                </a:ln>
              </p:spPr>
            </p:sp>
            <p:sp>
              <p:nvSpPr>
                <p:cNvPr id="31" name="Freeform 31"/>
                <p:cNvSpPr/>
                <p:nvPr/>
              </p:nvSpPr>
              <p:spPr>
                <a:xfrm>
                  <a:off x="1059656" y="2493169"/>
                  <a:ext cx="47625" cy="9525"/>
                </a:xfrm>
                <a:custGeom>
                  <a:avLst/>
                  <a:gdLst/>
                  <a:ahLst/>
                  <a:cxnLst/>
                  <a:rect l="l" t="t" r="r" b="b"/>
                  <a:pathLst>
                    <a:path w="47625" h="9525">
                      <a:moveTo>
                        <a:pt x="0" y="0"/>
                      </a:moveTo>
                      <a:lnTo>
                        <a:pt x="47625" y="0"/>
                      </a:lnTo>
                    </a:path>
                  </a:pathLst>
                </a:custGeom>
                <a:noFill/>
                <a:ln w="14288">
                  <a:solidFill>
                    <a:srgbClr val="FFB627"/>
                  </a:solidFill>
                </a:ln>
              </p:spPr>
            </p:sp>
            <p:sp>
              <p:nvSpPr>
                <p:cNvPr id="32" name="Freeform 32"/>
                <p:cNvSpPr/>
                <p:nvPr/>
              </p:nvSpPr>
              <p:spPr>
                <a:xfrm>
                  <a:off x="1095375" y="2502573"/>
                  <a:ext cx="121565" cy="121565"/>
                </a:xfrm>
                <a:custGeom>
                  <a:avLst/>
                  <a:gdLst/>
                  <a:ahLst/>
                  <a:cxnLst/>
                  <a:rect l="l" t="t" r="r" b="b"/>
                  <a:pathLst>
                    <a:path w="121565" h="121565">
                      <a:moveTo>
                        <a:pt x="76438" y="9765"/>
                      </a:moveTo>
                      <a:cubicBezTo>
                        <a:pt x="86203" y="0"/>
                        <a:pt x="102035" y="0"/>
                        <a:pt x="111800" y="9765"/>
                      </a:cubicBezTo>
                      <a:cubicBezTo>
                        <a:pt x="121565" y="19530"/>
                        <a:pt x="121565" y="35362"/>
                        <a:pt x="111800" y="45126"/>
                      </a:cubicBezTo>
                      <a:lnTo>
                        <a:pt x="35719" y="121565"/>
                      </a:lnTo>
                      <a:lnTo>
                        <a:pt x="0" y="121565"/>
                      </a:lnTo>
                      <a:lnTo>
                        <a:pt x="0" y="85846"/>
                      </a:lnTo>
                      <a:lnTo>
                        <a:pt x="76438" y="9765"/>
                      </a:lnTo>
                    </a:path>
                  </a:pathLst>
                </a:custGeom>
                <a:noFill/>
                <a:ln w="14288">
                  <a:solidFill>
                    <a:srgbClr val="FFB627"/>
                  </a:solidFill>
                </a:ln>
              </p:spPr>
            </p:sp>
          </p:grpSp>
          <p:sp>
            <p:nvSpPr>
              <p:cNvPr id="34" name="TextBox 34"/>
              <p:cNvSpPr txBox="1"/>
              <p:nvPr/>
            </p:nvSpPr>
            <p:spPr>
              <a:xfrm>
                <a:off x="1367790" y="2391728"/>
                <a:ext cx="1636521"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PersistentVolumeClaim</a:t>
                </a:r>
              </a:p>
            </p:txBody>
          </p:sp>
          <p:sp>
            <p:nvSpPr>
              <p:cNvPr id="35" name="TextBox 35"/>
              <p:cNvSpPr txBox="1"/>
              <p:nvPr/>
            </p:nvSpPr>
            <p:spPr>
              <a:xfrm>
                <a:off x="3437572" y="2416016"/>
                <a:ext cx="1049584"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pvc — namespaced</a:t>
                </a:r>
              </a:p>
            </p:txBody>
          </p:sp>
          <p:sp>
            <p:nvSpPr>
              <p:cNvPr id="36" name="TextBox 36"/>
              <p:cNvSpPr txBox="1"/>
              <p:nvPr/>
            </p:nvSpPr>
            <p:spPr>
              <a:xfrm>
                <a:off x="1370648" y="2616041"/>
                <a:ext cx="265578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request: size + accessModes + storageClassName</a:t>
                </a:r>
              </a:p>
            </p:txBody>
          </p:sp>
          <p:sp>
            <p:nvSpPr>
              <p:cNvPr id="37" name="TextBox 37"/>
              <p:cNvSpPr txBox="1"/>
              <p:nvPr/>
            </p:nvSpPr>
            <p:spPr>
              <a:xfrm>
                <a:off x="1370648" y="2777966"/>
                <a:ext cx="2375249"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like a Pod requesting CPU/RAM — but for disk</a:t>
                </a:r>
              </a:p>
            </p:txBody>
          </p:sp>
        </p:grpSp>
        <p:sp>
          <p:nvSpPr>
            <p:cNvPr id="39" name="Line 39"/>
            <p:cNvSpPr/>
            <p:nvPr/>
          </p:nvSpPr>
          <p:spPr>
            <a:xfrm>
              <a:off x="1714500" y="2971800"/>
              <a:ext cx="1" cy="238125"/>
            </a:xfrm>
            <a:prstGeom prst="line">
              <a:avLst/>
            </a:prstGeom>
            <a:noFill/>
            <a:ln w="14288">
              <a:solidFill>
                <a:srgbClr val="5BA3E0"/>
              </a:solidFill>
              <a:tailEnd type="triangle" w="lg" len="lg"/>
            </a:ln>
          </p:spPr>
        </p:sp>
        <p:sp>
          <p:nvSpPr>
            <p:cNvPr id="40" name="TextBox 40"/>
            <p:cNvSpPr txBox="1"/>
            <p:nvPr/>
          </p:nvSpPr>
          <p:spPr>
            <a:xfrm>
              <a:off x="1847850" y="3062288"/>
              <a:ext cx="414099"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binds 1:1</a:t>
              </a:r>
            </a:p>
          </p:txBody>
        </p:sp>
        <p:grpSp>
          <p:nvGrpSpPr>
            <p:cNvPr id="51" name="Group 51"/>
            <p:cNvGrpSpPr/>
            <p:nvPr/>
          </p:nvGrpSpPr>
          <p:grpSpPr>
            <a:xfrm>
              <a:off x="762000" y="3276600"/>
              <a:ext cx="4762500" cy="762000"/>
              <a:chOff x="762000" y="3276600"/>
              <a:chExt cx="4762500" cy="762000"/>
            </a:xfrm>
          </p:grpSpPr>
          <p:sp>
            <p:nvSpPr>
              <p:cNvPr id="41" name="Rectangle 41"/>
              <p:cNvSpPr/>
              <p:nvPr/>
            </p:nvSpPr>
            <p:spPr>
              <a:xfrm>
                <a:off x="762000" y="3276600"/>
                <a:ext cx="4762500" cy="762000"/>
              </a:xfrm>
              <a:prstGeom prst="rect">
                <a:avLst/>
              </a:prstGeom>
              <a:solidFill>
                <a:srgbClr val="0E2A47"/>
              </a:solidFill>
              <a:ln w="14288">
                <a:solidFill>
                  <a:srgbClr val="5BA3E0"/>
                </a:solidFill>
              </a:ln>
            </p:spPr>
          </p:sp>
          <p:sp>
            <p:nvSpPr>
              <p:cNvPr id="42" name="Rectangle 42"/>
              <p:cNvSpPr/>
              <p:nvPr/>
            </p:nvSpPr>
            <p:spPr>
              <a:xfrm>
                <a:off x="762000" y="3276600"/>
                <a:ext cx="57150" cy="762000"/>
              </a:xfrm>
              <a:prstGeom prst="rect">
                <a:avLst/>
              </a:prstGeom>
              <a:solidFill>
                <a:srgbClr val="5BA3E0"/>
              </a:solidFill>
              <a:ln>
                <a:noFill/>
              </a:ln>
            </p:spPr>
          </p:sp>
          <p:grpSp>
            <p:nvGrpSpPr>
              <p:cNvPr id="46" name="Group 46"/>
              <p:cNvGrpSpPr/>
              <p:nvPr/>
            </p:nvGrpSpPr>
            <p:grpSpPr>
              <a:xfrm>
                <a:off x="1000125" y="3476625"/>
                <a:ext cx="190500" cy="190500"/>
                <a:chOff x="1000125" y="3476625"/>
                <a:chExt cx="190500" cy="190500"/>
              </a:xfrm>
            </p:grpSpPr>
            <p:sp>
              <p:nvSpPr>
                <p:cNvPr id="43" name="Freeform 43"/>
                <p:cNvSpPr/>
                <p:nvPr/>
              </p:nvSpPr>
              <p:spPr>
                <a:xfrm>
                  <a:off x="1000125" y="3476625"/>
                  <a:ext cx="190500" cy="190500"/>
                </a:xfrm>
                <a:custGeom>
                  <a:avLst/>
                  <a:gdLst/>
                  <a:ahLst/>
                  <a:cxnLst/>
                  <a:rect l="l" t="t" r="r" b="b"/>
                  <a:pathLst>
                    <a:path w="190500" h="190500">
                      <a:moveTo>
                        <a:pt x="23812" y="0"/>
                      </a:moveTo>
                      <a:lnTo>
                        <a:pt x="142875" y="0"/>
                      </a:lnTo>
                      <a:lnTo>
                        <a:pt x="190500" y="47625"/>
                      </a:lnTo>
                      <a:lnTo>
                        <a:pt x="190500" y="166688"/>
                      </a:lnTo>
                      <a:cubicBezTo>
                        <a:pt x="190500" y="179839"/>
                        <a:pt x="179839" y="190500"/>
                        <a:pt x="166688" y="190500"/>
                      </a:cubicBezTo>
                      <a:lnTo>
                        <a:pt x="23812" y="190500"/>
                      </a:lnTo>
                      <a:cubicBezTo>
                        <a:pt x="10661" y="190500"/>
                        <a:pt x="0" y="179839"/>
                        <a:pt x="0" y="166688"/>
                      </a:cubicBezTo>
                      <a:lnTo>
                        <a:pt x="0" y="23812"/>
                      </a:lnTo>
                      <a:cubicBezTo>
                        <a:pt x="0" y="10661"/>
                        <a:pt x="10661" y="0"/>
                        <a:pt x="23812" y="0"/>
                      </a:cubicBezTo>
                    </a:path>
                  </a:pathLst>
                </a:custGeom>
                <a:noFill/>
                <a:ln w="14288">
                  <a:solidFill>
                    <a:srgbClr val="5BA3E0"/>
                  </a:solidFill>
                </a:ln>
              </p:spPr>
            </p:sp>
            <p:sp>
              <p:nvSpPr>
                <p:cNvPr id="44" name="Freeform 44"/>
                <p:cNvSpPr/>
                <p:nvPr/>
              </p:nvSpPr>
              <p:spPr>
                <a:xfrm>
                  <a:off x="1071562" y="357187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4288">
                  <a:solidFill>
                    <a:srgbClr val="5BA3E0"/>
                  </a:solidFill>
                </a:ln>
              </p:spPr>
            </p:sp>
            <p:sp>
              <p:nvSpPr>
                <p:cNvPr id="45" name="Freeform 45"/>
                <p:cNvSpPr/>
                <p:nvPr/>
              </p:nvSpPr>
              <p:spPr>
                <a:xfrm>
                  <a:off x="1047750" y="3476625"/>
                  <a:ext cx="71438" cy="47625"/>
                </a:xfrm>
                <a:custGeom>
                  <a:avLst/>
                  <a:gdLst/>
                  <a:ahLst/>
                  <a:cxnLst/>
                  <a:rect l="l" t="t" r="r" b="b"/>
                  <a:pathLst>
                    <a:path w="71438" h="47625">
                      <a:moveTo>
                        <a:pt x="71438" y="0"/>
                      </a:moveTo>
                      <a:lnTo>
                        <a:pt x="71438" y="47625"/>
                      </a:lnTo>
                      <a:lnTo>
                        <a:pt x="0" y="47625"/>
                      </a:lnTo>
                      <a:lnTo>
                        <a:pt x="0" y="0"/>
                      </a:lnTo>
                    </a:path>
                  </a:pathLst>
                </a:custGeom>
                <a:noFill/>
                <a:ln w="14288">
                  <a:solidFill>
                    <a:srgbClr val="5BA3E0"/>
                  </a:solidFill>
                </a:ln>
              </p:spPr>
            </p:sp>
          </p:grpSp>
          <p:sp>
            <p:nvSpPr>
              <p:cNvPr id="47" name="TextBox 47"/>
              <p:cNvSpPr txBox="1"/>
              <p:nvPr/>
            </p:nvSpPr>
            <p:spPr>
              <a:xfrm>
                <a:off x="1367790" y="3458528"/>
                <a:ext cx="1276326" cy="213360"/>
              </a:xfrm>
              <a:prstGeom prst="rect">
                <a:avLst/>
              </a:prstGeom>
              <a:noFill/>
              <a:ln>
                <a:noFill/>
              </a:ln>
            </p:spPr>
            <p:txBody>
              <a:bodyPr wrap="none" lIns="0" tIns="0" rIns="0" bIns="0" anchor="t" anchorCtr="0">
                <a:spAutoFit/>
              </a:bodyPr>
              <a:lstStyle/>
              <a:p>
                <a:pPr algn="l"/>
                <a:r>
                  <a:rPr lang="zh-CN" sz="1050" b="1" dirty="0">
                    <a:solidFill>
                      <a:srgbClr val="5BA3E0"/>
                    </a:solidFill>
                    <a:latin typeface="Consolas"/>
                    <a:ea typeface="Microsoft YaHei"/>
                    <a:cs typeface="Consolas"/>
                  </a:rPr>
                  <a:t>PersistentVolume</a:t>
                </a:r>
              </a:p>
            </p:txBody>
          </p:sp>
          <p:sp>
            <p:nvSpPr>
              <p:cNvPr id="48" name="TextBox 48"/>
              <p:cNvSpPr txBox="1"/>
              <p:nvPr/>
            </p:nvSpPr>
            <p:spPr>
              <a:xfrm>
                <a:off x="2999422" y="3482816"/>
                <a:ext cx="118160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pv — cluster-scoped</a:t>
                </a:r>
              </a:p>
            </p:txBody>
          </p:sp>
          <p:sp>
            <p:nvSpPr>
              <p:cNvPr id="49" name="TextBox 49"/>
              <p:cNvSpPr txBox="1"/>
              <p:nvPr/>
            </p:nvSpPr>
            <p:spPr>
              <a:xfrm>
                <a:off x="1370648" y="3682841"/>
                <a:ext cx="2930819"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a concrete storage resource (NFS / iSCSI / cloud disk)</a:t>
                </a:r>
              </a:p>
            </p:txBody>
          </p:sp>
          <p:sp>
            <p:nvSpPr>
              <p:cNvPr id="50" name="TextBox 50"/>
              <p:cNvSpPr txBox="1"/>
              <p:nvPr/>
            </p:nvSpPr>
            <p:spPr>
              <a:xfrm>
                <a:off x="1370648" y="3844766"/>
                <a:ext cx="173717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lifecycle independent of any Pod</a:t>
                </a:r>
              </a:p>
            </p:txBody>
          </p:sp>
        </p:grpSp>
        <p:sp>
          <p:nvSpPr>
            <p:cNvPr id="52" name="Line 52"/>
            <p:cNvSpPr/>
            <p:nvPr/>
          </p:nvSpPr>
          <p:spPr>
            <a:xfrm>
              <a:off x="1714500" y="4038600"/>
              <a:ext cx="1" cy="238125"/>
            </a:xfrm>
            <a:prstGeom prst="line">
              <a:avLst/>
            </a:prstGeom>
            <a:noFill/>
            <a:ln w="9525">
              <a:solidFill>
                <a:srgbClr val="5BA3E0"/>
              </a:solidFill>
              <a:custDash>
                <a:ds d="300000" sp="300000"/>
              </a:custDash>
              <a:tailEnd type="triangle" w="lg" len="lg"/>
            </a:ln>
          </p:spPr>
        </p:sp>
        <p:sp>
          <p:nvSpPr>
            <p:cNvPr id="53" name="TextBox 53"/>
            <p:cNvSpPr txBox="1"/>
            <p:nvPr/>
          </p:nvSpPr>
          <p:spPr>
            <a:xfrm>
              <a:off x="1847850" y="4129088"/>
              <a:ext cx="679132" cy="152400"/>
            </a:xfrm>
            <a:prstGeom prst="rect">
              <a:avLst/>
            </a:prstGeom>
            <a:noFill/>
            <a:ln>
              <a:noFill/>
            </a:ln>
          </p:spPr>
          <p:txBody>
            <a:bodyPr wrap="none" lIns="0" tIns="0" rIns="0" bIns="0" anchor="t" anchorCtr="0">
              <a:spAutoFit/>
            </a:bodyPr>
            <a:lstStyle/>
            <a:p>
              <a:pPr algn="l"/>
              <a:r>
                <a:rPr lang="zh-CN" sz="750" dirty="0">
                  <a:solidFill>
                    <a:srgbClr val="A0B8D0"/>
                  </a:solidFill>
                  <a:latin typeface="Consolas"/>
                  <a:ea typeface="Microsoft YaHei"/>
                  <a:cs typeface="Consolas"/>
                </a:rPr>
                <a:t>backing media</a:t>
              </a:r>
            </a:p>
          </p:txBody>
        </p:sp>
        <p:grpSp>
          <p:nvGrpSpPr>
            <p:cNvPr id="63" name="Group 63"/>
            <p:cNvGrpSpPr/>
            <p:nvPr/>
          </p:nvGrpSpPr>
          <p:grpSpPr>
            <a:xfrm>
              <a:off x="762000" y="4343400"/>
              <a:ext cx="4762500" cy="571500"/>
              <a:chOff x="762000" y="4343400"/>
              <a:chExt cx="4762500" cy="571500"/>
            </a:xfrm>
          </p:grpSpPr>
          <p:sp>
            <p:nvSpPr>
              <p:cNvPr id="54" name="Rectangle 54"/>
              <p:cNvSpPr/>
              <p:nvPr/>
            </p:nvSpPr>
            <p:spPr>
              <a:xfrm>
                <a:off x="762000" y="4343400"/>
                <a:ext cx="4762500" cy="571500"/>
              </a:xfrm>
              <a:prstGeom prst="rect">
                <a:avLst/>
              </a:prstGeom>
              <a:solidFill>
                <a:srgbClr val="0E2A47"/>
              </a:solidFill>
              <a:ln w="11430">
                <a:solidFill>
                  <a:srgbClr val="3E7AB8"/>
                </a:solidFill>
                <a:custDash>
                  <a:ds d="416666" sp="250000"/>
                </a:custDash>
              </a:ln>
            </p:spPr>
          </p:sp>
          <p:sp>
            <p:nvSpPr>
              <p:cNvPr id="55" name="Rectangle 55"/>
              <p:cNvSpPr/>
              <p:nvPr/>
            </p:nvSpPr>
            <p:spPr>
              <a:xfrm>
                <a:off x="762000" y="4343400"/>
                <a:ext cx="57150" cy="571500"/>
              </a:xfrm>
              <a:prstGeom prst="rect">
                <a:avLst/>
              </a:prstGeom>
              <a:solidFill>
                <a:srgbClr val="3E7AB8"/>
              </a:solidFill>
              <a:ln>
                <a:noFill/>
              </a:ln>
            </p:spPr>
          </p:sp>
          <p:grpSp>
            <p:nvGrpSpPr>
              <p:cNvPr id="60" name="Group 60"/>
              <p:cNvGrpSpPr/>
              <p:nvPr/>
            </p:nvGrpSpPr>
            <p:grpSpPr>
              <a:xfrm>
                <a:off x="988219" y="4505325"/>
                <a:ext cx="214312" cy="190500"/>
                <a:chOff x="988219" y="4505325"/>
                <a:chExt cx="214312" cy="190500"/>
              </a:xfrm>
            </p:grpSpPr>
            <p:sp>
              <p:nvSpPr>
                <p:cNvPr id="56" name="Freeform 56"/>
                <p:cNvSpPr/>
                <p:nvPr/>
              </p:nvSpPr>
              <p:spPr>
                <a:xfrm>
                  <a:off x="988219" y="450532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path>
                  </a:pathLst>
                </a:custGeom>
                <a:noFill/>
                <a:ln w="14288">
                  <a:solidFill>
                    <a:srgbClr val="3E7AB8"/>
                  </a:solidFill>
                </a:ln>
              </p:spPr>
            </p:sp>
            <p:sp>
              <p:nvSpPr>
                <p:cNvPr id="57" name="Freeform 57"/>
                <p:cNvSpPr/>
                <p:nvPr/>
              </p:nvSpPr>
              <p:spPr>
                <a:xfrm>
                  <a:off x="988219" y="460057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lnTo>
                        <a:pt x="0" y="35719"/>
                      </a:lnTo>
                    </a:path>
                  </a:pathLst>
                </a:custGeom>
                <a:noFill/>
                <a:ln w="14288">
                  <a:solidFill>
                    <a:srgbClr val="3E7AB8"/>
                  </a:solidFill>
                </a:ln>
              </p:spPr>
            </p:sp>
            <p:sp>
              <p:nvSpPr>
                <p:cNvPr id="58" name="Freeform 58"/>
                <p:cNvSpPr/>
                <p:nvPr/>
              </p:nvSpPr>
              <p:spPr>
                <a:xfrm>
                  <a:off x="1035844" y="4552950"/>
                  <a:ext cx="9525" cy="9525"/>
                </a:xfrm>
                <a:custGeom>
                  <a:avLst/>
                  <a:gdLst/>
                  <a:ahLst/>
                  <a:cxnLst/>
                  <a:rect l="l" t="t" r="r" b="b"/>
                  <a:pathLst>
                    <a:path w="9525" h="9525">
                      <a:moveTo>
                        <a:pt x="0" y="0"/>
                      </a:moveTo>
                      <a:lnTo>
                        <a:pt x="0" y="119"/>
                      </a:lnTo>
                    </a:path>
                  </a:pathLst>
                </a:custGeom>
                <a:noFill/>
                <a:ln w="14288">
                  <a:solidFill>
                    <a:srgbClr val="3E7AB8"/>
                  </a:solidFill>
                </a:ln>
              </p:spPr>
            </p:sp>
            <p:sp>
              <p:nvSpPr>
                <p:cNvPr id="59" name="Freeform 59"/>
                <p:cNvSpPr/>
                <p:nvPr/>
              </p:nvSpPr>
              <p:spPr>
                <a:xfrm>
                  <a:off x="1035844" y="4648200"/>
                  <a:ext cx="9525" cy="9525"/>
                </a:xfrm>
                <a:custGeom>
                  <a:avLst/>
                  <a:gdLst/>
                  <a:ahLst/>
                  <a:cxnLst/>
                  <a:rect l="l" t="t" r="r" b="b"/>
                  <a:pathLst>
                    <a:path w="9525" h="9525">
                      <a:moveTo>
                        <a:pt x="0" y="0"/>
                      </a:moveTo>
                      <a:lnTo>
                        <a:pt x="0" y="119"/>
                      </a:lnTo>
                    </a:path>
                  </a:pathLst>
                </a:custGeom>
                <a:noFill/>
                <a:ln w="14288">
                  <a:solidFill>
                    <a:srgbClr val="3E7AB8"/>
                  </a:solidFill>
                </a:ln>
              </p:spPr>
            </p:sp>
          </p:grpSp>
          <p:sp>
            <p:nvSpPr>
              <p:cNvPr id="61" name="TextBox 61"/>
              <p:cNvSpPr txBox="1"/>
              <p:nvPr/>
            </p:nvSpPr>
            <p:spPr>
              <a:xfrm>
                <a:off x="1368742" y="4495324"/>
                <a:ext cx="1116902" cy="198120"/>
              </a:xfrm>
              <a:prstGeom prst="rect">
                <a:avLst/>
              </a:prstGeom>
              <a:noFill/>
              <a:ln>
                <a:noFill/>
              </a:ln>
            </p:spPr>
            <p:txBody>
              <a:bodyPr wrap="none" lIns="0" tIns="0" rIns="0" bIns="0" anchor="t" anchorCtr="0">
                <a:spAutoFit/>
              </a:bodyPr>
              <a:lstStyle/>
              <a:p>
                <a:pPr algn="l"/>
                <a:r>
                  <a:rPr lang="zh-CN" sz="975" b="1" dirty="0">
                    <a:solidFill>
                      <a:srgbClr val="3E7AB8"/>
                    </a:solidFill>
                    <a:latin typeface="Consolas"/>
                    <a:ea typeface="Microsoft YaHei"/>
                    <a:cs typeface="Consolas"/>
                  </a:rPr>
                  <a:t>Storage backend</a:t>
                </a:r>
              </a:p>
            </p:txBody>
          </p:sp>
          <p:sp>
            <p:nvSpPr>
              <p:cNvPr id="62" name="TextBox 62"/>
              <p:cNvSpPr txBox="1"/>
              <p:nvPr/>
            </p:nvSpPr>
            <p:spPr>
              <a:xfrm>
                <a:off x="1370648" y="4711541"/>
                <a:ext cx="3150846"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EBS · Persistent Disk · Ceph RBD · NFS · iSCSI · LonghornFS</a:t>
                </a:r>
              </a:p>
            </p:txBody>
          </p:sp>
        </p:grpSp>
      </p:grpSp>
      <p:grpSp>
        <p:nvGrpSpPr>
          <p:cNvPr id="117" name="Group 117"/>
          <p:cNvGrpSpPr/>
          <p:nvPr/>
        </p:nvGrpSpPr>
        <p:grpSpPr>
          <a:xfrm>
            <a:off x="6085522" y="1053941"/>
            <a:ext cx="5153978" cy="3860959"/>
            <a:chOff x="6085522" y="1053941"/>
            <a:chExt cx="5153978" cy="3860959"/>
          </a:xfrm>
        </p:grpSpPr>
        <p:sp>
          <p:nvSpPr>
            <p:cNvPr id="65" name="TextBox 65"/>
            <p:cNvSpPr txBox="1"/>
            <p:nvPr/>
          </p:nvSpPr>
          <p:spPr>
            <a:xfrm>
              <a:off x="6085522" y="1053941"/>
              <a:ext cx="1654659"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PROVISIONER SPINE · ADMIN SIDE</a:t>
              </a:r>
            </a:p>
          </p:txBody>
        </p:sp>
        <p:sp>
          <p:nvSpPr>
            <p:cNvPr id="66" name="Rectangle 66"/>
            <p:cNvSpPr/>
            <p:nvPr/>
          </p:nvSpPr>
          <p:spPr>
            <a:xfrm>
              <a:off x="6096000" y="1333500"/>
              <a:ext cx="5143500" cy="3581400"/>
            </a:xfrm>
            <a:prstGeom prst="rect">
              <a:avLst/>
            </a:prstGeom>
            <a:solidFill>
              <a:srgbClr val="1A3A5C">
                <a:alpha val="30000"/>
              </a:srgbClr>
            </a:solidFill>
            <a:ln w="5715">
              <a:solidFill>
                <a:srgbClr val="3E7AB8"/>
              </a:solidFill>
              <a:prstDash val="dash"/>
            </a:ln>
          </p:spPr>
        </p:sp>
        <p:grpSp>
          <p:nvGrpSpPr>
            <p:cNvPr id="80" name="Group 80"/>
            <p:cNvGrpSpPr/>
            <p:nvPr/>
          </p:nvGrpSpPr>
          <p:grpSpPr>
            <a:xfrm>
              <a:off x="6286500" y="1524000"/>
              <a:ext cx="4762500" cy="952500"/>
              <a:chOff x="6286500" y="1524000"/>
              <a:chExt cx="4762500" cy="952500"/>
            </a:xfrm>
          </p:grpSpPr>
          <p:sp>
            <p:nvSpPr>
              <p:cNvPr id="67" name="Rectangle 67"/>
              <p:cNvSpPr/>
              <p:nvPr/>
            </p:nvSpPr>
            <p:spPr>
              <a:xfrm>
                <a:off x="6286500" y="1524000"/>
                <a:ext cx="4762500" cy="952500"/>
              </a:xfrm>
              <a:prstGeom prst="rect">
                <a:avLst/>
              </a:prstGeom>
              <a:solidFill>
                <a:srgbClr val="0E2A47"/>
              </a:solidFill>
              <a:ln w="14288">
                <a:solidFill>
                  <a:srgbClr val="FFB627"/>
                </a:solidFill>
              </a:ln>
            </p:spPr>
          </p:sp>
          <p:sp>
            <p:nvSpPr>
              <p:cNvPr id="68" name="Rectangle 68"/>
              <p:cNvSpPr/>
              <p:nvPr/>
            </p:nvSpPr>
            <p:spPr>
              <a:xfrm>
                <a:off x="6286500" y="1524000"/>
                <a:ext cx="57150" cy="952500"/>
              </a:xfrm>
              <a:prstGeom prst="rect">
                <a:avLst/>
              </a:prstGeom>
              <a:solidFill>
                <a:srgbClr val="FFB627"/>
              </a:solidFill>
              <a:ln>
                <a:noFill/>
              </a:ln>
            </p:spPr>
          </p:sp>
          <p:grpSp>
            <p:nvGrpSpPr>
              <p:cNvPr id="74" name="Group 74"/>
              <p:cNvGrpSpPr/>
              <p:nvPr/>
            </p:nvGrpSpPr>
            <p:grpSpPr>
              <a:xfrm>
                <a:off x="6524625" y="1743075"/>
                <a:ext cx="190501" cy="200025"/>
                <a:chOff x="6524625" y="1743075"/>
                <a:chExt cx="190501" cy="200025"/>
              </a:xfrm>
            </p:grpSpPr>
            <p:sp>
              <p:nvSpPr>
                <p:cNvPr id="69" name="Freeform 69"/>
                <p:cNvSpPr/>
                <p:nvPr/>
              </p:nvSpPr>
              <p:spPr>
                <a:xfrm>
                  <a:off x="6524625" y="1743075"/>
                  <a:ext cx="190500" cy="47625"/>
                </a:xfrm>
                <a:custGeom>
                  <a:avLst/>
                  <a:gdLst/>
                  <a:ahLst/>
                  <a:cxnLst/>
                  <a:rect l="l" t="t" r="r" b="b"/>
                  <a:pathLst>
                    <a:path w="190500" h="47625">
                      <a:moveTo>
                        <a:pt x="0" y="11906"/>
                      </a:moveTo>
                      <a:cubicBezTo>
                        <a:pt x="0" y="5331"/>
                        <a:pt x="5331" y="0"/>
                        <a:pt x="11906" y="0"/>
                      </a:cubicBezTo>
                      <a:lnTo>
                        <a:pt x="178594" y="0"/>
                      </a:lnTo>
                      <a:cubicBezTo>
                        <a:pt x="185169" y="0"/>
                        <a:pt x="190500" y="5331"/>
                        <a:pt x="190500" y="11906"/>
                      </a:cubicBezTo>
                      <a:lnTo>
                        <a:pt x="190500" y="35719"/>
                      </a:lnTo>
                      <a:cubicBezTo>
                        <a:pt x="190500" y="42294"/>
                        <a:pt x="185169" y="47625"/>
                        <a:pt x="178594" y="47625"/>
                      </a:cubicBezTo>
                      <a:lnTo>
                        <a:pt x="11906" y="47625"/>
                      </a:lnTo>
                      <a:cubicBezTo>
                        <a:pt x="5331" y="47625"/>
                        <a:pt x="0" y="42294"/>
                        <a:pt x="0" y="35719"/>
                      </a:cubicBezTo>
                      <a:lnTo>
                        <a:pt x="0" y="11906"/>
                      </a:lnTo>
                    </a:path>
                  </a:pathLst>
                </a:custGeom>
                <a:noFill/>
                <a:ln w="14288">
                  <a:solidFill>
                    <a:srgbClr val="FFB627"/>
                  </a:solidFill>
                </a:ln>
              </p:spPr>
            </p:sp>
            <p:sp>
              <p:nvSpPr>
                <p:cNvPr id="70" name="Freeform 70"/>
                <p:cNvSpPr/>
                <p:nvPr/>
              </p:nvSpPr>
              <p:spPr>
                <a:xfrm>
                  <a:off x="6524625" y="1838325"/>
                  <a:ext cx="71438" cy="95250"/>
                </a:xfrm>
                <a:custGeom>
                  <a:avLst/>
                  <a:gdLst/>
                  <a:ahLst/>
                  <a:cxnLst/>
                  <a:rect l="l" t="t" r="r" b="b"/>
                  <a:pathLst>
                    <a:path w="71438" h="95250">
                      <a:moveTo>
                        <a:pt x="0" y="11906"/>
                      </a:moveTo>
                      <a:cubicBezTo>
                        <a:pt x="0" y="5331"/>
                        <a:pt x="5331" y="0"/>
                        <a:pt x="11906" y="0"/>
                      </a:cubicBezTo>
                      <a:lnTo>
                        <a:pt x="59531" y="0"/>
                      </a:lnTo>
                      <a:cubicBezTo>
                        <a:pt x="66107" y="0"/>
                        <a:pt x="71438" y="5331"/>
                        <a:pt x="71438" y="11906"/>
                      </a:cubicBezTo>
                      <a:lnTo>
                        <a:pt x="71438" y="83344"/>
                      </a:lnTo>
                      <a:cubicBezTo>
                        <a:pt x="71438" y="89919"/>
                        <a:pt x="66107" y="95250"/>
                        <a:pt x="59531" y="95250"/>
                      </a:cubicBezTo>
                      <a:lnTo>
                        <a:pt x="11906" y="95250"/>
                      </a:lnTo>
                      <a:cubicBezTo>
                        <a:pt x="5331" y="95250"/>
                        <a:pt x="0" y="89919"/>
                        <a:pt x="0" y="83344"/>
                      </a:cubicBezTo>
                      <a:lnTo>
                        <a:pt x="0" y="11906"/>
                      </a:lnTo>
                    </a:path>
                  </a:pathLst>
                </a:custGeom>
                <a:noFill/>
                <a:ln w="14288">
                  <a:solidFill>
                    <a:srgbClr val="FFB627"/>
                  </a:solidFill>
                </a:ln>
              </p:spPr>
            </p:sp>
            <p:sp>
              <p:nvSpPr>
                <p:cNvPr id="71" name="Freeform 71"/>
                <p:cNvSpPr/>
                <p:nvPr/>
              </p:nvSpPr>
              <p:spPr>
                <a:xfrm>
                  <a:off x="6643688" y="1838325"/>
                  <a:ext cx="71438" cy="9525"/>
                </a:xfrm>
                <a:custGeom>
                  <a:avLst/>
                  <a:gdLst/>
                  <a:ahLst/>
                  <a:cxnLst/>
                  <a:rect l="l" t="t" r="r" b="b"/>
                  <a:pathLst>
                    <a:path w="71438" h="9525">
                      <a:moveTo>
                        <a:pt x="0" y="0"/>
                      </a:moveTo>
                      <a:lnTo>
                        <a:pt x="71438" y="0"/>
                      </a:lnTo>
                    </a:path>
                  </a:pathLst>
                </a:custGeom>
                <a:noFill/>
                <a:ln w="14288">
                  <a:solidFill>
                    <a:srgbClr val="FFB627"/>
                  </a:solidFill>
                </a:ln>
              </p:spPr>
            </p:sp>
            <p:sp>
              <p:nvSpPr>
                <p:cNvPr id="72" name="Freeform 72"/>
                <p:cNvSpPr/>
                <p:nvPr/>
              </p:nvSpPr>
              <p:spPr>
                <a:xfrm>
                  <a:off x="6643688" y="1885950"/>
                  <a:ext cx="71438" cy="9525"/>
                </a:xfrm>
                <a:custGeom>
                  <a:avLst/>
                  <a:gdLst/>
                  <a:ahLst/>
                  <a:cxnLst/>
                  <a:rect l="l" t="t" r="r" b="b"/>
                  <a:pathLst>
                    <a:path w="71438" h="9525">
                      <a:moveTo>
                        <a:pt x="0" y="0"/>
                      </a:moveTo>
                      <a:lnTo>
                        <a:pt x="71438" y="0"/>
                      </a:lnTo>
                    </a:path>
                  </a:pathLst>
                </a:custGeom>
                <a:noFill/>
                <a:ln w="14288">
                  <a:solidFill>
                    <a:srgbClr val="FFB627"/>
                  </a:solidFill>
                </a:ln>
              </p:spPr>
            </p:sp>
            <p:sp>
              <p:nvSpPr>
                <p:cNvPr id="73" name="Freeform 73"/>
                <p:cNvSpPr/>
                <p:nvPr/>
              </p:nvSpPr>
              <p:spPr>
                <a:xfrm>
                  <a:off x="6643688" y="1933575"/>
                  <a:ext cx="71438" cy="9525"/>
                </a:xfrm>
                <a:custGeom>
                  <a:avLst/>
                  <a:gdLst/>
                  <a:ahLst/>
                  <a:cxnLst/>
                  <a:rect l="l" t="t" r="r" b="b"/>
                  <a:pathLst>
                    <a:path w="71438" h="9525">
                      <a:moveTo>
                        <a:pt x="0" y="0"/>
                      </a:moveTo>
                      <a:lnTo>
                        <a:pt x="71438" y="0"/>
                      </a:lnTo>
                    </a:path>
                  </a:pathLst>
                </a:custGeom>
                <a:noFill/>
                <a:ln w="14288">
                  <a:solidFill>
                    <a:srgbClr val="FFB627"/>
                  </a:solidFill>
                </a:ln>
              </p:spPr>
            </p:sp>
          </p:grpSp>
          <p:sp>
            <p:nvSpPr>
              <p:cNvPr id="75" name="TextBox 75"/>
              <p:cNvSpPr txBox="1"/>
              <p:nvPr/>
            </p:nvSpPr>
            <p:spPr>
              <a:xfrm>
                <a:off x="6863715" y="1724978"/>
                <a:ext cx="960237"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StorageClass</a:t>
                </a:r>
              </a:p>
            </p:txBody>
          </p:sp>
          <p:sp>
            <p:nvSpPr>
              <p:cNvPr id="76" name="TextBox 76"/>
              <p:cNvSpPr txBox="1"/>
              <p:nvPr/>
            </p:nvSpPr>
            <p:spPr>
              <a:xfrm>
                <a:off x="8200072" y="1749266"/>
                <a:ext cx="780050"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admin recipe</a:t>
                </a:r>
              </a:p>
            </p:txBody>
          </p:sp>
          <p:sp>
            <p:nvSpPr>
              <p:cNvPr id="77" name="TextBox 77"/>
              <p:cNvSpPr txBox="1"/>
              <p:nvPr/>
            </p:nvSpPr>
            <p:spPr>
              <a:xfrm>
                <a:off x="6866572" y="1949291"/>
                <a:ext cx="2699790"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defines: provisioner + parameters + reclaimPolicy</a:t>
                </a:r>
              </a:p>
            </p:txBody>
          </p:sp>
          <p:sp>
            <p:nvSpPr>
              <p:cNvPr id="78" name="TextBox 78"/>
              <p:cNvSpPr txBox="1"/>
              <p:nvPr/>
            </p:nvSpPr>
            <p:spPr>
              <a:xfrm>
                <a:off x="6866572" y="2111216"/>
                <a:ext cx="257327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PVC requests by name → PV is created on demand</a:t>
                </a:r>
              </a:p>
            </p:txBody>
          </p:sp>
          <p:sp>
            <p:nvSpPr>
              <p:cNvPr id="79" name="TextBox 79"/>
              <p:cNvSpPr txBox="1"/>
              <p:nvPr/>
            </p:nvSpPr>
            <p:spPr>
              <a:xfrm>
                <a:off x="6866572" y="2301716"/>
                <a:ext cx="2650284"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 xml:space="preserve">enables </a:t>
                </a:r>
                <a:r>
                  <a:rPr lang="zh-CN" sz="825" b="1" dirty="0">
                    <a:solidFill>
                      <a:srgbClr val="FFB627"/>
                    </a:solidFill>
                    <a:latin typeface="Consolas"/>
                    <a:ea typeface="Microsoft YaHei"/>
                    <a:cs typeface="Consolas"/>
                  </a:rPr>
                  <a:t>dynamic provisioning</a:t>
                </a:r>
                <a:r>
                  <a:rPr lang="zh-CN" sz="825" dirty="0">
                    <a:solidFill>
                      <a:srgbClr val="A0B8D0"/>
                    </a:solidFill>
                    <a:latin typeface="Consolas"/>
                    <a:ea typeface="Microsoft YaHei"/>
                    <a:cs typeface="Consolas"/>
                  </a:rPr>
                  <a:t xml:space="preserve"> — no static PV setup</a:t>
                </a:r>
              </a:p>
            </p:txBody>
          </p:sp>
        </p:grpSp>
        <p:grpSp>
          <p:nvGrpSpPr>
            <p:cNvPr id="94" name="Group 94"/>
            <p:cNvGrpSpPr/>
            <p:nvPr/>
          </p:nvGrpSpPr>
          <p:grpSpPr>
            <a:xfrm>
              <a:off x="6286500" y="2667000"/>
              <a:ext cx="4762500" cy="762000"/>
              <a:chOff x="6286500" y="2667000"/>
              <a:chExt cx="4762500" cy="762000"/>
            </a:xfrm>
          </p:grpSpPr>
          <p:sp>
            <p:nvSpPr>
              <p:cNvPr id="81" name="Rectangle 81"/>
              <p:cNvSpPr/>
              <p:nvPr/>
            </p:nvSpPr>
            <p:spPr>
              <a:xfrm>
                <a:off x="6286500" y="2667000"/>
                <a:ext cx="4762500" cy="762000"/>
              </a:xfrm>
              <a:prstGeom prst="rect">
                <a:avLst/>
              </a:prstGeom>
              <a:solidFill>
                <a:srgbClr val="0E2A47"/>
              </a:solidFill>
              <a:ln w="12382">
                <a:solidFill>
                  <a:srgbClr val="5BA3E0"/>
                </a:solidFill>
              </a:ln>
            </p:spPr>
          </p:sp>
          <p:sp>
            <p:nvSpPr>
              <p:cNvPr id="82" name="Rectangle 82"/>
              <p:cNvSpPr/>
              <p:nvPr/>
            </p:nvSpPr>
            <p:spPr>
              <a:xfrm>
                <a:off x="6286500" y="2667000"/>
                <a:ext cx="57150" cy="762000"/>
              </a:xfrm>
              <a:prstGeom prst="rect">
                <a:avLst/>
              </a:prstGeom>
              <a:solidFill>
                <a:srgbClr val="5BA3E0"/>
              </a:solidFill>
              <a:ln>
                <a:noFill/>
              </a:ln>
            </p:spPr>
          </p:sp>
          <p:grpSp>
            <p:nvGrpSpPr>
              <p:cNvPr id="89" name="Group 89"/>
              <p:cNvGrpSpPr/>
              <p:nvPr/>
            </p:nvGrpSpPr>
            <p:grpSpPr>
              <a:xfrm>
                <a:off x="6512719" y="2855119"/>
                <a:ext cx="214313" cy="214313"/>
                <a:chOff x="6512719" y="2855119"/>
                <a:chExt cx="214313" cy="214313"/>
              </a:xfrm>
            </p:grpSpPr>
            <p:sp>
              <p:nvSpPr>
                <p:cNvPr id="83" name="Freeform 83"/>
                <p:cNvSpPr/>
                <p:nvPr/>
              </p:nvSpPr>
              <p:spPr>
                <a:xfrm>
                  <a:off x="6527187" y="2962275"/>
                  <a:ext cx="92688" cy="92688"/>
                </a:xfrm>
                <a:custGeom>
                  <a:avLst/>
                  <a:gdLst/>
                  <a:ahLst/>
                  <a:cxnLst/>
                  <a:rect l="l" t="t" r="r" b="b"/>
                  <a:pathLst>
                    <a:path w="92688" h="92688">
                      <a:moveTo>
                        <a:pt x="33157" y="0"/>
                      </a:moveTo>
                      <a:lnTo>
                        <a:pt x="92688" y="59531"/>
                      </a:lnTo>
                      <a:lnTo>
                        <a:pt x="74829" y="77391"/>
                      </a:lnTo>
                      <a:cubicBezTo>
                        <a:pt x="64254" y="88315"/>
                        <a:pt x="48611" y="92688"/>
                        <a:pt x="33904" y="88833"/>
                      </a:cubicBezTo>
                      <a:cubicBezTo>
                        <a:pt x="19197" y="84977"/>
                        <a:pt x="7711" y="73492"/>
                        <a:pt x="3856" y="58784"/>
                      </a:cubicBezTo>
                      <a:cubicBezTo>
                        <a:pt x="0" y="44077"/>
                        <a:pt x="4374" y="28434"/>
                        <a:pt x="15298" y="17859"/>
                      </a:cubicBezTo>
                      <a:lnTo>
                        <a:pt x="33157" y="0"/>
                      </a:lnTo>
                    </a:path>
                  </a:pathLst>
                </a:custGeom>
                <a:noFill/>
                <a:ln w="14288">
                  <a:solidFill>
                    <a:srgbClr val="5BA3E0"/>
                  </a:solidFill>
                </a:ln>
              </p:spPr>
            </p:sp>
            <p:sp>
              <p:nvSpPr>
                <p:cNvPr id="84" name="Freeform 84"/>
                <p:cNvSpPr/>
                <p:nvPr/>
              </p:nvSpPr>
              <p:spPr>
                <a:xfrm>
                  <a:off x="6619875" y="2869587"/>
                  <a:ext cx="92688" cy="92688"/>
                </a:xfrm>
                <a:custGeom>
                  <a:avLst/>
                  <a:gdLst/>
                  <a:ahLst/>
                  <a:cxnLst/>
                  <a:rect l="l" t="t" r="r" b="b"/>
                  <a:pathLst>
                    <a:path w="92688" h="92688">
                      <a:moveTo>
                        <a:pt x="59531" y="92688"/>
                      </a:moveTo>
                      <a:lnTo>
                        <a:pt x="0" y="33157"/>
                      </a:lnTo>
                      <a:lnTo>
                        <a:pt x="17859" y="15298"/>
                      </a:lnTo>
                      <a:cubicBezTo>
                        <a:pt x="28434" y="4374"/>
                        <a:pt x="44077" y="0"/>
                        <a:pt x="58784" y="3856"/>
                      </a:cubicBezTo>
                      <a:cubicBezTo>
                        <a:pt x="73492" y="7711"/>
                        <a:pt x="84977" y="19197"/>
                        <a:pt x="88833" y="33904"/>
                      </a:cubicBezTo>
                      <a:cubicBezTo>
                        <a:pt x="92688" y="48611"/>
                        <a:pt x="88315" y="64254"/>
                        <a:pt x="77391" y="74829"/>
                      </a:cubicBezTo>
                      <a:lnTo>
                        <a:pt x="59531" y="92688"/>
                      </a:lnTo>
                    </a:path>
                  </a:pathLst>
                </a:custGeom>
                <a:noFill/>
                <a:ln w="14288">
                  <a:solidFill>
                    <a:srgbClr val="5BA3E0"/>
                  </a:solidFill>
                </a:ln>
              </p:spPr>
            </p:sp>
            <p:sp>
              <p:nvSpPr>
                <p:cNvPr id="85" name="Freeform 85"/>
                <p:cNvSpPr/>
                <p:nvPr/>
              </p:nvSpPr>
              <p:spPr>
                <a:xfrm>
                  <a:off x="6512719" y="3039666"/>
                  <a:ext cx="29766" cy="29766"/>
                </a:xfrm>
                <a:custGeom>
                  <a:avLst/>
                  <a:gdLst/>
                  <a:ahLst/>
                  <a:cxnLst/>
                  <a:rect l="l" t="t" r="r" b="b"/>
                  <a:pathLst>
                    <a:path w="29766" h="29766">
                      <a:moveTo>
                        <a:pt x="0" y="29766"/>
                      </a:moveTo>
                      <a:lnTo>
                        <a:pt x="29766" y="0"/>
                      </a:lnTo>
                    </a:path>
                  </a:pathLst>
                </a:custGeom>
                <a:noFill/>
                <a:ln w="14288">
                  <a:solidFill>
                    <a:srgbClr val="5BA3E0"/>
                  </a:solidFill>
                </a:ln>
              </p:spPr>
            </p:sp>
            <p:sp>
              <p:nvSpPr>
                <p:cNvPr id="86" name="Freeform 86"/>
                <p:cNvSpPr/>
                <p:nvPr/>
              </p:nvSpPr>
              <p:spPr>
                <a:xfrm>
                  <a:off x="6697266" y="2855119"/>
                  <a:ext cx="29766" cy="29766"/>
                </a:xfrm>
                <a:custGeom>
                  <a:avLst/>
                  <a:gdLst/>
                  <a:ahLst/>
                  <a:cxnLst/>
                  <a:rect l="l" t="t" r="r" b="b"/>
                  <a:pathLst>
                    <a:path w="29766" h="29766">
                      <a:moveTo>
                        <a:pt x="0" y="29766"/>
                      </a:moveTo>
                      <a:lnTo>
                        <a:pt x="29766" y="0"/>
                      </a:lnTo>
                    </a:path>
                  </a:pathLst>
                </a:custGeom>
                <a:noFill/>
                <a:ln w="14288">
                  <a:solidFill>
                    <a:srgbClr val="5BA3E0"/>
                  </a:solidFill>
                </a:ln>
              </p:spPr>
            </p:sp>
            <p:sp>
              <p:nvSpPr>
                <p:cNvPr id="87" name="Freeform 87"/>
                <p:cNvSpPr/>
                <p:nvPr/>
              </p:nvSpPr>
              <p:spPr>
                <a:xfrm>
                  <a:off x="6572250" y="2950369"/>
                  <a:ext cx="23812" cy="23812"/>
                </a:xfrm>
                <a:custGeom>
                  <a:avLst/>
                  <a:gdLst/>
                  <a:ahLst/>
                  <a:cxnLst/>
                  <a:rect l="l" t="t" r="r" b="b"/>
                  <a:pathLst>
                    <a:path w="23812" h="23812">
                      <a:moveTo>
                        <a:pt x="23812" y="0"/>
                      </a:moveTo>
                      <a:lnTo>
                        <a:pt x="0" y="23812"/>
                      </a:lnTo>
                    </a:path>
                  </a:pathLst>
                </a:custGeom>
                <a:noFill/>
                <a:ln w="14288">
                  <a:solidFill>
                    <a:srgbClr val="5BA3E0"/>
                  </a:solidFill>
                </a:ln>
              </p:spPr>
            </p:sp>
            <p:sp>
              <p:nvSpPr>
                <p:cNvPr id="88" name="Freeform 88"/>
                <p:cNvSpPr/>
                <p:nvPr/>
              </p:nvSpPr>
              <p:spPr>
                <a:xfrm>
                  <a:off x="6607969" y="2986088"/>
                  <a:ext cx="23812" cy="23812"/>
                </a:xfrm>
                <a:custGeom>
                  <a:avLst/>
                  <a:gdLst/>
                  <a:ahLst/>
                  <a:cxnLst/>
                  <a:rect l="l" t="t" r="r" b="b"/>
                  <a:pathLst>
                    <a:path w="23812" h="23812">
                      <a:moveTo>
                        <a:pt x="23812" y="0"/>
                      </a:moveTo>
                      <a:lnTo>
                        <a:pt x="0" y="23812"/>
                      </a:lnTo>
                    </a:path>
                  </a:pathLst>
                </a:custGeom>
                <a:noFill/>
                <a:ln w="14288">
                  <a:solidFill>
                    <a:srgbClr val="5BA3E0"/>
                  </a:solidFill>
                </a:ln>
              </p:spPr>
            </p:sp>
          </p:grpSp>
          <p:sp>
            <p:nvSpPr>
              <p:cNvPr id="90" name="TextBox 90"/>
              <p:cNvSpPr txBox="1"/>
              <p:nvPr/>
            </p:nvSpPr>
            <p:spPr>
              <a:xfrm>
                <a:off x="6863715" y="2848928"/>
                <a:ext cx="725007" cy="213360"/>
              </a:xfrm>
              <a:prstGeom prst="rect">
                <a:avLst/>
              </a:prstGeom>
              <a:noFill/>
              <a:ln>
                <a:noFill/>
              </a:ln>
            </p:spPr>
            <p:txBody>
              <a:bodyPr wrap="none" lIns="0" tIns="0" rIns="0" bIns="0" anchor="t" anchorCtr="0">
                <a:spAutoFit/>
              </a:bodyPr>
              <a:lstStyle/>
              <a:p>
                <a:pPr algn="l"/>
                <a:r>
                  <a:rPr lang="zh-CN" sz="1050" b="1" dirty="0">
                    <a:solidFill>
                      <a:srgbClr val="5BA3E0"/>
                    </a:solidFill>
                    <a:latin typeface="Consolas"/>
                    <a:ea typeface="Microsoft YaHei"/>
                    <a:cs typeface="Consolas"/>
                  </a:rPr>
                  <a:t>CSI Driver</a:t>
                </a:r>
              </a:p>
            </p:txBody>
          </p:sp>
          <p:sp>
            <p:nvSpPr>
              <p:cNvPr id="91" name="TextBox 91"/>
              <p:cNvSpPr txBox="1"/>
              <p:nvPr/>
            </p:nvSpPr>
            <p:spPr>
              <a:xfrm>
                <a:off x="7914322" y="2873216"/>
                <a:ext cx="1638157"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Container Storage Interface</a:t>
                </a:r>
              </a:p>
            </p:txBody>
          </p:sp>
          <p:sp>
            <p:nvSpPr>
              <p:cNvPr id="92" name="TextBox 92"/>
              <p:cNvSpPr txBox="1"/>
              <p:nvPr/>
            </p:nvSpPr>
            <p:spPr>
              <a:xfrm>
                <a:off x="6866572" y="3082766"/>
                <a:ext cx="3029831"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vendor plugin that creates / attaches / mounts volumes</a:t>
                </a:r>
              </a:p>
            </p:txBody>
          </p:sp>
          <p:sp>
            <p:nvSpPr>
              <p:cNvPr id="93" name="TextBox 93"/>
              <p:cNvSpPr txBox="1"/>
              <p:nvPr/>
            </p:nvSpPr>
            <p:spPr>
              <a:xfrm>
                <a:off x="6866572" y="3235166"/>
                <a:ext cx="2402753" cy="167640"/>
              </a:xfrm>
              <a:prstGeom prst="rect">
                <a:avLst/>
              </a:prstGeom>
              <a:noFill/>
              <a:ln>
                <a:noFill/>
              </a:ln>
            </p:spPr>
            <p:txBody>
              <a:bodyPr wrap="none" lIns="0" tIns="0" rIns="0" bIns="0" anchor="t" anchorCtr="0">
                <a:spAutoFit/>
              </a:bodyPr>
              <a:lstStyle/>
              <a:p>
                <a:pPr algn="l"/>
                <a:r>
                  <a:rPr lang="zh-CN" sz="825" dirty="0">
                    <a:solidFill>
                      <a:srgbClr val="A0B8D0"/>
                    </a:solidFill>
                    <a:latin typeface="Consolas"/>
                    <a:ea typeface="Microsoft YaHei"/>
                    <a:cs typeface="Consolas"/>
                  </a:rPr>
                  <a:t>replaces deprecated in-tree storage plugins</a:t>
                </a:r>
              </a:p>
            </p:txBody>
          </p:sp>
        </p:grpSp>
        <p:grpSp>
          <p:nvGrpSpPr>
            <p:cNvPr id="108" name="Group 108"/>
            <p:cNvGrpSpPr/>
            <p:nvPr/>
          </p:nvGrpSpPr>
          <p:grpSpPr>
            <a:xfrm>
              <a:off x="6276022" y="3644741"/>
              <a:ext cx="4725353" cy="572453"/>
              <a:chOff x="6276022" y="3644741"/>
              <a:chExt cx="4725353" cy="572453"/>
            </a:xfrm>
          </p:grpSpPr>
          <p:sp>
            <p:nvSpPr>
              <p:cNvPr id="95" name="TextBox 95"/>
              <p:cNvSpPr txBox="1"/>
              <p:nvPr/>
            </p:nvSpPr>
            <p:spPr>
              <a:xfrm>
                <a:off x="6276022" y="3644741"/>
                <a:ext cx="857060" cy="167640"/>
              </a:xfrm>
              <a:prstGeom prst="rect">
                <a:avLst/>
              </a:prstGeom>
              <a:noFill/>
              <a:ln>
                <a:noFill/>
              </a:ln>
            </p:spPr>
            <p:txBody>
              <a:bodyPr wrap="none" lIns="0" tIns="0" rIns="0" bIns="0" anchor="t" anchorCtr="0">
                <a:spAutoFit/>
              </a:bodyPr>
              <a:lstStyle/>
              <a:p>
                <a:pPr algn="l"/>
                <a:r>
                  <a:rPr lang="zh-CN" sz="825" dirty="0">
                    <a:solidFill>
                      <a:srgbClr val="FFB627"/>
                    </a:solidFill>
                    <a:latin typeface="Consolas"/>
                    <a:ea typeface="Microsoft YaHei"/>
                    <a:cs typeface="Consolas"/>
                  </a:rPr>
                  <a:t>▼ ACCESS MODES</a:t>
                </a:r>
              </a:p>
            </p:txBody>
          </p:sp>
          <p:sp>
            <p:nvSpPr>
              <p:cNvPr id="96" name="Rectangle 96"/>
              <p:cNvSpPr/>
              <p:nvPr/>
            </p:nvSpPr>
            <p:spPr>
              <a:xfrm>
                <a:off x="6286500" y="3829050"/>
                <a:ext cx="1143000" cy="381000"/>
              </a:xfrm>
              <a:prstGeom prst="rect">
                <a:avLst/>
              </a:prstGeom>
              <a:noFill/>
              <a:ln w="9525">
                <a:solidFill>
                  <a:srgbClr val="5BA3E0"/>
                </a:solidFill>
              </a:ln>
            </p:spPr>
          </p:sp>
          <p:sp>
            <p:nvSpPr>
              <p:cNvPr id="97" name="TextBox 97"/>
              <p:cNvSpPr txBox="1"/>
              <p:nvPr/>
            </p:nvSpPr>
            <p:spPr>
              <a:xfrm>
                <a:off x="6729120" y="3940016"/>
                <a:ext cx="257760" cy="167640"/>
              </a:xfrm>
              <a:prstGeom prst="rect">
                <a:avLst/>
              </a:prstGeom>
              <a:noFill/>
              <a:ln>
                <a:noFill/>
              </a:ln>
            </p:spPr>
            <p:txBody>
              <a:bodyPr wrap="none" lIns="0" tIns="0" rIns="0" bIns="0" anchor="t" anchorCtr="0">
                <a:spAutoFit/>
              </a:bodyPr>
              <a:lstStyle/>
              <a:p>
                <a:pPr algn="ctr"/>
                <a:r>
                  <a:rPr lang="zh-CN" sz="825" b="1" dirty="0">
                    <a:solidFill>
                      <a:srgbClr val="F0F4F8"/>
                    </a:solidFill>
                    <a:latin typeface="Consolas"/>
                    <a:ea typeface="Microsoft YaHei"/>
                    <a:cs typeface="Consolas"/>
                  </a:rPr>
                  <a:t>RWO</a:t>
                </a:r>
              </a:p>
            </p:txBody>
          </p:sp>
          <p:sp>
            <p:nvSpPr>
              <p:cNvPr id="98" name="TextBox 98"/>
              <p:cNvSpPr txBox="1"/>
              <p:nvPr/>
            </p:nvSpPr>
            <p:spPr>
              <a:xfrm>
                <a:off x="6601897" y="4080034"/>
                <a:ext cx="512207"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1 node, R/W</a:t>
                </a:r>
              </a:p>
            </p:txBody>
          </p:sp>
          <p:sp>
            <p:nvSpPr>
              <p:cNvPr id="99" name="Rectangle 99"/>
              <p:cNvSpPr/>
              <p:nvPr/>
            </p:nvSpPr>
            <p:spPr>
              <a:xfrm>
                <a:off x="7477125" y="3829050"/>
                <a:ext cx="1143000" cy="381000"/>
              </a:xfrm>
              <a:prstGeom prst="rect">
                <a:avLst/>
              </a:prstGeom>
              <a:noFill/>
              <a:ln w="9525">
                <a:solidFill>
                  <a:srgbClr val="5BA3E0"/>
                </a:solidFill>
              </a:ln>
            </p:spPr>
          </p:sp>
          <p:sp>
            <p:nvSpPr>
              <p:cNvPr id="100" name="TextBox 100"/>
              <p:cNvSpPr txBox="1"/>
              <p:nvPr/>
            </p:nvSpPr>
            <p:spPr>
              <a:xfrm>
                <a:off x="7931297" y="3940016"/>
                <a:ext cx="234657" cy="167640"/>
              </a:xfrm>
              <a:prstGeom prst="rect">
                <a:avLst/>
              </a:prstGeom>
              <a:noFill/>
              <a:ln>
                <a:noFill/>
              </a:ln>
            </p:spPr>
            <p:txBody>
              <a:bodyPr wrap="none" lIns="0" tIns="0" rIns="0" bIns="0" anchor="t" anchorCtr="0">
                <a:spAutoFit/>
              </a:bodyPr>
              <a:lstStyle/>
              <a:p>
                <a:pPr algn="ctr"/>
                <a:r>
                  <a:rPr lang="zh-CN" sz="825" b="1" dirty="0">
                    <a:solidFill>
                      <a:srgbClr val="F0F4F8"/>
                    </a:solidFill>
                    <a:latin typeface="Consolas"/>
                    <a:ea typeface="Microsoft YaHei"/>
                    <a:cs typeface="Consolas"/>
                  </a:rPr>
                  <a:t>ROX</a:t>
                </a:r>
              </a:p>
            </p:txBody>
          </p:sp>
          <p:sp>
            <p:nvSpPr>
              <p:cNvPr id="101" name="TextBox 101"/>
              <p:cNvSpPr txBox="1"/>
              <p:nvPr/>
            </p:nvSpPr>
            <p:spPr>
              <a:xfrm>
                <a:off x="7698010" y="4080034"/>
                <a:ext cx="701230"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many nodes, RO</a:t>
                </a:r>
              </a:p>
            </p:txBody>
          </p:sp>
          <p:sp>
            <p:nvSpPr>
              <p:cNvPr id="102" name="Rectangle 102"/>
              <p:cNvSpPr/>
              <p:nvPr/>
            </p:nvSpPr>
            <p:spPr>
              <a:xfrm>
                <a:off x="8667750" y="3829050"/>
                <a:ext cx="1143000" cy="381000"/>
              </a:xfrm>
              <a:prstGeom prst="rect">
                <a:avLst/>
              </a:prstGeom>
              <a:noFill/>
              <a:ln w="9525">
                <a:solidFill>
                  <a:srgbClr val="5BA3E0"/>
                </a:solidFill>
              </a:ln>
            </p:spPr>
          </p:sp>
          <p:sp>
            <p:nvSpPr>
              <p:cNvPr id="103" name="TextBox 103"/>
              <p:cNvSpPr txBox="1"/>
              <p:nvPr/>
            </p:nvSpPr>
            <p:spPr>
              <a:xfrm>
                <a:off x="9121922" y="3940016"/>
                <a:ext cx="234657" cy="167640"/>
              </a:xfrm>
              <a:prstGeom prst="rect">
                <a:avLst/>
              </a:prstGeom>
              <a:noFill/>
              <a:ln>
                <a:noFill/>
              </a:ln>
            </p:spPr>
            <p:txBody>
              <a:bodyPr wrap="none" lIns="0" tIns="0" rIns="0" bIns="0" anchor="t" anchorCtr="0">
                <a:spAutoFit/>
              </a:bodyPr>
              <a:lstStyle/>
              <a:p>
                <a:pPr algn="ctr"/>
                <a:r>
                  <a:rPr lang="zh-CN" sz="825" b="1" dirty="0">
                    <a:solidFill>
                      <a:srgbClr val="F0F4F8"/>
                    </a:solidFill>
                    <a:latin typeface="Consolas"/>
                    <a:ea typeface="Microsoft YaHei"/>
                    <a:cs typeface="Consolas"/>
                  </a:rPr>
                  <a:t>RWX</a:t>
                </a:r>
              </a:p>
            </p:txBody>
          </p:sp>
          <p:sp>
            <p:nvSpPr>
              <p:cNvPr id="104" name="TextBox 104"/>
              <p:cNvSpPr txBox="1"/>
              <p:nvPr/>
            </p:nvSpPr>
            <p:spPr>
              <a:xfrm>
                <a:off x="8863882" y="4080034"/>
                <a:ext cx="750737"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many nodes, R/W</a:t>
                </a:r>
              </a:p>
            </p:txBody>
          </p:sp>
          <p:sp>
            <p:nvSpPr>
              <p:cNvPr id="105" name="Rectangle 105"/>
              <p:cNvSpPr/>
              <p:nvPr/>
            </p:nvSpPr>
            <p:spPr>
              <a:xfrm>
                <a:off x="9858375" y="3829050"/>
                <a:ext cx="1143000" cy="381000"/>
              </a:xfrm>
              <a:prstGeom prst="rect">
                <a:avLst/>
              </a:prstGeom>
              <a:noFill/>
              <a:ln w="9525">
                <a:solidFill>
                  <a:srgbClr val="FFB627"/>
                </a:solidFill>
              </a:ln>
            </p:spPr>
          </p:sp>
          <p:sp>
            <p:nvSpPr>
              <p:cNvPr id="106" name="TextBox 106"/>
              <p:cNvSpPr txBox="1"/>
              <p:nvPr/>
            </p:nvSpPr>
            <p:spPr>
              <a:xfrm>
                <a:off x="10269229" y="3940016"/>
                <a:ext cx="321293"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RWOP</a:t>
                </a:r>
              </a:p>
            </p:txBody>
          </p:sp>
          <p:sp>
            <p:nvSpPr>
              <p:cNvPr id="107" name="TextBox 107"/>
              <p:cNvSpPr txBox="1"/>
              <p:nvPr/>
            </p:nvSpPr>
            <p:spPr>
              <a:xfrm>
                <a:off x="10198525" y="4080034"/>
                <a:ext cx="462701"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1 pod, R/W</a:t>
                </a:r>
              </a:p>
            </p:txBody>
          </p:sp>
        </p:grpSp>
        <p:grpSp>
          <p:nvGrpSpPr>
            <p:cNvPr id="116" name="Group 116"/>
            <p:cNvGrpSpPr/>
            <p:nvPr/>
          </p:nvGrpSpPr>
          <p:grpSpPr>
            <a:xfrm>
              <a:off x="6276022" y="4444841"/>
              <a:ext cx="4772978" cy="405765"/>
              <a:chOff x="6276022" y="4444841"/>
              <a:chExt cx="4772978" cy="405765"/>
            </a:xfrm>
          </p:grpSpPr>
          <p:sp>
            <p:nvSpPr>
              <p:cNvPr id="109" name="TextBox 109"/>
              <p:cNvSpPr txBox="1"/>
              <p:nvPr/>
            </p:nvSpPr>
            <p:spPr>
              <a:xfrm>
                <a:off x="6276022" y="4444841"/>
                <a:ext cx="923068" cy="167640"/>
              </a:xfrm>
              <a:prstGeom prst="rect">
                <a:avLst/>
              </a:prstGeom>
              <a:noFill/>
              <a:ln>
                <a:noFill/>
              </a:ln>
            </p:spPr>
            <p:txBody>
              <a:bodyPr wrap="none" lIns="0" tIns="0" rIns="0" bIns="0" anchor="t" anchorCtr="0">
                <a:spAutoFit/>
              </a:bodyPr>
              <a:lstStyle/>
              <a:p>
                <a:pPr algn="l"/>
                <a:r>
                  <a:rPr lang="zh-CN" sz="825" dirty="0">
                    <a:solidFill>
                      <a:srgbClr val="FFB627"/>
                    </a:solidFill>
                    <a:latin typeface="Consolas"/>
                    <a:ea typeface="Microsoft YaHei"/>
                    <a:cs typeface="Consolas"/>
                  </a:rPr>
                  <a:t>▼ RECLAIM POLICY</a:t>
                </a:r>
              </a:p>
            </p:txBody>
          </p:sp>
          <p:sp>
            <p:nvSpPr>
              <p:cNvPr id="110" name="Rectangle 110"/>
              <p:cNvSpPr/>
              <p:nvPr/>
            </p:nvSpPr>
            <p:spPr>
              <a:xfrm>
                <a:off x="6286500" y="4629150"/>
                <a:ext cx="1524000" cy="209550"/>
              </a:xfrm>
              <a:prstGeom prst="rect">
                <a:avLst/>
              </a:prstGeom>
              <a:noFill/>
              <a:ln w="9525">
                <a:solidFill>
                  <a:srgbClr val="5BA3E0"/>
                </a:solidFill>
              </a:ln>
            </p:spPr>
          </p:sp>
          <p:sp>
            <p:nvSpPr>
              <p:cNvPr id="111" name="TextBox 111"/>
              <p:cNvSpPr txBox="1"/>
              <p:nvPr/>
            </p:nvSpPr>
            <p:spPr>
              <a:xfrm>
                <a:off x="6870252" y="4682966"/>
                <a:ext cx="356497"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Consolas"/>
                    <a:ea typeface="Microsoft YaHei"/>
                    <a:cs typeface="Consolas"/>
                  </a:rPr>
                  <a:t>Retain</a:t>
                </a:r>
              </a:p>
            </p:txBody>
          </p:sp>
          <p:sp>
            <p:nvSpPr>
              <p:cNvPr id="112" name="Rectangle 112"/>
              <p:cNvSpPr/>
              <p:nvPr/>
            </p:nvSpPr>
            <p:spPr>
              <a:xfrm>
                <a:off x="7905750" y="4629150"/>
                <a:ext cx="1524000" cy="209550"/>
              </a:xfrm>
              <a:prstGeom prst="rect">
                <a:avLst/>
              </a:prstGeom>
              <a:noFill/>
              <a:ln w="9525">
                <a:solidFill>
                  <a:srgbClr val="5BA3E0"/>
                </a:solidFill>
              </a:ln>
            </p:spPr>
          </p:sp>
          <p:sp>
            <p:nvSpPr>
              <p:cNvPr id="113" name="TextBox 113"/>
              <p:cNvSpPr txBox="1"/>
              <p:nvPr/>
            </p:nvSpPr>
            <p:spPr>
              <a:xfrm>
                <a:off x="8214467" y="4682966"/>
                <a:ext cx="906566"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Consolas"/>
                    <a:ea typeface="Microsoft YaHei"/>
                    <a:cs typeface="Consolas"/>
                  </a:rPr>
                  <a:t>Delete (default)</a:t>
                </a:r>
              </a:p>
            </p:txBody>
          </p:sp>
          <p:sp>
            <p:nvSpPr>
              <p:cNvPr id="114" name="Rectangle 114"/>
              <p:cNvSpPr/>
              <p:nvPr/>
            </p:nvSpPr>
            <p:spPr>
              <a:xfrm>
                <a:off x="9525000" y="4629150"/>
                <a:ext cx="1524000" cy="209550"/>
              </a:xfrm>
              <a:prstGeom prst="rect">
                <a:avLst/>
              </a:prstGeom>
              <a:noFill/>
              <a:ln w="9525">
                <a:solidFill>
                  <a:srgbClr val="3E7AB8"/>
                </a:solidFill>
                <a:custDash>
                  <a:ds d="300000" sp="300000"/>
                </a:custDash>
              </a:ln>
            </p:spPr>
          </p:sp>
          <p:sp>
            <p:nvSpPr>
              <p:cNvPr id="115" name="TextBox 115"/>
              <p:cNvSpPr txBox="1"/>
              <p:nvPr/>
            </p:nvSpPr>
            <p:spPr>
              <a:xfrm>
                <a:off x="9712702" y="4682966"/>
                <a:ext cx="1148596" cy="167640"/>
              </a:xfrm>
              <a:prstGeom prst="rect">
                <a:avLst/>
              </a:prstGeom>
              <a:noFill/>
              <a:ln>
                <a:noFill/>
              </a:ln>
            </p:spPr>
            <p:txBody>
              <a:bodyPr wrap="none" lIns="0" tIns="0" rIns="0" bIns="0" anchor="t" anchorCtr="0">
                <a:spAutoFit/>
              </a:bodyPr>
              <a:lstStyle/>
              <a:p>
                <a:pPr algn="ctr"/>
                <a:r>
                  <a:rPr lang="zh-CN" sz="825" dirty="0">
                    <a:solidFill>
                      <a:srgbClr val="6B85A3"/>
                    </a:solidFill>
                    <a:latin typeface="Consolas"/>
                    <a:ea typeface="Microsoft YaHei"/>
                    <a:cs typeface="Consolas"/>
                  </a:rPr>
                  <a:t>Recycle ✗ deprecated</a:t>
                </a:r>
              </a:p>
            </p:txBody>
          </p:sp>
        </p:grpSp>
      </p:grpSp>
      <p:grpSp>
        <p:nvGrpSpPr>
          <p:cNvPr id="128" name="Group 128"/>
          <p:cNvGrpSpPr/>
          <p:nvPr/>
        </p:nvGrpSpPr>
        <p:grpSpPr>
          <a:xfrm>
            <a:off x="762000" y="5143500"/>
            <a:ext cx="10477500" cy="952500"/>
            <a:chOff x="762000" y="5143500"/>
            <a:chExt cx="10477500" cy="952500"/>
          </a:xfrm>
        </p:grpSpPr>
        <p:sp>
          <p:nvSpPr>
            <p:cNvPr id="118" name="Rectangle 118"/>
            <p:cNvSpPr/>
            <p:nvPr/>
          </p:nvSpPr>
          <p:spPr>
            <a:xfrm>
              <a:off x="762000" y="5143500"/>
              <a:ext cx="10477500" cy="952500"/>
            </a:xfrm>
            <a:prstGeom prst="rect">
              <a:avLst/>
            </a:prstGeom>
            <a:solidFill>
              <a:srgbClr val="1A3A5C">
                <a:alpha val="40000"/>
              </a:srgbClr>
            </a:solidFill>
            <a:ln w="9525">
              <a:solidFill>
                <a:srgbClr val="5BA3E0"/>
              </a:solidFill>
            </a:ln>
          </p:spPr>
        </p:sp>
        <p:sp>
          <p:nvSpPr>
            <p:cNvPr id="119" name="TextBox 119"/>
            <p:cNvSpPr txBox="1"/>
            <p:nvPr/>
          </p:nvSpPr>
          <p:spPr>
            <a:xfrm>
              <a:off x="940118" y="5276374"/>
              <a:ext cx="1348981" cy="198120"/>
            </a:xfrm>
            <a:prstGeom prst="rect">
              <a:avLst/>
            </a:prstGeom>
            <a:noFill/>
            <a:ln>
              <a:noFill/>
            </a:ln>
          </p:spPr>
          <p:txBody>
            <a:bodyPr wrap="none" lIns="0" tIns="0" rIns="0" bIns="0" anchor="t" anchorCtr="0">
              <a:spAutoFit/>
            </a:bodyPr>
            <a:lstStyle/>
            <a:p>
              <a:pPr algn="l"/>
              <a:r>
                <a:rPr lang="zh-CN" sz="975" b="1" dirty="0">
                  <a:solidFill>
                    <a:srgbClr val="5BA3E0"/>
                  </a:solidFill>
                  <a:latin typeface="Consolas"/>
                  <a:ea typeface="Microsoft YaHei"/>
                  <a:cs typeface="Consolas"/>
                </a:rPr>
                <a:t>PROVISIONING MODES</a:t>
              </a:r>
            </a:p>
          </p:txBody>
        </p:sp>
        <p:sp>
          <p:nvSpPr>
            <p:cNvPr id="120" name="Rectangle 120"/>
            <p:cNvSpPr/>
            <p:nvPr/>
          </p:nvSpPr>
          <p:spPr>
            <a:xfrm>
              <a:off x="952500" y="5524500"/>
              <a:ext cx="4762500" cy="476250"/>
            </a:xfrm>
            <a:prstGeom prst="rect">
              <a:avLst/>
            </a:prstGeom>
            <a:noFill/>
            <a:ln w="7620">
              <a:solidFill>
                <a:srgbClr val="5BA3E0"/>
              </a:solidFill>
            </a:ln>
          </p:spPr>
        </p:sp>
        <p:sp>
          <p:nvSpPr>
            <p:cNvPr id="121" name="TextBox 121"/>
            <p:cNvSpPr txBox="1"/>
            <p:nvPr/>
          </p:nvSpPr>
          <p:spPr>
            <a:xfrm>
              <a:off x="1093470" y="5617845"/>
              <a:ext cx="407208" cy="182880"/>
            </a:xfrm>
            <a:prstGeom prst="rect">
              <a:avLst/>
            </a:prstGeom>
            <a:noFill/>
            <a:ln>
              <a:noFill/>
            </a:ln>
          </p:spPr>
          <p:txBody>
            <a:bodyPr wrap="none" lIns="0" tIns="0" rIns="0" bIns="0" anchor="t" anchorCtr="0">
              <a:spAutoFit/>
            </a:bodyPr>
            <a:lstStyle/>
            <a:p>
              <a:pPr algn="l"/>
              <a:r>
                <a:rPr lang="zh-CN" sz="900" b="1" dirty="0">
                  <a:solidFill>
                    <a:srgbClr val="5BA3E0"/>
                  </a:solidFill>
                  <a:latin typeface="Consolas"/>
                  <a:ea typeface="Microsoft YaHei"/>
                  <a:cs typeface="Consolas"/>
                </a:rPr>
                <a:t>STATIC</a:t>
              </a:r>
            </a:p>
          </p:txBody>
        </p:sp>
        <p:sp>
          <p:nvSpPr>
            <p:cNvPr id="122" name="TextBox 122"/>
            <p:cNvSpPr txBox="1"/>
            <p:nvPr/>
          </p:nvSpPr>
          <p:spPr>
            <a:xfrm>
              <a:off x="1704022" y="5625941"/>
              <a:ext cx="1665661"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admin creates PVs in advance</a:t>
              </a:r>
            </a:p>
          </p:txBody>
        </p:sp>
        <p:sp>
          <p:nvSpPr>
            <p:cNvPr id="123" name="TextBox 123"/>
            <p:cNvSpPr txBox="1"/>
            <p:nvPr/>
          </p:nvSpPr>
          <p:spPr>
            <a:xfrm>
              <a:off x="1094422" y="5797391"/>
              <a:ext cx="249626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PVC matches → controller binds 1:1 via ClaimRef</a:t>
              </a:r>
            </a:p>
          </p:txBody>
        </p:sp>
        <p:sp>
          <p:nvSpPr>
            <p:cNvPr id="124" name="Rectangle 124"/>
            <p:cNvSpPr/>
            <p:nvPr/>
          </p:nvSpPr>
          <p:spPr>
            <a:xfrm>
              <a:off x="5905500" y="5524500"/>
              <a:ext cx="5143500" cy="476250"/>
            </a:xfrm>
            <a:prstGeom prst="rect">
              <a:avLst/>
            </a:prstGeom>
            <a:noFill/>
            <a:ln w="9525">
              <a:solidFill>
                <a:srgbClr val="FFB627"/>
              </a:solidFill>
            </a:ln>
          </p:spPr>
        </p:sp>
        <p:sp>
          <p:nvSpPr>
            <p:cNvPr id="125" name="TextBox 125"/>
            <p:cNvSpPr txBox="1"/>
            <p:nvPr/>
          </p:nvSpPr>
          <p:spPr>
            <a:xfrm>
              <a:off x="6046470" y="5617845"/>
              <a:ext cx="501720" cy="182880"/>
            </a:xfrm>
            <a:prstGeom prst="rect">
              <a:avLst/>
            </a:prstGeom>
            <a:noFill/>
            <a:ln>
              <a:noFill/>
            </a:ln>
          </p:spPr>
          <p:txBody>
            <a:bodyPr wrap="none" lIns="0" tIns="0" rIns="0" bIns="0" anchor="t" anchorCtr="0">
              <a:spAutoFit/>
            </a:bodyPr>
            <a:lstStyle/>
            <a:p>
              <a:pPr algn="l"/>
              <a:r>
                <a:rPr lang="zh-CN" sz="900" b="1" dirty="0">
                  <a:solidFill>
                    <a:srgbClr val="FFB627"/>
                  </a:solidFill>
                  <a:latin typeface="Consolas"/>
                  <a:ea typeface="Microsoft YaHei"/>
                  <a:cs typeface="Consolas"/>
                </a:rPr>
                <a:t>DYNAMIC</a:t>
              </a:r>
            </a:p>
          </p:txBody>
        </p:sp>
        <p:sp>
          <p:nvSpPr>
            <p:cNvPr id="126" name="TextBox 126"/>
            <p:cNvSpPr txBox="1"/>
            <p:nvPr/>
          </p:nvSpPr>
          <p:spPr>
            <a:xfrm>
              <a:off x="6733222" y="5625941"/>
              <a:ext cx="1968198" cy="167640"/>
            </a:xfrm>
            <a:prstGeom prst="rect">
              <a:avLst/>
            </a:prstGeom>
            <a:noFill/>
            <a:ln>
              <a:noFill/>
            </a:ln>
          </p:spPr>
          <p:txBody>
            <a:bodyPr wrap="none" lIns="0" tIns="0" rIns="0" bIns="0" anchor="t" anchorCtr="0">
              <a:spAutoFit/>
            </a:bodyPr>
            <a:lstStyle/>
            <a:p>
              <a:pPr algn="l"/>
              <a:r>
                <a:rPr lang="zh-CN" sz="825" dirty="0">
                  <a:solidFill>
                    <a:srgbClr val="A0B8D0"/>
                  </a:solidFill>
                  <a:latin typeface="Arial"/>
                  <a:ea typeface="Microsoft YaHei"/>
                  <a:cs typeface="Arial"/>
                </a:rPr>
                <a:t>— StorageClass provisions on demand</a:t>
              </a:r>
            </a:p>
          </p:txBody>
        </p:sp>
        <p:sp>
          <p:nvSpPr>
            <p:cNvPr id="127" name="TextBox 127"/>
            <p:cNvSpPr txBox="1"/>
            <p:nvPr/>
          </p:nvSpPr>
          <p:spPr>
            <a:xfrm>
              <a:off x="6047422" y="5797391"/>
              <a:ext cx="2732794" cy="167640"/>
            </a:xfrm>
            <a:prstGeom prst="rect">
              <a:avLst/>
            </a:prstGeom>
            <a:noFill/>
            <a:ln>
              <a:noFill/>
            </a:ln>
          </p:spPr>
          <p:txBody>
            <a:bodyPr wrap="none" lIns="0" tIns="0" rIns="0" bIns="0" anchor="t" anchorCtr="0">
              <a:spAutoFit/>
            </a:bodyPr>
            <a:lstStyle/>
            <a:p>
              <a:pPr algn="l"/>
              <a:r>
                <a:rPr lang="zh-CN" sz="825" dirty="0">
                  <a:solidFill>
                    <a:srgbClr val="F0F4F8"/>
                  </a:solidFill>
                  <a:latin typeface="Arial"/>
                  <a:ea typeface="Microsoft YaHei"/>
                  <a:cs typeface="Arial"/>
                </a:rPr>
                <a:t xml:space="preserve">requires </a:t>
              </a:r>
              <a:r>
                <a:rPr lang="zh-CN" sz="825" dirty="0">
                  <a:solidFill>
                    <a:srgbClr val="FFB627"/>
                  </a:solidFill>
                  <a:latin typeface="Consolas"/>
                  <a:ea typeface="Microsoft YaHei"/>
                  <a:cs typeface="Consolas"/>
                </a:rPr>
                <a:t>DefaultStorageClass</a:t>
              </a:r>
              <a:r>
                <a:rPr lang="zh-CN" sz="825" dirty="0">
                  <a:solidFill>
                    <a:srgbClr val="F0F4F8"/>
                  </a:solidFill>
                  <a:latin typeface="Arial"/>
                  <a:ea typeface="Microsoft YaHei"/>
                  <a:cs typeface="Arial"/>
                </a:rPr>
                <a:t xml:space="preserve"> admission controller</a:t>
              </a:r>
            </a:p>
          </p:txBody>
        </p:sp>
      </p:grpSp>
      <p:grpSp>
        <p:nvGrpSpPr>
          <p:cNvPr id="132" name="Group 132"/>
          <p:cNvGrpSpPr/>
          <p:nvPr/>
        </p:nvGrpSpPr>
        <p:grpSpPr>
          <a:xfrm>
            <a:off x="561022" y="6477000"/>
            <a:ext cx="11069956" cy="269081"/>
            <a:chOff x="561022" y="6477000"/>
            <a:chExt cx="11069956" cy="269081"/>
          </a:xfrm>
        </p:grpSpPr>
        <p:sp>
          <p:nvSpPr>
            <p:cNvPr id="129" name="Line 129"/>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30" name="TextBox 130"/>
            <p:cNvSpPr txBox="1"/>
            <p:nvPr/>
          </p:nvSpPr>
          <p:spPr>
            <a:xfrm>
              <a:off x="561022" y="6578441"/>
              <a:ext cx="238075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07 OF 10 · STORAGE</a:t>
              </a:r>
            </a:p>
          </p:txBody>
        </p:sp>
        <p:sp>
          <p:nvSpPr>
            <p:cNvPr id="131" name="TextBox 131"/>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07 OF 10</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600"/>
                                        <p:tgtEl>
                                          <p:spTgt spid="64"/>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117"/>
                                        </p:tgtEl>
                                        <p:attrNameLst>
                                          <p:attrName>style.visibility</p:attrName>
                                        </p:attrNameLst>
                                      </p:cBhvr>
                                      <p:to>
                                        <p:strVal val="visible"/>
                                      </p:to>
                                    </p:set>
                                    <p:animEffect transition="in" filter="fade">
                                      <p:cBhvr>
                                        <p:cTn id="11" dur="400"/>
                                        <p:tgtEl>
                                          <p:spTgt spid="117"/>
                                        </p:tgtEl>
                                      </p:cBhvr>
                                    </p:animEffect>
                                  </p:childTnLst>
                                </p:cTn>
                              </p:par>
                            </p:childTnLst>
                          </p:cTn>
                        </p:par>
                        <p:par>
                          <p:cTn id="12" fill="hold">
                            <p:stCondLst>
                              <p:cond delay="1300"/>
                            </p:stCondLst>
                            <p:childTnLst>
                              <p:par>
                                <p:cTn id="13" presetID="10" presetClass="entr" presetSubtype="0" fill="hold" nodeType="after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fade">
                                      <p:cBhvr>
                                        <p:cTn id="15" dur="4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117" grpId="0"/>
      <p:bldP spid="1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129284"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HA Topology: Stacked or External</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P08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296924"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PRODUCTION CLUSTERS NEED ≥3 CONTROL-PLANE HOSTS · ODD-NUMBERED ETCD MEMBERS</a:t>
              </a:r>
            </a:p>
          </p:txBody>
        </p:sp>
      </p:grpSp>
      <p:grpSp>
        <p:nvGrpSpPr>
          <p:cNvPr id="56" name="Group 56"/>
          <p:cNvGrpSpPr/>
          <p:nvPr/>
        </p:nvGrpSpPr>
        <p:grpSpPr>
          <a:xfrm>
            <a:off x="762000" y="1047750"/>
            <a:ext cx="5334000" cy="4762500"/>
            <a:chOff x="762000" y="1047750"/>
            <a:chExt cx="5334000" cy="4762500"/>
          </a:xfrm>
        </p:grpSpPr>
        <p:sp>
          <p:nvSpPr>
            <p:cNvPr id="11" name="Rectangle 11"/>
            <p:cNvSpPr/>
            <p:nvPr/>
          </p:nvSpPr>
          <p:spPr>
            <a:xfrm>
              <a:off x="762000" y="1047750"/>
              <a:ext cx="5334000" cy="4762500"/>
            </a:xfrm>
            <a:prstGeom prst="rect">
              <a:avLst/>
            </a:prstGeom>
            <a:solidFill>
              <a:srgbClr val="1A3A5C">
                <a:alpha val="30000"/>
              </a:srgbClr>
            </a:solidFill>
            <a:ln w="7620">
              <a:solidFill>
                <a:srgbClr val="5BA3E0"/>
              </a:solidFill>
              <a:prstDash val="dash"/>
            </a:ln>
          </p:spPr>
        </p:sp>
        <p:sp>
          <p:nvSpPr>
            <p:cNvPr id="12" name="TextBox 12"/>
            <p:cNvSpPr txBox="1"/>
            <p:nvPr/>
          </p:nvSpPr>
          <p:spPr>
            <a:xfrm>
              <a:off x="939165" y="1172528"/>
              <a:ext cx="1746785" cy="213360"/>
            </a:xfrm>
            <a:prstGeom prst="rect">
              <a:avLst/>
            </a:prstGeom>
            <a:noFill/>
            <a:ln>
              <a:noFill/>
            </a:ln>
          </p:spPr>
          <p:txBody>
            <a:bodyPr wrap="none" lIns="0" tIns="0" rIns="0" bIns="0" anchor="t" anchorCtr="0">
              <a:spAutoFit/>
            </a:bodyPr>
            <a:lstStyle/>
            <a:p>
              <a:pPr algn="l"/>
              <a:r>
                <a:rPr lang="zh-CN" sz="1050" b="1" dirty="0">
                  <a:solidFill>
                    <a:srgbClr val="5BA3E0"/>
                  </a:solidFill>
                  <a:latin typeface="Consolas"/>
                  <a:ea typeface="Microsoft YaHei"/>
                  <a:cs typeface="Consolas"/>
                </a:rPr>
                <a:t>[ TOPOLOGY A ] STACKED</a:t>
              </a:r>
            </a:p>
          </p:txBody>
        </p:sp>
        <p:sp>
          <p:nvSpPr>
            <p:cNvPr id="13" name="TextBox 13"/>
            <p:cNvSpPr txBox="1"/>
            <p:nvPr/>
          </p:nvSpPr>
          <p:spPr>
            <a:xfrm>
              <a:off x="941070" y="1379220"/>
              <a:ext cx="2381155" cy="182880"/>
            </a:xfrm>
            <a:prstGeom prst="rect">
              <a:avLst/>
            </a:prstGeom>
            <a:noFill/>
            <a:ln>
              <a:noFill/>
            </a:ln>
          </p:spPr>
          <p:txBody>
            <a:bodyPr wrap="none" lIns="0" tIns="0" rIns="0" bIns="0" anchor="t" anchorCtr="0">
              <a:spAutoFit/>
            </a:bodyPr>
            <a:lstStyle/>
            <a:p>
              <a:pPr algn="l"/>
              <a:r>
                <a:rPr lang="zh-CN" sz="900" dirty="0">
                  <a:solidFill>
                    <a:srgbClr val="A0B8D0"/>
                  </a:solidFill>
                  <a:latin typeface="Arial"/>
                  <a:ea typeface="Microsoft YaHei"/>
                  <a:cs typeface="Arial"/>
                </a:rPr>
                <a:t>etcd co-located with control-plane host</a:t>
              </a:r>
            </a:p>
          </p:txBody>
        </p:sp>
        <p:sp>
          <p:nvSpPr>
            <p:cNvPr id="14" name="Line 14"/>
            <p:cNvSpPr/>
            <p:nvPr/>
          </p:nvSpPr>
          <p:spPr>
            <a:xfrm>
              <a:off x="762000" y="1619250"/>
              <a:ext cx="5334000" cy="9525"/>
            </a:xfrm>
            <a:custGeom>
              <a:avLst/>
              <a:gdLst/>
              <a:ahLst/>
              <a:cxnLst/>
              <a:rect l="l" t="t" r="r" b="b"/>
              <a:pathLst>
                <a:path w="5334000" h="9525">
                  <a:moveTo>
                    <a:pt x="0" y="0"/>
                  </a:moveTo>
                  <a:lnTo>
                    <a:pt x="5334000" y="0"/>
                  </a:lnTo>
                </a:path>
              </a:pathLst>
            </a:custGeom>
            <a:noFill/>
            <a:ln w="4762">
              <a:solidFill>
                <a:srgbClr val="5BA3E0"/>
              </a:solidFill>
            </a:ln>
          </p:spPr>
        </p:sp>
        <p:grpSp>
          <p:nvGrpSpPr>
            <p:cNvPr id="24" name="Group 24"/>
            <p:cNvGrpSpPr/>
            <p:nvPr/>
          </p:nvGrpSpPr>
          <p:grpSpPr>
            <a:xfrm>
              <a:off x="1143000" y="2000250"/>
              <a:ext cx="1524000" cy="1840706"/>
              <a:chOff x="1143000" y="2000250"/>
              <a:chExt cx="1524000" cy="1840706"/>
            </a:xfrm>
          </p:grpSpPr>
          <p:sp>
            <p:nvSpPr>
              <p:cNvPr id="15" name="Polygon 15"/>
              <p:cNvSpPr/>
              <p:nvPr/>
            </p:nvSpPr>
            <p:spPr>
              <a:xfrm>
                <a:off x="1143000" y="2000250"/>
                <a:ext cx="1524000" cy="1524000"/>
              </a:xfrm>
              <a:custGeom>
                <a:avLst/>
                <a:gdLst/>
                <a:ahLst/>
                <a:cxnLst/>
                <a:rect l="l" t="t" r="r" b="b"/>
                <a:pathLst>
                  <a:path w="1524000" h="1524000">
                    <a:moveTo>
                      <a:pt x="762000" y="0"/>
                    </a:moveTo>
                    <a:lnTo>
                      <a:pt x="1524000" y="381000"/>
                    </a:lnTo>
                    <a:lnTo>
                      <a:pt x="1524000" y="1143000"/>
                    </a:lnTo>
                    <a:lnTo>
                      <a:pt x="762000" y="1524000"/>
                    </a:lnTo>
                    <a:lnTo>
                      <a:pt x="0" y="1143000"/>
                    </a:lnTo>
                    <a:lnTo>
                      <a:pt x="0" y="381000"/>
                    </a:lnTo>
                    <a:close/>
                  </a:path>
                </a:pathLst>
              </a:custGeom>
              <a:solidFill>
                <a:srgbClr val="0E2A47"/>
              </a:solidFill>
              <a:ln w="12382">
                <a:solidFill>
                  <a:srgbClr val="5BA3E0"/>
                </a:solidFill>
              </a:ln>
            </p:spPr>
          </p:sp>
          <p:sp>
            <p:nvSpPr>
              <p:cNvPr id="16" name="Line 16"/>
              <p:cNvSpPr/>
              <p:nvPr/>
            </p:nvSpPr>
            <p:spPr>
              <a:xfrm>
                <a:off x="1905000" y="2000250"/>
                <a:ext cx="9525" cy="762000"/>
              </a:xfrm>
              <a:custGeom>
                <a:avLst/>
                <a:gdLst/>
                <a:ahLst/>
                <a:cxnLst/>
                <a:rect l="l" t="t" r="r" b="b"/>
                <a:pathLst>
                  <a:path w="9525" h="762000">
                    <a:moveTo>
                      <a:pt x="0" y="0"/>
                    </a:moveTo>
                    <a:lnTo>
                      <a:pt x="0" y="762000"/>
                    </a:lnTo>
                  </a:path>
                </a:pathLst>
              </a:custGeom>
              <a:noFill/>
              <a:ln w="7620">
                <a:solidFill>
                  <a:srgbClr val="5BA3E0"/>
                </a:solidFill>
              </a:ln>
            </p:spPr>
          </p:sp>
          <p:sp>
            <p:nvSpPr>
              <p:cNvPr id="17" name="Line 17"/>
              <p:cNvSpPr/>
              <p:nvPr/>
            </p:nvSpPr>
            <p:spPr>
              <a:xfrm>
                <a:off x="1143000" y="2381250"/>
                <a:ext cx="762000" cy="381000"/>
              </a:xfrm>
              <a:custGeom>
                <a:avLst/>
                <a:gdLst/>
                <a:ahLst/>
                <a:cxnLst/>
                <a:rect l="l" t="t" r="r" b="b"/>
                <a:pathLst>
                  <a:path w="762000" h="381000">
                    <a:moveTo>
                      <a:pt x="762000" y="381000"/>
                    </a:moveTo>
                    <a:lnTo>
                      <a:pt x="0" y="0"/>
                    </a:lnTo>
                  </a:path>
                </a:pathLst>
              </a:custGeom>
              <a:noFill/>
              <a:ln w="7620">
                <a:solidFill>
                  <a:srgbClr val="5BA3E0"/>
                </a:solidFill>
              </a:ln>
            </p:spPr>
          </p:sp>
          <p:sp>
            <p:nvSpPr>
              <p:cNvPr id="18" name="Line 18"/>
              <p:cNvSpPr/>
              <p:nvPr/>
            </p:nvSpPr>
            <p:spPr>
              <a:xfrm>
                <a:off x="1905000" y="2381250"/>
                <a:ext cx="762000" cy="381000"/>
              </a:xfrm>
              <a:custGeom>
                <a:avLst/>
                <a:gdLst/>
                <a:ahLst/>
                <a:cxnLst/>
                <a:rect l="l" t="t" r="r" b="b"/>
                <a:pathLst>
                  <a:path w="762000" h="381000">
                    <a:moveTo>
                      <a:pt x="0" y="381000"/>
                    </a:moveTo>
                    <a:lnTo>
                      <a:pt x="762000" y="0"/>
                    </a:lnTo>
                  </a:path>
                </a:pathLst>
              </a:custGeom>
              <a:noFill/>
              <a:ln w="7620">
                <a:solidFill>
                  <a:srgbClr val="5BA3E0"/>
                </a:solidFill>
              </a:ln>
            </p:spPr>
          </p:sp>
          <p:sp>
            <p:nvSpPr>
              <p:cNvPr id="19" name="Rectangle 19"/>
              <p:cNvSpPr/>
              <p:nvPr/>
            </p:nvSpPr>
            <p:spPr>
              <a:xfrm>
                <a:off x="1476375" y="2571750"/>
                <a:ext cx="857250" cy="133350"/>
              </a:xfrm>
              <a:prstGeom prst="rect">
                <a:avLst/>
              </a:prstGeom>
              <a:noFill/>
              <a:ln w="7620">
                <a:solidFill>
                  <a:srgbClr val="FFB627"/>
                </a:solidFill>
              </a:ln>
            </p:spPr>
          </p:sp>
          <p:sp>
            <p:nvSpPr>
              <p:cNvPr id="20" name="TextBox 20"/>
              <p:cNvSpPr txBox="1"/>
              <p:nvPr/>
            </p:nvSpPr>
            <p:spPr>
              <a:xfrm>
                <a:off x="1684901" y="2603659"/>
                <a:ext cx="44019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apiserver</a:t>
                </a:r>
              </a:p>
            </p:txBody>
          </p:sp>
          <p:sp>
            <p:nvSpPr>
              <p:cNvPr id="21" name="Rectangle 21"/>
              <p:cNvSpPr/>
              <p:nvPr/>
            </p:nvSpPr>
            <p:spPr>
              <a:xfrm>
                <a:off x="1476375" y="2743200"/>
                <a:ext cx="857250" cy="133350"/>
              </a:xfrm>
              <a:prstGeom prst="rect">
                <a:avLst/>
              </a:prstGeom>
              <a:noFill/>
              <a:ln w="7620">
                <a:solidFill>
                  <a:srgbClr val="FFB627"/>
                </a:solidFill>
              </a:ln>
            </p:spPr>
          </p:sp>
          <p:sp>
            <p:nvSpPr>
              <p:cNvPr id="22" name="TextBox 22"/>
              <p:cNvSpPr txBox="1"/>
              <p:nvPr/>
            </p:nvSpPr>
            <p:spPr>
              <a:xfrm>
                <a:off x="1797415" y="2775109"/>
                <a:ext cx="215170"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etcd</a:t>
                </a:r>
              </a:p>
            </p:txBody>
          </p:sp>
          <p:sp>
            <p:nvSpPr>
              <p:cNvPr id="23" name="TextBox 23"/>
              <p:cNvSpPr txBox="1"/>
              <p:nvPr/>
            </p:nvSpPr>
            <p:spPr>
              <a:xfrm>
                <a:off x="1696498" y="3673316"/>
                <a:ext cx="417005"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host-01</a:t>
                </a:r>
              </a:p>
            </p:txBody>
          </p:sp>
        </p:grpSp>
        <p:grpSp>
          <p:nvGrpSpPr>
            <p:cNvPr id="34" name="Group 34"/>
            <p:cNvGrpSpPr/>
            <p:nvPr/>
          </p:nvGrpSpPr>
          <p:grpSpPr>
            <a:xfrm>
              <a:off x="2667000" y="2000250"/>
              <a:ext cx="1524000" cy="1840706"/>
              <a:chOff x="2667000" y="2000250"/>
              <a:chExt cx="1524000" cy="1840706"/>
            </a:xfrm>
          </p:grpSpPr>
          <p:sp>
            <p:nvSpPr>
              <p:cNvPr id="25" name="Polygon 25"/>
              <p:cNvSpPr/>
              <p:nvPr/>
            </p:nvSpPr>
            <p:spPr>
              <a:xfrm>
                <a:off x="2667000" y="2000250"/>
                <a:ext cx="1524000" cy="1524000"/>
              </a:xfrm>
              <a:custGeom>
                <a:avLst/>
                <a:gdLst/>
                <a:ahLst/>
                <a:cxnLst/>
                <a:rect l="l" t="t" r="r" b="b"/>
                <a:pathLst>
                  <a:path w="1524000" h="1524000">
                    <a:moveTo>
                      <a:pt x="762000" y="0"/>
                    </a:moveTo>
                    <a:lnTo>
                      <a:pt x="1524000" y="381000"/>
                    </a:lnTo>
                    <a:lnTo>
                      <a:pt x="1524000" y="1143000"/>
                    </a:lnTo>
                    <a:lnTo>
                      <a:pt x="762000" y="1524000"/>
                    </a:lnTo>
                    <a:lnTo>
                      <a:pt x="0" y="1143000"/>
                    </a:lnTo>
                    <a:lnTo>
                      <a:pt x="0" y="381000"/>
                    </a:lnTo>
                    <a:close/>
                  </a:path>
                </a:pathLst>
              </a:custGeom>
              <a:solidFill>
                <a:srgbClr val="0E2A47"/>
              </a:solidFill>
              <a:ln w="12382">
                <a:solidFill>
                  <a:srgbClr val="5BA3E0"/>
                </a:solidFill>
              </a:ln>
            </p:spPr>
          </p:sp>
          <p:sp>
            <p:nvSpPr>
              <p:cNvPr id="26" name="Line 26"/>
              <p:cNvSpPr/>
              <p:nvPr/>
            </p:nvSpPr>
            <p:spPr>
              <a:xfrm>
                <a:off x="3429000" y="2000250"/>
                <a:ext cx="9525" cy="762000"/>
              </a:xfrm>
              <a:custGeom>
                <a:avLst/>
                <a:gdLst/>
                <a:ahLst/>
                <a:cxnLst/>
                <a:rect l="l" t="t" r="r" b="b"/>
                <a:pathLst>
                  <a:path w="9525" h="762000">
                    <a:moveTo>
                      <a:pt x="0" y="0"/>
                    </a:moveTo>
                    <a:lnTo>
                      <a:pt x="0" y="762000"/>
                    </a:lnTo>
                  </a:path>
                </a:pathLst>
              </a:custGeom>
              <a:noFill/>
              <a:ln w="7620">
                <a:solidFill>
                  <a:srgbClr val="5BA3E0"/>
                </a:solidFill>
              </a:ln>
            </p:spPr>
          </p:sp>
          <p:sp>
            <p:nvSpPr>
              <p:cNvPr id="27" name="Line 27"/>
              <p:cNvSpPr/>
              <p:nvPr/>
            </p:nvSpPr>
            <p:spPr>
              <a:xfrm>
                <a:off x="2667000" y="2381250"/>
                <a:ext cx="762000" cy="381000"/>
              </a:xfrm>
              <a:custGeom>
                <a:avLst/>
                <a:gdLst/>
                <a:ahLst/>
                <a:cxnLst/>
                <a:rect l="l" t="t" r="r" b="b"/>
                <a:pathLst>
                  <a:path w="762000" h="381000">
                    <a:moveTo>
                      <a:pt x="762000" y="381000"/>
                    </a:moveTo>
                    <a:lnTo>
                      <a:pt x="0" y="0"/>
                    </a:lnTo>
                  </a:path>
                </a:pathLst>
              </a:custGeom>
              <a:noFill/>
              <a:ln w="7620">
                <a:solidFill>
                  <a:srgbClr val="5BA3E0"/>
                </a:solidFill>
              </a:ln>
            </p:spPr>
          </p:sp>
          <p:sp>
            <p:nvSpPr>
              <p:cNvPr id="28" name="Line 28"/>
              <p:cNvSpPr/>
              <p:nvPr/>
            </p:nvSpPr>
            <p:spPr>
              <a:xfrm>
                <a:off x="3429000" y="2381250"/>
                <a:ext cx="762000" cy="381000"/>
              </a:xfrm>
              <a:custGeom>
                <a:avLst/>
                <a:gdLst/>
                <a:ahLst/>
                <a:cxnLst/>
                <a:rect l="l" t="t" r="r" b="b"/>
                <a:pathLst>
                  <a:path w="762000" h="381000">
                    <a:moveTo>
                      <a:pt x="0" y="381000"/>
                    </a:moveTo>
                    <a:lnTo>
                      <a:pt x="762000" y="0"/>
                    </a:lnTo>
                  </a:path>
                </a:pathLst>
              </a:custGeom>
              <a:noFill/>
              <a:ln w="7620">
                <a:solidFill>
                  <a:srgbClr val="5BA3E0"/>
                </a:solidFill>
              </a:ln>
            </p:spPr>
          </p:sp>
          <p:sp>
            <p:nvSpPr>
              <p:cNvPr id="29" name="Rectangle 29"/>
              <p:cNvSpPr/>
              <p:nvPr/>
            </p:nvSpPr>
            <p:spPr>
              <a:xfrm>
                <a:off x="3000375" y="2571750"/>
                <a:ext cx="857250" cy="133350"/>
              </a:xfrm>
              <a:prstGeom prst="rect">
                <a:avLst/>
              </a:prstGeom>
              <a:noFill/>
              <a:ln w="7620">
                <a:solidFill>
                  <a:srgbClr val="FFB627"/>
                </a:solidFill>
              </a:ln>
            </p:spPr>
          </p:sp>
          <p:sp>
            <p:nvSpPr>
              <p:cNvPr id="30" name="TextBox 30"/>
              <p:cNvSpPr txBox="1"/>
              <p:nvPr/>
            </p:nvSpPr>
            <p:spPr>
              <a:xfrm>
                <a:off x="3208901" y="2603659"/>
                <a:ext cx="44019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apiserver</a:t>
                </a:r>
              </a:p>
            </p:txBody>
          </p:sp>
          <p:sp>
            <p:nvSpPr>
              <p:cNvPr id="31" name="Rectangle 31"/>
              <p:cNvSpPr/>
              <p:nvPr/>
            </p:nvSpPr>
            <p:spPr>
              <a:xfrm>
                <a:off x="3000375" y="2743200"/>
                <a:ext cx="857250" cy="133350"/>
              </a:xfrm>
              <a:prstGeom prst="rect">
                <a:avLst/>
              </a:prstGeom>
              <a:noFill/>
              <a:ln w="7620">
                <a:solidFill>
                  <a:srgbClr val="FFB627"/>
                </a:solidFill>
              </a:ln>
            </p:spPr>
          </p:sp>
          <p:sp>
            <p:nvSpPr>
              <p:cNvPr id="32" name="TextBox 32"/>
              <p:cNvSpPr txBox="1"/>
              <p:nvPr/>
            </p:nvSpPr>
            <p:spPr>
              <a:xfrm>
                <a:off x="3321415" y="2775109"/>
                <a:ext cx="215170"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etcd</a:t>
                </a:r>
              </a:p>
            </p:txBody>
          </p:sp>
          <p:sp>
            <p:nvSpPr>
              <p:cNvPr id="33" name="TextBox 33"/>
              <p:cNvSpPr txBox="1"/>
              <p:nvPr/>
            </p:nvSpPr>
            <p:spPr>
              <a:xfrm>
                <a:off x="3206746" y="3673316"/>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host-02</a:t>
                </a:r>
              </a:p>
            </p:txBody>
          </p:sp>
        </p:grpSp>
        <p:grpSp>
          <p:nvGrpSpPr>
            <p:cNvPr id="44" name="Group 44"/>
            <p:cNvGrpSpPr/>
            <p:nvPr/>
          </p:nvGrpSpPr>
          <p:grpSpPr>
            <a:xfrm>
              <a:off x="4191000" y="2000250"/>
              <a:ext cx="1524000" cy="1840706"/>
              <a:chOff x="4191000" y="2000250"/>
              <a:chExt cx="1524000" cy="1840706"/>
            </a:xfrm>
          </p:grpSpPr>
          <p:sp>
            <p:nvSpPr>
              <p:cNvPr id="35" name="Polygon 35"/>
              <p:cNvSpPr/>
              <p:nvPr/>
            </p:nvSpPr>
            <p:spPr>
              <a:xfrm>
                <a:off x="4191000" y="2000250"/>
                <a:ext cx="1524000" cy="1524000"/>
              </a:xfrm>
              <a:custGeom>
                <a:avLst/>
                <a:gdLst/>
                <a:ahLst/>
                <a:cxnLst/>
                <a:rect l="l" t="t" r="r" b="b"/>
                <a:pathLst>
                  <a:path w="1524000" h="1524000">
                    <a:moveTo>
                      <a:pt x="762000" y="0"/>
                    </a:moveTo>
                    <a:lnTo>
                      <a:pt x="1524000" y="381000"/>
                    </a:lnTo>
                    <a:lnTo>
                      <a:pt x="1524000" y="1143000"/>
                    </a:lnTo>
                    <a:lnTo>
                      <a:pt x="762000" y="1524000"/>
                    </a:lnTo>
                    <a:lnTo>
                      <a:pt x="0" y="1143000"/>
                    </a:lnTo>
                    <a:lnTo>
                      <a:pt x="0" y="381000"/>
                    </a:lnTo>
                    <a:close/>
                  </a:path>
                </a:pathLst>
              </a:custGeom>
              <a:solidFill>
                <a:srgbClr val="0E2A47"/>
              </a:solidFill>
              <a:ln w="12382">
                <a:solidFill>
                  <a:srgbClr val="5BA3E0"/>
                </a:solidFill>
              </a:ln>
            </p:spPr>
          </p:sp>
          <p:sp>
            <p:nvSpPr>
              <p:cNvPr id="36" name="Line 36"/>
              <p:cNvSpPr/>
              <p:nvPr/>
            </p:nvSpPr>
            <p:spPr>
              <a:xfrm>
                <a:off x="4953000" y="2000250"/>
                <a:ext cx="9525" cy="762000"/>
              </a:xfrm>
              <a:custGeom>
                <a:avLst/>
                <a:gdLst/>
                <a:ahLst/>
                <a:cxnLst/>
                <a:rect l="l" t="t" r="r" b="b"/>
                <a:pathLst>
                  <a:path w="9525" h="762000">
                    <a:moveTo>
                      <a:pt x="0" y="0"/>
                    </a:moveTo>
                    <a:lnTo>
                      <a:pt x="0" y="762000"/>
                    </a:lnTo>
                  </a:path>
                </a:pathLst>
              </a:custGeom>
              <a:noFill/>
              <a:ln w="7620">
                <a:solidFill>
                  <a:srgbClr val="5BA3E0"/>
                </a:solidFill>
              </a:ln>
            </p:spPr>
          </p:sp>
          <p:sp>
            <p:nvSpPr>
              <p:cNvPr id="37" name="Line 37"/>
              <p:cNvSpPr/>
              <p:nvPr/>
            </p:nvSpPr>
            <p:spPr>
              <a:xfrm>
                <a:off x="4191000" y="2381250"/>
                <a:ext cx="762000" cy="381000"/>
              </a:xfrm>
              <a:custGeom>
                <a:avLst/>
                <a:gdLst/>
                <a:ahLst/>
                <a:cxnLst/>
                <a:rect l="l" t="t" r="r" b="b"/>
                <a:pathLst>
                  <a:path w="762000" h="381000">
                    <a:moveTo>
                      <a:pt x="762000" y="381000"/>
                    </a:moveTo>
                    <a:lnTo>
                      <a:pt x="0" y="0"/>
                    </a:lnTo>
                  </a:path>
                </a:pathLst>
              </a:custGeom>
              <a:noFill/>
              <a:ln w="7620">
                <a:solidFill>
                  <a:srgbClr val="5BA3E0"/>
                </a:solidFill>
              </a:ln>
            </p:spPr>
          </p:sp>
          <p:sp>
            <p:nvSpPr>
              <p:cNvPr id="38" name="Line 38"/>
              <p:cNvSpPr/>
              <p:nvPr/>
            </p:nvSpPr>
            <p:spPr>
              <a:xfrm>
                <a:off x="4953000" y="2381250"/>
                <a:ext cx="762000" cy="381000"/>
              </a:xfrm>
              <a:custGeom>
                <a:avLst/>
                <a:gdLst/>
                <a:ahLst/>
                <a:cxnLst/>
                <a:rect l="l" t="t" r="r" b="b"/>
                <a:pathLst>
                  <a:path w="762000" h="381000">
                    <a:moveTo>
                      <a:pt x="0" y="381000"/>
                    </a:moveTo>
                    <a:lnTo>
                      <a:pt x="762000" y="0"/>
                    </a:lnTo>
                  </a:path>
                </a:pathLst>
              </a:custGeom>
              <a:noFill/>
              <a:ln w="7620">
                <a:solidFill>
                  <a:srgbClr val="5BA3E0"/>
                </a:solidFill>
              </a:ln>
            </p:spPr>
          </p:sp>
          <p:sp>
            <p:nvSpPr>
              <p:cNvPr id="39" name="Rectangle 39"/>
              <p:cNvSpPr/>
              <p:nvPr/>
            </p:nvSpPr>
            <p:spPr>
              <a:xfrm>
                <a:off x="4524375" y="2571750"/>
                <a:ext cx="857250" cy="133350"/>
              </a:xfrm>
              <a:prstGeom prst="rect">
                <a:avLst/>
              </a:prstGeom>
              <a:noFill/>
              <a:ln w="7620">
                <a:solidFill>
                  <a:srgbClr val="FFB627"/>
                </a:solidFill>
              </a:ln>
            </p:spPr>
          </p:sp>
          <p:sp>
            <p:nvSpPr>
              <p:cNvPr id="40" name="TextBox 40"/>
              <p:cNvSpPr txBox="1"/>
              <p:nvPr/>
            </p:nvSpPr>
            <p:spPr>
              <a:xfrm>
                <a:off x="4732901" y="2603659"/>
                <a:ext cx="440198"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apiserver</a:t>
                </a:r>
              </a:p>
            </p:txBody>
          </p:sp>
          <p:sp>
            <p:nvSpPr>
              <p:cNvPr id="41" name="Rectangle 41"/>
              <p:cNvSpPr/>
              <p:nvPr/>
            </p:nvSpPr>
            <p:spPr>
              <a:xfrm>
                <a:off x="4524375" y="2743200"/>
                <a:ext cx="857250" cy="133350"/>
              </a:xfrm>
              <a:prstGeom prst="rect">
                <a:avLst/>
              </a:prstGeom>
              <a:noFill/>
              <a:ln w="7620">
                <a:solidFill>
                  <a:srgbClr val="FFB627"/>
                </a:solidFill>
              </a:ln>
            </p:spPr>
          </p:sp>
          <p:sp>
            <p:nvSpPr>
              <p:cNvPr id="42" name="TextBox 42"/>
              <p:cNvSpPr txBox="1"/>
              <p:nvPr/>
            </p:nvSpPr>
            <p:spPr>
              <a:xfrm>
                <a:off x="4845415" y="2775109"/>
                <a:ext cx="215170" cy="137160"/>
              </a:xfrm>
              <a:prstGeom prst="rect">
                <a:avLst/>
              </a:prstGeom>
              <a:noFill/>
              <a:ln>
                <a:noFill/>
              </a:ln>
            </p:spPr>
            <p:txBody>
              <a:bodyPr wrap="none" lIns="0" tIns="0" rIns="0" bIns="0" anchor="t" anchorCtr="0">
                <a:spAutoFit/>
              </a:bodyPr>
              <a:lstStyle/>
              <a:p>
                <a:pPr algn="ctr"/>
                <a:r>
                  <a:rPr lang="zh-CN" sz="675" dirty="0">
                    <a:solidFill>
                      <a:srgbClr val="FFB627"/>
                    </a:solidFill>
                    <a:latin typeface="Consolas"/>
                    <a:ea typeface="Microsoft YaHei"/>
                    <a:cs typeface="Consolas"/>
                  </a:rPr>
                  <a:t>etcd</a:t>
                </a:r>
              </a:p>
            </p:txBody>
          </p:sp>
          <p:sp>
            <p:nvSpPr>
              <p:cNvPr id="43" name="TextBox 43"/>
              <p:cNvSpPr txBox="1"/>
              <p:nvPr/>
            </p:nvSpPr>
            <p:spPr>
              <a:xfrm>
                <a:off x="4730746" y="3673316"/>
                <a:ext cx="44450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Consolas"/>
                    <a:ea typeface="Microsoft YaHei"/>
                    <a:cs typeface="Consolas"/>
                  </a:rPr>
                  <a:t>host-03</a:t>
                </a:r>
              </a:p>
            </p:txBody>
          </p:sp>
        </p:grpSp>
        <p:sp>
          <p:nvSpPr>
            <p:cNvPr id="45" name="Freeform 45"/>
            <p:cNvSpPr/>
            <p:nvPr/>
          </p:nvSpPr>
          <p:spPr>
            <a:xfrm>
              <a:off x="1905000" y="3143250"/>
              <a:ext cx="1524000" cy="158750"/>
            </a:xfrm>
            <a:custGeom>
              <a:avLst/>
              <a:gdLst/>
              <a:ahLst/>
              <a:cxnLst/>
              <a:rect l="l" t="t" r="r" b="b"/>
              <a:pathLst>
                <a:path w="1524000" h="158750">
                  <a:moveTo>
                    <a:pt x="0" y="0"/>
                  </a:moveTo>
                  <a:cubicBezTo>
                    <a:pt x="1016000" y="158750"/>
                    <a:pt x="1524000" y="158750"/>
                    <a:pt x="1524000" y="0"/>
                  </a:cubicBezTo>
                </a:path>
              </a:pathLst>
            </a:custGeom>
            <a:noFill/>
            <a:ln w="7620">
              <a:solidFill>
                <a:srgbClr val="FFB627"/>
              </a:solidFill>
              <a:prstDash val="sysDot"/>
            </a:ln>
          </p:spPr>
        </p:sp>
        <p:sp>
          <p:nvSpPr>
            <p:cNvPr id="46" name="Freeform 46"/>
            <p:cNvSpPr/>
            <p:nvPr/>
          </p:nvSpPr>
          <p:spPr>
            <a:xfrm>
              <a:off x="3429000" y="3143250"/>
              <a:ext cx="1524000" cy="158750"/>
            </a:xfrm>
            <a:custGeom>
              <a:avLst/>
              <a:gdLst/>
              <a:ahLst/>
              <a:cxnLst/>
              <a:rect l="l" t="t" r="r" b="b"/>
              <a:pathLst>
                <a:path w="1524000" h="158750">
                  <a:moveTo>
                    <a:pt x="0" y="0"/>
                  </a:moveTo>
                  <a:cubicBezTo>
                    <a:pt x="1016000" y="158750"/>
                    <a:pt x="1524000" y="158750"/>
                    <a:pt x="1524000" y="0"/>
                  </a:cubicBezTo>
                </a:path>
              </a:pathLst>
            </a:custGeom>
            <a:noFill/>
            <a:ln w="7620">
              <a:solidFill>
                <a:srgbClr val="FFB627"/>
              </a:solidFill>
              <a:prstDash val="sysDot"/>
            </a:ln>
          </p:spPr>
        </p:sp>
        <p:grpSp>
          <p:nvGrpSpPr>
            <p:cNvPr id="55" name="Group 55"/>
            <p:cNvGrpSpPr/>
            <p:nvPr/>
          </p:nvGrpSpPr>
          <p:grpSpPr>
            <a:xfrm>
              <a:off x="941070" y="4095750"/>
              <a:ext cx="4964430" cy="1533525"/>
              <a:chOff x="941070" y="4095750"/>
              <a:chExt cx="4964430" cy="1533525"/>
            </a:xfrm>
          </p:grpSpPr>
          <p:sp>
            <p:nvSpPr>
              <p:cNvPr id="47" name="Line 47"/>
              <p:cNvSpPr/>
              <p:nvPr/>
            </p:nvSpPr>
            <p:spPr>
              <a:xfrm>
                <a:off x="952500" y="4095750"/>
                <a:ext cx="4953000" cy="9525"/>
              </a:xfrm>
              <a:custGeom>
                <a:avLst/>
                <a:gdLst/>
                <a:ahLst/>
                <a:cxnLst/>
                <a:rect l="l" t="t" r="r" b="b"/>
                <a:pathLst>
                  <a:path w="4953000" h="9525">
                    <a:moveTo>
                      <a:pt x="0" y="0"/>
                    </a:moveTo>
                    <a:lnTo>
                      <a:pt x="4953000" y="0"/>
                    </a:lnTo>
                  </a:path>
                </a:pathLst>
              </a:custGeom>
              <a:noFill/>
              <a:ln w="4762">
                <a:solidFill>
                  <a:srgbClr val="5BA3E0"/>
                </a:solidFill>
              </a:ln>
            </p:spPr>
          </p:sp>
          <p:sp>
            <p:nvSpPr>
              <p:cNvPr id="48" name="TextBox 48"/>
              <p:cNvSpPr txBox="1"/>
              <p:nvPr/>
            </p:nvSpPr>
            <p:spPr>
              <a:xfrm>
                <a:off x="942022" y="4244816"/>
                <a:ext cx="741545" cy="167640"/>
              </a:xfrm>
              <a:prstGeom prst="rect">
                <a:avLst/>
              </a:prstGeom>
              <a:noFill/>
              <a:ln>
                <a:noFill/>
              </a:ln>
            </p:spPr>
            <p:txBody>
              <a:bodyPr wrap="none" lIns="0" tIns="0" rIns="0" bIns="0" anchor="t" anchorCtr="0">
                <a:spAutoFit/>
              </a:bodyPr>
              <a:lstStyle/>
              <a:p>
                <a:pPr algn="l"/>
                <a:r>
                  <a:rPr lang="zh-CN" sz="825" dirty="0">
                    <a:solidFill>
                      <a:srgbClr val="7FD99F"/>
                    </a:solidFill>
                    <a:latin typeface="Consolas"/>
                    <a:ea typeface="Microsoft YaHei"/>
                    <a:cs typeface="Consolas"/>
                  </a:rPr>
                  <a:t>▲ TRADE-OFFS</a:t>
                </a:r>
              </a:p>
            </p:txBody>
          </p:sp>
          <p:sp>
            <p:nvSpPr>
              <p:cNvPr id="49" name="TextBox 49"/>
              <p:cNvSpPr txBox="1"/>
              <p:nvPr/>
            </p:nvSpPr>
            <p:spPr>
              <a:xfrm>
                <a:off x="941070" y="4455795"/>
                <a:ext cx="1541050"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Fewer hosts to maintain</a:t>
                </a:r>
              </a:p>
            </p:txBody>
          </p:sp>
          <p:sp>
            <p:nvSpPr>
              <p:cNvPr id="50" name="TextBox 50"/>
              <p:cNvSpPr txBox="1"/>
              <p:nvPr/>
            </p:nvSpPr>
            <p:spPr>
              <a:xfrm>
                <a:off x="941070" y="4636770"/>
                <a:ext cx="1709071"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Lower infrastructure cost</a:t>
                </a:r>
              </a:p>
            </p:txBody>
          </p:sp>
          <p:sp>
            <p:nvSpPr>
              <p:cNvPr id="51" name="TextBox 51"/>
              <p:cNvSpPr txBox="1"/>
              <p:nvPr/>
            </p:nvSpPr>
            <p:spPr>
              <a:xfrm>
                <a:off x="941070" y="4817745"/>
                <a:ext cx="1439037"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Simpler kubeadm setup</a:t>
                </a:r>
              </a:p>
            </p:txBody>
          </p:sp>
          <p:sp>
            <p:nvSpPr>
              <p:cNvPr id="52" name="TextBox 52"/>
              <p:cNvSpPr txBox="1"/>
              <p:nvPr/>
            </p:nvSpPr>
            <p:spPr>
              <a:xfrm>
                <a:off x="941070" y="5084445"/>
                <a:ext cx="2213134"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Host loss kills 1 apiserver AND 1 etcd</a:t>
                </a:r>
              </a:p>
            </p:txBody>
          </p:sp>
          <p:sp>
            <p:nvSpPr>
              <p:cNvPr id="53" name="TextBox 53"/>
              <p:cNvSpPr txBox="1"/>
              <p:nvPr/>
            </p:nvSpPr>
            <p:spPr>
              <a:xfrm>
                <a:off x="941070" y="5265420"/>
                <a:ext cx="1367028"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Less failure isolation</a:t>
                </a:r>
              </a:p>
            </p:txBody>
          </p:sp>
          <p:sp>
            <p:nvSpPr>
              <p:cNvPr id="54" name="TextBox 54"/>
              <p:cNvSpPr txBox="1"/>
              <p:nvPr/>
            </p:nvSpPr>
            <p:spPr>
              <a:xfrm>
                <a:off x="941070" y="5446395"/>
                <a:ext cx="2213134"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etcd I/O shares disk with apiserver</a:t>
                </a:r>
              </a:p>
            </p:txBody>
          </p:sp>
        </p:grpSp>
      </p:grpSp>
      <p:grpSp>
        <p:nvGrpSpPr>
          <p:cNvPr id="99" name="Group 99"/>
          <p:cNvGrpSpPr/>
          <p:nvPr/>
        </p:nvGrpSpPr>
        <p:grpSpPr>
          <a:xfrm>
            <a:off x="6477000" y="1047750"/>
            <a:ext cx="5334000" cy="4762500"/>
            <a:chOff x="6477000" y="1047750"/>
            <a:chExt cx="5334000" cy="4762500"/>
          </a:xfrm>
        </p:grpSpPr>
        <p:sp>
          <p:nvSpPr>
            <p:cNvPr id="57" name="Rectangle 57"/>
            <p:cNvSpPr/>
            <p:nvPr/>
          </p:nvSpPr>
          <p:spPr>
            <a:xfrm>
              <a:off x="6477000" y="1047750"/>
              <a:ext cx="5334000" cy="4762500"/>
            </a:xfrm>
            <a:prstGeom prst="rect">
              <a:avLst/>
            </a:prstGeom>
            <a:solidFill>
              <a:srgbClr val="1A3A5C">
                <a:alpha val="30000"/>
              </a:srgbClr>
            </a:solidFill>
            <a:ln w="7620">
              <a:solidFill>
                <a:srgbClr val="FFB627"/>
              </a:solidFill>
              <a:prstDash val="dash"/>
            </a:ln>
          </p:spPr>
        </p:sp>
        <p:sp>
          <p:nvSpPr>
            <p:cNvPr id="58" name="TextBox 58"/>
            <p:cNvSpPr txBox="1"/>
            <p:nvPr/>
          </p:nvSpPr>
          <p:spPr>
            <a:xfrm>
              <a:off x="6654165" y="1172528"/>
              <a:ext cx="2320157" cy="213360"/>
            </a:xfrm>
            <a:prstGeom prst="rect">
              <a:avLst/>
            </a:prstGeom>
            <a:noFill/>
            <a:ln>
              <a:noFill/>
            </a:ln>
          </p:spPr>
          <p:txBody>
            <a:bodyPr wrap="none" lIns="0" tIns="0" rIns="0" bIns="0" anchor="t" anchorCtr="0">
              <a:spAutoFit/>
            </a:bodyPr>
            <a:lstStyle/>
            <a:p>
              <a:pPr algn="l"/>
              <a:r>
                <a:rPr lang="zh-CN" sz="1050" b="1" dirty="0">
                  <a:solidFill>
                    <a:srgbClr val="FFB627"/>
                  </a:solidFill>
                  <a:latin typeface="Consolas"/>
                  <a:ea typeface="Microsoft YaHei"/>
                  <a:cs typeface="Consolas"/>
                </a:rPr>
                <a:t>[ TOPOLOGY B ] EXTERNAL ETCD ★</a:t>
              </a:r>
            </a:p>
          </p:txBody>
        </p:sp>
        <p:sp>
          <p:nvSpPr>
            <p:cNvPr id="59" name="TextBox 59"/>
            <p:cNvSpPr txBox="1"/>
            <p:nvPr/>
          </p:nvSpPr>
          <p:spPr>
            <a:xfrm>
              <a:off x="6656070" y="1379220"/>
              <a:ext cx="1889093" cy="182880"/>
            </a:xfrm>
            <a:prstGeom prst="rect">
              <a:avLst/>
            </a:prstGeom>
            <a:noFill/>
            <a:ln>
              <a:noFill/>
            </a:ln>
          </p:spPr>
          <p:txBody>
            <a:bodyPr wrap="none" lIns="0" tIns="0" rIns="0" bIns="0" anchor="t" anchorCtr="0">
              <a:spAutoFit/>
            </a:bodyPr>
            <a:lstStyle/>
            <a:p>
              <a:pPr algn="l"/>
              <a:r>
                <a:rPr lang="zh-CN" sz="900" dirty="0">
                  <a:solidFill>
                    <a:srgbClr val="A0B8D0"/>
                  </a:solidFill>
                  <a:latin typeface="Arial"/>
                  <a:ea typeface="Microsoft YaHei"/>
                  <a:cs typeface="Arial"/>
                </a:rPr>
                <a:t>etcd cluster on dedicated hosts</a:t>
              </a:r>
            </a:p>
          </p:txBody>
        </p:sp>
        <p:sp>
          <p:nvSpPr>
            <p:cNvPr id="60" name="Line 60"/>
            <p:cNvSpPr/>
            <p:nvPr/>
          </p:nvSpPr>
          <p:spPr>
            <a:xfrm>
              <a:off x="6477000" y="1619250"/>
              <a:ext cx="5334000" cy="9525"/>
            </a:xfrm>
            <a:custGeom>
              <a:avLst/>
              <a:gdLst/>
              <a:ahLst/>
              <a:cxnLst/>
              <a:rect l="l" t="t" r="r" b="b"/>
              <a:pathLst>
                <a:path w="5334000" h="9525">
                  <a:moveTo>
                    <a:pt x="0" y="0"/>
                  </a:moveTo>
                  <a:lnTo>
                    <a:pt x="5334000" y="0"/>
                  </a:lnTo>
                </a:path>
              </a:pathLst>
            </a:custGeom>
            <a:noFill/>
            <a:ln w="4762">
              <a:solidFill>
                <a:srgbClr val="FFB627"/>
              </a:solidFill>
            </a:ln>
          </p:spPr>
        </p:sp>
        <p:sp>
          <p:nvSpPr>
            <p:cNvPr id="61" name="TextBox 61"/>
            <p:cNvSpPr txBox="1"/>
            <p:nvPr/>
          </p:nvSpPr>
          <p:spPr>
            <a:xfrm>
              <a:off x="6657975" y="1776412"/>
              <a:ext cx="974169" cy="152400"/>
            </a:xfrm>
            <a:prstGeom prst="rect">
              <a:avLst/>
            </a:prstGeom>
            <a:noFill/>
            <a:ln>
              <a:noFill/>
            </a:ln>
          </p:spPr>
          <p:txBody>
            <a:bodyPr wrap="none" lIns="0" tIns="0" rIns="0" bIns="0" anchor="t" anchorCtr="0">
              <a:spAutoFit/>
            </a:bodyPr>
            <a:lstStyle/>
            <a:p>
              <a:pPr algn="l"/>
              <a:r>
                <a:rPr lang="zh-CN" sz="750" dirty="0">
                  <a:solidFill>
                    <a:srgbClr val="5BA3E0"/>
                  </a:solidFill>
                  <a:latin typeface="Consolas"/>
                  <a:ea typeface="Microsoft YaHei"/>
                  <a:cs typeface="Consolas"/>
                </a:rPr>
                <a:t>CONTROL PLANE TIER</a:t>
              </a:r>
            </a:p>
          </p:txBody>
        </p:sp>
        <p:grpSp>
          <p:nvGrpSpPr>
            <p:cNvPr id="66" name="Group 66"/>
            <p:cNvGrpSpPr/>
            <p:nvPr/>
          </p:nvGrpSpPr>
          <p:grpSpPr>
            <a:xfrm>
              <a:off x="6762750" y="2143125"/>
              <a:ext cx="1333500" cy="1547813"/>
              <a:chOff x="6762750" y="2143125"/>
              <a:chExt cx="1333500" cy="1547813"/>
            </a:xfrm>
          </p:grpSpPr>
          <p:sp>
            <p:nvSpPr>
              <p:cNvPr id="62" name="Polygon 62"/>
              <p:cNvSpPr/>
              <p:nvPr/>
            </p:nvSpPr>
            <p:spPr>
              <a:xfrm>
                <a:off x="6762750" y="2143125"/>
                <a:ext cx="1333500" cy="1333500"/>
              </a:xfrm>
              <a:custGeom>
                <a:avLst/>
                <a:gdLst/>
                <a:ahLst/>
                <a:cxnLst/>
                <a:rect l="l" t="t" r="r" b="b"/>
                <a:pathLst>
                  <a:path w="1333500" h="1333500">
                    <a:moveTo>
                      <a:pt x="666750" y="0"/>
                    </a:moveTo>
                    <a:lnTo>
                      <a:pt x="1333500" y="333375"/>
                    </a:lnTo>
                    <a:lnTo>
                      <a:pt x="1333500" y="1000125"/>
                    </a:lnTo>
                    <a:lnTo>
                      <a:pt x="666750" y="1333500"/>
                    </a:lnTo>
                    <a:lnTo>
                      <a:pt x="0" y="1000125"/>
                    </a:lnTo>
                    <a:lnTo>
                      <a:pt x="0" y="333375"/>
                    </a:lnTo>
                    <a:close/>
                  </a:path>
                </a:pathLst>
              </a:custGeom>
              <a:solidFill>
                <a:srgbClr val="0E2A47"/>
              </a:solidFill>
              <a:ln w="12382">
                <a:solidFill>
                  <a:srgbClr val="5BA3E0"/>
                </a:solidFill>
              </a:ln>
            </p:spPr>
          </p:sp>
          <p:sp>
            <p:nvSpPr>
              <p:cNvPr id="63" name="Rectangle 63"/>
              <p:cNvSpPr/>
              <p:nvPr/>
            </p:nvSpPr>
            <p:spPr>
              <a:xfrm>
                <a:off x="7048500" y="2762250"/>
                <a:ext cx="762000" cy="133350"/>
              </a:xfrm>
              <a:prstGeom prst="rect">
                <a:avLst/>
              </a:prstGeom>
              <a:noFill/>
              <a:ln w="7620">
                <a:solidFill>
                  <a:srgbClr val="5BA3E0"/>
                </a:solidFill>
              </a:ln>
            </p:spPr>
          </p:sp>
          <p:sp>
            <p:nvSpPr>
              <p:cNvPr id="64" name="TextBox 64"/>
              <p:cNvSpPr txBox="1"/>
              <p:nvPr/>
            </p:nvSpPr>
            <p:spPr>
              <a:xfrm>
                <a:off x="7209401" y="2794159"/>
                <a:ext cx="44019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apiserver</a:t>
                </a:r>
              </a:p>
            </p:txBody>
          </p:sp>
          <p:sp>
            <p:nvSpPr>
              <p:cNvPr id="65" name="TextBox 65"/>
              <p:cNvSpPr txBox="1"/>
              <p:nvPr/>
            </p:nvSpPr>
            <p:spPr>
              <a:xfrm>
                <a:off x="7294959" y="3538538"/>
                <a:ext cx="269081"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cp-01</a:t>
                </a:r>
              </a:p>
            </p:txBody>
          </p:sp>
        </p:grpSp>
        <p:grpSp>
          <p:nvGrpSpPr>
            <p:cNvPr id="71" name="Group 71"/>
            <p:cNvGrpSpPr/>
            <p:nvPr/>
          </p:nvGrpSpPr>
          <p:grpSpPr>
            <a:xfrm>
              <a:off x="8286750" y="2143125"/>
              <a:ext cx="1333500" cy="1547813"/>
              <a:chOff x="8286750" y="2143125"/>
              <a:chExt cx="1333500" cy="1547813"/>
            </a:xfrm>
          </p:grpSpPr>
          <p:sp>
            <p:nvSpPr>
              <p:cNvPr id="67" name="Polygon 67"/>
              <p:cNvSpPr/>
              <p:nvPr/>
            </p:nvSpPr>
            <p:spPr>
              <a:xfrm>
                <a:off x="8286750" y="2143125"/>
                <a:ext cx="1333500" cy="1333500"/>
              </a:xfrm>
              <a:custGeom>
                <a:avLst/>
                <a:gdLst/>
                <a:ahLst/>
                <a:cxnLst/>
                <a:rect l="l" t="t" r="r" b="b"/>
                <a:pathLst>
                  <a:path w="1333500" h="1333500">
                    <a:moveTo>
                      <a:pt x="666750" y="0"/>
                    </a:moveTo>
                    <a:lnTo>
                      <a:pt x="1333500" y="333375"/>
                    </a:lnTo>
                    <a:lnTo>
                      <a:pt x="1333500" y="1000125"/>
                    </a:lnTo>
                    <a:lnTo>
                      <a:pt x="666750" y="1333500"/>
                    </a:lnTo>
                    <a:lnTo>
                      <a:pt x="0" y="1000125"/>
                    </a:lnTo>
                    <a:lnTo>
                      <a:pt x="0" y="333375"/>
                    </a:lnTo>
                    <a:close/>
                  </a:path>
                </a:pathLst>
              </a:custGeom>
              <a:solidFill>
                <a:srgbClr val="0E2A47"/>
              </a:solidFill>
              <a:ln w="12382">
                <a:solidFill>
                  <a:srgbClr val="5BA3E0"/>
                </a:solidFill>
              </a:ln>
            </p:spPr>
          </p:sp>
          <p:sp>
            <p:nvSpPr>
              <p:cNvPr id="68" name="Rectangle 68"/>
              <p:cNvSpPr/>
              <p:nvPr/>
            </p:nvSpPr>
            <p:spPr>
              <a:xfrm>
                <a:off x="8572500" y="2762250"/>
                <a:ext cx="762000" cy="133350"/>
              </a:xfrm>
              <a:prstGeom prst="rect">
                <a:avLst/>
              </a:prstGeom>
              <a:noFill/>
              <a:ln w="7620">
                <a:solidFill>
                  <a:srgbClr val="5BA3E0"/>
                </a:solidFill>
              </a:ln>
            </p:spPr>
          </p:sp>
          <p:sp>
            <p:nvSpPr>
              <p:cNvPr id="69" name="TextBox 69"/>
              <p:cNvSpPr txBox="1"/>
              <p:nvPr/>
            </p:nvSpPr>
            <p:spPr>
              <a:xfrm>
                <a:off x="8733401" y="2794159"/>
                <a:ext cx="44019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apiserver</a:t>
                </a:r>
              </a:p>
            </p:txBody>
          </p:sp>
          <p:sp>
            <p:nvSpPr>
              <p:cNvPr id="70" name="TextBox 70"/>
              <p:cNvSpPr txBox="1"/>
              <p:nvPr/>
            </p:nvSpPr>
            <p:spPr>
              <a:xfrm>
                <a:off x="8806458" y="3538538"/>
                <a:ext cx="294084"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cp-02</a:t>
                </a:r>
              </a:p>
            </p:txBody>
          </p:sp>
        </p:grpSp>
        <p:grpSp>
          <p:nvGrpSpPr>
            <p:cNvPr id="76" name="Group 76"/>
            <p:cNvGrpSpPr/>
            <p:nvPr/>
          </p:nvGrpSpPr>
          <p:grpSpPr>
            <a:xfrm>
              <a:off x="9810750" y="2143125"/>
              <a:ext cx="1333500" cy="1547813"/>
              <a:chOff x="9810750" y="2143125"/>
              <a:chExt cx="1333500" cy="1547813"/>
            </a:xfrm>
          </p:grpSpPr>
          <p:sp>
            <p:nvSpPr>
              <p:cNvPr id="72" name="Polygon 72"/>
              <p:cNvSpPr/>
              <p:nvPr/>
            </p:nvSpPr>
            <p:spPr>
              <a:xfrm>
                <a:off x="9810750" y="2143125"/>
                <a:ext cx="1333500" cy="1333500"/>
              </a:xfrm>
              <a:custGeom>
                <a:avLst/>
                <a:gdLst/>
                <a:ahLst/>
                <a:cxnLst/>
                <a:rect l="l" t="t" r="r" b="b"/>
                <a:pathLst>
                  <a:path w="1333500" h="1333500">
                    <a:moveTo>
                      <a:pt x="666750" y="0"/>
                    </a:moveTo>
                    <a:lnTo>
                      <a:pt x="1333500" y="333375"/>
                    </a:lnTo>
                    <a:lnTo>
                      <a:pt x="1333500" y="1000125"/>
                    </a:lnTo>
                    <a:lnTo>
                      <a:pt x="666750" y="1333500"/>
                    </a:lnTo>
                    <a:lnTo>
                      <a:pt x="0" y="1000125"/>
                    </a:lnTo>
                    <a:lnTo>
                      <a:pt x="0" y="333375"/>
                    </a:lnTo>
                    <a:close/>
                  </a:path>
                </a:pathLst>
              </a:custGeom>
              <a:solidFill>
                <a:srgbClr val="0E2A47"/>
              </a:solidFill>
              <a:ln w="12382">
                <a:solidFill>
                  <a:srgbClr val="5BA3E0"/>
                </a:solidFill>
              </a:ln>
            </p:spPr>
          </p:sp>
          <p:sp>
            <p:nvSpPr>
              <p:cNvPr id="73" name="Rectangle 73"/>
              <p:cNvSpPr/>
              <p:nvPr/>
            </p:nvSpPr>
            <p:spPr>
              <a:xfrm>
                <a:off x="10096500" y="2762250"/>
                <a:ext cx="762000" cy="133350"/>
              </a:xfrm>
              <a:prstGeom prst="rect">
                <a:avLst/>
              </a:prstGeom>
              <a:noFill/>
              <a:ln w="7620">
                <a:solidFill>
                  <a:srgbClr val="5BA3E0"/>
                </a:solidFill>
              </a:ln>
            </p:spPr>
          </p:sp>
          <p:sp>
            <p:nvSpPr>
              <p:cNvPr id="74" name="TextBox 74"/>
              <p:cNvSpPr txBox="1"/>
              <p:nvPr/>
            </p:nvSpPr>
            <p:spPr>
              <a:xfrm>
                <a:off x="10257401" y="2794159"/>
                <a:ext cx="440198" cy="137160"/>
              </a:xfrm>
              <a:prstGeom prst="rect">
                <a:avLst/>
              </a:prstGeom>
              <a:noFill/>
              <a:ln>
                <a:noFill/>
              </a:ln>
            </p:spPr>
            <p:txBody>
              <a:bodyPr wrap="none" lIns="0" tIns="0" rIns="0" bIns="0" anchor="t" anchorCtr="0">
                <a:spAutoFit/>
              </a:bodyPr>
              <a:lstStyle/>
              <a:p>
                <a:pPr algn="ctr"/>
                <a:r>
                  <a:rPr lang="zh-CN" sz="675" dirty="0">
                    <a:solidFill>
                      <a:srgbClr val="5BA3E0"/>
                    </a:solidFill>
                    <a:latin typeface="Consolas"/>
                    <a:ea typeface="Microsoft YaHei"/>
                    <a:cs typeface="Consolas"/>
                  </a:rPr>
                  <a:t>apiserver</a:t>
                </a:r>
              </a:p>
            </p:txBody>
          </p:sp>
          <p:sp>
            <p:nvSpPr>
              <p:cNvPr id="75" name="TextBox 75"/>
              <p:cNvSpPr txBox="1"/>
              <p:nvPr/>
            </p:nvSpPr>
            <p:spPr>
              <a:xfrm>
                <a:off x="10330458" y="3538538"/>
                <a:ext cx="294084" cy="152400"/>
              </a:xfrm>
              <a:prstGeom prst="rect">
                <a:avLst/>
              </a:prstGeom>
              <a:noFill/>
              <a:ln>
                <a:noFill/>
              </a:ln>
            </p:spPr>
            <p:txBody>
              <a:bodyPr wrap="none" lIns="0" tIns="0" rIns="0" bIns="0" anchor="t" anchorCtr="0">
                <a:spAutoFit/>
              </a:bodyPr>
              <a:lstStyle/>
              <a:p>
                <a:pPr algn="ctr"/>
                <a:r>
                  <a:rPr lang="zh-CN" sz="750" dirty="0">
                    <a:solidFill>
                      <a:srgbClr val="A0B8D0"/>
                    </a:solidFill>
                    <a:latin typeface="Consolas"/>
                    <a:ea typeface="Microsoft YaHei"/>
                    <a:cs typeface="Consolas"/>
                  </a:rPr>
                  <a:t>cp-03</a:t>
                </a:r>
              </a:p>
            </p:txBody>
          </p:sp>
        </p:grpSp>
        <p:sp>
          <p:nvSpPr>
            <p:cNvPr id="77" name="Line 77"/>
            <p:cNvSpPr/>
            <p:nvPr/>
          </p:nvSpPr>
          <p:spPr>
            <a:xfrm>
              <a:off x="7429500" y="3476625"/>
              <a:ext cx="9525" cy="476250"/>
            </a:xfrm>
            <a:custGeom>
              <a:avLst/>
              <a:gdLst/>
              <a:ahLst/>
              <a:cxnLst/>
              <a:rect l="l" t="t" r="r" b="b"/>
              <a:pathLst>
                <a:path w="9525" h="476250">
                  <a:moveTo>
                    <a:pt x="0" y="0"/>
                  </a:moveTo>
                  <a:lnTo>
                    <a:pt x="0" y="476250"/>
                  </a:lnTo>
                </a:path>
              </a:pathLst>
            </a:custGeom>
            <a:noFill/>
            <a:ln w="9525">
              <a:solidFill>
                <a:srgbClr val="FFB627"/>
              </a:solidFill>
              <a:custDash>
                <a:ds d="300000" sp="300000"/>
              </a:custDash>
            </a:ln>
          </p:spPr>
        </p:sp>
        <p:sp>
          <p:nvSpPr>
            <p:cNvPr id="78" name="Line 78"/>
            <p:cNvSpPr/>
            <p:nvPr/>
          </p:nvSpPr>
          <p:spPr>
            <a:xfrm>
              <a:off x="8953500" y="3476625"/>
              <a:ext cx="9525" cy="476250"/>
            </a:xfrm>
            <a:custGeom>
              <a:avLst/>
              <a:gdLst/>
              <a:ahLst/>
              <a:cxnLst/>
              <a:rect l="l" t="t" r="r" b="b"/>
              <a:pathLst>
                <a:path w="9525" h="476250">
                  <a:moveTo>
                    <a:pt x="0" y="0"/>
                  </a:moveTo>
                  <a:lnTo>
                    <a:pt x="0" y="476250"/>
                  </a:lnTo>
                </a:path>
              </a:pathLst>
            </a:custGeom>
            <a:noFill/>
            <a:ln w="9525">
              <a:solidFill>
                <a:srgbClr val="FFB627"/>
              </a:solidFill>
              <a:custDash>
                <a:ds d="300000" sp="300000"/>
              </a:custDash>
            </a:ln>
          </p:spPr>
        </p:sp>
        <p:sp>
          <p:nvSpPr>
            <p:cNvPr id="79" name="Line 79"/>
            <p:cNvSpPr/>
            <p:nvPr/>
          </p:nvSpPr>
          <p:spPr>
            <a:xfrm>
              <a:off x="10477500" y="3476625"/>
              <a:ext cx="9525" cy="476250"/>
            </a:xfrm>
            <a:custGeom>
              <a:avLst/>
              <a:gdLst/>
              <a:ahLst/>
              <a:cxnLst/>
              <a:rect l="l" t="t" r="r" b="b"/>
              <a:pathLst>
                <a:path w="9525" h="476250">
                  <a:moveTo>
                    <a:pt x="0" y="0"/>
                  </a:moveTo>
                  <a:lnTo>
                    <a:pt x="0" y="476250"/>
                  </a:lnTo>
                </a:path>
              </a:pathLst>
            </a:custGeom>
            <a:noFill/>
            <a:ln w="9525">
              <a:solidFill>
                <a:srgbClr val="FFB627"/>
              </a:solidFill>
              <a:custDash>
                <a:ds d="300000" sp="300000"/>
              </a:custDash>
            </a:ln>
          </p:spPr>
        </p:sp>
        <p:sp>
          <p:nvSpPr>
            <p:cNvPr id="80" name="TextBox 80"/>
            <p:cNvSpPr txBox="1"/>
            <p:nvPr/>
          </p:nvSpPr>
          <p:spPr>
            <a:xfrm>
              <a:off x="6657975" y="3748088"/>
              <a:ext cx="1074182" cy="152400"/>
            </a:xfrm>
            <a:prstGeom prst="rect">
              <a:avLst/>
            </a:prstGeom>
            <a:noFill/>
            <a:ln>
              <a:noFill/>
            </a:ln>
          </p:spPr>
          <p:txBody>
            <a:bodyPr wrap="none" lIns="0" tIns="0" rIns="0" bIns="0" anchor="t" anchorCtr="0">
              <a:spAutoFit/>
            </a:bodyPr>
            <a:lstStyle/>
            <a:p>
              <a:pPr algn="l"/>
              <a:r>
                <a:rPr lang="zh-CN" sz="750" dirty="0">
                  <a:solidFill>
                    <a:srgbClr val="FFB627"/>
                  </a:solidFill>
                  <a:latin typeface="Consolas"/>
                  <a:ea typeface="Microsoft YaHei"/>
                  <a:cs typeface="Consolas"/>
                </a:rPr>
                <a:t>ETCD TIER (dedicated)</a:t>
              </a:r>
            </a:p>
          </p:txBody>
        </p:sp>
        <p:sp>
          <p:nvSpPr>
            <p:cNvPr id="81" name="Rectangle 81"/>
            <p:cNvSpPr/>
            <p:nvPr/>
          </p:nvSpPr>
          <p:spPr>
            <a:xfrm>
              <a:off x="6762750" y="3952875"/>
              <a:ext cx="952500" cy="476250"/>
            </a:xfrm>
            <a:prstGeom prst="rect">
              <a:avLst/>
            </a:prstGeom>
            <a:solidFill>
              <a:srgbClr val="0E2A47"/>
            </a:solidFill>
            <a:ln w="14288">
              <a:solidFill>
                <a:srgbClr val="FFB627"/>
              </a:solidFill>
            </a:ln>
          </p:spPr>
        </p:sp>
        <p:sp>
          <p:nvSpPr>
            <p:cNvPr id="82" name="TextBox 82"/>
            <p:cNvSpPr txBox="1"/>
            <p:nvPr/>
          </p:nvSpPr>
          <p:spPr>
            <a:xfrm>
              <a:off x="7101457" y="4082891"/>
              <a:ext cx="275087"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etcd</a:t>
              </a:r>
            </a:p>
          </p:txBody>
        </p:sp>
        <p:sp>
          <p:nvSpPr>
            <p:cNvPr id="83" name="TextBox 83"/>
            <p:cNvSpPr txBox="1"/>
            <p:nvPr/>
          </p:nvSpPr>
          <p:spPr>
            <a:xfrm>
              <a:off x="7068407" y="4261009"/>
              <a:ext cx="341186"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etcd-01</a:t>
              </a:r>
            </a:p>
          </p:txBody>
        </p:sp>
        <p:sp>
          <p:nvSpPr>
            <p:cNvPr id="84" name="Rectangle 84"/>
            <p:cNvSpPr/>
            <p:nvPr/>
          </p:nvSpPr>
          <p:spPr>
            <a:xfrm>
              <a:off x="8477250" y="3952875"/>
              <a:ext cx="952500" cy="476250"/>
            </a:xfrm>
            <a:prstGeom prst="rect">
              <a:avLst/>
            </a:prstGeom>
            <a:solidFill>
              <a:srgbClr val="0E2A47"/>
            </a:solidFill>
            <a:ln w="14288">
              <a:solidFill>
                <a:srgbClr val="FFB627"/>
              </a:solidFill>
            </a:ln>
          </p:spPr>
        </p:sp>
        <p:sp>
          <p:nvSpPr>
            <p:cNvPr id="85" name="TextBox 85"/>
            <p:cNvSpPr txBox="1"/>
            <p:nvPr/>
          </p:nvSpPr>
          <p:spPr>
            <a:xfrm>
              <a:off x="8815957" y="4082891"/>
              <a:ext cx="275087"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etcd</a:t>
              </a:r>
            </a:p>
          </p:txBody>
        </p:sp>
        <p:sp>
          <p:nvSpPr>
            <p:cNvPr id="86" name="TextBox 86"/>
            <p:cNvSpPr txBox="1"/>
            <p:nvPr/>
          </p:nvSpPr>
          <p:spPr>
            <a:xfrm>
              <a:off x="8771656" y="4261009"/>
              <a:ext cx="363688"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etcd-02</a:t>
              </a:r>
            </a:p>
          </p:txBody>
        </p:sp>
        <p:sp>
          <p:nvSpPr>
            <p:cNvPr id="87" name="Rectangle 87"/>
            <p:cNvSpPr/>
            <p:nvPr/>
          </p:nvSpPr>
          <p:spPr>
            <a:xfrm>
              <a:off x="10001250" y="3952875"/>
              <a:ext cx="952500" cy="476250"/>
            </a:xfrm>
            <a:prstGeom prst="rect">
              <a:avLst/>
            </a:prstGeom>
            <a:solidFill>
              <a:srgbClr val="0E2A47"/>
            </a:solidFill>
            <a:ln w="14288">
              <a:solidFill>
                <a:srgbClr val="FFB627"/>
              </a:solidFill>
            </a:ln>
          </p:spPr>
        </p:sp>
        <p:sp>
          <p:nvSpPr>
            <p:cNvPr id="88" name="TextBox 88"/>
            <p:cNvSpPr txBox="1"/>
            <p:nvPr/>
          </p:nvSpPr>
          <p:spPr>
            <a:xfrm>
              <a:off x="10339957" y="4082891"/>
              <a:ext cx="275087"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etcd</a:t>
              </a:r>
            </a:p>
          </p:txBody>
        </p:sp>
        <p:sp>
          <p:nvSpPr>
            <p:cNvPr id="89" name="TextBox 89"/>
            <p:cNvSpPr txBox="1"/>
            <p:nvPr/>
          </p:nvSpPr>
          <p:spPr>
            <a:xfrm>
              <a:off x="10295656" y="4261009"/>
              <a:ext cx="363688"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etcd-03</a:t>
              </a:r>
            </a:p>
          </p:txBody>
        </p:sp>
        <p:sp>
          <p:nvSpPr>
            <p:cNvPr id="90" name="Freeform 90"/>
            <p:cNvSpPr/>
            <p:nvPr/>
          </p:nvSpPr>
          <p:spPr>
            <a:xfrm>
              <a:off x="7239000" y="4191000"/>
              <a:ext cx="1714500" cy="222250"/>
            </a:xfrm>
            <a:custGeom>
              <a:avLst/>
              <a:gdLst/>
              <a:ahLst/>
              <a:cxnLst/>
              <a:rect l="l" t="t" r="r" b="b"/>
              <a:pathLst>
                <a:path w="1714500" h="222250">
                  <a:moveTo>
                    <a:pt x="0" y="0"/>
                  </a:moveTo>
                  <a:cubicBezTo>
                    <a:pt x="571500" y="222250"/>
                    <a:pt x="1143000" y="222250"/>
                    <a:pt x="1714500" y="0"/>
                  </a:cubicBezTo>
                </a:path>
              </a:pathLst>
            </a:custGeom>
            <a:noFill/>
            <a:ln w="6668">
              <a:solidFill>
                <a:srgbClr val="FFB627"/>
              </a:solidFill>
              <a:prstDash val="sysDot"/>
            </a:ln>
          </p:spPr>
        </p:sp>
        <p:sp>
          <p:nvSpPr>
            <p:cNvPr id="91" name="Freeform 91"/>
            <p:cNvSpPr/>
            <p:nvPr/>
          </p:nvSpPr>
          <p:spPr>
            <a:xfrm>
              <a:off x="8953500" y="4191000"/>
              <a:ext cx="1524000" cy="222250"/>
            </a:xfrm>
            <a:custGeom>
              <a:avLst/>
              <a:gdLst/>
              <a:ahLst/>
              <a:cxnLst/>
              <a:rect l="l" t="t" r="r" b="b"/>
              <a:pathLst>
                <a:path w="1524000" h="222250">
                  <a:moveTo>
                    <a:pt x="0" y="0"/>
                  </a:moveTo>
                  <a:cubicBezTo>
                    <a:pt x="508000" y="222250"/>
                    <a:pt x="1016000" y="222250"/>
                    <a:pt x="1524000" y="0"/>
                  </a:cubicBezTo>
                </a:path>
              </a:pathLst>
            </a:custGeom>
            <a:noFill/>
            <a:ln w="6668">
              <a:solidFill>
                <a:srgbClr val="FFB627"/>
              </a:solidFill>
              <a:prstDash val="sysDot"/>
            </a:ln>
          </p:spPr>
        </p:sp>
        <p:grpSp>
          <p:nvGrpSpPr>
            <p:cNvPr id="98" name="Group 98"/>
            <p:cNvGrpSpPr/>
            <p:nvPr/>
          </p:nvGrpSpPr>
          <p:grpSpPr>
            <a:xfrm>
              <a:off x="6656070" y="4667250"/>
              <a:ext cx="4964430" cy="1085850"/>
              <a:chOff x="6656070" y="4667250"/>
              <a:chExt cx="4964430" cy="1085850"/>
            </a:xfrm>
          </p:grpSpPr>
          <p:sp>
            <p:nvSpPr>
              <p:cNvPr id="92" name="Line 92"/>
              <p:cNvSpPr/>
              <p:nvPr/>
            </p:nvSpPr>
            <p:spPr>
              <a:xfrm>
                <a:off x="6667500" y="4667250"/>
                <a:ext cx="4953000" cy="9525"/>
              </a:xfrm>
              <a:custGeom>
                <a:avLst/>
                <a:gdLst/>
                <a:ahLst/>
                <a:cxnLst/>
                <a:rect l="l" t="t" r="r" b="b"/>
                <a:pathLst>
                  <a:path w="4953000" h="9525">
                    <a:moveTo>
                      <a:pt x="0" y="0"/>
                    </a:moveTo>
                    <a:lnTo>
                      <a:pt x="4953000" y="0"/>
                    </a:lnTo>
                  </a:path>
                </a:pathLst>
              </a:custGeom>
              <a:noFill/>
              <a:ln w="4762">
                <a:solidFill>
                  <a:srgbClr val="FFB627"/>
                </a:solidFill>
              </a:ln>
            </p:spPr>
          </p:sp>
          <p:sp>
            <p:nvSpPr>
              <p:cNvPr id="93" name="TextBox 93"/>
              <p:cNvSpPr txBox="1"/>
              <p:nvPr/>
            </p:nvSpPr>
            <p:spPr>
              <a:xfrm>
                <a:off x="6657022" y="4816316"/>
                <a:ext cx="741545" cy="167640"/>
              </a:xfrm>
              <a:prstGeom prst="rect">
                <a:avLst/>
              </a:prstGeom>
              <a:noFill/>
              <a:ln>
                <a:noFill/>
              </a:ln>
            </p:spPr>
            <p:txBody>
              <a:bodyPr wrap="none" lIns="0" tIns="0" rIns="0" bIns="0" anchor="t" anchorCtr="0">
                <a:spAutoFit/>
              </a:bodyPr>
              <a:lstStyle/>
              <a:p>
                <a:pPr algn="l"/>
                <a:r>
                  <a:rPr lang="zh-CN" sz="825" dirty="0">
                    <a:solidFill>
                      <a:srgbClr val="7FD99F"/>
                    </a:solidFill>
                    <a:latin typeface="Consolas"/>
                    <a:ea typeface="Microsoft YaHei"/>
                    <a:cs typeface="Consolas"/>
                  </a:rPr>
                  <a:t>▲ TRADE-OFFS</a:t>
                </a:r>
              </a:p>
            </p:txBody>
          </p:sp>
          <p:sp>
            <p:nvSpPr>
              <p:cNvPr id="94" name="TextBox 94"/>
              <p:cNvSpPr txBox="1"/>
              <p:nvPr/>
            </p:nvSpPr>
            <p:spPr>
              <a:xfrm>
                <a:off x="6656070" y="5027295"/>
                <a:ext cx="1835086"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Failure isolation across tiers</a:t>
                </a:r>
              </a:p>
            </p:txBody>
          </p:sp>
          <p:sp>
            <p:nvSpPr>
              <p:cNvPr id="95" name="TextBox 95"/>
              <p:cNvSpPr txBox="1"/>
              <p:nvPr/>
            </p:nvSpPr>
            <p:spPr>
              <a:xfrm>
                <a:off x="6656070" y="5208270"/>
                <a:ext cx="2357152"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etcd survives apiserver disk pressure</a:t>
                </a:r>
              </a:p>
            </p:txBody>
          </p:sp>
          <p:sp>
            <p:nvSpPr>
              <p:cNvPr id="96" name="TextBox 96"/>
              <p:cNvSpPr txBox="1"/>
              <p:nvPr/>
            </p:nvSpPr>
            <p:spPr>
              <a:xfrm>
                <a:off x="6656070" y="5389245"/>
                <a:ext cx="2225135" cy="182880"/>
              </a:xfrm>
              <a:prstGeom prst="rect">
                <a:avLst/>
              </a:prstGeom>
              <a:noFill/>
              <a:ln>
                <a:noFill/>
              </a:ln>
            </p:spPr>
            <p:txBody>
              <a:bodyPr wrap="none" lIns="0" tIns="0" rIns="0" bIns="0" anchor="t" anchorCtr="0">
                <a:spAutoFit/>
              </a:bodyPr>
              <a:lstStyle/>
              <a:p>
                <a:pPr algn="l"/>
                <a:r>
                  <a:rPr lang="zh-CN" sz="900" dirty="0">
                    <a:solidFill>
                      <a:srgbClr val="F0F4F8"/>
                    </a:solidFill>
                    <a:latin typeface="Arial"/>
                    <a:ea typeface="Microsoft YaHei"/>
                    <a:cs typeface="Arial"/>
                  </a:rPr>
                  <a:t>+ Independent scaling / upgrade paths</a:t>
                </a:r>
              </a:p>
            </p:txBody>
          </p:sp>
          <p:sp>
            <p:nvSpPr>
              <p:cNvPr id="97" name="TextBox 97"/>
              <p:cNvSpPr txBox="1"/>
              <p:nvPr/>
            </p:nvSpPr>
            <p:spPr>
              <a:xfrm>
                <a:off x="6656070" y="5570220"/>
                <a:ext cx="1757077" cy="182880"/>
              </a:xfrm>
              <a:prstGeom prst="rect">
                <a:avLst/>
              </a:prstGeom>
              <a:noFill/>
              <a:ln>
                <a:noFill/>
              </a:ln>
            </p:spPr>
            <p:txBody>
              <a:bodyPr wrap="none" lIns="0" tIns="0" rIns="0" bIns="0" anchor="t" anchorCtr="0">
                <a:spAutoFit/>
              </a:bodyPr>
              <a:lstStyle/>
              <a:p>
                <a:pPr algn="l"/>
                <a:r>
                  <a:rPr lang="zh-CN" sz="900" dirty="0">
                    <a:solidFill>
                      <a:srgbClr val="FF6B6B"/>
                    </a:solidFill>
                    <a:latin typeface="Arial"/>
                    <a:ea typeface="Microsoft YaHei"/>
                    <a:cs typeface="Arial"/>
                  </a:rPr>
                  <a:t>− Double the hosts to operate</a:t>
                </a:r>
              </a:p>
            </p:txBody>
          </p:sp>
        </p:grpSp>
      </p:grpSp>
      <p:grpSp>
        <p:nvGrpSpPr>
          <p:cNvPr id="102" name="Group 102"/>
          <p:cNvGrpSpPr/>
          <p:nvPr/>
        </p:nvGrpSpPr>
        <p:grpSpPr>
          <a:xfrm>
            <a:off x="762000" y="5953125"/>
            <a:ext cx="11049000" cy="361950"/>
            <a:chOff x="762000" y="5953125"/>
            <a:chExt cx="11049000" cy="361950"/>
          </a:xfrm>
        </p:grpSpPr>
        <p:sp>
          <p:nvSpPr>
            <p:cNvPr id="100" name="Rectangle 100"/>
            <p:cNvSpPr/>
            <p:nvPr/>
          </p:nvSpPr>
          <p:spPr>
            <a:xfrm>
              <a:off x="762000" y="5953125"/>
              <a:ext cx="11049000" cy="361950"/>
            </a:xfrm>
            <a:prstGeom prst="rect">
              <a:avLst/>
            </a:prstGeom>
            <a:solidFill>
              <a:srgbClr val="1A3A5C">
                <a:alpha val="60000"/>
              </a:srgbClr>
            </a:solidFill>
            <a:ln w="7620">
              <a:solidFill>
                <a:srgbClr val="FFB627"/>
              </a:solidFill>
            </a:ln>
          </p:spPr>
        </p:sp>
        <p:sp>
          <p:nvSpPr>
            <p:cNvPr id="101" name="TextBox 101"/>
            <p:cNvSpPr txBox="1"/>
            <p:nvPr/>
          </p:nvSpPr>
          <p:spPr>
            <a:xfrm>
              <a:off x="940118" y="6076474"/>
              <a:ext cx="10803112" cy="198120"/>
            </a:xfrm>
            <a:prstGeom prst="rect">
              <a:avLst/>
            </a:prstGeom>
            <a:noFill/>
            <a:ln>
              <a:noFill/>
            </a:ln>
          </p:spPr>
          <p:txBody>
            <a:bodyPr wrap="none" lIns="0" tIns="0" rIns="0" bIns="0" anchor="t" anchorCtr="0">
              <a:spAutoFit/>
            </a:bodyPr>
            <a:lstStyle/>
            <a:p>
              <a:pPr algn="l"/>
              <a:r>
                <a:rPr lang="zh-CN" sz="975" dirty="0">
                  <a:solidFill>
                    <a:srgbClr val="F0F4F8"/>
                  </a:solidFill>
                  <a:latin typeface="Arial"/>
                  <a:ea typeface="Microsoft YaHei"/>
                  <a:cs typeface="Arial"/>
                </a:rPr>
                <a:t xml:space="preserve">Universal HA rules — </a:t>
              </a:r>
              <a:r>
                <a:rPr lang="zh-CN" sz="975" b="1" dirty="0">
                  <a:solidFill>
                    <a:srgbClr val="FFB627"/>
                  </a:solidFill>
                  <a:latin typeface="Consolas"/>
                  <a:ea typeface="Microsoft YaHei"/>
                  <a:cs typeface="Consolas"/>
                </a:rPr>
                <a:t>≥3 control-plane hosts</a:t>
              </a:r>
              <a:r>
                <a:rPr lang="zh-CN" sz="975" dirty="0">
                  <a:solidFill>
                    <a:srgbClr val="F0F4F8"/>
                  </a:solidFill>
                  <a:latin typeface="Arial"/>
                  <a:ea typeface="Microsoft YaHei"/>
                  <a:cs typeface="Arial"/>
                </a:rPr>
                <a:t xml:space="preserve"> · </a:t>
              </a:r>
              <a:r>
                <a:rPr lang="zh-CN" sz="975" b="1" dirty="0">
                  <a:solidFill>
                    <a:srgbClr val="FFB627"/>
                  </a:solidFill>
                  <a:latin typeface="Consolas"/>
                  <a:ea typeface="Microsoft YaHei"/>
                  <a:cs typeface="Consolas"/>
                </a:rPr>
                <a:t>odd-numbered etcd members (3 or 5)</a:t>
              </a:r>
              <a:r>
                <a:rPr lang="zh-CN" sz="975" dirty="0">
                  <a:solidFill>
                    <a:srgbClr val="F0F4F8"/>
                  </a:solidFill>
                  <a:latin typeface="Arial"/>
                  <a:ea typeface="Microsoft YaHei"/>
                  <a:cs typeface="Arial"/>
                </a:rPr>
                <a:t xml:space="preserve"> · scheduler &amp; controller-manager are </a:t>
              </a:r>
              <a:r>
                <a:rPr lang="zh-CN" sz="975" b="1" dirty="0">
                  <a:solidFill>
                    <a:srgbClr val="FFB627"/>
                  </a:solidFill>
                  <a:latin typeface="Consolas"/>
                  <a:ea typeface="Microsoft YaHei"/>
                  <a:cs typeface="Consolas"/>
                </a:rPr>
                <a:t>leader-elected</a:t>
              </a:r>
              <a:r>
                <a:rPr lang="zh-CN" sz="975" dirty="0">
                  <a:solidFill>
                    <a:srgbClr val="F0F4F8"/>
                  </a:solidFill>
                  <a:latin typeface="Arial"/>
                  <a:ea typeface="Microsoft YaHei"/>
                  <a:cs typeface="Arial"/>
                </a:rPr>
                <a:t xml:space="preserve"> · spread across availability zones</a:t>
              </a:r>
            </a:p>
          </p:txBody>
        </p:sp>
      </p:grpSp>
      <p:grpSp>
        <p:nvGrpSpPr>
          <p:cNvPr id="106" name="Group 106"/>
          <p:cNvGrpSpPr/>
          <p:nvPr/>
        </p:nvGrpSpPr>
        <p:grpSpPr>
          <a:xfrm>
            <a:off x="561022" y="6477000"/>
            <a:ext cx="11069956" cy="269081"/>
            <a:chOff x="561022" y="6477000"/>
            <a:chExt cx="11069956" cy="269081"/>
          </a:xfrm>
        </p:grpSpPr>
        <p:sp>
          <p:nvSpPr>
            <p:cNvPr id="103" name="Line 103"/>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04" name="TextBox 104"/>
            <p:cNvSpPr txBox="1"/>
            <p:nvPr/>
          </p:nvSpPr>
          <p:spPr>
            <a:xfrm>
              <a:off x="561022" y="6578441"/>
              <a:ext cx="263928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08 OF 10 · HA TOPOLOGY</a:t>
              </a:r>
            </a:p>
          </p:txBody>
        </p:sp>
        <p:sp>
          <p:nvSpPr>
            <p:cNvPr id="105" name="TextBox 105"/>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08 OF 10</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700"/>
                                        <p:tgtEl>
                                          <p:spTgt spid="56"/>
                                        </p:tgtEl>
                                      </p:cBhvr>
                                    </p:animEffect>
                                  </p:childTnLst>
                                </p:cTn>
                              </p:par>
                            </p:childTnLst>
                          </p:cTn>
                        </p:par>
                        <p:par>
                          <p:cTn id="8" fill="hold">
                            <p:stCondLst>
                              <p:cond delay="850"/>
                            </p:stCondLst>
                            <p:childTnLst>
                              <p:par>
                                <p:cTn id="9" presetID="22" presetClass="entr" presetSubtype="1" fill="hold"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left)">
                                      <p:cBhvr>
                                        <p:cTn id="11" dur="700"/>
                                        <p:tgtEl>
                                          <p:spTgt spid="99"/>
                                        </p:tgtEl>
                                      </p:cBhvr>
                                    </p:animEffect>
                                  </p:childTnLst>
                                </p:cTn>
                              </p:par>
                            </p:childTnLst>
                          </p:cTn>
                        </p:par>
                        <p:par>
                          <p:cTn id="12" fill="hold">
                            <p:stCondLst>
                              <p:cond delay="1770"/>
                            </p:stCondLst>
                            <p:childTnLst>
                              <p:par>
                                <p:cTn id="13" presetID="10" presetClass="entr" presetSubtype="0" fill="hold" nodeType="after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99" grpId="0"/>
      <p:bldP spid="1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4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60000"/>
                </a:srgbClr>
              </a:fgClr>
              <a:bgClr>
                <a:srgbClr val="0E2A47"/>
              </a:bgClr>
            </a:pattFill>
            <a:ln>
              <a:noFill/>
            </a:ln>
          </p:spPr>
        </p:sp>
      </p:grpSp>
      <p:grpSp>
        <p:nvGrpSpPr>
          <p:cNvPr id="10" name="Group 10"/>
          <p:cNvGrpSpPr/>
          <p:nvPr/>
        </p:nvGrpSpPr>
        <p:grpSpPr>
          <a:xfrm>
            <a:off x="542925" y="157162"/>
            <a:ext cx="11088052" cy="678657"/>
            <a:chOff x="542925" y="157162"/>
            <a:chExt cx="11088052" cy="678657"/>
          </a:xfrm>
        </p:grpSpPr>
        <p:sp>
          <p:nvSpPr>
            <p:cNvPr id="6" name="TextBox 6"/>
            <p:cNvSpPr txBox="1"/>
            <p:nvPr/>
          </p:nvSpPr>
          <p:spPr>
            <a:xfrm>
              <a:off x="542925" y="157162"/>
              <a:ext cx="5223796"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Every Line Crosses the API Server</a:t>
              </a:r>
            </a:p>
          </p:txBody>
        </p:sp>
        <p:sp>
          <p:nvSpPr>
            <p:cNvPr id="7" name="TextBox 7"/>
            <p:cNvSpPr txBox="1"/>
            <p:nvPr/>
          </p:nvSpPr>
          <p:spPr>
            <a:xfrm>
              <a:off x="11208472" y="310991"/>
              <a:ext cx="422505"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P09 / 10</a:t>
              </a:r>
            </a:p>
          </p:txBody>
        </p:sp>
        <p:sp>
          <p:nvSpPr>
            <p:cNvPr id="8" name="Line 8"/>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9" name="TextBox 9"/>
            <p:cNvSpPr txBox="1"/>
            <p:nvPr/>
          </p:nvSpPr>
          <p:spPr>
            <a:xfrm>
              <a:off x="559118" y="637699"/>
              <a:ext cx="5296924" cy="198120"/>
            </a:xfrm>
            <a:prstGeom prst="rect">
              <a:avLst/>
            </a:prstGeom>
            <a:noFill/>
            <a:ln>
              <a:noFill/>
            </a:ln>
          </p:spPr>
          <p:txBody>
            <a:bodyPr wrap="none" lIns="0" tIns="0" rIns="0" bIns="0" anchor="t" anchorCtr="0">
              <a:spAutoFit/>
            </a:bodyPr>
            <a:lstStyle/>
            <a:p>
              <a:pPr algn="l"/>
              <a:r>
                <a:rPr lang="zh-CN" sz="975" dirty="0">
                  <a:solidFill>
                    <a:srgbClr val="6B85A3"/>
                  </a:solidFill>
                  <a:latin typeface="Arial"/>
                  <a:ea typeface="Microsoft YaHei"/>
                  <a:cs typeface="Arial"/>
                </a:rPr>
                <a:t>NO COMPONENT TALKS DIRECTLY TO ANOTHER — ALL FLOWS GO THROUGH kube-apiserver</a:t>
              </a:r>
            </a:p>
          </p:txBody>
        </p:sp>
      </p:grpSp>
      <p:grpSp>
        <p:nvGrpSpPr>
          <p:cNvPr id="15" name="Group 15"/>
          <p:cNvGrpSpPr/>
          <p:nvPr/>
        </p:nvGrpSpPr>
        <p:grpSpPr>
          <a:xfrm>
            <a:off x="571500" y="1006316"/>
            <a:ext cx="11049000" cy="193834"/>
            <a:chOff x="571500" y="1006316"/>
            <a:chExt cx="11049000" cy="193834"/>
          </a:xfrm>
        </p:grpSpPr>
        <p:sp>
          <p:nvSpPr>
            <p:cNvPr id="11" name="TextBox 11"/>
            <p:cNvSpPr txBox="1"/>
            <p:nvPr/>
          </p:nvSpPr>
          <p:spPr>
            <a:xfrm>
              <a:off x="1189708" y="1006316"/>
              <a:ext cx="1049584" cy="167640"/>
            </a:xfrm>
            <a:prstGeom prst="rect">
              <a:avLst/>
            </a:prstGeom>
            <a:noFill/>
            <a:ln>
              <a:noFill/>
            </a:ln>
          </p:spPr>
          <p:txBody>
            <a:bodyPr wrap="none" lIns="0" tIns="0" rIns="0" bIns="0" anchor="t" anchorCtr="0">
              <a:spAutoFit/>
            </a:bodyPr>
            <a:lstStyle/>
            <a:p>
              <a:pPr algn="ctr"/>
              <a:r>
                <a:rPr lang="zh-CN" sz="825" dirty="0">
                  <a:solidFill>
                    <a:srgbClr val="5BA3E0"/>
                  </a:solidFill>
                  <a:latin typeface="Consolas"/>
                  <a:ea typeface="Microsoft YaHei"/>
                  <a:cs typeface="Consolas"/>
                </a:rPr>
                <a:t>CLIENTS / WATCHERS</a:t>
              </a:r>
            </a:p>
          </p:txBody>
        </p:sp>
        <p:sp>
          <p:nvSpPr>
            <p:cNvPr id="12" name="TextBox 12"/>
            <p:cNvSpPr txBox="1"/>
            <p:nvPr/>
          </p:nvSpPr>
          <p:spPr>
            <a:xfrm>
              <a:off x="5948005" y="1006316"/>
              <a:ext cx="295989"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SPINE</a:t>
              </a:r>
            </a:p>
          </p:txBody>
        </p:sp>
        <p:sp>
          <p:nvSpPr>
            <p:cNvPr id="13" name="TextBox 13"/>
            <p:cNvSpPr txBox="1"/>
            <p:nvPr/>
          </p:nvSpPr>
          <p:spPr>
            <a:xfrm>
              <a:off x="10147983" y="1006316"/>
              <a:ext cx="659035" cy="167640"/>
            </a:xfrm>
            <a:prstGeom prst="rect">
              <a:avLst/>
            </a:prstGeom>
            <a:noFill/>
            <a:ln>
              <a:noFill/>
            </a:ln>
          </p:spPr>
          <p:txBody>
            <a:bodyPr wrap="none" lIns="0" tIns="0" rIns="0" bIns="0" anchor="t" anchorCtr="0">
              <a:spAutoFit/>
            </a:bodyPr>
            <a:lstStyle/>
            <a:p>
              <a:pPr algn="ctr"/>
              <a:r>
                <a:rPr lang="zh-CN" sz="825" dirty="0">
                  <a:solidFill>
                    <a:srgbClr val="5BA3E0"/>
                  </a:solidFill>
                  <a:latin typeface="Consolas"/>
                  <a:ea typeface="Microsoft YaHei"/>
                  <a:cs typeface="Consolas"/>
                </a:rPr>
                <a:t>PERSISTENCE</a:t>
              </a:r>
            </a:p>
          </p:txBody>
        </p:sp>
        <p:sp>
          <p:nvSpPr>
            <p:cNvPr id="14" name="Line 14"/>
            <p:cNvSpPr/>
            <p:nvPr/>
          </p:nvSpPr>
          <p:spPr>
            <a:xfrm>
              <a:off x="571500" y="1190625"/>
              <a:ext cx="11049000" cy="9525"/>
            </a:xfrm>
            <a:custGeom>
              <a:avLst/>
              <a:gdLst/>
              <a:ahLst/>
              <a:cxnLst/>
              <a:rect l="l" t="t" r="r" b="b"/>
              <a:pathLst>
                <a:path w="11049000" h="9525">
                  <a:moveTo>
                    <a:pt x="0" y="0"/>
                  </a:moveTo>
                  <a:lnTo>
                    <a:pt x="11049000" y="0"/>
                  </a:lnTo>
                </a:path>
              </a:pathLst>
            </a:custGeom>
            <a:noFill/>
            <a:ln w="4762">
              <a:solidFill>
                <a:srgbClr val="2D4A6B"/>
              </a:solidFill>
            </a:ln>
          </p:spPr>
        </p:sp>
      </p:grpSp>
      <p:grpSp>
        <p:nvGrpSpPr>
          <p:cNvPr id="23" name="Group 23"/>
          <p:cNvGrpSpPr/>
          <p:nvPr/>
        </p:nvGrpSpPr>
        <p:grpSpPr>
          <a:xfrm>
            <a:off x="762000" y="1476375"/>
            <a:ext cx="1905000" cy="533400"/>
            <a:chOff x="762000" y="1476375"/>
            <a:chExt cx="1905000" cy="533400"/>
          </a:xfrm>
        </p:grpSpPr>
        <p:sp>
          <p:nvSpPr>
            <p:cNvPr id="16" name="Rectangle 16"/>
            <p:cNvSpPr/>
            <p:nvPr/>
          </p:nvSpPr>
          <p:spPr>
            <a:xfrm>
              <a:off x="762000" y="1476375"/>
              <a:ext cx="1905000" cy="533400"/>
            </a:xfrm>
            <a:prstGeom prst="rect">
              <a:avLst/>
            </a:prstGeom>
            <a:solidFill>
              <a:srgbClr val="0E2A47"/>
            </a:solidFill>
            <a:ln w="12382">
              <a:solidFill>
                <a:srgbClr val="5BA3E0"/>
              </a:solidFill>
            </a:ln>
          </p:spPr>
        </p:sp>
        <p:sp>
          <p:nvSpPr>
            <p:cNvPr id="17" name="Rectangle 17"/>
            <p:cNvSpPr/>
            <p:nvPr/>
          </p:nvSpPr>
          <p:spPr>
            <a:xfrm>
              <a:off x="762000" y="1476375"/>
              <a:ext cx="38100" cy="533400"/>
            </a:xfrm>
            <a:prstGeom prst="rect">
              <a:avLst/>
            </a:prstGeom>
            <a:solidFill>
              <a:srgbClr val="5BA3E0"/>
            </a:solidFill>
            <a:ln>
              <a:noFill/>
            </a:ln>
          </p:spPr>
        </p:sp>
        <p:grpSp>
          <p:nvGrpSpPr>
            <p:cNvPr id="20" name="Group 20"/>
            <p:cNvGrpSpPr/>
            <p:nvPr/>
          </p:nvGrpSpPr>
          <p:grpSpPr>
            <a:xfrm>
              <a:off x="962025" y="1685925"/>
              <a:ext cx="133350" cy="123825"/>
              <a:chOff x="962025" y="1685925"/>
              <a:chExt cx="133350" cy="123825"/>
            </a:xfrm>
          </p:grpSpPr>
          <p:sp>
            <p:nvSpPr>
              <p:cNvPr id="18" name="Freeform 18"/>
              <p:cNvSpPr/>
              <p:nvPr/>
            </p:nvSpPr>
            <p:spPr>
              <a:xfrm>
                <a:off x="962025" y="1685925"/>
                <a:ext cx="47625" cy="95250"/>
              </a:xfrm>
              <a:custGeom>
                <a:avLst/>
                <a:gdLst/>
                <a:ahLst/>
                <a:cxnLst/>
                <a:rect l="l" t="t" r="r" b="b"/>
                <a:pathLst>
                  <a:path w="47625" h="95250">
                    <a:moveTo>
                      <a:pt x="0" y="0"/>
                    </a:moveTo>
                    <a:lnTo>
                      <a:pt x="47625" y="47625"/>
                    </a:lnTo>
                    <a:lnTo>
                      <a:pt x="0" y="95250"/>
                    </a:lnTo>
                  </a:path>
                </a:pathLst>
              </a:custGeom>
              <a:noFill/>
              <a:ln w="14288">
                <a:solidFill>
                  <a:srgbClr val="5BA3E0"/>
                </a:solidFill>
              </a:ln>
            </p:spPr>
          </p:sp>
          <p:sp>
            <p:nvSpPr>
              <p:cNvPr id="19" name="Freeform 19"/>
              <p:cNvSpPr/>
              <p:nvPr/>
            </p:nvSpPr>
            <p:spPr>
              <a:xfrm>
                <a:off x="1028700" y="1800225"/>
                <a:ext cx="66675" cy="9525"/>
              </a:xfrm>
              <a:custGeom>
                <a:avLst/>
                <a:gdLst/>
                <a:ahLst/>
                <a:cxnLst/>
                <a:rect l="l" t="t" r="r" b="b"/>
                <a:pathLst>
                  <a:path w="66675" h="9525">
                    <a:moveTo>
                      <a:pt x="0" y="0"/>
                    </a:moveTo>
                    <a:lnTo>
                      <a:pt x="66675" y="0"/>
                    </a:lnTo>
                  </a:path>
                </a:pathLst>
              </a:custGeom>
              <a:noFill/>
              <a:ln w="14288">
                <a:solidFill>
                  <a:srgbClr val="5BA3E0"/>
                </a:solidFill>
              </a:ln>
            </p:spPr>
          </p:sp>
        </p:grpSp>
        <p:sp>
          <p:nvSpPr>
            <p:cNvPr id="21" name="TextBox 21"/>
            <p:cNvSpPr txBox="1"/>
            <p:nvPr/>
          </p:nvSpPr>
          <p:spPr>
            <a:xfrm>
              <a:off x="1226820" y="1617345"/>
              <a:ext cx="47651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kubectl</a:t>
              </a:r>
            </a:p>
          </p:txBody>
        </p:sp>
        <p:sp>
          <p:nvSpPr>
            <p:cNvPr id="22" name="TextBox 22"/>
            <p:cNvSpPr txBox="1"/>
            <p:nvPr/>
          </p:nvSpPr>
          <p:spPr>
            <a:xfrm>
              <a:off x="1228725" y="1804988"/>
              <a:ext cx="999172"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CLI · scripts · CI/CD</a:t>
              </a:r>
            </a:p>
          </p:txBody>
        </p:sp>
      </p:grpSp>
      <p:grpSp>
        <p:nvGrpSpPr>
          <p:cNvPr id="31" name="Group 31"/>
          <p:cNvGrpSpPr/>
          <p:nvPr/>
        </p:nvGrpSpPr>
        <p:grpSpPr>
          <a:xfrm>
            <a:off x="762000" y="2143125"/>
            <a:ext cx="1905000" cy="533400"/>
            <a:chOff x="762000" y="2143125"/>
            <a:chExt cx="1905000" cy="533400"/>
          </a:xfrm>
        </p:grpSpPr>
        <p:sp>
          <p:nvSpPr>
            <p:cNvPr id="24" name="Rectangle 24"/>
            <p:cNvSpPr/>
            <p:nvPr/>
          </p:nvSpPr>
          <p:spPr>
            <a:xfrm>
              <a:off x="762000" y="2143125"/>
              <a:ext cx="1905000" cy="533400"/>
            </a:xfrm>
            <a:prstGeom prst="rect">
              <a:avLst/>
            </a:prstGeom>
            <a:solidFill>
              <a:srgbClr val="0E2A47"/>
            </a:solidFill>
            <a:ln w="12382">
              <a:solidFill>
                <a:srgbClr val="5BA3E0"/>
              </a:solidFill>
            </a:ln>
          </p:spPr>
        </p:sp>
        <p:sp>
          <p:nvSpPr>
            <p:cNvPr id="25" name="Rectangle 25"/>
            <p:cNvSpPr/>
            <p:nvPr/>
          </p:nvSpPr>
          <p:spPr>
            <a:xfrm>
              <a:off x="762000" y="2143125"/>
              <a:ext cx="38100" cy="533400"/>
            </a:xfrm>
            <a:prstGeom prst="rect">
              <a:avLst/>
            </a:prstGeom>
            <a:solidFill>
              <a:srgbClr val="5BA3E0"/>
            </a:solidFill>
            <a:ln>
              <a:noFill/>
            </a:ln>
          </p:spPr>
        </p:sp>
        <p:grpSp>
          <p:nvGrpSpPr>
            <p:cNvPr id="28" name="Group 28"/>
            <p:cNvGrpSpPr/>
            <p:nvPr/>
          </p:nvGrpSpPr>
          <p:grpSpPr>
            <a:xfrm>
              <a:off x="938794" y="2310394"/>
              <a:ext cx="179813" cy="179813"/>
              <a:chOff x="938794" y="2310394"/>
              <a:chExt cx="179813" cy="179813"/>
            </a:xfrm>
          </p:grpSpPr>
          <p:sp>
            <p:nvSpPr>
              <p:cNvPr id="26" name="Freeform 26"/>
              <p:cNvSpPr/>
              <p:nvPr/>
            </p:nvSpPr>
            <p:spPr>
              <a:xfrm>
                <a:off x="938794" y="2310394"/>
                <a:ext cx="179813" cy="179813"/>
              </a:xfrm>
              <a:custGeom>
                <a:avLst/>
                <a:gdLst/>
                <a:ahLst/>
                <a:cxnLst/>
                <a:rect l="l" t="t" r="r" b="b"/>
                <a:pathLst>
                  <a:path w="179813" h="179813">
                    <a:moveTo>
                      <a:pt x="73952" y="16726"/>
                    </a:moveTo>
                    <a:cubicBezTo>
                      <a:pt x="78010" y="0"/>
                      <a:pt x="101803" y="0"/>
                      <a:pt x="105861" y="16726"/>
                    </a:cubicBezTo>
                    <a:cubicBezTo>
                      <a:pt x="107096" y="21822"/>
                      <a:pt x="110690" y="26023"/>
                      <a:pt x="115535" y="28030"/>
                    </a:cubicBezTo>
                    <a:cubicBezTo>
                      <a:pt x="120380" y="30037"/>
                      <a:pt x="125891" y="29609"/>
                      <a:pt x="130369" y="26880"/>
                    </a:cubicBezTo>
                    <a:cubicBezTo>
                      <a:pt x="145066" y="17926"/>
                      <a:pt x="161896" y="34747"/>
                      <a:pt x="152943" y="49454"/>
                    </a:cubicBezTo>
                    <a:cubicBezTo>
                      <a:pt x="150217" y="53929"/>
                      <a:pt x="149791" y="59437"/>
                      <a:pt x="151795" y="64278"/>
                    </a:cubicBezTo>
                    <a:cubicBezTo>
                      <a:pt x="153800" y="69120"/>
                      <a:pt x="157995" y="72714"/>
                      <a:pt x="163087" y="73952"/>
                    </a:cubicBezTo>
                    <a:cubicBezTo>
                      <a:pt x="179813" y="78010"/>
                      <a:pt x="179813" y="101803"/>
                      <a:pt x="163087" y="105861"/>
                    </a:cubicBezTo>
                    <a:cubicBezTo>
                      <a:pt x="157991" y="107096"/>
                      <a:pt x="153790" y="110690"/>
                      <a:pt x="151783" y="115535"/>
                    </a:cubicBezTo>
                    <a:cubicBezTo>
                      <a:pt x="149776" y="120380"/>
                      <a:pt x="150204" y="125891"/>
                      <a:pt x="152933" y="130369"/>
                    </a:cubicBezTo>
                    <a:cubicBezTo>
                      <a:pt x="161887" y="145066"/>
                      <a:pt x="145066" y="161896"/>
                      <a:pt x="130359" y="152943"/>
                    </a:cubicBezTo>
                    <a:cubicBezTo>
                      <a:pt x="125884" y="150217"/>
                      <a:pt x="120376" y="149791"/>
                      <a:pt x="115535" y="151795"/>
                    </a:cubicBezTo>
                    <a:cubicBezTo>
                      <a:pt x="110693" y="153800"/>
                      <a:pt x="107099" y="157995"/>
                      <a:pt x="105861" y="163087"/>
                    </a:cubicBezTo>
                    <a:cubicBezTo>
                      <a:pt x="101803" y="179813"/>
                      <a:pt x="78010" y="179813"/>
                      <a:pt x="73952" y="163087"/>
                    </a:cubicBezTo>
                    <a:cubicBezTo>
                      <a:pt x="72717" y="157991"/>
                      <a:pt x="69123" y="153790"/>
                      <a:pt x="64278" y="151783"/>
                    </a:cubicBezTo>
                    <a:cubicBezTo>
                      <a:pt x="59433" y="149776"/>
                      <a:pt x="53922" y="150204"/>
                      <a:pt x="49444" y="152933"/>
                    </a:cubicBezTo>
                    <a:cubicBezTo>
                      <a:pt x="34747" y="161887"/>
                      <a:pt x="17917" y="145066"/>
                      <a:pt x="26870" y="130359"/>
                    </a:cubicBezTo>
                    <a:cubicBezTo>
                      <a:pt x="29596" y="125884"/>
                      <a:pt x="30022" y="120376"/>
                      <a:pt x="28018" y="115535"/>
                    </a:cubicBezTo>
                    <a:cubicBezTo>
                      <a:pt x="26013" y="110693"/>
                      <a:pt x="21818" y="107099"/>
                      <a:pt x="16726" y="105861"/>
                    </a:cubicBezTo>
                    <a:cubicBezTo>
                      <a:pt x="0" y="101803"/>
                      <a:pt x="0" y="78010"/>
                      <a:pt x="16726" y="73952"/>
                    </a:cubicBezTo>
                    <a:cubicBezTo>
                      <a:pt x="21822" y="72717"/>
                      <a:pt x="26023" y="69123"/>
                      <a:pt x="28030" y="64278"/>
                    </a:cubicBezTo>
                    <a:cubicBezTo>
                      <a:pt x="30037" y="59433"/>
                      <a:pt x="29609" y="53922"/>
                      <a:pt x="26880" y="49444"/>
                    </a:cubicBezTo>
                    <a:cubicBezTo>
                      <a:pt x="17926" y="34747"/>
                      <a:pt x="34747" y="17917"/>
                      <a:pt x="49454" y="26870"/>
                    </a:cubicBezTo>
                    <a:cubicBezTo>
                      <a:pt x="58979" y="32661"/>
                      <a:pt x="71323" y="27537"/>
                      <a:pt x="73952" y="16726"/>
                    </a:cubicBezTo>
                  </a:path>
                </a:pathLst>
              </a:custGeom>
              <a:noFill/>
              <a:ln w="14288">
                <a:solidFill>
                  <a:srgbClr val="5BA3E0"/>
                </a:solidFill>
              </a:ln>
            </p:spPr>
          </p:sp>
          <p:sp>
            <p:nvSpPr>
              <p:cNvPr id="27" name="Freeform 27"/>
              <p:cNvSpPr/>
              <p:nvPr/>
            </p:nvSpPr>
            <p:spPr>
              <a:xfrm>
                <a:off x="1000125" y="23717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4288">
                <a:solidFill>
                  <a:srgbClr val="5BA3E0"/>
                </a:solidFill>
              </a:ln>
            </p:spPr>
          </p:sp>
        </p:grpSp>
        <p:sp>
          <p:nvSpPr>
            <p:cNvPr id="29" name="TextBox 29"/>
            <p:cNvSpPr txBox="1"/>
            <p:nvPr/>
          </p:nvSpPr>
          <p:spPr>
            <a:xfrm>
              <a:off x="1226820" y="2284095"/>
              <a:ext cx="96167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kube-scheduler</a:t>
              </a:r>
            </a:p>
          </p:txBody>
        </p:sp>
        <p:sp>
          <p:nvSpPr>
            <p:cNvPr id="30" name="TextBox 30"/>
            <p:cNvSpPr txBox="1"/>
            <p:nvPr/>
          </p:nvSpPr>
          <p:spPr>
            <a:xfrm>
              <a:off x="1228725" y="2471738"/>
              <a:ext cx="909161"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picks node for Pod</a:t>
              </a:r>
            </a:p>
          </p:txBody>
        </p:sp>
      </p:grpSp>
      <p:grpSp>
        <p:nvGrpSpPr>
          <p:cNvPr id="39" name="Group 39"/>
          <p:cNvGrpSpPr/>
          <p:nvPr/>
        </p:nvGrpSpPr>
        <p:grpSpPr>
          <a:xfrm>
            <a:off x="762000" y="2809875"/>
            <a:ext cx="1905000" cy="533400"/>
            <a:chOff x="762000" y="2809875"/>
            <a:chExt cx="1905000" cy="533400"/>
          </a:xfrm>
        </p:grpSpPr>
        <p:sp>
          <p:nvSpPr>
            <p:cNvPr id="32" name="Rectangle 32"/>
            <p:cNvSpPr/>
            <p:nvPr/>
          </p:nvSpPr>
          <p:spPr>
            <a:xfrm>
              <a:off x="762000" y="2809875"/>
              <a:ext cx="1905000" cy="533400"/>
            </a:xfrm>
            <a:prstGeom prst="rect">
              <a:avLst/>
            </a:prstGeom>
            <a:solidFill>
              <a:srgbClr val="0E2A47"/>
            </a:solidFill>
            <a:ln w="12382">
              <a:solidFill>
                <a:srgbClr val="5BA3E0"/>
              </a:solidFill>
            </a:ln>
          </p:spPr>
        </p:sp>
        <p:sp>
          <p:nvSpPr>
            <p:cNvPr id="33" name="Rectangle 33"/>
            <p:cNvSpPr/>
            <p:nvPr/>
          </p:nvSpPr>
          <p:spPr>
            <a:xfrm>
              <a:off x="762000" y="2809875"/>
              <a:ext cx="38100" cy="533400"/>
            </a:xfrm>
            <a:prstGeom prst="rect">
              <a:avLst/>
            </a:prstGeom>
            <a:solidFill>
              <a:srgbClr val="5BA3E0"/>
            </a:solidFill>
            <a:ln>
              <a:noFill/>
            </a:ln>
          </p:spPr>
        </p:sp>
        <p:grpSp>
          <p:nvGrpSpPr>
            <p:cNvPr id="36" name="Group 36"/>
            <p:cNvGrpSpPr/>
            <p:nvPr/>
          </p:nvGrpSpPr>
          <p:grpSpPr>
            <a:xfrm>
              <a:off x="952500" y="2987175"/>
              <a:ext cx="152400" cy="159750"/>
              <a:chOff x="952500" y="2987175"/>
              <a:chExt cx="152400" cy="159750"/>
            </a:xfrm>
          </p:grpSpPr>
          <p:sp>
            <p:nvSpPr>
              <p:cNvPr id="34" name="Freeform 34"/>
              <p:cNvSpPr/>
              <p:nvPr/>
            </p:nvSpPr>
            <p:spPr>
              <a:xfrm>
                <a:off x="952500" y="2987175"/>
                <a:ext cx="152400" cy="70350"/>
              </a:xfrm>
              <a:custGeom>
                <a:avLst/>
                <a:gdLst/>
                <a:ahLst/>
                <a:cxnLst/>
                <a:rect l="l" t="t" r="r" b="b"/>
                <a:pathLst>
                  <a:path w="152400" h="70350">
                    <a:moveTo>
                      <a:pt x="152400" y="70350"/>
                    </a:moveTo>
                    <a:cubicBezTo>
                      <a:pt x="147612" y="35894"/>
                      <a:pt x="120357" y="8904"/>
                      <a:pt x="85855" y="4452"/>
                    </a:cubicBezTo>
                    <a:cubicBezTo>
                      <a:pt x="51354" y="0"/>
                      <a:pt x="18140" y="19188"/>
                      <a:pt x="4762" y="51300"/>
                    </a:cubicBezTo>
                    <a:moveTo>
                      <a:pt x="0" y="13200"/>
                    </a:moveTo>
                    <a:lnTo>
                      <a:pt x="0" y="51300"/>
                    </a:lnTo>
                    <a:lnTo>
                      <a:pt x="38100" y="51300"/>
                    </a:lnTo>
                  </a:path>
                </a:pathLst>
              </a:custGeom>
              <a:noFill/>
              <a:ln w="14288">
                <a:solidFill>
                  <a:srgbClr val="5BA3E0"/>
                </a:solidFill>
              </a:ln>
            </p:spPr>
          </p:sp>
          <p:sp>
            <p:nvSpPr>
              <p:cNvPr id="35" name="Freeform 35"/>
              <p:cNvSpPr/>
              <p:nvPr/>
            </p:nvSpPr>
            <p:spPr>
              <a:xfrm>
                <a:off x="952500" y="3076575"/>
                <a:ext cx="152400" cy="70350"/>
              </a:xfrm>
              <a:custGeom>
                <a:avLst/>
                <a:gdLst/>
                <a:ahLst/>
                <a:cxnLst/>
                <a:rect l="l" t="t" r="r" b="b"/>
                <a:pathLst>
                  <a:path w="152400" h="70350">
                    <a:moveTo>
                      <a:pt x="0" y="0"/>
                    </a:moveTo>
                    <a:cubicBezTo>
                      <a:pt x="4788" y="34456"/>
                      <a:pt x="32043" y="61446"/>
                      <a:pt x="66545" y="65898"/>
                    </a:cubicBezTo>
                    <a:cubicBezTo>
                      <a:pt x="101046" y="70350"/>
                      <a:pt x="134260" y="51162"/>
                      <a:pt x="147638" y="19050"/>
                    </a:cubicBezTo>
                    <a:moveTo>
                      <a:pt x="152400" y="57150"/>
                    </a:moveTo>
                    <a:lnTo>
                      <a:pt x="152400" y="19050"/>
                    </a:lnTo>
                    <a:lnTo>
                      <a:pt x="114300" y="19050"/>
                    </a:lnTo>
                  </a:path>
                </a:pathLst>
              </a:custGeom>
              <a:noFill/>
              <a:ln w="14288">
                <a:solidFill>
                  <a:srgbClr val="5BA3E0"/>
                </a:solidFill>
              </a:ln>
            </p:spPr>
          </p:sp>
        </p:grpSp>
        <p:sp>
          <p:nvSpPr>
            <p:cNvPr id="37" name="TextBox 37"/>
            <p:cNvSpPr txBox="1"/>
            <p:nvPr/>
          </p:nvSpPr>
          <p:spPr>
            <a:xfrm>
              <a:off x="1227772" y="2958941"/>
              <a:ext cx="875762" cy="167640"/>
            </a:xfrm>
            <a:prstGeom prst="rect">
              <a:avLst/>
            </a:prstGeom>
            <a:noFill/>
            <a:ln>
              <a:noFill/>
            </a:ln>
          </p:spPr>
          <p:txBody>
            <a:bodyPr wrap="none" lIns="0" tIns="0" rIns="0" bIns="0" anchor="t" anchorCtr="0">
              <a:spAutoFit/>
            </a:bodyPr>
            <a:lstStyle/>
            <a:p>
              <a:pPr algn="l"/>
              <a:r>
                <a:rPr lang="zh-CN" sz="825" b="1" dirty="0">
                  <a:solidFill>
                    <a:srgbClr val="F0F4F8"/>
                  </a:solidFill>
                  <a:latin typeface="Consolas"/>
                  <a:ea typeface="Microsoft YaHei"/>
                  <a:cs typeface="Consolas"/>
                </a:rPr>
                <a:t>controller-mgr</a:t>
              </a:r>
            </a:p>
          </p:txBody>
        </p:sp>
        <p:sp>
          <p:nvSpPr>
            <p:cNvPr id="38" name="TextBox 38"/>
            <p:cNvSpPr txBox="1"/>
            <p:nvPr/>
          </p:nvSpPr>
          <p:spPr>
            <a:xfrm>
              <a:off x="1228725" y="3138488"/>
              <a:ext cx="744141"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reconcile loops</a:t>
              </a:r>
            </a:p>
          </p:txBody>
        </p:sp>
      </p:grpSp>
      <p:grpSp>
        <p:nvGrpSpPr>
          <p:cNvPr id="49" name="Group 49"/>
          <p:cNvGrpSpPr/>
          <p:nvPr/>
        </p:nvGrpSpPr>
        <p:grpSpPr>
          <a:xfrm>
            <a:off x="762000" y="3476625"/>
            <a:ext cx="1905953" cy="533400"/>
            <a:chOff x="762000" y="3476625"/>
            <a:chExt cx="1905953" cy="533400"/>
          </a:xfrm>
        </p:grpSpPr>
        <p:sp>
          <p:nvSpPr>
            <p:cNvPr id="40" name="Rectangle 40"/>
            <p:cNvSpPr/>
            <p:nvPr/>
          </p:nvSpPr>
          <p:spPr>
            <a:xfrm>
              <a:off x="762000" y="3476625"/>
              <a:ext cx="1905000" cy="533400"/>
            </a:xfrm>
            <a:prstGeom prst="rect">
              <a:avLst/>
            </a:prstGeom>
            <a:solidFill>
              <a:srgbClr val="0E2A47"/>
            </a:solidFill>
            <a:ln w="12382">
              <a:solidFill>
                <a:srgbClr val="5BA3E0"/>
              </a:solidFill>
            </a:ln>
          </p:spPr>
        </p:sp>
        <p:sp>
          <p:nvSpPr>
            <p:cNvPr id="41" name="Rectangle 41"/>
            <p:cNvSpPr/>
            <p:nvPr/>
          </p:nvSpPr>
          <p:spPr>
            <a:xfrm>
              <a:off x="762000" y="3476625"/>
              <a:ext cx="38100" cy="533400"/>
            </a:xfrm>
            <a:prstGeom prst="rect">
              <a:avLst/>
            </a:prstGeom>
            <a:solidFill>
              <a:srgbClr val="5BA3E0"/>
            </a:solidFill>
            <a:ln>
              <a:noFill/>
            </a:ln>
          </p:spPr>
        </p:sp>
        <p:grpSp>
          <p:nvGrpSpPr>
            <p:cNvPr id="46" name="Group 46"/>
            <p:cNvGrpSpPr/>
            <p:nvPr/>
          </p:nvGrpSpPr>
          <p:grpSpPr>
            <a:xfrm>
              <a:off x="942975" y="3637702"/>
              <a:ext cx="171450" cy="192186"/>
              <a:chOff x="942975" y="3637702"/>
              <a:chExt cx="171450" cy="192186"/>
            </a:xfrm>
          </p:grpSpPr>
          <p:sp>
            <p:nvSpPr>
              <p:cNvPr id="42" name="Freeform 42"/>
              <p:cNvSpPr/>
              <p:nvPr/>
            </p:nvSpPr>
            <p:spPr>
              <a:xfrm>
                <a:off x="942975" y="3637702"/>
                <a:ext cx="171450" cy="192186"/>
              </a:xfrm>
              <a:custGeom>
                <a:avLst/>
                <a:gdLst/>
                <a:ahLst/>
                <a:cxnLst/>
                <a:rect l="l" t="t" r="r" b="b"/>
                <a:pathLst>
                  <a:path w="171450" h="192186">
                    <a:moveTo>
                      <a:pt x="171450" y="134274"/>
                    </a:moveTo>
                    <a:lnTo>
                      <a:pt x="171450" y="57902"/>
                    </a:lnTo>
                    <a:cubicBezTo>
                      <a:pt x="171438" y="51137"/>
                      <a:pt x="167804" y="44897"/>
                      <a:pt x="161925" y="41548"/>
                    </a:cubicBezTo>
                    <a:lnTo>
                      <a:pt x="95250" y="3372"/>
                    </a:lnTo>
                    <a:cubicBezTo>
                      <a:pt x="89348" y="0"/>
                      <a:pt x="82102" y="0"/>
                      <a:pt x="76200" y="3372"/>
                    </a:cubicBezTo>
                    <a:lnTo>
                      <a:pt x="9525" y="41548"/>
                    </a:lnTo>
                    <a:cubicBezTo>
                      <a:pt x="3629" y="44929"/>
                      <a:pt x="0" y="51168"/>
                      <a:pt x="0" y="57912"/>
                    </a:cubicBezTo>
                    <a:lnTo>
                      <a:pt x="0" y="134283"/>
                    </a:lnTo>
                    <a:cubicBezTo>
                      <a:pt x="0" y="141037"/>
                      <a:pt x="3629" y="147266"/>
                      <a:pt x="9525" y="150638"/>
                    </a:cubicBezTo>
                    <a:lnTo>
                      <a:pt x="76200" y="188814"/>
                    </a:lnTo>
                    <a:cubicBezTo>
                      <a:pt x="82102" y="192186"/>
                      <a:pt x="89348" y="192186"/>
                      <a:pt x="95250" y="188814"/>
                    </a:cubicBezTo>
                    <a:lnTo>
                      <a:pt x="161925" y="150638"/>
                    </a:lnTo>
                    <a:cubicBezTo>
                      <a:pt x="167821" y="147256"/>
                      <a:pt x="171450" y="141018"/>
                      <a:pt x="171450" y="134274"/>
                    </a:cubicBezTo>
                  </a:path>
                </a:pathLst>
              </a:custGeom>
              <a:noFill/>
              <a:ln w="14288">
                <a:solidFill>
                  <a:srgbClr val="5BA3E0"/>
                </a:solidFill>
              </a:ln>
            </p:spPr>
          </p:sp>
          <p:sp>
            <p:nvSpPr>
              <p:cNvPr id="43" name="Freeform 43"/>
              <p:cNvSpPr/>
              <p:nvPr/>
            </p:nvSpPr>
            <p:spPr>
              <a:xfrm>
                <a:off x="1028700" y="3733800"/>
                <a:ext cx="9525" cy="95250"/>
              </a:xfrm>
              <a:custGeom>
                <a:avLst/>
                <a:gdLst/>
                <a:ahLst/>
                <a:cxnLst/>
                <a:rect l="l" t="t" r="r" b="b"/>
                <a:pathLst>
                  <a:path w="9525" h="95250">
                    <a:moveTo>
                      <a:pt x="0" y="95250"/>
                    </a:moveTo>
                    <a:lnTo>
                      <a:pt x="0" y="0"/>
                    </a:lnTo>
                  </a:path>
                </a:pathLst>
              </a:custGeom>
              <a:noFill/>
              <a:ln w="14288">
                <a:solidFill>
                  <a:srgbClr val="5BA3E0"/>
                </a:solidFill>
              </a:ln>
            </p:spPr>
          </p:sp>
          <p:sp>
            <p:nvSpPr>
              <p:cNvPr id="44" name="Freeform 44"/>
              <p:cNvSpPr/>
              <p:nvPr/>
            </p:nvSpPr>
            <p:spPr>
              <a:xfrm>
                <a:off x="1028700" y="3685794"/>
                <a:ext cx="83153" cy="48006"/>
              </a:xfrm>
              <a:custGeom>
                <a:avLst/>
                <a:gdLst/>
                <a:ahLst/>
                <a:cxnLst/>
                <a:rect l="l" t="t" r="r" b="b"/>
                <a:pathLst>
                  <a:path w="83153" h="48006">
                    <a:moveTo>
                      <a:pt x="0" y="48006"/>
                    </a:moveTo>
                    <a:lnTo>
                      <a:pt x="83153" y="0"/>
                    </a:lnTo>
                  </a:path>
                </a:pathLst>
              </a:custGeom>
              <a:noFill/>
              <a:ln w="14288">
                <a:solidFill>
                  <a:srgbClr val="5BA3E0"/>
                </a:solidFill>
              </a:ln>
            </p:spPr>
          </p:sp>
          <p:sp>
            <p:nvSpPr>
              <p:cNvPr id="45" name="Freeform 45"/>
              <p:cNvSpPr/>
              <p:nvPr/>
            </p:nvSpPr>
            <p:spPr>
              <a:xfrm>
                <a:off x="945547" y="3685794"/>
                <a:ext cx="83153" cy="48006"/>
              </a:xfrm>
              <a:custGeom>
                <a:avLst/>
                <a:gdLst/>
                <a:ahLst/>
                <a:cxnLst/>
                <a:rect l="l" t="t" r="r" b="b"/>
                <a:pathLst>
                  <a:path w="83153" h="48006">
                    <a:moveTo>
                      <a:pt x="0" y="0"/>
                    </a:moveTo>
                    <a:lnTo>
                      <a:pt x="83153" y="48006"/>
                    </a:lnTo>
                  </a:path>
                </a:pathLst>
              </a:custGeom>
              <a:noFill/>
              <a:ln w="14288">
                <a:solidFill>
                  <a:srgbClr val="5BA3E0"/>
                </a:solidFill>
              </a:ln>
            </p:spPr>
          </p:sp>
        </p:grpSp>
        <p:sp>
          <p:nvSpPr>
            <p:cNvPr id="47" name="TextBox 47"/>
            <p:cNvSpPr txBox="1"/>
            <p:nvPr/>
          </p:nvSpPr>
          <p:spPr>
            <a:xfrm>
              <a:off x="1226820" y="3617595"/>
              <a:ext cx="930173"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kubelet (node)</a:t>
              </a:r>
            </a:p>
          </p:txBody>
        </p:sp>
        <p:sp>
          <p:nvSpPr>
            <p:cNvPr id="48" name="TextBox 48"/>
            <p:cNvSpPr txBox="1"/>
            <p:nvPr/>
          </p:nvSpPr>
          <p:spPr>
            <a:xfrm>
              <a:off x="1228725" y="3805238"/>
              <a:ext cx="1439228"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node-side agent · ≥1 per node</a:t>
              </a:r>
            </a:p>
          </p:txBody>
        </p:sp>
      </p:grpSp>
      <p:grpSp>
        <p:nvGrpSpPr>
          <p:cNvPr id="58" name="Group 58"/>
          <p:cNvGrpSpPr/>
          <p:nvPr/>
        </p:nvGrpSpPr>
        <p:grpSpPr>
          <a:xfrm>
            <a:off x="762000" y="4143375"/>
            <a:ext cx="1905000" cy="533400"/>
            <a:chOff x="762000" y="4143375"/>
            <a:chExt cx="1905000" cy="533400"/>
          </a:xfrm>
        </p:grpSpPr>
        <p:sp>
          <p:nvSpPr>
            <p:cNvPr id="50" name="Rectangle 50"/>
            <p:cNvSpPr/>
            <p:nvPr/>
          </p:nvSpPr>
          <p:spPr>
            <a:xfrm>
              <a:off x="762000" y="4143375"/>
              <a:ext cx="1905000" cy="533400"/>
            </a:xfrm>
            <a:prstGeom prst="rect">
              <a:avLst/>
            </a:prstGeom>
            <a:solidFill>
              <a:srgbClr val="0E2A47"/>
            </a:solidFill>
            <a:ln w="12382">
              <a:solidFill>
                <a:srgbClr val="5BA3E0"/>
              </a:solidFill>
            </a:ln>
          </p:spPr>
        </p:sp>
        <p:sp>
          <p:nvSpPr>
            <p:cNvPr id="51" name="Rectangle 51"/>
            <p:cNvSpPr/>
            <p:nvPr/>
          </p:nvSpPr>
          <p:spPr>
            <a:xfrm>
              <a:off x="762000" y="4143375"/>
              <a:ext cx="38100" cy="533400"/>
            </a:xfrm>
            <a:prstGeom prst="rect">
              <a:avLst/>
            </a:prstGeom>
            <a:solidFill>
              <a:srgbClr val="5BA3E0"/>
            </a:solidFill>
            <a:ln>
              <a:noFill/>
            </a:ln>
          </p:spPr>
        </p:sp>
        <p:grpSp>
          <p:nvGrpSpPr>
            <p:cNvPr id="55" name="Group 55"/>
            <p:cNvGrpSpPr/>
            <p:nvPr/>
          </p:nvGrpSpPr>
          <p:grpSpPr>
            <a:xfrm>
              <a:off x="942975" y="4314825"/>
              <a:ext cx="171450" cy="171450"/>
              <a:chOff x="942975" y="4314825"/>
              <a:chExt cx="171450" cy="171450"/>
            </a:xfrm>
          </p:grpSpPr>
          <p:sp>
            <p:nvSpPr>
              <p:cNvPr id="52" name="Freeform 52"/>
              <p:cNvSpPr/>
              <p:nvPr/>
            </p:nvSpPr>
            <p:spPr>
              <a:xfrm>
                <a:off x="942975" y="444817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4288">
                <a:solidFill>
                  <a:srgbClr val="5BA3E0"/>
                </a:solidFill>
              </a:ln>
            </p:spPr>
          </p:sp>
          <p:sp>
            <p:nvSpPr>
              <p:cNvPr id="53" name="Freeform 53"/>
              <p:cNvSpPr/>
              <p:nvPr/>
            </p:nvSpPr>
            <p:spPr>
              <a:xfrm>
                <a:off x="1076325" y="4314825"/>
                <a:ext cx="38100" cy="38100"/>
              </a:xfrm>
              <a:custGeom>
                <a:avLst/>
                <a:gdLst/>
                <a:ahLst/>
                <a:cxnLst/>
                <a:rect l="l" t="t" r="r" b="b"/>
                <a:pathLst>
                  <a:path w="38100" h="38100">
                    <a:moveTo>
                      <a:pt x="19050" y="38100"/>
                    </a:moveTo>
                    <a:cubicBezTo>
                      <a:pt x="29571" y="38100"/>
                      <a:pt x="38100" y="29571"/>
                      <a:pt x="38100" y="19050"/>
                    </a:cubicBezTo>
                    <a:cubicBezTo>
                      <a:pt x="38100" y="8529"/>
                      <a:pt x="29571" y="0"/>
                      <a:pt x="19050" y="0"/>
                    </a:cubicBezTo>
                    <a:cubicBezTo>
                      <a:pt x="8529" y="0"/>
                      <a:pt x="0" y="8529"/>
                      <a:pt x="0" y="19050"/>
                    </a:cubicBezTo>
                    <a:cubicBezTo>
                      <a:pt x="0" y="29571"/>
                      <a:pt x="8529" y="38100"/>
                      <a:pt x="19050" y="38100"/>
                    </a:cubicBezTo>
                  </a:path>
                </a:pathLst>
              </a:custGeom>
              <a:noFill/>
              <a:ln w="14288">
                <a:solidFill>
                  <a:srgbClr val="5BA3E0"/>
                </a:solidFill>
              </a:ln>
            </p:spPr>
          </p:sp>
          <p:sp>
            <p:nvSpPr>
              <p:cNvPr id="54" name="Freeform 54"/>
              <p:cNvSpPr/>
              <p:nvPr/>
            </p:nvSpPr>
            <p:spPr>
              <a:xfrm>
                <a:off x="962025" y="4333875"/>
                <a:ext cx="142875" cy="133350"/>
              </a:xfrm>
              <a:custGeom>
                <a:avLst/>
                <a:gdLst/>
                <a:ahLst/>
                <a:cxnLst/>
                <a:rect l="l" t="t" r="r" b="b"/>
                <a:pathLst>
                  <a:path w="142875" h="133350">
                    <a:moveTo>
                      <a:pt x="57150" y="133350"/>
                    </a:moveTo>
                    <a:lnTo>
                      <a:pt x="109538" y="133350"/>
                    </a:lnTo>
                    <a:cubicBezTo>
                      <a:pt x="127949" y="133350"/>
                      <a:pt x="142875" y="118424"/>
                      <a:pt x="142875" y="100012"/>
                    </a:cubicBezTo>
                    <a:cubicBezTo>
                      <a:pt x="142875" y="81601"/>
                      <a:pt x="127949" y="66675"/>
                      <a:pt x="109538" y="66675"/>
                    </a:cubicBezTo>
                    <a:lnTo>
                      <a:pt x="33338" y="66675"/>
                    </a:lnTo>
                    <a:cubicBezTo>
                      <a:pt x="14926" y="66675"/>
                      <a:pt x="0" y="51749"/>
                      <a:pt x="0" y="33338"/>
                    </a:cubicBezTo>
                    <a:cubicBezTo>
                      <a:pt x="0" y="14926"/>
                      <a:pt x="14926" y="0"/>
                      <a:pt x="33338" y="0"/>
                    </a:cubicBezTo>
                    <a:lnTo>
                      <a:pt x="76200" y="0"/>
                    </a:lnTo>
                  </a:path>
                </a:pathLst>
              </a:custGeom>
              <a:noFill/>
              <a:ln w="14288">
                <a:solidFill>
                  <a:srgbClr val="5BA3E0"/>
                </a:solidFill>
              </a:ln>
            </p:spPr>
          </p:sp>
        </p:grpSp>
        <p:sp>
          <p:nvSpPr>
            <p:cNvPr id="56" name="TextBox 56"/>
            <p:cNvSpPr txBox="1"/>
            <p:nvPr/>
          </p:nvSpPr>
          <p:spPr>
            <a:xfrm>
              <a:off x="1226820" y="4284345"/>
              <a:ext cx="715947" cy="182880"/>
            </a:xfrm>
            <a:prstGeom prst="rect">
              <a:avLst/>
            </a:prstGeom>
            <a:noFill/>
            <a:ln>
              <a:noFill/>
            </a:ln>
          </p:spPr>
          <p:txBody>
            <a:bodyPr wrap="none" lIns="0" tIns="0" rIns="0" bIns="0" anchor="t" anchorCtr="0">
              <a:spAutoFit/>
            </a:bodyPr>
            <a:lstStyle/>
            <a:p>
              <a:pPr algn="l"/>
              <a:r>
                <a:rPr lang="zh-CN" sz="900" b="1" dirty="0">
                  <a:solidFill>
                    <a:srgbClr val="F0F4F8"/>
                  </a:solidFill>
                  <a:latin typeface="Consolas"/>
                  <a:ea typeface="Microsoft YaHei"/>
                  <a:cs typeface="Consolas"/>
                </a:rPr>
                <a:t>kube-proxy</a:t>
              </a:r>
            </a:p>
          </p:txBody>
        </p:sp>
        <p:sp>
          <p:nvSpPr>
            <p:cNvPr id="57" name="TextBox 57"/>
            <p:cNvSpPr txBox="1"/>
            <p:nvPr/>
          </p:nvSpPr>
          <p:spPr>
            <a:xfrm>
              <a:off x="1228725" y="4471988"/>
              <a:ext cx="1224201" cy="152400"/>
            </a:xfrm>
            <a:prstGeom prst="rect">
              <a:avLst/>
            </a:prstGeom>
            <a:noFill/>
            <a:ln>
              <a:noFill/>
            </a:ln>
          </p:spPr>
          <p:txBody>
            <a:bodyPr wrap="none" lIns="0" tIns="0" rIns="0" bIns="0" anchor="t" anchorCtr="0">
              <a:spAutoFit/>
            </a:bodyPr>
            <a:lstStyle/>
            <a:p>
              <a:pPr algn="l"/>
              <a:r>
                <a:rPr lang="zh-CN" sz="750" dirty="0">
                  <a:solidFill>
                    <a:srgbClr val="A0B8D0"/>
                  </a:solidFill>
                  <a:latin typeface="Arial"/>
                  <a:ea typeface="Microsoft YaHei"/>
                  <a:cs typeface="Arial"/>
                </a:rPr>
                <a:t>Service rule programmer</a:t>
              </a:r>
            </a:p>
          </p:txBody>
        </p:sp>
      </p:grpSp>
      <p:grpSp>
        <p:nvGrpSpPr>
          <p:cNvPr id="64" name="Group 64"/>
          <p:cNvGrpSpPr/>
          <p:nvPr/>
        </p:nvGrpSpPr>
        <p:grpSpPr>
          <a:xfrm>
            <a:off x="762000" y="4810125"/>
            <a:ext cx="1905000" cy="533400"/>
            <a:chOff x="762000" y="4810125"/>
            <a:chExt cx="1905000" cy="533400"/>
          </a:xfrm>
        </p:grpSpPr>
        <p:sp>
          <p:nvSpPr>
            <p:cNvPr id="59" name="Rectangle 59"/>
            <p:cNvSpPr/>
            <p:nvPr/>
          </p:nvSpPr>
          <p:spPr>
            <a:xfrm>
              <a:off x="762000" y="4810125"/>
              <a:ext cx="1905000" cy="533400"/>
            </a:xfrm>
            <a:prstGeom prst="rect">
              <a:avLst/>
            </a:prstGeom>
            <a:solidFill>
              <a:srgbClr val="0E2A47"/>
            </a:solidFill>
            <a:ln w="11430">
              <a:solidFill>
                <a:srgbClr val="3E7AB8"/>
              </a:solidFill>
              <a:custDash>
                <a:ds d="333333" sp="250000"/>
              </a:custDash>
            </a:ln>
          </p:spPr>
        </p:sp>
        <p:sp>
          <p:nvSpPr>
            <p:cNvPr id="60" name="Rectangle 60"/>
            <p:cNvSpPr/>
            <p:nvPr/>
          </p:nvSpPr>
          <p:spPr>
            <a:xfrm>
              <a:off x="762000" y="4810125"/>
              <a:ext cx="38100" cy="533400"/>
            </a:xfrm>
            <a:prstGeom prst="rect">
              <a:avLst/>
            </a:prstGeom>
            <a:solidFill>
              <a:srgbClr val="3E7AB8"/>
            </a:solidFill>
            <a:ln>
              <a:noFill/>
            </a:ln>
          </p:spPr>
        </p:sp>
        <p:sp>
          <p:nvSpPr>
            <p:cNvPr id="61" name="Freeform 61"/>
            <p:cNvSpPr/>
            <p:nvPr/>
          </p:nvSpPr>
          <p:spPr>
            <a:xfrm>
              <a:off x="933450" y="4997672"/>
              <a:ext cx="190500" cy="126816"/>
            </a:xfrm>
            <a:custGeom>
              <a:avLst/>
              <a:gdLst/>
              <a:ahLst/>
              <a:cxnLst/>
              <a:rect l="l" t="t" r="r" b="b"/>
              <a:pathLst>
                <a:path w="190500" h="126816">
                  <a:moveTo>
                    <a:pt x="44358" y="126778"/>
                  </a:moveTo>
                  <a:cubicBezTo>
                    <a:pt x="19860" y="126778"/>
                    <a:pt x="0" y="107661"/>
                    <a:pt x="0" y="84077"/>
                  </a:cubicBezTo>
                  <a:cubicBezTo>
                    <a:pt x="0" y="60503"/>
                    <a:pt x="19860" y="41386"/>
                    <a:pt x="44358" y="41386"/>
                  </a:cubicBezTo>
                  <a:cubicBezTo>
                    <a:pt x="48101" y="24603"/>
                    <a:pt x="61446" y="10906"/>
                    <a:pt x="79362" y="5448"/>
                  </a:cubicBezTo>
                  <a:cubicBezTo>
                    <a:pt x="97269" y="0"/>
                    <a:pt x="117043" y="3610"/>
                    <a:pt x="131216" y="14973"/>
                  </a:cubicBezTo>
                  <a:cubicBezTo>
                    <a:pt x="145390" y="26308"/>
                    <a:pt x="151809" y="43615"/>
                    <a:pt x="148076" y="60398"/>
                  </a:cubicBezTo>
                  <a:lnTo>
                    <a:pt x="157505" y="60398"/>
                  </a:lnTo>
                  <a:cubicBezTo>
                    <a:pt x="175727" y="60398"/>
                    <a:pt x="190500" y="75257"/>
                    <a:pt x="190500" y="93602"/>
                  </a:cubicBezTo>
                  <a:cubicBezTo>
                    <a:pt x="190500" y="111957"/>
                    <a:pt x="175727" y="126816"/>
                    <a:pt x="157496" y="126816"/>
                  </a:cubicBezTo>
                  <a:lnTo>
                    <a:pt x="44358" y="126816"/>
                  </a:lnTo>
                </a:path>
              </a:pathLst>
            </a:custGeom>
            <a:noFill/>
            <a:ln w="14288">
              <a:solidFill>
                <a:srgbClr val="3E7AB8"/>
              </a:solidFill>
            </a:ln>
          </p:spPr>
        </p:sp>
        <p:sp>
          <p:nvSpPr>
            <p:cNvPr id="62" name="TextBox 62"/>
            <p:cNvSpPr txBox="1"/>
            <p:nvPr/>
          </p:nvSpPr>
          <p:spPr>
            <a:xfrm>
              <a:off x="1227772" y="4959191"/>
              <a:ext cx="875762" cy="167640"/>
            </a:xfrm>
            <a:prstGeom prst="rect">
              <a:avLst/>
            </a:prstGeom>
            <a:noFill/>
            <a:ln>
              <a:noFill/>
            </a:ln>
          </p:spPr>
          <p:txBody>
            <a:bodyPr wrap="none" lIns="0" tIns="0" rIns="0" bIns="0" anchor="t" anchorCtr="0">
              <a:spAutoFit/>
            </a:bodyPr>
            <a:lstStyle/>
            <a:p>
              <a:pPr algn="l"/>
              <a:r>
                <a:rPr lang="zh-CN" sz="825" b="1" dirty="0">
                  <a:solidFill>
                    <a:srgbClr val="A0B8D0"/>
                  </a:solidFill>
                  <a:latin typeface="Consolas"/>
                  <a:ea typeface="Microsoft YaHei"/>
                  <a:cs typeface="Consolas"/>
                </a:rPr>
                <a:t>cloud-ctrl-mgr</a:t>
              </a:r>
            </a:p>
          </p:txBody>
        </p:sp>
        <p:sp>
          <p:nvSpPr>
            <p:cNvPr id="63" name="TextBox 63"/>
            <p:cNvSpPr txBox="1"/>
            <p:nvPr/>
          </p:nvSpPr>
          <p:spPr>
            <a:xfrm>
              <a:off x="1228725" y="5138738"/>
              <a:ext cx="999172" cy="152400"/>
            </a:xfrm>
            <a:prstGeom prst="rect">
              <a:avLst/>
            </a:prstGeom>
            <a:noFill/>
            <a:ln>
              <a:noFill/>
            </a:ln>
          </p:spPr>
          <p:txBody>
            <a:bodyPr wrap="none" lIns="0" tIns="0" rIns="0" bIns="0" anchor="t" anchorCtr="0">
              <a:spAutoFit/>
            </a:bodyPr>
            <a:lstStyle/>
            <a:p>
              <a:pPr algn="l"/>
              <a:r>
                <a:rPr lang="zh-CN" sz="750" dirty="0">
                  <a:solidFill>
                    <a:srgbClr val="6B85A3"/>
                  </a:solidFill>
                  <a:latin typeface="Arial"/>
                  <a:ea typeface="Microsoft YaHei"/>
                  <a:cs typeface="Arial"/>
                </a:rPr>
                <a:t>optional · cloud only</a:t>
              </a:r>
            </a:p>
          </p:txBody>
        </p:sp>
      </p:grpSp>
      <p:grpSp>
        <p:nvGrpSpPr>
          <p:cNvPr id="84" name="Group 84"/>
          <p:cNvGrpSpPr/>
          <p:nvPr/>
        </p:nvGrpSpPr>
        <p:grpSpPr>
          <a:xfrm>
            <a:off x="4381500" y="1714500"/>
            <a:ext cx="3429000" cy="3429000"/>
            <a:chOff x="4381500" y="1714500"/>
            <a:chExt cx="3429000" cy="3429000"/>
          </a:xfrm>
        </p:grpSpPr>
        <p:sp>
          <p:nvSpPr>
            <p:cNvPr id="65" name="Ellipse 65"/>
            <p:cNvSpPr/>
            <p:nvPr/>
          </p:nvSpPr>
          <p:spPr>
            <a:xfrm>
              <a:off x="4381500" y="1714500"/>
              <a:ext cx="3429000" cy="3429000"/>
            </a:xfrm>
            <a:prstGeom prst="ellipse">
              <a:avLst/>
            </a:prstGeom>
            <a:gradFill>
              <a:gsLst>
                <a:gs pos="0">
                  <a:srgbClr val="FFB627">
                    <a:alpha val="25000"/>
                  </a:srgbClr>
                </a:gs>
                <a:gs pos="100000">
                  <a:srgbClr val="FFB627">
                    <a:alpha val="0"/>
                  </a:srgbClr>
                </a:gs>
              </a:gsLst>
              <a:path path="circle">
                <a:fillToRect l="50000" t="50000" r="50000" b="50000"/>
              </a:path>
            </a:gradFill>
            <a:ln>
              <a:noFill/>
            </a:ln>
          </p:spPr>
        </p:sp>
        <p:sp>
          <p:nvSpPr>
            <p:cNvPr id="66" name="Rectangle 66"/>
            <p:cNvSpPr/>
            <p:nvPr/>
          </p:nvSpPr>
          <p:spPr>
            <a:xfrm>
              <a:off x="5143500" y="1714500"/>
              <a:ext cx="1905000" cy="3429000"/>
            </a:xfrm>
            <a:prstGeom prst="rect">
              <a:avLst/>
            </a:prstGeom>
            <a:solidFill>
              <a:srgbClr val="0E2A47"/>
            </a:solidFill>
            <a:ln w="19050">
              <a:solidFill>
                <a:srgbClr val="FFB627"/>
              </a:solidFill>
            </a:ln>
          </p:spPr>
        </p:sp>
        <p:sp>
          <p:nvSpPr>
            <p:cNvPr id="67" name="Rectangle 67"/>
            <p:cNvSpPr/>
            <p:nvPr/>
          </p:nvSpPr>
          <p:spPr>
            <a:xfrm>
              <a:off x="5143500" y="1714500"/>
              <a:ext cx="1905000" cy="342900"/>
            </a:xfrm>
            <a:prstGeom prst="rect">
              <a:avLst/>
            </a:prstGeom>
            <a:solidFill>
              <a:srgbClr val="FFB627"/>
            </a:solidFill>
            <a:ln>
              <a:noFill/>
            </a:ln>
          </p:spPr>
        </p:sp>
        <p:sp>
          <p:nvSpPr>
            <p:cNvPr id="68" name="TextBox 68"/>
            <p:cNvSpPr txBox="1"/>
            <p:nvPr/>
          </p:nvSpPr>
          <p:spPr>
            <a:xfrm>
              <a:off x="5873494" y="1845945"/>
              <a:ext cx="445013" cy="182880"/>
            </a:xfrm>
            <a:prstGeom prst="rect">
              <a:avLst/>
            </a:prstGeom>
            <a:noFill/>
            <a:ln>
              <a:noFill/>
            </a:ln>
          </p:spPr>
          <p:txBody>
            <a:bodyPr wrap="none" lIns="0" tIns="0" rIns="0" bIns="0" anchor="t" anchorCtr="0">
              <a:spAutoFit/>
            </a:bodyPr>
            <a:lstStyle/>
            <a:p>
              <a:pPr algn="ctr"/>
              <a:r>
                <a:rPr lang="zh-CN" sz="900" b="1" dirty="0">
                  <a:solidFill>
                    <a:srgbClr val="0E2A47"/>
                  </a:solidFill>
                  <a:latin typeface="Consolas"/>
                  <a:ea typeface="Microsoft YaHei"/>
                  <a:cs typeface="Consolas"/>
                </a:rPr>
                <a:t>★ SPINE</a:t>
              </a:r>
            </a:p>
          </p:txBody>
        </p:sp>
        <p:sp>
          <p:nvSpPr>
            <p:cNvPr id="69" name="TextBox 69"/>
            <p:cNvSpPr txBox="1"/>
            <p:nvPr/>
          </p:nvSpPr>
          <p:spPr>
            <a:xfrm>
              <a:off x="5454882" y="2204085"/>
              <a:ext cx="1282236" cy="243840"/>
            </a:xfrm>
            <a:prstGeom prst="rect">
              <a:avLst/>
            </a:prstGeom>
            <a:noFill/>
            <a:ln>
              <a:noFill/>
            </a:ln>
          </p:spPr>
          <p:txBody>
            <a:bodyPr wrap="none" lIns="0" tIns="0" rIns="0" bIns="0" anchor="t" anchorCtr="0">
              <a:spAutoFit/>
            </a:bodyPr>
            <a:lstStyle/>
            <a:p>
              <a:pPr algn="ctr"/>
              <a:r>
                <a:rPr lang="zh-CN" sz="1200" b="1" dirty="0">
                  <a:solidFill>
                    <a:srgbClr val="FFB627"/>
                  </a:solidFill>
                  <a:latin typeface="Consolas"/>
                  <a:ea typeface="Microsoft YaHei"/>
                  <a:cs typeface="Consolas"/>
                </a:rPr>
                <a:t>kube-apiserver</a:t>
              </a:r>
            </a:p>
          </p:txBody>
        </p:sp>
        <p:sp>
          <p:nvSpPr>
            <p:cNvPr id="70" name="Line 70"/>
            <p:cNvSpPr/>
            <p:nvPr/>
          </p:nvSpPr>
          <p:spPr>
            <a:xfrm>
              <a:off x="5334000" y="2505075"/>
              <a:ext cx="1524000" cy="9525"/>
            </a:xfrm>
            <a:custGeom>
              <a:avLst/>
              <a:gdLst/>
              <a:ahLst/>
              <a:cxnLst/>
              <a:rect l="l" t="t" r="r" b="b"/>
              <a:pathLst>
                <a:path w="1524000" h="9525">
                  <a:moveTo>
                    <a:pt x="0" y="0"/>
                  </a:moveTo>
                  <a:lnTo>
                    <a:pt x="1524000" y="0"/>
                  </a:lnTo>
                </a:path>
              </a:pathLst>
            </a:custGeom>
            <a:noFill/>
            <a:ln w="4762">
              <a:solidFill>
                <a:srgbClr val="FFB627"/>
              </a:solidFill>
            </a:ln>
          </p:spPr>
        </p:sp>
        <p:sp>
          <p:nvSpPr>
            <p:cNvPr id="71" name="TextBox 71"/>
            <p:cNvSpPr txBox="1"/>
            <p:nvPr/>
          </p:nvSpPr>
          <p:spPr>
            <a:xfrm>
              <a:off x="5601510" y="2665095"/>
              <a:ext cx="988981" cy="182880"/>
            </a:xfrm>
            <a:prstGeom prst="rect">
              <a:avLst/>
            </a:prstGeom>
            <a:noFill/>
            <a:ln>
              <a:noFill/>
            </a:ln>
          </p:spPr>
          <p:txBody>
            <a:bodyPr wrap="none" lIns="0" tIns="0" rIns="0" bIns="0" anchor="t" anchorCtr="0">
              <a:spAutoFit/>
            </a:bodyPr>
            <a:lstStyle/>
            <a:p>
              <a:pPr algn="ctr"/>
              <a:r>
                <a:rPr lang="zh-CN" sz="900" dirty="0">
                  <a:solidFill>
                    <a:srgbClr val="F0F4F8"/>
                  </a:solidFill>
                  <a:latin typeface="Arial"/>
                  <a:ea typeface="Microsoft YaHei"/>
                  <a:cs typeface="Arial"/>
                </a:rPr>
                <a:t>REST API surface</a:t>
              </a:r>
            </a:p>
          </p:txBody>
        </p:sp>
        <p:sp>
          <p:nvSpPr>
            <p:cNvPr id="72" name="TextBox 72"/>
            <p:cNvSpPr txBox="1"/>
            <p:nvPr/>
          </p:nvSpPr>
          <p:spPr>
            <a:xfrm>
              <a:off x="5672971" y="2863691"/>
              <a:ext cx="84605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authn / authz</a:t>
              </a:r>
            </a:p>
          </p:txBody>
        </p:sp>
        <p:sp>
          <p:nvSpPr>
            <p:cNvPr id="73" name="TextBox 73"/>
            <p:cNvSpPr txBox="1"/>
            <p:nvPr/>
          </p:nvSpPr>
          <p:spPr>
            <a:xfrm>
              <a:off x="5513451" y="3035141"/>
              <a:ext cx="1165098"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admission webhooks</a:t>
              </a:r>
            </a:p>
          </p:txBody>
        </p:sp>
        <p:sp>
          <p:nvSpPr>
            <p:cNvPr id="74" name="TextBox 74"/>
            <p:cNvSpPr txBox="1"/>
            <p:nvPr/>
          </p:nvSpPr>
          <p:spPr>
            <a:xfrm>
              <a:off x="5777484" y="3206591"/>
              <a:ext cx="637032"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validation</a:t>
              </a:r>
            </a:p>
          </p:txBody>
        </p:sp>
        <p:sp>
          <p:nvSpPr>
            <p:cNvPr id="75" name="TextBox 75"/>
            <p:cNvSpPr txBox="1"/>
            <p:nvPr/>
          </p:nvSpPr>
          <p:spPr>
            <a:xfrm>
              <a:off x="5799487" y="3378041"/>
              <a:ext cx="59302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 mutation</a:t>
              </a:r>
            </a:p>
          </p:txBody>
        </p:sp>
        <p:sp>
          <p:nvSpPr>
            <p:cNvPr id="76" name="Line 76"/>
            <p:cNvSpPr/>
            <p:nvPr/>
          </p:nvSpPr>
          <p:spPr>
            <a:xfrm>
              <a:off x="5334000" y="3619500"/>
              <a:ext cx="1524000" cy="9525"/>
            </a:xfrm>
            <a:custGeom>
              <a:avLst/>
              <a:gdLst/>
              <a:ahLst/>
              <a:cxnLst/>
              <a:rect l="l" t="t" r="r" b="b"/>
              <a:pathLst>
                <a:path w="1524000" h="9525">
                  <a:moveTo>
                    <a:pt x="0" y="0"/>
                  </a:moveTo>
                  <a:lnTo>
                    <a:pt x="1524000" y="0"/>
                  </a:lnTo>
                </a:path>
              </a:pathLst>
            </a:custGeom>
            <a:noFill/>
            <a:ln w="4762">
              <a:solidFill>
                <a:srgbClr val="FFB627"/>
              </a:solidFill>
            </a:ln>
          </p:spPr>
        </p:sp>
        <p:sp>
          <p:nvSpPr>
            <p:cNvPr id="77" name="TextBox 77"/>
            <p:cNvSpPr txBox="1"/>
            <p:nvPr/>
          </p:nvSpPr>
          <p:spPr>
            <a:xfrm>
              <a:off x="5579459" y="3778091"/>
              <a:ext cx="1033081" cy="167640"/>
            </a:xfrm>
            <a:prstGeom prst="rect">
              <a:avLst/>
            </a:prstGeom>
            <a:noFill/>
            <a:ln>
              <a:noFill/>
            </a:ln>
          </p:spPr>
          <p:txBody>
            <a:bodyPr wrap="none" lIns="0" tIns="0" rIns="0" bIns="0" anchor="t" anchorCtr="0">
              <a:spAutoFit/>
            </a:bodyPr>
            <a:lstStyle/>
            <a:p>
              <a:pPr algn="ctr"/>
              <a:r>
                <a:rPr lang="zh-CN" sz="825" dirty="0">
                  <a:solidFill>
                    <a:srgbClr val="FFB627"/>
                  </a:solidFill>
                  <a:latin typeface="Consolas"/>
                  <a:ea typeface="Microsoft YaHei"/>
                  <a:cs typeface="Consolas"/>
                </a:rPr>
                <a:t>scales horizontally</a:t>
              </a:r>
            </a:p>
          </p:txBody>
        </p:sp>
        <p:sp>
          <p:nvSpPr>
            <p:cNvPr id="78" name="TextBox 78"/>
            <p:cNvSpPr txBox="1"/>
            <p:nvPr/>
          </p:nvSpPr>
          <p:spPr>
            <a:xfrm>
              <a:off x="5562957" y="3949541"/>
              <a:ext cx="106608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N replicas behind LB</a:t>
              </a:r>
            </a:p>
          </p:txBody>
        </p:sp>
        <p:sp>
          <p:nvSpPr>
            <p:cNvPr id="79" name="Line 79"/>
            <p:cNvSpPr/>
            <p:nvPr/>
          </p:nvSpPr>
          <p:spPr>
            <a:xfrm>
              <a:off x="5334000" y="4238625"/>
              <a:ext cx="1524000" cy="9525"/>
            </a:xfrm>
            <a:custGeom>
              <a:avLst/>
              <a:gdLst/>
              <a:ahLst/>
              <a:cxnLst/>
              <a:rect l="l" t="t" r="r" b="b"/>
              <a:pathLst>
                <a:path w="1524000" h="9525">
                  <a:moveTo>
                    <a:pt x="0" y="0"/>
                  </a:moveTo>
                  <a:lnTo>
                    <a:pt x="1524000" y="0"/>
                  </a:lnTo>
                </a:path>
              </a:pathLst>
            </a:custGeom>
            <a:noFill/>
            <a:ln w="4762">
              <a:solidFill>
                <a:srgbClr val="FFB627"/>
              </a:solidFill>
            </a:ln>
          </p:spPr>
        </p:sp>
        <p:sp>
          <p:nvSpPr>
            <p:cNvPr id="80" name="TextBox 80"/>
            <p:cNvSpPr txBox="1"/>
            <p:nvPr/>
          </p:nvSpPr>
          <p:spPr>
            <a:xfrm>
              <a:off x="5628965" y="4397216"/>
              <a:ext cx="934069" cy="167640"/>
            </a:xfrm>
            <a:prstGeom prst="rect">
              <a:avLst/>
            </a:prstGeom>
            <a:noFill/>
            <a:ln>
              <a:noFill/>
            </a:ln>
          </p:spPr>
          <p:txBody>
            <a:bodyPr wrap="none" lIns="0" tIns="0" rIns="0" bIns="0" anchor="t" anchorCtr="0">
              <a:spAutoFit/>
            </a:bodyPr>
            <a:lstStyle/>
            <a:p>
              <a:pPr algn="ctr"/>
              <a:r>
                <a:rPr lang="zh-CN" sz="825" dirty="0">
                  <a:solidFill>
                    <a:srgbClr val="7FD99F"/>
                  </a:solidFill>
                  <a:latin typeface="Consolas"/>
                  <a:ea typeface="Microsoft YaHei"/>
                  <a:cs typeface="Consolas"/>
                </a:rPr>
                <a:t>watch · long-poll</a:t>
              </a:r>
            </a:p>
          </p:txBody>
        </p:sp>
        <p:sp>
          <p:nvSpPr>
            <p:cNvPr id="81" name="TextBox 81"/>
            <p:cNvSpPr txBox="1"/>
            <p:nvPr/>
          </p:nvSpPr>
          <p:spPr>
            <a:xfrm>
              <a:off x="5705975" y="4568666"/>
              <a:ext cx="780050" cy="167640"/>
            </a:xfrm>
            <a:prstGeom prst="rect">
              <a:avLst/>
            </a:prstGeom>
            <a:noFill/>
            <a:ln>
              <a:noFill/>
            </a:ln>
          </p:spPr>
          <p:txBody>
            <a:bodyPr wrap="none" lIns="0" tIns="0" rIns="0" bIns="0" anchor="t" anchorCtr="0">
              <a:spAutoFit/>
            </a:bodyPr>
            <a:lstStyle/>
            <a:p>
              <a:pPr algn="ctr"/>
              <a:r>
                <a:rPr lang="zh-CN" sz="825" dirty="0">
                  <a:solidFill>
                    <a:srgbClr val="7FD99F"/>
                  </a:solidFill>
                  <a:latin typeface="Consolas"/>
                  <a:ea typeface="Microsoft YaHei"/>
                  <a:cs typeface="Consolas"/>
                </a:rPr>
                <a:t>+ list streams</a:t>
              </a:r>
            </a:p>
          </p:txBody>
        </p:sp>
        <p:sp>
          <p:nvSpPr>
            <p:cNvPr id="82" name="TextBox 82"/>
            <p:cNvSpPr txBox="1"/>
            <p:nvPr/>
          </p:nvSpPr>
          <p:spPr>
            <a:xfrm>
              <a:off x="5458897" y="4805362"/>
              <a:ext cx="1274207" cy="152400"/>
            </a:xfrm>
            <a:prstGeom prst="rect">
              <a:avLst/>
            </a:prstGeom>
            <a:noFill/>
            <a:ln>
              <a:noFill/>
            </a:ln>
          </p:spPr>
          <p:txBody>
            <a:bodyPr wrap="none" lIns="0" tIns="0" rIns="0" bIns="0" anchor="t" anchorCtr="0">
              <a:spAutoFit/>
            </a:bodyPr>
            <a:lstStyle/>
            <a:p>
              <a:pPr algn="ctr"/>
              <a:r>
                <a:rPr lang="zh-CN" sz="750" dirty="0">
                  <a:solidFill>
                    <a:srgbClr val="6B85A3"/>
                  </a:solidFill>
                  <a:latin typeface="Arial"/>
                  <a:ea typeface="Microsoft YaHei"/>
                  <a:cs typeface="Arial"/>
                </a:rPr>
                <a:t>every component watches</a:t>
              </a:r>
            </a:p>
          </p:txBody>
        </p:sp>
        <p:sp>
          <p:nvSpPr>
            <p:cNvPr id="83" name="TextBox 83"/>
            <p:cNvSpPr txBox="1"/>
            <p:nvPr/>
          </p:nvSpPr>
          <p:spPr>
            <a:xfrm>
              <a:off x="5456396" y="4948238"/>
              <a:ext cx="1279208" cy="152400"/>
            </a:xfrm>
            <a:prstGeom prst="rect">
              <a:avLst/>
            </a:prstGeom>
            <a:noFill/>
            <a:ln>
              <a:noFill/>
            </a:ln>
          </p:spPr>
          <p:txBody>
            <a:bodyPr wrap="none" lIns="0" tIns="0" rIns="0" bIns="0" anchor="t" anchorCtr="0">
              <a:spAutoFit/>
            </a:bodyPr>
            <a:lstStyle/>
            <a:p>
              <a:pPr algn="ctr"/>
              <a:r>
                <a:rPr lang="zh-CN" sz="750" dirty="0">
                  <a:solidFill>
                    <a:srgbClr val="6B85A3"/>
                  </a:solidFill>
                  <a:latin typeface="Arial"/>
                  <a:ea typeface="Microsoft YaHei"/>
                  <a:cs typeface="Arial"/>
                </a:rPr>
                <a:t>to drive its reconcile loop</a:t>
              </a:r>
            </a:p>
          </p:txBody>
        </p:sp>
      </p:grpSp>
      <p:grpSp>
        <p:nvGrpSpPr>
          <p:cNvPr id="97" name="Group 97"/>
          <p:cNvGrpSpPr/>
          <p:nvPr/>
        </p:nvGrpSpPr>
        <p:grpSpPr>
          <a:xfrm>
            <a:off x="9525000" y="2762250"/>
            <a:ext cx="1905000" cy="1340644"/>
            <a:chOff x="9525000" y="2762250"/>
            <a:chExt cx="1905000" cy="1340644"/>
          </a:xfrm>
        </p:grpSpPr>
        <p:sp>
          <p:nvSpPr>
            <p:cNvPr id="85" name="Rectangle 85"/>
            <p:cNvSpPr/>
            <p:nvPr/>
          </p:nvSpPr>
          <p:spPr>
            <a:xfrm>
              <a:off x="9525000" y="2762250"/>
              <a:ext cx="1905000" cy="1333500"/>
            </a:xfrm>
            <a:prstGeom prst="rect">
              <a:avLst/>
            </a:prstGeom>
            <a:solidFill>
              <a:srgbClr val="0E2A47"/>
            </a:solidFill>
            <a:ln w="19050">
              <a:solidFill>
                <a:srgbClr val="FFB627"/>
              </a:solidFill>
            </a:ln>
          </p:spPr>
        </p:sp>
        <p:sp>
          <p:nvSpPr>
            <p:cNvPr id="86" name="Rectangle 86"/>
            <p:cNvSpPr/>
            <p:nvPr/>
          </p:nvSpPr>
          <p:spPr>
            <a:xfrm>
              <a:off x="9525000" y="2762250"/>
              <a:ext cx="1905000" cy="285750"/>
            </a:xfrm>
            <a:prstGeom prst="rect">
              <a:avLst/>
            </a:prstGeom>
            <a:solidFill>
              <a:srgbClr val="FFB627"/>
            </a:solidFill>
            <a:ln>
              <a:noFill/>
            </a:ln>
          </p:spPr>
        </p:sp>
        <p:sp>
          <p:nvSpPr>
            <p:cNvPr id="87" name="TextBox 87"/>
            <p:cNvSpPr txBox="1"/>
            <p:nvPr/>
          </p:nvSpPr>
          <p:spPr>
            <a:xfrm>
              <a:off x="10077161" y="2863691"/>
              <a:ext cx="800677" cy="167640"/>
            </a:xfrm>
            <a:prstGeom prst="rect">
              <a:avLst/>
            </a:prstGeom>
            <a:noFill/>
            <a:ln>
              <a:noFill/>
            </a:ln>
          </p:spPr>
          <p:txBody>
            <a:bodyPr wrap="none" lIns="0" tIns="0" rIns="0" bIns="0" anchor="t" anchorCtr="0">
              <a:spAutoFit/>
            </a:bodyPr>
            <a:lstStyle/>
            <a:p>
              <a:pPr algn="ctr"/>
              <a:r>
                <a:rPr lang="zh-CN" sz="825" b="1" dirty="0">
                  <a:solidFill>
                    <a:srgbClr val="0E2A47"/>
                  </a:solidFill>
                  <a:latin typeface="Consolas"/>
                  <a:ea typeface="Microsoft YaHei"/>
                  <a:cs typeface="Consolas"/>
                </a:rPr>
                <a:t>SOLE STORAGE</a:t>
              </a:r>
            </a:p>
          </p:txBody>
        </p:sp>
        <p:grpSp>
          <p:nvGrpSpPr>
            <p:cNvPr id="91" name="Group 91"/>
            <p:cNvGrpSpPr/>
            <p:nvPr/>
          </p:nvGrpSpPr>
          <p:grpSpPr>
            <a:xfrm>
              <a:off x="9750425" y="3231356"/>
              <a:ext cx="215900" cy="242888"/>
              <a:chOff x="9750425" y="3231356"/>
              <a:chExt cx="215900" cy="242888"/>
            </a:xfrm>
          </p:grpSpPr>
          <p:sp>
            <p:nvSpPr>
              <p:cNvPr id="88" name="Freeform 88"/>
              <p:cNvSpPr/>
              <p:nvPr/>
            </p:nvSpPr>
            <p:spPr>
              <a:xfrm>
                <a:off x="9750425" y="3231356"/>
                <a:ext cx="215900" cy="80962"/>
              </a:xfrm>
              <a:custGeom>
                <a:avLst/>
                <a:gdLst/>
                <a:ahLst/>
                <a:cxnLst/>
                <a:rect l="l" t="t" r="r" b="b"/>
                <a:pathLst>
                  <a:path w="215900" h="80962">
                    <a:moveTo>
                      <a:pt x="0" y="40481"/>
                    </a:moveTo>
                    <a:cubicBezTo>
                      <a:pt x="0" y="62838"/>
                      <a:pt x="48331" y="80962"/>
                      <a:pt x="107950" y="80962"/>
                    </a:cubicBezTo>
                    <a:cubicBezTo>
                      <a:pt x="167569" y="80962"/>
                      <a:pt x="215900" y="62838"/>
                      <a:pt x="215900" y="40481"/>
                    </a:cubicBezTo>
                    <a:cubicBezTo>
                      <a:pt x="215900" y="18124"/>
                      <a:pt x="167569" y="0"/>
                      <a:pt x="107950" y="0"/>
                    </a:cubicBezTo>
                    <a:cubicBezTo>
                      <a:pt x="48331" y="0"/>
                      <a:pt x="0" y="18124"/>
                      <a:pt x="0" y="40481"/>
                    </a:cubicBezTo>
                  </a:path>
                </a:pathLst>
              </a:custGeom>
              <a:noFill/>
              <a:ln w="14288">
                <a:solidFill>
                  <a:srgbClr val="FFB627"/>
                </a:solidFill>
              </a:ln>
            </p:spPr>
          </p:sp>
          <p:sp>
            <p:nvSpPr>
              <p:cNvPr id="89" name="Freeform 89"/>
              <p:cNvSpPr/>
              <p:nvPr/>
            </p:nvSpPr>
            <p:spPr>
              <a:xfrm>
                <a:off x="9750425" y="3271838"/>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4288">
                <a:solidFill>
                  <a:srgbClr val="FFB627"/>
                </a:solidFill>
              </a:ln>
            </p:spPr>
          </p:sp>
          <p:sp>
            <p:nvSpPr>
              <p:cNvPr id="90" name="Freeform 90"/>
              <p:cNvSpPr/>
              <p:nvPr/>
            </p:nvSpPr>
            <p:spPr>
              <a:xfrm>
                <a:off x="9750425" y="3352800"/>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4288">
                <a:solidFill>
                  <a:srgbClr val="FFB627"/>
                </a:solidFill>
              </a:ln>
            </p:spPr>
          </p:sp>
        </p:grpSp>
        <p:sp>
          <p:nvSpPr>
            <p:cNvPr id="92" name="TextBox 92"/>
            <p:cNvSpPr txBox="1"/>
            <p:nvPr/>
          </p:nvSpPr>
          <p:spPr>
            <a:xfrm>
              <a:off x="10277437" y="3280410"/>
              <a:ext cx="400126" cy="243840"/>
            </a:xfrm>
            <a:prstGeom prst="rect">
              <a:avLst/>
            </a:prstGeom>
            <a:noFill/>
            <a:ln>
              <a:noFill/>
            </a:ln>
          </p:spPr>
          <p:txBody>
            <a:bodyPr wrap="none" lIns="0" tIns="0" rIns="0" bIns="0" anchor="t" anchorCtr="0">
              <a:spAutoFit/>
            </a:bodyPr>
            <a:lstStyle/>
            <a:p>
              <a:pPr algn="ctr"/>
              <a:r>
                <a:rPr lang="zh-CN" sz="1200" b="1" dirty="0">
                  <a:solidFill>
                    <a:srgbClr val="FFB627"/>
                  </a:solidFill>
                  <a:latin typeface="Consolas"/>
                  <a:ea typeface="Microsoft YaHei"/>
                  <a:cs typeface="Consolas"/>
                </a:rPr>
                <a:t>etcd</a:t>
              </a:r>
            </a:p>
          </p:txBody>
        </p:sp>
        <p:sp>
          <p:nvSpPr>
            <p:cNvPr id="93" name="TextBox 93"/>
            <p:cNvSpPr txBox="1"/>
            <p:nvPr/>
          </p:nvSpPr>
          <p:spPr>
            <a:xfrm>
              <a:off x="10024217" y="3530441"/>
              <a:ext cx="906566" cy="167640"/>
            </a:xfrm>
            <a:prstGeom prst="rect">
              <a:avLst/>
            </a:prstGeom>
            <a:noFill/>
            <a:ln>
              <a:noFill/>
            </a:ln>
          </p:spPr>
          <p:txBody>
            <a:bodyPr wrap="none" lIns="0" tIns="0" rIns="0" bIns="0" anchor="t" anchorCtr="0">
              <a:spAutoFit/>
            </a:bodyPr>
            <a:lstStyle/>
            <a:p>
              <a:pPr algn="ctr"/>
              <a:r>
                <a:rPr lang="zh-CN" sz="825" dirty="0">
                  <a:solidFill>
                    <a:srgbClr val="F0F4F8"/>
                  </a:solidFill>
                  <a:latin typeface="Arial"/>
                  <a:ea typeface="Microsoft YaHei"/>
                  <a:cs typeface="Arial"/>
                </a:rPr>
                <a:t>Raft K/V cluster</a:t>
              </a:r>
            </a:p>
          </p:txBody>
        </p:sp>
        <p:sp>
          <p:nvSpPr>
            <p:cNvPr id="94" name="TextBox 94"/>
            <p:cNvSpPr txBox="1"/>
            <p:nvPr/>
          </p:nvSpPr>
          <p:spPr>
            <a:xfrm>
              <a:off x="10021467" y="3701891"/>
              <a:ext cx="912066" cy="167640"/>
            </a:xfrm>
            <a:prstGeom prst="rect">
              <a:avLst/>
            </a:prstGeom>
            <a:noFill/>
            <a:ln>
              <a:noFill/>
            </a:ln>
          </p:spPr>
          <p:txBody>
            <a:bodyPr wrap="none" lIns="0" tIns="0" rIns="0" bIns="0" anchor="t" anchorCtr="0">
              <a:spAutoFit/>
            </a:bodyPr>
            <a:lstStyle/>
            <a:p>
              <a:pPr algn="ctr"/>
              <a:r>
                <a:rPr lang="zh-CN" sz="825" dirty="0">
                  <a:solidFill>
                    <a:srgbClr val="A0B8D0"/>
                  </a:solidFill>
                  <a:latin typeface="Arial"/>
                  <a:ea typeface="Microsoft YaHei"/>
                  <a:cs typeface="Arial"/>
                </a:rPr>
                <a:t>all cluster state</a:t>
              </a:r>
            </a:p>
          </p:txBody>
        </p:sp>
        <p:sp>
          <p:nvSpPr>
            <p:cNvPr id="95" name="Line 95"/>
            <p:cNvSpPr/>
            <p:nvPr/>
          </p:nvSpPr>
          <p:spPr>
            <a:xfrm>
              <a:off x="9696450" y="3905250"/>
              <a:ext cx="1562100" cy="9525"/>
            </a:xfrm>
            <a:custGeom>
              <a:avLst/>
              <a:gdLst/>
              <a:ahLst/>
              <a:cxnLst/>
              <a:rect l="l" t="t" r="r" b="b"/>
              <a:pathLst>
                <a:path w="1562100" h="9525">
                  <a:moveTo>
                    <a:pt x="0" y="0"/>
                  </a:moveTo>
                  <a:lnTo>
                    <a:pt x="1562100" y="0"/>
                  </a:lnTo>
                </a:path>
              </a:pathLst>
            </a:custGeom>
            <a:noFill/>
            <a:ln w="3810">
              <a:solidFill>
                <a:srgbClr val="FFB627"/>
              </a:solidFill>
            </a:ln>
          </p:spPr>
        </p:sp>
        <p:sp>
          <p:nvSpPr>
            <p:cNvPr id="96" name="TextBox 96"/>
            <p:cNvSpPr txBox="1"/>
            <p:nvPr/>
          </p:nvSpPr>
          <p:spPr>
            <a:xfrm>
              <a:off x="10012120" y="3965734"/>
              <a:ext cx="930759"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Consolas"/>
                  <a:ea typeface="Microsoft YaHei"/>
                  <a:cs typeface="Consolas"/>
                </a:rPr>
                <a:t>3 or 5 members · odd</a:t>
              </a:r>
            </a:p>
          </p:txBody>
        </p:sp>
      </p:grpSp>
      <p:grpSp>
        <p:nvGrpSpPr>
          <p:cNvPr id="118" name="Group 118"/>
          <p:cNvGrpSpPr/>
          <p:nvPr/>
        </p:nvGrpSpPr>
        <p:grpSpPr>
          <a:xfrm>
            <a:off x="2667000" y="1574959"/>
            <a:ext cx="6858000" cy="3501866"/>
            <a:chOff x="2667000" y="1574959"/>
            <a:chExt cx="6858000" cy="3501866"/>
          </a:xfrm>
        </p:grpSpPr>
        <p:sp>
          <p:nvSpPr>
            <p:cNvPr id="98" name="Line 98"/>
            <p:cNvSpPr/>
            <p:nvPr/>
          </p:nvSpPr>
          <p:spPr>
            <a:xfrm>
              <a:off x="2667000" y="1743075"/>
              <a:ext cx="2476500" cy="333375"/>
            </a:xfrm>
            <a:prstGeom prst="line">
              <a:avLst/>
            </a:prstGeom>
            <a:noFill/>
            <a:ln w="14288">
              <a:solidFill>
                <a:srgbClr val="5BA3E0"/>
              </a:solidFill>
              <a:tailEnd type="triangle" w="lg" len="lg"/>
            </a:ln>
          </p:spPr>
        </p:sp>
        <p:sp>
          <p:nvSpPr>
            <p:cNvPr id="99" name="TextBox 99"/>
            <p:cNvSpPr txBox="1"/>
            <p:nvPr/>
          </p:nvSpPr>
          <p:spPr>
            <a:xfrm>
              <a:off x="2801302" y="1574959"/>
              <a:ext cx="485204"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POST · PUT</a:t>
              </a:r>
            </a:p>
          </p:txBody>
        </p:sp>
        <p:sp>
          <p:nvSpPr>
            <p:cNvPr id="100" name="Line 100"/>
            <p:cNvSpPr/>
            <p:nvPr/>
          </p:nvSpPr>
          <p:spPr>
            <a:xfrm>
              <a:off x="2667000" y="2409825"/>
              <a:ext cx="2476500" cy="95250"/>
            </a:xfrm>
            <a:prstGeom prst="line">
              <a:avLst/>
            </a:prstGeom>
            <a:noFill/>
            <a:ln w="14288">
              <a:solidFill>
                <a:srgbClr val="5BA3E0"/>
              </a:solidFill>
              <a:tailEnd type="triangle" w="lg" len="lg"/>
            </a:ln>
          </p:spPr>
        </p:sp>
        <p:sp>
          <p:nvSpPr>
            <p:cNvPr id="101" name="TextBox 101"/>
            <p:cNvSpPr txBox="1"/>
            <p:nvPr/>
          </p:nvSpPr>
          <p:spPr>
            <a:xfrm>
              <a:off x="2896552" y="2251234"/>
              <a:ext cx="831747"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unscheduled</a:t>
              </a:r>
            </a:p>
          </p:txBody>
        </p:sp>
        <p:sp>
          <p:nvSpPr>
            <p:cNvPr id="102" name="Line 102"/>
            <p:cNvSpPr/>
            <p:nvPr/>
          </p:nvSpPr>
          <p:spPr>
            <a:xfrm flipH="1" flipV="1">
              <a:off x="2667000" y="2571750"/>
              <a:ext cx="2476500" cy="190500"/>
            </a:xfrm>
            <a:prstGeom prst="line">
              <a:avLst/>
            </a:prstGeom>
            <a:noFill/>
            <a:ln w="11430">
              <a:solidFill>
                <a:srgbClr val="7FD99F"/>
              </a:solidFill>
              <a:tailEnd type="triangle" w="lg" len="lg"/>
            </a:ln>
          </p:spPr>
        </p:sp>
        <p:sp>
          <p:nvSpPr>
            <p:cNvPr id="103" name="TextBox 103"/>
            <p:cNvSpPr txBox="1"/>
            <p:nvPr/>
          </p:nvSpPr>
          <p:spPr>
            <a:xfrm>
              <a:off x="3210878" y="2641759"/>
              <a:ext cx="570714" cy="137160"/>
            </a:xfrm>
            <a:prstGeom prst="rect">
              <a:avLst/>
            </a:prstGeom>
            <a:noFill/>
            <a:ln>
              <a:noFill/>
            </a:ln>
          </p:spPr>
          <p:txBody>
            <a:bodyPr wrap="none" lIns="0" tIns="0" rIns="0" bIns="0" anchor="t" anchorCtr="0">
              <a:spAutoFit/>
            </a:bodyPr>
            <a:lstStyle/>
            <a:p>
              <a:pPr algn="l"/>
              <a:r>
                <a:rPr lang="zh-CN" sz="675" dirty="0">
                  <a:solidFill>
                    <a:srgbClr val="7FD99F"/>
                  </a:solidFill>
                  <a:latin typeface="Consolas"/>
                  <a:ea typeface="Microsoft YaHei"/>
                  <a:cs typeface="Consolas"/>
                </a:rPr>
                <a:t>bind decision</a:t>
              </a:r>
            </a:p>
          </p:txBody>
        </p:sp>
        <p:sp>
          <p:nvSpPr>
            <p:cNvPr id="104" name="Line 104"/>
            <p:cNvSpPr/>
            <p:nvPr/>
          </p:nvSpPr>
          <p:spPr>
            <a:xfrm>
              <a:off x="2667000" y="3076575"/>
              <a:ext cx="2476500" cy="95250"/>
            </a:xfrm>
            <a:prstGeom prst="line">
              <a:avLst/>
            </a:prstGeom>
            <a:noFill/>
            <a:ln w="14288">
              <a:solidFill>
                <a:srgbClr val="5BA3E0"/>
              </a:solidFill>
              <a:tailEnd type="triangle" w="lg" len="lg"/>
            </a:ln>
          </p:spPr>
        </p:sp>
        <p:sp>
          <p:nvSpPr>
            <p:cNvPr id="105" name="TextBox 105"/>
            <p:cNvSpPr txBox="1"/>
            <p:nvPr/>
          </p:nvSpPr>
          <p:spPr>
            <a:xfrm>
              <a:off x="3039428" y="2937034"/>
              <a:ext cx="633722"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 patch</a:t>
              </a:r>
            </a:p>
          </p:txBody>
        </p:sp>
        <p:sp>
          <p:nvSpPr>
            <p:cNvPr id="106" name="Line 106"/>
            <p:cNvSpPr/>
            <p:nvPr/>
          </p:nvSpPr>
          <p:spPr>
            <a:xfrm>
              <a:off x="2667000" y="3743325"/>
              <a:ext cx="2476500" cy="95250"/>
            </a:xfrm>
            <a:prstGeom prst="line">
              <a:avLst/>
            </a:prstGeom>
            <a:noFill/>
            <a:ln w="14288">
              <a:solidFill>
                <a:srgbClr val="5BA3E0"/>
              </a:solidFill>
              <a:tailEnd type="triangle" w="lg" len="lg"/>
            </a:ln>
          </p:spPr>
        </p:sp>
        <p:sp>
          <p:nvSpPr>
            <p:cNvPr id="107" name="TextBox 107"/>
            <p:cNvSpPr txBox="1"/>
            <p:nvPr/>
          </p:nvSpPr>
          <p:spPr>
            <a:xfrm>
              <a:off x="3039428" y="3603784"/>
              <a:ext cx="755237"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pods/node</a:t>
              </a:r>
            </a:p>
          </p:txBody>
        </p:sp>
        <p:sp>
          <p:nvSpPr>
            <p:cNvPr id="108" name="Line 108"/>
            <p:cNvSpPr/>
            <p:nvPr/>
          </p:nvSpPr>
          <p:spPr>
            <a:xfrm flipH="1" flipV="1">
              <a:off x="2667000" y="4000500"/>
              <a:ext cx="2476500" cy="47625"/>
            </a:xfrm>
            <a:prstGeom prst="line">
              <a:avLst/>
            </a:prstGeom>
            <a:noFill/>
            <a:ln w="11430">
              <a:solidFill>
                <a:srgbClr val="7FD99F"/>
              </a:solidFill>
              <a:tailEnd type="triangle" w="lg" len="lg"/>
            </a:ln>
          </p:spPr>
        </p:sp>
        <p:sp>
          <p:nvSpPr>
            <p:cNvPr id="109" name="TextBox 109"/>
            <p:cNvSpPr txBox="1"/>
            <p:nvPr/>
          </p:nvSpPr>
          <p:spPr>
            <a:xfrm>
              <a:off x="3610928" y="3908584"/>
              <a:ext cx="638223" cy="137160"/>
            </a:xfrm>
            <a:prstGeom prst="rect">
              <a:avLst/>
            </a:prstGeom>
            <a:noFill/>
            <a:ln>
              <a:noFill/>
            </a:ln>
          </p:spPr>
          <p:txBody>
            <a:bodyPr wrap="none" lIns="0" tIns="0" rIns="0" bIns="0" anchor="t" anchorCtr="0">
              <a:spAutoFit/>
            </a:bodyPr>
            <a:lstStyle/>
            <a:p>
              <a:pPr algn="l"/>
              <a:r>
                <a:rPr lang="zh-CN" sz="675" dirty="0">
                  <a:solidFill>
                    <a:srgbClr val="7FD99F"/>
                  </a:solidFill>
                  <a:latin typeface="Consolas"/>
                  <a:ea typeface="Microsoft YaHei"/>
                  <a:cs typeface="Consolas"/>
                </a:rPr>
                <a:t>report status</a:t>
              </a:r>
            </a:p>
          </p:txBody>
        </p:sp>
        <p:sp>
          <p:nvSpPr>
            <p:cNvPr id="110" name="Line 110"/>
            <p:cNvSpPr/>
            <p:nvPr/>
          </p:nvSpPr>
          <p:spPr>
            <a:xfrm>
              <a:off x="2667000" y="4410075"/>
              <a:ext cx="2476500" cy="114300"/>
            </a:xfrm>
            <a:prstGeom prst="line">
              <a:avLst/>
            </a:prstGeom>
            <a:noFill/>
            <a:ln w="14288">
              <a:solidFill>
                <a:srgbClr val="5BA3E0"/>
              </a:solidFill>
              <a:tailEnd type="triangle" w="lg" len="lg"/>
            </a:ln>
          </p:spPr>
        </p:sp>
        <p:sp>
          <p:nvSpPr>
            <p:cNvPr id="111" name="TextBox 111"/>
            <p:cNvSpPr txBox="1"/>
            <p:nvPr/>
          </p:nvSpPr>
          <p:spPr>
            <a:xfrm>
              <a:off x="3020378" y="4270534"/>
              <a:ext cx="683228" cy="137160"/>
            </a:xfrm>
            <a:prstGeom prst="rect">
              <a:avLst/>
            </a:prstGeom>
            <a:noFill/>
            <a:ln>
              <a:noFill/>
            </a:ln>
          </p:spPr>
          <p:txBody>
            <a:bodyPr wrap="none" lIns="0" tIns="0" rIns="0" bIns="0" anchor="t" anchorCtr="0">
              <a:spAutoFit/>
            </a:bodyPr>
            <a:lstStyle/>
            <a:p>
              <a:pPr algn="l"/>
              <a:r>
                <a:rPr lang="zh-CN" sz="675" dirty="0">
                  <a:solidFill>
                    <a:srgbClr val="A0B8D0"/>
                  </a:solidFill>
                  <a:latin typeface="Consolas"/>
                  <a:ea typeface="Microsoft YaHei"/>
                  <a:cs typeface="Consolas"/>
                </a:rPr>
                <a:t>watch services</a:t>
              </a:r>
            </a:p>
          </p:txBody>
        </p:sp>
        <p:sp>
          <p:nvSpPr>
            <p:cNvPr id="112" name="Line 112"/>
            <p:cNvSpPr/>
            <p:nvPr/>
          </p:nvSpPr>
          <p:spPr>
            <a:xfrm flipV="1">
              <a:off x="2667000" y="4857750"/>
              <a:ext cx="2476500" cy="219075"/>
            </a:xfrm>
            <a:prstGeom prst="line">
              <a:avLst/>
            </a:prstGeom>
            <a:noFill/>
            <a:ln w="11430">
              <a:solidFill>
                <a:srgbClr val="3E7AB8"/>
              </a:solidFill>
              <a:custDash>
                <a:ds d="333333" sp="250000"/>
              </a:custDash>
              <a:tailEnd type="triangle" w="lg" len="lg"/>
            </a:ln>
          </p:spPr>
        </p:sp>
        <p:sp>
          <p:nvSpPr>
            <p:cNvPr id="113" name="TextBox 113"/>
            <p:cNvSpPr txBox="1"/>
            <p:nvPr/>
          </p:nvSpPr>
          <p:spPr>
            <a:xfrm>
              <a:off x="3039428" y="4908709"/>
              <a:ext cx="944261" cy="137160"/>
            </a:xfrm>
            <a:prstGeom prst="rect">
              <a:avLst/>
            </a:prstGeom>
            <a:noFill/>
            <a:ln>
              <a:noFill/>
            </a:ln>
          </p:spPr>
          <p:txBody>
            <a:bodyPr wrap="none" lIns="0" tIns="0" rIns="0" bIns="0" anchor="t" anchorCtr="0">
              <a:spAutoFit/>
            </a:bodyPr>
            <a:lstStyle/>
            <a:p>
              <a:pPr algn="l"/>
              <a:r>
                <a:rPr lang="zh-CN" sz="675" dirty="0">
                  <a:solidFill>
                    <a:srgbClr val="3E7AB8"/>
                  </a:solidFill>
                  <a:latin typeface="Consolas"/>
                  <a:ea typeface="Microsoft YaHei"/>
                  <a:cs typeface="Consolas"/>
                </a:rPr>
                <a:t>cloud sync (optional)</a:t>
              </a:r>
            </a:p>
          </p:txBody>
        </p:sp>
        <p:sp>
          <p:nvSpPr>
            <p:cNvPr id="114" name="Line 114"/>
            <p:cNvSpPr/>
            <p:nvPr/>
          </p:nvSpPr>
          <p:spPr>
            <a:xfrm>
              <a:off x="7048500" y="3286125"/>
              <a:ext cx="2476500" cy="1"/>
            </a:xfrm>
            <a:prstGeom prst="line">
              <a:avLst/>
            </a:prstGeom>
            <a:noFill/>
            <a:ln w="19050">
              <a:solidFill>
                <a:srgbClr val="FFB627"/>
              </a:solidFill>
              <a:tailEnd type="triangle" w="lg" len="lg"/>
            </a:ln>
          </p:spPr>
        </p:sp>
        <p:sp>
          <p:nvSpPr>
            <p:cNvPr id="115" name="Line 115"/>
            <p:cNvSpPr/>
            <p:nvPr/>
          </p:nvSpPr>
          <p:spPr>
            <a:xfrm flipH="1">
              <a:off x="7048500" y="3571875"/>
              <a:ext cx="2476500" cy="1"/>
            </a:xfrm>
            <a:prstGeom prst="line">
              <a:avLst/>
            </a:prstGeom>
            <a:noFill/>
            <a:ln w="19050">
              <a:solidFill>
                <a:srgbClr val="FFB627"/>
              </a:solidFill>
              <a:tailEnd type="triangle" w="lg" len="lg"/>
            </a:ln>
          </p:spPr>
        </p:sp>
        <p:sp>
          <p:nvSpPr>
            <p:cNvPr id="116" name="TextBox 116"/>
            <p:cNvSpPr txBox="1"/>
            <p:nvPr/>
          </p:nvSpPr>
          <p:spPr>
            <a:xfrm>
              <a:off x="7959560" y="3109912"/>
              <a:ext cx="654379" cy="152400"/>
            </a:xfrm>
            <a:prstGeom prst="rect">
              <a:avLst/>
            </a:prstGeom>
            <a:noFill/>
            <a:ln>
              <a:noFill/>
            </a:ln>
          </p:spPr>
          <p:txBody>
            <a:bodyPr wrap="none" lIns="0" tIns="0" rIns="0" bIns="0" anchor="t" anchorCtr="0">
              <a:spAutoFit/>
            </a:bodyPr>
            <a:lstStyle/>
            <a:p>
              <a:pPr algn="ctr"/>
              <a:r>
                <a:rPr lang="zh-CN" sz="750" b="1" dirty="0">
                  <a:solidFill>
                    <a:srgbClr val="FFB627"/>
                  </a:solidFill>
                  <a:latin typeface="Consolas"/>
                  <a:ea typeface="Microsoft YaHei"/>
                  <a:cs typeface="Consolas"/>
                </a:rPr>
                <a:t>gRPC · write</a:t>
              </a:r>
            </a:p>
          </p:txBody>
        </p:sp>
        <p:sp>
          <p:nvSpPr>
            <p:cNvPr id="117" name="TextBox 117"/>
            <p:cNvSpPr txBox="1"/>
            <p:nvPr/>
          </p:nvSpPr>
          <p:spPr>
            <a:xfrm>
              <a:off x="7985814" y="3681412"/>
              <a:ext cx="601873" cy="152400"/>
            </a:xfrm>
            <a:prstGeom prst="rect">
              <a:avLst/>
            </a:prstGeom>
            <a:noFill/>
            <a:ln>
              <a:noFill/>
            </a:ln>
          </p:spPr>
          <p:txBody>
            <a:bodyPr wrap="none" lIns="0" tIns="0" rIns="0" bIns="0" anchor="t" anchorCtr="0">
              <a:spAutoFit/>
            </a:bodyPr>
            <a:lstStyle/>
            <a:p>
              <a:pPr algn="ctr"/>
              <a:r>
                <a:rPr lang="zh-CN" sz="750" b="1" dirty="0">
                  <a:solidFill>
                    <a:srgbClr val="FFB627"/>
                  </a:solidFill>
                  <a:latin typeface="Consolas"/>
                  <a:ea typeface="Microsoft YaHei"/>
                  <a:cs typeface="Consolas"/>
                </a:rPr>
                <a:t>gRPC · read</a:t>
              </a:r>
            </a:p>
          </p:txBody>
        </p:sp>
      </p:grpSp>
      <p:grpSp>
        <p:nvGrpSpPr>
          <p:cNvPr id="127" name="Group 127"/>
          <p:cNvGrpSpPr/>
          <p:nvPr/>
        </p:nvGrpSpPr>
        <p:grpSpPr>
          <a:xfrm>
            <a:off x="571500" y="5600700"/>
            <a:ext cx="11049000" cy="733425"/>
            <a:chOff x="571500" y="5600700"/>
            <a:chExt cx="11049000" cy="733425"/>
          </a:xfrm>
        </p:grpSpPr>
        <p:sp>
          <p:nvSpPr>
            <p:cNvPr id="119" name="Rectangle 119"/>
            <p:cNvSpPr/>
            <p:nvPr/>
          </p:nvSpPr>
          <p:spPr>
            <a:xfrm>
              <a:off x="571500" y="5600700"/>
              <a:ext cx="11049000" cy="704850"/>
            </a:xfrm>
            <a:prstGeom prst="rect">
              <a:avLst/>
            </a:prstGeom>
            <a:solidFill>
              <a:srgbClr val="1A3A5C">
                <a:alpha val="60000"/>
              </a:srgbClr>
            </a:solidFill>
            <a:ln w="9525">
              <a:solidFill>
                <a:srgbClr val="FFB627"/>
              </a:solidFill>
            </a:ln>
          </p:spPr>
        </p:sp>
        <p:grpSp>
          <p:nvGrpSpPr>
            <p:cNvPr id="123" name="Group 123"/>
            <p:cNvGrpSpPr/>
            <p:nvPr/>
          </p:nvGrpSpPr>
          <p:grpSpPr>
            <a:xfrm>
              <a:off x="762000" y="5829300"/>
              <a:ext cx="228600" cy="228600"/>
              <a:chOff x="762000" y="5829300"/>
              <a:chExt cx="228600" cy="228600"/>
            </a:xfrm>
          </p:grpSpPr>
          <p:sp>
            <p:nvSpPr>
              <p:cNvPr id="120" name="Freeform 120"/>
              <p:cNvSpPr/>
              <p:nvPr/>
            </p:nvSpPr>
            <p:spPr>
              <a:xfrm>
                <a:off x="762000" y="6007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4288">
                <a:solidFill>
                  <a:srgbClr val="FFB627"/>
                </a:solidFill>
              </a:ln>
            </p:spPr>
          </p:sp>
          <p:sp>
            <p:nvSpPr>
              <p:cNvPr id="121" name="Freeform 121"/>
              <p:cNvSpPr/>
              <p:nvPr/>
            </p:nvSpPr>
            <p:spPr>
              <a:xfrm>
                <a:off x="939800" y="58293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14288">
                <a:solidFill>
                  <a:srgbClr val="FFB627"/>
                </a:solidFill>
              </a:ln>
            </p:spPr>
          </p:sp>
          <p:sp>
            <p:nvSpPr>
              <p:cNvPr id="122" name="Freeform 122"/>
              <p:cNvSpPr/>
              <p:nvPr/>
            </p:nvSpPr>
            <p:spPr>
              <a:xfrm>
                <a:off x="787400" y="58547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14288">
                <a:solidFill>
                  <a:srgbClr val="FFB627"/>
                </a:solidFill>
              </a:ln>
            </p:spPr>
          </p:sp>
        </p:grpSp>
        <p:sp>
          <p:nvSpPr>
            <p:cNvPr id="124" name="TextBox 124"/>
            <p:cNvSpPr txBox="1"/>
            <p:nvPr/>
          </p:nvSpPr>
          <p:spPr>
            <a:xfrm>
              <a:off x="1130618" y="5752624"/>
              <a:ext cx="1178334" cy="198120"/>
            </a:xfrm>
            <a:prstGeom prst="rect">
              <a:avLst/>
            </a:prstGeom>
            <a:noFill/>
            <a:ln>
              <a:noFill/>
            </a:ln>
          </p:spPr>
          <p:txBody>
            <a:bodyPr wrap="none" lIns="0" tIns="0" rIns="0" bIns="0" anchor="t" anchorCtr="0">
              <a:spAutoFit/>
            </a:bodyPr>
            <a:lstStyle/>
            <a:p>
              <a:pPr algn="l"/>
              <a:r>
                <a:rPr lang="zh-CN" sz="975" b="1" dirty="0">
                  <a:solidFill>
                    <a:srgbClr val="FFB627"/>
                  </a:solidFill>
                  <a:latin typeface="Consolas"/>
                  <a:ea typeface="Microsoft YaHei"/>
                  <a:cs typeface="Consolas"/>
                </a:rPr>
                <a:t>WHY THIS MATTERS</a:t>
              </a:r>
            </a:p>
          </p:txBody>
        </p:sp>
        <p:sp>
          <p:nvSpPr>
            <p:cNvPr id="125" name="TextBox 125"/>
            <p:cNvSpPr txBox="1"/>
            <p:nvPr/>
          </p:nvSpPr>
          <p:spPr>
            <a:xfrm>
              <a:off x="1130618" y="5971699"/>
              <a:ext cx="10244042" cy="198120"/>
            </a:xfrm>
            <a:prstGeom prst="rect">
              <a:avLst/>
            </a:prstGeom>
            <a:noFill/>
            <a:ln>
              <a:noFill/>
            </a:ln>
          </p:spPr>
          <p:txBody>
            <a:bodyPr wrap="none" lIns="0" tIns="0" rIns="0" bIns="0" anchor="t" anchorCtr="0">
              <a:spAutoFit/>
            </a:bodyPr>
            <a:lstStyle/>
            <a:p>
              <a:pPr algn="l"/>
              <a:r>
                <a:rPr lang="zh-CN" sz="975" dirty="0">
                  <a:solidFill>
                    <a:srgbClr val="F0F4F8"/>
                  </a:solidFill>
                  <a:latin typeface="Arial"/>
                  <a:ea typeface="Microsoft YaHei"/>
                  <a:cs typeface="Arial"/>
                </a:rPr>
                <a:t xml:space="preserve">API-mediation makes Kubernetes </a:t>
              </a:r>
              <a:r>
                <a:rPr lang="zh-CN" sz="975" b="1" dirty="0">
                  <a:solidFill>
                    <a:srgbClr val="FFB627"/>
                  </a:solidFill>
                  <a:latin typeface="Arial"/>
                  <a:ea typeface="Microsoft YaHei"/>
                  <a:cs typeface="Arial"/>
                </a:rPr>
                <a:t>pluggable</a:t>
              </a:r>
              <a:r>
                <a:rPr lang="zh-CN" sz="975" dirty="0">
                  <a:solidFill>
                    <a:srgbClr val="F0F4F8"/>
                  </a:solidFill>
                  <a:latin typeface="Arial"/>
                  <a:ea typeface="Microsoft YaHei"/>
                  <a:cs typeface="Arial"/>
                </a:rPr>
                <a:t xml:space="preserve"> (any controller can join the loop by watching the API), </a:t>
              </a:r>
              <a:r>
                <a:rPr lang="zh-CN" sz="975" b="1" dirty="0">
                  <a:solidFill>
                    <a:srgbClr val="FFB627"/>
                  </a:solidFill>
                  <a:latin typeface="Arial"/>
                  <a:ea typeface="Microsoft YaHei"/>
                  <a:cs typeface="Arial"/>
                </a:rPr>
                <a:t>observable</a:t>
              </a:r>
              <a:r>
                <a:rPr lang="zh-CN" sz="975" dirty="0">
                  <a:solidFill>
                    <a:srgbClr val="F0F4F8"/>
                  </a:solidFill>
                  <a:latin typeface="Arial"/>
                  <a:ea typeface="Microsoft YaHei"/>
                  <a:cs typeface="Arial"/>
                </a:rPr>
                <a:t xml:space="preserve"> (every state change is an API event), and </a:t>
              </a:r>
              <a:r>
                <a:rPr lang="zh-CN" sz="975" b="1" dirty="0">
                  <a:solidFill>
                    <a:srgbClr val="FFB627"/>
                  </a:solidFill>
                  <a:latin typeface="Arial"/>
                  <a:ea typeface="Microsoft YaHei"/>
                  <a:cs typeface="Arial"/>
                </a:rPr>
                <a:t>auditable</a:t>
              </a:r>
              <a:r>
                <a:rPr lang="zh-CN" sz="975" dirty="0">
                  <a:solidFill>
                    <a:srgbClr val="F0F4F8"/>
                  </a:solidFill>
                  <a:latin typeface="Arial"/>
                  <a:ea typeface="Microsoft YaHei"/>
                  <a:cs typeface="Arial"/>
                </a:rPr>
                <a:t>.</a:t>
              </a:r>
            </a:p>
          </p:txBody>
        </p:sp>
        <p:sp>
          <p:nvSpPr>
            <p:cNvPr id="126" name="TextBox 126"/>
            <p:cNvSpPr txBox="1"/>
            <p:nvPr/>
          </p:nvSpPr>
          <p:spPr>
            <a:xfrm>
              <a:off x="1131570" y="6151245"/>
              <a:ext cx="5195507" cy="182880"/>
            </a:xfrm>
            <a:prstGeom prst="rect">
              <a:avLst/>
            </a:prstGeom>
            <a:noFill/>
            <a:ln>
              <a:noFill/>
            </a:ln>
          </p:spPr>
          <p:txBody>
            <a:bodyPr wrap="none" lIns="0" tIns="0" rIns="0" bIns="0" anchor="t" anchorCtr="0">
              <a:spAutoFit/>
            </a:bodyPr>
            <a:lstStyle/>
            <a:p>
              <a:pPr algn="l"/>
              <a:r>
                <a:rPr lang="zh-CN" sz="900" dirty="0">
                  <a:solidFill>
                    <a:srgbClr val="A0B8D0"/>
                  </a:solidFill>
                  <a:latin typeface="Arial"/>
                  <a:ea typeface="Microsoft YaHei"/>
                  <a:cs typeface="Arial"/>
                </a:rPr>
                <a:t xml:space="preserve">The constraint </a:t>
              </a:r>
              <a:r>
                <a:rPr lang="zh-CN" sz="900" dirty="0">
                  <a:solidFill>
                    <a:srgbClr val="FFB627"/>
                  </a:solidFill>
                  <a:latin typeface="Consolas"/>
                  <a:ea typeface="Microsoft YaHei"/>
                  <a:cs typeface="Consolas"/>
                </a:rPr>
                <a:t>"all roads through apiserver"</a:t>
              </a:r>
              <a:r>
                <a:rPr lang="zh-CN" sz="900" dirty="0">
                  <a:solidFill>
                    <a:srgbClr val="A0B8D0"/>
                  </a:solidFill>
                  <a:latin typeface="Arial"/>
                  <a:ea typeface="Microsoft YaHei"/>
                  <a:cs typeface="Arial"/>
                </a:rPr>
                <a:t xml:space="preserve"> is the architecture, not an inconvenience.</a:t>
              </a:r>
            </a:p>
          </p:txBody>
        </p:sp>
      </p:grpSp>
      <p:grpSp>
        <p:nvGrpSpPr>
          <p:cNvPr id="131" name="Group 131"/>
          <p:cNvGrpSpPr/>
          <p:nvPr/>
        </p:nvGrpSpPr>
        <p:grpSpPr>
          <a:xfrm>
            <a:off x="561022" y="6477000"/>
            <a:ext cx="11069956" cy="269081"/>
            <a:chOff x="561022" y="6477000"/>
            <a:chExt cx="11069956" cy="269081"/>
          </a:xfrm>
        </p:grpSpPr>
        <p:sp>
          <p:nvSpPr>
            <p:cNvPr id="128" name="Line 128"/>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129" name="TextBox 129"/>
            <p:cNvSpPr txBox="1"/>
            <p:nvPr/>
          </p:nvSpPr>
          <p:spPr>
            <a:xfrm>
              <a:off x="561022" y="6578441"/>
              <a:ext cx="239725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09 OF 10 · API SPINE</a:t>
              </a:r>
            </a:p>
          </p:txBody>
        </p:sp>
        <p:sp>
          <p:nvSpPr>
            <p:cNvPr id="130" name="TextBox 130"/>
            <p:cNvSpPr txBox="1"/>
            <p:nvPr/>
          </p:nvSpPr>
          <p:spPr>
            <a:xfrm>
              <a:off x="10850928" y="6578441"/>
              <a:ext cx="780050"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SHEET 09 OF 10</a:t>
              </a:r>
            </a:p>
          </p:txBody>
        </p:sp>
      </p:grpSp>
    </p:spTree>
  </p:cSld>
  <p:clrMapOvr>
    <a:masterClrMapping/>
  </p:clrMapOvr>
  <p:transition xmlns:p14="http://schemas.microsoft.com/office/powerpoint/2010/main" p14:dur="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par>
                          <p:cTn id="8" fill="hold">
                            <p:stCondLst>
                              <p:cond delay="47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350"/>
                                        <p:tgtEl>
                                          <p:spTgt spid="23"/>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350"/>
                                        <p:tgtEl>
                                          <p:spTgt spid="31"/>
                                        </p:tgtEl>
                                      </p:cBhvr>
                                    </p:animEffect>
                                  </p:childTnLst>
                                </p:cTn>
                              </p:par>
                            </p:childTnLst>
                          </p:cTn>
                        </p:par>
                        <p:par>
                          <p:cTn id="16" fill="hold">
                            <p:stCondLst>
                              <p:cond delay="141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350"/>
                                        <p:tgtEl>
                                          <p:spTgt spid="39"/>
                                        </p:tgtEl>
                                      </p:cBhvr>
                                    </p:animEffect>
                                  </p:childTnLst>
                                </p:cTn>
                              </p:par>
                            </p:childTnLst>
                          </p:cTn>
                        </p:par>
                        <p:par>
                          <p:cTn id="20" fill="hold">
                            <p:stCondLst>
                              <p:cond delay="188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350"/>
                                        <p:tgtEl>
                                          <p:spTgt spid="49"/>
                                        </p:tgtEl>
                                      </p:cBhvr>
                                    </p:animEffect>
                                  </p:childTnLst>
                                </p:cTn>
                              </p:par>
                            </p:childTnLst>
                          </p:cTn>
                        </p:par>
                        <p:par>
                          <p:cTn id="24" fill="hold">
                            <p:stCondLst>
                              <p:cond delay="2350"/>
                            </p:stCondLst>
                            <p:childTnLst>
                              <p:par>
                                <p:cTn id="25" presetID="10" presetClass="entr" presetSubtype="0" fill="hold"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350"/>
                                        <p:tgtEl>
                                          <p:spTgt spid="58"/>
                                        </p:tgtEl>
                                      </p:cBhvr>
                                    </p:animEffect>
                                  </p:childTnLst>
                                </p:cTn>
                              </p:par>
                            </p:childTnLst>
                          </p:cTn>
                        </p:par>
                        <p:par>
                          <p:cTn id="28" fill="hold">
                            <p:stCondLst>
                              <p:cond delay="2820"/>
                            </p:stCondLst>
                            <p:childTnLst>
                              <p:par>
                                <p:cTn id="29" presetID="10" presetClass="entr" presetSubtype="0" fill="hold" nodeType="after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350"/>
                                        <p:tgtEl>
                                          <p:spTgt spid="64"/>
                                        </p:tgtEl>
                                      </p:cBhvr>
                                    </p:animEffect>
                                  </p:childTnLst>
                                </p:cTn>
                              </p:par>
                            </p:childTnLst>
                          </p:cTn>
                        </p:par>
                        <p:par>
                          <p:cTn id="32" fill="hold">
                            <p:stCondLst>
                              <p:cond delay="3320"/>
                            </p:stCondLst>
                            <p:childTnLst>
                              <p:par>
                                <p:cTn id="33" presetID="23" presetClass="entr" presetSubtype="0" fill="hold" nodeType="afterEffect">
                                  <p:stCondLst>
                                    <p:cond delay="0"/>
                                  </p:stCondLst>
                                  <p:childTnLst>
                                    <p:set>
                                      <p:cBhvr>
                                        <p:cTn id="34" dur="1" fill="hold">
                                          <p:stCondLst>
                                            <p:cond delay="0"/>
                                          </p:stCondLst>
                                        </p:cTn>
                                        <p:tgtEl>
                                          <p:spTgt spid="84"/>
                                        </p:tgtEl>
                                        <p:attrNameLst>
                                          <p:attrName>style.visibility</p:attrName>
                                        </p:attrNameLst>
                                      </p:cBhvr>
                                      <p:to>
                                        <p:strVal val="visible"/>
                                      </p:to>
                                    </p:set>
                                    <p:animEffect transition="in" filter="image">
                                      <p:cBhvr>
                                        <p:cTn id="35" dur="600"/>
                                        <p:tgtEl>
                                          <p:spTgt spid="84"/>
                                        </p:tgtEl>
                                      </p:cBhvr>
                                    </p:animEffect>
                                  </p:childTnLst>
                                </p:cTn>
                              </p:par>
                            </p:childTnLst>
                          </p:cTn>
                        </p:par>
                        <p:par>
                          <p:cTn id="36" fill="hold">
                            <p:stCondLst>
                              <p:cond delay="4040"/>
                            </p:stCondLst>
                            <p:childTnLst>
                              <p:par>
                                <p:cTn id="37" presetID="10" presetClass="entr" presetSubtype="0" fill="hold" nodeType="afterEffect">
                                  <p:stCondLst>
                                    <p:cond delay="0"/>
                                  </p:stCondLst>
                                  <p:childTnLst>
                                    <p:set>
                                      <p:cBhvr>
                                        <p:cTn id="38" dur="1" fill="hold">
                                          <p:stCondLst>
                                            <p:cond delay="0"/>
                                          </p:stCondLst>
                                        </p:cTn>
                                        <p:tgtEl>
                                          <p:spTgt spid="97"/>
                                        </p:tgtEl>
                                        <p:attrNameLst>
                                          <p:attrName>style.visibility</p:attrName>
                                        </p:attrNameLst>
                                      </p:cBhvr>
                                      <p:to>
                                        <p:strVal val="visible"/>
                                      </p:to>
                                    </p:set>
                                    <p:animEffect transition="in" filter="fade">
                                      <p:cBhvr>
                                        <p:cTn id="39" dur="350"/>
                                        <p:tgtEl>
                                          <p:spTgt spid="97"/>
                                        </p:tgtEl>
                                      </p:cBhvr>
                                    </p:animEffect>
                                  </p:childTnLst>
                                </p:cTn>
                              </p:par>
                            </p:childTnLst>
                          </p:cTn>
                        </p:par>
                        <p:par>
                          <p:cTn id="40" fill="hold">
                            <p:stCondLst>
                              <p:cond delay="4510"/>
                            </p:stCondLst>
                            <p:childTnLst>
                              <p:par>
                                <p:cTn id="41" presetID="22" presetClass="entr" presetSubtype="1" fill="hold" nodeType="afterEffect">
                                  <p:stCondLst>
                                    <p:cond delay="0"/>
                                  </p:stCondLst>
                                  <p:childTnLst>
                                    <p:set>
                                      <p:cBhvr>
                                        <p:cTn id="42" dur="1" fill="hold">
                                          <p:stCondLst>
                                            <p:cond delay="0"/>
                                          </p:stCondLst>
                                        </p:cTn>
                                        <p:tgtEl>
                                          <p:spTgt spid="118"/>
                                        </p:tgtEl>
                                        <p:attrNameLst>
                                          <p:attrName>style.visibility</p:attrName>
                                        </p:attrNameLst>
                                      </p:cBhvr>
                                      <p:to>
                                        <p:strVal val="visible"/>
                                      </p:to>
                                    </p:set>
                                    <p:animEffect transition="in" filter="wipe(left)">
                                      <p:cBhvr>
                                        <p:cTn id="43" dur="600"/>
                                        <p:tgtEl>
                                          <p:spTgt spid="118"/>
                                        </p:tgtEl>
                                      </p:cBhvr>
                                    </p:animEffect>
                                  </p:childTnLst>
                                </p:cTn>
                              </p:par>
                            </p:childTnLst>
                          </p:cTn>
                        </p:par>
                        <p:par>
                          <p:cTn id="44" fill="hold">
                            <p:stCondLst>
                              <p:cond delay="5260"/>
                            </p:stCondLst>
                            <p:childTnLst>
                              <p:par>
                                <p:cTn id="45" presetID="10" presetClass="entr" presetSubtype="0" fill="hold" nodeType="afterEffect">
                                  <p:stCondLst>
                                    <p:cond delay="0"/>
                                  </p:stCondLst>
                                  <p:childTnLst>
                                    <p:set>
                                      <p:cBhvr>
                                        <p:cTn id="46" dur="1" fill="hold">
                                          <p:stCondLst>
                                            <p:cond delay="0"/>
                                          </p:stCondLst>
                                        </p:cTn>
                                        <p:tgtEl>
                                          <p:spTgt spid="127"/>
                                        </p:tgtEl>
                                        <p:attrNameLst>
                                          <p:attrName>style.visibility</p:attrName>
                                        </p:attrNameLst>
                                      </p:cBhvr>
                                      <p:to>
                                        <p:strVal val="visible"/>
                                      </p:to>
                                    </p:set>
                                    <p:animEffect transition="in" filter="fade">
                                      <p:cBhvr>
                                        <p:cTn id="47" dur="35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31" grpId="0"/>
      <p:bldP spid="39" grpId="0"/>
      <p:bldP spid="49" grpId="0"/>
      <p:bldP spid="58" grpId="0"/>
      <p:bldP spid="64" grpId="0"/>
      <p:bldP spid="84" grpId="0"/>
      <p:bldP spid="97" grpId="0"/>
      <p:bldP spid="118" grpId="0"/>
      <p:bldP spid="1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E2A47"/>
            </a:solidFill>
            <a:ln>
              <a:noFill/>
            </a:ln>
          </p:spPr>
        </p:sp>
        <p:sp>
          <p:nvSpPr>
            <p:cNvPr id="3" name="Rectangle 3"/>
            <p:cNvSpPr/>
            <p:nvPr/>
          </p:nvSpPr>
          <p:spPr>
            <a:xfrm>
              <a:off x="0" y="0"/>
              <a:ext cx="12192000" cy="6858000"/>
            </a:xfrm>
            <a:prstGeom prst="rect">
              <a:avLst/>
            </a:prstGeom>
            <a:pattFill prst="smGrid">
              <a:fgClr>
                <a:srgbClr val="1A3A5C">
                  <a:alpha val="30000"/>
                </a:srgbClr>
              </a:fgClr>
              <a:bgClr>
                <a:srgbClr val="0E2A47"/>
              </a:bgClr>
            </a:pattFill>
            <a:ln>
              <a:noFill/>
            </a:ln>
          </p:spPr>
        </p:sp>
        <p:sp>
          <p:nvSpPr>
            <p:cNvPr id="4" name="Rectangle 4"/>
            <p:cNvSpPr/>
            <p:nvPr/>
          </p:nvSpPr>
          <p:spPr>
            <a:xfrm>
              <a:off x="0" y="0"/>
              <a:ext cx="12192000" cy="6858000"/>
            </a:xfrm>
            <a:prstGeom prst="rect">
              <a:avLst/>
            </a:prstGeom>
            <a:pattFill prst="lgGrid">
              <a:fgClr>
                <a:srgbClr val="2D4A6B">
                  <a:alpha val="45000"/>
                </a:srgbClr>
              </a:fgClr>
              <a:bgClr>
                <a:srgbClr val="0E2A47"/>
              </a:bgClr>
            </a:pattFill>
            <a:ln>
              <a:noFill/>
            </a:ln>
          </p:spPr>
        </p:sp>
        <p:sp>
          <p:nvSpPr>
            <p:cNvPr id="5" name="Rectangle 5"/>
            <p:cNvSpPr/>
            <p:nvPr/>
          </p:nvSpPr>
          <p:spPr>
            <a:xfrm>
              <a:off x="0" y="0"/>
              <a:ext cx="12192000" cy="6858000"/>
            </a:xfrm>
            <a:prstGeom prst="rect">
              <a:avLst/>
            </a:prstGeom>
            <a:gradFill>
              <a:gsLst>
                <a:gs pos="50000">
                  <a:srgbClr val="0E2A47">
                    <a:alpha val="0"/>
                  </a:srgbClr>
                </a:gs>
                <a:gs pos="100000">
                  <a:srgbClr val="000000">
                    <a:alpha val="50000"/>
                  </a:srgbClr>
                </a:gs>
              </a:gsLst>
              <a:path path="circle">
                <a:fillToRect l="50000" t="50000" r="50000" b="50000"/>
              </a:path>
            </a:gradFill>
            <a:ln>
              <a:noFill/>
            </a:ln>
          </p:spPr>
        </p:sp>
      </p:grpSp>
      <p:grpSp>
        <p:nvGrpSpPr>
          <p:cNvPr id="10" name="Group 10"/>
          <p:cNvGrpSpPr/>
          <p:nvPr/>
        </p:nvGrpSpPr>
        <p:grpSpPr>
          <a:xfrm>
            <a:off x="542925" y="157162"/>
            <a:ext cx="11088053" cy="457200"/>
            <a:chOff x="542925" y="157162"/>
            <a:chExt cx="11088053" cy="457200"/>
          </a:xfrm>
        </p:grpSpPr>
        <p:sp>
          <p:nvSpPr>
            <p:cNvPr id="7" name="TextBox 7"/>
            <p:cNvSpPr txBox="1"/>
            <p:nvPr/>
          </p:nvSpPr>
          <p:spPr>
            <a:xfrm>
              <a:off x="542925" y="157162"/>
              <a:ext cx="4026646" cy="457200"/>
            </a:xfrm>
            <a:prstGeom prst="rect">
              <a:avLst/>
            </a:prstGeom>
            <a:noFill/>
            <a:ln>
              <a:noFill/>
            </a:ln>
          </p:spPr>
          <p:txBody>
            <a:bodyPr wrap="none" lIns="0" tIns="0" rIns="0" bIns="0" anchor="t" anchorCtr="0">
              <a:spAutoFit/>
            </a:bodyPr>
            <a:lstStyle/>
            <a:p>
              <a:pPr algn="l"/>
              <a:r>
                <a:rPr lang="zh-CN" sz="2250" b="1" dirty="0">
                  <a:solidFill>
                    <a:srgbClr val="F0F4F8"/>
                  </a:solidFill>
                  <a:latin typeface="Arial"/>
                  <a:ea typeface="Microsoft YaHei"/>
                  <a:cs typeface="Arial"/>
                </a:rPr>
                <a:t>Three Things to Remember</a:t>
              </a:r>
            </a:p>
          </p:txBody>
        </p:sp>
        <p:sp>
          <p:nvSpPr>
            <p:cNvPr id="8" name="TextBox 8"/>
            <p:cNvSpPr txBox="1"/>
            <p:nvPr/>
          </p:nvSpPr>
          <p:spPr>
            <a:xfrm>
              <a:off x="11235976" y="310991"/>
              <a:ext cx="395002" cy="167640"/>
            </a:xfrm>
            <a:prstGeom prst="rect">
              <a:avLst/>
            </a:prstGeom>
            <a:noFill/>
            <a:ln>
              <a:noFill/>
            </a:ln>
          </p:spPr>
          <p:txBody>
            <a:bodyPr wrap="none" lIns="0" tIns="0" rIns="0" bIns="0" anchor="t" anchorCtr="0">
              <a:spAutoFit/>
            </a:bodyPr>
            <a:lstStyle/>
            <a:p>
              <a:pPr algn="r"/>
              <a:r>
                <a:rPr lang="zh-CN" sz="825" dirty="0">
                  <a:solidFill>
                    <a:srgbClr val="A0B8D0"/>
                  </a:solidFill>
                  <a:latin typeface="Consolas"/>
                  <a:ea typeface="Microsoft YaHei"/>
                  <a:cs typeface="Consolas"/>
                </a:rPr>
                <a:t>P10 / 10</a:t>
              </a:r>
            </a:p>
          </p:txBody>
        </p:sp>
        <p:sp>
          <p:nvSpPr>
            <p:cNvPr id="9" name="Line 9"/>
            <p:cNvSpPr/>
            <p:nvPr/>
          </p:nvSpPr>
          <p:spPr>
            <a:xfrm>
              <a:off x="571500" y="552450"/>
              <a:ext cx="11049000" cy="9525"/>
            </a:xfrm>
            <a:custGeom>
              <a:avLst/>
              <a:gdLst/>
              <a:ahLst/>
              <a:cxnLst/>
              <a:rect l="l" t="t" r="r" b="b"/>
              <a:pathLst>
                <a:path w="11049000" h="9525">
                  <a:moveTo>
                    <a:pt x="0" y="0"/>
                  </a:moveTo>
                  <a:lnTo>
                    <a:pt x="11049000" y="0"/>
                  </a:lnTo>
                </a:path>
              </a:pathLst>
            </a:custGeom>
            <a:noFill/>
            <a:ln w="4762">
              <a:solidFill>
                <a:srgbClr val="2D4A6B"/>
              </a:solidFill>
            </a:ln>
          </p:spPr>
        </p:sp>
      </p:grpSp>
      <p:grpSp>
        <p:nvGrpSpPr>
          <p:cNvPr id="17" name="Group 17"/>
          <p:cNvGrpSpPr/>
          <p:nvPr/>
        </p:nvGrpSpPr>
        <p:grpSpPr>
          <a:xfrm>
            <a:off x="1108710" y="1799749"/>
            <a:ext cx="4642952" cy="1810226"/>
            <a:chOff x="1108710" y="1799749"/>
            <a:chExt cx="4642952" cy="1810226"/>
          </a:xfrm>
        </p:grpSpPr>
        <p:sp>
          <p:nvSpPr>
            <p:cNvPr id="11" name="TextBox 11"/>
            <p:cNvSpPr txBox="1"/>
            <p:nvPr/>
          </p:nvSpPr>
          <p:spPr>
            <a:xfrm>
              <a:off x="1130618" y="1799749"/>
              <a:ext cx="889373" cy="198120"/>
            </a:xfrm>
            <a:prstGeom prst="rect">
              <a:avLst/>
            </a:prstGeom>
            <a:noFill/>
            <a:ln>
              <a:noFill/>
            </a:ln>
          </p:spPr>
          <p:txBody>
            <a:bodyPr wrap="none" lIns="0" tIns="0" rIns="0" bIns="0" anchor="t" anchorCtr="0">
              <a:spAutoFit/>
            </a:bodyPr>
            <a:lstStyle/>
            <a:p>
              <a:pPr algn="l"/>
              <a:r>
                <a:rPr lang="zh-CN" sz="975" dirty="0">
                  <a:solidFill>
                    <a:srgbClr val="FFB627"/>
                  </a:solidFill>
                  <a:latin typeface="Consolas"/>
                  <a:ea typeface="Microsoft YaHei"/>
                  <a:cs typeface="Consolas"/>
                </a:rPr>
                <a:t>01 / ONE SPINE</a:t>
              </a:r>
            </a:p>
          </p:txBody>
        </p:sp>
        <p:sp>
          <p:nvSpPr>
            <p:cNvPr id="12" name="Line 12"/>
            <p:cNvSpPr/>
            <p:nvPr/>
          </p:nvSpPr>
          <p:spPr>
            <a:xfrm>
              <a:off x="1143000" y="2047875"/>
              <a:ext cx="381000" cy="9525"/>
            </a:xfrm>
            <a:custGeom>
              <a:avLst/>
              <a:gdLst/>
              <a:ahLst/>
              <a:cxnLst/>
              <a:rect l="l" t="t" r="r" b="b"/>
              <a:pathLst>
                <a:path w="381000" h="9525">
                  <a:moveTo>
                    <a:pt x="0" y="0"/>
                  </a:moveTo>
                  <a:lnTo>
                    <a:pt x="381000" y="0"/>
                  </a:lnTo>
                </a:path>
              </a:pathLst>
            </a:custGeom>
            <a:noFill/>
            <a:ln w="19050">
              <a:solidFill>
                <a:srgbClr val="FFB627"/>
              </a:solidFill>
            </a:ln>
          </p:spPr>
        </p:sp>
        <p:sp>
          <p:nvSpPr>
            <p:cNvPr id="13" name="TextBox 13"/>
            <p:cNvSpPr txBox="1"/>
            <p:nvPr/>
          </p:nvSpPr>
          <p:spPr>
            <a:xfrm>
              <a:off x="1108710" y="2280285"/>
              <a:ext cx="4642952" cy="548640"/>
            </a:xfrm>
            <a:prstGeom prst="rect">
              <a:avLst/>
            </a:prstGeom>
            <a:noFill/>
            <a:ln>
              <a:noFill/>
            </a:ln>
          </p:spPr>
          <p:txBody>
            <a:bodyPr wrap="none" lIns="0" tIns="0" rIns="0" bIns="0" anchor="t" anchorCtr="0">
              <a:spAutoFit/>
            </a:bodyPr>
            <a:lstStyle/>
            <a:p>
              <a:pPr algn="l"/>
              <a:r>
                <a:rPr lang="zh-CN" sz="2700" b="1" dirty="0">
                  <a:solidFill>
                    <a:srgbClr val="FFB627"/>
                  </a:solidFill>
                  <a:latin typeface="Consolas"/>
                  <a:ea typeface="Microsoft YaHei"/>
                  <a:cs typeface="Consolas"/>
                </a:rPr>
                <a:t>kube-apiserver</a:t>
              </a:r>
              <a:r>
                <a:rPr lang="zh-CN" sz="2700" b="1" dirty="0">
                  <a:solidFill>
                    <a:srgbClr val="F0F4F8"/>
                  </a:solidFill>
                  <a:latin typeface="Arial"/>
                  <a:ea typeface="Microsoft YaHei"/>
                  <a:cs typeface="Arial"/>
                </a:rPr>
                <a:t xml:space="preserve"> mediates</a:t>
              </a:r>
            </a:p>
          </p:txBody>
        </p:sp>
        <p:sp>
          <p:nvSpPr>
            <p:cNvPr id="14" name="TextBox 14"/>
            <p:cNvSpPr txBox="1"/>
            <p:nvPr/>
          </p:nvSpPr>
          <p:spPr>
            <a:xfrm>
              <a:off x="1108710" y="2680335"/>
              <a:ext cx="3830150"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every state change.</a:t>
              </a:r>
            </a:p>
          </p:txBody>
        </p:sp>
        <p:sp>
          <p:nvSpPr>
            <p:cNvPr id="15" name="TextBox 15"/>
            <p:cNvSpPr txBox="1"/>
            <p:nvPr/>
          </p:nvSpPr>
          <p:spPr>
            <a:xfrm>
              <a:off x="1127760" y="3156585"/>
              <a:ext cx="3174873"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No component talks to another directly.</a:t>
              </a:r>
            </a:p>
          </p:txBody>
        </p:sp>
        <p:sp>
          <p:nvSpPr>
            <p:cNvPr id="16" name="TextBox 16"/>
            <p:cNvSpPr txBox="1"/>
            <p:nvPr/>
          </p:nvSpPr>
          <p:spPr>
            <a:xfrm>
              <a:off x="1127760" y="3366135"/>
              <a:ext cx="4174998"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That constraint is what makes the system pluggable.</a:t>
              </a:r>
            </a:p>
          </p:txBody>
        </p:sp>
      </p:grpSp>
      <p:grpSp>
        <p:nvGrpSpPr>
          <p:cNvPr id="24" name="Group 24"/>
          <p:cNvGrpSpPr/>
          <p:nvPr/>
        </p:nvGrpSpPr>
        <p:grpSpPr>
          <a:xfrm>
            <a:off x="1108710" y="3780949"/>
            <a:ext cx="3414298" cy="1810226"/>
            <a:chOff x="1108710" y="3780949"/>
            <a:chExt cx="3414298" cy="1810226"/>
          </a:xfrm>
        </p:grpSpPr>
        <p:sp>
          <p:nvSpPr>
            <p:cNvPr id="18" name="TextBox 18"/>
            <p:cNvSpPr txBox="1"/>
            <p:nvPr/>
          </p:nvSpPr>
          <p:spPr>
            <a:xfrm>
              <a:off x="1130618" y="3780949"/>
              <a:ext cx="954381" cy="198120"/>
            </a:xfrm>
            <a:prstGeom prst="rect">
              <a:avLst/>
            </a:prstGeom>
            <a:noFill/>
            <a:ln>
              <a:noFill/>
            </a:ln>
          </p:spPr>
          <p:txBody>
            <a:bodyPr wrap="none" lIns="0" tIns="0" rIns="0" bIns="0" anchor="t" anchorCtr="0">
              <a:spAutoFit/>
            </a:bodyPr>
            <a:lstStyle/>
            <a:p>
              <a:pPr algn="l"/>
              <a:r>
                <a:rPr lang="zh-CN" sz="975" dirty="0">
                  <a:solidFill>
                    <a:srgbClr val="5BA3E0"/>
                  </a:solidFill>
                  <a:latin typeface="Consolas"/>
                  <a:ea typeface="Microsoft YaHei"/>
                  <a:cs typeface="Consolas"/>
                </a:rPr>
                <a:t>02 / ONE TRUTH</a:t>
              </a:r>
            </a:p>
          </p:txBody>
        </p:sp>
        <p:sp>
          <p:nvSpPr>
            <p:cNvPr id="19" name="Line 19"/>
            <p:cNvSpPr/>
            <p:nvPr/>
          </p:nvSpPr>
          <p:spPr>
            <a:xfrm>
              <a:off x="1143000" y="4029075"/>
              <a:ext cx="381000" cy="9525"/>
            </a:xfrm>
            <a:custGeom>
              <a:avLst/>
              <a:gdLst/>
              <a:ahLst/>
              <a:cxnLst/>
              <a:rect l="l" t="t" r="r" b="b"/>
              <a:pathLst>
                <a:path w="381000" h="9525">
                  <a:moveTo>
                    <a:pt x="0" y="0"/>
                  </a:moveTo>
                  <a:lnTo>
                    <a:pt x="381000" y="0"/>
                  </a:lnTo>
                </a:path>
              </a:pathLst>
            </a:custGeom>
            <a:noFill/>
            <a:ln w="19050">
              <a:solidFill>
                <a:srgbClr val="5BA3E0"/>
              </a:solidFill>
            </a:ln>
          </p:spPr>
        </p:sp>
        <p:sp>
          <p:nvSpPr>
            <p:cNvPr id="20" name="TextBox 20"/>
            <p:cNvSpPr txBox="1"/>
            <p:nvPr/>
          </p:nvSpPr>
          <p:spPr>
            <a:xfrm>
              <a:off x="1108710" y="4261485"/>
              <a:ext cx="2922837" cy="548640"/>
            </a:xfrm>
            <a:prstGeom prst="rect">
              <a:avLst/>
            </a:prstGeom>
            <a:noFill/>
            <a:ln>
              <a:noFill/>
            </a:ln>
          </p:spPr>
          <p:txBody>
            <a:bodyPr wrap="none" lIns="0" tIns="0" rIns="0" bIns="0" anchor="t" anchorCtr="0">
              <a:spAutoFit/>
            </a:bodyPr>
            <a:lstStyle/>
            <a:p>
              <a:pPr algn="l"/>
              <a:r>
                <a:rPr lang="zh-CN" sz="2700" b="1" dirty="0">
                  <a:solidFill>
                    <a:srgbClr val="5BA3E0"/>
                  </a:solidFill>
                  <a:latin typeface="Consolas"/>
                  <a:ea typeface="Microsoft YaHei"/>
                  <a:cs typeface="Consolas"/>
                </a:rPr>
                <a:t>etcd</a:t>
              </a:r>
              <a:r>
                <a:rPr lang="zh-CN" sz="2700" b="1" dirty="0">
                  <a:solidFill>
                    <a:srgbClr val="F0F4F8"/>
                  </a:solidFill>
                  <a:latin typeface="Arial"/>
                  <a:ea typeface="Microsoft YaHei"/>
                  <a:cs typeface="Arial"/>
                </a:rPr>
                <a:t xml:space="preserve"> is the only</a:t>
              </a:r>
            </a:p>
          </p:txBody>
        </p:sp>
        <p:sp>
          <p:nvSpPr>
            <p:cNvPr id="21" name="TextBox 21"/>
            <p:cNvSpPr txBox="1"/>
            <p:nvPr/>
          </p:nvSpPr>
          <p:spPr>
            <a:xfrm>
              <a:off x="1108710" y="4661535"/>
              <a:ext cx="3414298"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persistent store.</a:t>
              </a:r>
            </a:p>
          </p:txBody>
        </p:sp>
        <p:sp>
          <p:nvSpPr>
            <p:cNvPr id="22" name="TextBox 22"/>
            <p:cNvSpPr txBox="1"/>
            <p:nvPr/>
          </p:nvSpPr>
          <p:spPr>
            <a:xfrm>
              <a:off x="1127760" y="5137785"/>
              <a:ext cx="3150870"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Lose etcd, lose the cluster. Back it up.</a:t>
              </a:r>
            </a:p>
          </p:txBody>
        </p:sp>
        <p:sp>
          <p:nvSpPr>
            <p:cNvPr id="23" name="TextBox 23"/>
            <p:cNvSpPr txBox="1"/>
            <p:nvPr/>
          </p:nvSpPr>
          <p:spPr>
            <a:xfrm>
              <a:off x="1127760" y="5347335"/>
              <a:ext cx="3126867"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Run an odd number. Raft does the rest.</a:t>
              </a:r>
            </a:p>
          </p:txBody>
        </p:sp>
      </p:grpSp>
      <p:grpSp>
        <p:nvGrpSpPr>
          <p:cNvPr id="31" name="Group 31"/>
          <p:cNvGrpSpPr/>
          <p:nvPr/>
        </p:nvGrpSpPr>
        <p:grpSpPr>
          <a:xfrm>
            <a:off x="6633210" y="1799749"/>
            <a:ext cx="5285632" cy="1810226"/>
            <a:chOff x="6633210" y="1799749"/>
            <a:chExt cx="5285632" cy="1810226"/>
          </a:xfrm>
        </p:grpSpPr>
        <p:sp>
          <p:nvSpPr>
            <p:cNvPr id="25" name="TextBox 25"/>
            <p:cNvSpPr txBox="1"/>
            <p:nvPr/>
          </p:nvSpPr>
          <p:spPr>
            <a:xfrm>
              <a:off x="6655118" y="1799749"/>
              <a:ext cx="934879" cy="198120"/>
            </a:xfrm>
            <a:prstGeom prst="rect">
              <a:avLst/>
            </a:prstGeom>
            <a:noFill/>
            <a:ln>
              <a:noFill/>
            </a:ln>
          </p:spPr>
          <p:txBody>
            <a:bodyPr wrap="none" lIns="0" tIns="0" rIns="0" bIns="0" anchor="t" anchorCtr="0">
              <a:spAutoFit/>
            </a:bodyPr>
            <a:lstStyle/>
            <a:p>
              <a:pPr algn="l"/>
              <a:r>
                <a:rPr lang="zh-CN" sz="975" dirty="0">
                  <a:solidFill>
                    <a:srgbClr val="7FD99F"/>
                  </a:solidFill>
                  <a:latin typeface="Consolas"/>
                  <a:ea typeface="Microsoft YaHei"/>
                  <a:cs typeface="Consolas"/>
                </a:rPr>
                <a:t>03 / ONE LOOP</a:t>
              </a:r>
            </a:p>
          </p:txBody>
        </p:sp>
        <p:sp>
          <p:nvSpPr>
            <p:cNvPr id="26" name="Line 26"/>
            <p:cNvSpPr/>
            <p:nvPr/>
          </p:nvSpPr>
          <p:spPr>
            <a:xfrm>
              <a:off x="6667500" y="2047875"/>
              <a:ext cx="381000" cy="9525"/>
            </a:xfrm>
            <a:custGeom>
              <a:avLst/>
              <a:gdLst/>
              <a:ahLst/>
              <a:cxnLst/>
              <a:rect l="l" t="t" r="r" b="b"/>
              <a:pathLst>
                <a:path w="381000" h="9525">
                  <a:moveTo>
                    <a:pt x="0" y="0"/>
                  </a:moveTo>
                  <a:lnTo>
                    <a:pt x="381000" y="0"/>
                  </a:lnTo>
                </a:path>
              </a:pathLst>
            </a:custGeom>
            <a:noFill/>
            <a:ln w="19050">
              <a:solidFill>
                <a:srgbClr val="7FD99F"/>
              </a:solidFill>
            </a:ln>
          </p:spPr>
        </p:sp>
        <p:sp>
          <p:nvSpPr>
            <p:cNvPr id="27" name="TextBox 27"/>
            <p:cNvSpPr txBox="1"/>
            <p:nvPr/>
          </p:nvSpPr>
          <p:spPr>
            <a:xfrm>
              <a:off x="6633210" y="2280285"/>
              <a:ext cx="4283807"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Every controller is the</a:t>
              </a:r>
            </a:p>
          </p:txBody>
        </p:sp>
        <p:sp>
          <p:nvSpPr>
            <p:cNvPr id="28" name="TextBox 28"/>
            <p:cNvSpPr txBox="1"/>
            <p:nvPr/>
          </p:nvSpPr>
          <p:spPr>
            <a:xfrm>
              <a:off x="6633210" y="2680335"/>
              <a:ext cx="5285632" cy="548640"/>
            </a:xfrm>
            <a:prstGeom prst="rect">
              <a:avLst/>
            </a:prstGeom>
            <a:noFill/>
            <a:ln>
              <a:noFill/>
            </a:ln>
          </p:spPr>
          <p:txBody>
            <a:bodyPr wrap="none" lIns="0" tIns="0" rIns="0" bIns="0" anchor="t" anchorCtr="0">
              <a:spAutoFit/>
            </a:bodyPr>
            <a:lstStyle/>
            <a:p>
              <a:pPr algn="l"/>
              <a:r>
                <a:rPr lang="zh-CN" sz="2700" b="1" dirty="0">
                  <a:solidFill>
                    <a:srgbClr val="F0F4F8"/>
                  </a:solidFill>
                  <a:latin typeface="Arial"/>
                  <a:ea typeface="Microsoft YaHei"/>
                  <a:cs typeface="Arial"/>
                </a:rPr>
                <a:t>same loop, different scope.</a:t>
              </a:r>
            </a:p>
          </p:txBody>
        </p:sp>
        <p:sp>
          <p:nvSpPr>
            <p:cNvPr id="29" name="TextBox 29"/>
            <p:cNvSpPr txBox="1"/>
            <p:nvPr/>
          </p:nvSpPr>
          <p:spPr>
            <a:xfrm>
              <a:off x="6652260" y="3156585"/>
              <a:ext cx="1534668" cy="243840"/>
            </a:xfrm>
            <a:prstGeom prst="rect">
              <a:avLst/>
            </a:prstGeom>
            <a:noFill/>
            <a:ln>
              <a:noFill/>
            </a:ln>
          </p:spPr>
          <p:txBody>
            <a:bodyPr wrap="none" lIns="0" tIns="0" rIns="0" bIns="0" anchor="t" anchorCtr="0">
              <a:spAutoFit/>
            </a:bodyPr>
            <a:lstStyle/>
            <a:p>
              <a:pPr algn="l"/>
              <a:r>
                <a:rPr lang="zh-CN" sz="1200" dirty="0">
                  <a:solidFill>
                    <a:srgbClr val="7FD99F"/>
                  </a:solidFill>
                  <a:latin typeface="Consolas"/>
                  <a:ea typeface="Microsoft YaHei"/>
                  <a:cs typeface="Consolas"/>
                </a:rPr>
                <a:t>watch → diff → act</a:t>
              </a:r>
              <a:r>
                <a:rPr lang="zh-CN" sz="1200" dirty="0">
                  <a:solidFill>
                    <a:srgbClr val="A0B8D0"/>
                  </a:solidFill>
                  <a:latin typeface="Arial"/>
                  <a:ea typeface="Microsoft YaHei"/>
                  <a:cs typeface="Arial"/>
                </a:rPr>
                <a:t>.</a:t>
              </a:r>
            </a:p>
          </p:txBody>
        </p:sp>
        <p:sp>
          <p:nvSpPr>
            <p:cNvPr id="30" name="TextBox 30"/>
            <p:cNvSpPr txBox="1"/>
            <p:nvPr/>
          </p:nvSpPr>
          <p:spPr>
            <a:xfrm>
              <a:off x="6652260" y="3366135"/>
              <a:ext cx="4911090" cy="243840"/>
            </a:xfrm>
            <a:prstGeom prst="rect">
              <a:avLst/>
            </a:prstGeom>
            <a:noFill/>
            <a:ln>
              <a:noFill/>
            </a:ln>
          </p:spPr>
          <p:txBody>
            <a:bodyPr wrap="none" lIns="0" tIns="0" rIns="0" bIns="0" anchor="t" anchorCtr="0">
              <a:spAutoFit/>
            </a:bodyPr>
            <a:lstStyle/>
            <a:p>
              <a:pPr algn="l"/>
              <a:r>
                <a:rPr lang="zh-CN" sz="1200" dirty="0">
                  <a:solidFill>
                    <a:srgbClr val="A0B8D0"/>
                  </a:solidFill>
                  <a:latin typeface="Arial"/>
                  <a:ea typeface="Microsoft YaHei"/>
                  <a:cs typeface="Arial"/>
                </a:rPr>
                <a:t>Once you see that, you can read the source of any controller.</a:t>
              </a:r>
            </a:p>
          </p:txBody>
        </p:sp>
      </p:grpSp>
      <p:grpSp>
        <p:nvGrpSpPr>
          <p:cNvPr id="53" name="Group 53"/>
          <p:cNvGrpSpPr/>
          <p:nvPr/>
        </p:nvGrpSpPr>
        <p:grpSpPr>
          <a:xfrm>
            <a:off x="6657022" y="3797141"/>
            <a:ext cx="4582478" cy="2275047"/>
            <a:chOff x="6657022" y="3797141"/>
            <a:chExt cx="4582478" cy="2275047"/>
          </a:xfrm>
        </p:grpSpPr>
        <p:sp>
          <p:nvSpPr>
            <p:cNvPr id="32" name="TextBox 32"/>
            <p:cNvSpPr txBox="1"/>
            <p:nvPr/>
          </p:nvSpPr>
          <p:spPr>
            <a:xfrm>
              <a:off x="6657022" y="3797141"/>
              <a:ext cx="939570"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THE LOOP, DRAWN</a:t>
              </a:r>
            </a:p>
          </p:txBody>
        </p:sp>
        <p:sp>
          <p:nvSpPr>
            <p:cNvPr id="33" name="Line 33"/>
            <p:cNvSpPr/>
            <p:nvPr/>
          </p:nvSpPr>
          <p:spPr>
            <a:xfrm>
              <a:off x="6667500" y="4000500"/>
              <a:ext cx="4572000" cy="9525"/>
            </a:xfrm>
            <a:custGeom>
              <a:avLst/>
              <a:gdLst/>
              <a:ahLst/>
              <a:cxnLst/>
              <a:rect l="l" t="t" r="r" b="b"/>
              <a:pathLst>
                <a:path w="4572000" h="9525">
                  <a:moveTo>
                    <a:pt x="0" y="0"/>
                  </a:moveTo>
                  <a:lnTo>
                    <a:pt x="4572000" y="0"/>
                  </a:lnTo>
                </a:path>
              </a:pathLst>
            </a:custGeom>
            <a:noFill/>
            <a:ln w="4762">
              <a:solidFill>
                <a:srgbClr val="2D4A6B"/>
              </a:solidFill>
            </a:ln>
          </p:spPr>
        </p:sp>
        <p:grpSp>
          <p:nvGrpSpPr>
            <p:cNvPr id="37" name="Group 37"/>
            <p:cNvGrpSpPr/>
            <p:nvPr/>
          </p:nvGrpSpPr>
          <p:grpSpPr>
            <a:xfrm>
              <a:off x="7048500" y="4381500"/>
              <a:ext cx="762000" cy="762000"/>
              <a:chOff x="7048500" y="4381500"/>
              <a:chExt cx="762000" cy="762000"/>
            </a:xfrm>
          </p:grpSpPr>
          <p:sp>
            <p:nvSpPr>
              <p:cNvPr id="34" name="Ellipse 34"/>
              <p:cNvSpPr/>
              <p:nvPr/>
            </p:nvSpPr>
            <p:spPr>
              <a:xfrm>
                <a:off x="7048500" y="4381500"/>
                <a:ext cx="762000" cy="762000"/>
              </a:xfrm>
              <a:prstGeom prst="ellipse">
                <a:avLst/>
              </a:prstGeom>
              <a:noFill/>
              <a:ln w="14288">
                <a:solidFill>
                  <a:srgbClr val="5BA3E0"/>
                </a:solidFill>
              </a:ln>
            </p:spPr>
          </p:sp>
          <p:sp>
            <p:nvSpPr>
              <p:cNvPr id="35" name="TextBox 35"/>
              <p:cNvSpPr txBox="1"/>
              <p:nvPr/>
            </p:nvSpPr>
            <p:spPr>
              <a:xfrm>
                <a:off x="7248639" y="4625816"/>
                <a:ext cx="361723" cy="167640"/>
              </a:xfrm>
              <a:prstGeom prst="rect">
                <a:avLst/>
              </a:prstGeom>
              <a:noFill/>
              <a:ln>
                <a:noFill/>
              </a:ln>
            </p:spPr>
            <p:txBody>
              <a:bodyPr wrap="none" lIns="0" tIns="0" rIns="0" bIns="0" anchor="t" anchorCtr="0">
                <a:spAutoFit/>
              </a:bodyPr>
              <a:lstStyle/>
              <a:p>
                <a:pPr algn="ctr"/>
                <a:r>
                  <a:rPr lang="zh-CN" sz="825" b="1" dirty="0">
                    <a:solidFill>
                      <a:srgbClr val="5BA3E0"/>
                    </a:solidFill>
                    <a:latin typeface="Consolas"/>
                    <a:ea typeface="Microsoft YaHei"/>
                    <a:cs typeface="Consolas"/>
                  </a:rPr>
                  <a:t>watch</a:t>
                </a:r>
              </a:p>
            </p:txBody>
          </p:sp>
          <p:sp>
            <p:nvSpPr>
              <p:cNvPr id="36" name="TextBox 36"/>
              <p:cNvSpPr txBox="1"/>
              <p:nvPr/>
            </p:nvSpPr>
            <p:spPr>
              <a:xfrm>
                <a:off x="7258907" y="4784884"/>
                <a:ext cx="341186"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desired</a:t>
                </a:r>
              </a:p>
            </p:txBody>
          </p:sp>
        </p:grpSp>
        <p:grpSp>
          <p:nvGrpSpPr>
            <p:cNvPr id="41" name="Group 41"/>
            <p:cNvGrpSpPr/>
            <p:nvPr/>
          </p:nvGrpSpPr>
          <p:grpSpPr>
            <a:xfrm>
              <a:off x="8572500" y="4381500"/>
              <a:ext cx="762000" cy="762000"/>
              <a:chOff x="8572500" y="4381500"/>
              <a:chExt cx="762000" cy="762000"/>
            </a:xfrm>
          </p:grpSpPr>
          <p:sp>
            <p:nvSpPr>
              <p:cNvPr id="38" name="Ellipse 38"/>
              <p:cNvSpPr/>
              <p:nvPr/>
            </p:nvSpPr>
            <p:spPr>
              <a:xfrm>
                <a:off x="8572500" y="4381500"/>
                <a:ext cx="762000" cy="762000"/>
              </a:xfrm>
              <a:prstGeom prst="ellipse">
                <a:avLst/>
              </a:prstGeom>
              <a:noFill/>
              <a:ln w="14288">
                <a:solidFill>
                  <a:srgbClr val="FFB627"/>
                </a:solidFill>
              </a:ln>
            </p:spPr>
          </p:sp>
          <p:sp>
            <p:nvSpPr>
              <p:cNvPr id="39" name="TextBox 39"/>
              <p:cNvSpPr txBox="1"/>
              <p:nvPr/>
            </p:nvSpPr>
            <p:spPr>
              <a:xfrm>
                <a:off x="8830396" y="4625816"/>
                <a:ext cx="246208" cy="167640"/>
              </a:xfrm>
              <a:prstGeom prst="rect">
                <a:avLst/>
              </a:prstGeom>
              <a:noFill/>
              <a:ln>
                <a:noFill/>
              </a:ln>
            </p:spPr>
            <p:txBody>
              <a:bodyPr wrap="none" lIns="0" tIns="0" rIns="0" bIns="0" anchor="t" anchorCtr="0">
                <a:spAutoFit/>
              </a:bodyPr>
              <a:lstStyle/>
              <a:p>
                <a:pPr algn="ctr"/>
                <a:r>
                  <a:rPr lang="zh-CN" sz="825" b="1" dirty="0">
                    <a:solidFill>
                      <a:srgbClr val="FFB627"/>
                    </a:solidFill>
                    <a:latin typeface="Consolas"/>
                    <a:ea typeface="Microsoft YaHei"/>
                    <a:cs typeface="Consolas"/>
                  </a:rPr>
                  <a:t>diff</a:t>
                </a:r>
              </a:p>
            </p:txBody>
          </p:sp>
          <p:sp>
            <p:nvSpPr>
              <p:cNvPr id="40" name="TextBox 40"/>
              <p:cNvSpPr txBox="1"/>
              <p:nvPr/>
            </p:nvSpPr>
            <p:spPr>
              <a:xfrm>
                <a:off x="8744652" y="4784884"/>
                <a:ext cx="417695"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vs actual</a:t>
                </a:r>
              </a:p>
            </p:txBody>
          </p:sp>
        </p:grpSp>
        <p:grpSp>
          <p:nvGrpSpPr>
            <p:cNvPr id="45" name="Group 45"/>
            <p:cNvGrpSpPr/>
            <p:nvPr/>
          </p:nvGrpSpPr>
          <p:grpSpPr>
            <a:xfrm>
              <a:off x="10096500" y="4381500"/>
              <a:ext cx="762000" cy="762000"/>
              <a:chOff x="10096500" y="4381500"/>
              <a:chExt cx="762000" cy="762000"/>
            </a:xfrm>
          </p:grpSpPr>
          <p:sp>
            <p:nvSpPr>
              <p:cNvPr id="42" name="Ellipse 42"/>
              <p:cNvSpPr/>
              <p:nvPr/>
            </p:nvSpPr>
            <p:spPr>
              <a:xfrm>
                <a:off x="10096500" y="4381500"/>
                <a:ext cx="762000" cy="762000"/>
              </a:xfrm>
              <a:prstGeom prst="ellipse">
                <a:avLst/>
              </a:prstGeom>
              <a:noFill/>
              <a:ln w="14288">
                <a:solidFill>
                  <a:srgbClr val="7FD99F"/>
                </a:solidFill>
              </a:ln>
            </p:spPr>
          </p:sp>
          <p:sp>
            <p:nvSpPr>
              <p:cNvPr id="43" name="TextBox 43"/>
              <p:cNvSpPr txBox="1"/>
              <p:nvPr/>
            </p:nvSpPr>
            <p:spPr>
              <a:xfrm>
                <a:off x="10371723" y="4625816"/>
                <a:ext cx="211554" cy="167640"/>
              </a:xfrm>
              <a:prstGeom prst="rect">
                <a:avLst/>
              </a:prstGeom>
              <a:noFill/>
              <a:ln>
                <a:noFill/>
              </a:ln>
            </p:spPr>
            <p:txBody>
              <a:bodyPr wrap="none" lIns="0" tIns="0" rIns="0" bIns="0" anchor="t" anchorCtr="0">
                <a:spAutoFit/>
              </a:bodyPr>
              <a:lstStyle/>
              <a:p>
                <a:pPr algn="ctr"/>
                <a:r>
                  <a:rPr lang="zh-CN" sz="825" b="1" dirty="0">
                    <a:solidFill>
                      <a:srgbClr val="7FD99F"/>
                    </a:solidFill>
                    <a:latin typeface="Consolas"/>
                    <a:ea typeface="Microsoft YaHei"/>
                    <a:cs typeface="Consolas"/>
                  </a:rPr>
                  <a:t>act</a:t>
                </a:r>
              </a:p>
            </p:txBody>
          </p:sp>
          <p:sp>
            <p:nvSpPr>
              <p:cNvPr id="44" name="TextBox 44"/>
              <p:cNvSpPr txBox="1"/>
              <p:nvPr/>
            </p:nvSpPr>
            <p:spPr>
              <a:xfrm>
                <a:off x="10270903" y="4784884"/>
                <a:ext cx="413194" cy="137160"/>
              </a:xfrm>
              <a:prstGeom prst="rect">
                <a:avLst/>
              </a:prstGeom>
              <a:noFill/>
              <a:ln>
                <a:noFill/>
              </a:ln>
            </p:spPr>
            <p:txBody>
              <a:bodyPr wrap="none" lIns="0" tIns="0" rIns="0" bIns="0" anchor="t" anchorCtr="0">
                <a:spAutoFit/>
              </a:bodyPr>
              <a:lstStyle/>
              <a:p>
                <a:pPr algn="ctr"/>
                <a:r>
                  <a:rPr lang="zh-CN" sz="675" dirty="0">
                    <a:solidFill>
                      <a:srgbClr val="A0B8D0"/>
                    </a:solidFill>
                    <a:latin typeface="Arial"/>
                    <a:ea typeface="Microsoft YaHei"/>
                    <a:cs typeface="Arial"/>
                  </a:rPr>
                  <a:t>converge</a:t>
                </a:r>
              </a:p>
            </p:txBody>
          </p:sp>
        </p:grpSp>
        <p:sp>
          <p:nvSpPr>
            <p:cNvPr id="46" name="Line 46"/>
            <p:cNvSpPr/>
            <p:nvPr/>
          </p:nvSpPr>
          <p:spPr>
            <a:xfrm>
              <a:off x="7810500" y="4762500"/>
              <a:ext cx="762000" cy="9525"/>
            </a:xfrm>
            <a:custGeom>
              <a:avLst/>
              <a:gdLst/>
              <a:ahLst/>
              <a:cxnLst/>
              <a:rect l="l" t="t" r="r" b="b"/>
              <a:pathLst>
                <a:path w="762000" h="9525">
                  <a:moveTo>
                    <a:pt x="0" y="0"/>
                  </a:moveTo>
                  <a:lnTo>
                    <a:pt x="762000" y="0"/>
                  </a:lnTo>
                </a:path>
              </a:pathLst>
            </a:custGeom>
            <a:noFill/>
            <a:ln w="9525">
              <a:solidFill>
                <a:srgbClr val="5BA3E0"/>
              </a:solidFill>
            </a:ln>
          </p:spPr>
        </p:sp>
        <p:sp>
          <p:nvSpPr>
            <p:cNvPr id="47" name="Polygon 47"/>
            <p:cNvSpPr/>
            <p:nvPr/>
          </p:nvSpPr>
          <p:spPr>
            <a:xfrm>
              <a:off x="8505825" y="4724400"/>
              <a:ext cx="66675" cy="76200"/>
            </a:xfrm>
            <a:custGeom>
              <a:avLst/>
              <a:gdLst/>
              <a:ahLst/>
              <a:cxnLst/>
              <a:rect l="l" t="t" r="r" b="b"/>
              <a:pathLst>
                <a:path w="66675" h="76200">
                  <a:moveTo>
                    <a:pt x="66675" y="38100"/>
                  </a:moveTo>
                  <a:lnTo>
                    <a:pt x="0" y="0"/>
                  </a:lnTo>
                  <a:lnTo>
                    <a:pt x="0" y="76200"/>
                  </a:lnTo>
                  <a:close/>
                </a:path>
              </a:pathLst>
            </a:custGeom>
            <a:solidFill>
              <a:srgbClr val="5BA3E0"/>
            </a:solidFill>
            <a:ln>
              <a:noFill/>
            </a:ln>
          </p:spPr>
        </p:sp>
        <p:sp>
          <p:nvSpPr>
            <p:cNvPr id="48" name="Line 48"/>
            <p:cNvSpPr/>
            <p:nvPr/>
          </p:nvSpPr>
          <p:spPr>
            <a:xfrm>
              <a:off x="9334500" y="4762500"/>
              <a:ext cx="762000" cy="9525"/>
            </a:xfrm>
            <a:custGeom>
              <a:avLst/>
              <a:gdLst/>
              <a:ahLst/>
              <a:cxnLst/>
              <a:rect l="l" t="t" r="r" b="b"/>
              <a:pathLst>
                <a:path w="762000" h="9525">
                  <a:moveTo>
                    <a:pt x="0" y="0"/>
                  </a:moveTo>
                  <a:lnTo>
                    <a:pt x="762000" y="0"/>
                  </a:lnTo>
                </a:path>
              </a:pathLst>
            </a:custGeom>
            <a:noFill/>
            <a:ln w="9525">
              <a:solidFill>
                <a:srgbClr val="FFB627"/>
              </a:solidFill>
            </a:ln>
          </p:spPr>
        </p:sp>
        <p:sp>
          <p:nvSpPr>
            <p:cNvPr id="49" name="Polygon 49"/>
            <p:cNvSpPr/>
            <p:nvPr/>
          </p:nvSpPr>
          <p:spPr>
            <a:xfrm>
              <a:off x="10029825" y="4724400"/>
              <a:ext cx="66675" cy="76200"/>
            </a:xfrm>
            <a:custGeom>
              <a:avLst/>
              <a:gdLst/>
              <a:ahLst/>
              <a:cxnLst/>
              <a:rect l="l" t="t" r="r" b="b"/>
              <a:pathLst>
                <a:path w="66675" h="76200">
                  <a:moveTo>
                    <a:pt x="66675" y="38100"/>
                  </a:moveTo>
                  <a:lnTo>
                    <a:pt x="0" y="0"/>
                  </a:lnTo>
                  <a:lnTo>
                    <a:pt x="0" y="76200"/>
                  </a:lnTo>
                  <a:close/>
                </a:path>
              </a:pathLst>
            </a:custGeom>
            <a:solidFill>
              <a:srgbClr val="FFB627"/>
            </a:solidFill>
            <a:ln>
              <a:noFill/>
            </a:ln>
          </p:spPr>
        </p:sp>
        <p:sp>
          <p:nvSpPr>
            <p:cNvPr id="50" name="Freeform 50"/>
            <p:cNvSpPr/>
            <p:nvPr/>
          </p:nvSpPr>
          <p:spPr>
            <a:xfrm>
              <a:off x="7429500" y="5143500"/>
              <a:ext cx="3048000" cy="666750"/>
            </a:xfrm>
            <a:custGeom>
              <a:avLst/>
              <a:gdLst/>
              <a:ahLst/>
              <a:cxnLst/>
              <a:rect l="l" t="t" r="r" b="b"/>
              <a:pathLst>
                <a:path w="3048000" h="666750">
                  <a:moveTo>
                    <a:pt x="3048000" y="0"/>
                  </a:moveTo>
                  <a:cubicBezTo>
                    <a:pt x="3048000" y="444500"/>
                    <a:pt x="2540000" y="666750"/>
                    <a:pt x="1524000" y="666750"/>
                  </a:cubicBezTo>
                  <a:cubicBezTo>
                    <a:pt x="508000" y="666750"/>
                    <a:pt x="0" y="444500"/>
                    <a:pt x="0" y="0"/>
                  </a:cubicBezTo>
                </a:path>
              </a:pathLst>
            </a:custGeom>
            <a:noFill/>
            <a:ln w="9525">
              <a:solidFill>
                <a:srgbClr val="7FD99F"/>
              </a:solidFill>
              <a:custDash>
                <a:ds d="300000" sp="400000"/>
              </a:custDash>
            </a:ln>
          </p:spPr>
        </p:sp>
        <p:sp>
          <p:nvSpPr>
            <p:cNvPr id="51" name="Polygon 51"/>
            <p:cNvSpPr/>
            <p:nvPr/>
          </p:nvSpPr>
          <p:spPr>
            <a:xfrm>
              <a:off x="7391400" y="5143500"/>
              <a:ext cx="76200" cy="76200"/>
            </a:xfrm>
            <a:custGeom>
              <a:avLst/>
              <a:gdLst/>
              <a:ahLst/>
              <a:cxnLst/>
              <a:rect l="l" t="t" r="r" b="b"/>
              <a:pathLst>
                <a:path w="76200" h="76200">
                  <a:moveTo>
                    <a:pt x="38100" y="0"/>
                  </a:moveTo>
                  <a:lnTo>
                    <a:pt x="0" y="76200"/>
                  </a:lnTo>
                  <a:lnTo>
                    <a:pt x="76200" y="76200"/>
                  </a:lnTo>
                  <a:close/>
                </a:path>
              </a:pathLst>
            </a:custGeom>
            <a:solidFill>
              <a:srgbClr val="7FD99F"/>
            </a:solidFill>
            <a:ln>
              <a:noFill/>
            </a:ln>
          </p:spPr>
        </p:sp>
        <p:sp>
          <p:nvSpPr>
            <p:cNvPr id="52" name="TextBox 52"/>
            <p:cNvSpPr txBox="1"/>
            <p:nvPr/>
          </p:nvSpPr>
          <p:spPr>
            <a:xfrm>
              <a:off x="8571428" y="5919788"/>
              <a:ext cx="764143" cy="152400"/>
            </a:xfrm>
            <a:prstGeom prst="rect">
              <a:avLst/>
            </a:prstGeom>
            <a:noFill/>
            <a:ln>
              <a:noFill/>
            </a:ln>
          </p:spPr>
          <p:txBody>
            <a:bodyPr wrap="none" lIns="0" tIns="0" rIns="0" bIns="0" anchor="t" anchorCtr="0">
              <a:spAutoFit/>
            </a:bodyPr>
            <a:lstStyle/>
            <a:p>
              <a:pPr algn="ctr"/>
              <a:r>
                <a:rPr lang="zh-CN" sz="750" dirty="0">
                  <a:solidFill>
                    <a:srgbClr val="7FD99F"/>
                  </a:solidFill>
                  <a:latin typeface="Consolas"/>
                  <a:ea typeface="Microsoft YaHei"/>
                  <a:cs typeface="Consolas"/>
                </a:rPr>
                <a:t>repeat forever</a:t>
              </a:r>
            </a:p>
          </p:txBody>
        </p:sp>
      </p:grpSp>
      <p:grpSp>
        <p:nvGrpSpPr>
          <p:cNvPr id="55" name="Group 55"/>
          <p:cNvGrpSpPr/>
          <p:nvPr/>
        </p:nvGrpSpPr>
        <p:grpSpPr>
          <a:xfrm>
            <a:off x="6286500" y="1524000"/>
            <a:ext cx="9525" cy="4143375"/>
            <a:chOff x="6286500" y="1524000"/>
            <a:chExt cx="9525" cy="4143375"/>
          </a:xfrm>
        </p:grpSpPr>
        <p:sp>
          <p:nvSpPr>
            <p:cNvPr id="54" name="Line 54"/>
            <p:cNvSpPr/>
            <p:nvPr/>
          </p:nvSpPr>
          <p:spPr>
            <a:xfrm>
              <a:off x="6286500" y="1524000"/>
              <a:ext cx="9525" cy="4143375"/>
            </a:xfrm>
            <a:custGeom>
              <a:avLst/>
              <a:gdLst/>
              <a:ahLst/>
              <a:cxnLst/>
              <a:rect l="l" t="t" r="r" b="b"/>
              <a:pathLst>
                <a:path w="9525" h="4143375">
                  <a:moveTo>
                    <a:pt x="0" y="0"/>
                  </a:moveTo>
                  <a:lnTo>
                    <a:pt x="0" y="4143375"/>
                  </a:lnTo>
                </a:path>
              </a:pathLst>
            </a:custGeom>
            <a:noFill/>
            <a:ln w="4762">
              <a:solidFill>
                <a:srgbClr val="2D4A6B"/>
              </a:solidFill>
            </a:ln>
          </p:spPr>
        </p:sp>
      </p:grpSp>
      <p:grpSp>
        <p:nvGrpSpPr>
          <p:cNvPr id="58" name="Group 58"/>
          <p:cNvGrpSpPr/>
          <p:nvPr/>
        </p:nvGrpSpPr>
        <p:grpSpPr>
          <a:xfrm>
            <a:off x="1132522" y="5905500"/>
            <a:ext cx="1231106" cy="297656"/>
            <a:chOff x="1132522" y="5905500"/>
            <a:chExt cx="1231106" cy="297656"/>
          </a:xfrm>
        </p:grpSpPr>
        <p:sp>
          <p:nvSpPr>
            <p:cNvPr id="56" name="Line 56"/>
            <p:cNvSpPr/>
            <p:nvPr/>
          </p:nvSpPr>
          <p:spPr>
            <a:xfrm>
              <a:off x="1143000" y="5905500"/>
              <a:ext cx="571500" cy="9525"/>
            </a:xfrm>
            <a:custGeom>
              <a:avLst/>
              <a:gdLst/>
              <a:ahLst/>
              <a:cxnLst/>
              <a:rect l="l" t="t" r="r" b="b"/>
              <a:pathLst>
                <a:path w="571500" h="9525">
                  <a:moveTo>
                    <a:pt x="0" y="0"/>
                  </a:moveTo>
                  <a:lnTo>
                    <a:pt x="571500" y="0"/>
                  </a:lnTo>
                </a:path>
              </a:pathLst>
            </a:custGeom>
            <a:noFill/>
            <a:ln w="14288">
              <a:solidFill>
                <a:srgbClr val="FFB627"/>
              </a:solidFill>
            </a:ln>
          </p:spPr>
        </p:sp>
        <p:sp>
          <p:nvSpPr>
            <p:cNvPr id="57" name="TextBox 57"/>
            <p:cNvSpPr txBox="1"/>
            <p:nvPr/>
          </p:nvSpPr>
          <p:spPr>
            <a:xfrm>
              <a:off x="1132522" y="6035516"/>
              <a:ext cx="1231106" cy="167640"/>
            </a:xfrm>
            <a:prstGeom prst="rect">
              <a:avLst/>
            </a:prstGeom>
            <a:noFill/>
            <a:ln>
              <a:noFill/>
            </a:ln>
          </p:spPr>
          <p:txBody>
            <a:bodyPr wrap="none" lIns="0" tIns="0" rIns="0" bIns="0" anchor="t" anchorCtr="0">
              <a:spAutoFit/>
            </a:bodyPr>
            <a:lstStyle/>
            <a:p>
              <a:pPr algn="l"/>
              <a:r>
                <a:rPr lang="zh-CN" sz="825" dirty="0">
                  <a:solidFill>
                    <a:srgbClr val="FFB627"/>
                  </a:solidFill>
                  <a:latin typeface="Consolas"/>
                  <a:ea typeface="Microsoft YaHei"/>
                  <a:cs typeface="Consolas"/>
                </a:rPr>
                <a:t>— END OF DRAWING SET —</a:t>
              </a:r>
            </a:p>
          </p:txBody>
        </p:sp>
      </p:grpSp>
      <p:grpSp>
        <p:nvGrpSpPr>
          <p:cNvPr id="62" name="Group 62"/>
          <p:cNvGrpSpPr/>
          <p:nvPr/>
        </p:nvGrpSpPr>
        <p:grpSpPr>
          <a:xfrm>
            <a:off x="561022" y="6477000"/>
            <a:ext cx="11069955" cy="269081"/>
            <a:chOff x="561022" y="6477000"/>
            <a:chExt cx="11069955" cy="269081"/>
          </a:xfrm>
        </p:grpSpPr>
        <p:sp>
          <p:nvSpPr>
            <p:cNvPr id="59" name="Line 59"/>
            <p:cNvSpPr/>
            <p:nvPr/>
          </p:nvSpPr>
          <p:spPr>
            <a:xfrm>
              <a:off x="571500" y="6477000"/>
              <a:ext cx="11049000" cy="9525"/>
            </a:xfrm>
            <a:custGeom>
              <a:avLst/>
              <a:gdLst/>
              <a:ahLst/>
              <a:cxnLst/>
              <a:rect l="l" t="t" r="r" b="b"/>
              <a:pathLst>
                <a:path w="11049000" h="9525">
                  <a:moveTo>
                    <a:pt x="0" y="0"/>
                  </a:moveTo>
                  <a:lnTo>
                    <a:pt x="11049000" y="0"/>
                  </a:lnTo>
                </a:path>
              </a:pathLst>
            </a:custGeom>
            <a:noFill/>
            <a:ln w="4762">
              <a:solidFill>
                <a:srgbClr val="2D4A6B"/>
              </a:solidFill>
            </a:ln>
          </p:spPr>
        </p:sp>
        <p:sp>
          <p:nvSpPr>
            <p:cNvPr id="60" name="TextBox 60"/>
            <p:cNvSpPr txBox="1"/>
            <p:nvPr/>
          </p:nvSpPr>
          <p:spPr>
            <a:xfrm>
              <a:off x="561022" y="6578441"/>
              <a:ext cx="2474262" cy="167640"/>
            </a:xfrm>
            <a:prstGeom prst="rect">
              <a:avLst/>
            </a:prstGeom>
            <a:noFill/>
            <a:ln>
              <a:noFill/>
            </a:ln>
          </p:spPr>
          <p:txBody>
            <a:bodyPr wrap="none" lIns="0" tIns="0" rIns="0" bIns="0" anchor="t" anchorCtr="0">
              <a:spAutoFit/>
            </a:bodyPr>
            <a:lstStyle/>
            <a:p>
              <a:pPr algn="l"/>
              <a:r>
                <a:rPr lang="zh-CN" sz="825" dirty="0">
                  <a:solidFill>
                    <a:srgbClr val="6B85A3"/>
                  </a:solidFill>
                  <a:latin typeface="Consolas"/>
                  <a:ea typeface="Microsoft YaHei"/>
                  <a:cs typeface="Consolas"/>
                </a:rPr>
                <a:t>K8S-ARCH-2026 · DRAWING 10 OF 10 · TAKEAWAYS</a:t>
              </a:r>
            </a:p>
          </p:txBody>
        </p:sp>
        <p:sp>
          <p:nvSpPr>
            <p:cNvPr id="61" name="TextBox 61"/>
            <p:cNvSpPr txBox="1"/>
            <p:nvPr/>
          </p:nvSpPr>
          <p:spPr>
            <a:xfrm>
              <a:off x="10537388" y="6578441"/>
              <a:ext cx="1093589" cy="167640"/>
            </a:xfrm>
            <a:prstGeom prst="rect">
              <a:avLst/>
            </a:prstGeom>
            <a:noFill/>
            <a:ln>
              <a:noFill/>
            </a:ln>
          </p:spPr>
          <p:txBody>
            <a:bodyPr wrap="none" lIns="0" tIns="0" rIns="0" bIns="0" anchor="t" anchorCtr="0">
              <a:spAutoFit/>
            </a:bodyPr>
            <a:lstStyle/>
            <a:p>
              <a:pPr algn="r"/>
              <a:r>
                <a:rPr lang="zh-CN" sz="825" dirty="0">
                  <a:solidFill>
                    <a:srgbClr val="6B85A3"/>
                  </a:solidFill>
                  <a:latin typeface="Consolas"/>
                  <a:ea typeface="Microsoft YaHei"/>
                  <a:cs typeface="Consolas"/>
                </a:rPr>
                <a:t>REV 1.0 · 2026-05-21</a:t>
              </a:r>
            </a:p>
          </p:txBody>
        </p:sp>
      </p:grpSp>
    </p:spTree>
  </p:cSld>
  <p:clrMapOvr>
    <a:masterClrMapping/>
  </p:clrMapOvr>
  <p:transition xmlns:p14="http://schemas.microsoft.com/office/powerpoint/2010/main" p14:dur="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childTnLst>
                          </p:cTn>
                        </p:par>
                        <p:par>
                          <p:cTn id="8" fill="hold">
                            <p:stCondLst>
                              <p:cond delay="88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600"/>
                                        <p:tgtEl>
                                          <p:spTgt spid="24"/>
                                        </p:tgtEl>
                                      </p:cBhvr>
                                    </p:animEffect>
                                  </p:childTnLst>
                                </p:cTn>
                              </p:par>
                            </p:childTnLst>
                          </p:cTn>
                        </p:par>
                        <p:par>
                          <p:cTn id="12" fill="hold">
                            <p:stCondLst>
                              <p:cond delay="176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600"/>
                                        <p:tgtEl>
                                          <p:spTgt spid="31"/>
                                        </p:tgtEl>
                                      </p:cBhvr>
                                    </p:animEffect>
                                  </p:childTnLst>
                                </p:cTn>
                              </p:par>
                            </p:childTnLst>
                          </p:cTn>
                        </p:par>
                        <p:par>
                          <p:cTn id="16" fill="hold">
                            <p:stCondLst>
                              <p:cond delay="2510"/>
                            </p:stCondLst>
                            <p:childTnLst>
                              <p:par>
                                <p:cTn id="17" presetID="22" presetClass="entr" presetSubtype="1"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left)">
                                      <p:cBhvr>
                                        <p:cTn id="19" dur="700"/>
                                        <p:tgtEl>
                                          <p:spTgt spid="53"/>
                                        </p:tgtEl>
                                      </p:cBhvr>
                                    </p:animEffect>
                                  </p:childTnLst>
                                </p:cTn>
                              </p:par>
                            </p:childTnLst>
                          </p:cTn>
                        </p:par>
                        <p:par>
                          <p:cTn id="20" fill="hold">
                            <p:stCondLst>
                              <p:cond delay="3410"/>
                            </p:stCondLst>
                            <p:childTnLst>
                              <p:par>
                                <p:cTn id="21" presetID="10" presetClass="entr" presetSubtype="0" fill="hold"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fade">
                                      <p:cBhvr>
                                        <p:cTn id="23" dur="500"/>
                                        <p:tgtEl>
                                          <p:spTgt spid="58"/>
                                        </p:tgtEl>
                                      </p:cBhvr>
                                    </p:animEffect>
                                  </p:childTnLst>
                                </p:cTn>
                              </p:par>
                            </p:childTnLst>
                          </p:cTn>
                        </p:par>
                        <p:par>
                          <p:cTn id="24" fill="hold">
                            <p:stCondLst>
                              <p:cond delay="4190"/>
                            </p:stCondLst>
                            <p:childTnLst>
                              <p:par>
                                <p:cTn id="25" presetID="10" presetClass="entr" presetSubtype="0" fill="hold" nodeType="after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4" grpId="0"/>
      <p:bldP spid="31" grpId="0"/>
      <p:bldP spid="53" grpId="0"/>
      <p:bldP spid="58"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