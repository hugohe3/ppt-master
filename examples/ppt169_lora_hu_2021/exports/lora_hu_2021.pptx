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一起读一篇对大模型微调影响深远的论文,LoRA,低秩适配。它来自微软,二零二一年发表。一句话概括它的贡献:冻结预训练权重,只往每一层注入一对很小的低秩矩阵,就能用万分之一的可训练参数,达到甚至超过全量微调的效果,而且推理时不增加任何延迟。接下来我会从问题、方法、实验到背后的原理,带大家完整走一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我们按六个部分展开。先看问题:为什么模型越大,微调越来越贵;再看已有方法为什么不够好;然后是这篇论文的核心洞察,低秩假设;接着重点讲 LoRA 的方法与实现细节;之后用实验结果验证它;最后讨论该适配哪些权重、秩要取多大,以及它对整个行业的意义。重点会落在第四和第五部分。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先说清楚痛点:模型越大,全量微调就越不可行。全量 fine-tuning 会更新模型的全部参数,得到的新模型和原模型一样大。以 GPT-3 一千七百五十亿参数为例,每适配一个下游任务,就要存一份完整的满参数副本。如果你有很多任务,存储和切换的成本就是任务数乘以一千七百五十亿,这已经从早年的"不太方便"升级成了真正的部署难题。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那已有的高效适配方法为什么不够好?主要有三类局限。第一,Adapter 在网络里插入额外的层,加深了模型,会带来推理延迟,在线上、短序列、小批量的场景下尤其明显。第二,prefix 或 prompt tuning 用可训练的前缀 token 来适配,会挤占本就宝贵的输入序列长度。第三,也是最关键的,这些方法往往达不到全量微调的质量基线,逼着大家在效率和质量之间二选一。LoRA 想打破的,正是这个权衡。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LoRA 的出发点是一个很漂亮的洞察:权重的更新其实是低秩的。已有研究发现,过参数化的大模型实际上存在于一个很低的内在维度上。作者顺着这个思路假设,模型在适配下游任务时,权重的变化量 Delta W 也具有很低的内在秩。这个推论很激进:即使权重的满秩高达一万两千多,实际需要的秩可能只有一或二就够了。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基于这个假设,方法就非常简洁:冻结原始权重 W 零,在它旁边并联一条低秩旁路。具体说,把权重的更新约束成两个小矩阵的乘积 B 乘 A,前向传播时输入 x 同时经过冻结的 W 和这条旁路,两路输出相加得到 h。训练时 W 零完全不动,只更新 A 和 B 这两个小矩阵。初始化上,A 用高斯随机,B 置零,所以训练一开始旁路的贡献是零,不会扰动原模型。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实现上有两个细节值得一提。第一是缩放:旁路的输出会乘上一个 alpha 除以 r 的系数,而 alpha 直接设成你尝试的第一个 r,之后就不再单独调它,这样变更秩的时候不用反复重调超参。第二是部署:上线时可以显式把 B 乘 A 合并进权重,得到一个和原模型完全同构的 W,所以不引入任何额外的推理延迟。要换任务也很简单,减掉当前的 BA,再加上另一个任务的 B 撇 A 撇就行,开销极小,非常适合多任务在线热插拔。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Transformer 上,作者做了一个克制的选择。自注意力里有四个投影矩阵,查询、键、值、输出,论文在大多数实验里只给查询和值这两个矩阵加 LoRA,MLP 模块整个冻结,这是出于简洁和参数效率的考虑。可训练参数量只随秩 r 线性增长。效果非常惊人:在 GPT-3 上,训练显存从一点二个 TB 降到三百五十个 GB,大约只剩三分之一;而检查点的大小从三百五十个 GB 直接降到三十五个 MB,缩小了约一万倍。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把这些好处归纳一下,LoRA 有四个关键优势。第一,可共享:一个预训练底座可以挂很多个小 LoRA 模块,换任务只换 A 和 B,存储成本极低。第二,训练高效:不用为冻结的参数保存梯度和优化器状态,硬件门槛最高能降到三分之一。第三,零推理延迟:合并权重后和全量微调模型完全同构。第四,正交可叠加:它和很多已有方法互不冲突,比如可以和 prefix-tuning 组合使用。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我们用数据来验证"零延迟"这个说法。这张图是 GPT-2 medium 上单次前向的延迟增幅,在 RTX8000 上测了一百次取平均。可以看到,Adapter 的两个变体都会带来延迟:在长序列配置下还比较小,只有百分之二到三;但到了短序列、小批量这种典型的在线场景,Adapter L 增加了百分之二十点七,Adapter H 更是高达百分之三十点三。而 LoRA 因为可以合并权重,和全量微调一样,额外延迟是实打实的零。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实验覆盖了从理解到生成的四类模型。自然语言理解这边,用 RoBERTa 的 base 和 large,还有十五亿参数的 DeBERTa XXL,都在 GLUE 上评测;生成这边,用 GPT-2 medium 跑 E2E 数据集;最后放大到 GPT-3 一千七百五十亿参数,在 WikiSQL、MNLI 和 SAMSum 上做压力测试。对比的基线也很全,包括全量微调、BitFit、前缀类方法,以及 Adapter 的四个变体,而且尽量复用了前人论文里报告的数值,保证公平。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 GLUE 的结果,结论是:用更少的参数,持平甚至更优。RoBERTa base 全量微调要训一亿两千五百万参数,平均分八十六点四;LoRA 只训三十万参数,平均分反而是八十七点二。RoBERTa large 上,三亿五千五百万对零点八百万,得分八十八点九对八十九点零。最大的 DeBERTa XXL 上,十五亿对四百七十万,九十一点一对九十一点三。也就是说,LoRA 用大约三四百分之一的可训练参数,在三类模型上都做到了持平或略优。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真正的压力测试是 GPT-3 一千七百五十亿参数,结论依然成立。这里有四个关键数字:可训练参数缩减了约一万倍,检查点从三百五十个 GB 降到三十五个 MB;训练显存从一点二个 TB 降到三百五十个 GB,大约三分之一;训练吞吐还提升了约百分之二十五,因为绝大多数参数不需要算梯度;而在 WikiSQL、MNLI、SAMSum 三个任务上,准确率都达到或超过了全量微调。效率和质量,这次真的可以兼得。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论文还往前追问了两个问题。第一,该给哪些权重加 LoRA?在同样的参数预算下,同时适配查询和值这两类权重效果最好,比只堆在单一类型上更划算。第二,秩到底要取多大?这是最反直觉的发现:对查询加值的组合,秩等于一时准确率就有七十三点四,一路加到六十四几乎没有提升。右边的子空间相似度热力图也印证了这一点,不同秩学到的主奇异方向高度重叠,说明权重更新的内在秩确实极低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最后做个总结。从方法本身看,低秩适配等于参数高效、零额外推理延迟,再加上质量持平甚至更优。从工程意义看,它让一个预训练底座就能托管很多任务,按需热插拔 LoRA 模块,部署成本大幅下降。从行业影响看,LoRA 已经开源,成为今天大模型高效微调,也就是 PEFT 生态的基石之一。它最大的价值,是让我们不必再在效率和质量之间二选一。谢谢大家。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0e2948ea947683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98b2251d5ae6746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e5de3f70419f016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c1abb83d5b55c91.png"/>
  <Relationship Id="rId3" Type="http://schemas.openxmlformats.org/officeDocument/2006/relationships/image" Target="../media/image_9107c8a6c8c027a8.png"/>
  <Relationship Id="rId4" Type="http://schemas.openxmlformats.org/officeDocument/2006/relationships/image" Target="../media/image_95eda345968e4069.png"/>
  <Relationship Id="rId5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2312e005b6074c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dd9b6c4830ae4d0.png"/>
  <Relationship Id="rId3" Type="http://schemas.openxmlformats.org/officeDocument/2006/relationships/image" Target="../media/image_c0832f190fbc6186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e6ab222fc12f577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2238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2857500"/>
              <a:ext cx="12192000" cy="4000500"/>
            </a:xfrm>
            <a:prstGeom prst="rect">
              <a:avLst/>
            </a:prstGeom>
            <a:gradFill>
              <a:gsLst>
                <a:gs pos="0">
                  <a:srgbClr val="0F2238">
                    <a:alpha val="92000"/>
                  </a:srgbClr>
                </a:gs>
                <a:gs pos="45000">
                  <a:srgbClr val="0F2238">
                    <a:alpha val="62000"/>
                  </a:srgbClr>
                </a:gs>
                <a:gs pos="100000">
                  <a:srgbClr val="0F2238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4355" y="4248150"/>
            <a:ext cx="6658058" cy="1314450"/>
            <a:chOff x="554355" y="4248150"/>
            <a:chExt cx="6658058" cy="1314450"/>
          </a:xfrm>
        </p:grpSpPr>
        <p:sp>
          <p:nvSpPr>
            <p:cNvPr id="6" name="Rectangle 6"/>
            <p:cNvSpPr/>
            <p:nvPr/>
          </p:nvSpPr>
          <p:spPr>
            <a:xfrm>
              <a:off x="609600" y="4248150"/>
              <a:ext cx="609600" cy="5715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4355" y="4521518"/>
              <a:ext cx="6658058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LoRA:大模型的低秩适配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6740" y="5196840"/>
              <a:ext cx="580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BD8E6"/>
                  </a:solidFill>
                  <a:latin typeface="Arial"/>
                  <a:ea typeface="Microsoft YaHei"/>
                  <a:cs typeface="Arial"/>
                </a:rPr>
                <a:t>Low-Rank Adaptation of Large Language Models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4360" y="5928360"/>
            <a:ext cx="11002327" cy="503396"/>
            <a:chOff x="594360" y="5928360"/>
            <a:chExt cx="11002327" cy="503396"/>
          </a:xfrm>
        </p:grpSpPr>
        <p:sp>
          <p:nvSpPr>
            <p:cNvPr id="10" name="TextBox 10"/>
            <p:cNvSpPr txBox="1"/>
            <p:nvPr/>
          </p:nvSpPr>
          <p:spPr>
            <a:xfrm>
              <a:off x="594360" y="5928360"/>
              <a:ext cx="56507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FB2C6"/>
                  </a:solidFill>
                  <a:latin typeface="Arial"/>
                  <a:ea typeface="Microsoft YaHei"/>
                  <a:cs typeface="Arial"/>
                </a:rPr>
                <a:t>Hu, Shen, Wallis, Allen-Zhu, Li, Wang, Wang, Chen · Microsoft · 2021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5312" y="62031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743B"/>
                  </a:solidFill>
                  <a:latin typeface="Consolas"/>
                  <a:ea typeface="Microsoft YaHei"/>
                  <a:cs typeface="Consolas"/>
                </a:rPr>
                <a:t>arXiv:2106.09685v2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7846" y="6203156"/>
              <a:ext cx="2158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FB2C6"/>
                  </a:solidFill>
                  <a:latin typeface="Arial"/>
                  <a:ea typeface="Microsoft YaHei"/>
                  <a:cs typeface="Arial"/>
                </a:rPr>
                <a:t>论文解读 · Paper Walkthrough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52450"/>
            <a:ext cx="3042635" cy="709612"/>
            <a:chOff x="609600" y="552450"/>
            <a:chExt cx="3042635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524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61722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本次讲什么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48702"/>
              <a:ext cx="2827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WHAT WE'LL COVER · 从问题到方法到验证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047750" y="1638300"/>
            <a:ext cx="9525" cy="4343400"/>
          </a:xfrm>
          <a:custGeom>
            <a:avLst/>
            <a:gdLst/>
            <a:ahLst/>
            <a:cxnLst/>
            <a:rect l="l" t="t" r="r" b="b"/>
            <a:pathLst>
              <a:path w="9525" h="4343400">
                <a:moveTo>
                  <a:pt x="0" y="0"/>
                </a:moveTo>
                <a:lnTo>
                  <a:pt x="0" y="4343400"/>
                </a:lnTo>
              </a:path>
            </a:pathLst>
          </a:custGeom>
          <a:noFill/>
          <a:ln w="28575" cap="rnd">
            <a:gradFill>
              <a:gsLst>
                <a:gs pos="0">
                  <a:srgbClr val="1B3A5C"/>
                </a:gs>
                <a:gs pos="100000">
                  <a:srgbClr val="3E7CB1"/>
                </a:gs>
              </a:gsLst>
              <a:lin ang="5400000" scaled="1"/>
            </a:gradFill>
          </a:ln>
        </p:spPr>
      </p:sp>
      <p:grpSp>
        <p:nvGrpSpPr>
          <p:cNvPr id="12" name="Group 12"/>
          <p:cNvGrpSpPr/>
          <p:nvPr/>
        </p:nvGrpSpPr>
        <p:grpSpPr>
          <a:xfrm>
            <a:off x="838200" y="1460182"/>
            <a:ext cx="4017550" cy="525780"/>
            <a:chOff x="838200" y="1460182"/>
            <a:chExt cx="4017550" cy="525780"/>
          </a:xfrm>
        </p:grpSpPr>
        <p:sp>
          <p:nvSpPr>
            <p:cNvPr id="8" name="Ellipse 8"/>
            <p:cNvSpPr/>
            <p:nvPr/>
          </p:nvSpPr>
          <p:spPr>
            <a:xfrm>
              <a:off x="838200" y="14859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6517" y="1640681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3045" y="1460182"/>
              <a:ext cx="24792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问题:微调为何越来越贵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0665" y="1772602"/>
              <a:ext cx="3345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大模型时代,全量 fine-tuning 的存储与部署成本失控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8200" y="2298382"/>
            <a:ext cx="4346591" cy="525780"/>
            <a:chOff x="838200" y="2298382"/>
            <a:chExt cx="4346591" cy="525780"/>
          </a:xfrm>
        </p:grpSpPr>
        <p:sp>
          <p:nvSpPr>
            <p:cNvPr id="13" name="Ellipse 13"/>
            <p:cNvSpPr/>
            <p:nvPr/>
          </p:nvSpPr>
          <p:spPr>
            <a:xfrm>
              <a:off x="838200" y="23241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6827" y="2478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3045" y="22983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已有方法的局限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0665" y="2610802"/>
              <a:ext cx="3674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Adapter 增延迟、Prefix 占序列,且常达不到全量微调基线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38200" y="3136582"/>
            <a:ext cx="3597497" cy="525780"/>
            <a:chOff x="838200" y="3136582"/>
            <a:chExt cx="3597497" cy="525780"/>
          </a:xfrm>
        </p:grpSpPr>
        <p:sp>
          <p:nvSpPr>
            <p:cNvPr id="18" name="Ellipse 18"/>
            <p:cNvSpPr/>
            <p:nvPr/>
          </p:nvSpPr>
          <p:spPr>
            <a:xfrm>
              <a:off x="838200" y="31623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6827" y="33170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03045" y="3136582"/>
              <a:ext cx="2017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核心洞察:低秩假设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0665" y="3449002"/>
              <a:ext cx="29250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权重更新 ΔW 具有低"内在秩",极小的 r 就够用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9150" y="3974782"/>
            <a:ext cx="3525536" cy="525780"/>
            <a:chOff x="819150" y="3974782"/>
            <a:chExt cx="3525536" cy="525780"/>
          </a:xfrm>
        </p:grpSpPr>
        <p:sp>
          <p:nvSpPr>
            <p:cNvPr id="23" name="Ellipse 23"/>
            <p:cNvSpPr/>
            <p:nvPr/>
          </p:nvSpPr>
          <p:spPr>
            <a:xfrm>
              <a:off x="819150" y="3981450"/>
              <a:ext cx="457200" cy="457200"/>
            </a:xfrm>
            <a:prstGeom prst="ellipse">
              <a:avLst/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827" y="41552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03045" y="3974782"/>
              <a:ext cx="24330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LoRA 方法与实现</a:t>
              </a:r>
              <a:r>
                <a:rPr lang="zh-CN" sz="9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· 核心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0665" y="4287202"/>
              <a:ext cx="28340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冻结 W₀,注入低秩 BA;只训 A、B,部署可合并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8200" y="4812982"/>
            <a:ext cx="4444603" cy="525780"/>
            <a:chOff x="838200" y="4812982"/>
            <a:chExt cx="4444603" cy="525780"/>
          </a:xfrm>
        </p:grpSpPr>
        <p:sp>
          <p:nvSpPr>
            <p:cNvPr id="28" name="Ellipse 28"/>
            <p:cNvSpPr/>
            <p:nvPr/>
          </p:nvSpPr>
          <p:spPr>
            <a:xfrm>
              <a:off x="838200" y="48387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827" y="49934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3045" y="48129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实验结果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0665" y="5125402"/>
              <a:ext cx="3772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RoBERTa / DeBERTa / GPT-2 / GPT-3:更少参数,持平或更优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8200" y="5651182"/>
            <a:ext cx="3856530" cy="525780"/>
            <a:chOff x="838200" y="5651182"/>
            <a:chExt cx="3856530" cy="525780"/>
          </a:xfrm>
        </p:grpSpPr>
        <p:sp>
          <p:nvSpPr>
            <p:cNvPr id="33" name="Ellipse 33"/>
            <p:cNvSpPr/>
            <p:nvPr/>
          </p:nvSpPr>
          <p:spPr>
            <a:xfrm>
              <a:off x="838200" y="56769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6827" y="58316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03045" y="56511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低秩理解与结论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0665" y="5963602"/>
              <a:ext cx="3184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该适配哪些权重、秩要多大,以及对工程落地的意义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99122" y="6578441"/>
              <a:ext cx="21387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LoRA · Hu et al. 2021 · arXiv:2106.09685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27" grpId="0"/>
      <p:bldP spid="32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2791" t="0" r="12791" b="0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5905500" y="0"/>
              <a:ext cx="2095500" cy="6858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4457357" cy="690562"/>
            <a:chOff x="609600" y="571500"/>
            <a:chExt cx="4457357" cy="690562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8670" y="617220"/>
              <a:ext cx="427828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模型越大,全量微调越不可行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4865" y="1048702"/>
              <a:ext cx="21290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THE COST OF FULL FINE-TUNING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5780" y="2335530"/>
            <a:ext cx="3839337" cy="1341120"/>
            <a:chOff x="525780" y="2335530"/>
            <a:chExt cx="3839337" cy="134112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335530"/>
              <a:ext cx="1969665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175B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6745" y="3269932"/>
              <a:ext cx="37383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每个下游任务都要存一份满参数副本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2455" y="3886200"/>
            <a:ext cx="4660868" cy="1309688"/>
            <a:chOff x="592455" y="3886200"/>
            <a:chExt cx="4660868" cy="1309688"/>
          </a:xfrm>
        </p:grpSpPr>
        <p:sp>
          <p:nvSpPr>
            <p:cNvPr id="13" name="Rectangle 13"/>
            <p:cNvSpPr/>
            <p:nvPr/>
          </p:nvSpPr>
          <p:spPr>
            <a:xfrm>
              <a:off x="609600" y="3886200"/>
              <a:ext cx="342900" cy="28575"/>
            </a:xfrm>
            <a:prstGeom prst="rect">
              <a:avLst/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2455" y="4159568"/>
              <a:ext cx="4660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全量 fine-tuning 会更新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全部参数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,新模型与原模型一样大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455" y="4540568"/>
              <a:ext cx="37247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部署 N 个任务 = </a:t>
              </a:r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N × 175B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,存储与切换成本极高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455" y="4921568"/>
              <a:ext cx="3859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以 GPT-3 175B 为例,已从"不便"升级为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部署难题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18" name="TextBox 18"/>
            <p:cNvSpPr txBox="1"/>
            <p:nvPr/>
          </p:nvSpPr>
          <p:spPr>
            <a:xfrm>
              <a:off x="599122" y="6578441"/>
              <a:ext cx="22102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 Introduction · Hu et al. 2021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944618" cy="709612"/>
            <a:chOff x="609600" y="533400"/>
            <a:chExt cx="4944618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7655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为什么现有高效适配方法不够好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569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LIMITS OF EXISTING EFFICIENT-ADAPTATION METHODS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143000" y="2114550"/>
            <a:ext cx="9525" cy="3695700"/>
          </a:xfrm>
          <a:custGeom>
            <a:avLst/>
            <a:gdLst/>
            <a:ahLst/>
            <a:cxnLst/>
            <a:rect l="l" t="t" r="r" b="b"/>
            <a:pathLst>
              <a:path w="9525" h="3695700">
                <a:moveTo>
                  <a:pt x="0" y="0"/>
                </a:moveTo>
                <a:lnTo>
                  <a:pt x="0" y="3695700"/>
                </a:lnTo>
              </a:path>
            </a:pathLst>
          </a:custGeom>
          <a:noFill/>
          <a:ln w="28575" cap="rnd">
            <a:gradFill>
              <a:gsLst>
                <a:gs pos="0">
                  <a:srgbClr val="1B3A5C"/>
                </a:gs>
                <a:gs pos="100000">
                  <a:srgbClr val="3E7CB1"/>
                </a:gs>
              </a:gsLst>
              <a:lin ang="5400000" scaled="1"/>
            </a:gradFill>
          </a:ln>
        </p:spPr>
      </p:sp>
      <p:grpSp>
        <p:nvGrpSpPr>
          <p:cNvPr id="20" name="Group 20"/>
          <p:cNvGrpSpPr/>
          <p:nvPr/>
        </p:nvGrpSpPr>
        <p:grpSpPr>
          <a:xfrm>
            <a:off x="914400" y="1619250"/>
            <a:ext cx="10668000" cy="1219200"/>
            <a:chOff x="914400" y="1619250"/>
            <a:chExt cx="10668000" cy="1219200"/>
          </a:xfrm>
        </p:grpSpPr>
        <p:sp>
          <p:nvSpPr>
            <p:cNvPr id="8" name="Ellipse 8"/>
            <p:cNvSpPr/>
            <p:nvPr/>
          </p:nvSpPr>
          <p:spPr>
            <a:xfrm>
              <a:off x="914400" y="198120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6351" y="2146935"/>
              <a:ext cx="1732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09750" y="1619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809750" y="1619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114550" y="1885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4F7FA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250129" y="2029896"/>
              <a:ext cx="224133" cy="192560"/>
              <a:chOff x="2250129" y="2029896"/>
              <a:chExt cx="224133" cy="1925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362200" y="21002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250129" y="20298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362200" y="217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838450" y="1895475"/>
              <a:ext cx="26214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Adapter 层 → 引入</a:t>
              </a:r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推理延迟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2260" y="2232660"/>
              <a:ext cx="53351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在自注意力/MLP 后插入额外层,加深模型;在线、短序列、小 batch 场景下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2260" y="2480310"/>
              <a:ext cx="28788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延迟增加尤为明显(后续 Table 1 量化)。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3143250"/>
            <a:ext cx="10668000" cy="1219200"/>
            <a:chOff x="914400" y="3143250"/>
            <a:chExt cx="10668000" cy="1219200"/>
          </a:xfrm>
        </p:grpSpPr>
        <p:sp>
          <p:nvSpPr>
            <p:cNvPr id="21" name="Ellipse 21"/>
            <p:cNvSpPr/>
            <p:nvPr/>
          </p:nvSpPr>
          <p:spPr>
            <a:xfrm>
              <a:off x="914400" y="350520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5348" y="3670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09750" y="3143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09750" y="3143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14550" y="3409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4F7F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250129" y="3553896"/>
              <a:ext cx="224133" cy="192560"/>
              <a:chOff x="2250129" y="3553896"/>
              <a:chExt cx="224133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362200" y="36242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250129" y="35538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362200" y="370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838450" y="3419475"/>
              <a:ext cx="38605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Prefix / Prompt tuning → </a:t>
              </a:r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占用输入长度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42260" y="3756660"/>
              <a:ext cx="5151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用可训练的前缀 token 适配任务,会挤占可用序列长度;且前缀位置/数量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42260" y="4004310"/>
              <a:ext cx="12386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敏感,优化较难。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14400" y="4667250"/>
            <a:ext cx="10668000" cy="1219200"/>
            <a:chOff x="914400" y="4667250"/>
            <a:chExt cx="10668000" cy="1219200"/>
          </a:xfrm>
        </p:grpSpPr>
        <p:sp>
          <p:nvSpPr>
            <p:cNvPr id="34" name="Ellipse 34"/>
            <p:cNvSpPr/>
            <p:nvPr/>
          </p:nvSpPr>
          <p:spPr>
            <a:xfrm>
              <a:off x="914400" y="502920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5348" y="5194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09750" y="4667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09750" y="4667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114550" y="4933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2250129" y="5077896"/>
              <a:ext cx="224133" cy="192560"/>
              <a:chOff x="2250129" y="5077896"/>
              <a:chExt cx="224133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2362200" y="51482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2250129" y="50778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362200" y="5226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2838450" y="4943475"/>
              <a:ext cx="25899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普遍 → </a:t>
              </a:r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达不到全量微调基线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42260" y="5280660"/>
              <a:ext cx="52471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多数高效方法在质量上落后于 full fine-tuning,迫使人在"效率"与"质量"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42260" y="5528310"/>
              <a:ext cx="31508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之间二选一 —— 这正是 LoRA 想打破的权衡。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99122" y="6578441"/>
              <a:ext cx="16271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§1–3 · Hu et al. 2021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3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3298012" cy="690562"/>
            <a:chOff x="609600" y="571500"/>
            <a:chExt cx="3298012" cy="690562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617220"/>
              <a:ext cx="31189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权重更新其实"低秩"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4870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THE LOW INTRINSIC-RANK HYPOTHESIS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36018" y="1847850"/>
            <a:ext cx="5346382" cy="3340894"/>
            <a:chOff x="6236018" y="1847850"/>
            <a:chExt cx="5346382" cy="3340894"/>
          </a:xfrm>
        </p:grpSpPr>
        <p:sp>
          <p:nvSpPr>
            <p:cNvPr id="7" name="Rectangle 7"/>
            <p:cNvSpPr/>
            <p:nvPr/>
          </p:nvSpPr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  <a:noFill/>
            <a:ln w="14288">
              <a:solidFill>
                <a:srgbClr val="D8DE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36018" y="4990624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高维权重更新坍缩到低维子空间(示意)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0550" y="2200275"/>
            <a:ext cx="3528631" cy="2747963"/>
            <a:chOff x="590550" y="2200275"/>
            <a:chExt cx="3528631" cy="2747963"/>
          </a:xfrm>
        </p:grpSpPr>
        <p:sp>
          <p:nvSpPr>
            <p:cNvPr id="12" name="TextBox 12"/>
            <p:cNvSpPr txBox="1"/>
            <p:nvPr/>
          </p:nvSpPr>
          <p:spPr>
            <a:xfrm>
              <a:off x="590550" y="22002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① 已有证据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2455" y="25593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过参数化模型实际位于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低内在维度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6265" y="2839402"/>
              <a:ext cx="2490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Li et al. 2018;Aghajanyan et al. 2020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0550" y="33813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② 本文假设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455" y="3740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适配时的权重变化 </a:t>
              </a:r>
              <a:r>
                <a:rPr lang="zh-CN" sz="1350" i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ΔW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也具有低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"内在秩"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0550" y="4314825"/>
              <a:ext cx="6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③ 推论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2455" y="4673918"/>
              <a:ext cx="35267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即使 </a:t>
              </a:r>
              <a:r>
                <a:rPr lang="zh-CN" sz="1350" i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d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高达 </a:t>
              </a:r>
              <a:r>
                <a:rPr lang="zh-CN" sz="13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12,288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,极低的秩 </a:t>
              </a:r>
              <a:r>
                <a:rPr lang="zh-CN" sz="1350" b="1" i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r(1~2)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也够用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20" name="TextBox 20"/>
            <p:cNvSpPr txBox="1"/>
            <p:nvPr/>
          </p:nvSpPr>
          <p:spPr>
            <a:xfrm>
              <a:off x="599122" y="6578441"/>
              <a:ext cx="18141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§1, §4.1 · Hu et al. 2021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449231" cy="709612"/>
            <a:chOff x="609600" y="533400"/>
            <a:chExt cx="3449231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2701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冻结 W₀,注入低秩 BA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040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THE LoRA REPARAMETRIZATION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3500" y="1162050"/>
            <a:ext cx="9525000" cy="3952875"/>
            <a:chOff x="1333500" y="1162050"/>
            <a:chExt cx="9525000" cy="3952875"/>
          </a:xfrm>
        </p:grpSpPr>
        <p:sp>
          <p:nvSpPr>
            <p:cNvPr id="7" name="Rectangle 7"/>
            <p:cNvSpPr/>
            <p:nvPr/>
          </p:nvSpPr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  <a:noFill/>
            <a:ln w="14288">
              <a:solidFill>
                <a:srgbClr val="D8DEE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866900" y="1543050"/>
            <a:ext cx="8458200" cy="285750"/>
            <a:chOff x="1866900" y="1543050"/>
            <a:chExt cx="8458200" cy="285750"/>
          </a:xfrm>
        </p:grpSpPr>
        <p:sp>
          <p:nvSpPr>
            <p:cNvPr id="11" name="Rectangle 11"/>
            <p:cNvSpPr/>
            <p:nvPr/>
          </p:nvSpPr>
          <p:spPr>
            <a:xfrm>
              <a:off x="1866900" y="1543050"/>
              <a:ext cx="2209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2000"/>
              </a:srgbClr>
            </a:solidFill>
            <a:ln w="9525">
              <a:solidFill>
                <a:srgbClr val="D8DEE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06918" y="16282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训练时 W₀ 冻结,只更新 </a:t>
              </a:r>
              <a:r>
                <a:rPr lang="zh-CN" sz="975" b="1" i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A、B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115300" y="1543050"/>
              <a:ext cx="2209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2000"/>
              </a:srgbClr>
            </a:solidFill>
            <a:ln w="9525">
              <a:solidFill>
                <a:srgbClr val="D8DE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55318" y="162829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</a:t>
              </a:r>
              <a:r>
                <a:rPr lang="zh-CN" sz="97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 高斯初始化、</a:t>
              </a:r>
              <a:r>
                <a:rPr lang="zh-CN" sz="975" i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B</a:t>
              </a:r>
              <a:r>
                <a:rPr lang="zh-CN" sz="97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=0 → 起始 ΔW=0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5143500"/>
            <a:ext cx="10972800" cy="1257300"/>
            <a:chOff x="609600" y="5143500"/>
            <a:chExt cx="10972800" cy="1257300"/>
          </a:xfrm>
        </p:grpSpPr>
        <p:sp>
          <p:nvSpPr>
            <p:cNvPr id="16" name="Rectangle 16"/>
            <p:cNvSpPr/>
            <p:nvPr/>
          </p:nvSpPr>
          <p:spPr>
            <a:xfrm>
              <a:off x="609600" y="5143500"/>
              <a:ext cx="10972800" cy="1257300"/>
            </a:xfrm>
            <a:prstGeom prst="roundRect">
              <a:avLst>
                <a:gd name="adj" fmla="val 9091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51435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165" y="54302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低秩分解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500" y="5314950"/>
              <a:ext cx="7239000" cy="314325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939165" y="60017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前向传播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9830" y="5905500"/>
              <a:ext cx="4468091" cy="2857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0056971" y="60097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两路输出逐坐标相加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24" name="TextBox 24"/>
            <p:cNvSpPr txBox="1"/>
            <p:nvPr/>
          </p:nvSpPr>
          <p:spPr>
            <a:xfrm>
              <a:off x="599122" y="6578441"/>
              <a:ext cx="25787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§4.1, Eq.(3), Figure 1 · Hu et al. 2021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3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222128" cy="709612"/>
            <a:chOff x="609600" y="533400"/>
            <a:chExt cx="4222128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0430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一个常数 α、一次部署合并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6950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INITIALIZATION, SCALING &amp; DEPLOYMENT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524000"/>
            <a:ext cx="5334000" cy="4572000"/>
            <a:chOff x="609600" y="152400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609600" y="1524000"/>
              <a:ext cx="5334000" cy="4572000"/>
            </a:xfrm>
            <a:prstGeom prst="roundRect">
              <a:avLst>
                <a:gd name="adj" fmla="val 3333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524000"/>
              <a:ext cx="57150" cy="45720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95362" y="1909762"/>
              <a:ext cx="257175" cy="257175"/>
              <a:chOff x="995362" y="1909762"/>
              <a:chExt cx="257175" cy="2571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95362" y="1909762"/>
                <a:ext cx="1428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57175">
                    <a:moveTo>
                      <a:pt x="0" y="228600"/>
                    </a:moveTo>
                    <a:cubicBezTo>
                      <a:pt x="0" y="244382"/>
                      <a:pt x="12793" y="257175"/>
                      <a:pt x="28575" y="257175"/>
                    </a:cubicBezTo>
                    <a:cubicBezTo>
                      <a:pt x="57150" y="257175"/>
                      <a:pt x="57150" y="200025"/>
                      <a:pt x="71438" y="128588"/>
                    </a:cubicBezTo>
                    <a:cubicBezTo>
                      <a:pt x="85725" y="57150"/>
                      <a:pt x="85725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3938" y="20383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66812" y="20383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6812" y="20383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07795" y="1936432"/>
              <a:ext cx="17515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缩放:一个常数 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19250" y="2724150"/>
              <a:ext cx="33147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750" y="3146973"/>
              <a:ext cx="1409700" cy="583103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974408" y="4567714"/>
              <a:ext cx="12905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ΔWx 按 </a:t>
              </a:r>
              <a:r>
                <a:rPr lang="zh-CN" sz="1275" b="1" i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α/r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缩放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4408" y="4891564"/>
              <a:ext cx="26252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α 设为首个尝试的 r,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不再单独调参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4408" y="5215414"/>
              <a:ext cx="2268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变更 r 时减少超参重调的需要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7265" y="5601652"/>
              <a:ext cx="2084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用 Adam 时,调 α 约等于调学习率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48400" y="1524000"/>
            <a:ext cx="5334000" cy="2171700"/>
            <a:chOff x="6248400" y="1524000"/>
            <a:chExt cx="5334000" cy="217170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334000" cy="2171700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48400" y="15240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634162" y="1909762"/>
              <a:ext cx="257176" cy="257176"/>
              <a:chOff x="6634162" y="1909762"/>
              <a:chExt cx="257176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34162" y="19097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77038" y="19097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114300" y="71438"/>
                    </a:lnTo>
                    <a:cubicBezTo>
                      <a:pt x="114300" y="55656"/>
                      <a:pt x="101507" y="42862"/>
                      <a:pt x="85725" y="42862"/>
                    </a:cubicBezTo>
                    <a:lnTo>
                      <a:pt x="0" y="42862"/>
                    </a:lnTo>
                    <a:lnTo>
                      <a:pt x="42862" y="85725"/>
                    </a:lnTo>
                    <a:moveTo>
                      <a:pt x="42862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34162" y="20526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0" y="42862"/>
                    </a:lnTo>
                    <a:cubicBezTo>
                      <a:pt x="0" y="58644"/>
                      <a:pt x="12793" y="71438"/>
                      <a:pt x="28575" y="71438"/>
                    </a:cubicBezTo>
                    <a:lnTo>
                      <a:pt x="114300" y="71438"/>
                    </a:lnTo>
                    <a:lnTo>
                      <a:pt x="71438" y="28575"/>
                    </a:lnTo>
                    <a:moveTo>
                      <a:pt x="71438" y="114300"/>
                    </a:moveTo>
                    <a:lnTo>
                      <a:pt x="114300" y="7143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805612" y="20812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046595" y="1936432"/>
              <a:ext cx="28373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部署:合并权重,零额外结构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3208" y="2510314"/>
              <a:ext cx="22001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显式计算并存储 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W = W₀ + BA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3208" y="28341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推理时与原模型完全同构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3208" y="3158014"/>
              <a:ext cx="20471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→ </a:t>
              </a:r>
              <a:r>
                <a:rPr lang="zh-CN" sz="12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不引入任何额外推理延迟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48400" y="3924300"/>
            <a:ext cx="5334000" cy="2171700"/>
            <a:chOff x="6248400" y="3924300"/>
            <a:chExt cx="5334000" cy="2171700"/>
          </a:xfrm>
        </p:grpSpPr>
        <p:sp>
          <p:nvSpPr>
            <p:cNvPr id="34" name="Rectangle 34"/>
            <p:cNvSpPr/>
            <p:nvPr/>
          </p:nvSpPr>
          <p:spPr>
            <a:xfrm>
              <a:off x="6248400" y="3924300"/>
              <a:ext cx="5334000" cy="2171700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9243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2738" y="4324350"/>
              <a:ext cx="214312" cy="228600"/>
              <a:chOff x="6662738" y="4324350"/>
              <a:chExt cx="214312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62738" y="44958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62738" y="4324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05612" y="4324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91312" y="43815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19888" y="44243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91325" y="44243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046595" y="4336732"/>
              <a:ext cx="2017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换任务:快速热插拔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3208" y="4910614"/>
              <a:ext cx="16135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恢复 W₀ 只需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减去 BA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3208" y="5234464"/>
              <a:ext cx="22086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再加上另一任务的 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B′A′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即可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3208" y="5558314"/>
              <a:ext cx="26762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内存开销极小,适合多任务在线切换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48" name="TextBox 48"/>
            <p:cNvSpPr txBox="1"/>
            <p:nvPr/>
          </p:nvSpPr>
          <p:spPr>
            <a:xfrm>
              <a:off x="599122" y="65784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§4.1–4.2 · Hu et al. 2021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6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34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3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2928366" cy="709612"/>
            <a:chOff x="609600" y="533400"/>
            <a:chExt cx="2928366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只适配注意力权重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518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APPLYING LoRA TO THE TRANSFORMER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7218" y="1428750"/>
            <a:ext cx="4108132" cy="4798219"/>
            <a:chOff x="597218" y="1428750"/>
            <a:chExt cx="4108132" cy="4798219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4095750" cy="4476750"/>
            </a:xfrm>
            <a:prstGeom prst="roundRect">
              <a:avLst>
                <a:gd name="adj" fmla="val 3256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28750"/>
              <a:ext cx="4095750" cy="4476750"/>
            </a:xfrm>
            <a:prstGeom prst="roundRect">
              <a:avLst>
                <a:gd name="adj" fmla="val 3255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09600" y="1428750"/>
              <a:ext cx="4095750" cy="4476750"/>
            </a:xfrm>
            <a:prstGeom prst="roundRect">
              <a:avLst>
                <a:gd name="adj" fmla="val 3256"/>
              </a:avLst>
            </a:prstGeom>
            <a:noFill/>
            <a:ln w="14288">
              <a:solidFill>
                <a:srgbClr val="D8DE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7218" y="6028849"/>
              <a:ext cx="29761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自注意力的 Wq、Wv 各挂一条 LoRA 旁路,MLP 冻结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27308" y="1621631"/>
            <a:ext cx="4061889" cy="995363"/>
            <a:chOff x="5127308" y="1621631"/>
            <a:chExt cx="4061889" cy="995363"/>
          </a:xfrm>
        </p:grpSpPr>
        <p:grpSp>
          <p:nvGrpSpPr>
            <p:cNvPr id="17" name="Group 17"/>
            <p:cNvGrpSpPr/>
            <p:nvPr/>
          </p:nvGrpSpPr>
          <p:grpSpPr>
            <a:xfrm>
              <a:off x="5183981" y="1621631"/>
              <a:ext cx="242887" cy="242887"/>
              <a:chOff x="5183981" y="1621631"/>
              <a:chExt cx="242887" cy="2428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183981" y="178355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lnTo>
                      <a:pt x="80962" y="53975"/>
                    </a:lnTo>
                    <a:cubicBezTo>
                      <a:pt x="80962" y="68880"/>
                      <a:pt x="68880" y="80962"/>
                      <a:pt x="53975" y="80962"/>
                    </a:cubicBezTo>
                    <a:lnTo>
                      <a:pt x="26988" y="80962"/>
                    </a:lnTo>
                    <a:cubicBezTo>
                      <a:pt x="12083" y="80962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345906" y="178355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lnTo>
                      <a:pt x="80962" y="53975"/>
                    </a:lnTo>
                    <a:cubicBezTo>
                      <a:pt x="80962" y="68880"/>
                      <a:pt x="68880" y="80962"/>
                      <a:pt x="53975" y="80962"/>
                    </a:cubicBezTo>
                    <a:lnTo>
                      <a:pt x="26988" y="80962"/>
                    </a:lnTo>
                    <a:cubicBezTo>
                      <a:pt x="12083" y="80962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64944" y="162163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lnTo>
                      <a:pt x="80962" y="53975"/>
                    </a:lnTo>
                    <a:cubicBezTo>
                      <a:pt x="80962" y="68880"/>
                      <a:pt x="68880" y="80962"/>
                      <a:pt x="53975" y="80962"/>
                    </a:cubicBezTo>
                    <a:lnTo>
                      <a:pt x="26988" y="80962"/>
                    </a:lnTo>
                    <a:cubicBezTo>
                      <a:pt x="12083" y="80962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224462" y="1743075"/>
                <a:ext cx="1619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40481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305425" y="1702594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562600" y="1666875"/>
              <a:ext cx="23693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范围:四个投影,只动两个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27308" y="2072164"/>
              <a:ext cx="24041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自注意力含 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Wq / Wk / Wv / Wo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27308" y="2357914"/>
              <a:ext cx="40618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实验中只适配 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Wq、Wv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,冻结 MLP(为简洁与参数效率)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0" y="2857500"/>
            <a:ext cx="6438900" cy="1428750"/>
            <a:chOff x="5143500" y="2857500"/>
            <a:chExt cx="6438900" cy="1428750"/>
          </a:xfrm>
        </p:grpSpPr>
        <p:sp>
          <p:nvSpPr>
            <p:cNvPr id="22" name="Rectangle 22"/>
            <p:cNvSpPr/>
            <p:nvPr/>
          </p:nvSpPr>
          <p:spPr>
            <a:xfrm>
              <a:off x="5143500" y="2857500"/>
              <a:ext cx="6438900" cy="1428750"/>
            </a:xfrm>
            <a:prstGeom prst="roundRect">
              <a:avLst>
                <a:gd name="adj" fmla="val 9333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76862" y="309800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可训练参数量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1150" y="3390900"/>
              <a:ext cx="4953000" cy="4953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5377815" y="4001452"/>
              <a:ext cx="3240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L_LoRA = 应用 LoRA 的权重矩阵数;只随 r 线性增长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43500" y="4552950"/>
            <a:ext cx="6438900" cy="1352550"/>
            <a:chOff x="5143500" y="4552950"/>
            <a:chExt cx="6438900" cy="1352550"/>
          </a:xfrm>
        </p:grpSpPr>
        <p:sp>
          <p:nvSpPr>
            <p:cNvPr id="27" name="Rectangle 27"/>
            <p:cNvSpPr/>
            <p:nvPr/>
          </p:nvSpPr>
          <p:spPr>
            <a:xfrm>
              <a:off x="5143500" y="4552950"/>
              <a:ext cx="314325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76862" y="4774406"/>
              <a:ext cx="20448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训练显存 VRAM(GPT-3 175B)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62575" y="5148262"/>
              <a:ext cx="207340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1.2TB </a:t>
              </a:r>
              <a:r>
                <a:rPr lang="zh-CN" sz="16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→</a:t>
              </a:r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22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350GB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77815" y="5582602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约降至原来的 1/3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439150" y="4552950"/>
              <a:ext cx="314325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72512" y="4774406"/>
              <a:ext cx="21235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Checkpoint(r=4, 仅 Wq/Wv)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58225" y="5148262"/>
              <a:ext cx="204189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350GB </a:t>
              </a:r>
              <a:r>
                <a:rPr lang="zh-CN" sz="16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→</a:t>
              </a:r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22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35MB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73465" y="5582602"/>
              <a:ext cx="1034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约 10,000× 缩减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99122" y="6578441"/>
              <a:ext cx="16546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§4.2 · Hu et al. 2021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3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2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3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26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432429" cy="709612"/>
            <a:chOff x="609600" y="533400"/>
            <a:chExt cx="3432429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25335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LoRA 的四个关键优势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1518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FOUR KEY ADVANTAGES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04950"/>
            <a:ext cx="5334000" cy="2152650"/>
            <a:chOff x="609600" y="1504950"/>
            <a:chExt cx="5334000" cy="215265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01312" y="1655445"/>
              <a:ext cx="56321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1B3A5C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1771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03312" y="1938338"/>
              <a:ext cx="155575" cy="200024"/>
              <a:chOff x="1103312" y="1938338"/>
              <a:chExt cx="155575" cy="2000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03312" y="2005012"/>
                <a:ext cx="1555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33350">
                    <a:moveTo>
                      <a:pt x="33338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33350" y="133350"/>
                    </a:lnTo>
                    <a:cubicBezTo>
                      <a:pt x="145625" y="133350"/>
                      <a:pt x="155575" y="123400"/>
                      <a:pt x="155575" y="11112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81100" y="1938338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1222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7762" y="19383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95350" y="25431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可共享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3922" y="2825591"/>
              <a:ext cx="1459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ONE BASE · MANY MODULES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0112" y="3098006"/>
              <a:ext cx="25038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一个预训练底座 + 多个小 LoRA 模块;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0112" y="3307556"/>
              <a:ext cx="2571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换任务只需替换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A、B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,显著降低存储。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48400" y="1504950"/>
            <a:ext cx="5334000" cy="2152650"/>
            <a:chOff x="6248400" y="1504950"/>
            <a:chExt cx="5334000" cy="215265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03595" y="1655445"/>
              <a:ext cx="6997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3E7CB1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1771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742112" y="1938338"/>
              <a:ext cx="155575" cy="200025"/>
            </a:xfrm>
            <a:custGeom>
              <a:avLst/>
              <a:gdLst/>
              <a:ahLst/>
              <a:cxnLst/>
              <a:rect l="l" t="t" r="r" b="b"/>
              <a:pathLst>
                <a:path w="155575" h="200025">
                  <a:moveTo>
                    <a:pt x="88900" y="0"/>
                  </a:moveTo>
                  <a:lnTo>
                    <a:pt x="88900" y="77787"/>
                  </a:lnTo>
                  <a:lnTo>
                    <a:pt x="155575" y="77787"/>
                  </a:lnTo>
                  <a:lnTo>
                    <a:pt x="66675" y="200025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3E7CB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4150" y="25431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高效训练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2722" y="2825591"/>
              <a:ext cx="14013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LOWER HARDWARE BARRIER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38912" y="3098006"/>
              <a:ext cx="25113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无需为冻结参数存梯度与优化器状态;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38912" y="3307556"/>
              <a:ext cx="1588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硬件门槛最高降低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3×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886200"/>
            <a:ext cx="5334000" cy="2152650"/>
            <a:chOff x="609600" y="3886200"/>
            <a:chExt cx="5334000" cy="2152650"/>
          </a:xfrm>
        </p:grpSpPr>
        <p:sp>
          <p:nvSpPr>
            <p:cNvPr id="28" name="Rectangle 28"/>
            <p:cNvSpPr/>
            <p:nvPr/>
          </p:nvSpPr>
          <p:spPr>
            <a:xfrm>
              <a:off x="6096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64795" y="4036695"/>
              <a:ext cx="6997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E8743B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4152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81088" y="4319588"/>
              <a:ext cx="200025" cy="200025"/>
              <a:chOff x="1081088" y="4319588"/>
              <a:chExt cx="200025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81088" y="43195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69988" y="44084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96769" y="4375150"/>
                <a:ext cx="28781" cy="28781"/>
              </a:xfrm>
              <a:custGeom>
                <a:avLst/>
                <a:gdLst/>
                <a:ahLst/>
                <a:cxnLst/>
                <a:rect l="l" t="t" r="r" b="b"/>
                <a:pathLst>
                  <a:path w="28781" h="28781">
                    <a:moveTo>
                      <a:pt x="0" y="28781"/>
                    </a:moveTo>
                    <a:lnTo>
                      <a:pt x="28781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25538" y="4364038"/>
                <a:ext cx="55562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55562" h="55562">
                    <a:moveTo>
                      <a:pt x="0" y="55562"/>
                    </a:moveTo>
                    <a:cubicBezTo>
                      <a:pt x="0" y="24876"/>
                      <a:pt x="24876" y="0"/>
                      <a:pt x="55562" y="0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95350" y="49244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零推理延迟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3922" y="5206841"/>
              <a:ext cx="15804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NO ADDED INFERENCE LATENCY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0112" y="5479256"/>
              <a:ext cx="16337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部署时合并 W = W₀+BA;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112" y="56888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与全量微调模型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同构、不增延迟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48400" y="3886200"/>
            <a:ext cx="5334000" cy="2152650"/>
            <a:chOff x="6248400" y="3886200"/>
            <a:chExt cx="5334000" cy="2152650"/>
          </a:xfrm>
        </p:grpSpPr>
        <p:sp>
          <p:nvSpPr>
            <p:cNvPr id="41" name="Rectangle 41"/>
            <p:cNvSpPr/>
            <p:nvPr/>
          </p:nvSpPr>
          <p:spPr>
            <a:xfrm>
              <a:off x="62484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703595" y="4036695"/>
              <a:ext cx="6997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1B3A5C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53200" y="4152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719888" y="43195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11112" y="44450"/>
                  </a:moveTo>
                  <a:lnTo>
                    <a:pt x="44450" y="44450"/>
                  </a:lnTo>
                  <a:cubicBezTo>
                    <a:pt x="50587" y="44450"/>
                    <a:pt x="55563" y="39475"/>
                    <a:pt x="55563" y="33338"/>
                  </a:cubicBezTo>
                  <a:lnTo>
                    <a:pt x="55563" y="22225"/>
                  </a:lnTo>
                  <a:cubicBezTo>
                    <a:pt x="55563" y="9950"/>
                    <a:pt x="65513" y="0"/>
                    <a:pt x="77787" y="0"/>
                  </a:cubicBezTo>
                  <a:cubicBezTo>
                    <a:pt x="90062" y="0"/>
                    <a:pt x="100012" y="9950"/>
                    <a:pt x="100012" y="22225"/>
                  </a:cubicBezTo>
                  <a:lnTo>
                    <a:pt x="100012" y="33338"/>
                  </a:lnTo>
                  <a:cubicBezTo>
                    <a:pt x="100012" y="39475"/>
                    <a:pt x="104988" y="44450"/>
                    <a:pt x="111125" y="44450"/>
                  </a:cubicBezTo>
                  <a:lnTo>
                    <a:pt x="144462" y="44450"/>
                  </a:lnTo>
                  <a:cubicBezTo>
                    <a:pt x="150600" y="44450"/>
                    <a:pt x="155575" y="49425"/>
                    <a:pt x="155575" y="55562"/>
                  </a:cubicBezTo>
                  <a:lnTo>
                    <a:pt x="155575" y="88900"/>
                  </a:lnTo>
                  <a:cubicBezTo>
                    <a:pt x="155575" y="95037"/>
                    <a:pt x="160550" y="100012"/>
                    <a:pt x="166688" y="100012"/>
                  </a:cubicBezTo>
                  <a:lnTo>
                    <a:pt x="177800" y="100012"/>
                  </a:lnTo>
                  <a:cubicBezTo>
                    <a:pt x="190075" y="100012"/>
                    <a:pt x="200025" y="109963"/>
                    <a:pt x="200025" y="122237"/>
                  </a:cubicBezTo>
                  <a:cubicBezTo>
                    <a:pt x="200025" y="134512"/>
                    <a:pt x="190075" y="144463"/>
                    <a:pt x="177800" y="144463"/>
                  </a:cubicBezTo>
                  <a:lnTo>
                    <a:pt x="166688" y="144463"/>
                  </a:lnTo>
                  <a:cubicBezTo>
                    <a:pt x="160550" y="144463"/>
                    <a:pt x="155575" y="149438"/>
                    <a:pt x="155575" y="155575"/>
                  </a:cubicBezTo>
                  <a:lnTo>
                    <a:pt x="155575" y="188912"/>
                  </a:lnTo>
                  <a:cubicBezTo>
                    <a:pt x="155575" y="195050"/>
                    <a:pt x="150600" y="200025"/>
                    <a:pt x="144462" y="200025"/>
                  </a:cubicBezTo>
                  <a:lnTo>
                    <a:pt x="111125" y="200025"/>
                  </a:lnTo>
                  <a:cubicBezTo>
                    <a:pt x="104988" y="200025"/>
                    <a:pt x="100012" y="195050"/>
                    <a:pt x="100012" y="188912"/>
                  </a:cubicBezTo>
                  <a:lnTo>
                    <a:pt x="100012" y="177800"/>
                  </a:lnTo>
                  <a:cubicBezTo>
                    <a:pt x="100012" y="165525"/>
                    <a:pt x="90062" y="155575"/>
                    <a:pt x="77787" y="155575"/>
                  </a:cubicBezTo>
                  <a:cubicBezTo>
                    <a:pt x="65513" y="155575"/>
                    <a:pt x="55563" y="165525"/>
                    <a:pt x="55563" y="177800"/>
                  </a:cubicBezTo>
                  <a:lnTo>
                    <a:pt x="55563" y="188912"/>
                  </a:lnTo>
                  <a:cubicBezTo>
                    <a:pt x="55563" y="195050"/>
                    <a:pt x="50587" y="200025"/>
                    <a:pt x="44450" y="200025"/>
                  </a:cubicBezTo>
                  <a:lnTo>
                    <a:pt x="11112" y="200025"/>
                  </a:lnTo>
                  <a:cubicBezTo>
                    <a:pt x="4975" y="200025"/>
                    <a:pt x="0" y="195050"/>
                    <a:pt x="0" y="188912"/>
                  </a:cubicBezTo>
                  <a:lnTo>
                    <a:pt x="0" y="155575"/>
                  </a:lnTo>
                  <a:cubicBezTo>
                    <a:pt x="0" y="149438"/>
                    <a:pt x="4975" y="144463"/>
                    <a:pt x="11112" y="144463"/>
                  </a:cubicBezTo>
                  <a:lnTo>
                    <a:pt x="22225" y="144463"/>
                  </a:lnTo>
                  <a:cubicBezTo>
                    <a:pt x="34500" y="144463"/>
                    <a:pt x="44450" y="134512"/>
                    <a:pt x="44450" y="122237"/>
                  </a:cubicBezTo>
                  <a:cubicBezTo>
                    <a:pt x="44450" y="109963"/>
                    <a:pt x="34500" y="100012"/>
                    <a:pt x="22225" y="100012"/>
                  </a:cubicBezTo>
                  <a:lnTo>
                    <a:pt x="11112" y="100012"/>
                  </a:lnTo>
                  <a:cubicBezTo>
                    <a:pt x="4975" y="100012"/>
                    <a:pt x="0" y="95037"/>
                    <a:pt x="0" y="88900"/>
                  </a:cubicBezTo>
                  <a:lnTo>
                    <a:pt x="0" y="55562"/>
                  </a:lnTo>
                  <a:cubicBezTo>
                    <a:pt x="0" y="49425"/>
                    <a:pt x="4975" y="44450"/>
                    <a:pt x="11112" y="44450"/>
                  </a:cubicBezTo>
                </a:path>
              </a:pathLst>
            </a:custGeom>
            <a:noFill/>
            <a:ln w="19050">
              <a:solidFill>
                <a:srgbClr val="1B3A5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4150" y="49244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正交可叠加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42722" y="5206841"/>
              <a:ext cx="15630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ORTHOGONAL · COMPOSABLE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38912" y="547925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与许多既有方法正交,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38912" y="5688806"/>
              <a:ext cx="23163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可与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prefix-tuning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 等组合使用。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599122" y="6578441"/>
              <a:ext cx="18141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§1, §4.1 · Hu et al. 2021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6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40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339742" cy="709612"/>
            <a:chOff x="609600" y="533400"/>
            <a:chExt cx="4339742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16067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Adapter 增延迟,LoRA 不增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746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GPT-2 MEDIUM 单次前向延迟增幅(100 次平均, RTX8000)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10500" y="1428750"/>
            <a:ext cx="3596520" cy="250031"/>
            <a:chOff x="7810500" y="1428750"/>
            <a:chExt cx="3596520" cy="250031"/>
          </a:xfrm>
        </p:grpSpPr>
        <p:sp>
          <p:nvSpPr>
            <p:cNvPr id="7" name="Rectangle 7"/>
            <p:cNvSpPr/>
            <p:nvPr/>
          </p:nvSpPr>
          <p:spPr>
            <a:xfrm>
              <a:off x="7810500" y="142875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43862" y="1450181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Adapter 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0" y="142875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77362" y="1450181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Adapter 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0" y="1428750"/>
              <a:ext cx="171450" cy="5715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710862" y="1450181"/>
              <a:ext cx="6961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LoRA / FT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82707" y="1714500"/>
            <a:ext cx="10156793" cy="4019550"/>
            <a:chOff x="1082707" y="1714500"/>
            <a:chExt cx="10156793" cy="4019550"/>
          </a:xfrm>
        </p:grpSpPr>
        <p:sp>
          <p:nvSpPr>
            <p:cNvPr id="14" name="Line 14"/>
            <p:cNvSpPr/>
            <p:nvPr/>
          </p:nvSpPr>
          <p:spPr>
            <a:xfrm>
              <a:off x="1524000" y="22288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524000" y="32670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1524000" y="42957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82707" y="2171224"/>
              <a:ext cx="310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+30%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707" y="3209449"/>
              <a:ext cx="310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+20%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5211" y="423814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+10%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97234" y="52763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5240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9050">
              <a:solidFill>
                <a:srgbClr val="8A94A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524000" y="5334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38100">
              <a:solidFill>
                <a:srgbClr val="2E7D3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67000" y="5105400"/>
              <a:ext cx="723900" cy="2286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13465" y="491585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+2.2%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5019675"/>
              <a:ext cx="723900" cy="314325"/>
            </a:xfrm>
            <a:prstGeom prst="roundRect">
              <a:avLst>
                <a:gd name="adj" fmla="val 12121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2615" y="483012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+3.0%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3215" y="54902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配置 A · 长序列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0" y="4819650"/>
              <a:ext cx="723900" cy="514350"/>
            </a:xfrm>
            <a:prstGeom prst="roundRect">
              <a:avLst>
                <a:gd name="adj" fmla="val 7407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61465" y="463010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+5.0%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34150" y="4467225"/>
              <a:ext cx="723900" cy="86677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80615" y="427767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+8.4%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91225" y="54902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配置 B · 中等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63000" y="3190875"/>
              <a:ext cx="723900" cy="214312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69035" y="3001328"/>
              <a:ext cx="511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+20.7%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82150" y="2200275"/>
              <a:ext cx="723900" cy="313372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88185" y="2010728"/>
              <a:ext cx="511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+30.3%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5190" y="5490210"/>
              <a:ext cx="15586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配置 C · 短序列·在线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605915" y="5744528"/>
            <a:ext cx="9647873" cy="268128"/>
            <a:chOff x="1605915" y="5744528"/>
            <a:chExt cx="9647873" cy="268128"/>
          </a:xfrm>
        </p:grpSpPr>
        <p:sp>
          <p:nvSpPr>
            <p:cNvPr id="39" name="TextBox 39"/>
            <p:cNvSpPr txBox="1"/>
            <p:nvPr/>
          </p:nvSpPr>
          <p:spPr>
            <a:xfrm>
              <a:off x="1605915" y="5744528"/>
              <a:ext cx="2878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LoRA / FT 基线 = 0% 额外延迟(合并权重后)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12286" y="5784056"/>
              <a:ext cx="34415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序列越短、batch 越小,Adapter 的延迟代价越突出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599122" y="6578441"/>
              <a:ext cx="175367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Table 1 · Hu et al. 2021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8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440555" cy="709612"/>
            <a:chOff x="609600" y="533400"/>
            <a:chExt cx="4440555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2614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覆盖 NLU 到 NLG 的四类模型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9226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EVALUATION SETUP · ROBERTA / DEBERTA / GPT-2 / GPT-3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1504950"/>
            <a:ext cx="10972800" cy="3733800"/>
            <a:chOff x="609600" y="1504950"/>
            <a:chExt cx="10972800" cy="373380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10972800" cy="3733800"/>
            </a:xfrm>
            <a:prstGeom prst="rect">
              <a:avLst/>
            </a:prstGeom>
            <a:noFill/>
            <a:ln w="19050">
              <a:solidFill>
                <a:srgbClr val="D8DEE6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9600" y="1504950"/>
              <a:ext cx="10972800" cy="3733800"/>
              <a:chOff x="609600" y="1504950"/>
              <a:chExt cx="10972800" cy="37338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1504950"/>
                <a:ext cx="10972800" cy="533400"/>
              </a:xfrm>
              <a:prstGeom prst="rect">
                <a:avLst/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609600" y="20383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9050">
                <a:solidFill>
                  <a:srgbClr val="D8DEE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25818" y="1733074"/>
                <a:ext cx="7687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模型 MODEL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869192" y="1733074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参数量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312218" y="1733074"/>
                <a:ext cx="10418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基准 BENCHMARK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18950" y="17330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任务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17540" y="1733074"/>
                <a:ext cx="10486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LoRA 可训练参数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61010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94360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870585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022985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609600" y="267652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2960" y="2308860"/>
                <a:ext cx="10974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base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10792" y="2316956"/>
                <a:ext cx="3511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125M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157912" y="231695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GLUE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29797" y="2316956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61465" y="2316956"/>
                <a:ext cx="4066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0.3M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609600" y="3314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22960" y="2947035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large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92040" y="2955131"/>
                <a:ext cx="3886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355M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157912" y="2955131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GLUE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29797" y="2955131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61465" y="2955131"/>
                <a:ext cx="4066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0.8M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609600" y="395287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22960" y="358521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DeBERTa XXL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925794" y="3593306"/>
                <a:ext cx="3211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1.5B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157912" y="359330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GLUE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29797" y="3593306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961465" y="3593306"/>
                <a:ext cx="4066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4.7M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09600" y="45910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22960" y="4223385"/>
                <a:ext cx="112261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GPT-2 medium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92040" y="4231481"/>
                <a:ext cx="3886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354M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57912" y="4231481"/>
                <a:ext cx="5686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E2E NLG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329797" y="4231481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NLG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874829" y="423148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0.35M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09600" y="4591050"/>
                <a:ext cx="10972800" cy="647700"/>
              </a:xfrm>
              <a:prstGeom prst="rect">
                <a:avLst/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22960" y="4861560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GPT-3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918481" y="4869656"/>
                <a:ext cx="3357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175B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157912" y="48696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WikiSQL · MNLI · SAMSum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164776" y="4869656"/>
                <a:ext cx="6061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NLU+NLG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528286" y="4869656"/>
                <a:ext cx="8398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4.7–37.7M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75188" y="5576888"/>
            <a:ext cx="8432617" cy="290512"/>
            <a:chOff x="675188" y="5576888"/>
            <a:chExt cx="8432617" cy="290512"/>
          </a:xfrm>
        </p:grpSpPr>
        <p:grpSp>
          <p:nvGrpSpPr>
            <p:cNvPr id="54" name="Group 54"/>
            <p:cNvGrpSpPr/>
            <p:nvPr/>
          </p:nvGrpSpPr>
          <p:grpSpPr>
            <a:xfrm>
              <a:off x="675188" y="5576888"/>
              <a:ext cx="135524" cy="200025"/>
              <a:chOff x="675188" y="5576888"/>
              <a:chExt cx="135524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09612" y="557688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0725" y="5643562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5188" y="5576888"/>
                <a:ext cx="13552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5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099"/>
                      <a:pt x="3" y="193670"/>
                      <a:pt x="1095" y="195854"/>
                    </a:cubicBezTo>
                    <a:cubicBezTo>
                      <a:pt x="2187" y="198038"/>
                      <a:pt x="4242" y="199583"/>
                      <a:pt x="6643" y="200025"/>
                    </a:cubicBezTo>
                    <a:lnTo>
                      <a:pt x="128881" y="200025"/>
                    </a:lnTo>
                    <a:cubicBezTo>
                      <a:pt x="131282" y="199583"/>
                      <a:pt x="133337" y="198038"/>
                      <a:pt x="134429" y="195854"/>
                    </a:cubicBezTo>
                    <a:cubicBezTo>
                      <a:pt x="135521" y="193670"/>
                      <a:pt x="135524" y="191099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956310" y="5623560"/>
              <a:ext cx="81514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对比基线:Fine-Tuning(FT)、BitFit、PreEmbed / PreLayer、Adapter H / L / P / D —— 尽可能复用前作报告数值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57" name="TextBox 57"/>
            <p:cNvSpPr txBox="1"/>
            <p:nvPr/>
          </p:nvSpPr>
          <p:spPr>
            <a:xfrm>
              <a:off x="599122" y="6578441"/>
              <a:ext cx="17481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§5–5.1 · Hu et al. 2021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85887" y="6578441"/>
              <a:ext cx="3069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645410" cy="709612"/>
            <a:chOff x="609600" y="533400"/>
            <a:chExt cx="3645410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2701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更少参数,持平或更优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4301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GLUE BENCHMARK · OVERALL AVG SCORE(越高越好)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1628299"/>
            <a:ext cx="10972800" cy="3515201"/>
            <a:chOff x="609600" y="1628299"/>
            <a:chExt cx="10972800" cy="3515201"/>
          </a:xfrm>
        </p:grpSpPr>
        <p:grpSp>
          <p:nvGrpSpPr>
            <p:cNvPr id="58" name="Group 58"/>
            <p:cNvGrpSpPr/>
            <p:nvPr/>
          </p:nvGrpSpPr>
          <p:grpSpPr>
            <a:xfrm>
              <a:off x="609600" y="1628299"/>
              <a:ext cx="10972800" cy="3515201"/>
              <a:chOff x="609600" y="1628299"/>
              <a:chExt cx="10972800" cy="3515201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609600" y="1866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9050">
                <a:solidFill>
                  <a:srgbClr val="D8DEE6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87718" y="16282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模型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556450" y="16282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方法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466093" y="1628299"/>
                <a:ext cx="823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# 可训练参数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26922" y="1628299"/>
                <a:ext cx="5913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GLUE AVG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169718" y="1628299"/>
                <a:ext cx="7210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得分(视觉)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4860" y="2175510"/>
                <a:ext cx="10974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base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4229100" y="21336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17883" y="2199799"/>
                <a:ext cx="174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FT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917817" y="2175510"/>
                <a:ext cx="3745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125M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38566" y="217551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86.4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9182100" y="21907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182100" y="2190750"/>
                <a:ext cx="6858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09600" y="247650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84860" y="2670810"/>
                <a:ext cx="10974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base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4229100" y="26289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42799" y="2695099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LoRA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858610" y="2670810"/>
                <a:ext cx="4337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0.3M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20964" y="267081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87.2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9182100" y="26860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9182100" y="2686050"/>
                <a:ext cx="914400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E7CB1"/>
                  </a:gs>
                  <a:gs pos="100000">
                    <a:srgbClr val="1B3A5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84860" y="3261360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large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229100" y="321945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17883" y="3285649"/>
                <a:ext cx="174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FT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877812" y="3261360"/>
                <a:ext cx="4145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355M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38566" y="326136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88.9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9182100" y="327660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182100" y="3276600"/>
                <a:ext cx="140017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09600" y="356235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84860" y="3756660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large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229100" y="371475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542799" y="3780949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LoRA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58610" y="3756660"/>
                <a:ext cx="4337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0.8M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20964" y="375666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89.0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9182100" y="377190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9182100" y="3771900"/>
                <a:ext cx="1428750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E7CB1"/>
                  </a:gs>
                  <a:gs pos="100000">
                    <a:srgbClr val="1B3A5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84860" y="434721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DeBERTa XXL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4229100" y="43053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617883" y="4371499"/>
                <a:ext cx="174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FT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29806" y="4347210"/>
                <a:ext cx="4625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1500M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418576" y="4347210"/>
                <a:ext cx="3025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91.1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9182100" y="43624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9182100" y="4362450"/>
                <a:ext cx="202882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609600" y="464820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84860" y="484251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DeBERTa XXL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4229100" y="48006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542799" y="4866799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LoRA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58610" y="4842510"/>
                <a:ext cx="4337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4.7M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362969" y="4842510"/>
                <a:ext cx="35812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91.3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9182100" y="48577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9182100" y="4857750"/>
                <a:ext cx="2085975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E7CB1"/>
                  </a:gs>
                  <a:gs pos="100000">
                    <a:srgbClr val="1B3A5C"/>
                  </a:gs>
                </a:gsLst>
                <a:lin ang="0" scaled="1"/>
              </a:gradFill>
              <a:ln>
                <a:noFill/>
              </a:ln>
            </p:spPr>
          </p:sp>
        </p:grpSp>
      </p:grpSp>
      <p:grpSp>
        <p:nvGrpSpPr>
          <p:cNvPr id="65" name="Group 65"/>
          <p:cNvGrpSpPr/>
          <p:nvPr/>
        </p:nvGrpSpPr>
        <p:grpSpPr>
          <a:xfrm>
            <a:off x="609600" y="5391150"/>
            <a:ext cx="10972800" cy="533400"/>
            <a:chOff x="609600" y="5391150"/>
            <a:chExt cx="10972800" cy="533400"/>
          </a:xfrm>
        </p:grpSpPr>
        <p:sp>
          <p:nvSpPr>
            <p:cNvPr id="60" name="Rectangle 60"/>
            <p:cNvSpPr/>
            <p:nvPr/>
          </p:nvSpPr>
          <p:spPr>
            <a:xfrm>
              <a:off x="609600" y="5391150"/>
              <a:ext cx="10972800" cy="533400"/>
            </a:xfrm>
            <a:prstGeom prst="roundRect">
              <a:avLst>
                <a:gd name="adj" fmla="val 17857"/>
              </a:avLst>
            </a:prstGeom>
            <a:solidFill>
              <a:srgbClr val="F4F7F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38200" y="5543550"/>
              <a:ext cx="228600" cy="228600"/>
              <a:chOff x="838200" y="5543550"/>
              <a:chExt cx="228600" cy="2286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55435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14400" y="56324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03008" y="5577364"/>
              <a:ext cx="66377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三类模型上,LoRA 用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 xml:space="preserve"> 1/300 ~ 1/400 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的可训练参数,GLUE 平均分</a:t>
              </a:r>
              <a:r>
                <a:rPr lang="zh-CN" sz="12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持平甚至略优于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全量微调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99122" y="6578441"/>
              <a:ext cx="17811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Table 2 · Hu et al. 2021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785273" cy="709612"/>
            <a:chOff x="609600" y="533400"/>
            <a:chExt cx="3785273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60620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在 175B 尺度上仍然成立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562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GPT-3 175B · 关键指标(对比全量微调)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04950"/>
            <a:ext cx="5334000" cy="2152650"/>
            <a:chOff x="609600" y="1504950"/>
            <a:chExt cx="5334000" cy="215265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50495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17600" y="1926431"/>
              <a:ext cx="165100" cy="185738"/>
              <a:chOff x="1117600" y="1926431"/>
              <a:chExt cx="165100" cy="18573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17600" y="1926431"/>
                <a:ext cx="16510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100" y="48053"/>
                      <a:pt x="165100" y="30956"/>
                    </a:cubicBezTo>
                    <a:cubicBezTo>
                      <a:pt x="165100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7600" y="1957388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17600" y="2019300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604010" y="18897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可训练参数缩减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1540" y="2453640"/>
              <a:ext cx="254142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10,000×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7260" y="3242310"/>
              <a:ext cx="19267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checkpoint 350GB → </a:t>
              </a:r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35MB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48400" y="1504950"/>
            <a:ext cx="5334000" cy="2152650"/>
            <a:chOff x="6248400" y="1504950"/>
            <a:chExt cx="5334000" cy="215265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48400" y="150495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5913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746081" y="1936750"/>
              <a:ext cx="185738" cy="165100"/>
              <a:chOff x="6746081" y="1936750"/>
              <a:chExt cx="185738" cy="165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746081" y="1936750"/>
                <a:ext cx="1857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51594"/>
                    </a:lnTo>
                    <a:cubicBezTo>
                      <a:pt x="185738" y="68690"/>
                      <a:pt x="171878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46081" y="2019300"/>
                <a:ext cx="1857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51594"/>
                    </a:lnTo>
                    <a:cubicBezTo>
                      <a:pt x="185738" y="68690"/>
                      <a:pt x="171878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87356" y="1978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87356" y="20605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28631" y="1978025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828631" y="2060575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242810" y="1889760"/>
              <a:ext cx="19795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训练显存 VRAM(原 1.2TB)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30340" y="2453640"/>
              <a:ext cx="197015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350GB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10350" y="3200400"/>
              <a:ext cx="266700" cy="266700"/>
            </a:xfrm>
            <a:prstGeom prst="ellipse">
              <a:avLst/>
            </a:prstGeom>
            <a:solidFill>
              <a:srgbClr val="EAF6EE"/>
            </a:solidFill>
            <a:ln>
              <a:noFill/>
            </a:ln>
          </p:spPr>
        </p:sp>
        <p:sp>
          <p:nvSpPr>
            <p:cNvPr id="31" name="Polygon 31"/>
            <p:cNvSpPr/>
            <p:nvPr/>
          </p:nvSpPr>
          <p:spPr>
            <a:xfrm>
              <a:off x="6686550" y="32861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57060" y="3261360"/>
              <a:ext cx="82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约降至 1/3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3886200"/>
            <a:ext cx="5334000" cy="2152650"/>
            <a:chOff x="609600" y="3886200"/>
            <a:chExt cx="5334000" cy="21526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9600" y="38862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500" y="41529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6EE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127919" y="4307681"/>
              <a:ext cx="144463" cy="185738"/>
            </a:xfrm>
            <a:custGeom>
              <a:avLst/>
              <a:gdLst/>
              <a:ahLst/>
              <a:cxnLst/>
              <a:rect l="l" t="t" r="r" b="b"/>
              <a:pathLst>
                <a:path w="144463" h="185738">
                  <a:moveTo>
                    <a:pt x="82550" y="0"/>
                  </a:moveTo>
                  <a:lnTo>
                    <a:pt x="82550" y="72231"/>
                  </a:lnTo>
                  <a:lnTo>
                    <a:pt x="144463" y="72231"/>
                  </a:lnTo>
                  <a:lnTo>
                    <a:pt x="61912" y="185738"/>
                  </a:lnTo>
                  <a:lnTo>
                    <a:pt x="61912" y="113506"/>
                  </a:lnTo>
                  <a:lnTo>
                    <a:pt x="0" y="113506"/>
                  </a:lnTo>
                  <a:lnTo>
                    <a:pt x="82550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04010" y="42710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训练吞吐提升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1540" y="4834890"/>
              <a:ext cx="160050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+25%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7260" y="56235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无需为绝大多数参数计算梯度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48400" y="3886200"/>
            <a:ext cx="5334000" cy="2152650"/>
            <a:chOff x="6248400" y="3886200"/>
            <a:chExt cx="5334000" cy="2152650"/>
          </a:xfrm>
        </p:grpSpPr>
        <p:sp>
          <p:nvSpPr>
            <p:cNvPr id="42" name="Rectangle 42"/>
            <p:cNvSpPr/>
            <p:nvPr/>
          </p:nvSpPr>
          <p:spPr>
            <a:xfrm>
              <a:off x="62484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8862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91300" y="41529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746081" y="4307681"/>
              <a:ext cx="185738" cy="185738"/>
              <a:chOff x="6746081" y="4307681"/>
              <a:chExt cx="185738" cy="18573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746081" y="430768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07994" y="4379912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242810" y="4271010"/>
              <a:ext cx="18283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任务准确率:持平 / 更优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3200" y="4819650"/>
              <a:ext cx="21134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≥ 全量微调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7012" y="5422106"/>
              <a:ext cx="3096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WikiSQL 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74.0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 · MNLI-m 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91.7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 · SAMSum 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53.8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77965" y="5658802"/>
              <a:ext cx="16648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三项均达到或超过 FT 基线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99122" y="6578441"/>
              <a:ext cx="23312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§4.2, Table 4, §6 · Hu et al. 2021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4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34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3" grpId="0"/>
      <p:bldP spid="41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476064" cy="709612"/>
            <a:chOff x="609600" y="533400"/>
            <a:chExt cx="4476064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1189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该适配谁?秩要多大?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4260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UNDERSTANDING THE LOW-RANK UPDATES(GPT-3 175B, WikiSQL)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24000"/>
            <a:ext cx="5943600" cy="1771650"/>
            <a:chOff x="609600" y="1524000"/>
            <a:chExt cx="5943600" cy="1771650"/>
          </a:xfrm>
        </p:grpSpPr>
        <p:sp>
          <p:nvSpPr>
            <p:cNvPr id="7" name="Rectangle 7"/>
            <p:cNvSpPr/>
            <p:nvPr/>
          </p:nvSpPr>
          <p:spPr>
            <a:xfrm>
              <a:off x="609600" y="1524000"/>
              <a:ext cx="5943600" cy="1771650"/>
            </a:xfrm>
            <a:prstGeom prst="roundRect">
              <a:avLst>
                <a:gd name="adj" fmla="val 7527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055" y="1721168"/>
              <a:ext cx="34934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① 该适配哪些权重?</a:t>
              </a:r>
              <a:r>
                <a:rPr lang="zh-CN" sz="975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（同等参数预算 18M）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5360" y="2156460"/>
              <a:ext cx="4465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仅 Wq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15003" y="2140268"/>
              <a:ext cx="450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70.4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360" y="2518410"/>
              <a:ext cx="6605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Wq + Wv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95500" y="24765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BF0E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54333" y="25022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73.7 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5360" y="28803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全部四个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15003" y="2864168"/>
              <a:ext cx="450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73.7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81412" y="25265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适配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{Wq, Wv}</a:t>
              </a:r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最佳 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81412" y="277415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分散到多类权重优于堆在单一类型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505200"/>
            <a:ext cx="5943600" cy="2000250"/>
            <a:chOff x="609600" y="3505200"/>
            <a:chExt cx="59436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505200"/>
              <a:ext cx="5943600" cy="2000250"/>
            </a:xfrm>
            <a:prstGeom prst="roundRect">
              <a:avLst>
                <a:gd name="adj" fmla="val 6667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1055" y="3702368"/>
              <a:ext cx="34367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② 秩 r 要多大?</a:t>
              </a:r>
              <a:r>
                <a:rPr lang="zh-CN" sz="975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（Wq+Wv 的验证准确率）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76300" y="4095750"/>
              <a:ext cx="5410200" cy="638175"/>
              <a:chOff x="876300" y="4095750"/>
              <a:chExt cx="5410200" cy="63817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763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19050">
                <a:solidFill>
                  <a:srgbClr val="E8743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18248" y="424910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215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73.4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9812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305645" y="4249102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2264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73.3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0861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410545" y="4249102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313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73.7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1910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515445" y="4249102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8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362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73.8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52959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581840" y="4249102"/>
                <a:ext cx="4187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64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411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73.5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61060" y="4994910"/>
              <a:ext cx="38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r = 1</a:t>
              </a:r>
              <a:r>
                <a:rPr lang="zh-CN" sz="120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已足够;增大 r 几乎无增益 → ΔW 的"内在秩"极低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225665" y="1600200"/>
            <a:ext cx="3918585" cy="4493419"/>
            <a:chOff x="7225665" y="1600200"/>
            <a:chExt cx="3918585" cy="4493419"/>
          </a:xfrm>
        </p:grpSpPr>
        <p:sp>
          <p:nvSpPr>
            <p:cNvPr id="39" name="Rectangle 39"/>
            <p:cNvSpPr/>
            <p:nvPr/>
          </p:nvSpPr>
          <p:spPr>
            <a:xfrm>
              <a:off x="7239000" y="1600200"/>
              <a:ext cx="3905250" cy="3905250"/>
            </a:xfrm>
            <a:prstGeom prst="roundRect">
              <a:avLst>
                <a:gd name="adj" fmla="val 3415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600200"/>
              <a:ext cx="3905250" cy="3905250"/>
            </a:xfrm>
            <a:prstGeom prst="roundRect">
              <a:avLst>
                <a:gd name="adj" fmla="val 3414"/>
              </a:avLst>
            </a:prstGeom>
          </p:spPr>
        </p:pic>
        <p:sp>
          <p:nvSpPr>
            <p:cNvPr id="41" name="Rectangle 41"/>
            <p:cNvSpPr/>
            <p:nvPr/>
          </p:nvSpPr>
          <p:spPr>
            <a:xfrm>
              <a:off x="7239000" y="1600200"/>
              <a:ext cx="3905250" cy="3905250"/>
            </a:xfrm>
            <a:prstGeom prst="roundRect">
              <a:avLst>
                <a:gd name="adj" fmla="val 3415"/>
              </a:avLst>
            </a:prstGeom>
            <a:noFill/>
            <a:ln w="14288">
              <a:solidFill>
                <a:srgbClr val="D8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25665" y="5658802"/>
              <a:ext cx="20481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子空间相似度(Ar=8 vs Ar=64)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6618" y="5895499"/>
              <a:ext cx="2170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top 奇异方向高度重叠,其余迅速衰减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45" name="TextBox 45"/>
            <p:cNvSpPr txBox="1"/>
            <p:nvPr/>
          </p:nvSpPr>
          <p:spPr>
            <a:xfrm>
              <a:off x="599122" y="6578441"/>
              <a:ext cx="29748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§7.1–7.2, Table 5/6, Figure 3 · Hu et al. 2021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8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8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52450"/>
            <a:ext cx="1920240" cy="709612"/>
            <a:chOff x="609600" y="552450"/>
            <a:chExt cx="1920240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524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61722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结论与影响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48702"/>
              <a:ext cx="15042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CONCLUSION &amp; IMPACT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143000" y="19050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28575" cap="rnd">
            <a:gradFill>
              <a:gsLst>
                <a:gs pos="0">
                  <a:srgbClr val="1B3A5C"/>
                </a:gs>
                <a:gs pos="100000">
                  <a:srgbClr val="E8743B"/>
                </a:gs>
              </a:gsLst>
              <a:lin ang="5400000" scaled="1"/>
            </a:gradFill>
          </a:ln>
        </p:spPr>
      </p:sp>
      <p:grpSp>
        <p:nvGrpSpPr>
          <p:cNvPr id="14" name="Group 14"/>
          <p:cNvGrpSpPr/>
          <p:nvPr/>
        </p:nvGrpSpPr>
        <p:grpSpPr>
          <a:xfrm>
            <a:off x="914400" y="1619250"/>
            <a:ext cx="10668000" cy="914400"/>
            <a:chOff x="914400" y="1619250"/>
            <a:chExt cx="10668000" cy="914400"/>
          </a:xfrm>
        </p:grpSpPr>
        <p:sp>
          <p:nvSpPr>
            <p:cNvPr id="8" name="Ellipse 8"/>
            <p:cNvSpPr/>
            <p:nvPr/>
          </p:nvSpPr>
          <p:spPr>
            <a:xfrm>
              <a:off x="914400" y="177165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6351" y="1937385"/>
              <a:ext cx="1732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09750" y="161925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809750" y="16192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14550" y="18192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方法本身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17408" y="2148364"/>
              <a:ext cx="43849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低秩适配 = 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参数高效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+ </a:t>
              </a:r>
              <a:r>
                <a:rPr lang="zh-CN" sz="12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零额外推理延迟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+ 质量持平 / 更优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3048000"/>
            <a:ext cx="10668000" cy="914400"/>
            <a:chOff x="914400" y="3048000"/>
            <a:chExt cx="10668000" cy="914400"/>
          </a:xfrm>
        </p:grpSpPr>
        <p:sp>
          <p:nvSpPr>
            <p:cNvPr id="15" name="Ellipse 15"/>
            <p:cNvSpPr/>
            <p:nvPr/>
          </p:nvSpPr>
          <p:spPr>
            <a:xfrm>
              <a:off x="914400" y="3200400"/>
              <a:ext cx="457200" cy="457200"/>
            </a:xfrm>
            <a:prstGeom prst="ellipse">
              <a:avLst/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5348" y="33661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809750" y="304800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09750" y="30480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14550" y="3248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工程意义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17408" y="3577114"/>
              <a:ext cx="49459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一个预训练底座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托管多任务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,按需热插拔 LoRA 模块,部署成本骤降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4476750"/>
            <a:ext cx="10668000" cy="914400"/>
            <a:chOff x="914400" y="4476750"/>
            <a:chExt cx="10668000" cy="914400"/>
          </a:xfrm>
        </p:grpSpPr>
        <p:sp>
          <p:nvSpPr>
            <p:cNvPr id="22" name="Ellipse 22"/>
            <p:cNvSpPr/>
            <p:nvPr/>
          </p:nvSpPr>
          <p:spPr>
            <a:xfrm>
              <a:off x="914400" y="4629150"/>
              <a:ext cx="457200" cy="457200"/>
            </a:xfrm>
            <a:prstGeom prst="ellipse">
              <a:avLst/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5348" y="479488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809750" y="447675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09750" y="44767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14550" y="4676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行业影响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17408" y="5005864"/>
              <a:ext cx="43084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已开源,成为大模型微调的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事实标准之一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(PEFT 生态基石)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5319" y="5769769"/>
            <a:ext cx="10952321" cy="295275"/>
            <a:chOff x="645319" y="5769769"/>
            <a:chExt cx="10952321" cy="295275"/>
          </a:xfrm>
        </p:grpSpPr>
        <p:grpSp>
          <p:nvGrpSpPr>
            <p:cNvPr id="32" name="Group 32"/>
            <p:cNvGrpSpPr/>
            <p:nvPr/>
          </p:nvGrpSpPr>
          <p:grpSpPr>
            <a:xfrm>
              <a:off x="645319" y="5769769"/>
              <a:ext cx="214312" cy="214312"/>
              <a:chOff x="645319" y="5769769"/>
              <a:chExt cx="214312" cy="21431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40569" y="58650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2944" y="58173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5319" y="57697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93458" y="58059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让人不必在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效率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质量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之间二选一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3673" y="5814060"/>
              <a:ext cx="23239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3E7CB1"/>
                  </a:solidFill>
                  <a:latin typeface="Consolas"/>
                  <a:ea typeface="Microsoft YaHei"/>
                  <a:cs typeface="Consolas"/>
                </a:rPr>
                <a:t>github.com/microsoft/LoRA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99122" y="6578441"/>
              <a:ext cx="31563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§8 Conclusion · Hu et al. 2021 · arXiv:2106.09685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2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8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