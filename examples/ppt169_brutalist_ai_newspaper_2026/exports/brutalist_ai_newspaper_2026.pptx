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Welcome to Volume One, Number One of The AI Industry annual report. The year we are about to walk through is the year the league table changed — the revenue leader is no longer the user-count leader, training costs cleared the half-billion-dollar line per run, and benchmark half-lives dropped from years to months. Ten pages, one front page, four stories, one chronicle, one closing read. Let's begin.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Four numbers frame the year. Worldwide AI spending reaches two trillion dollars in 2026, up thirty-six percent. Three point eight billion people now use a large-language-model product each month. The frontier labs collectively booked twenty point seven billion dollars of revenue in the first quarter alone. And across seventy-two countries, more than a thousand distinct AI policy initiatives are active. From those four facts, three observations: revenue concentration is breaking from user-count rankings, training costs have crossed the half-billion-dollar line per run, and inference cost for the same capability is falling roughly ten times per year. Each is picked up by a story later in this issue.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Q1 2026 revenue league table is the headline. Anthropic captures thirty-one point four percent of global LLM revenue, narrowly ahead of OpenAI at twenty-nine percent. This is the first time a non-OpenAI lab holds the number-one revenue position since the modern LLM era began. Google trails on twelve percent, Microsoft on seven, Tencent on five. The China cohort — Tencent, Baidu, Alibaba combined — sits at roughly eleven percent, comparable to Google's solo share. And despite extensive open-weights attention through 2025, DeepSeek and Zhipu together hold under a third of one percent of revenue. Distribution does not translate to direct revenue capture.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story behind the leaderboard is per-user revenue. Anthropic earns sixteen dollars twenty cents per monthly user. OpenAI earns two dollars twenty. Google earns one dollar ten. Meta earns ten cents. The rank flip at the extremes is the punch: Anthropic monetises a one-hundred-and-thirty-four-million user base one hundred and sixty-two times harder than Meta monetises a billion. Scale is not the moat. Enterprise-API workloads, coding agents, and per-seat enterprise pricing compound faster on a per-user basis than consumer free-tier scale ever has.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Frontier training costs have moved into a new band. GPT-4 cost roughly seventy-eight million dollars in compute. Llama three point one was about one hundred and seventy million. Gemini Ultra reached one hundred and ninety-one million. The 2026 frontier sits between two hundred and five hundred million per run, at one to ten times ten-to-the-twenty-sixth FLOPs. The late 2027 projection — based on announced data-center buildouts — is one to three billion dollars per run. The constraint, importantly, is no longer chips or capital. The constraint is multi-gigawatt power siting and grid interconnect. The next cohort is being built around substations, not around silicon.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Inference is the only frontier metric falling faster than capability is climbing. For the same medium-length prompt, Claude four Opus consumes about five watts; DeepSeek V Three consumes about twenty-three. That is a four point six times spread inside the frontier class for identical work. Carbon emissions follow: the least-efficient inference path emits more than ten times the most-efficient. Cost at constant capability falls roughly ten times per year. The implication is that model selection has become a cost-of-goods decision, not just a capability decision. Two models a single benchmark point apart can differ ten times in compute footprint at production scale.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Capability benchmarks designed to last years are now lasting months. On SWE-bench Verified — the canonical coding benchmark — frontier models rose from sixty percent to roughly one hundred percent of the human baseline in a single year. Humanity's Last Exam, built explicitly to resist saturation, gained thirty percentage points in twelve months. PhD-level science question-answering, multimodal reasoning, and competition mathematics all crossed human-baseline territory in the same window. The bench-design community is now permanently behind the model-release cycle, and the conversation is shifting from static benchmarks to continuous evaluation harnesses that regenerate problems on every run.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Compliance is no longer a single rulebook. Europe regulates the model class with the AI Act, in full force since August 2025, carrying a maximum penalty of thirty-five million euros or seven percent of global turnover. The United States has no federal horizontal statute; California, Colorado, and Texas are doing the load-bearing work. China regulates the output — synthetic-content watermarking has been mandatory since September the first, 2025, enforced by the cyberspace administration with administrative penalties and licence revocation. Convergence on principle, divergence on implementation. A model deployed globally now ships three compliance bundles, not one.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Sixteen months changed the industry's shape. January 2025: the United States signed Executive Order fourteen one seventy-nine, reversing the federal posture. August 2025: the European AI Act took full effect, the first binding horizontal AI statute on a major economy. September 2025: China's synthetic-content rules became effective. Quarter four 2025: DeepSeek R one shipped, reframing the inference-cost conversation through open-weights reasoning at frontier-adjacent capability. Quarter one 2026: Anthropic overtook OpenAI on LLM revenue. April 2026: the Stanford HAI AI Index 2026 reported the first year SWE-bench Verified was effectively saturated. Three structural shifts — compliance, compute, capability — and none of them unwinds on the present trajectory.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To close, eight observations to carry forward. What changed: revenue leadership decoupled from user count, training cost crossed the half-billion line, inference became a four point six times discriminator inside the frontier class, and benchmark half-life collapsed from years to months. What did not change: the frontier cohort is still roughly five labs, China frontier labs still have zero EU-market revenue, open-weights distribution still does not translate to direct revenue capture, and power and grid interconnect remain the single hardest input to source. The test of the next twelve months is whether a second wave of labs can land the half-billion-dollar runs without breaking the three-rulebook trade barrier. That is the question this report leaves open. Thank you for reading.</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a94757b10547b88a.pn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e066076842b5cbbe.pn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542eba84987642.pn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3d80bc0f3154bb74.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086469ae6f80d9c6.pn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2"/>
          <a:stretch>
            <a:fillRect/>
          </a:stretch>
        </p:blipFill>
        <p:spPr>
          <a:xfrm>
            <a:off x="0" y="0"/>
            <a:ext cx="12192000" cy="6858000"/>
          </a:xfrm>
          <a:prstGeom prst="rect">
            <a:avLst/>
          </a:prstGeom>
        </p:spPr>
      </p:pic>
      <p:sp>
        <p:nvSpPr>
          <p:cNvPr id="4" name="Rectangle 4"/>
          <p:cNvSpPr/>
          <p:nvPr/>
        </p:nvSpPr>
        <p:spPr>
          <a:xfrm>
            <a:off x="0" y="0"/>
            <a:ext cx="12192000" cy="38100"/>
          </a:xfrm>
          <a:prstGeom prst="rect">
            <a:avLst/>
          </a:prstGeom>
          <a:solidFill>
            <a:srgbClr val="C8102E"/>
          </a:solidFill>
          <a:ln>
            <a:noFill/>
          </a:ln>
        </p:spPr>
      </p:sp>
      <p:grpSp>
        <p:nvGrpSpPr>
          <p:cNvPr id="9" name="Group 9"/>
          <p:cNvGrpSpPr/>
          <p:nvPr/>
        </p:nvGrpSpPr>
        <p:grpSpPr>
          <a:xfrm>
            <a:off x="447675" y="166688"/>
            <a:ext cx="11296650" cy="166687"/>
            <a:chOff x="447675" y="166688"/>
            <a:chExt cx="11296650" cy="166687"/>
          </a:xfrm>
        </p:grpSpPr>
        <p:sp>
          <p:nvSpPr>
            <p:cNvPr id="5" name="Line 5"/>
            <p:cNvSpPr/>
            <p:nvPr/>
          </p:nvSpPr>
          <p:spPr>
            <a:xfrm>
              <a:off x="457200" y="323850"/>
              <a:ext cx="11277600" cy="9525"/>
            </a:xfrm>
            <a:custGeom>
              <a:avLst/>
              <a:gdLst/>
              <a:ahLst/>
              <a:cxnLst/>
              <a:rect l="l" t="t" r="r" b="b"/>
              <a:pathLst>
                <a:path w="11277600" h="9525">
                  <a:moveTo>
                    <a:pt x="0" y="0"/>
                  </a:moveTo>
                  <a:lnTo>
                    <a:pt x="11277600" y="0"/>
                  </a:lnTo>
                </a:path>
              </a:pathLst>
            </a:custGeom>
            <a:noFill/>
            <a:ln w="9525">
              <a:solidFill>
                <a:srgbClr val="111111"/>
              </a:solidFill>
            </a:ln>
          </p:spPr>
        </p:sp>
        <p:sp>
          <p:nvSpPr>
            <p:cNvPr id="6" name="TextBox 6"/>
            <p:cNvSpPr txBox="1"/>
            <p:nvPr/>
          </p:nvSpPr>
          <p:spPr>
            <a:xfrm>
              <a:off x="447675" y="166688"/>
              <a:ext cx="712137" cy="152400"/>
            </a:xfrm>
            <a:prstGeom prst="rect">
              <a:avLst/>
            </a:prstGeom>
            <a:noFill/>
            <a:ln>
              <a:noFill/>
            </a:ln>
          </p:spPr>
          <p:txBody>
            <a:bodyPr wrap="none" lIns="0" tIns="0" rIns="0" bIns="0" anchor="t" anchorCtr="0">
              <a:spAutoFit/>
            </a:bodyPr>
            <a:lstStyle/>
            <a:p>
              <a:pPr algn="l"/>
              <a:r>
                <a:rPr lang="zh-CN" sz="750" b="1" dirty="0">
                  <a:solidFill>
                    <a:srgbClr val="111111"/>
                  </a:solidFill>
                  <a:latin typeface="Consolas"/>
                  <a:ea typeface="Microsoft YaHei"/>
                  <a:cs typeface="Consolas"/>
                </a:rPr>
                <a:t>VOL. 1 · NO. 1</a:t>
              </a:r>
            </a:p>
          </p:txBody>
        </p:sp>
        <p:sp>
          <p:nvSpPr>
            <p:cNvPr id="7" name="TextBox 7"/>
            <p:cNvSpPr txBox="1"/>
            <p:nvPr/>
          </p:nvSpPr>
          <p:spPr>
            <a:xfrm>
              <a:off x="5243745" y="166688"/>
              <a:ext cx="1704511" cy="152400"/>
            </a:xfrm>
            <a:prstGeom prst="rect">
              <a:avLst/>
            </a:prstGeom>
            <a:noFill/>
            <a:ln>
              <a:noFill/>
            </a:ln>
          </p:spPr>
          <p:txBody>
            <a:bodyPr wrap="none" lIns="0" tIns="0" rIns="0" bIns="0" anchor="t" anchorCtr="0">
              <a:spAutoFit/>
            </a:bodyPr>
            <a:lstStyle/>
            <a:p>
              <a:pPr algn="ctr"/>
              <a:r>
                <a:rPr lang="zh-CN" sz="750" b="1" dirty="0">
                  <a:solidFill>
                    <a:srgbClr val="111111"/>
                  </a:solidFill>
                  <a:latin typeface="Consolas"/>
                  <a:ea typeface="Microsoft YaHei"/>
                  <a:cs typeface="Consolas"/>
                </a:rPr>
                <a:t>MAY 2026 · COMPILED IN ONE WEEK</a:t>
              </a:r>
            </a:p>
          </p:txBody>
        </p:sp>
        <p:sp>
          <p:nvSpPr>
            <p:cNvPr id="8" name="TextBox 8"/>
            <p:cNvSpPr txBox="1"/>
            <p:nvPr/>
          </p:nvSpPr>
          <p:spPr>
            <a:xfrm>
              <a:off x="9808785" y="166688"/>
              <a:ext cx="1935540" cy="152400"/>
            </a:xfrm>
            <a:prstGeom prst="rect">
              <a:avLst/>
            </a:prstGeom>
            <a:noFill/>
            <a:ln>
              <a:noFill/>
            </a:ln>
          </p:spPr>
          <p:txBody>
            <a:bodyPr wrap="none" lIns="0" tIns="0" rIns="0" bIns="0" anchor="t" anchorCtr="0">
              <a:spAutoFit/>
            </a:bodyPr>
            <a:lstStyle/>
            <a:p>
              <a:pPr algn="r"/>
              <a:r>
                <a:rPr lang="zh-CN" sz="750" b="1" dirty="0">
                  <a:solidFill>
                    <a:srgbClr val="111111"/>
                  </a:solidFill>
                  <a:latin typeface="Consolas"/>
                  <a:ea typeface="Microsoft YaHei"/>
                  <a:cs typeface="Consolas"/>
                </a:rPr>
                <a:t>PPT MASTER ANNUAL · NEWSPAPER DEMO</a:t>
              </a:r>
            </a:p>
          </p:txBody>
        </p:sp>
      </p:grpSp>
      <p:grpSp>
        <p:nvGrpSpPr>
          <p:cNvPr id="15" name="Group 15"/>
          <p:cNvGrpSpPr/>
          <p:nvPr/>
        </p:nvGrpSpPr>
        <p:grpSpPr>
          <a:xfrm>
            <a:off x="2642283" y="945832"/>
            <a:ext cx="6907435" cy="2045018"/>
            <a:chOff x="2642283" y="945832"/>
            <a:chExt cx="6907435" cy="2045018"/>
          </a:xfrm>
        </p:grpSpPr>
        <p:sp>
          <p:nvSpPr>
            <p:cNvPr id="10" name="TextBox 10"/>
            <p:cNvSpPr txBox="1"/>
            <p:nvPr/>
          </p:nvSpPr>
          <p:spPr>
            <a:xfrm>
              <a:off x="5884446" y="945832"/>
              <a:ext cx="423108" cy="335280"/>
            </a:xfrm>
            <a:prstGeom prst="rect">
              <a:avLst/>
            </a:prstGeom>
            <a:noFill/>
            <a:ln>
              <a:noFill/>
            </a:ln>
          </p:spPr>
          <p:txBody>
            <a:bodyPr wrap="none" lIns="0" tIns="0" rIns="0" bIns="0" anchor="t" anchorCtr="0">
              <a:spAutoFit/>
            </a:bodyPr>
            <a:lstStyle/>
            <a:p>
              <a:pPr algn="ctr"/>
              <a:r>
                <a:rPr lang="zh-CN" sz="1650" b="1" dirty="0">
                  <a:solidFill>
                    <a:srgbClr val="111111"/>
                  </a:solidFill>
                  <a:latin typeface="Arial Black"/>
                  <a:ea typeface="SimHei"/>
                  <a:cs typeface="Arial Black"/>
                </a:rPr>
                <a:t>THE</a:t>
              </a:r>
            </a:p>
          </p:txBody>
        </p:sp>
        <p:sp>
          <p:nvSpPr>
            <p:cNvPr id="11" name="TextBox 11"/>
            <p:cNvSpPr txBox="1"/>
            <p:nvPr/>
          </p:nvSpPr>
          <p:spPr>
            <a:xfrm>
              <a:off x="2642283" y="1123950"/>
              <a:ext cx="6907435" cy="1828800"/>
            </a:xfrm>
            <a:prstGeom prst="rect">
              <a:avLst/>
            </a:prstGeom>
            <a:noFill/>
            <a:ln>
              <a:noFill/>
            </a:ln>
          </p:spPr>
          <p:txBody>
            <a:bodyPr wrap="none" lIns="0" tIns="0" rIns="0" bIns="0" anchor="t" anchorCtr="0">
              <a:spAutoFit/>
            </a:bodyPr>
            <a:lstStyle/>
            <a:p>
              <a:pPr algn="ctr"/>
              <a:r>
                <a:rPr lang="zh-CN" sz="9000" b="1" dirty="0">
                  <a:solidFill>
                    <a:srgbClr val="111111"/>
                  </a:solidFill>
                  <a:latin typeface="Impact"/>
                  <a:ea typeface="SimHei"/>
                  <a:cs typeface="Impact"/>
                </a:rPr>
                <a:t>AI INDUSTRY</a:t>
              </a:r>
            </a:p>
          </p:txBody>
        </p:sp>
        <p:sp>
          <p:nvSpPr>
            <p:cNvPr id="12" name="Line 12"/>
            <p:cNvSpPr/>
            <p:nvPr/>
          </p:nvSpPr>
          <p:spPr>
            <a:xfrm>
              <a:off x="3619500" y="2571750"/>
              <a:ext cx="1524000" cy="9525"/>
            </a:xfrm>
            <a:custGeom>
              <a:avLst/>
              <a:gdLst/>
              <a:ahLst/>
              <a:cxnLst/>
              <a:rect l="l" t="t" r="r" b="b"/>
              <a:pathLst>
                <a:path w="1524000" h="9525">
                  <a:moveTo>
                    <a:pt x="0" y="0"/>
                  </a:moveTo>
                  <a:lnTo>
                    <a:pt x="1524000" y="0"/>
                  </a:lnTo>
                </a:path>
              </a:pathLst>
            </a:custGeom>
            <a:noFill/>
            <a:ln w="9525">
              <a:solidFill>
                <a:srgbClr val="111111"/>
              </a:solidFill>
            </a:ln>
          </p:spPr>
        </p:sp>
        <p:sp>
          <p:nvSpPr>
            <p:cNvPr id="13" name="TextBox 13"/>
            <p:cNvSpPr txBox="1"/>
            <p:nvPr/>
          </p:nvSpPr>
          <p:spPr>
            <a:xfrm>
              <a:off x="5495811" y="2259330"/>
              <a:ext cx="1200379" cy="731520"/>
            </a:xfrm>
            <a:prstGeom prst="rect">
              <a:avLst/>
            </a:prstGeom>
            <a:noFill/>
            <a:ln>
              <a:noFill/>
            </a:ln>
          </p:spPr>
          <p:txBody>
            <a:bodyPr wrap="none" lIns="0" tIns="0" rIns="0" bIns="0" anchor="t" anchorCtr="0">
              <a:spAutoFit/>
            </a:bodyPr>
            <a:lstStyle/>
            <a:p>
              <a:pPr algn="ctr"/>
              <a:r>
                <a:rPr lang="zh-CN" sz="3600" b="1" dirty="0">
                  <a:solidFill>
                    <a:srgbClr val="C8102E"/>
                  </a:solidFill>
                  <a:latin typeface="Impact"/>
                  <a:ea typeface="SimHei"/>
                  <a:cs typeface="Impact"/>
                </a:rPr>
                <a:t>2026</a:t>
              </a:r>
            </a:p>
          </p:txBody>
        </p:sp>
        <p:sp>
          <p:nvSpPr>
            <p:cNvPr id="14" name="Line 14"/>
            <p:cNvSpPr/>
            <p:nvPr/>
          </p:nvSpPr>
          <p:spPr>
            <a:xfrm>
              <a:off x="7048500" y="2571750"/>
              <a:ext cx="1524000" cy="9525"/>
            </a:xfrm>
            <a:custGeom>
              <a:avLst/>
              <a:gdLst/>
              <a:ahLst/>
              <a:cxnLst/>
              <a:rect l="l" t="t" r="r" b="b"/>
              <a:pathLst>
                <a:path w="1524000" h="9525">
                  <a:moveTo>
                    <a:pt x="0" y="0"/>
                  </a:moveTo>
                  <a:lnTo>
                    <a:pt x="1524000" y="0"/>
                  </a:lnTo>
                </a:path>
              </a:pathLst>
            </a:custGeom>
            <a:noFill/>
            <a:ln w="9525">
              <a:solidFill>
                <a:srgbClr val="111111"/>
              </a:solidFill>
            </a:ln>
          </p:spPr>
        </p:sp>
      </p:grpSp>
      <p:grpSp>
        <p:nvGrpSpPr>
          <p:cNvPr id="18" name="Group 18"/>
          <p:cNvGrpSpPr/>
          <p:nvPr/>
        </p:nvGrpSpPr>
        <p:grpSpPr>
          <a:xfrm>
            <a:off x="3198185" y="2984182"/>
            <a:ext cx="5795629" cy="435293"/>
            <a:chOff x="3198185" y="2984182"/>
            <a:chExt cx="5795629" cy="435293"/>
          </a:xfrm>
        </p:grpSpPr>
        <p:sp>
          <p:nvSpPr>
            <p:cNvPr id="16" name="TextBox 16"/>
            <p:cNvSpPr txBox="1"/>
            <p:nvPr/>
          </p:nvSpPr>
          <p:spPr>
            <a:xfrm>
              <a:off x="3198185" y="2984182"/>
              <a:ext cx="5795629" cy="335280"/>
            </a:xfrm>
            <a:prstGeom prst="rect">
              <a:avLst/>
            </a:prstGeom>
            <a:noFill/>
            <a:ln>
              <a:noFill/>
            </a:ln>
          </p:spPr>
          <p:txBody>
            <a:bodyPr wrap="none" lIns="0" tIns="0" rIns="0" bIns="0" anchor="t" anchorCtr="0">
              <a:spAutoFit/>
            </a:bodyPr>
            <a:lstStyle/>
            <a:p>
              <a:pPr algn="ctr"/>
              <a:r>
                <a:rPr lang="zh-CN" sz="1650" i="1" dirty="0">
                  <a:solidFill>
                    <a:srgbClr val="111111"/>
                  </a:solidFill>
                  <a:latin typeface="Times New Roman"/>
                  <a:ea typeface="SimSun"/>
                  <a:cs typeface="Times New Roman"/>
                </a:rPr>
                <a:t>an annual report on the year the league table changed</a:t>
              </a:r>
            </a:p>
          </p:txBody>
        </p:sp>
        <p:sp>
          <p:nvSpPr>
            <p:cNvPr id="17" name="Line 17"/>
            <p:cNvSpPr/>
            <p:nvPr/>
          </p:nvSpPr>
          <p:spPr>
            <a:xfrm>
              <a:off x="4667250" y="3409950"/>
              <a:ext cx="2857500" cy="9525"/>
            </a:xfrm>
            <a:custGeom>
              <a:avLst/>
              <a:gdLst/>
              <a:ahLst/>
              <a:cxnLst/>
              <a:rect l="l" t="t" r="r" b="b"/>
              <a:pathLst>
                <a:path w="2857500" h="9525">
                  <a:moveTo>
                    <a:pt x="0" y="0"/>
                  </a:moveTo>
                  <a:lnTo>
                    <a:pt x="2857500" y="0"/>
                  </a:lnTo>
                </a:path>
              </a:pathLst>
            </a:custGeom>
            <a:noFill/>
            <a:ln w="19050">
              <a:solidFill>
                <a:srgbClr val="111111"/>
              </a:solidFill>
            </a:ln>
          </p:spPr>
        </p:sp>
      </p:grpSp>
      <p:grpSp>
        <p:nvGrpSpPr>
          <p:cNvPr id="22" name="Group 22"/>
          <p:cNvGrpSpPr/>
          <p:nvPr/>
        </p:nvGrpSpPr>
        <p:grpSpPr>
          <a:xfrm>
            <a:off x="3570408" y="3665220"/>
            <a:ext cx="5051184" cy="1287780"/>
            <a:chOff x="3570408" y="3665220"/>
            <a:chExt cx="5051184" cy="1287780"/>
          </a:xfrm>
        </p:grpSpPr>
        <p:sp>
          <p:nvSpPr>
            <p:cNvPr id="19" name="TextBox 19"/>
            <p:cNvSpPr txBox="1"/>
            <p:nvPr/>
          </p:nvSpPr>
          <p:spPr>
            <a:xfrm>
              <a:off x="4024065" y="3665220"/>
              <a:ext cx="4143870" cy="487680"/>
            </a:xfrm>
            <a:prstGeom prst="rect">
              <a:avLst/>
            </a:prstGeom>
            <a:noFill/>
            <a:ln>
              <a:noFill/>
            </a:ln>
          </p:spPr>
          <p:txBody>
            <a:bodyPr wrap="none" lIns="0" tIns="0" rIns="0" bIns="0" anchor="t" anchorCtr="0">
              <a:spAutoFit/>
            </a:bodyPr>
            <a:lstStyle/>
            <a:p>
              <a:pPr algn="ctr"/>
              <a:r>
                <a:rPr lang="zh-CN" sz="2400" b="1" dirty="0">
                  <a:solidFill>
                    <a:srgbClr val="111111"/>
                  </a:solidFill>
                  <a:latin typeface="Impact"/>
                  <a:ea typeface="SimHei"/>
                  <a:cs typeface="Impact"/>
                </a:rPr>
                <a:t>REVENUE LEADER CHANGED.</a:t>
              </a:r>
            </a:p>
          </p:txBody>
        </p:sp>
        <p:sp>
          <p:nvSpPr>
            <p:cNvPr id="20" name="TextBox 20"/>
            <p:cNvSpPr txBox="1"/>
            <p:nvPr/>
          </p:nvSpPr>
          <p:spPr>
            <a:xfrm>
              <a:off x="3570408" y="4065270"/>
              <a:ext cx="5051184" cy="487680"/>
            </a:xfrm>
            <a:prstGeom prst="rect">
              <a:avLst/>
            </a:prstGeom>
            <a:noFill/>
            <a:ln>
              <a:noFill/>
            </a:ln>
          </p:spPr>
          <p:txBody>
            <a:bodyPr wrap="none" lIns="0" tIns="0" rIns="0" bIns="0" anchor="t" anchorCtr="0">
              <a:spAutoFit/>
            </a:bodyPr>
            <a:lstStyle/>
            <a:p>
              <a:pPr algn="ctr"/>
              <a:r>
                <a:rPr lang="zh-CN" sz="2400" b="1" dirty="0">
                  <a:solidFill>
                    <a:srgbClr val="111111"/>
                  </a:solidFill>
                  <a:latin typeface="Impact"/>
                  <a:ea typeface="SimHei"/>
                  <a:cs typeface="Impact"/>
                </a:rPr>
                <a:t>TRAINING COST CROSSED $0.5 B.</a:t>
              </a:r>
            </a:p>
          </p:txBody>
        </p:sp>
        <p:sp>
          <p:nvSpPr>
            <p:cNvPr id="21" name="TextBox 21"/>
            <p:cNvSpPr txBox="1"/>
            <p:nvPr/>
          </p:nvSpPr>
          <p:spPr>
            <a:xfrm>
              <a:off x="4133278" y="4465320"/>
              <a:ext cx="3925443" cy="487680"/>
            </a:xfrm>
            <a:prstGeom prst="rect">
              <a:avLst/>
            </a:prstGeom>
            <a:noFill/>
            <a:ln>
              <a:noFill/>
            </a:ln>
          </p:spPr>
          <p:txBody>
            <a:bodyPr wrap="none" lIns="0" tIns="0" rIns="0" bIns="0" anchor="t" anchorCtr="0">
              <a:spAutoFit/>
            </a:bodyPr>
            <a:lstStyle/>
            <a:p>
              <a:pPr algn="ctr"/>
              <a:r>
                <a:rPr lang="zh-CN" sz="2400" b="1" dirty="0">
                  <a:solidFill>
                    <a:srgbClr val="C8102E"/>
                  </a:solidFill>
                  <a:latin typeface="Impact"/>
                  <a:ea typeface="SimHei"/>
                  <a:cs typeface="Impact"/>
                </a:rPr>
                <a:t>BENCHMARKS SATURATED.</a:t>
              </a:r>
            </a:p>
          </p:txBody>
        </p:sp>
      </p:grpSp>
      <p:grpSp>
        <p:nvGrpSpPr>
          <p:cNvPr id="29" name="Group 29"/>
          <p:cNvGrpSpPr/>
          <p:nvPr/>
        </p:nvGrpSpPr>
        <p:grpSpPr>
          <a:xfrm>
            <a:off x="9323070" y="5295900"/>
            <a:ext cx="2411730" cy="992981"/>
            <a:chOff x="9323070" y="5295900"/>
            <a:chExt cx="2411730" cy="992981"/>
          </a:xfrm>
        </p:grpSpPr>
        <p:sp>
          <p:nvSpPr>
            <p:cNvPr id="23" name="Rectangle 23"/>
            <p:cNvSpPr/>
            <p:nvPr/>
          </p:nvSpPr>
          <p:spPr>
            <a:xfrm>
              <a:off x="9334500" y="5295900"/>
              <a:ext cx="2400300" cy="19050"/>
            </a:xfrm>
            <a:prstGeom prst="rect">
              <a:avLst/>
            </a:prstGeom>
            <a:solidFill>
              <a:srgbClr val="111111"/>
            </a:solidFill>
            <a:ln>
              <a:noFill/>
            </a:ln>
          </p:spPr>
        </p:sp>
        <p:sp>
          <p:nvSpPr>
            <p:cNvPr id="24" name="TextBox 24"/>
            <p:cNvSpPr txBox="1"/>
            <p:nvPr/>
          </p:nvSpPr>
          <p:spPr>
            <a:xfrm>
              <a:off x="9324022" y="5454491"/>
              <a:ext cx="1083688" cy="167640"/>
            </a:xfrm>
            <a:prstGeom prst="rect">
              <a:avLst/>
            </a:prstGeom>
            <a:noFill/>
            <a:ln>
              <a:noFill/>
            </a:ln>
          </p:spPr>
          <p:txBody>
            <a:bodyPr wrap="none" lIns="0" tIns="0" rIns="0" bIns="0" anchor="t" anchorCtr="0">
              <a:spAutoFit/>
            </a:bodyPr>
            <a:lstStyle/>
            <a:p>
              <a:pPr algn="l"/>
              <a:r>
                <a:rPr lang="zh-CN" sz="825" b="1" dirty="0">
                  <a:solidFill>
                    <a:srgbClr val="111111"/>
                  </a:solidFill>
                  <a:latin typeface="Arial Black"/>
                  <a:ea typeface="SimHei"/>
                  <a:cs typeface="Arial Black"/>
                </a:rPr>
                <a:t>COMPILED MAY 2026</a:t>
              </a:r>
            </a:p>
          </p:txBody>
        </p:sp>
        <p:sp>
          <p:nvSpPr>
            <p:cNvPr id="25" name="TextBox 25"/>
            <p:cNvSpPr txBox="1"/>
            <p:nvPr/>
          </p:nvSpPr>
          <p:spPr>
            <a:xfrm>
              <a:off x="9323070" y="5636895"/>
              <a:ext cx="1793081" cy="182880"/>
            </a:xfrm>
            <a:prstGeom prst="rect">
              <a:avLst/>
            </a:prstGeom>
            <a:noFill/>
            <a:ln>
              <a:noFill/>
            </a:ln>
          </p:spPr>
          <p:txBody>
            <a:bodyPr wrap="none" lIns="0" tIns="0" rIns="0" bIns="0" anchor="t" anchorCtr="0">
              <a:spAutoFit/>
            </a:bodyPr>
            <a:lstStyle/>
            <a:p>
              <a:pPr algn="l"/>
              <a:r>
                <a:rPr lang="zh-CN" sz="900" i="1" dirty="0">
                  <a:solidFill>
                    <a:srgbClr val="3A3A3A"/>
                  </a:solidFill>
                  <a:latin typeface="Times New Roman"/>
                  <a:ea typeface="SimSun"/>
                  <a:cs typeface="Times New Roman"/>
                </a:rPr>
                <a:t>Sources, in order of citation:</a:t>
              </a:r>
            </a:p>
          </p:txBody>
        </p:sp>
        <p:sp>
          <p:nvSpPr>
            <p:cNvPr id="26" name="TextBox 26"/>
            <p:cNvSpPr txBox="1"/>
            <p:nvPr/>
          </p:nvSpPr>
          <p:spPr>
            <a:xfrm>
              <a:off x="9324022" y="5816441"/>
              <a:ext cx="2127718" cy="167640"/>
            </a:xfrm>
            <a:prstGeom prst="rect">
              <a:avLst/>
            </a:prstGeom>
            <a:noFill/>
            <a:ln>
              <a:noFill/>
            </a:ln>
          </p:spPr>
          <p:txBody>
            <a:bodyPr wrap="none" lIns="0" tIns="0" rIns="0" bIns="0" anchor="t" anchorCtr="0">
              <a:spAutoFit/>
            </a:bodyPr>
            <a:lstStyle/>
            <a:p>
              <a:pPr algn="l"/>
              <a:r>
                <a:rPr lang="zh-CN" sz="825" dirty="0">
                  <a:solidFill>
                    <a:srgbClr val="111111"/>
                  </a:solidFill>
                  <a:latin typeface="Times New Roman"/>
                  <a:ea typeface="SimSun"/>
                  <a:cs typeface="Times New Roman"/>
                </a:rPr>
                <a:t>Stanford HAI · Counterpoint Research ·</a:t>
              </a:r>
            </a:p>
          </p:txBody>
        </p:sp>
        <p:sp>
          <p:nvSpPr>
            <p:cNvPr id="27" name="TextBox 27"/>
            <p:cNvSpPr txBox="1"/>
            <p:nvPr/>
          </p:nvSpPr>
          <p:spPr>
            <a:xfrm>
              <a:off x="9324022" y="5968841"/>
              <a:ext cx="1995702" cy="167640"/>
            </a:xfrm>
            <a:prstGeom prst="rect">
              <a:avLst/>
            </a:prstGeom>
            <a:noFill/>
            <a:ln>
              <a:noFill/>
            </a:ln>
          </p:spPr>
          <p:txBody>
            <a:bodyPr wrap="none" lIns="0" tIns="0" rIns="0" bIns="0" anchor="t" anchorCtr="0">
              <a:spAutoFit/>
            </a:bodyPr>
            <a:lstStyle/>
            <a:p>
              <a:pPr algn="l"/>
              <a:r>
                <a:rPr lang="zh-CN" sz="825" dirty="0">
                  <a:solidFill>
                    <a:srgbClr val="111111"/>
                  </a:solidFill>
                  <a:latin typeface="Times New Roman"/>
                  <a:ea typeface="SimSun"/>
                  <a:cs typeface="Times New Roman"/>
                </a:rPr>
                <a:t>OneTrust · Deluair · IEEE Spectrum ·</a:t>
              </a:r>
            </a:p>
          </p:txBody>
        </p:sp>
        <p:sp>
          <p:nvSpPr>
            <p:cNvPr id="28" name="TextBox 28"/>
            <p:cNvSpPr txBox="1"/>
            <p:nvPr/>
          </p:nvSpPr>
          <p:spPr>
            <a:xfrm>
              <a:off x="9324022" y="6121241"/>
              <a:ext cx="1429131" cy="167640"/>
            </a:xfrm>
            <a:prstGeom prst="rect">
              <a:avLst/>
            </a:prstGeom>
            <a:noFill/>
            <a:ln>
              <a:noFill/>
            </a:ln>
          </p:spPr>
          <p:txBody>
            <a:bodyPr wrap="none" lIns="0" tIns="0" rIns="0" bIns="0" anchor="t" anchorCtr="0">
              <a:spAutoFit/>
            </a:bodyPr>
            <a:lstStyle/>
            <a:p>
              <a:pPr algn="l"/>
              <a:r>
                <a:rPr lang="zh-CN" sz="825" dirty="0">
                  <a:solidFill>
                    <a:srgbClr val="111111"/>
                  </a:solidFill>
                  <a:latin typeface="Times New Roman"/>
                  <a:ea typeface="SimSun"/>
                  <a:cs typeface="Times New Roman"/>
                </a:rPr>
                <a:t>Fortune BI · The Register.</a:t>
              </a:r>
            </a:p>
          </p:txBody>
        </p:sp>
      </p:grpSp>
      <p:grpSp>
        <p:nvGrpSpPr>
          <p:cNvPr id="36" name="Group 36"/>
          <p:cNvGrpSpPr/>
          <p:nvPr/>
        </p:nvGrpSpPr>
        <p:grpSpPr>
          <a:xfrm>
            <a:off x="445770" y="5295900"/>
            <a:ext cx="2411730" cy="992981"/>
            <a:chOff x="445770" y="5295900"/>
            <a:chExt cx="2411730" cy="992981"/>
          </a:xfrm>
        </p:grpSpPr>
        <p:sp>
          <p:nvSpPr>
            <p:cNvPr id="30" name="Rectangle 30"/>
            <p:cNvSpPr/>
            <p:nvPr/>
          </p:nvSpPr>
          <p:spPr>
            <a:xfrm>
              <a:off x="457200" y="5295900"/>
              <a:ext cx="2400300" cy="19050"/>
            </a:xfrm>
            <a:prstGeom prst="rect">
              <a:avLst/>
            </a:prstGeom>
            <a:solidFill>
              <a:srgbClr val="111111"/>
            </a:solidFill>
            <a:ln>
              <a:noFill/>
            </a:ln>
          </p:spPr>
        </p:sp>
        <p:sp>
          <p:nvSpPr>
            <p:cNvPr id="31" name="TextBox 31"/>
            <p:cNvSpPr txBox="1"/>
            <p:nvPr/>
          </p:nvSpPr>
          <p:spPr>
            <a:xfrm>
              <a:off x="446722" y="5454491"/>
              <a:ext cx="1129894" cy="167640"/>
            </a:xfrm>
            <a:prstGeom prst="rect">
              <a:avLst/>
            </a:prstGeom>
            <a:noFill/>
            <a:ln>
              <a:noFill/>
            </a:ln>
          </p:spPr>
          <p:txBody>
            <a:bodyPr wrap="none" lIns="0" tIns="0" rIns="0" bIns="0" anchor="t" anchorCtr="0">
              <a:spAutoFit/>
            </a:bodyPr>
            <a:lstStyle/>
            <a:p>
              <a:pPr algn="l"/>
              <a:r>
                <a:rPr lang="zh-CN" sz="825" b="1" dirty="0">
                  <a:solidFill>
                    <a:srgbClr val="111111"/>
                  </a:solidFill>
                  <a:latin typeface="Arial Black"/>
                  <a:ea typeface="SimHei"/>
                  <a:cs typeface="Arial Black"/>
                </a:rPr>
                <a:t>PPT MASTER · VOL. 1</a:t>
              </a:r>
            </a:p>
          </p:txBody>
        </p:sp>
        <p:sp>
          <p:nvSpPr>
            <p:cNvPr id="32" name="TextBox 32"/>
            <p:cNvSpPr txBox="1"/>
            <p:nvPr/>
          </p:nvSpPr>
          <p:spPr>
            <a:xfrm>
              <a:off x="445770" y="5636895"/>
              <a:ext cx="1511046" cy="182880"/>
            </a:xfrm>
            <a:prstGeom prst="rect">
              <a:avLst/>
            </a:prstGeom>
            <a:noFill/>
            <a:ln>
              <a:noFill/>
            </a:ln>
          </p:spPr>
          <p:txBody>
            <a:bodyPr wrap="none" lIns="0" tIns="0" rIns="0" bIns="0" anchor="t" anchorCtr="0">
              <a:spAutoFit/>
            </a:bodyPr>
            <a:lstStyle/>
            <a:p>
              <a:pPr algn="l"/>
              <a:r>
                <a:rPr lang="zh-CN" sz="900" i="1" dirty="0">
                  <a:solidFill>
                    <a:srgbClr val="3A3A3A"/>
                  </a:solidFill>
                  <a:latin typeface="Times New Roman"/>
                  <a:ea typeface="SimSun"/>
                  <a:cs typeface="Times New Roman"/>
                </a:rPr>
                <a:t>Capability-showcase deck</a:t>
              </a:r>
            </a:p>
          </p:txBody>
        </p:sp>
        <p:sp>
          <p:nvSpPr>
            <p:cNvPr id="33" name="TextBox 33"/>
            <p:cNvSpPr txBox="1"/>
            <p:nvPr/>
          </p:nvSpPr>
          <p:spPr>
            <a:xfrm>
              <a:off x="446722" y="5816441"/>
              <a:ext cx="2006703" cy="167640"/>
            </a:xfrm>
            <a:prstGeom prst="rect">
              <a:avLst/>
            </a:prstGeom>
            <a:noFill/>
            <a:ln>
              <a:noFill/>
            </a:ln>
          </p:spPr>
          <p:txBody>
            <a:bodyPr wrap="none" lIns="0" tIns="0" rIns="0" bIns="0" anchor="t" anchorCtr="0">
              <a:spAutoFit/>
            </a:bodyPr>
            <a:lstStyle/>
            <a:p>
              <a:pPr algn="l"/>
              <a:r>
                <a:rPr lang="zh-CN" sz="825" dirty="0">
                  <a:solidFill>
                    <a:srgbClr val="111111"/>
                  </a:solidFill>
                  <a:latin typeface="Times New Roman"/>
                  <a:ea typeface="SimSun"/>
                  <a:cs typeface="Times New Roman"/>
                </a:rPr>
                <a:t>Stress-tests text-position fidelity,</a:t>
              </a:r>
            </a:p>
          </p:txBody>
        </p:sp>
        <p:sp>
          <p:nvSpPr>
            <p:cNvPr id="34" name="TextBox 34"/>
            <p:cNvSpPr txBox="1"/>
            <p:nvPr/>
          </p:nvSpPr>
          <p:spPr>
            <a:xfrm>
              <a:off x="446722" y="5968841"/>
              <a:ext cx="1973699" cy="167640"/>
            </a:xfrm>
            <a:prstGeom prst="rect">
              <a:avLst/>
            </a:prstGeom>
            <a:noFill/>
            <a:ln>
              <a:noFill/>
            </a:ln>
          </p:spPr>
          <p:txBody>
            <a:bodyPr wrap="none" lIns="0" tIns="0" rIns="0" bIns="0" anchor="t" anchorCtr="0">
              <a:spAutoFit/>
            </a:bodyPr>
            <a:lstStyle/>
            <a:p>
              <a:pPr algn="l"/>
              <a:r>
                <a:rPr lang="zh-CN" sz="825" dirty="0">
                  <a:solidFill>
                    <a:srgbClr val="111111"/>
                  </a:solidFill>
                  <a:latin typeface="Times New Roman"/>
                  <a:ea typeface="SimSun"/>
                  <a:cs typeface="Times New Roman"/>
                </a:rPr>
                <a:t>cross-page consistency, real native</a:t>
              </a:r>
            </a:p>
          </p:txBody>
        </p:sp>
        <p:sp>
          <p:nvSpPr>
            <p:cNvPr id="35" name="TextBox 35"/>
            <p:cNvSpPr txBox="1"/>
            <p:nvPr/>
          </p:nvSpPr>
          <p:spPr>
            <a:xfrm>
              <a:off x="446722" y="6121241"/>
              <a:ext cx="1709666" cy="167640"/>
            </a:xfrm>
            <a:prstGeom prst="rect">
              <a:avLst/>
            </a:prstGeom>
            <a:noFill/>
            <a:ln>
              <a:noFill/>
            </a:ln>
          </p:spPr>
          <p:txBody>
            <a:bodyPr wrap="none" lIns="0" tIns="0" rIns="0" bIns="0" anchor="t" anchorCtr="0">
              <a:spAutoFit/>
            </a:bodyPr>
            <a:lstStyle/>
            <a:p>
              <a:pPr algn="l"/>
              <a:r>
                <a:rPr lang="zh-CN" sz="825" dirty="0">
                  <a:solidFill>
                    <a:srgbClr val="111111"/>
                  </a:solidFill>
                  <a:latin typeface="Times New Roman"/>
                  <a:ea typeface="SimSun"/>
                  <a:cs typeface="Times New Roman"/>
                </a:rPr>
                <a:t>DrawingML shape preservation.</a:t>
              </a:r>
            </a:p>
          </p:txBody>
        </p:sp>
      </p:grpSp>
      <p:grpSp>
        <p:nvGrpSpPr>
          <p:cNvPr id="40" name="Group 40"/>
          <p:cNvGrpSpPr/>
          <p:nvPr/>
        </p:nvGrpSpPr>
        <p:grpSpPr>
          <a:xfrm>
            <a:off x="448628" y="6457950"/>
            <a:ext cx="11294744" cy="235744"/>
            <a:chOff x="448628" y="6457950"/>
            <a:chExt cx="11294744" cy="235744"/>
          </a:xfrm>
        </p:grpSpPr>
        <p:sp>
          <p:nvSpPr>
            <p:cNvPr id="37" name="Line 37"/>
            <p:cNvSpPr/>
            <p:nvPr/>
          </p:nvSpPr>
          <p:spPr>
            <a:xfrm>
              <a:off x="457200" y="6457950"/>
              <a:ext cx="11277600" cy="9525"/>
            </a:xfrm>
            <a:custGeom>
              <a:avLst/>
              <a:gdLst/>
              <a:ahLst/>
              <a:cxnLst/>
              <a:rect l="l" t="t" r="r" b="b"/>
              <a:pathLst>
                <a:path w="11277600" h="9525">
                  <a:moveTo>
                    <a:pt x="0" y="0"/>
                  </a:moveTo>
                  <a:lnTo>
                    <a:pt x="11277600" y="0"/>
                  </a:lnTo>
                </a:path>
              </a:pathLst>
            </a:custGeom>
            <a:noFill/>
            <a:ln w="4762">
              <a:solidFill>
                <a:srgbClr val="111111"/>
              </a:solidFill>
            </a:ln>
          </p:spPr>
        </p:sp>
        <p:sp>
          <p:nvSpPr>
            <p:cNvPr id="38" name="TextBox 38"/>
            <p:cNvSpPr txBox="1"/>
            <p:nvPr/>
          </p:nvSpPr>
          <p:spPr>
            <a:xfrm>
              <a:off x="448628" y="6556534"/>
              <a:ext cx="3570789" cy="137160"/>
            </a:xfrm>
            <a:prstGeom prst="rect">
              <a:avLst/>
            </a:prstGeom>
            <a:noFill/>
            <a:ln>
              <a:noFill/>
            </a:ln>
          </p:spPr>
          <p:txBody>
            <a:bodyPr wrap="none" lIns="0" tIns="0" rIns="0" bIns="0" anchor="t" anchorCtr="0">
              <a:spAutoFit/>
            </a:bodyPr>
            <a:lstStyle/>
            <a:p>
              <a:pPr algn="l"/>
              <a:r>
                <a:rPr lang="zh-CN" sz="675" b="1" dirty="0">
                  <a:solidFill>
                    <a:srgbClr val="111111"/>
                  </a:solidFill>
                  <a:latin typeface="Consolas"/>
                  <a:ea typeface="Microsoft YaHei"/>
                  <a:cs typeface="Consolas"/>
                </a:rPr>
                <a:t>EDITION 1 · 10 PAGES · BRUTALIST NEWSPAPER DEMO · PPT MASTER ROADMAP §P0-2</a:t>
              </a:r>
            </a:p>
          </p:txBody>
        </p:sp>
        <p:sp>
          <p:nvSpPr>
            <p:cNvPr id="39" name="TextBox 39"/>
            <p:cNvSpPr txBox="1"/>
            <p:nvPr/>
          </p:nvSpPr>
          <p:spPr>
            <a:xfrm>
              <a:off x="11220589" y="6556534"/>
              <a:ext cx="522783" cy="137160"/>
            </a:xfrm>
            <a:prstGeom prst="rect">
              <a:avLst/>
            </a:prstGeom>
            <a:noFill/>
            <a:ln>
              <a:noFill/>
            </a:ln>
          </p:spPr>
          <p:txBody>
            <a:bodyPr wrap="none" lIns="0" tIns="0" rIns="0" bIns="0" anchor="t" anchorCtr="0">
              <a:spAutoFit/>
            </a:bodyPr>
            <a:lstStyle/>
            <a:p>
              <a:pPr algn="r"/>
              <a:r>
                <a:rPr lang="zh-CN" sz="675" b="1" dirty="0">
                  <a:solidFill>
                    <a:srgbClr val="111111"/>
                  </a:solidFill>
                  <a:latin typeface="Consolas"/>
                  <a:ea typeface="Microsoft YaHei"/>
                  <a:cs typeface="Consolas"/>
                </a:rPr>
                <a:t>PAGE 01 / 10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00"/>
                                        <p:tgtEl>
                                          <p:spTgt spid="18"/>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image">
                                      <p:cBhvr>
                                        <p:cTn id="19" dur="400"/>
                                        <p:tgtEl>
                                          <p:spTgt spid="29"/>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36"/>
                                        </p:tgtEl>
                                        <p:attrNameLst>
                                          <p:attrName>style.visibility</p:attrName>
                                        </p:attrNameLst>
                                      </p:cBhvr>
                                      <p:to>
                                        <p:strVal val="visible"/>
                                      </p:to>
                                    </p:set>
                                    <p:animEffect transition="in" filter="fade">
                                      <p:cBhvr>
                                        <p:cTn id="23"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8" grpId="0"/>
      <p:bldP spid="22" grpId="0"/>
      <p:bldP spid="29" grpId="0"/>
      <p:bldP spid="3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solidFill>
            <a:srgbClr val="C8102E"/>
          </a:solidFill>
          <a:ln>
            <a:noFill/>
          </a:ln>
        </p:spPr>
      </p:sp>
      <p:grpSp>
        <p:nvGrpSpPr>
          <p:cNvPr id="8" name="Group 8"/>
          <p:cNvGrpSpPr/>
          <p:nvPr/>
        </p:nvGrpSpPr>
        <p:grpSpPr>
          <a:xfrm>
            <a:off x="447675" y="166688"/>
            <a:ext cx="11296650" cy="166687"/>
            <a:chOff x="447675" y="166688"/>
            <a:chExt cx="11296650" cy="166687"/>
          </a:xfrm>
        </p:grpSpPr>
        <p:sp>
          <p:nvSpPr>
            <p:cNvPr id="4" name="Line 4"/>
            <p:cNvSpPr/>
            <p:nvPr/>
          </p:nvSpPr>
          <p:spPr>
            <a:xfrm>
              <a:off x="457200" y="323850"/>
              <a:ext cx="11277600" cy="9525"/>
            </a:xfrm>
            <a:custGeom>
              <a:avLst/>
              <a:gdLst/>
              <a:ahLst/>
              <a:cxnLst/>
              <a:rect l="l" t="t" r="r" b="b"/>
              <a:pathLst>
                <a:path w="11277600" h="9525">
                  <a:moveTo>
                    <a:pt x="0" y="0"/>
                  </a:moveTo>
                  <a:lnTo>
                    <a:pt x="11277600" y="0"/>
                  </a:lnTo>
                </a:path>
              </a:pathLst>
            </a:custGeom>
            <a:noFill/>
            <a:ln w="9525">
              <a:solidFill>
                <a:srgbClr val="111111"/>
              </a:solidFill>
            </a:ln>
          </p:spPr>
        </p:sp>
        <p:sp>
          <p:nvSpPr>
            <p:cNvPr id="5" name="TextBox 5"/>
            <p:cNvSpPr txBox="1"/>
            <p:nvPr/>
          </p:nvSpPr>
          <p:spPr>
            <a:xfrm>
              <a:off x="447675" y="166688"/>
              <a:ext cx="1909286" cy="152400"/>
            </a:xfrm>
            <a:prstGeom prst="rect">
              <a:avLst/>
            </a:prstGeom>
            <a:noFill/>
            <a:ln>
              <a:noFill/>
            </a:ln>
          </p:spPr>
          <p:txBody>
            <a:bodyPr wrap="none" lIns="0" tIns="0" rIns="0" bIns="0" anchor="t" anchorCtr="0">
              <a:spAutoFit/>
            </a:bodyPr>
            <a:lstStyle/>
            <a:p>
              <a:pPr algn="l"/>
              <a:r>
                <a:rPr lang="zh-CN" sz="750" b="1" dirty="0">
                  <a:solidFill>
                    <a:srgbClr val="111111"/>
                  </a:solidFill>
                  <a:latin typeface="Consolas"/>
                  <a:ea typeface="Microsoft YaHei"/>
                  <a:cs typeface="Consolas"/>
                </a:rPr>
                <a:t>THE AI INDUSTRY 2026 · ANNUAL REPORT</a:t>
              </a:r>
            </a:p>
          </p:txBody>
        </p:sp>
        <p:sp>
          <p:nvSpPr>
            <p:cNvPr id="6" name="TextBox 6"/>
            <p:cNvSpPr txBox="1"/>
            <p:nvPr/>
          </p:nvSpPr>
          <p:spPr>
            <a:xfrm>
              <a:off x="5800314" y="166688"/>
              <a:ext cx="591372" cy="152400"/>
            </a:xfrm>
            <a:prstGeom prst="rect">
              <a:avLst/>
            </a:prstGeom>
            <a:noFill/>
            <a:ln>
              <a:noFill/>
            </a:ln>
          </p:spPr>
          <p:txBody>
            <a:bodyPr wrap="none" lIns="0" tIns="0" rIns="0" bIns="0" anchor="t" anchorCtr="0">
              <a:spAutoFit/>
            </a:bodyPr>
            <a:lstStyle/>
            <a:p>
              <a:pPr algn="ctr"/>
              <a:r>
                <a:rPr lang="zh-CN" sz="750" b="1" dirty="0">
                  <a:solidFill>
                    <a:srgbClr val="111111"/>
                  </a:solidFill>
                  <a:latin typeface="Consolas"/>
                  <a:ea typeface="Microsoft YaHei"/>
                  <a:cs typeface="Consolas"/>
                </a:rPr>
                <a:t>FRONT PAGE</a:t>
              </a:r>
            </a:p>
          </p:txBody>
        </p:sp>
        <p:sp>
          <p:nvSpPr>
            <p:cNvPr id="7" name="TextBox 7"/>
            <p:cNvSpPr txBox="1"/>
            <p:nvPr/>
          </p:nvSpPr>
          <p:spPr>
            <a:xfrm>
              <a:off x="10454616" y="166688"/>
              <a:ext cx="1289709" cy="152400"/>
            </a:xfrm>
            <a:prstGeom prst="rect">
              <a:avLst/>
            </a:prstGeom>
            <a:noFill/>
            <a:ln>
              <a:noFill/>
            </a:ln>
          </p:spPr>
          <p:txBody>
            <a:bodyPr wrap="none" lIns="0" tIns="0" rIns="0" bIns="0" anchor="t" anchorCtr="0">
              <a:spAutoFit/>
            </a:bodyPr>
            <a:lstStyle/>
            <a:p>
              <a:pPr algn="r"/>
              <a:r>
                <a:rPr lang="zh-CN" sz="750" b="1" dirty="0">
                  <a:solidFill>
                    <a:srgbClr val="111111"/>
                  </a:solidFill>
                  <a:latin typeface="Consolas"/>
                  <a:ea typeface="Microsoft YaHei"/>
                  <a:cs typeface="Consolas"/>
                </a:rPr>
                <a:t>VOL. 1 · NO. 1 · MAY 2026</a:t>
              </a:r>
            </a:p>
          </p:txBody>
        </p:sp>
      </p:grpSp>
      <p:grpSp>
        <p:nvGrpSpPr>
          <p:cNvPr id="13" name="Group 13"/>
          <p:cNvGrpSpPr/>
          <p:nvPr/>
        </p:nvGrpSpPr>
        <p:grpSpPr>
          <a:xfrm>
            <a:off x="403860" y="463391"/>
            <a:ext cx="11330940" cy="1032034"/>
            <a:chOff x="403860" y="463391"/>
            <a:chExt cx="11330940" cy="1032034"/>
          </a:xfrm>
        </p:grpSpPr>
        <p:sp>
          <p:nvSpPr>
            <p:cNvPr id="9" name="TextBox 9"/>
            <p:cNvSpPr txBox="1"/>
            <p:nvPr/>
          </p:nvSpPr>
          <p:spPr>
            <a:xfrm>
              <a:off x="446722" y="463391"/>
              <a:ext cx="1187651" cy="167640"/>
            </a:xfrm>
            <a:prstGeom prst="rect">
              <a:avLst/>
            </a:prstGeom>
            <a:noFill/>
            <a:ln>
              <a:noFill/>
            </a:ln>
          </p:spPr>
          <p:txBody>
            <a:bodyPr wrap="none" lIns="0" tIns="0" rIns="0" bIns="0" anchor="t" anchorCtr="0">
              <a:spAutoFit/>
            </a:bodyPr>
            <a:lstStyle/>
            <a:p>
              <a:pPr algn="l"/>
              <a:r>
                <a:rPr lang="zh-CN" sz="825" b="1" dirty="0">
                  <a:solidFill>
                    <a:srgbClr val="C8102E"/>
                  </a:solidFill>
                  <a:latin typeface="Arial Black"/>
                  <a:ea typeface="SimHei"/>
                  <a:cs typeface="Arial Black"/>
                </a:rPr>
                <a:t>SECTION I · OVERVIEW</a:t>
              </a:r>
            </a:p>
          </p:txBody>
        </p:sp>
        <p:sp>
          <p:nvSpPr>
            <p:cNvPr id="10" name="TextBox 10"/>
            <p:cNvSpPr txBox="1"/>
            <p:nvPr/>
          </p:nvSpPr>
          <p:spPr>
            <a:xfrm>
              <a:off x="403860" y="594360"/>
              <a:ext cx="5017094" cy="853440"/>
            </a:xfrm>
            <a:prstGeom prst="rect">
              <a:avLst/>
            </a:prstGeom>
            <a:noFill/>
            <a:ln>
              <a:noFill/>
            </a:ln>
          </p:spPr>
          <p:txBody>
            <a:bodyPr wrap="none" lIns="0" tIns="0" rIns="0" bIns="0" anchor="t" anchorCtr="0">
              <a:spAutoFit/>
            </a:bodyPr>
            <a:lstStyle/>
            <a:p>
              <a:pPr algn="l"/>
              <a:r>
                <a:rPr lang="zh-CN" sz="4200" b="1" dirty="0">
                  <a:solidFill>
                    <a:srgbClr val="111111"/>
                  </a:solidFill>
                  <a:latin typeface="Impact"/>
                  <a:ea typeface="SimHei"/>
                  <a:cs typeface="Impact"/>
                </a:rPr>
                <a:t>ISSUE AT A GLANCE</a:t>
              </a:r>
            </a:p>
          </p:txBody>
        </p:sp>
        <p:sp>
          <p:nvSpPr>
            <p:cNvPr id="11" name="TextBox 11"/>
            <p:cNvSpPr txBox="1"/>
            <p:nvPr/>
          </p:nvSpPr>
          <p:spPr>
            <a:xfrm>
              <a:off x="442912" y="1193006"/>
              <a:ext cx="6794421" cy="228600"/>
            </a:xfrm>
            <a:prstGeom prst="rect">
              <a:avLst/>
            </a:prstGeom>
            <a:noFill/>
            <a:ln>
              <a:noFill/>
            </a:ln>
          </p:spPr>
          <p:txBody>
            <a:bodyPr wrap="none" lIns="0" tIns="0" rIns="0" bIns="0" anchor="t" anchorCtr="0">
              <a:spAutoFit/>
            </a:bodyPr>
            <a:lstStyle/>
            <a:p>
              <a:pPr algn="l"/>
              <a:r>
                <a:rPr lang="zh-CN" sz="1125" i="1" dirty="0">
                  <a:solidFill>
                    <a:srgbClr val="3A3A3A"/>
                  </a:solidFill>
                  <a:latin typeface="Times New Roman"/>
                  <a:ea typeface="SimSun"/>
                  <a:cs typeface="Times New Roman"/>
                </a:rPr>
                <a:t>Four numbers that frame the year, then three observations the rest of this issue unpacks.</a:t>
              </a:r>
            </a:p>
          </p:txBody>
        </p:sp>
        <p:sp>
          <p:nvSpPr>
            <p:cNvPr id="12" name="Line 12"/>
            <p:cNvSpPr/>
            <p:nvPr/>
          </p:nvSpPr>
          <p:spPr>
            <a:xfrm>
              <a:off x="457200" y="1485900"/>
              <a:ext cx="11277600" cy="9525"/>
            </a:xfrm>
            <a:custGeom>
              <a:avLst/>
              <a:gdLst/>
              <a:ahLst/>
              <a:cxnLst/>
              <a:rect l="l" t="t" r="r" b="b"/>
              <a:pathLst>
                <a:path w="11277600" h="9525">
                  <a:moveTo>
                    <a:pt x="0" y="0"/>
                  </a:moveTo>
                  <a:lnTo>
                    <a:pt x="11277600" y="0"/>
                  </a:lnTo>
                </a:path>
              </a:pathLst>
            </a:custGeom>
            <a:noFill/>
            <a:ln w="19050">
              <a:solidFill>
                <a:srgbClr val="111111"/>
              </a:solidFill>
            </a:ln>
          </p:spPr>
        </p:sp>
      </p:grpSp>
      <p:grpSp>
        <p:nvGrpSpPr>
          <p:cNvPr id="15" name="Group 15"/>
          <p:cNvGrpSpPr/>
          <p:nvPr/>
        </p:nvGrpSpPr>
        <p:grpSpPr>
          <a:xfrm>
            <a:off x="457200" y="1676400"/>
            <a:ext cx="11277600" cy="9525"/>
            <a:chOff x="457200" y="1676400"/>
            <a:chExt cx="11277600" cy="9525"/>
          </a:xfrm>
        </p:grpSpPr>
        <p:sp>
          <p:nvSpPr>
            <p:cNvPr id="14" name="Line 14"/>
            <p:cNvSpPr/>
            <p:nvPr/>
          </p:nvSpPr>
          <p:spPr>
            <a:xfrm>
              <a:off x="457200" y="1676400"/>
              <a:ext cx="11277600" cy="9525"/>
            </a:xfrm>
            <a:custGeom>
              <a:avLst/>
              <a:gdLst/>
              <a:ahLst/>
              <a:cxnLst/>
              <a:rect l="l" t="t" r="r" b="b"/>
              <a:pathLst>
                <a:path w="11277600" h="9525">
                  <a:moveTo>
                    <a:pt x="0" y="0"/>
                  </a:moveTo>
                  <a:lnTo>
                    <a:pt x="11277600" y="0"/>
                  </a:lnTo>
                </a:path>
              </a:pathLst>
            </a:custGeom>
            <a:noFill/>
            <a:ln w="9525">
              <a:solidFill>
                <a:srgbClr val="111111"/>
              </a:solidFill>
            </a:ln>
          </p:spPr>
        </p:sp>
      </p:grpSp>
      <p:grpSp>
        <p:nvGrpSpPr>
          <p:cNvPr id="22" name="Group 22"/>
          <p:cNvGrpSpPr/>
          <p:nvPr/>
        </p:nvGrpSpPr>
        <p:grpSpPr>
          <a:xfrm>
            <a:off x="491490" y="1824038"/>
            <a:ext cx="2585823" cy="1650206"/>
            <a:chOff x="491490" y="1824038"/>
            <a:chExt cx="2585823" cy="1650206"/>
          </a:xfrm>
        </p:grpSpPr>
        <p:sp>
          <p:nvSpPr>
            <p:cNvPr id="16" name="TextBox 16"/>
            <p:cNvSpPr txBox="1"/>
            <p:nvPr/>
          </p:nvSpPr>
          <p:spPr>
            <a:xfrm>
              <a:off x="561975" y="1824038"/>
              <a:ext cx="1573244" cy="152400"/>
            </a:xfrm>
            <a:prstGeom prst="rect">
              <a:avLst/>
            </a:prstGeom>
            <a:noFill/>
            <a:ln>
              <a:noFill/>
            </a:ln>
          </p:spPr>
          <p:txBody>
            <a:bodyPr wrap="none" lIns="0" tIns="0" rIns="0" bIns="0" anchor="t" anchorCtr="0">
              <a:spAutoFit/>
            </a:bodyPr>
            <a:lstStyle/>
            <a:p>
              <a:pPr algn="l"/>
              <a:r>
                <a:rPr lang="zh-CN" sz="750" b="1" dirty="0">
                  <a:solidFill>
                    <a:srgbClr val="3A3A3A"/>
                  </a:solidFill>
                  <a:latin typeface="Arial Black"/>
                  <a:ea typeface="SimHei"/>
                  <a:cs typeface="Arial Black"/>
                </a:rPr>
                <a:t>WORLDWIDE AI SPENDING · 2026E</a:t>
              </a:r>
            </a:p>
          </p:txBody>
        </p:sp>
        <p:sp>
          <p:nvSpPr>
            <p:cNvPr id="17" name="TextBox 17"/>
            <p:cNvSpPr txBox="1"/>
            <p:nvPr/>
          </p:nvSpPr>
          <p:spPr>
            <a:xfrm>
              <a:off x="491490" y="2025015"/>
              <a:ext cx="2585823" cy="1280160"/>
            </a:xfrm>
            <a:prstGeom prst="rect">
              <a:avLst/>
            </a:prstGeom>
            <a:noFill/>
            <a:ln>
              <a:noFill/>
            </a:ln>
          </p:spPr>
          <p:txBody>
            <a:bodyPr wrap="none" lIns="0" tIns="0" rIns="0" bIns="0" anchor="t" anchorCtr="0">
              <a:spAutoFit/>
            </a:bodyPr>
            <a:lstStyle/>
            <a:p>
              <a:pPr algn="l"/>
              <a:r>
                <a:rPr lang="zh-CN" sz="6300" b="1" dirty="0">
                  <a:solidFill>
                    <a:srgbClr val="111111"/>
                  </a:solidFill>
                  <a:latin typeface="Impact"/>
                  <a:ea typeface="SimHei"/>
                  <a:cs typeface="Impact"/>
                </a:rPr>
                <a:t>$2.02</a:t>
              </a:r>
            </a:p>
          </p:txBody>
        </p:sp>
        <p:sp>
          <p:nvSpPr>
            <p:cNvPr id="18" name="TextBox 18"/>
            <p:cNvSpPr txBox="1"/>
            <p:nvPr/>
          </p:nvSpPr>
          <p:spPr>
            <a:xfrm>
              <a:off x="2247900" y="2381250"/>
              <a:ext cx="307229" cy="609600"/>
            </a:xfrm>
            <a:prstGeom prst="rect">
              <a:avLst/>
            </a:prstGeom>
            <a:noFill/>
            <a:ln>
              <a:noFill/>
            </a:ln>
          </p:spPr>
          <p:txBody>
            <a:bodyPr wrap="none" lIns="0" tIns="0" rIns="0" bIns="0" anchor="t" anchorCtr="0">
              <a:spAutoFit/>
            </a:bodyPr>
            <a:lstStyle/>
            <a:p>
              <a:pPr algn="l"/>
              <a:r>
                <a:rPr lang="zh-CN" sz="3000" b="1" dirty="0">
                  <a:solidFill>
                    <a:srgbClr val="111111"/>
                  </a:solidFill>
                  <a:latin typeface="Impact"/>
                  <a:ea typeface="SimHei"/>
                  <a:cs typeface="Impact"/>
                </a:rPr>
                <a:t>T</a:t>
              </a:r>
            </a:p>
          </p:txBody>
        </p:sp>
        <p:sp>
          <p:nvSpPr>
            <p:cNvPr id="19" name="TextBox 19"/>
            <p:cNvSpPr txBox="1"/>
            <p:nvPr/>
          </p:nvSpPr>
          <p:spPr>
            <a:xfrm>
              <a:off x="559118" y="2904649"/>
              <a:ext cx="2469071" cy="198120"/>
            </a:xfrm>
            <a:prstGeom prst="rect">
              <a:avLst/>
            </a:prstGeom>
            <a:noFill/>
            <a:ln>
              <a:noFill/>
            </a:ln>
          </p:spPr>
          <p:txBody>
            <a:bodyPr wrap="none" lIns="0" tIns="0" rIns="0" bIns="0" anchor="t" anchorCtr="0">
              <a:spAutoFit/>
            </a:bodyPr>
            <a:lstStyle/>
            <a:p>
              <a:pPr algn="l"/>
              <a:r>
                <a:rPr lang="zh-CN" sz="975" dirty="0">
                  <a:solidFill>
                    <a:srgbClr val="111111"/>
                  </a:solidFill>
                  <a:latin typeface="Times New Roman"/>
                  <a:ea typeface="SimSun"/>
                  <a:cs typeface="Times New Roman"/>
                </a:rPr>
                <a:t>total worldwide spend, all categories,</a:t>
              </a:r>
            </a:p>
          </p:txBody>
        </p:sp>
        <p:sp>
          <p:nvSpPr>
            <p:cNvPr id="20" name="TextBox 20"/>
            <p:cNvSpPr txBox="1"/>
            <p:nvPr/>
          </p:nvSpPr>
          <p:spPr>
            <a:xfrm>
              <a:off x="559118" y="3057049"/>
              <a:ext cx="1688973" cy="198120"/>
            </a:xfrm>
            <a:prstGeom prst="rect">
              <a:avLst/>
            </a:prstGeom>
            <a:noFill/>
            <a:ln>
              <a:noFill/>
            </a:ln>
          </p:spPr>
          <p:txBody>
            <a:bodyPr wrap="none" lIns="0" tIns="0" rIns="0" bIns="0" anchor="t" anchorCtr="0">
              <a:spAutoFit/>
            </a:bodyPr>
            <a:lstStyle/>
            <a:p>
              <a:pPr algn="l"/>
              <a:r>
                <a:rPr lang="zh-CN" sz="975" dirty="0">
                  <a:solidFill>
                    <a:srgbClr val="111111"/>
                  </a:solidFill>
                  <a:latin typeface="Times New Roman"/>
                  <a:ea typeface="SimSun"/>
                  <a:cs typeface="Times New Roman"/>
                </a:rPr>
                <a:t>36 % above the prior year.</a:t>
              </a:r>
            </a:p>
          </p:txBody>
        </p:sp>
        <p:sp>
          <p:nvSpPr>
            <p:cNvPr id="21" name="TextBox 21"/>
            <p:cNvSpPr txBox="1"/>
            <p:nvPr/>
          </p:nvSpPr>
          <p:spPr>
            <a:xfrm>
              <a:off x="562928" y="3337084"/>
              <a:ext cx="705731" cy="137160"/>
            </a:xfrm>
            <a:prstGeom prst="rect">
              <a:avLst/>
            </a:prstGeom>
            <a:noFill/>
            <a:ln>
              <a:noFill/>
            </a:ln>
          </p:spPr>
          <p:txBody>
            <a:bodyPr wrap="none" lIns="0" tIns="0" rIns="0" bIns="0" anchor="t" anchorCtr="0">
              <a:spAutoFit/>
            </a:bodyPr>
            <a:lstStyle/>
            <a:p>
              <a:pPr algn="l"/>
              <a:r>
                <a:rPr lang="zh-CN" sz="675" dirty="0">
                  <a:solidFill>
                    <a:srgbClr val="6B6B6B"/>
                  </a:solidFill>
                  <a:latin typeface="Consolas"/>
                  <a:ea typeface="Microsoft YaHei"/>
                  <a:cs typeface="Consolas"/>
                </a:rPr>
                <a:t>SOURCE GARTNER</a:t>
              </a:r>
            </a:p>
          </p:txBody>
        </p:sp>
      </p:grpSp>
      <p:sp>
        <p:nvSpPr>
          <p:cNvPr id="23" name="Line 23"/>
          <p:cNvSpPr/>
          <p:nvPr/>
        </p:nvSpPr>
        <p:spPr>
          <a:xfrm>
            <a:off x="2905125" y="1809750"/>
            <a:ext cx="9525" cy="1771650"/>
          </a:xfrm>
          <a:custGeom>
            <a:avLst/>
            <a:gdLst/>
            <a:ahLst/>
            <a:cxnLst/>
            <a:rect l="l" t="t" r="r" b="b"/>
            <a:pathLst>
              <a:path w="9525" h="1771650">
                <a:moveTo>
                  <a:pt x="0" y="0"/>
                </a:moveTo>
                <a:lnTo>
                  <a:pt x="0" y="1771650"/>
                </a:lnTo>
              </a:path>
            </a:pathLst>
          </a:custGeom>
          <a:noFill/>
          <a:ln w="9525">
            <a:solidFill>
              <a:srgbClr val="111111"/>
            </a:solidFill>
          </a:ln>
        </p:spPr>
      </p:sp>
      <p:grpSp>
        <p:nvGrpSpPr>
          <p:cNvPr id="30" name="Group 30"/>
          <p:cNvGrpSpPr/>
          <p:nvPr/>
        </p:nvGrpSpPr>
        <p:grpSpPr>
          <a:xfrm>
            <a:off x="2967990" y="1824038"/>
            <a:ext cx="2179154" cy="1650206"/>
            <a:chOff x="2967990" y="1824038"/>
            <a:chExt cx="2179154" cy="1650206"/>
          </a:xfrm>
        </p:grpSpPr>
        <p:sp>
          <p:nvSpPr>
            <p:cNvPr id="24" name="TextBox 24"/>
            <p:cNvSpPr txBox="1"/>
            <p:nvPr/>
          </p:nvSpPr>
          <p:spPr>
            <a:xfrm>
              <a:off x="3038475" y="1824038"/>
              <a:ext cx="1599498" cy="152400"/>
            </a:xfrm>
            <a:prstGeom prst="rect">
              <a:avLst/>
            </a:prstGeom>
            <a:noFill/>
            <a:ln>
              <a:noFill/>
            </a:ln>
          </p:spPr>
          <p:txBody>
            <a:bodyPr wrap="none" lIns="0" tIns="0" rIns="0" bIns="0" anchor="t" anchorCtr="0">
              <a:spAutoFit/>
            </a:bodyPr>
            <a:lstStyle/>
            <a:p>
              <a:pPr algn="l"/>
              <a:r>
                <a:rPr lang="zh-CN" sz="750" b="1" dirty="0">
                  <a:solidFill>
                    <a:srgbClr val="3A3A3A"/>
                  </a:solidFill>
                  <a:latin typeface="Arial Black"/>
                  <a:ea typeface="SimHei"/>
                  <a:cs typeface="Arial Black"/>
                </a:rPr>
                <a:t>MONTHLY LLM USERS WORLDWIDE</a:t>
              </a:r>
            </a:p>
          </p:txBody>
        </p:sp>
        <p:sp>
          <p:nvSpPr>
            <p:cNvPr id="25" name="TextBox 25"/>
            <p:cNvSpPr txBox="1"/>
            <p:nvPr/>
          </p:nvSpPr>
          <p:spPr>
            <a:xfrm>
              <a:off x="2967990" y="2025015"/>
              <a:ext cx="1615502" cy="1280160"/>
            </a:xfrm>
            <a:prstGeom prst="rect">
              <a:avLst/>
            </a:prstGeom>
            <a:noFill/>
            <a:ln>
              <a:noFill/>
            </a:ln>
          </p:spPr>
          <p:txBody>
            <a:bodyPr wrap="none" lIns="0" tIns="0" rIns="0" bIns="0" anchor="t" anchorCtr="0">
              <a:spAutoFit/>
            </a:bodyPr>
            <a:lstStyle/>
            <a:p>
              <a:pPr algn="l"/>
              <a:r>
                <a:rPr lang="zh-CN" sz="6300" b="1" dirty="0">
                  <a:solidFill>
                    <a:srgbClr val="111111"/>
                  </a:solidFill>
                  <a:latin typeface="Impact"/>
                  <a:ea typeface="SimHei"/>
                  <a:cs typeface="Impact"/>
                </a:rPr>
                <a:t>3.8</a:t>
              </a:r>
            </a:p>
          </p:txBody>
        </p:sp>
        <p:sp>
          <p:nvSpPr>
            <p:cNvPr id="26" name="TextBox 26"/>
            <p:cNvSpPr txBox="1"/>
            <p:nvPr/>
          </p:nvSpPr>
          <p:spPr>
            <a:xfrm>
              <a:off x="4057650" y="2381250"/>
              <a:ext cx="307229" cy="609600"/>
            </a:xfrm>
            <a:prstGeom prst="rect">
              <a:avLst/>
            </a:prstGeom>
            <a:noFill/>
            <a:ln>
              <a:noFill/>
            </a:ln>
          </p:spPr>
          <p:txBody>
            <a:bodyPr wrap="none" lIns="0" tIns="0" rIns="0" bIns="0" anchor="t" anchorCtr="0">
              <a:spAutoFit/>
            </a:bodyPr>
            <a:lstStyle/>
            <a:p>
              <a:pPr algn="l"/>
              <a:r>
                <a:rPr lang="zh-CN" sz="3000" b="1" dirty="0">
                  <a:solidFill>
                    <a:srgbClr val="111111"/>
                  </a:solidFill>
                  <a:latin typeface="Impact"/>
                  <a:ea typeface="SimHei"/>
                  <a:cs typeface="Impact"/>
                </a:rPr>
                <a:t>B</a:t>
              </a:r>
            </a:p>
          </p:txBody>
        </p:sp>
        <p:sp>
          <p:nvSpPr>
            <p:cNvPr id="27" name="TextBox 27"/>
            <p:cNvSpPr txBox="1"/>
            <p:nvPr/>
          </p:nvSpPr>
          <p:spPr>
            <a:xfrm>
              <a:off x="3035618" y="2904649"/>
              <a:ext cx="2111526" cy="198120"/>
            </a:xfrm>
            <a:prstGeom prst="rect">
              <a:avLst/>
            </a:prstGeom>
            <a:noFill/>
            <a:ln>
              <a:noFill/>
            </a:ln>
          </p:spPr>
          <p:txBody>
            <a:bodyPr wrap="none" lIns="0" tIns="0" rIns="0" bIns="0" anchor="t" anchorCtr="0">
              <a:spAutoFit/>
            </a:bodyPr>
            <a:lstStyle/>
            <a:p>
              <a:pPr algn="l"/>
              <a:r>
                <a:rPr lang="zh-CN" sz="975" dirty="0">
                  <a:solidFill>
                    <a:srgbClr val="111111"/>
                  </a:solidFill>
                  <a:latin typeface="Times New Roman"/>
                  <a:ea typeface="SimSun"/>
                  <a:cs typeface="Times New Roman"/>
                </a:rPr>
                <a:t>people now use a large-language-</a:t>
              </a:r>
            </a:p>
          </p:txBody>
        </p:sp>
        <p:sp>
          <p:nvSpPr>
            <p:cNvPr id="28" name="TextBox 28"/>
            <p:cNvSpPr txBox="1"/>
            <p:nvPr/>
          </p:nvSpPr>
          <p:spPr>
            <a:xfrm>
              <a:off x="3035618" y="3057049"/>
              <a:ext cx="1734479" cy="198120"/>
            </a:xfrm>
            <a:prstGeom prst="rect">
              <a:avLst/>
            </a:prstGeom>
            <a:noFill/>
            <a:ln>
              <a:noFill/>
            </a:ln>
          </p:spPr>
          <p:txBody>
            <a:bodyPr wrap="none" lIns="0" tIns="0" rIns="0" bIns="0" anchor="t" anchorCtr="0">
              <a:spAutoFit/>
            </a:bodyPr>
            <a:lstStyle/>
            <a:p>
              <a:pPr algn="l"/>
              <a:r>
                <a:rPr lang="zh-CN" sz="975" dirty="0">
                  <a:solidFill>
                    <a:srgbClr val="111111"/>
                  </a:solidFill>
                  <a:latin typeface="Times New Roman"/>
                  <a:ea typeface="SimSun"/>
                  <a:cs typeface="Times New Roman"/>
                </a:rPr>
                <a:t>model product each month.</a:t>
              </a:r>
            </a:p>
          </p:txBody>
        </p:sp>
        <p:sp>
          <p:nvSpPr>
            <p:cNvPr id="29" name="TextBox 29"/>
            <p:cNvSpPr txBox="1"/>
            <p:nvPr/>
          </p:nvSpPr>
          <p:spPr>
            <a:xfrm>
              <a:off x="3039428" y="3337084"/>
              <a:ext cx="1313307" cy="137160"/>
            </a:xfrm>
            <a:prstGeom prst="rect">
              <a:avLst/>
            </a:prstGeom>
            <a:noFill/>
            <a:ln>
              <a:noFill/>
            </a:ln>
          </p:spPr>
          <p:txBody>
            <a:bodyPr wrap="none" lIns="0" tIns="0" rIns="0" bIns="0" anchor="t" anchorCtr="0">
              <a:spAutoFit/>
            </a:bodyPr>
            <a:lstStyle/>
            <a:p>
              <a:pPr algn="l"/>
              <a:r>
                <a:rPr lang="zh-CN" sz="675" dirty="0">
                  <a:solidFill>
                    <a:srgbClr val="6B6B6B"/>
                  </a:solidFill>
                  <a:latin typeface="Consolas"/>
                  <a:ea typeface="Microsoft YaHei"/>
                  <a:cs typeface="Consolas"/>
                </a:rPr>
                <a:t>SOURCE COUNTERPOINT Q1 2026</a:t>
              </a:r>
            </a:p>
          </p:txBody>
        </p:sp>
      </p:grpSp>
      <p:sp>
        <p:nvSpPr>
          <p:cNvPr id="31" name="Line 31"/>
          <p:cNvSpPr/>
          <p:nvPr/>
        </p:nvSpPr>
        <p:spPr>
          <a:xfrm>
            <a:off x="5857875" y="1809750"/>
            <a:ext cx="9525" cy="1771650"/>
          </a:xfrm>
          <a:custGeom>
            <a:avLst/>
            <a:gdLst/>
            <a:ahLst/>
            <a:cxnLst/>
            <a:rect l="l" t="t" r="r" b="b"/>
            <a:pathLst>
              <a:path w="9525" h="1771650">
                <a:moveTo>
                  <a:pt x="0" y="0"/>
                </a:moveTo>
                <a:lnTo>
                  <a:pt x="0" y="1771650"/>
                </a:lnTo>
              </a:path>
            </a:pathLst>
          </a:custGeom>
          <a:noFill/>
          <a:ln w="9525">
            <a:solidFill>
              <a:srgbClr val="111111"/>
            </a:solidFill>
          </a:ln>
        </p:spPr>
      </p:sp>
      <p:grpSp>
        <p:nvGrpSpPr>
          <p:cNvPr id="38" name="Group 38"/>
          <p:cNvGrpSpPr/>
          <p:nvPr/>
        </p:nvGrpSpPr>
        <p:grpSpPr>
          <a:xfrm>
            <a:off x="5920740" y="1824038"/>
            <a:ext cx="2585823" cy="1650206"/>
            <a:chOff x="5920740" y="1824038"/>
            <a:chExt cx="2585823" cy="1650206"/>
          </a:xfrm>
        </p:grpSpPr>
        <p:sp>
          <p:nvSpPr>
            <p:cNvPr id="32" name="TextBox 32"/>
            <p:cNvSpPr txBox="1"/>
            <p:nvPr/>
          </p:nvSpPr>
          <p:spPr>
            <a:xfrm>
              <a:off x="5991225" y="1824038"/>
              <a:ext cx="1715012" cy="152400"/>
            </a:xfrm>
            <a:prstGeom prst="rect">
              <a:avLst/>
            </a:prstGeom>
            <a:noFill/>
            <a:ln>
              <a:noFill/>
            </a:ln>
          </p:spPr>
          <p:txBody>
            <a:bodyPr wrap="none" lIns="0" tIns="0" rIns="0" bIns="0" anchor="t" anchorCtr="0">
              <a:spAutoFit/>
            </a:bodyPr>
            <a:lstStyle/>
            <a:p>
              <a:pPr algn="l"/>
              <a:r>
                <a:rPr lang="zh-CN" sz="750" b="1" dirty="0">
                  <a:solidFill>
                    <a:srgbClr val="3A3A3A"/>
                  </a:solidFill>
                  <a:latin typeface="Arial Black"/>
                  <a:ea typeface="SimHei"/>
                  <a:cs typeface="Arial Black"/>
                </a:rPr>
                <a:t>QUARTERLY LLM REVENUE · Q1 2026</a:t>
              </a:r>
            </a:p>
          </p:txBody>
        </p:sp>
        <p:sp>
          <p:nvSpPr>
            <p:cNvPr id="33" name="TextBox 33"/>
            <p:cNvSpPr txBox="1"/>
            <p:nvPr/>
          </p:nvSpPr>
          <p:spPr>
            <a:xfrm>
              <a:off x="5920740" y="2025015"/>
              <a:ext cx="2585823" cy="1280160"/>
            </a:xfrm>
            <a:prstGeom prst="rect">
              <a:avLst/>
            </a:prstGeom>
            <a:noFill/>
            <a:ln>
              <a:noFill/>
            </a:ln>
          </p:spPr>
          <p:txBody>
            <a:bodyPr wrap="none" lIns="0" tIns="0" rIns="0" bIns="0" anchor="t" anchorCtr="0">
              <a:spAutoFit/>
            </a:bodyPr>
            <a:lstStyle/>
            <a:p>
              <a:pPr algn="l"/>
              <a:r>
                <a:rPr lang="zh-CN" sz="6300" b="1" dirty="0">
                  <a:solidFill>
                    <a:srgbClr val="C8102E"/>
                  </a:solidFill>
                  <a:latin typeface="Impact"/>
                  <a:ea typeface="SimHei"/>
                  <a:cs typeface="Impact"/>
                </a:rPr>
                <a:t>$20.7</a:t>
              </a:r>
            </a:p>
          </p:txBody>
        </p:sp>
        <p:sp>
          <p:nvSpPr>
            <p:cNvPr id="34" name="TextBox 34"/>
            <p:cNvSpPr txBox="1"/>
            <p:nvPr/>
          </p:nvSpPr>
          <p:spPr>
            <a:xfrm>
              <a:off x="7581900" y="2381250"/>
              <a:ext cx="307229" cy="609600"/>
            </a:xfrm>
            <a:prstGeom prst="rect">
              <a:avLst/>
            </a:prstGeom>
            <a:noFill/>
            <a:ln>
              <a:noFill/>
            </a:ln>
          </p:spPr>
          <p:txBody>
            <a:bodyPr wrap="none" lIns="0" tIns="0" rIns="0" bIns="0" anchor="t" anchorCtr="0">
              <a:spAutoFit/>
            </a:bodyPr>
            <a:lstStyle/>
            <a:p>
              <a:pPr algn="l"/>
              <a:r>
                <a:rPr lang="zh-CN" sz="3000" b="1" dirty="0">
                  <a:solidFill>
                    <a:srgbClr val="C8102E"/>
                  </a:solidFill>
                  <a:latin typeface="Impact"/>
                  <a:ea typeface="SimHei"/>
                  <a:cs typeface="Impact"/>
                </a:rPr>
                <a:t>B</a:t>
              </a:r>
            </a:p>
          </p:txBody>
        </p:sp>
        <p:sp>
          <p:nvSpPr>
            <p:cNvPr id="35" name="TextBox 35"/>
            <p:cNvSpPr txBox="1"/>
            <p:nvPr/>
          </p:nvSpPr>
          <p:spPr>
            <a:xfrm>
              <a:off x="5988368" y="2904649"/>
              <a:ext cx="2326053" cy="198120"/>
            </a:xfrm>
            <a:prstGeom prst="rect">
              <a:avLst/>
            </a:prstGeom>
            <a:noFill/>
            <a:ln>
              <a:noFill/>
            </a:ln>
          </p:spPr>
          <p:txBody>
            <a:bodyPr wrap="none" lIns="0" tIns="0" rIns="0" bIns="0" anchor="t" anchorCtr="0">
              <a:spAutoFit/>
            </a:bodyPr>
            <a:lstStyle/>
            <a:p>
              <a:pPr algn="l"/>
              <a:r>
                <a:rPr lang="zh-CN" sz="975" dirty="0">
                  <a:solidFill>
                    <a:srgbClr val="111111"/>
                  </a:solidFill>
                  <a:latin typeface="Times New Roman"/>
                  <a:ea typeface="SimSun"/>
                  <a:cs typeface="Times New Roman"/>
                </a:rPr>
                <a:t>aggregate quarterly revenue across</a:t>
              </a:r>
            </a:p>
          </p:txBody>
        </p:sp>
        <p:sp>
          <p:nvSpPr>
            <p:cNvPr id="36" name="TextBox 36"/>
            <p:cNvSpPr txBox="1"/>
            <p:nvPr/>
          </p:nvSpPr>
          <p:spPr>
            <a:xfrm>
              <a:off x="5988368" y="3057049"/>
              <a:ext cx="2345555" cy="198120"/>
            </a:xfrm>
            <a:prstGeom prst="rect">
              <a:avLst/>
            </a:prstGeom>
            <a:noFill/>
            <a:ln>
              <a:noFill/>
            </a:ln>
          </p:spPr>
          <p:txBody>
            <a:bodyPr wrap="none" lIns="0" tIns="0" rIns="0" bIns="0" anchor="t" anchorCtr="0">
              <a:spAutoFit/>
            </a:bodyPr>
            <a:lstStyle/>
            <a:p>
              <a:pPr algn="l"/>
              <a:r>
                <a:rPr lang="zh-CN" sz="975" dirty="0">
                  <a:solidFill>
                    <a:srgbClr val="111111"/>
                  </a:solidFill>
                  <a:latin typeface="Times New Roman"/>
                  <a:ea typeface="SimSun"/>
                  <a:cs typeface="Times New Roman"/>
                </a:rPr>
                <a:t>all tracked frontier and Tier-2 labs.</a:t>
              </a:r>
            </a:p>
          </p:txBody>
        </p:sp>
        <p:sp>
          <p:nvSpPr>
            <p:cNvPr id="37" name="TextBox 37"/>
            <p:cNvSpPr txBox="1"/>
            <p:nvPr/>
          </p:nvSpPr>
          <p:spPr>
            <a:xfrm>
              <a:off x="5992178" y="3337084"/>
              <a:ext cx="1313307" cy="137160"/>
            </a:xfrm>
            <a:prstGeom prst="rect">
              <a:avLst/>
            </a:prstGeom>
            <a:noFill/>
            <a:ln>
              <a:noFill/>
            </a:ln>
          </p:spPr>
          <p:txBody>
            <a:bodyPr wrap="none" lIns="0" tIns="0" rIns="0" bIns="0" anchor="t" anchorCtr="0">
              <a:spAutoFit/>
            </a:bodyPr>
            <a:lstStyle/>
            <a:p>
              <a:pPr algn="l"/>
              <a:r>
                <a:rPr lang="zh-CN" sz="675" dirty="0">
                  <a:solidFill>
                    <a:srgbClr val="6B6B6B"/>
                  </a:solidFill>
                  <a:latin typeface="Consolas"/>
                  <a:ea typeface="Microsoft YaHei"/>
                  <a:cs typeface="Consolas"/>
                </a:rPr>
                <a:t>SOURCE COUNTERPOINT Q1 2026</a:t>
              </a:r>
            </a:p>
          </p:txBody>
        </p:sp>
      </p:grpSp>
      <p:sp>
        <p:nvSpPr>
          <p:cNvPr id="39" name="Line 39"/>
          <p:cNvSpPr/>
          <p:nvPr/>
        </p:nvSpPr>
        <p:spPr>
          <a:xfrm>
            <a:off x="8782050" y="1809750"/>
            <a:ext cx="9525" cy="1771650"/>
          </a:xfrm>
          <a:custGeom>
            <a:avLst/>
            <a:gdLst/>
            <a:ahLst/>
            <a:cxnLst/>
            <a:rect l="l" t="t" r="r" b="b"/>
            <a:pathLst>
              <a:path w="9525" h="1771650">
                <a:moveTo>
                  <a:pt x="0" y="0"/>
                </a:moveTo>
                <a:lnTo>
                  <a:pt x="0" y="1771650"/>
                </a:lnTo>
              </a:path>
            </a:pathLst>
          </a:custGeom>
          <a:noFill/>
          <a:ln w="9525">
            <a:solidFill>
              <a:srgbClr val="111111"/>
            </a:solidFill>
          </a:ln>
        </p:spPr>
      </p:sp>
      <p:grpSp>
        <p:nvGrpSpPr>
          <p:cNvPr id="46" name="Group 46"/>
          <p:cNvGrpSpPr/>
          <p:nvPr/>
        </p:nvGrpSpPr>
        <p:grpSpPr>
          <a:xfrm>
            <a:off x="8844915" y="1824038"/>
            <a:ext cx="2365296" cy="1650206"/>
            <a:chOff x="8844915" y="1824038"/>
            <a:chExt cx="2365296" cy="1650206"/>
          </a:xfrm>
        </p:grpSpPr>
        <p:sp>
          <p:nvSpPr>
            <p:cNvPr id="40" name="TextBox 40"/>
            <p:cNvSpPr txBox="1"/>
            <p:nvPr/>
          </p:nvSpPr>
          <p:spPr>
            <a:xfrm>
              <a:off x="8915400" y="1824038"/>
              <a:ext cx="1394722" cy="152400"/>
            </a:xfrm>
            <a:prstGeom prst="rect">
              <a:avLst/>
            </a:prstGeom>
            <a:noFill/>
            <a:ln>
              <a:noFill/>
            </a:ln>
          </p:spPr>
          <p:txBody>
            <a:bodyPr wrap="none" lIns="0" tIns="0" rIns="0" bIns="0" anchor="t" anchorCtr="0">
              <a:spAutoFit/>
            </a:bodyPr>
            <a:lstStyle/>
            <a:p>
              <a:pPr algn="l"/>
              <a:r>
                <a:rPr lang="zh-CN" sz="750" b="1" dirty="0">
                  <a:solidFill>
                    <a:srgbClr val="3A3A3A"/>
                  </a:solidFill>
                  <a:latin typeface="Arial Black"/>
                  <a:ea typeface="SimHei"/>
                  <a:cs typeface="Arial Black"/>
                </a:rPr>
                <a:t>ACTIVE AI POLICY INITIATIVES</a:t>
              </a:r>
            </a:p>
          </p:txBody>
        </p:sp>
        <p:sp>
          <p:nvSpPr>
            <p:cNvPr id="41" name="TextBox 41"/>
            <p:cNvSpPr txBox="1"/>
            <p:nvPr/>
          </p:nvSpPr>
          <p:spPr>
            <a:xfrm>
              <a:off x="8844915" y="2025015"/>
              <a:ext cx="2365296" cy="1280160"/>
            </a:xfrm>
            <a:prstGeom prst="rect">
              <a:avLst/>
            </a:prstGeom>
            <a:noFill/>
            <a:ln>
              <a:noFill/>
            </a:ln>
          </p:spPr>
          <p:txBody>
            <a:bodyPr wrap="none" lIns="0" tIns="0" rIns="0" bIns="0" anchor="t" anchorCtr="0">
              <a:spAutoFit/>
            </a:bodyPr>
            <a:lstStyle/>
            <a:p>
              <a:pPr algn="l"/>
              <a:r>
                <a:rPr lang="zh-CN" sz="6300" b="1" dirty="0">
                  <a:solidFill>
                    <a:srgbClr val="111111"/>
                  </a:solidFill>
                  <a:latin typeface="Impact"/>
                  <a:ea typeface="SimHei"/>
                  <a:cs typeface="Impact"/>
                </a:rPr>
                <a:t>1,000</a:t>
              </a:r>
            </a:p>
          </p:txBody>
        </p:sp>
        <p:sp>
          <p:nvSpPr>
            <p:cNvPr id="42" name="TextBox 42"/>
            <p:cNvSpPr txBox="1"/>
            <p:nvPr/>
          </p:nvSpPr>
          <p:spPr>
            <a:xfrm>
              <a:off x="10725150" y="2381250"/>
              <a:ext cx="307229" cy="609600"/>
            </a:xfrm>
            <a:prstGeom prst="rect">
              <a:avLst/>
            </a:prstGeom>
            <a:noFill/>
            <a:ln>
              <a:noFill/>
            </a:ln>
          </p:spPr>
          <p:txBody>
            <a:bodyPr wrap="none" lIns="0" tIns="0" rIns="0" bIns="0" anchor="t" anchorCtr="0">
              <a:spAutoFit/>
            </a:bodyPr>
            <a:lstStyle/>
            <a:p>
              <a:pPr algn="l"/>
              <a:r>
                <a:rPr lang="zh-CN" sz="3000" b="1" dirty="0">
                  <a:solidFill>
                    <a:srgbClr val="111111"/>
                  </a:solidFill>
                  <a:latin typeface="Impact"/>
                  <a:ea typeface="SimHei"/>
                  <a:cs typeface="Impact"/>
                </a:rPr>
                <a:t>+</a:t>
              </a:r>
            </a:p>
          </p:txBody>
        </p:sp>
        <p:sp>
          <p:nvSpPr>
            <p:cNvPr id="43" name="TextBox 43"/>
            <p:cNvSpPr txBox="1"/>
            <p:nvPr/>
          </p:nvSpPr>
          <p:spPr>
            <a:xfrm>
              <a:off x="8912542" y="2904649"/>
              <a:ext cx="2059519" cy="198120"/>
            </a:xfrm>
            <a:prstGeom prst="rect">
              <a:avLst/>
            </a:prstGeom>
            <a:noFill/>
            <a:ln>
              <a:noFill/>
            </a:ln>
          </p:spPr>
          <p:txBody>
            <a:bodyPr wrap="none" lIns="0" tIns="0" rIns="0" bIns="0" anchor="t" anchorCtr="0">
              <a:spAutoFit/>
            </a:bodyPr>
            <a:lstStyle/>
            <a:p>
              <a:pPr algn="l"/>
              <a:r>
                <a:rPr lang="zh-CN" sz="975" dirty="0">
                  <a:solidFill>
                    <a:srgbClr val="111111"/>
                  </a:solidFill>
                  <a:latin typeface="Times New Roman"/>
                  <a:ea typeface="SimSun"/>
                  <a:cs typeface="Times New Roman"/>
                </a:rPr>
                <a:t>distinct AI policy efforts logged</a:t>
              </a:r>
            </a:p>
          </p:txBody>
        </p:sp>
        <p:sp>
          <p:nvSpPr>
            <p:cNvPr id="44" name="TextBox 44"/>
            <p:cNvSpPr txBox="1"/>
            <p:nvPr/>
          </p:nvSpPr>
          <p:spPr>
            <a:xfrm>
              <a:off x="8912542" y="3057049"/>
              <a:ext cx="2040017" cy="198120"/>
            </a:xfrm>
            <a:prstGeom prst="rect">
              <a:avLst/>
            </a:prstGeom>
            <a:noFill/>
            <a:ln>
              <a:noFill/>
            </a:ln>
          </p:spPr>
          <p:txBody>
            <a:bodyPr wrap="none" lIns="0" tIns="0" rIns="0" bIns="0" anchor="t" anchorCtr="0">
              <a:spAutoFit/>
            </a:bodyPr>
            <a:lstStyle/>
            <a:p>
              <a:pPr algn="l"/>
              <a:r>
                <a:rPr lang="zh-CN" sz="975" dirty="0">
                  <a:solidFill>
                    <a:srgbClr val="111111"/>
                  </a:solidFill>
                  <a:latin typeface="Times New Roman"/>
                  <a:ea typeface="SimSun"/>
                  <a:cs typeface="Times New Roman"/>
                </a:rPr>
                <a:t>across 72 countries by Q1 2026.</a:t>
              </a:r>
            </a:p>
          </p:txBody>
        </p:sp>
        <p:sp>
          <p:nvSpPr>
            <p:cNvPr id="45" name="TextBox 45"/>
            <p:cNvSpPr txBox="1"/>
            <p:nvPr/>
          </p:nvSpPr>
          <p:spPr>
            <a:xfrm>
              <a:off x="8916352" y="3337084"/>
              <a:ext cx="1250299" cy="137160"/>
            </a:xfrm>
            <a:prstGeom prst="rect">
              <a:avLst/>
            </a:prstGeom>
            <a:noFill/>
            <a:ln>
              <a:noFill/>
            </a:ln>
          </p:spPr>
          <p:txBody>
            <a:bodyPr wrap="none" lIns="0" tIns="0" rIns="0" bIns="0" anchor="t" anchorCtr="0">
              <a:spAutoFit/>
            </a:bodyPr>
            <a:lstStyle/>
            <a:p>
              <a:pPr algn="l"/>
              <a:r>
                <a:rPr lang="zh-CN" sz="675" dirty="0">
                  <a:solidFill>
                    <a:srgbClr val="6B6B6B"/>
                  </a:solidFill>
                  <a:latin typeface="Consolas"/>
                  <a:ea typeface="Microsoft YaHei"/>
                  <a:cs typeface="Consolas"/>
                </a:rPr>
                <a:t>SOURCE ONETRUST · APR 2026</a:t>
              </a:r>
            </a:p>
          </p:txBody>
        </p:sp>
      </p:grpSp>
      <p:grpSp>
        <p:nvGrpSpPr>
          <p:cNvPr id="48" name="Group 48"/>
          <p:cNvGrpSpPr/>
          <p:nvPr/>
        </p:nvGrpSpPr>
        <p:grpSpPr>
          <a:xfrm>
            <a:off x="457200" y="3676650"/>
            <a:ext cx="11277600" cy="9525"/>
            <a:chOff x="457200" y="3676650"/>
            <a:chExt cx="11277600" cy="9525"/>
          </a:xfrm>
        </p:grpSpPr>
        <p:sp>
          <p:nvSpPr>
            <p:cNvPr id="47" name="Line 47"/>
            <p:cNvSpPr/>
            <p:nvPr/>
          </p:nvSpPr>
          <p:spPr>
            <a:xfrm>
              <a:off x="457200" y="3676650"/>
              <a:ext cx="11277600" cy="9525"/>
            </a:xfrm>
            <a:custGeom>
              <a:avLst/>
              <a:gdLst/>
              <a:ahLst/>
              <a:cxnLst/>
              <a:rect l="l" t="t" r="r" b="b"/>
              <a:pathLst>
                <a:path w="11277600" h="9525">
                  <a:moveTo>
                    <a:pt x="0" y="0"/>
                  </a:moveTo>
                  <a:lnTo>
                    <a:pt x="11277600" y="0"/>
                  </a:lnTo>
                </a:path>
              </a:pathLst>
            </a:custGeom>
            <a:noFill/>
            <a:ln w="9525">
              <a:solidFill>
                <a:srgbClr val="111111"/>
              </a:solidFill>
            </a:ln>
          </p:spPr>
        </p:sp>
      </p:grpSp>
      <p:grpSp>
        <p:nvGrpSpPr>
          <p:cNvPr id="52" name="Group 52"/>
          <p:cNvGrpSpPr/>
          <p:nvPr/>
        </p:nvGrpSpPr>
        <p:grpSpPr>
          <a:xfrm>
            <a:off x="430530" y="3811905"/>
            <a:ext cx="11304270" cy="617220"/>
            <a:chOff x="430530" y="3811905"/>
            <a:chExt cx="11304270" cy="617220"/>
          </a:xfrm>
        </p:grpSpPr>
        <p:sp>
          <p:nvSpPr>
            <p:cNvPr id="49" name="TextBox 49"/>
            <p:cNvSpPr txBox="1"/>
            <p:nvPr/>
          </p:nvSpPr>
          <p:spPr>
            <a:xfrm>
              <a:off x="430530" y="3811905"/>
              <a:ext cx="2934900" cy="426720"/>
            </a:xfrm>
            <a:prstGeom prst="rect">
              <a:avLst/>
            </a:prstGeom>
            <a:noFill/>
            <a:ln>
              <a:noFill/>
            </a:ln>
          </p:spPr>
          <p:txBody>
            <a:bodyPr wrap="none" lIns="0" tIns="0" rIns="0" bIns="0" anchor="t" anchorCtr="0">
              <a:spAutoFit/>
            </a:bodyPr>
            <a:lstStyle/>
            <a:p>
              <a:pPr algn="l"/>
              <a:r>
                <a:rPr lang="zh-CN" sz="2100" b="1" dirty="0">
                  <a:solidFill>
                    <a:srgbClr val="111111"/>
                  </a:solidFill>
                  <a:latin typeface="Impact"/>
                  <a:ea typeface="SimHei"/>
                  <a:cs typeface="Impact"/>
                </a:rPr>
                <a:t>THREE OBSERVATIONS</a:t>
              </a:r>
            </a:p>
          </p:txBody>
        </p:sp>
        <p:sp>
          <p:nvSpPr>
            <p:cNvPr id="50" name="TextBox 50"/>
            <p:cNvSpPr txBox="1"/>
            <p:nvPr/>
          </p:nvSpPr>
          <p:spPr>
            <a:xfrm>
              <a:off x="445770" y="4150995"/>
              <a:ext cx="2777204" cy="182880"/>
            </a:xfrm>
            <a:prstGeom prst="rect">
              <a:avLst/>
            </a:prstGeom>
            <a:noFill/>
            <a:ln>
              <a:noFill/>
            </a:ln>
          </p:spPr>
          <p:txBody>
            <a:bodyPr wrap="none" lIns="0" tIns="0" rIns="0" bIns="0" anchor="t" anchorCtr="0">
              <a:spAutoFit/>
            </a:bodyPr>
            <a:lstStyle/>
            <a:p>
              <a:pPr algn="l"/>
              <a:r>
                <a:rPr lang="zh-CN" sz="900" i="1" dirty="0">
                  <a:solidFill>
                    <a:srgbClr val="3A3A3A"/>
                  </a:solidFill>
                  <a:latin typeface="Times New Roman"/>
                  <a:ea typeface="SimSun"/>
                  <a:cs typeface="Times New Roman"/>
                </a:rPr>
                <a:t>— each picked up by a story later in this issue —</a:t>
              </a:r>
            </a:p>
          </p:txBody>
        </p:sp>
        <p:sp>
          <p:nvSpPr>
            <p:cNvPr id="51" name="Line 51"/>
            <p:cNvSpPr/>
            <p:nvPr/>
          </p:nvSpPr>
          <p:spPr>
            <a:xfrm>
              <a:off x="457200" y="4419600"/>
              <a:ext cx="11277600" cy="9525"/>
            </a:xfrm>
            <a:custGeom>
              <a:avLst/>
              <a:gdLst/>
              <a:ahLst/>
              <a:cxnLst/>
              <a:rect l="l" t="t" r="r" b="b"/>
              <a:pathLst>
                <a:path w="11277600" h="9525">
                  <a:moveTo>
                    <a:pt x="0" y="0"/>
                  </a:moveTo>
                  <a:lnTo>
                    <a:pt x="11277600" y="0"/>
                  </a:lnTo>
                </a:path>
              </a:pathLst>
            </a:custGeom>
            <a:noFill/>
            <a:ln w="19050">
              <a:solidFill>
                <a:srgbClr val="111111"/>
              </a:solidFill>
            </a:ln>
          </p:spPr>
        </p:sp>
      </p:grpSp>
      <p:grpSp>
        <p:nvGrpSpPr>
          <p:cNvPr id="62" name="Group 62"/>
          <p:cNvGrpSpPr/>
          <p:nvPr/>
        </p:nvGrpSpPr>
        <p:grpSpPr>
          <a:xfrm>
            <a:off x="558165" y="4592002"/>
            <a:ext cx="2340007" cy="1568292"/>
            <a:chOff x="558165" y="4592002"/>
            <a:chExt cx="2340007" cy="1568292"/>
          </a:xfrm>
        </p:grpSpPr>
        <p:sp>
          <p:nvSpPr>
            <p:cNvPr id="53" name="TextBox 53"/>
            <p:cNvSpPr txBox="1"/>
            <p:nvPr/>
          </p:nvSpPr>
          <p:spPr>
            <a:xfrm>
              <a:off x="558165" y="4592002"/>
              <a:ext cx="151636" cy="213360"/>
            </a:xfrm>
            <a:prstGeom prst="rect">
              <a:avLst/>
            </a:prstGeom>
            <a:noFill/>
            <a:ln>
              <a:noFill/>
            </a:ln>
          </p:spPr>
          <p:txBody>
            <a:bodyPr wrap="none" lIns="0" tIns="0" rIns="0" bIns="0" anchor="t" anchorCtr="0">
              <a:spAutoFit/>
            </a:bodyPr>
            <a:lstStyle/>
            <a:p>
              <a:pPr algn="l"/>
              <a:r>
                <a:rPr lang="zh-CN" sz="1050" b="1" dirty="0">
                  <a:solidFill>
                    <a:srgbClr val="C8102E"/>
                  </a:solidFill>
                  <a:latin typeface="Arial Black"/>
                  <a:ea typeface="SimHei"/>
                  <a:cs typeface="Arial Black"/>
                </a:rPr>
                <a:t>I.</a:t>
              </a:r>
            </a:p>
          </p:txBody>
        </p:sp>
        <p:sp>
          <p:nvSpPr>
            <p:cNvPr id="54" name="TextBox 54"/>
            <p:cNvSpPr txBox="1"/>
            <p:nvPr/>
          </p:nvSpPr>
          <p:spPr>
            <a:xfrm>
              <a:off x="805815" y="4592002"/>
              <a:ext cx="1798241" cy="213360"/>
            </a:xfrm>
            <a:prstGeom prst="rect">
              <a:avLst/>
            </a:prstGeom>
            <a:noFill/>
            <a:ln>
              <a:noFill/>
            </a:ln>
          </p:spPr>
          <p:txBody>
            <a:bodyPr wrap="none" lIns="0" tIns="0" rIns="0" bIns="0" anchor="t" anchorCtr="0">
              <a:spAutoFit/>
            </a:bodyPr>
            <a:lstStyle/>
            <a:p>
              <a:pPr algn="l"/>
              <a:r>
                <a:rPr lang="zh-CN" sz="1050" b="1" dirty="0">
                  <a:solidFill>
                    <a:srgbClr val="111111"/>
                  </a:solidFill>
                  <a:latin typeface="Arial Black"/>
                  <a:ea typeface="SimHei"/>
                  <a:cs typeface="Arial Black"/>
                </a:rPr>
                <a:t>REVENUE LEADS FROM A 7×</a:t>
              </a:r>
            </a:p>
          </p:txBody>
        </p:sp>
        <p:sp>
          <p:nvSpPr>
            <p:cNvPr id="55" name="TextBox 55"/>
            <p:cNvSpPr txBox="1"/>
            <p:nvPr/>
          </p:nvSpPr>
          <p:spPr>
            <a:xfrm>
              <a:off x="558165" y="4782502"/>
              <a:ext cx="1438046" cy="213360"/>
            </a:xfrm>
            <a:prstGeom prst="rect">
              <a:avLst/>
            </a:prstGeom>
            <a:noFill/>
            <a:ln>
              <a:noFill/>
            </a:ln>
          </p:spPr>
          <p:txBody>
            <a:bodyPr wrap="none" lIns="0" tIns="0" rIns="0" bIns="0" anchor="t" anchorCtr="0">
              <a:spAutoFit/>
            </a:bodyPr>
            <a:lstStyle/>
            <a:p>
              <a:pPr algn="l"/>
              <a:r>
                <a:rPr lang="zh-CN" sz="1050" b="1" dirty="0">
                  <a:solidFill>
                    <a:srgbClr val="111111"/>
                  </a:solidFill>
                  <a:latin typeface="Arial Black"/>
                  <a:ea typeface="SimHei"/>
                  <a:cs typeface="Arial Black"/>
                </a:rPr>
                <a:t>SMALLER USER BASE.</a:t>
              </a:r>
            </a:p>
          </p:txBody>
        </p:sp>
        <p:sp>
          <p:nvSpPr>
            <p:cNvPr id="56" name="TextBox 56"/>
            <p:cNvSpPr txBox="1"/>
            <p:nvPr/>
          </p:nvSpPr>
          <p:spPr>
            <a:xfrm>
              <a:off x="559118" y="5076349"/>
              <a:ext cx="2111526" cy="198120"/>
            </a:xfrm>
            <a:prstGeom prst="rect">
              <a:avLst/>
            </a:prstGeom>
            <a:noFill/>
            <a:ln>
              <a:noFill/>
            </a:ln>
          </p:spPr>
          <p:txBody>
            <a:bodyPr wrap="none" lIns="0" tIns="0" rIns="0" bIns="0" anchor="t" anchorCtr="0">
              <a:spAutoFit/>
            </a:bodyPr>
            <a:lstStyle/>
            <a:p>
              <a:pPr algn="l"/>
              <a:r>
                <a:rPr lang="zh-CN" sz="975" dirty="0">
                  <a:solidFill>
                    <a:srgbClr val="111111"/>
                  </a:solidFill>
                  <a:latin typeface="Times New Roman"/>
                  <a:ea typeface="SimSun"/>
                  <a:cs typeface="Times New Roman"/>
                </a:rPr>
                <a:t>Anthropic captures 31.4 % of LLM</a:t>
              </a:r>
            </a:p>
          </p:txBody>
        </p:sp>
        <p:sp>
          <p:nvSpPr>
            <p:cNvPr id="57" name="TextBox 57"/>
            <p:cNvSpPr txBox="1"/>
            <p:nvPr/>
          </p:nvSpPr>
          <p:spPr>
            <a:xfrm>
              <a:off x="559118" y="5247799"/>
              <a:ext cx="2235041" cy="198120"/>
            </a:xfrm>
            <a:prstGeom prst="rect">
              <a:avLst/>
            </a:prstGeom>
            <a:noFill/>
            <a:ln>
              <a:noFill/>
            </a:ln>
          </p:spPr>
          <p:txBody>
            <a:bodyPr wrap="none" lIns="0" tIns="0" rIns="0" bIns="0" anchor="t" anchorCtr="0">
              <a:spAutoFit/>
            </a:bodyPr>
            <a:lstStyle/>
            <a:p>
              <a:pPr algn="l"/>
              <a:r>
                <a:rPr lang="zh-CN" sz="975" dirty="0">
                  <a:solidFill>
                    <a:srgbClr val="111111"/>
                  </a:solidFill>
                  <a:latin typeface="Times New Roman"/>
                  <a:ea typeface="SimSun"/>
                  <a:cs typeface="Times New Roman"/>
                </a:rPr>
                <a:t>revenue from 134 M monthly users,</a:t>
              </a:r>
            </a:p>
          </p:txBody>
        </p:sp>
        <p:sp>
          <p:nvSpPr>
            <p:cNvPr id="58" name="TextBox 58"/>
            <p:cNvSpPr txBox="1"/>
            <p:nvPr/>
          </p:nvSpPr>
          <p:spPr>
            <a:xfrm>
              <a:off x="559118" y="5419249"/>
              <a:ext cx="2209038" cy="198120"/>
            </a:xfrm>
            <a:prstGeom prst="rect">
              <a:avLst/>
            </a:prstGeom>
            <a:noFill/>
            <a:ln>
              <a:noFill/>
            </a:ln>
          </p:spPr>
          <p:txBody>
            <a:bodyPr wrap="none" lIns="0" tIns="0" rIns="0" bIns="0" anchor="t" anchorCtr="0">
              <a:spAutoFit/>
            </a:bodyPr>
            <a:lstStyle/>
            <a:p>
              <a:pPr algn="l"/>
              <a:r>
                <a:rPr lang="zh-CN" sz="975" dirty="0">
                  <a:solidFill>
                    <a:srgbClr val="111111"/>
                  </a:solidFill>
                  <a:latin typeface="Times New Roman"/>
                  <a:ea typeface="SimSun"/>
                  <a:cs typeface="Times New Roman"/>
                </a:rPr>
                <a:t>narrowly ahead of OpenAI's 29.0 %</a:t>
              </a:r>
            </a:p>
          </p:txBody>
        </p:sp>
        <p:sp>
          <p:nvSpPr>
            <p:cNvPr id="59" name="TextBox 59"/>
            <p:cNvSpPr txBox="1"/>
            <p:nvPr/>
          </p:nvSpPr>
          <p:spPr>
            <a:xfrm>
              <a:off x="559118" y="5590699"/>
              <a:ext cx="2163532" cy="198120"/>
            </a:xfrm>
            <a:prstGeom prst="rect">
              <a:avLst/>
            </a:prstGeom>
            <a:noFill/>
            <a:ln>
              <a:noFill/>
            </a:ln>
          </p:spPr>
          <p:txBody>
            <a:bodyPr wrap="none" lIns="0" tIns="0" rIns="0" bIns="0" anchor="t" anchorCtr="0">
              <a:spAutoFit/>
            </a:bodyPr>
            <a:lstStyle/>
            <a:p>
              <a:pPr algn="l"/>
              <a:r>
                <a:rPr lang="zh-CN" sz="975" dirty="0">
                  <a:solidFill>
                    <a:srgbClr val="111111"/>
                  </a:solidFill>
                  <a:latin typeface="Times New Roman"/>
                  <a:ea typeface="SimSun"/>
                  <a:cs typeface="Times New Roman"/>
                </a:rPr>
                <a:t>from 900 M. The first non-OpenAI</a:t>
              </a:r>
            </a:p>
          </p:txBody>
        </p:sp>
        <p:sp>
          <p:nvSpPr>
            <p:cNvPr id="60" name="TextBox 60"/>
            <p:cNvSpPr txBox="1"/>
            <p:nvPr/>
          </p:nvSpPr>
          <p:spPr>
            <a:xfrm>
              <a:off x="559118" y="5762149"/>
              <a:ext cx="2339054" cy="198120"/>
            </a:xfrm>
            <a:prstGeom prst="rect">
              <a:avLst/>
            </a:prstGeom>
            <a:noFill/>
            <a:ln>
              <a:noFill/>
            </a:ln>
          </p:spPr>
          <p:txBody>
            <a:bodyPr wrap="none" lIns="0" tIns="0" rIns="0" bIns="0" anchor="t" anchorCtr="0">
              <a:spAutoFit/>
            </a:bodyPr>
            <a:lstStyle/>
            <a:p>
              <a:pPr algn="l"/>
              <a:r>
                <a:rPr lang="zh-CN" sz="975" dirty="0">
                  <a:solidFill>
                    <a:srgbClr val="111111"/>
                  </a:solidFill>
                  <a:latin typeface="Times New Roman"/>
                  <a:ea typeface="SimSun"/>
                  <a:cs typeface="Times New Roman"/>
                </a:rPr>
                <a:t>lab in #1 since the modern era began.</a:t>
              </a:r>
            </a:p>
          </p:txBody>
        </p:sp>
        <p:sp>
          <p:nvSpPr>
            <p:cNvPr id="61" name="TextBox 61"/>
            <p:cNvSpPr txBox="1"/>
            <p:nvPr/>
          </p:nvSpPr>
          <p:spPr>
            <a:xfrm>
              <a:off x="562928" y="6023134"/>
              <a:ext cx="1029772" cy="137160"/>
            </a:xfrm>
            <a:prstGeom prst="rect">
              <a:avLst/>
            </a:prstGeom>
            <a:noFill/>
            <a:ln>
              <a:noFill/>
            </a:ln>
          </p:spPr>
          <p:txBody>
            <a:bodyPr wrap="none" lIns="0" tIns="0" rIns="0" bIns="0" anchor="t" anchorCtr="0">
              <a:spAutoFit/>
            </a:bodyPr>
            <a:lstStyle/>
            <a:p>
              <a:pPr algn="l"/>
              <a:r>
                <a:rPr lang="zh-CN" sz="675" dirty="0">
                  <a:solidFill>
                    <a:srgbClr val="3A3A3A"/>
                  </a:solidFill>
                  <a:latin typeface="Consolas"/>
                  <a:ea typeface="Microsoft YaHei"/>
                  <a:cs typeface="Consolas"/>
                </a:rPr>
                <a:t>CONTINUED ON PAGE 03 →</a:t>
              </a:r>
            </a:p>
          </p:txBody>
        </p:sp>
      </p:grpSp>
      <p:sp>
        <p:nvSpPr>
          <p:cNvPr id="63" name="Line 63"/>
          <p:cNvSpPr/>
          <p:nvPr/>
        </p:nvSpPr>
        <p:spPr>
          <a:xfrm>
            <a:off x="4238625" y="4552950"/>
            <a:ext cx="9525" cy="1638300"/>
          </a:xfrm>
          <a:custGeom>
            <a:avLst/>
            <a:gdLst/>
            <a:ahLst/>
            <a:cxnLst/>
            <a:rect l="l" t="t" r="r" b="b"/>
            <a:pathLst>
              <a:path w="9525" h="1638300">
                <a:moveTo>
                  <a:pt x="0" y="0"/>
                </a:moveTo>
                <a:lnTo>
                  <a:pt x="0" y="1638300"/>
                </a:lnTo>
              </a:path>
            </a:pathLst>
          </a:custGeom>
          <a:noFill/>
          <a:ln w="9525">
            <a:solidFill>
              <a:srgbClr val="111111"/>
            </a:solidFill>
          </a:ln>
        </p:spPr>
      </p:sp>
      <p:grpSp>
        <p:nvGrpSpPr>
          <p:cNvPr id="73" name="Group 73"/>
          <p:cNvGrpSpPr/>
          <p:nvPr/>
        </p:nvGrpSpPr>
        <p:grpSpPr>
          <a:xfrm>
            <a:off x="4368165" y="4592002"/>
            <a:ext cx="2353009" cy="1568292"/>
            <a:chOff x="4368165" y="4592002"/>
            <a:chExt cx="2353009" cy="1568292"/>
          </a:xfrm>
        </p:grpSpPr>
        <p:sp>
          <p:nvSpPr>
            <p:cNvPr id="64" name="TextBox 64"/>
            <p:cNvSpPr txBox="1"/>
            <p:nvPr/>
          </p:nvSpPr>
          <p:spPr>
            <a:xfrm>
              <a:off x="4368165" y="4592002"/>
              <a:ext cx="195741" cy="213360"/>
            </a:xfrm>
            <a:prstGeom prst="rect">
              <a:avLst/>
            </a:prstGeom>
            <a:noFill/>
            <a:ln>
              <a:noFill/>
            </a:ln>
          </p:spPr>
          <p:txBody>
            <a:bodyPr wrap="none" lIns="0" tIns="0" rIns="0" bIns="0" anchor="t" anchorCtr="0">
              <a:spAutoFit/>
            </a:bodyPr>
            <a:lstStyle/>
            <a:p>
              <a:pPr algn="l"/>
              <a:r>
                <a:rPr lang="zh-CN" sz="1050" b="1" dirty="0">
                  <a:solidFill>
                    <a:srgbClr val="C8102E"/>
                  </a:solidFill>
                  <a:latin typeface="Arial Black"/>
                  <a:ea typeface="SimHei"/>
                  <a:cs typeface="Arial Black"/>
                </a:rPr>
                <a:t>II.</a:t>
              </a:r>
            </a:p>
          </p:txBody>
        </p:sp>
        <p:sp>
          <p:nvSpPr>
            <p:cNvPr id="65" name="TextBox 65"/>
            <p:cNvSpPr txBox="1"/>
            <p:nvPr/>
          </p:nvSpPr>
          <p:spPr>
            <a:xfrm>
              <a:off x="4653915" y="4592002"/>
              <a:ext cx="1555661" cy="213360"/>
            </a:xfrm>
            <a:prstGeom prst="rect">
              <a:avLst/>
            </a:prstGeom>
            <a:noFill/>
            <a:ln>
              <a:noFill/>
            </a:ln>
          </p:spPr>
          <p:txBody>
            <a:bodyPr wrap="none" lIns="0" tIns="0" rIns="0" bIns="0" anchor="t" anchorCtr="0">
              <a:spAutoFit/>
            </a:bodyPr>
            <a:lstStyle/>
            <a:p>
              <a:pPr algn="l"/>
              <a:r>
                <a:rPr lang="zh-CN" sz="1050" b="1" dirty="0">
                  <a:solidFill>
                    <a:srgbClr val="111111"/>
                  </a:solidFill>
                  <a:latin typeface="Arial Black"/>
                  <a:ea typeface="SimHei"/>
                  <a:cs typeface="Arial Black"/>
                </a:rPr>
                <a:t>TRAINING COSTS BROKE</a:t>
              </a:r>
            </a:p>
          </p:txBody>
        </p:sp>
        <p:sp>
          <p:nvSpPr>
            <p:cNvPr id="66" name="TextBox 66"/>
            <p:cNvSpPr txBox="1"/>
            <p:nvPr/>
          </p:nvSpPr>
          <p:spPr>
            <a:xfrm>
              <a:off x="4368165" y="4782502"/>
              <a:ext cx="1857049" cy="213360"/>
            </a:xfrm>
            <a:prstGeom prst="rect">
              <a:avLst/>
            </a:prstGeom>
            <a:noFill/>
            <a:ln>
              <a:noFill/>
            </a:ln>
          </p:spPr>
          <p:txBody>
            <a:bodyPr wrap="none" lIns="0" tIns="0" rIns="0" bIns="0" anchor="t" anchorCtr="0">
              <a:spAutoFit/>
            </a:bodyPr>
            <a:lstStyle/>
            <a:p>
              <a:pPr algn="l"/>
              <a:r>
                <a:rPr lang="zh-CN" sz="1050" b="1" dirty="0">
                  <a:solidFill>
                    <a:srgbClr val="111111"/>
                  </a:solidFill>
                  <a:latin typeface="Arial Black"/>
                  <a:ea typeface="SimHei"/>
                  <a:cs typeface="Arial Black"/>
                </a:rPr>
                <a:t>THE HALF-BILLION CEILING.</a:t>
              </a:r>
            </a:p>
          </p:txBody>
        </p:sp>
        <p:sp>
          <p:nvSpPr>
            <p:cNvPr id="67" name="TextBox 67"/>
            <p:cNvSpPr txBox="1"/>
            <p:nvPr/>
          </p:nvSpPr>
          <p:spPr>
            <a:xfrm>
              <a:off x="4369118" y="5076349"/>
              <a:ext cx="2306550" cy="198120"/>
            </a:xfrm>
            <a:prstGeom prst="rect">
              <a:avLst/>
            </a:prstGeom>
            <a:noFill/>
            <a:ln>
              <a:noFill/>
            </a:ln>
          </p:spPr>
          <p:txBody>
            <a:bodyPr wrap="none" lIns="0" tIns="0" rIns="0" bIns="0" anchor="t" anchorCtr="0">
              <a:spAutoFit/>
            </a:bodyPr>
            <a:lstStyle/>
            <a:p>
              <a:pPr algn="l"/>
              <a:r>
                <a:rPr lang="zh-CN" sz="975" dirty="0">
                  <a:solidFill>
                    <a:srgbClr val="111111"/>
                  </a:solidFill>
                  <a:latin typeface="Times New Roman"/>
                  <a:ea typeface="SimSun"/>
                  <a:cs typeface="Times New Roman"/>
                </a:rPr>
                <a:t>Frontier 2026 runs sit at one to ten</a:t>
              </a:r>
            </a:p>
          </p:txBody>
        </p:sp>
        <p:sp>
          <p:nvSpPr>
            <p:cNvPr id="68" name="TextBox 68"/>
            <p:cNvSpPr txBox="1"/>
            <p:nvPr/>
          </p:nvSpPr>
          <p:spPr>
            <a:xfrm>
              <a:off x="4369118" y="5247799"/>
              <a:ext cx="2352056" cy="198120"/>
            </a:xfrm>
            <a:prstGeom prst="rect">
              <a:avLst/>
            </a:prstGeom>
            <a:noFill/>
            <a:ln>
              <a:noFill/>
            </a:ln>
          </p:spPr>
          <p:txBody>
            <a:bodyPr wrap="none" lIns="0" tIns="0" rIns="0" bIns="0" anchor="t" anchorCtr="0">
              <a:spAutoFit/>
            </a:bodyPr>
            <a:lstStyle/>
            <a:p>
              <a:pPr algn="l"/>
              <a:r>
                <a:rPr lang="zh-CN" sz="975" dirty="0">
                  <a:solidFill>
                    <a:srgbClr val="111111"/>
                  </a:solidFill>
                  <a:latin typeface="Times New Roman"/>
                  <a:ea typeface="SimSun"/>
                  <a:cs typeface="Times New Roman"/>
                </a:rPr>
                <a:t>times the compute of the GPT-4 era,</a:t>
              </a:r>
            </a:p>
          </p:txBody>
        </p:sp>
        <p:sp>
          <p:nvSpPr>
            <p:cNvPr id="69" name="TextBox 69"/>
            <p:cNvSpPr txBox="1"/>
            <p:nvPr/>
          </p:nvSpPr>
          <p:spPr>
            <a:xfrm>
              <a:off x="4369118" y="5419249"/>
              <a:ext cx="2176534" cy="198120"/>
            </a:xfrm>
            <a:prstGeom prst="rect">
              <a:avLst/>
            </a:prstGeom>
            <a:noFill/>
            <a:ln>
              <a:noFill/>
            </a:ln>
          </p:spPr>
          <p:txBody>
            <a:bodyPr wrap="none" lIns="0" tIns="0" rIns="0" bIns="0" anchor="t" anchorCtr="0">
              <a:spAutoFit/>
            </a:bodyPr>
            <a:lstStyle/>
            <a:p>
              <a:pPr algn="l"/>
              <a:r>
                <a:rPr lang="zh-CN" sz="975" dirty="0">
                  <a:solidFill>
                    <a:srgbClr val="111111"/>
                  </a:solidFill>
                  <a:latin typeface="Times New Roman"/>
                  <a:ea typeface="SimSun"/>
                  <a:cs typeface="Times New Roman"/>
                </a:rPr>
                <a:t>costing $200 M to $500 M per run.</a:t>
              </a:r>
            </a:p>
          </p:txBody>
        </p:sp>
        <p:sp>
          <p:nvSpPr>
            <p:cNvPr id="70" name="TextBox 70"/>
            <p:cNvSpPr txBox="1"/>
            <p:nvPr/>
          </p:nvSpPr>
          <p:spPr>
            <a:xfrm>
              <a:off x="4369118" y="5590699"/>
              <a:ext cx="2144030" cy="198120"/>
            </a:xfrm>
            <a:prstGeom prst="rect">
              <a:avLst/>
            </a:prstGeom>
            <a:noFill/>
            <a:ln>
              <a:noFill/>
            </a:ln>
          </p:spPr>
          <p:txBody>
            <a:bodyPr wrap="none" lIns="0" tIns="0" rIns="0" bIns="0" anchor="t" anchorCtr="0">
              <a:spAutoFit/>
            </a:bodyPr>
            <a:lstStyle/>
            <a:p>
              <a:pPr algn="l"/>
              <a:r>
                <a:rPr lang="zh-CN" sz="975" dirty="0">
                  <a:solidFill>
                    <a:srgbClr val="111111"/>
                  </a:solidFill>
                  <a:latin typeface="Times New Roman"/>
                  <a:ea typeface="SimSun"/>
                  <a:cs typeface="Times New Roman"/>
                </a:rPr>
                <a:t>Power and grid interconnect, not</a:t>
              </a:r>
            </a:p>
          </p:txBody>
        </p:sp>
        <p:sp>
          <p:nvSpPr>
            <p:cNvPr id="71" name="TextBox 71"/>
            <p:cNvSpPr txBox="1"/>
            <p:nvPr/>
          </p:nvSpPr>
          <p:spPr>
            <a:xfrm>
              <a:off x="4369118" y="5762149"/>
              <a:ext cx="2196036" cy="198120"/>
            </a:xfrm>
            <a:prstGeom prst="rect">
              <a:avLst/>
            </a:prstGeom>
            <a:noFill/>
            <a:ln>
              <a:noFill/>
            </a:ln>
          </p:spPr>
          <p:txBody>
            <a:bodyPr wrap="none" lIns="0" tIns="0" rIns="0" bIns="0" anchor="t" anchorCtr="0">
              <a:spAutoFit/>
            </a:bodyPr>
            <a:lstStyle/>
            <a:p>
              <a:pPr algn="l"/>
              <a:r>
                <a:rPr lang="zh-CN" sz="975" dirty="0">
                  <a:solidFill>
                    <a:srgbClr val="111111"/>
                  </a:solidFill>
                  <a:latin typeface="Times New Roman"/>
                  <a:ea typeface="SimSun"/>
                  <a:cs typeface="Times New Roman"/>
                </a:rPr>
                <a:t>chips, are the binding constraint.</a:t>
              </a:r>
            </a:p>
          </p:txBody>
        </p:sp>
        <p:sp>
          <p:nvSpPr>
            <p:cNvPr id="72" name="TextBox 72"/>
            <p:cNvSpPr txBox="1"/>
            <p:nvPr/>
          </p:nvSpPr>
          <p:spPr>
            <a:xfrm>
              <a:off x="4372928" y="6023134"/>
              <a:ext cx="1029772" cy="137160"/>
            </a:xfrm>
            <a:prstGeom prst="rect">
              <a:avLst/>
            </a:prstGeom>
            <a:noFill/>
            <a:ln>
              <a:noFill/>
            </a:ln>
          </p:spPr>
          <p:txBody>
            <a:bodyPr wrap="none" lIns="0" tIns="0" rIns="0" bIns="0" anchor="t" anchorCtr="0">
              <a:spAutoFit/>
            </a:bodyPr>
            <a:lstStyle/>
            <a:p>
              <a:pPr algn="l"/>
              <a:r>
                <a:rPr lang="zh-CN" sz="675" dirty="0">
                  <a:solidFill>
                    <a:srgbClr val="3A3A3A"/>
                  </a:solidFill>
                  <a:latin typeface="Consolas"/>
                  <a:ea typeface="Microsoft YaHei"/>
                  <a:cs typeface="Consolas"/>
                </a:rPr>
                <a:t>CONTINUED ON PAGE 05 →</a:t>
              </a:r>
            </a:p>
          </p:txBody>
        </p:sp>
      </p:grpSp>
      <p:sp>
        <p:nvSpPr>
          <p:cNvPr id="74" name="Line 74"/>
          <p:cNvSpPr/>
          <p:nvPr/>
        </p:nvSpPr>
        <p:spPr>
          <a:xfrm>
            <a:off x="8048625" y="4552950"/>
            <a:ext cx="9525" cy="1638300"/>
          </a:xfrm>
          <a:custGeom>
            <a:avLst/>
            <a:gdLst/>
            <a:ahLst/>
            <a:cxnLst/>
            <a:rect l="l" t="t" r="r" b="b"/>
            <a:pathLst>
              <a:path w="9525" h="1638300">
                <a:moveTo>
                  <a:pt x="0" y="0"/>
                </a:moveTo>
                <a:lnTo>
                  <a:pt x="0" y="1638300"/>
                </a:lnTo>
              </a:path>
            </a:pathLst>
          </a:custGeom>
          <a:noFill/>
          <a:ln w="9525">
            <a:solidFill>
              <a:srgbClr val="111111"/>
            </a:solidFill>
          </a:ln>
        </p:spPr>
      </p:sp>
      <p:grpSp>
        <p:nvGrpSpPr>
          <p:cNvPr id="84" name="Group 84"/>
          <p:cNvGrpSpPr/>
          <p:nvPr/>
        </p:nvGrpSpPr>
        <p:grpSpPr>
          <a:xfrm>
            <a:off x="8178165" y="4592002"/>
            <a:ext cx="2476524" cy="1568292"/>
            <a:chOff x="8178165" y="4592002"/>
            <a:chExt cx="2476524" cy="1568292"/>
          </a:xfrm>
        </p:grpSpPr>
        <p:sp>
          <p:nvSpPr>
            <p:cNvPr id="75" name="TextBox 75"/>
            <p:cNvSpPr txBox="1"/>
            <p:nvPr/>
          </p:nvSpPr>
          <p:spPr>
            <a:xfrm>
              <a:off x="8178165" y="4592002"/>
              <a:ext cx="239847" cy="213360"/>
            </a:xfrm>
            <a:prstGeom prst="rect">
              <a:avLst/>
            </a:prstGeom>
            <a:noFill/>
            <a:ln>
              <a:noFill/>
            </a:ln>
          </p:spPr>
          <p:txBody>
            <a:bodyPr wrap="none" lIns="0" tIns="0" rIns="0" bIns="0" anchor="t" anchorCtr="0">
              <a:spAutoFit/>
            </a:bodyPr>
            <a:lstStyle/>
            <a:p>
              <a:pPr algn="l"/>
              <a:r>
                <a:rPr lang="zh-CN" sz="1050" b="1" dirty="0">
                  <a:solidFill>
                    <a:srgbClr val="C8102E"/>
                  </a:solidFill>
                  <a:latin typeface="Arial Black"/>
                  <a:ea typeface="SimHei"/>
                  <a:cs typeface="Arial Black"/>
                </a:rPr>
                <a:t>III.</a:t>
              </a:r>
            </a:p>
          </p:txBody>
        </p:sp>
        <p:sp>
          <p:nvSpPr>
            <p:cNvPr id="76" name="TextBox 76"/>
            <p:cNvSpPr txBox="1"/>
            <p:nvPr/>
          </p:nvSpPr>
          <p:spPr>
            <a:xfrm>
              <a:off x="8492490" y="4592002"/>
              <a:ext cx="1166062" cy="213360"/>
            </a:xfrm>
            <a:prstGeom prst="rect">
              <a:avLst/>
            </a:prstGeom>
            <a:noFill/>
            <a:ln>
              <a:noFill/>
            </a:ln>
          </p:spPr>
          <p:txBody>
            <a:bodyPr wrap="none" lIns="0" tIns="0" rIns="0" bIns="0" anchor="t" anchorCtr="0">
              <a:spAutoFit/>
            </a:bodyPr>
            <a:lstStyle/>
            <a:p>
              <a:pPr algn="l"/>
              <a:r>
                <a:rPr lang="zh-CN" sz="1050" b="1" dirty="0">
                  <a:solidFill>
                    <a:srgbClr val="111111"/>
                  </a:solidFill>
                  <a:latin typeface="Arial Black"/>
                  <a:ea typeface="SimHei"/>
                  <a:cs typeface="Arial Black"/>
                </a:rPr>
                <a:t>INFERENCE FALLS</a:t>
              </a:r>
            </a:p>
          </p:txBody>
        </p:sp>
        <p:sp>
          <p:nvSpPr>
            <p:cNvPr id="77" name="TextBox 77"/>
            <p:cNvSpPr txBox="1"/>
            <p:nvPr/>
          </p:nvSpPr>
          <p:spPr>
            <a:xfrm>
              <a:off x="8178165" y="4782502"/>
              <a:ext cx="967588" cy="213360"/>
            </a:xfrm>
            <a:prstGeom prst="rect">
              <a:avLst/>
            </a:prstGeom>
            <a:noFill/>
            <a:ln>
              <a:noFill/>
            </a:ln>
          </p:spPr>
          <p:txBody>
            <a:bodyPr wrap="none" lIns="0" tIns="0" rIns="0" bIns="0" anchor="t" anchorCtr="0">
              <a:spAutoFit/>
            </a:bodyPr>
            <a:lstStyle/>
            <a:p>
              <a:pPr algn="l"/>
              <a:r>
                <a:rPr lang="zh-CN" sz="1050" b="1" dirty="0">
                  <a:solidFill>
                    <a:srgbClr val="111111"/>
                  </a:solidFill>
                  <a:latin typeface="Arial Black"/>
                  <a:ea typeface="SimHei"/>
                  <a:cs typeface="Arial Black"/>
                </a:rPr>
                <a:t>10× PER YEAR.</a:t>
              </a:r>
            </a:p>
          </p:txBody>
        </p:sp>
        <p:sp>
          <p:nvSpPr>
            <p:cNvPr id="78" name="TextBox 78"/>
            <p:cNvSpPr txBox="1"/>
            <p:nvPr/>
          </p:nvSpPr>
          <p:spPr>
            <a:xfrm>
              <a:off x="8179118" y="5076349"/>
              <a:ext cx="2475571" cy="198120"/>
            </a:xfrm>
            <a:prstGeom prst="rect">
              <a:avLst/>
            </a:prstGeom>
            <a:noFill/>
            <a:ln>
              <a:noFill/>
            </a:ln>
          </p:spPr>
          <p:txBody>
            <a:bodyPr wrap="none" lIns="0" tIns="0" rIns="0" bIns="0" anchor="t" anchorCtr="0">
              <a:spAutoFit/>
            </a:bodyPr>
            <a:lstStyle/>
            <a:p>
              <a:pPr algn="l"/>
              <a:r>
                <a:rPr lang="zh-CN" sz="975" dirty="0">
                  <a:solidFill>
                    <a:srgbClr val="111111"/>
                  </a:solidFill>
                  <a:latin typeface="Times New Roman"/>
                  <a:ea typeface="SimSun"/>
                  <a:cs typeface="Times New Roman"/>
                </a:rPr>
                <a:t>Inference cost for the same capability</a:t>
              </a:r>
            </a:p>
          </p:txBody>
        </p:sp>
        <p:sp>
          <p:nvSpPr>
            <p:cNvPr id="79" name="TextBox 79"/>
            <p:cNvSpPr txBox="1"/>
            <p:nvPr/>
          </p:nvSpPr>
          <p:spPr>
            <a:xfrm>
              <a:off x="8179118" y="5247799"/>
              <a:ext cx="2397562" cy="198120"/>
            </a:xfrm>
            <a:prstGeom prst="rect">
              <a:avLst/>
            </a:prstGeom>
            <a:noFill/>
            <a:ln>
              <a:noFill/>
            </a:ln>
          </p:spPr>
          <p:txBody>
            <a:bodyPr wrap="none" lIns="0" tIns="0" rIns="0" bIns="0" anchor="t" anchorCtr="0">
              <a:spAutoFit/>
            </a:bodyPr>
            <a:lstStyle/>
            <a:p>
              <a:pPr algn="l"/>
              <a:r>
                <a:rPr lang="zh-CN" sz="975" dirty="0">
                  <a:solidFill>
                    <a:srgbClr val="111111"/>
                  </a:solidFill>
                  <a:latin typeface="Times New Roman"/>
                  <a:ea typeface="SimSun"/>
                  <a:cs typeface="Times New Roman"/>
                </a:rPr>
                <a:t>drops by an order of magnitude every</a:t>
              </a:r>
            </a:p>
          </p:txBody>
        </p:sp>
        <p:sp>
          <p:nvSpPr>
            <p:cNvPr id="80" name="TextBox 80"/>
            <p:cNvSpPr txBox="1"/>
            <p:nvPr/>
          </p:nvSpPr>
          <p:spPr>
            <a:xfrm>
              <a:off x="8179118" y="5419249"/>
              <a:ext cx="2176534" cy="198120"/>
            </a:xfrm>
            <a:prstGeom prst="rect">
              <a:avLst/>
            </a:prstGeom>
            <a:noFill/>
            <a:ln>
              <a:noFill/>
            </a:ln>
          </p:spPr>
          <p:txBody>
            <a:bodyPr wrap="none" lIns="0" tIns="0" rIns="0" bIns="0" anchor="t" anchorCtr="0">
              <a:spAutoFit/>
            </a:bodyPr>
            <a:lstStyle/>
            <a:p>
              <a:pPr algn="l"/>
              <a:r>
                <a:rPr lang="zh-CN" sz="975" dirty="0">
                  <a:solidFill>
                    <a:srgbClr val="111111"/>
                  </a:solidFill>
                  <a:latin typeface="Times New Roman"/>
                  <a:ea typeface="SimSun"/>
                  <a:cs typeface="Times New Roman"/>
                </a:rPr>
                <a:t>twelve months — the only frontier</a:t>
              </a:r>
            </a:p>
          </p:txBody>
        </p:sp>
        <p:sp>
          <p:nvSpPr>
            <p:cNvPr id="81" name="TextBox 81"/>
            <p:cNvSpPr txBox="1"/>
            <p:nvPr/>
          </p:nvSpPr>
          <p:spPr>
            <a:xfrm>
              <a:off x="8179118" y="5590699"/>
              <a:ext cx="2339054" cy="198120"/>
            </a:xfrm>
            <a:prstGeom prst="rect">
              <a:avLst/>
            </a:prstGeom>
            <a:noFill/>
            <a:ln>
              <a:noFill/>
            </a:ln>
          </p:spPr>
          <p:txBody>
            <a:bodyPr wrap="none" lIns="0" tIns="0" rIns="0" bIns="0" anchor="t" anchorCtr="0">
              <a:spAutoFit/>
            </a:bodyPr>
            <a:lstStyle/>
            <a:p>
              <a:pPr algn="l"/>
              <a:r>
                <a:rPr lang="zh-CN" sz="975" dirty="0">
                  <a:solidFill>
                    <a:srgbClr val="111111"/>
                  </a:solidFill>
                  <a:latin typeface="Times New Roman"/>
                  <a:ea typeface="SimSun"/>
                  <a:cs typeface="Times New Roman"/>
                </a:rPr>
                <a:t>metric falling faster than capability</a:t>
              </a:r>
            </a:p>
          </p:txBody>
        </p:sp>
        <p:sp>
          <p:nvSpPr>
            <p:cNvPr id="82" name="TextBox 82"/>
            <p:cNvSpPr txBox="1"/>
            <p:nvPr/>
          </p:nvSpPr>
          <p:spPr>
            <a:xfrm>
              <a:off x="8179118" y="5762149"/>
              <a:ext cx="1149406" cy="198120"/>
            </a:xfrm>
            <a:prstGeom prst="rect">
              <a:avLst/>
            </a:prstGeom>
            <a:noFill/>
            <a:ln>
              <a:noFill/>
            </a:ln>
          </p:spPr>
          <p:txBody>
            <a:bodyPr wrap="none" lIns="0" tIns="0" rIns="0" bIns="0" anchor="t" anchorCtr="0">
              <a:spAutoFit/>
            </a:bodyPr>
            <a:lstStyle/>
            <a:p>
              <a:pPr algn="l"/>
              <a:r>
                <a:rPr lang="zh-CN" sz="975" dirty="0">
                  <a:solidFill>
                    <a:srgbClr val="111111"/>
                  </a:solidFill>
                  <a:latin typeface="Times New Roman"/>
                  <a:ea typeface="SimSun"/>
                  <a:cs typeface="Times New Roman"/>
                </a:rPr>
                <a:t>itself is climbing.</a:t>
              </a:r>
            </a:p>
          </p:txBody>
        </p:sp>
        <p:sp>
          <p:nvSpPr>
            <p:cNvPr id="83" name="TextBox 83"/>
            <p:cNvSpPr txBox="1"/>
            <p:nvPr/>
          </p:nvSpPr>
          <p:spPr>
            <a:xfrm>
              <a:off x="8182928" y="6023134"/>
              <a:ext cx="1029772" cy="137160"/>
            </a:xfrm>
            <a:prstGeom prst="rect">
              <a:avLst/>
            </a:prstGeom>
            <a:noFill/>
            <a:ln>
              <a:noFill/>
            </a:ln>
          </p:spPr>
          <p:txBody>
            <a:bodyPr wrap="none" lIns="0" tIns="0" rIns="0" bIns="0" anchor="t" anchorCtr="0">
              <a:spAutoFit/>
            </a:bodyPr>
            <a:lstStyle/>
            <a:p>
              <a:pPr algn="l"/>
              <a:r>
                <a:rPr lang="zh-CN" sz="675" dirty="0">
                  <a:solidFill>
                    <a:srgbClr val="3A3A3A"/>
                  </a:solidFill>
                  <a:latin typeface="Consolas"/>
                  <a:ea typeface="Microsoft YaHei"/>
                  <a:cs typeface="Consolas"/>
                </a:rPr>
                <a:t>CONTINUED ON PAGE 06 →</a:t>
              </a:r>
            </a:p>
          </p:txBody>
        </p:sp>
      </p:grpSp>
      <p:grpSp>
        <p:nvGrpSpPr>
          <p:cNvPr id="88" name="Group 88"/>
          <p:cNvGrpSpPr/>
          <p:nvPr/>
        </p:nvGrpSpPr>
        <p:grpSpPr>
          <a:xfrm>
            <a:off x="448628" y="6553200"/>
            <a:ext cx="11294744" cy="254794"/>
            <a:chOff x="448628" y="6553200"/>
            <a:chExt cx="11294744" cy="254794"/>
          </a:xfrm>
        </p:grpSpPr>
        <p:sp>
          <p:nvSpPr>
            <p:cNvPr id="85" name="Rectangle 85"/>
            <p:cNvSpPr/>
            <p:nvPr/>
          </p:nvSpPr>
          <p:spPr>
            <a:xfrm>
              <a:off x="457200" y="6553200"/>
              <a:ext cx="11277600" cy="19050"/>
            </a:xfrm>
            <a:prstGeom prst="rect">
              <a:avLst/>
            </a:prstGeom>
            <a:solidFill>
              <a:srgbClr val="C8102E"/>
            </a:solidFill>
            <a:ln>
              <a:noFill/>
            </a:ln>
          </p:spPr>
        </p:sp>
        <p:sp>
          <p:nvSpPr>
            <p:cNvPr id="86" name="TextBox 86"/>
            <p:cNvSpPr txBox="1"/>
            <p:nvPr/>
          </p:nvSpPr>
          <p:spPr>
            <a:xfrm>
              <a:off x="448628" y="6670834"/>
              <a:ext cx="5272002" cy="137160"/>
            </a:xfrm>
            <a:prstGeom prst="rect">
              <a:avLst/>
            </a:prstGeom>
            <a:noFill/>
            <a:ln>
              <a:noFill/>
            </a:ln>
          </p:spPr>
          <p:txBody>
            <a:bodyPr wrap="none" lIns="0" tIns="0" rIns="0" bIns="0" anchor="t" anchorCtr="0">
              <a:spAutoFit/>
            </a:bodyPr>
            <a:lstStyle/>
            <a:p>
              <a:pPr algn="l"/>
              <a:r>
                <a:rPr lang="zh-CN" sz="675" b="1" dirty="0">
                  <a:solidFill>
                    <a:srgbClr val="111111"/>
                  </a:solidFill>
                  <a:latin typeface="Consolas"/>
                  <a:ea typeface="Microsoft YaHei"/>
                  <a:cs typeface="Consolas"/>
                </a:rPr>
                <a:t>SOURCE COUNTERPOINT RESEARCH GLOBAL LLM SNAPSHOT Q1 2026 · GARTNER 2026E FORECAST · ONETRUST APR 2026 SCAN</a:t>
              </a:r>
            </a:p>
          </p:txBody>
        </p:sp>
        <p:sp>
          <p:nvSpPr>
            <p:cNvPr id="87" name="TextBox 87"/>
            <p:cNvSpPr txBox="1"/>
            <p:nvPr/>
          </p:nvSpPr>
          <p:spPr>
            <a:xfrm>
              <a:off x="11196961" y="6670834"/>
              <a:ext cx="546411" cy="137160"/>
            </a:xfrm>
            <a:prstGeom prst="rect">
              <a:avLst/>
            </a:prstGeom>
            <a:noFill/>
            <a:ln>
              <a:noFill/>
            </a:ln>
          </p:spPr>
          <p:txBody>
            <a:bodyPr wrap="none" lIns="0" tIns="0" rIns="0" bIns="0" anchor="t" anchorCtr="0">
              <a:spAutoFit/>
            </a:bodyPr>
            <a:lstStyle/>
            <a:p>
              <a:pPr algn="r"/>
              <a:r>
                <a:rPr lang="zh-CN" sz="675" b="1" dirty="0">
                  <a:solidFill>
                    <a:srgbClr val="111111"/>
                  </a:solidFill>
                  <a:latin typeface="Consolas"/>
                  <a:ea typeface="Microsoft YaHei"/>
                  <a:cs typeface="Consolas"/>
                </a:rPr>
                <a:t>PAGE 02 / 10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0"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heel(4)">
                                      <p:cBhvr>
                                        <p:cTn id="7" dur="400"/>
                                        <p:tgtEl>
                                          <p:spTgt spid="15"/>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image">
                                      <p:cBhvr>
                                        <p:cTn id="11" dur="400"/>
                                        <p:tgtEl>
                                          <p:spTgt spid="22"/>
                                        </p:tgtEl>
                                      </p:cBhvr>
                                    </p:animEffect>
                                  </p:childTnLst>
                                </p:cTn>
                              </p:par>
                            </p:childTnLst>
                          </p:cTn>
                        </p:par>
                        <p:par>
                          <p:cTn id="12" fill="hold">
                            <p:stCondLst>
                              <p:cond delay="1800"/>
                            </p:stCondLst>
                            <p:childTnLst>
                              <p:par>
                                <p:cTn id="13" presetID="9" presetClass="entr" presetSubtype="0" fill="hold"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dissolve">
                                      <p:cBhvr>
                                        <p:cTn id="15" dur="400"/>
                                        <p:tgtEl>
                                          <p:spTgt spid="30"/>
                                        </p:tgtEl>
                                      </p:cBhvr>
                                    </p:animEffect>
                                  </p:childTnLst>
                                </p:cTn>
                              </p:par>
                            </p:childTnLst>
                          </p:cTn>
                        </p:par>
                        <p:par>
                          <p:cTn id="16" fill="hold">
                            <p:stCondLst>
                              <p:cond delay="2700"/>
                            </p:stCondLst>
                            <p:childTnLst>
                              <p:par>
                                <p:cTn id="17" presetID="6" presetClass="entr" presetSubtype="0" fill="hold" nodeType="afterEffect">
                                  <p:stCondLst>
                                    <p:cond delay="0"/>
                                  </p:stCondLst>
                                  <p:childTnLst>
                                    <p:set>
                                      <p:cBhvr>
                                        <p:cTn id="18" dur="1" fill="hold">
                                          <p:stCondLst>
                                            <p:cond delay="0"/>
                                          </p:stCondLst>
                                        </p:cTn>
                                        <p:tgtEl>
                                          <p:spTgt spid="38"/>
                                        </p:tgtEl>
                                        <p:attrNameLst>
                                          <p:attrName>style.visibility</p:attrName>
                                        </p:attrNameLst>
                                      </p:cBhvr>
                                      <p:to>
                                        <p:strVal val="visible"/>
                                      </p:to>
                                    </p:set>
                                    <p:animEffect transition="in" filter="circle(in)">
                                      <p:cBhvr>
                                        <p:cTn id="19" dur="400"/>
                                        <p:tgtEl>
                                          <p:spTgt spid="38"/>
                                        </p:tgtEl>
                                      </p:cBhvr>
                                    </p:animEffect>
                                  </p:childTnLst>
                                </p:cTn>
                              </p:par>
                            </p:childTnLst>
                          </p:cTn>
                        </p:par>
                        <p:par>
                          <p:cTn id="20" fill="hold">
                            <p:stCondLst>
                              <p:cond delay="3600"/>
                            </p:stCondLst>
                            <p:childTnLst>
                              <p:par>
                                <p:cTn id="21" presetID="4" presetClass="entr" presetSubtype="0" fill="hold" nodeType="afterEffect">
                                  <p:stCondLst>
                                    <p:cond delay="0"/>
                                  </p:stCondLst>
                                  <p:childTnLst>
                                    <p:set>
                                      <p:cBhvr>
                                        <p:cTn id="22" dur="1" fill="hold">
                                          <p:stCondLst>
                                            <p:cond delay="0"/>
                                          </p:stCondLst>
                                        </p:cTn>
                                        <p:tgtEl>
                                          <p:spTgt spid="46"/>
                                        </p:tgtEl>
                                        <p:attrNameLst>
                                          <p:attrName>style.visibility</p:attrName>
                                        </p:attrNameLst>
                                      </p:cBhvr>
                                      <p:to>
                                        <p:strVal val="visible"/>
                                      </p:to>
                                    </p:set>
                                    <p:animEffect transition="in" filter="box(in)">
                                      <p:cBhvr>
                                        <p:cTn id="23" dur="400"/>
                                        <p:tgtEl>
                                          <p:spTgt spid="46"/>
                                        </p:tgtEl>
                                      </p:cBhvr>
                                    </p:animEffect>
                                  </p:childTnLst>
                                </p:cTn>
                              </p:par>
                            </p:childTnLst>
                          </p:cTn>
                        </p:par>
                        <p:par>
                          <p:cTn id="24" fill="hold">
                            <p:stCondLst>
                              <p:cond delay="4500"/>
                            </p:stCondLst>
                            <p:childTnLst>
                              <p:par>
                                <p:cTn id="25" presetID="8" presetClass="entr" presetSubtype="0" fill="hold" nodeType="afterEffect">
                                  <p:stCondLst>
                                    <p:cond delay="0"/>
                                  </p:stCondLst>
                                  <p:childTnLst>
                                    <p:set>
                                      <p:cBhvr>
                                        <p:cTn id="26" dur="1" fill="hold">
                                          <p:stCondLst>
                                            <p:cond delay="0"/>
                                          </p:stCondLst>
                                        </p:cTn>
                                        <p:tgtEl>
                                          <p:spTgt spid="48"/>
                                        </p:tgtEl>
                                        <p:attrNameLst>
                                          <p:attrName>style.visibility</p:attrName>
                                        </p:attrNameLst>
                                      </p:cBhvr>
                                      <p:to>
                                        <p:strVal val="visible"/>
                                      </p:to>
                                    </p:set>
                                    <p:animEffect transition="in" filter="diamond(in)">
                                      <p:cBhvr>
                                        <p:cTn id="27" dur="400"/>
                                        <p:tgtEl>
                                          <p:spTgt spid="48"/>
                                        </p:tgtEl>
                                      </p:cBhvr>
                                    </p:animEffect>
                                  </p:childTnLst>
                                </p:cTn>
                              </p:par>
                            </p:childTnLst>
                          </p:cTn>
                        </p:par>
                        <p:par>
                          <p:cTn id="28" fill="hold">
                            <p:stCondLst>
                              <p:cond delay="5400"/>
                            </p:stCondLst>
                            <p:childTnLst>
                              <p:par>
                                <p:cTn id="29" presetID="23" presetClass="entr" presetSubtype="0" fill="hold" nodeType="afterEffect">
                                  <p:stCondLst>
                                    <p:cond delay="0"/>
                                  </p:stCondLst>
                                  <p:childTnLst>
                                    <p:set>
                                      <p:cBhvr>
                                        <p:cTn id="30" dur="1" fill="hold">
                                          <p:stCondLst>
                                            <p:cond delay="0"/>
                                          </p:stCondLst>
                                        </p:cTn>
                                        <p:tgtEl>
                                          <p:spTgt spid="62"/>
                                        </p:tgtEl>
                                        <p:attrNameLst>
                                          <p:attrName>style.visibility</p:attrName>
                                        </p:attrNameLst>
                                      </p:cBhvr>
                                      <p:to>
                                        <p:strVal val="visible"/>
                                      </p:to>
                                    </p:set>
                                    <p:animEffect transition="in" filter="image">
                                      <p:cBhvr>
                                        <p:cTn id="31" dur="400"/>
                                        <p:tgtEl>
                                          <p:spTgt spid="62"/>
                                        </p:tgtEl>
                                      </p:cBhvr>
                                    </p:animEffect>
                                  </p:childTnLst>
                                </p:cTn>
                              </p:par>
                            </p:childTnLst>
                          </p:cTn>
                        </p:par>
                        <p:par>
                          <p:cTn id="32" fill="hold">
                            <p:stCondLst>
                              <p:cond delay="6300"/>
                            </p:stCondLst>
                            <p:childTnLst>
                              <p:par>
                                <p:cTn id="33" presetID="10" presetClass="entr" presetSubtype="0" fill="hold" nodeType="afterEffect">
                                  <p:stCondLst>
                                    <p:cond delay="0"/>
                                  </p:stCondLst>
                                  <p:childTnLst>
                                    <p:set>
                                      <p:cBhvr>
                                        <p:cTn id="34" dur="1" fill="hold">
                                          <p:stCondLst>
                                            <p:cond delay="0"/>
                                          </p:stCondLst>
                                        </p:cTn>
                                        <p:tgtEl>
                                          <p:spTgt spid="73"/>
                                        </p:tgtEl>
                                        <p:attrNameLst>
                                          <p:attrName>style.visibility</p:attrName>
                                        </p:attrNameLst>
                                      </p:cBhvr>
                                      <p:to>
                                        <p:strVal val="visible"/>
                                      </p:to>
                                    </p:set>
                                    <p:animEffect transition="in" filter="fade">
                                      <p:cBhvr>
                                        <p:cTn id="35" dur="400"/>
                                        <p:tgtEl>
                                          <p:spTgt spid="73"/>
                                        </p:tgtEl>
                                      </p:cBhvr>
                                    </p:animEffect>
                                  </p:childTnLst>
                                </p:cTn>
                              </p:par>
                            </p:childTnLst>
                          </p:cTn>
                        </p:par>
                        <p:par>
                          <p:cTn id="36" fill="hold">
                            <p:stCondLst>
                              <p:cond delay="7200"/>
                            </p:stCondLst>
                            <p:childTnLst>
                              <p:par>
                                <p:cTn id="37" presetID="22" presetClass="entr" presetSubtype="1" fill="hold" nodeType="afterEffect">
                                  <p:stCondLst>
                                    <p:cond delay="0"/>
                                  </p:stCondLst>
                                  <p:childTnLst>
                                    <p:set>
                                      <p:cBhvr>
                                        <p:cTn id="38" dur="1" fill="hold">
                                          <p:stCondLst>
                                            <p:cond delay="0"/>
                                          </p:stCondLst>
                                        </p:cTn>
                                        <p:tgtEl>
                                          <p:spTgt spid="84"/>
                                        </p:tgtEl>
                                        <p:attrNameLst>
                                          <p:attrName>style.visibility</p:attrName>
                                        </p:attrNameLst>
                                      </p:cBhvr>
                                      <p:to>
                                        <p:strVal val="visible"/>
                                      </p:to>
                                    </p:set>
                                    <p:animEffect transition="in" filter="wipe(left)">
                                      <p:cBhvr>
                                        <p:cTn id="39" dur="4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2" grpId="0"/>
      <p:bldP spid="30" grpId="0"/>
      <p:bldP spid="38" grpId="0"/>
      <p:bldP spid="46" grpId="0"/>
      <p:bldP spid="48" grpId="0"/>
      <p:bldP spid="62" grpId="0"/>
      <p:bldP spid="73" grpId="0"/>
      <p:bldP spid="8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solidFill>
            <a:srgbClr val="C8102E"/>
          </a:solidFill>
          <a:ln>
            <a:noFill/>
          </a:ln>
        </p:spPr>
      </p:sp>
      <p:grpSp>
        <p:nvGrpSpPr>
          <p:cNvPr id="8" name="Group 8"/>
          <p:cNvGrpSpPr/>
          <p:nvPr/>
        </p:nvGrpSpPr>
        <p:grpSpPr>
          <a:xfrm>
            <a:off x="447675" y="166688"/>
            <a:ext cx="11296650" cy="166687"/>
            <a:chOff x="447675" y="166688"/>
            <a:chExt cx="11296650" cy="166687"/>
          </a:xfrm>
        </p:grpSpPr>
        <p:sp>
          <p:nvSpPr>
            <p:cNvPr id="4" name="Line 4"/>
            <p:cNvSpPr/>
            <p:nvPr/>
          </p:nvSpPr>
          <p:spPr>
            <a:xfrm>
              <a:off x="457200" y="323850"/>
              <a:ext cx="11277600" cy="9525"/>
            </a:xfrm>
            <a:custGeom>
              <a:avLst/>
              <a:gdLst/>
              <a:ahLst/>
              <a:cxnLst/>
              <a:rect l="l" t="t" r="r" b="b"/>
              <a:pathLst>
                <a:path w="11277600" h="9525">
                  <a:moveTo>
                    <a:pt x="0" y="0"/>
                  </a:moveTo>
                  <a:lnTo>
                    <a:pt x="11277600" y="0"/>
                  </a:lnTo>
                </a:path>
              </a:pathLst>
            </a:custGeom>
            <a:noFill/>
            <a:ln w="9525">
              <a:solidFill>
                <a:srgbClr val="111111"/>
              </a:solidFill>
            </a:ln>
          </p:spPr>
        </p:sp>
        <p:sp>
          <p:nvSpPr>
            <p:cNvPr id="5" name="TextBox 5"/>
            <p:cNvSpPr txBox="1"/>
            <p:nvPr/>
          </p:nvSpPr>
          <p:spPr>
            <a:xfrm>
              <a:off x="447675" y="166688"/>
              <a:ext cx="1909286" cy="152400"/>
            </a:xfrm>
            <a:prstGeom prst="rect">
              <a:avLst/>
            </a:prstGeom>
            <a:noFill/>
            <a:ln>
              <a:noFill/>
            </a:ln>
          </p:spPr>
          <p:txBody>
            <a:bodyPr wrap="none" lIns="0" tIns="0" rIns="0" bIns="0" anchor="t" anchorCtr="0">
              <a:spAutoFit/>
            </a:bodyPr>
            <a:lstStyle/>
            <a:p>
              <a:pPr algn="l"/>
              <a:r>
                <a:rPr lang="zh-CN" sz="750" b="1" dirty="0">
                  <a:solidFill>
                    <a:srgbClr val="111111"/>
                  </a:solidFill>
                  <a:latin typeface="Consolas"/>
                  <a:ea typeface="Microsoft YaHei"/>
                  <a:cs typeface="Consolas"/>
                </a:rPr>
                <a:t>THE AI INDUSTRY 2026 · ANNUAL REPORT</a:t>
              </a:r>
            </a:p>
          </p:txBody>
        </p:sp>
        <p:sp>
          <p:nvSpPr>
            <p:cNvPr id="6" name="TextBox 6"/>
            <p:cNvSpPr txBox="1"/>
            <p:nvPr/>
          </p:nvSpPr>
          <p:spPr>
            <a:xfrm>
              <a:off x="5553533" y="166688"/>
              <a:ext cx="1084933" cy="152400"/>
            </a:xfrm>
            <a:prstGeom prst="rect">
              <a:avLst/>
            </a:prstGeom>
            <a:noFill/>
            <a:ln>
              <a:noFill/>
            </a:ln>
          </p:spPr>
          <p:txBody>
            <a:bodyPr wrap="none" lIns="0" tIns="0" rIns="0" bIns="0" anchor="t" anchorCtr="0">
              <a:spAutoFit/>
            </a:bodyPr>
            <a:lstStyle/>
            <a:p>
              <a:pPr algn="ctr"/>
              <a:r>
                <a:rPr lang="zh-CN" sz="750" b="1" dirty="0">
                  <a:solidFill>
                    <a:srgbClr val="111111"/>
                  </a:solidFill>
                  <a:latin typeface="Consolas"/>
                  <a:ea typeface="Microsoft YaHei"/>
                  <a:cs typeface="Consolas"/>
                </a:rPr>
                <a:t>STORY I · LEAD STORY</a:t>
              </a:r>
            </a:p>
          </p:txBody>
        </p:sp>
        <p:sp>
          <p:nvSpPr>
            <p:cNvPr id="7" name="TextBox 7"/>
            <p:cNvSpPr txBox="1"/>
            <p:nvPr/>
          </p:nvSpPr>
          <p:spPr>
            <a:xfrm>
              <a:off x="10454616" y="166688"/>
              <a:ext cx="1289709" cy="152400"/>
            </a:xfrm>
            <a:prstGeom prst="rect">
              <a:avLst/>
            </a:prstGeom>
            <a:noFill/>
            <a:ln>
              <a:noFill/>
            </a:ln>
          </p:spPr>
          <p:txBody>
            <a:bodyPr wrap="none" lIns="0" tIns="0" rIns="0" bIns="0" anchor="t" anchorCtr="0">
              <a:spAutoFit/>
            </a:bodyPr>
            <a:lstStyle/>
            <a:p>
              <a:pPr algn="r"/>
              <a:r>
                <a:rPr lang="zh-CN" sz="750" b="1" dirty="0">
                  <a:solidFill>
                    <a:srgbClr val="111111"/>
                  </a:solidFill>
                  <a:latin typeface="Consolas"/>
                  <a:ea typeface="Microsoft YaHei"/>
                  <a:cs typeface="Consolas"/>
                </a:rPr>
                <a:t>VOL. 1 · NO. 1 · MAY 2026</a:t>
              </a:r>
            </a:p>
          </p:txBody>
        </p:sp>
      </p:grpSp>
      <p:grpSp>
        <p:nvGrpSpPr>
          <p:cNvPr id="13" name="Group 13"/>
          <p:cNvGrpSpPr/>
          <p:nvPr/>
        </p:nvGrpSpPr>
        <p:grpSpPr>
          <a:xfrm>
            <a:off x="415290" y="463391"/>
            <a:ext cx="11319510" cy="1032034"/>
            <a:chOff x="415290" y="463391"/>
            <a:chExt cx="11319510" cy="1032034"/>
          </a:xfrm>
        </p:grpSpPr>
        <p:sp>
          <p:nvSpPr>
            <p:cNvPr id="9" name="TextBox 9"/>
            <p:cNvSpPr txBox="1"/>
            <p:nvPr/>
          </p:nvSpPr>
          <p:spPr>
            <a:xfrm>
              <a:off x="446722" y="463391"/>
              <a:ext cx="1106791" cy="167640"/>
            </a:xfrm>
            <a:prstGeom prst="rect">
              <a:avLst/>
            </a:prstGeom>
            <a:noFill/>
            <a:ln>
              <a:noFill/>
            </a:ln>
          </p:spPr>
          <p:txBody>
            <a:bodyPr wrap="none" lIns="0" tIns="0" rIns="0" bIns="0" anchor="t" anchorCtr="0">
              <a:spAutoFit/>
            </a:bodyPr>
            <a:lstStyle/>
            <a:p>
              <a:pPr algn="l"/>
              <a:r>
                <a:rPr lang="zh-CN" sz="825" b="1" dirty="0">
                  <a:solidFill>
                    <a:srgbClr val="C8102E"/>
                  </a:solidFill>
                  <a:latin typeface="Arial Black"/>
                  <a:ea typeface="SimHei"/>
                  <a:cs typeface="Arial Black"/>
                </a:rPr>
                <a:t>SECTION II · STORY I</a:t>
              </a:r>
            </a:p>
          </p:txBody>
        </p:sp>
        <p:sp>
          <p:nvSpPr>
            <p:cNvPr id="10" name="TextBox 10"/>
            <p:cNvSpPr txBox="1"/>
            <p:nvPr/>
          </p:nvSpPr>
          <p:spPr>
            <a:xfrm>
              <a:off x="415290" y="691515"/>
              <a:ext cx="5836439" cy="670560"/>
            </a:xfrm>
            <a:prstGeom prst="rect">
              <a:avLst/>
            </a:prstGeom>
            <a:noFill/>
            <a:ln>
              <a:noFill/>
            </a:ln>
          </p:spPr>
          <p:txBody>
            <a:bodyPr wrap="none" lIns="0" tIns="0" rIns="0" bIns="0" anchor="t" anchorCtr="0">
              <a:spAutoFit/>
            </a:bodyPr>
            <a:lstStyle/>
            <a:p>
              <a:pPr algn="l"/>
              <a:r>
                <a:rPr lang="zh-CN" sz="3300" b="1" dirty="0">
                  <a:solidFill>
                    <a:srgbClr val="111111"/>
                  </a:solidFill>
                  <a:latin typeface="Impact"/>
                  <a:ea typeface="SimHei"/>
                  <a:cs typeface="Impact"/>
                </a:rPr>
                <a:t>THE REVENUE LEAGUE TABLE</a:t>
              </a:r>
            </a:p>
          </p:txBody>
        </p:sp>
        <p:sp>
          <p:nvSpPr>
            <p:cNvPr id="11" name="TextBox 11"/>
            <p:cNvSpPr txBox="1"/>
            <p:nvPr/>
          </p:nvSpPr>
          <p:spPr>
            <a:xfrm>
              <a:off x="441960" y="1184910"/>
              <a:ext cx="6023229" cy="243840"/>
            </a:xfrm>
            <a:prstGeom prst="rect">
              <a:avLst/>
            </a:prstGeom>
            <a:noFill/>
            <a:ln>
              <a:noFill/>
            </a:ln>
          </p:spPr>
          <p:txBody>
            <a:bodyPr wrap="none" lIns="0" tIns="0" rIns="0" bIns="0" anchor="t" anchorCtr="0">
              <a:spAutoFit/>
            </a:bodyPr>
            <a:lstStyle/>
            <a:p>
              <a:pPr algn="l"/>
              <a:r>
                <a:rPr lang="zh-CN" sz="1200" i="1" dirty="0">
                  <a:solidFill>
                    <a:srgbClr val="111111"/>
                  </a:solidFill>
                  <a:latin typeface="Times New Roman"/>
                  <a:ea typeface="SimSun"/>
                  <a:cs typeface="Times New Roman"/>
                </a:rPr>
                <a:t xml:space="preserve">Anthropic </a:t>
              </a:r>
              <a:r>
                <a:rPr lang="zh-CN" sz="1200" b="1" i="1" dirty="0">
                  <a:solidFill>
                    <a:srgbClr val="C8102E"/>
                  </a:solidFill>
                  <a:latin typeface="Times New Roman"/>
                  <a:ea typeface="SimSun"/>
                  <a:cs typeface="Times New Roman"/>
                </a:rPr>
                <a:t>31.4 %</a:t>
              </a:r>
              <a:r>
                <a:rPr lang="zh-CN" sz="1200" i="1" dirty="0">
                  <a:solidFill>
                    <a:srgbClr val="111111"/>
                  </a:solidFill>
                  <a:latin typeface="Times New Roman"/>
                  <a:ea typeface="SimSun"/>
                  <a:cs typeface="Times New Roman"/>
                </a:rPr>
                <a:t xml:space="preserve"> — first non-OpenAI lab in #1 since the modern LLM era began.</a:t>
              </a:r>
            </a:p>
          </p:txBody>
        </p:sp>
        <p:sp>
          <p:nvSpPr>
            <p:cNvPr id="12" name="Line 12"/>
            <p:cNvSpPr/>
            <p:nvPr/>
          </p:nvSpPr>
          <p:spPr>
            <a:xfrm>
              <a:off x="457200" y="1485900"/>
              <a:ext cx="11277600" cy="9525"/>
            </a:xfrm>
            <a:custGeom>
              <a:avLst/>
              <a:gdLst/>
              <a:ahLst/>
              <a:cxnLst/>
              <a:rect l="l" t="t" r="r" b="b"/>
              <a:pathLst>
                <a:path w="11277600" h="9525">
                  <a:moveTo>
                    <a:pt x="0" y="0"/>
                  </a:moveTo>
                  <a:lnTo>
                    <a:pt x="11277600" y="0"/>
                  </a:lnTo>
                </a:path>
              </a:pathLst>
            </a:custGeom>
            <a:noFill/>
            <a:ln w="19050">
              <a:solidFill>
                <a:srgbClr val="111111"/>
              </a:solidFill>
            </a:ln>
          </p:spPr>
        </p:sp>
      </p:grpSp>
      <p:grpSp>
        <p:nvGrpSpPr>
          <p:cNvPr id="16" name="Group 16"/>
          <p:cNvGrpSpPr/>
          <p:nvPr/>
        </p:nvGrpSpPr>
        <p:grpSpPr>
          <a:xfrm>
            <a:off x="457200" y="1619250"/>
            <a:ext cx="3429000" cy="4524375"/>
            <a:chOff x="457200" y="1619250"/>
            <a:chExt cx="3429000" cy="4524375"/>
          </a:xfrm>
        </p:grpSpPr>
        <p:pic>
          <p:nvPicPr>
            <p:cNvPr id="14" name="Image 14"/>
            <p:cNvPicPr>
              <a:picLocks noChangeAspect="1"/>
            </p:cNvPicPr>
            <p:nvPr/>
          </p:nvPicPr>
          <p:blipFill>
            <a:blip r:embed="rId2"/>
            <a:srcRect l="0" t="6019" r="0" b="6019"/>
            <a:stretch>
              <a:fillRect/>
            </a:stretch>
          </p:blipFill>
          <p:spPr>
            <a:xfrm>
              <a:off x="457200" y="1619250"/>
              <a:ext cx="3429000" cy="4524375"/>
            </a:xfrm>
            <a:prstGeom prst="rect">
              <a:avLst/>
            </a:prstGeom>
          </p:spPr>
        </p:pic>
        <p:sp>
          <p:nvSpPr>
            <p:cNvPr id="15" name="Rectangle 15"/>
            <p:cNvSpPr/>
            <p:nvPr/>
          </p:nvSpPr>
          <p:spPr>
            <a:xfrm>
              <a:off x="457200" y="1619250"/>
              <a:ext cx="3429000" cy="4524375"/>
            </a:xfrm>
            <a:prstGeom prst="rect">
              <a:avLst/>
            </a:prstGeom>
            <a:noFill/>
            <a:ln w="9525">
              <a:solidFill>
                <a:srgbClr val="111111"/>
              </a:solidFill>
            </a:ln>
          </p:spPr>
        </p:sp>
      </p:grpSp>
      <p:grpSp>
        <p:nvGrpSpPr>
          <p:cNvPr id="19" name="Group 19"/>
          <p:cNvGrpSpPr/>
          <p:nvPr/>
        </p:nvGrpSpPr>
        <p:grpSpPr>
          <a:xfrm>
            <a:off x="446722" y="6235541"/>
            <a:ext cx="2908816" cy="320040"/>
            <a:chOff x="446722" y="6235541"/>
            <a:chExt cx="2908816" cy="320040"/>
          </a:xfrm>
        </p:grpSpPr>
        <p:sp>
          <p:nvSpPr>
            <p:cNvPr id="17" name="TextBox 17"/>
            <p:cNvSpPr txBox="1"/>
            <p:nvPr/>
          </p:nvSpPr>
          <p:spPr>
            <a:xfrm>
              <a:off x="446722" y="6235541"/>
              <a:ext cx="1753672" cy="167640"/>
            </a:xfrm>
            <a:prstGeom prst="rect">
              <a:avLst/>
            </a:prstGeom>
            <a:noFill/>
            <a:ln>
              <a:noFill/>
            </a:ln>
          </p:spPr>
          <p:txBody>
            <a:bodyPr wrap="none" lIns="0" tIns="0" rIns="0" bIns="0" anchor="t" anchorCtr="0">
              <a:spAutoFit/>
            </a:bodyPr>
            <a:lstStyle/>
            <a:p>
              <a:pPr algn="l"/>
              <a:r>
                <a:rPr lang="zh-CN" sz="825" b="1" dirty="0">
                  <a:solidFill>
                    <a:srgbClr val="111111"/>
                  </a:solidFill>
                  <a:latin typeface="Arial Black"/>
                  <a:ea typeface="SimHei"/>
                  <a:cs typeface="Arial Black"/>
                </a:rPr>
                <a:t>FIG. 01 · CHANGING OF THE GUARD</a:t>
              </a:r>
            </a:p>
          </p:txBody>
        </p:sp>
        <p:sp>
          <p:nvSpPr>
            <p:cNvPr id="18" name="TextBox 18"/>
            <p:cNvSpPr txBox="1"/>
            <p:nvPr/>
          </p:nvSpPr>
          <p:spPr>
            <a:xfrm>
              <a:off x="446722" y="6387941"/>
              <a:ext cx="2908816" cy="167640"/>
            </a:xfrm>
            <a:prstGeom prst="rect">
              <a:avLst/>
            </a:prstGeom>
            <a:noFill/>
            <a:ln>
              <a:noFill/>
            </a:ln>
          </p:spPr>
          <p:txBody>
            <a:bodyPr wrap="none" lIns="0" tIns="0" rIns="0" bIns="0" anchor="t" anchorCtr="0">
              <a:spAutoFit/>
            </a:bodyPr>
            <a:lstStyle/>
            <a:p>
              <a:pPr algn="l"/>
              <a:r>
                <a:rPr lang="zh-CN" sz="825" i="1" dirty="0">
                  <a:solidFill>
                    <a:srgbClr val="3A3A3A"/>
                  </a:solidFill>
                  <a:latin typeface="Times New Roman"/>
                  <a:ea typeface="SimSun"/>
                  <a:cs typeface="Times New Roman"/>
                </a:rPr>
                <a:t>— a vacated lead; a smaller successor steps forward.</a:t>
              </a:r>
            </a:p>
          </p:txBody>
        </p:sp>
      </p:grpSp>
      <p:sp>
        <p:nvSpPr>
          <p:cNvPr id="20" name="Line 20"/>
          <p:cNvSpPr/>
          <p:nvPr/>
        </p:nvSpPr>
        <p:spPr>
          <a:xfrm>
            <a:off x="4000500" y="1619250"/>
            <a:ext cx="9525" cy="4524375"/>
          </a:xfrm>
          <a:custGeom>
            <a:avLst/>
            <a:gdLst/>
            <a:ahLst/>
            <a:cxnLst/>
            <a:rect l="l" t="t" r="r" b="b"/>
            <a:pathLst>
              <a:path w="9525" h="4524375">
                <a:moveTo>
                  <a:pt x="0" y="0"/>
                </a:moveTo>
                <a:lnTo>
                  <a:pt x="0" y="4524375"/>
                </a:lnTo>
              </a:path>
            </a:pathLst>
          </a:custGeom>
          <a:noFill/>
          <a:ln w="9525">
            <a:solidFill>
              <a:srgbClr val="111111"/>
            </a:solidFill>
          </a:ln>
        </p:spPr>
      </p:sp>
      <p:grpSp>
        <p:nvGrpSpPr>
          <p:cNvPr id="23" name="Group 23"/>
          <p:cNvGrpSpPr/>
          <p:nvPr/>
        </p:nvGrpSpPr>
        <p:grpSpPr>
          <a:xfrm>
            <a:off x="4158615" y="1696402"/>
            <a:ext cx="4050315" cy="363379"/>
            <a:chOff x="4158615" y="1696402"/>
            <a:chExt cx="4050315" cy="363379"/>
          </a:xfrm>
        </p:grpSpPr>
        <p:sp>
          <p:nvSpPr>
            <p:cNvPr id="21" name="TextBox 21"/>
            <p:cNvSpPr txBox="1"/>
            <p:nvPr/>
          </p:nvSpPr>
          <p:spPr>
            <a:xfrm>
              <a:off x="4158615" y="1696402"/>
              <a:ext cx="2842072" cy="213360"/>
            </a:xfrm>
            <a:prstGeom prst="rect">
              <a:avLst/>
            </a:prstGeom>
            <a:noFill/>
            <a:ln>
              <a:noFill/>
            </a:ln>
          </p:spPr>
          <p:txBody>
            <a:bodyPr wrap="none" lIns="0" tIns="0" rIns="0" bIns="0" anchor="t" anchorCtr="0">
              <a:spAutoFit/>
            </a:bodyPr>
            <a:lstStyle/>
            <a:p>
              <a:pPr algn="l"/>
              <a:r>
                <a:rPr lang="zh-CN" sz="1050" b="1" dirty="0">
                  <a:solidFill>
                    <a:srgbClr val="111111"/>
                  </a:solidFill>
                  <a:latin typeface="Arial Black"/>
                  <a:ea typeface="SimHei"/>
                  <a:cs typeface="Arial Black"/>
                </a:rPr>
                <a:t>SHARE OF GLOBAL LLM REVENUE · Q1 2026</a:t>
              </a:r>
            </a:p>
          </p:txBody>
        </p:sp>
        <p:sp>
          <p:nvSpPr>
            <p:cNvPr id="22" name="TextBox 22"/>
            <p:cNvSpPr txBox="1"/>
            <p:nvPr/>
          </p:nvSpPr>
          <p:spPr>
            <a:xfrm>
              <a:off x="4161472" y="1892141"/>
              <a:ext cx="4047458" cy="167640"/>
            </a:xfrm>
            <a:prstGeom prst="rect">
              <a:avLst/>
            </a:prstGeom>
            <a:noFill/>
            <a:ln>
              <a:noFill/>
            </a:ln>
          </p:spPr>
          <p:txBody>
            <a:bodyPr wrap="none" lIns="0" tIns="0" rIns="0" bIns="0" anchor="t" anchorCtr="0">
              <a:spAutoFit/>
            </a:bodyPr>
            <a:lstStyle/>
            <a:p>
              <a:pPr algn="l"/>
              <a:r>
                <a:rPr lang="zh-CN" sz="825" i="1" dirty="0">
                  <a:solidFill>
                    <a:srgbClr val="3A3A3A"/>
                  </a:solidFill>
                  <a:latin typeface="Times New Roman"/>
                  <a:ea typeface="SimSun"/>
                  <a:cs typeface="Times New Roman"/>
                </a:rPr>
                <a:t>Twelve labs · share of a $20.7 B quarter · source: Counterpoint Research.</a:t>
              </a:r>
            </a:p>
          </p:txBody>
        </p:sp>
      </p:grpSp>
      <p:grpSp>
        <p:nvGrpSpPr>
          <p:cNvPr id="79" name="Group 79"/>
          <p:cNvGrpSpPr/>
          <p:nvPr/>
        </p:nvGrpSpPr>
        <p:grpSpPr>
          <a:xfrm>
            <a:off x="4559437" y="2095500"/>
            <a:ext cx="7157397" cy="3705225"/>
            <a:chOff x="4559437" y="2095500"/>
            <a:chExt cx="7157397" cy="3705225"/>
          </a:xfrm>
        </p:grpSpPr>
        <p:sp>
          <p:nvSpPr>
            <p:cNvPr id="24" name="Line 24"/>
            <p:cNvSpPr/>
            <p:nvPr/>
          </p:nvSpPr>
          <p:spPr>
            <a:xfrm>
              <a:off x="5334000" y="2095500"/>
              <a:ext cx="9525" cy="3695700"/>
            </a:xfrm>
            <a:custGeom>
              <a:avLst/>
              <a:gdLst/>
              <a:ahLst/>
              <a:cxnLst/>
              <a:rect l="l" t="t" r="r" b="b"/>
              <a:pathLst>
                <a:path w="9525" h="3695700">
                  <a:moveTo>
                    <a:pt x="0" y="0"/>
                  </a:moveTo>
                  <a:lnTo>
                    <a:pt x="0" y="3695700"/>
                  </a:lnTo>
                </a:path>
              </a:pathLst>
            </a:custGeom>
            <a:noFill/>
            <a:ln w="9525">
              <a:solidFill>
                <a:srgbClr val="111111"/>
              </a:solidFill>
            </a:ln>
          </p:spPr>
        </p:sp>
        <p:sp>
          <p:nvSpPr>
            <p:cNvPr id="25" name="Line 25"/>
            <p:cNvSpPr/>
            <p:nvPr/>
          </p:nvSpPr>
          <p:spPr>
            <a:xfrm>
              <a:off x="7134225" y="2095500"/>
              <a:ext cx="9525" cy="3695700"/>
            </a:xfrm>
            <a:custGeom>
              <a:avLst/>
              <a:gdLst/>
              <a:ahLst/>
              <a:cxnLst/>
              <a:rect l="l" t="t" r="r" b="b"/>
              <a:pathLst>
                <a:path w="9525" h="3695700">
                  <a:moveTo>
                    <a:pt x="0" y="0"/>
                  </a:moveTo>
                  <a:lnTo>
                    <a:pt x="0" y="3695700"/>
                  </a:lnTo>
                </a:path>
              </a:pathLst>
            </a:custGeom>
            <a:noFill/>
            <a:ln w="4762">
              <a:solidFill>
                <a:srgbClr val="3A3A3A"/>
              </a:solidFill>
              <a:custDash>
                <a:ds d="400000" sp="600000"/>
              </a:custDash>
            </a:ln>
          </p:spPr>
        </p:sp>
        <p:sp>
          <p:nvSpPr>
            <p:cNvPr id="26" name="Line 26"/>
            <p:cNvSpPr/>
            <p:nvPr/>
          </p:nvSpPr>
          <p:spPr>
            <a:xfrm>
              <a:off x="8924925" y="2095500"/>
              <a:ext cx="9525" cy="3695700"/>
            </a:xfrm>
            <a:custGeom>
              <a:avLst/>
              <a:gdLst/>
              <a:ahLst/>
              <a:cxnLst/>
              <a:rect l="l" t="t" r="r" b="b"/>
              <a:pathLst>
                <a:path w="9525" h="3695700">
                  <a:moveTo>
                    <a:pt x="0" y="0"/>
                  </a:moveTo>
                  <a:lnTo>
                    <a:pt x="0" y="3695700"/>
                  </a:lnTo>
                </a:path>
              </a:pathLst>
            </a:custGeom>
            <a:noFill/>
            <a:ln w="4762">
              <a:solidFill>
                <a:srgbClr val="3A3A3A"/>
              </a:solidFill>
              <a:custDash>
                <a:ds d="400000" sp="600000"/>
              </a:custDash>
            </a:ln>
          </p:spPr>
        </p:sp>
        <p:sp>
          <p:nvSpPr>
            <p:cNvPr id="27" name="Line 27"/>
            <p:cNvSpPr/>
            <p:nvPr/>
          </p:nvSpPr>
          <p:spPr>
            <a:xfrm>
              <a:off x="10725150" y="2095500"/>
              <a:ext cx="9525" cy="3695700"/>
            </a:xfrm>
            <a:custGeom>
              <a:avLst/>
              <a:gdLst/>
              <a:ahLst/>
              <a:cxnLst/>
              <a:rect l="l" t="t" r="r" b="b"/>
              <a:pathLst>
                <a:path w="9525" h="3695700">
                  <a:moveTo>
                    <a:pt x="0" y="0"/>
                  </a:moveTo>
                  <a:lnTo>
                    <a:pt x="0" y="3695700"/>
                  </a:lnTo>
                </a:path>
              </a:pathLst>
            </a:custGeom>
            <a:noFill/>
            <a:ln w="4762">
              <a:solidFill>
                <a:srgbClr val="3A3A3A"/>
              </a:solidFill>
              <a:custDash>
                <a:ds d="400000" sp="600000"/>
              </a:custDash>
            </a:ln>
          </p:spPr>
        </p:sp>
        <p:sp>
          <p:nvSpPr>
            <p:cNvPr id="28" name="Line 28"/>
            <p:cNvSpPr/>
            <p:nvPr/>
          </p:nvSpPr>
          <p:spPr>
            <a:xfrm>
              <a:off x="11620500" y="2095500"/>
              <a:ext cx="9525" cy="3695700"/>
            </a:xfrm>
            <a:custGeom>
              <a:avLst/>
              <a:gdLst/>
              <a:ahLst/>
              <a:cxnLst/>
              <a:rect l="l" t="t" r="r" b="b"/>
              <a:pathLst>
                <a:path w="9525" h="3695700">
                  <a:moveTo>
                    <a:pt x="0" y="0"/>
                  </a:moveTo>
                  <a:lnTo>
                    <a:pt x="0" y="3695700"/>
                  </a:lnTo>
                </a:path>
              </a:pathLst>
            </a:custGeom>
            <a:noFill/>
            <a:ln w="4762">
              <a:solidFill>
                <a:srgbClr val="3A3A3A"/>
              </a:solidFill>
              <a:custDash>
                <a:ds d="400000" sp="600000"/>
              </a:custDash>
            </a:ln>
          </p:spPr>
        </p:sp>
        <p:sp>
          <p:nvSpPr>
            <p:cNvPr id="29" name="TextBox 29"/>
            <p:cNvSpPr txBox="1"/>
            <p:nvPr/>
          </p:nvSpPr>
          <p:spPr>
            <a:xfrm>
              <a:off x="5262420" y="2155984"/>
              <a:ext cx="143161" cy="137160"/>
            </a:xfrm>
            <a:prstGeom prst="rect">
              <a:avLst/>
            </a:prstGeom>
            <a:noFill/>
            <a:ln>
              <a:noFill/>
            </a:ln>
          </p:spPr>
          <p:txBody>
            <a:bodyPr wrap="none" lIns="0" tIns="0" rIns="0" bIns="0" anchor="t" anchorCtr="0">
              <a:spAutoFit/>
            </a:bodyPr>
            <a:lstStyle/>
            <a:p>
              <a:pPr algn="ctr"/>
              <a:r>
                <a:rPr lang="zh-CN" sz="675" dirty="0">
                  <a:solidFill>
                    <a:srgbClr val="3A3A3A"/>
                  </a:solidFill>
                  <a:latin typeface="Consolas"/>
                  <a:ea typeface="Microsoft YaHei"/>
                  <a:cs typeface="Consolas"/>
                </a:rPr>
                <a:t>0 %</a:t>
              </a:r>
            </a:p>
          </p:txBody>
        </p:sp>
        <p:sp>
          <p:nvSpPr>
            <p:cNvPr id="30" name="TextBox 30"/>
            <p:cNvSpPr txBox="1"/>
            <p:nvPr/>
          </p:nvSpPr>
          <p:spPr>
            <a:xfrm>
              <a:off x="7049143" y="2155984"/>
              <a:ext cx="170164" cy="137160"/>
            </a:xfrm>
            <a:prstGeom prst="rect">
              <a:avLst/>
            </a:prstGeom>
            <a:noFill/>
            <a:ln>
              <a:noFill/>
            </a:ln>
          </p:spPr>
          <p:txBody>
            <a:bodyPr wrap="none" lIns="0" tIns="0" rIns="0" bIns="0" anchor="t" anchorCtr="0">
              <a:spAutoFit/>
            </a:bodyPr>
            <a:lstStyle/>
            <a:p>
              <a:pPr algn="ctr"/>
              <a:r>
                <a:rPr lang="zh-CN" sz="675" dirty="0">
                  <a:solidFill>
                    <a:srgbClr val="3A3A3A"/>
                  </a:solidFill>
                  <a:latin typeface="Consolas"/>
                  <a:ea typeface="Microsoft YaHei"/>
                  <a:cs typeface="Consolas"/>
                </a:rPr>
                <a:t>10 %</a:t>
              </a:r>
            </a:p>
          </p:txBody>
        </p:sp>
        <p:sp>
          <p:nvSpPr>
            <p:cNvPr id="31" name="TextBox 31"/>
            <p:cNvSpPr txBox="1"/>
            <p:nvPr/>
          </p:nvSpPr>
          <p:spPr>
            <a:xfrm>
              <a:off x="8828592" y="2155984"/>
              <a:ext cx="192667" cy="137160"/>
            </a:xfrm>
            <a:prstGeom prst="rect">
              <a:avLst/>
            </a:prstGeom>
            <a:noFill/>
            <a:ln>
              <a:noFill/>
            </a:ln>
          </p:spPr>
          <p:txBody>
            <a:bodyPr wrap="none" lIns="0" tIns="0" rIns="0" bIns="0" anchor="t" anchorCtr="0">
              <a:spAutoFit/>
            </a:bodyPr>
            <a:lstStyle/>
            <a:p>
              <a:pPr algn="ctr"/>
              <a:r>
                <a:rPr lang="zh-CN" sz="675" dirty="0">
                  <a:solidFill>
                    <a:srgbClr val="3A3A3A"/>
                  </a:solidFill>
                  <a:latin typeface="Consolas"/>
                  <a:ea typeface="Microsoft YaHei"/>
                  <a:cs typeface="Consolas"/>
                </a:rPr>
                <a:t>20 %</a:t>
              </a:r>
            </a:p>
          </p:txBody>
        </p:sp>
        <p:sp>
          <p:nvSpPr>
            <p:cNvPr id="32" name="TextBox 32"/>
            <p:cNvSpPr txBox="1"/>
            <p:nvPr/>
          </p:nvSpPr>
          <p:spPr>
            <a:xfrm>
              <a:off x="10628817" y="2155984"/>
              <a:ext cx="192667" cy="137160"/>
            </a:xfrm>
            <a:prstGeom prst="rect">
              <a:avLst/>
            </a:prstGeom>
            <a:noFill/>
            <a:ln>
              <a:noFill/>
            </a:ln>
          </p:spPr>
          <p:txBody>
            <a:bodyPr wrap="none" lIns="0" tIns="0" rIns="0" bIns="0" anchor="t" anchorCtr="0">
              <a:spAutoFit/>
            </a:bodyPr>
            <a:lstStyle/>
            <a:p>
              <a:pPr algn="ctr"/>
              <a:r>
                <a:rPr lang="zh-CN" sz="675" dirty="0">
                  <a:solidFill>
                    <a:srgbClr val="3A3A3A"/>
                  </a:solidFill>
                  <a:latin typeface="Consolas"/>
                  <a:ea typeface="Microsoft YaHei"/>
                  <a:cs typeface="Consolas"/>
                </a:rPr>
                <a:t>30 %</a:t>
              </a:r>
            </a:p>
          </p:txBody>
        </p:sp>
        <p:sp>
          <p:nvSpPr>
            <p:cNvPr id="33" name="TextBox 33"/>
            <p:cNvSpPr txBox="1"/>
            <p:nvPr/>
          </p:nvSpPr>
          <p:spPr>
            <a:xfrm>
              <a:off x="11524167" y="2155984"/>
              <a:ext cx="192667" cy="137160"/>
            </a:xfrm>
            <a:prstGeom prst="rect">
              <a:avLst/>
            </a:prstGeom>
            <a:noFill/>
            <a:ln>
              <a:noFill/>
            </a:ln>
          </p:spPr>
          <p:txBody>
            <a:bodyPr wrap="none" lIns="0" tIns="0" rIns="0" bIns="0" anchor="t" anchorCtr="0">
              <a:spAutoFit/>
            </a:bodyPr>
            <a:lstStyle/>
            <a:p>
              <a:pPr algn="ctr"/>
              <a:r>
                <a:rPr lang="zh-CN" sz="675" dirty="0">
                  <a:solidFill>
                    <a:srgbClr val="3A3A3A"/>
                  </a:solidFill>
                  <a:latin typeface="Consolas"/>
                  <a:ea typeface="Microsoft YaHei"/>
                  <a:cs typeface="Consolas"/>
                </a:rPr>
                <a:t>35 %</a:t>
              </a:r>
            </a:p>
          </p:txBody>
        </p:sp>
        <p:sp>
          <p:nvSpPr>
            <p:cNvPr id="34" name="Line 34"/>
            <p:cNvSpPr/>
            <p:nvPr/>
          </p:nvSpPr>
          <p:spPr>
            <a:xfrm>
              <a:off x="5334000" y="5791200"/>
              <a:ext cx="6286500" cy="9525"/>
            </a:xfrm>
            <a:custGeom>
              <a:avLst/>
              <a:gdLst/>
              <a:ahLst/>
              <a:cxnLst/>
              <a:rect l="l" t="t" r="r" b="b"/>
              <a:pathLst>
                <a:path w="6286500" h="9525">
                  <a:moveTo>
                    <a:pt x="0" y="0"/>
                  </a:moveTo>
                  <a:lnTo>
                    <a:pt x="6286500" y="0"/>
                  </a:lnTo>
                </a:path>
              </a:pathLst>
            </a:custGeom>
            <a:noFill/>
            <a:ln w="14288">
              <a:solidFill>
                <a:srgbClr val="111111"/>
              </a:solidFill>
            </a:ln>
          </p:spPr>
        </p:sp>
        <p:grpSp>
          <p:nvGrpSpPr>
            <p:cNvPr id="38" name="Group 38"/>
            <p:cNvGrpSpPr/>
            <p:nvPr/>
          </p:nvGrpSpPr>
          <p:grpSpPr>
            <a:xfrm>
              <a:off x="4609843" y="2400300"/>
              <a:ext cx="6833788" cy="245269"/>
              <a:chOff x="4609843" y="2400300"/>
              <a:chExt cx="6833788" cy="245269"/>
            </a:xfrm>
          </p:grpSpPr>
          <p:sp>
            <p:nvSpPr>
              <p:cNvPr id="35" name="TextBox 35"/>
              <p:cNvSpPr txBox="1"/>
              <p:nvPr/>
            </p:nvSpPr>
            <p:spPr>
              <a:xfrm>
                <a:off x="4609843" y="2407920"/>
                <a:ext cx="640337" cy="182880"/>
              </a:xfrm>
              <a:prstGeom prst="rect">
                <a:avLst/>
              </a:prstGeom>
              <a:noFill/>
              <a:ln>
                <a:noFill/>
              </a:ln>
            </p:spPr>
            <p:txBody>
              <a:bodyPr wrap="none" lIns="0" tIns="0" rIns="0" bIns="0" anchor="t" anchorCtr="0">
                <a:spAutoFit/>
              </a:bodyPr>
              <a:lstStyle/>
              <a:p>
                <a:pPr algn="r"/>
                <a:r>
                  <a:rPr lang="zh-CN" sz="900" b="1" dirty="0">
                    <a:solidFill>
                      <a:srgbClr val="111111"/>
                    </a:solidFill>
                    <a:latin typeface="Arial Black"/>
                    <a:ea typeface="SimHei"/>
                    <a:cs typeface="Arial Black"/>
                  </a:rPr>
                  <a:t>ANTHROPIC</a:t>
                </a:r>
              </a:p>
            </p:txBody>
          </p:sp>
          <p:sp>
            <p:nvSpPr>
              <p:cNvPr id="36" name="Rectangle 36"/>
              <p:cNvSpPr/>
              <p:nvPr/>
            </p:nvSpPr>
            <p:spPr>
              <a:xfrm>
                <a:off x="5334000" y="2400300"/>
                <a:ext cx="5638800" cy="209550"/>
              </a:xfrm>
              <a:prstGeom prst="rect">
                <a:avLst/>
              </a:prstGeom>
              <a:solidFill>
                <a:srgbClr val="C8102E"/>
              </a:solidFill>
              <a:ln>
                <a:noFill/>
              </a:ln>
            </p:spPr>
          </p:sp>
          <p:sp>
            <p:nvSpPr>
              <p:cNvPr id="37" name="TextBox 37"/>
              <p:cNvSpPr txBox="1"/>
              <p:nvPr/>
            </p:nvSpPr>
            <p:spPr>
              <a:xfrm>
                <a:off x="11036618" y="2447449"/>
                <a:ext cx="407013" cy="198120"/>
              </a:xfrm>
              <a:prstGeom prst="rect">
                <a:avLst/>
              </a:prstGeom>
              <a:noFill/>
              <a:ln>
                <a:noFill/>
              </a:ln>
            </p:spPr>
            <p:txBody>
              <a:bodyPr wrap="none" lIns="0" tIns="0" rIns="0" bIns="0" anchor="t" anchorCtr="0">
                <a:spAutoFit/>
              </a:bodyPr>
              <a:lstStyle/>
              <a:p>
                <a:pPr algn="l"/>
                <a:r>
                  <a:rPr lang="zh-CN" sz="975" b="1" dirty="0">
                    <a:solidFill>
                      <a:srgbClr val="111111"/>
                    </a:solidFill>
                    <a:latin typeface="Arial Black"/>
                    <a:ea typeface="SimHei"/>
                    <a:cs typeface="Arial Black"/>
                  </a:rPr>
                  <a:t>31.4 %</a:t>
                </a:r>
              </a:p>
            </p:txBody>
          </p:sp>
        </p:grpSp>
        <p:grpSp>
          <p:nvGrpSpPr>
            <p:cNvPr id="42" name="Group 42"/>
            <p:cNvGrpSpPr/>
            <p:nvPr/>
          </p:nvGrpSpPr>
          <p:grpSpPr>
            <a:xfrm>
              <a:off x="4817769" y="2705100"/>
              <a:ext cx="6231365" cy="245269"/>
              <a:chOff x="4817769" y="2705100"/>
              <a:chExt cx="6231365" cy="245269"/>
            </a:xfrm>
          </p:grpSpPr>
          <p:sp>
            <p:nvSpPr>
              <p:cNvPr id="39" name="TextBox 39"/>
              <p:cNvSpPr txBox="1"/>
              <p:nvPr/>
            </p:nvSpPr>
            <p:spPr>
              <a:xfrm>
                <a:off x="4817769" y="2712720"/>
                <a:ext cx="432411" cy="182880"/>
              </a:xfrm>
              <a:prstGeom prst="rect">
                <a:avLst/>
              </a:prstGeom>
              <a:noFill/>
              <a:ln>
                <a:noFill/>
              </a:ln>
            </p:spPr>
            <p:txBody>
              <a:bodyPr wrap="none" lIns="0" tIns="0" rIns="0" bIns="0" anchor="t" anchorCtr="0">
                <a:spAutoFit/>
              </a:bodyPr>
              <a:lstStyle/>
              <a:p>
                <a:pPr algn="r"/>
                <a:r>
                  <a:rPr lang="zh-CN" sz="900" b="1" dirty="0">
                    <a:solidFill>
                      <a:srgbClr val="111111"/>
                    </a:solidFill>
                    <a:latin typeface="Arial Black"/>
                    <a:ea typeface="SimHei"/>
                    <a:cs typeface="Arial Black"/>
                  </a:rPr>
                  <a:t>OPENAI</a:t>
                </a:r>
              </a:p>
            </p:txBody>
          </p:sp>
          <p:sp>
            <p:nvSpPr>
              <p:cNvPr id="40" name="Rectangle 40"/>
              <p:cNvSpPr/>
              <p:nvPr/>
            </p:nvSpPr>
            <p:spPr>
              <a:xfrm>
                <a:off x="5334000" y="2705100"/>
                <a:ext cx="5210175" cy="209550"/>
              </a:xfrm>
              <a:prstGeom prst="rect">
                <a:avLst/>
              </a:prstGeom>
              <a:solidFill>
                <a:srgbClr val="111111"/>
              </a:solidFill>
              <a:ln>
                <a:noFill/>
              </a:ln>
            </p:spPr>
          </p:sp>
          <p:sp>
            <p:nvSpPr>
              <p:cNvPr id="41" name="TextBox 41"/>
              <p:cNvSpPr txBox="1"/>
              <p:nvPr/>
            </p:nvSpPr>
            <p:spPr>
              <a:xfrm>
                <a:off x="10607992" y="2752249"/>
                <a:ext cx="441142" cy="198120"/>
              </a:xfrm>
              <a:prstGeom prst="rect">
                <a:avLst/>
              </a:prstGeom>
              <a:noFill/>
              <a:ln>
                <a:noFill/>
              </a:ln>
            </p:spPr>
            <p:txBody>
              <a:bodyPr wrap="none" lIns="0" tIns="0" rIns="0" bIns="0" anchor="t" anchorCtr="0">
                <a:spAutoFit/>
              </a:bodyPr>
              <a:lstStyle/>
              <a:p>
                <a:pPr algn="l"/>
                <a:r>
                  <a:rPr lang="zh-CN" sz="975" b="1" dirty="0">
                    <a:solidFill>
                      <a:srgbClr val="111111"/>
                    </a:solidFill>
                    <a:latin typeface="Arial Black"/>
                    <a:ea typeface="SimHei"/>
                    <a:cs typeface="Arial Black"/>
                  </a:rPr>
                  <a:t>29.0 %</a:t>
                </a:r>
              </a:p>
            </p:txBody>
          </p:sp>
        </p:grpSp>
        <p:grpSp>
          <p:nvGrpSpPr>
            <p:cNvPr id="46" name="Group 46"/>
            <p:cNvGrpSpPr/>
            <p:nvPr/>
          </p:nvGrpSpPr>
          <p:grpSpPr>
            <a:xfrm>
              <a:off x="4761062" y="3009900"/>
              <a:ext cx="3181340" cy="245269"/>
              <a:chOff x="4761062" y="3009900"/>
              <a:chExt cx="3181340" cy="245269"/>
            </a:xfrm>
          </p:grpSpPr>
          <p:sp>
            <p:nvSpPr>
              <p:cNvPr id="43" name="TextBox 43"/>
              <p:cNvSpPr txBox="1"/>
              <p:nvPr/>
            </p:nvSpPr>
            <p:spPr>
              <a:xfrm>
                <a:off x="4761062" y="3017520"/>
                <a:ext cx="489118" cy="182880"/>
              </a:xfrm>
              <a:prstGeom prst="rect">
                <a:avLst/>
              </a:prstGeom>
              <a:noFill/>
              <a:ln>
                <a:noFill/>
              </a:ln>
            </p:spPr>
            <p:txBody>
              <a:bodyPr wrap="none" lIns="0" tIns="0" rIns="0" bIns="0" anchor="t" anchorCtr="0">
                <a:spAutoFit/>
              </a:bodyPr>
              <a:lstStyle/>
              <a:p>
                <a:pPr algn="r"/>
                <a:r>
                  <a:rPr lang="zh-CN" sz="900" b="1" dirty="0">
                    <a:solidFill>
                      <a:srgbClr val="111111"/>
                    </a:solidFill>
                    <a:latin typeface="Arial Black"/>
                    <a:ea typeface="SimHei"/>
                    <a:cs typeface="Arial Black"/>
                  </a:rPr>
                  <a:t>GOOGLE</a:t>
                </a:r>
              </a:p>
            </p:txBody>
          </p:sp>
          <p:sp>
            <p:nvSpPr>
              <p:cNvPr id="44" name="Rectangle 44"/>
              <p:cNvSpPr/>
              <p:nvPr/>
            </p:nvSpPr>
            <p:spPr>
              <a:xfrm>
                <a:off x="5334000" y="3009900"/>
                <a:ext cx="2171700" cy="209550"/>
              </a:xfrm>
              <a:prstGeom prst="rect">
                <a:avLst/>
              </a:prstGeom>
              <a:solidFill>
                <a:srgbClr val="111111"/>
              </a:solidFill>
              <a:ln>
                <a:noFill/>
              </a:ln>
            </p:spPr>
          </p:sp>
          <p:sp>
            <p:nvSpPr>
              <p:cNvPr id="45" name="TextBox 45"/>
              <p:cNvSpPr txBox="1"/>
              <p:nvPr/>
            </p:nvSpPr>
            <p:spPr>
              <a:xfrm>
                <a:off x="7569518" y="3057049"/>
                <a:ext cx="372884" cy="198120"/>
              </a:xfrm>
              <a:prstGeom prst="rect">
                <a:avLst/>
              </a:prstGeom>
              <a:noFill/>
              <a:ln>
                <a:noFill/>
              </a:ln>
            </p:spPr>
            <p:txBody>
              <a:bodyPr wrap="none" lIns="0" tIns="0" rIns="0" bIns="0" anchor="t" anchorCtr="0">
                <a:spAutoFit/>
              </a:bodyPr>
              <a:lstStyle/>
              <a:p>
                <a:pPr algn="l"/>
                <a:r>
                  <a:rPr lang="zh-CN" sz="975" b="1" dirty="0">
                    <a:solidFill>
                      <a:srgbClr val="111111"/>
                    </a:solidFill>
                    <a:latin typeface="Arial Black"/>
                    <a:ea typeface="SimHei"/>
                    <a:cs typeface="Arial Black"/>
                  </a:rPr>
                  <a:t>12.1 %</a:t>
                </a:r>
              </a:p>
            </p:txBody>
          </p:sp>
        </p:grpSp>
        <p:grpSp>
          <p:nvGrpSpPr>
            <p:cNvPr id="50" name="Group 50"/>
            <p:cNvGrpSpPr/>
            <p:nvPr/>
          </p:nvGrpSpPr>
          <p:grpSpPr>
            <a:xfrm>
              <a:off x="4559437" y="3314700"/>
              <a:ext cx="2499839" cy="245269"/>
              <a:chOff x="4559437" y="3314700"/>
              <a:chExt cx="2499839" cy="245269"/>
            </a:xfrm>
          </p:grpSpPr>
          <p:sp>
            <p:nvSpPr>
              <p:cNvPr id="47" name="TextBox 47"/>
              <p:cNvSpPr txBox="1"/>
              <p:nvPr/>
            </p:nvSpPr>
            <p:spPr>
              <a:xfrm>
                <a:off x="4559437" y="3322320"/>
                <a:ext cx="690743" cy="182880"/>
              </a:xfrm>
              <a:prstGeom prst="rect">
                <a:avLst/>
              </a:prstGeom>
              <a:noFill/>
              <a:ln>
                <a:noFill/>
              </a:ln>
            </p:spPr>
            <p:txBody>
              <a:bodyPr wrap="none" lIns="0" tIns="0" rIns="0" bIns="0" anchor="t" anchorCtr="0">
                <a:spAutoFit/>
              </a:bodyPr>
              <a:lstStyle/>
              <a:p>
                <a:pPr algn="r"/>
                <a:r>
                  <a:rPr lang="zh-CN" sz="900" b="1" dirty="0">
                    <a:solidFill>
                      <a:srgbClr val="111111"/>
                    </a:solidFill>
                    <a:latin typeface="Arial Black"/>
                    <a:ea typeface="SimHei"/>
                    <a:cs typeface="Arial Black"/>
                  </a:rPr>
                  <a:t>MICROSOFT</a:t>
                </a:r>
              </a:p>
            </p:txBody>
          </p:sp>
          <p:sp>
            <p:nvSpPr>
              <p:cNvPr id="48" name="Rectangle 48"/>
              <p:cNvSpPr/>
              <p:nvPr/>
            </p:nvSpPr>
            <p:spPr>
              <a:xfrm>
                <a:off x="5334000" y="3314700"/>
                <a:ext cx="1295400" cy="209550"/>
              </a:xfrm>
              <a:prstGeom prst="rect">
                <a:avLst/>
              </a:prstGeom>
              <a:solidFill>
                <a:srgbClr val="111111"/>
              </a:solidFill>
              <a:ln>
                <a:noFill/>
              </a:ln>
            </p:spPr>
          </p:sp>
          <p:sp>
            <p:nvSpPr>
              <p:cNvPr id="49" name="TextBox 49"/>
              <p:cNvSpPr txBox="1"/>
              <p:nvPr/>
            </p:nvSpPr>
            <p:spPr>
              <a:xfrm>
                <a:off x="6693218" y="3361849"/>
                <a:ext cx="366058" cy="198120"/>
              </a:xfrm>
              <a:prstGeom prst="rect">
                <a:avLst/>
              </a:prstGeom>
              <a:noFill/>
              <a:ln>
                <a:noFill/>
              </a:ln>
            </p:spPr>
            <p:txBody>
              <a:bodyPr wrap="none" lIns="0" tIns="0" rIns="0" bIns="0" anchor="t" anchorCtr="0">
                <a:spAutoFit/>
              </a:bodyPr>
              <a:lstStyle/>
              <a:p>
                <a:pPr algn="l"/>
                <a:r>
                  <a:rPr lang="zh-CN" sz="975" b="1" dirty="0">
                    <a:solidFill>
                      <a:srgbClr val="111111"/>
                    </a:solidFill>
                    <a:latin typeface="Arial Black"/>
                    <a:ea typeface="SimHei"/>
                    <a:cs typeface="Arial Black"/>
                  </a:rPr>
                  <a:t>7.2 %</a:t>
                </a:r>
              </a:p>
            </p:txBody>
          </p:sp>
        </p:grpSp>
        <p:grpSp>
          <p:nvGrpSpPr>
            <p:cNvPr id="54" name="Group 54"/>
            <p:cNvGrpSpPr/>
            <p:nvPr/>
          </p:nvGrpSpPr>
          <p:grpSpPr>
            <a:xfrm>
              <a:off x="4742159" y="3619500"/>
              <a:ext cx="1888491" cy="245269"/>
              <a:chOff x="4742159" y="3619500"/>
              <a:chExt cx="1888491" cy="245269"/>
            </a:xfrm>
          </p:grpSpPr>
          <p:sp>
            <p:nvSpPr>
              <p:cNvPr id="51" name="TextBox 51"/>
              <p:cNvSpPr txBox="1"/>
              <p:nvPr/>
            </p:nvSpPr>
            <p:spPr>
              <a:xfrm>
                <a:off x="4742159" y="3627120"/>
                <a:ext cx="508021" cy="182880"/>
              </a:xfrm>
              <a:prstGeom prst="rect">
                <a:avLst/>
              </a:prstGeom>
              <a:noFill/>
              <a:ln>
                <a:noFill/>
              </a:ln>
            </p:spPr>
            <p:txBody>
              <a:bodyPr wrap="none" lIns="0" tIns="0" rIns="0" bIns="0" anchor="t" anchorCtr="0">
                <a:spAutoFit/>
              </a:bodyPr>
              <a:lstStyle/>
              <a:p>
                <a:pPr algn="r"/>
                <a:r>
                  <a:rPr lang="zh-CN" sz="900" b="1" dirty="0">
                    <a:solidFill>
                      <a:srgbClr val="111111"/>
                    </a:solidFill>
                    <a:latin typeface="Arial Black"/>
                    <a:ea typeface="SimHei"/>
                    <a:cs typeface="Arial Black"/>
                  </a:rPr>
                  <a:t>TENCENT</a:t>
                </a:r>
              </a:p>
            </p:txBody>
          </p:sp>
          <p:sp>
            <p:nvSpPr>
              <p:cNvPr id="52" name="Rectangle 52"/>
              <p:cNvSpPr/>
              <p:nvPr/>
            </p:nvSpPr>
            <p:spPr>
              <a:xfrm>
                <a:off x="5334000" y="3619500"/>
                <a:ext cx="866775" cy="209550"/>
              </a:xfrm>
              <a:prstGeom prst="rect">
                <a:avLst/>
              </a:prstGeom>
              <a:solidFill>
                <a:srgbClr val="111111"/>
              </a:solidFill>
              <a:ln>
                <a:noFill/>
              </a:ln>
            </p:spPr>
          </p:sp>
          <p:sp>
            <p:nvSpPr>
              <p:cNvPr id="53" name="TextBox 53"/>
              <p:cNvSpPr txBox="1"/>
              <p:nvPr/>
            </p:nvSpPr>
            <p:spPr>
              <a:xfrm>
                <a:off x="6264592" y="3666649"/>
                <a:ext cx="366058" cy="198120"/>
              </a:xfrm>
              <a:prstGeom prst="rect">
                <a:avLst/>
              </a:prstGeom>
              <a:noFill/>
              <a:ln>
                <a:noFill/>
              </a:ln>
            </p:spPr>
            <p:txBody>
              <a:bodyPr wrap="none" lIns="0" tIns="0" rIns="0" bIns="0" anchor="t" anchorCtr="0">
                <a:spAutoFit/>
              </a:bodyPr>
              <a:lstStyle/>
              <a:p>
                <a:pPr algn="l"/>
                <a:r>
                  <a:rPr lang="zh-CN" sz="975" b="1" dirty="0">
                    <a:solidFill>
                      <a:srgbClr val="111111"/>
                    </a:solidFill>
                    <a:latin typeface="Arial Black"/>
                    <a:ea typeface="SimHei"/>
                    <a:cs typeface="Arial Black"/>
                  </a:rPr>
                  <a:t>4.8 %</a:t>
                </a:r>
              </a:p>
            </p:txBody>
          </p:sp>
        </p:grpSp>
        <p:grpSp>
          <p:nvGrpSpPr>
            <p:cNvPr id="58" name="Group 58"/>
            <p:cNvGrpSpPr/>
            <p:nvPr/>
          </p:nvGrpSpPr>
          <p:grpSpPr>
            <a:xfrm>
              <a:off x="4912281" y="3924300"/>
              <a:ext cx="1499295" cy="245269"/>
              <a:chOff x="4912281" y="3924300"/>
              <a:chExt cx="1499295" cy="245269"/>
            </a:xfrm>
          </p:grpSpPr>
          <p:sp>
            <p:nvSpPr>
              <p:cNvPr id="55" name="TextBox 55"/>
              <p:cNvSpPr txBox="1"/>
              <p:nvPr/>
            </p:nvSpPr>
            <p:spPr>
              <a:xfrm>
                <a:off x="4912281" y="3931920"/>
                <a:ext cx="337899" cy="182880"/>
              </a:xfrm>
              <a:prstGeom prst="rect">
                <a:avLst/>
              </a:prstGeom>
              <a:noFill/>
              <a:ln>
                <a:noFill/>
              </a:ln>
            </p:spPr>
            <p:txBody>
              <a:bodyPr wrap="none" lIns="0" tIns="0" rIns="0" bIns="0" anchor="t" anchorCtr="0">
                <a:spAutoFit/>
              </a:bodyPr>
              <a:lstStyle/>
              <a:p>
                <a:pPr algn="r"/>
                <a:r>
                  <a:rPr lang="zh-CN" sz="900" b="1" dirty="0">
                    <a:solidFill>
                      <a:srgbClr val="111111"/>
                    </a:solidFill>
                    <a:latin typeface="Arial Black"/>
                    <a:ea typeface="SimHei"/>
                    <a:cs typeface="Arial Black"/>
                  </a:rPr>
                  <a:t>BAIDU</a:t>
                </a:r>
              </a:p>
            </p:txBody>
          </p:sp>
          <p:sp>
            <p:nvSpPr>
              <p:cNvPr id="56" name="Rectangle 56"/>
              <p:cNvSpPr/>
              <p:nvPr/>
            </p:nvSpPr>
            <p:spPr>
              <a:xfrm>
                <a:off x="5334000" y="3924300"/>
                <a:ext cx="647700" cy="209550"/>
              </a:xfrm>
              <a:prstGeom prst="rect">
                <a:avLst/>
              </a:prstGeom>
              <a:solidFill>
                <a:srgbClr val="111111"/>
              </a:solidFill>
              <a:ln>
                <a:noFill/>
              </a:ln>
            </p:spPr>
          </p:sp>
          <p:sp>
            <p:nvSpPr>
              <p:cNvPr id="57" name="TextBox 57"/>
              <p:cNvSpPr txBox="1"/>
              <p:nvPr/>
            </p:nvSpPr>
            <p:spPr>
              <a:xfrm>
                <a:off x="6045518" y="3971449"/>
                <a:ext cx="366058" cy="198120"/>
              </a:xfrm>
              <a:prstGeom prst="rect">
                <a:avLst/>
              </a:prstGeom>
              <a:noFill/>
              <a:ln>
                <a:noFill/>
              </a:ln>
            </p:spPr>
            <p:txBody>
              <a:bodyPr wrap="none" lIns="0" tIns="0" rIns="0" bIns="0" anchor="t" anchorCtr="0">
                <a:spAutoFit/>
              </a:bodyPr>
              <a:lstStyle/>
              <a:p>
                <a:pPr algn="l"/>
                <a:r>
                  <a:rPr lang="zh-CN" sz="975" b="1" dirty="0">
                    <a:solidFill>
                      <a:srgbClr val="111111"/>
                    </a:solidFill>
                    <a:latin typeface="Arial Black"/>
                    <a:ea typeface="SimHei"/>
                    <a:cs typeface="Arial Black"/>
                  </a:rPr>
                  <a:t>3.6 %</a:t>
                </a:r>
              </a:p>
            </p:txBody>
          </p:sp>
        </p:grpSp>
        <p:grpSp>
          <p:nvGrpSpPr>
            <p:cNvPr id="62" name="Group 62"/>
            <p:cNvGrpSpPr/>
            <p:nvPr/>
          </p:nvGrpSpPr>
          <p:grpSpPr>
            <a:xfrm>
              <a:off x="4773663" y="4229100"/>
              <a:ext cx="1514087" cy="245269"/>
              <a:chOff x="4773663" y="4229100"/>
              <a:chExt cx="1514087" cy="245269"/>
            </a:xfrm>
          </p:grpSpPr>
          <p:sp>
            <p:nvSpPr>
              <p:cNvPr id="59" name="TextBox 59"/>
              <p:cNvSpPr txBox="1"/>
              <p:nvPr/>
            </p:nvSpPr>
            <p:spPr>
              <a:xfrm>
                <a:off x="4773663" y="4236720"/>
                <a:ext cx="476517" cy="182880"/>
              </a:xfrm>
              <a:prstGeom prst="rect">
                <a:avLst/>
              </a:prstGeom>
              <a:noFill/>
              <a:ln>
                <a:noFill/>
              </a:ln>
            </p:spPr>
            <p:txBody>
              <a:bodyPr wrap="none" lIns="0" tIns="0" rIns="0" bIns="0" anchor="t" anchorCtr="0">
                <a:spAutoFit/>
              </a:bodyPr>
              <a:lstStyle/>
              <a:p>
                <a:pPr algn="r"/>
                <a:r>
                  <a:rPr lang="zh-CN" sz="900" b="1" dirty="0">
                    <a:solidFill>
                      <a:srgbClr val="111111"/>
                    </a:solidFill>
                    <a:latin typeface="Arial Black"/>
                    <a:ea typeface="SimHei"/>
                    <a:cs typeface="Arial Black"/>
                  </a:rPr>
                  <a:t>ALIBABA</a:t>
                </a:r>
              </a:p>
            </p:txBody>
          </p:sp>
          <p:sp>
            <p:nvSpPr>
              <p:cNvPr id="60" name="Rectangle 60"/>
              <p:cNvSpPr/>
              <p:nvPr/>
            </p:nvSpPr>
            <p:spPr>
              <a:xfrm>
                <a:off x="5334000" y="4229100"/>
                <a:ext cx="523875" cy="209550"/>
              </a:xfrm>
              <a:prstGeom prst="rect">
                <a:avLst/>
              </a:prstGeom>
              <a:solidFill>
                <a:srgbClr val="111111"/>
              </a:solidFill>
              <a:ln>
                <a:noFill/>
              </a:ln>
            </p:spPr>
          </p:sp>
          <p:sp>
            <p:nvSpPr>
              <p:cNvPr id="61" name="TextBox 61"/>
              <p:cNvSpPr txBox="1"/>
              <p:nvPr/>
            </p:nvSpPr>
            <p:spPr>
              <a:xfrm>
                <a:off x="5921692" y="4276249"/>
                <a:ext cx="366058" cy="198120"/>
              </a:xfrm>
              <a:prstGeom prst="rect">
                <a:avLst/>
              </a:prstGeom>
              <a:noFill/>
              <a:ln>
                <a:noFill/>
              </a:ln>
            </p:spPr>
            <p:txBody>
              <a:bodyPr wrap="none" lIns="0" tIns="0" rIns="0" bIns="0" anchor="t" anchorCtr="0">
                <a:spAutoFit/>
              </a:bodyPr>
              <a:lstStyle/>
              <a:p>
                <a:pPr algn="l"/>
                <a:r>
                  <a:rPr lang="zh-CN" sz="975" b="1" dirty="0">
                    <a:solidFill>
                      <a:srgbClr val="111111"/>
                    </a:solidFill>
                    <a:latin typeface="Arial Black"/>
                    <a:ea typeface="SimHei"/>
                    <a:cs typeface="Arial Black"/>
                  </a:rPr>
                  <a:t>2.9 %</a:t>
                </a:r>
              </a:p>
            </p:txBody>
          </p:sp>
        </p:grpSp>
        <p:grpSp>
          <p:nvGrpSpPr>
            <p:cNvPr id="66" name="Group 66"/>
            <p:cNvGrpSpPr/>
            <p:nvPr/>
          </p:nvGrpSpPr>
          <p:grpSpPr>
            <a:xfrm>
              <a:off x="4924882" y="4533900"/>
              <a:ext cx="1052514" cy="245269"/>
              <a:chOff x="4924882" y="4533900"/>
              <a:chExt cx="1052514" cy="245269"/>
            </a:xfrm>
          </p:grpSpPr>
          <p:sp>
            <p:nvSpPr>
              <p:cNvPr id="63" name="TextBox 63"/>
              <p:cNvSpPr txBox="1"/>
              <p:nvPr/>
            </p:nvSpPr>
            <p:spPr>
              <a:xfrm>
                <a:off x="4924882" y="4541520"/>
                <a:ext cx="325298" cy="182880"/>
              </a:xfrm>
              <a:prstGeom prst="rect">
                <a:avLst/>
              </a:prstGeom>
              <a:noFill/>
              <a:ln>
                <a:noFill/>
              </a:ln>
            </p:spPr>
            <p:txBody>
              <a:bodyPr wrap="none" lIns="0" tIns="0" rIns="0" bIns="0" anchor="t" anchorCtr="0">
                <a:spAutoFit/>
              </a:bodyPr>
              <a:lstStyle/>
              <a:p>
                <a:pPr algn="r"/>
                <a:r>
                  <a:rPr lang="zh-CN" sz="900" b="1" dirty="0">
                    <a:solidFill>
                      <a:srgbClr val="111111"/>
                    </a:solidFill>
                    <a:latin typeface="Arial Black"/>
                    <a:ea typeface="SimHei"/>
                    <a:cs typeface="Arial Black"/>
                  </a:rPr>
                  <a:t>META</a:t>
                </a:r>
              </a:p>
            </p:txBody>
          </p:sp>
          <p:sp>
            <p:nvSpPr>
              <p:cNvPr id="64" name="Rectangle 64"/>
              <p:cNvSpPr/>
              <p:nvPr/>
            </p:nvSpPr>
            <p:spPr>
              <a:xfrm>
                <a:off x="5334000" y="4533900"/>
                <a:ext cx="247650" cy="209550"/>
              </a:xfrm>
              <a:prstGeom prst="rect">
                <a:avLst/>
              </a:prstGeom>
              <a:solidFill>
                <a:srgbClr val="111111"/>
              </a:solidFill>
              <a:ln>
                <a:noFill/>
              </a:ln>
            </p:spPr>
          </p:sp>
          <p:sp>
            <p:nvSpPr>
              <p:cNvPr id="65" name="TextBox 65"/>
              <p:cNvSpPr txBox="1"/>
              <p:nvPr/>
            </p:nvSpPr>
            <p:spPr>
              <a:xfrm>
                <a:off x="5645468" y="4581049"/>
                <a:ext cx="331928" cy="198120"/>
              </a:xfrm>
              <a:prstGeom prst="rect">
                <a:avLst/>
              </a:prstGeom>
              <a:noFill/>
              <a:ln>
                <a:noFill/>
              </a:ln>
            </p:spPr>
            <p:txBody>
              <a:bodyPr wrap="none" lIns="0" tIns="0" rIns="0" bIns="0" anchor="t" anchorCtr="0">
                <a:spAutoFit/>
              </a:bodyPr>
              <a:lstStyle/>
              <a:p>
                <a:pPr algn="l"/>
                <a:r>
                  <a:rPr lang="zh-CN" sz="975" b="1" dirty="0">
                    <a:solidFill>
                      <a:srgbClr val="111111"/>
                    </a:solidFill>
                    <a:latin typeface="Arial Black"/>
                    <a:ea typeface="SimHei"/>
                    <a:cs typeface="Arial Black"/>
                  </a:rPr>
                  <a:t>1.4 %</a:t>
                </a:r>
              </a:p>
            </p:txBody>
          </p:sp>
        </p:grpSp>
        <p:grpSp>
          <p:nvGrpSpPr>
            <p:cNvPr id="70" name="Group 70"/>
            <p:cNvGrpSpPr/>
            <p:nvPr/>
          </p:nvGrpSpPr>
          <p:grpSpPr>
            <a:xfrm>
              <a:off x="4603542" y="4838700"/>
              <a:ext cx="1373854" cy="245269"/>
              <a:chOff x="4603542" y="4838700"/>
              <a:chExt cx="1373854" cy="245269"/>
            </a:xfrm>
          </p:grpSpPr>
          <p:sp>
            <p:nvSpPr>
              <p:cNvPr id="67" name="TextBox 67"/>
              <p:cNvSpPr txBox="1"/>
              <p:nvPr/>
            </p:nvSpPr>
            <p:spPr>
              <a:xfrm>
                <a:off x="4603542" y="4846320"/>
                <a:ext cx="646638" cy="182880"/>
              </a:xfrm>
              <a:prstGeom prst="rect">
                <a:avLst/>
              </a:prstGeom>
              <a:noFill/>
              <a:ln>
                <a:noFill/>
              </a:ln>
            </p:spPr>
            <p:txBody>
              <a:bodyPr wrap="none" lIns="0" tIns="0" rIns="0" bIns="0" anchor="t" anchorCtr="0">
                <a:spAutoFit/>
              </a:bodyPr>
              <a:lstStyle/>
              <a:p>
                <a:pPr algn="r"/>
                <a:r>
                  <a:rPr lang="zh-CN" sz="900" b="1" dirty="0">
                    <a:solidFill>
                      <a:srgbClr val="111111"/>
                    </a:solidFill>
                    <a:latin typeface="Arial Black"/>
                    <a:ea typeface="SimHei"/>
                    <a:cs typeface="Arial Black"/>
                  </a:rPr>
                  <a:t>GROK / xAI</a:t>
                </a:r>
              </a:p>
            </p:txBody>
          </p:sp>
          <p:sp>
            <p:nvSpPr>
              <p:cNvPr id="68" name="Rectangle 68"/>
              <p:cNvSpPr/>
              <p:nvPr/>
            </p:nvSpPr>
            <p:spPr>
              <a:xfrm>
                <a:off x="5334000" y="4838700"/>
                <a:ext cx="247650" cy="209550"/>
              </a:xfrm>
              <a:prstGeom prst="rect">
                <a:avLst/>
              </a:prstGeom>
              <a:solidFill>
                <a:srgbClr val="111111"/>
              </a:solidFill>
              <a:ln>
                <a:noFill/>
              </a:ln>
            </p:spPr>
          </p:sp>
          <p:sp>
            <p:nvSpPr>
              <p:cNvPr id="69" name="TextBox 69"/>
              <p:cNvSpPr txBox="1"/>
              <p:nvPr/>
            </p:nvSpPr>
            <p:spPr>
              <a:xfrm>
                <a:off x="5645468" y="4885849"/>
                <a:ext cx="331928" cy="198120"/>
              </a:xfrm>
              <a:prstGeom prst="rect">
                <a:avLst/>
              </a:prstGeom>
              <a:noFill/>
              <a:ln>
                <a:noFill/>
              </a:ln>
            </p:spPr>
            <p:txBody>
              <a:bodyPr wrap="none" lIns="0" tIns="0" rIns="0" bIns="0" anchor="t" anchorCtr="0">
                <a:spAutoFit/>
              </a:bodyPr>
              <a:lstStyle/>
              <a:p>
                <a:pPr algn="l"/>
                <a:r>
                  <a:rPr lang="zh-CN" sz="975" b="1" dirty="0">
                    <a:solidFill>
                      <a:srgbClr val="111111"/>
                    </a:solidFill>
                    <a:latin typeface="Arial Black"/>
                    <a:ea typeface="SimHei"/>
                    <a:cs typeface="Arial Black"/>
                  </a:rPr>
                  <a:t>1.4 %</a:t>
                </a:r>
              </a:p>
            </p:txBody>
          </p:sp>
        </p:grpSp>
        <p:grpSp>
          <p:nvGrpSpPr>
            <p:cNvPr id="74" name="Group 74"/>
            <p:cNvGrpSpPr/>
            <p:nvPr/>
          </p:nvGrpSpPr>
          <p:grpSpPr>
            <a:xfrm>
              <a:off x="4565737" y="5143500"/>
              <a:ext cx="1344983" cy="245269"/>
              <a:chOff x="4565737" y="5143500"/>
              <a:chExt cx="1344983" cy="245269"/>
            </a:xfrm>
          </p:grpSpPr>
          <p:sp>
            <p:nvSpPr>
              <p:cNvPr id="71" name="TextBox 71"/>
              <p:cNvSpPr txBox="1"/>
              <p:nvPr/>
            </p:nvSpPr>
            <p:spPr>
              <a:xfrm>
                <a:off x="4565737" y="5151120"/>
                <a:ext cx="684443" cy="182880"/>
              </a:xfrm>
              <a:prstGeom prst="rect">
                <a:avLst/>
              </a:prstGeom>
              <a:noFill/>
              <a:ln>
                <a:noFill/>
              </a:ln>
            </p:spPr>
            <p:txBody>
              <a:bodyPr wrap="none" lIns="0" tIns="0" rIns="0" bIns="0" anchor="t" anchorCtr="0">
                <a:spAutoFit/>
              </a:bodyPr>
              <a:lstStyle/>
              <a:p>
                <a:pPr algn="r"/>
                <a:r>
                  <a:rPr lang="zh-CN" sz="900" b="1" dirty="0">
                    <a:solidFill>
                      <a:srgbClr val="111111"/>
                    </a:solidFill>
                    <a:latin typeface="Arial Black"/>
                    <a:ea typeface="SimHei"/>
                    <a:cs typeface="Arial Black"/>
                  </a:rPr>
                  <a:t>PERPLEXITY</a:t>
                </a:r>
              </a:p>
            </p:txBody>
          </p:sp>
          <p:sp>
            <p:nvSpPr>
              <p:cNvPr id="72" name="Rectangle 72"/>
              <p:cNvSpPr/>
              <p:nvPr/>
            </p:nvSpPr>
            <p:spPr>
              <a:xfrm>
                <a:off x="5334000" y="5143500"/>
                <a:ext cx="180975" cy="209550"/>
              </a:xfrm>
              <a:prstGeom prst="rect">
                <a:avLst/>
              </a:prstGeom>
              <a:solidFill>
                <a:srgbClr val="111111"/>
              </a:solidFill>
              <a:ln>
                <a:noFill/>
              </a:ln>
            </p:spPr>
          </p:sp>
          <p:sp>
            <p:nvSpPr>
              <p:cNvPr id="73" name="TextBox 73"/>
              <p:cNvSpPr txBox="1"/>
              <p:nvPr/>
            </p:nvSpPr>
            <p:spPr>
              <a:xfrm>
                <a:off x="5578792" y="5190649"/>
                <a:ext cx="331928" cy="198120"/>
              </a:xfrm>
              <a:prstGeom prst="rect">
                <a:avLst/>
              </a:prstGeom>
              <a:noFill/>
              <a:ln>
                <a:noFill/>
              </a:ln>
            </p:spPr>
            <p:txBody>
              <a:bodyPr wrap="none" lIns="0" tIns="0" rIns="0" bIns="0" anchor="t" anchorCtr="0">
                <a:spAutoFit/>
              </a:bodyPr>
              <a:lstStyle/>
              <a:p>
                <a:pPr algn="l"/>
                <a:r>
                  <a:rPr lang="zh-CN" sz="975" b="1" dirty="0">
                    <a:solidFill>
                      <a:srgbClr val="111111"/>
                    </a:solidFill>
                    <a:latin typeface="Arial Black"/>
                    <a:ea typeface="SimHei"/>
                    <a:cs typeface="Arial Black"/>
                  </a:rPr>
                  <a:t>1.0 %</a:t>
                </a:r>
              </a:p>
            </p:txBody>
          </p:sp>
        </p:grpSp>
        <p:grpSp>
          <p:nvGrpSpPr>
            <p:cNvPr id="78" name="Group 78"/>
            <p:cNvGrpSpPr/>
            <p:nvPr/>
          </p:nvGrpSpPr>
          <p:grpSpPr>
            <a:xfrm>
              <a:off x="4672851" y="5448300"/>
              <a:ext cx="1129125" cy="245269"/>
              <a:chOff x="4672851" y="5448300"/>
              <a:chExt cx="1129125" cy="245269"/>
            </a:xfrm>
          </p:grpSpPr>
          <p:sp>
            <p:nvSpPr>
              <p:cNvPr id="75" name="TextBox 75"/>
              <p:cNvSpPr txBox="1"/>
              <p:nvPr/>
            </p:nvSpPr>
            <p:spPr>
              <a:xfrm>
                <a:off x="4672851" y="5455920"/>
                <a:ext cx="577329" cy="182880"/>
              </a:xfrm>
              <a:prstGeom prst="rect">
                <a:avLst/>
              </a:prstGeom>
              <a:noFill/>
              <a:ln>
                <a:noFill/>
              </a:ln>
            </p:spPr>
            <p:txBody>
              <a:bodyPr wrap="none" lIns="0" tIns="0" rIns="0" bIns="0" anchor="t" anchorCtr="0">
                <a:spAutoFit/>
              </a:bodyPr>
              <a:lstStyle/>
              <a:p>
                <a:pPr algn="r"/>
                <a:r>
                  <a:rPr lang="zh-CN" sz="900" b="1" dirty="0">
                    <a:solidFill>
                      <a:srgbClr val="111111"/>
                    </a:solidFill>
                    <a:latin typeface="Arial Black"/>
                    <a:ea typeface="SimHei"/>
                    <a:cs typeface="Arial Black"/>
                  </a:rPr>
                  <a:t>DEEPSEEK</a:t>
                </a:r>
              </a:p>
            </p:txBody>
          </p:sp>
          <p:sp>
            <p:nvSpPr>
              <p:cNvPr id="76" name="Rectangle 76"/>
              <p:cNvSpPr/>
              <p:nvPr/>
            </p:nvSpPr>
            <p:spPr>
              <a:xfrm>
                <a:off x="5334000" y="5448300"/>
                <a:ext cx="38100" cy="209550"/>
              </a:xfrm>
              <a:prstGeom prst="rect">
                <a:avLst/>
              </a:prstGeom>
              <a:solidFill>
                <a:srgbClr val="111111"/>
              </a:solidFill>
              <a:ln>
                <a:noFill/>
              </a:ln>
            </p:spPr>
          </p:sp>
          <p:sp>
            <p:nvSpPr>
              <p:cNvPr id="77" name="TextBox 77"/>
              <p:cNvSpPr txBox="1"/>
              <p:nvPr/>
            </p:nvSpPr>
            <p:spPr>
              <a:xfrm>
                <a:off x="5435918" y="5495449"/>
                <a:ext cx="366058" cy="198120"/>
              </a:xfrm>
              <a:prstGeom prst="rect">
                <a:avLst/>
              </a:prstGeom>
              <a:noFill/>
              <a:ln>
                <a:noFill/>
              </a:ln>
            </p:spPr>
            <p:txBody>
              <a:bodyPr wrap="none" lIns="0" tIns="0" rIns="0" bIns="0" anchor="t" anchorCtr="0">
                <a:spAutoFit/>
              </a:bodyPr>
              <a:lstStyle/>
              <a:p>
                <a:pPr algn="l"/>
                <a:r>
                  <a:rPr lang="zh-CN" sz="975" b="1" dirty="0">
                    <a:solidFill>
                      <a:srgbClr val="111111"/>
                    </a:solidFill>
                    <a:latin typeface="Arial Black"/>
                    <a:ea typeface="SimHei"/>
                    <a:cs typeface="Arial Black"/>
                  </a:rPr>
                  <a:t>0.2 %</a:t>
                </a:r>
              </a:p>
            </p:txBody>
          </p:sp>
        </p:grpSp>
      </p:grpSp>
      <p:grpSp>
        <p:nvGrpSpPr>
          <p:cNvPr id="83" name="Group 83"/>
          <p:cNvGrpSpPr/>
          <p:nvPr/>
        </p:nvGrpSpPr>
        <p:grpSpPr>
          <a:xfrm>
            <a:off x="4150995" y="5943600"/>
            <a:ext cx="7583805" cy="652462"/>
            <a:chOff x="4150995" y="5943600"/>
            <a:chExt cx="7583805" cy="652462"/>
          </a:xfrm>
        </p:grpSpPr>
        <p:sp>
          <p:nvSpPr>
            <p:cNvPr id="80" name="Rectangle 80"/>
            <p:cNvSpPr/>
            <p:nvPr/>
          </p:nvSpPr>
          <p:spPr>
            <a:xfrm>
              <a:off x="4171950" y="5943600"/>
              <a:ext cx="7562850" cy="19050"/>
            </a:xfrm>
            <a:prstGeom prst="rect">
              <a:avLst/>
            </a:prstGeom>
            <a:solidFill>
              <a:srgbClr val="C8102E"/>
            </a:solidFill>
            <a:ln>
              <a:noFill/>
            </a:ln>
          </p:spPr>
        </p:sp>
        <p:sp>
          <p:nvSpPr>
            <p:cNvPr id="81" name="TextBox 81"/>
            <p:cNvSpPr txBox="1"/>
            <p:nvPr/>
          </p:nvSpPr>
          <p:spPr>
            <a:xfrm>
              <a:off x="4150995" y="6013132"/>
              <a:ext cx="3749923" cy="335280"/>
            </a:xfrm>
            <a:prstGeom prst="rect">
              <a:avLst/>
            </a:prstGeom>
            <a:noFill/>
            <a:ln>
              <a:noFill/>
            </a:ln>
          </p:spPr>
          <p:txBody>
            <a:bodyPr wrap="none" lIns="0" tIns="0" rIns="0" bIns="0" anchor="t" anchorCtr="0">
              <a:spAutoFit/>
            </a:bodyPr>
            <a:lstStyle/>
            <a:p>
              <a:pPr algn="l"/>
              <a:r>
                <a:rPr lang="zh-CN" sz="1650" b="1" dirty="0">
                  <a:solidFill>
                    <a:srgbClr val="C8102E"/>
                  </a:solidFill>
                  <a:latin typeface="Impact"/>
                  <a:ea typeface="SimHei"/>
                  <a:cs typeface="Impact"/>
                </a:rPr>
                <a:t>"FIRST NON-OPENAI LAB IN #1 SINCE</a:t>
              </a:r>
            </a:p>
          </p:txBody>
        </p:sp>
        <p:sp>
          <p:nvSpPr>
            <p:cNvPr id="82" name="TextBox 82"/>
            <p:cNvSpPr txBox="1"/>
            <p:nvPr/>
          </p:nvSpPr>
          <p:spPr>
            <a:xfrm>
              <a:off x="4150995" y="6260782"/>
              <a:ext cx="3253211" cy="335280"/>
            </a:xfrm>
            <a:prstGeom prst="rect">
              <a:avLst/>
            </a:prstGeom>
            <a:noFill/>
            <a:ln>
              <a:noFill/>
            </a:ln>
          </p:spPr>
          <p:txBody>
            <a:bodyPr wrap="none" lIns="0" tIns="0" rIns="0" bIns="0" anchor="t" anchorCtr="0">
              <a:spAutoFit/>
            </a:bodyPr>
            <a:lstStyle/>
            <a:p>
              <a:pPr algn="l"/>
              <a:r>
                <a:rPr lang="zh-CN" sz="1650" b="1" dirty="0">
                  <a:solidFill>
                    <a:srgbClr val="C8102E"/>
                  </a:solidFill>
                  <a:latin typeface="Impact"/>
                  <a:ea typeface="SimHei"/>
                  <a:cs typeface="Impact"/>
                </a:rPr>
                <a:t>THE MODERN LLM ERA BEGAN."</a:t>
              </a:r>
            </a:p>
          </p:txBody>
        </p:sp>
      </p:grpSp>
      <p:grpSp>
        <p:nvGrpSpPr>
          <p:cNvPr id="87" name="Group 87"/>
          <p:cNvGrpSpPr/>
          <p:nvPr/>
        </p:nvGrpSpPr>
        <p:grpSpPr>
          <a:xfrm>
            <a:off x="448628" y="6553200"/>
            <a:ext cx="11294744" cy="254794"/>
            <a:chOff x="448628" y="6553200"/>
            <a:chExt cx="11294744" cy="254794"/>
          </a:xfrm>
        </p:grpSpPr>
        <p:sp>
          <p:nvSpPr>
            <p:cNvPr id="84" name="Rectangle 84"/>
            <p:cNvSpPr/>
            <p:nvPr/>
          </p:nvSpPr>
          <p:spPr>
            <a:xfrm>
              <a:off x="457200" y="6553200"/>
              <a:ext cx="11277600" cy="19050"/>
            </a:xfrm>
            <a:prstGeom prst="rect">
              <a:avLst/>
            </a:prstGeom>
            <a:solidFill>
              <a:srgbClr val="C8102E"/>
            </a:solidFill>
            <a:ln>
              <a:noFill/>
            </a:ln>
          </p:spPr>
        </p:sp>
        <p:sp>
          <p:nvSpPr>
            <p:cNvPr id="85" name="TextBox 85"/>
            <p:cNvSpPr txBox="1"/>
            <p:nvPr/>
          </p:nvSpPr>
          <p:spPr>
            <a:xfrm>
              <a:off x="448628" y="6670834"/>
              <a:ext cx="4969564" cy="137160"/>
            </a:xfrm>
            <a:prstGeom prst="rect">
              <a:avLst/>
            </a:prstGeom>
            <a:noFill/>
            <a:ln>
              <a:noFill/>
            </a:ln>
          </p:spPr>
          <p:txBody>
            <a:bodyPr wrap="none" lIns="0" tIns="0" rIns="0" bIns="0" anchor="t" anchorCtr="0">
              <a:spAutoFit/>
            </a:bodyPr>
            <a:lstStyle/>
            <a:p>
              <a:pPr algn="l"/>
              <a:r>
                <a:rPr lang="zh-CN" sz="675" b="1" dirty="0">
                  <a:solidFill>
                    <a:srgbClr val="111111"/>
                  </a:solidFill>
                  <a:latin typeface="Consolas"/>
                  <a:ea typeface="Microsoft YaHei"/>
                  <a:cs typeface="Consolas"/>
                </a:rPr>
                <a:t>SOURCE COUNTERPOINT RESEARCH · GLOBAL LLM ADOPTION AND REVENUE SNAPSHOT · Q1 2026 · N=12 TIER-1/2 LABS</a:t>
              </a:r>
            </a:p>
          </p:txBody>
        </p:sp>
        <p:sp>
          <p:nvSpPr>
            <p:cNvPr id="86" name="TextBox 86"/>
            <p:cNvSpPr txBox="1"/>
            <p:nvPr/>
          </p:nvSpPr>
          <p:spPr>
            <a:xfrm>
              <a:off x="11196961" y="6670834"/>
              <a:ext cx="546411" cy="137160"/>
            </a:xfrm>
            <a:prstGeom prst="rect">
              <a:avLst/>
            </a:prstGeom>
            <a:noFill/>
            <a:ln>
              <a:noFill/>
            </a:ln>
          </p:spPr>
          <p:txBody>
            <a:bodyPr wrap="none" lIns="0" tIns="0" rIns="0" bIns="0" anchor="t" anchorCtr="0">
              <a:spAutoFit/>
            </a:bodyPr>
            <a:lstStyle/>
            <a:p>
              <a:pPr algn="r"/>
              <a:r>
                <a:rPr lang="zh-CN" sz="675" b="1" dirty="0">
                  <a:solidFill>
                    <a:srgbClr val="111111"/>
                  </a:solidFill>
                  <a:latin typeface="Consolas"/>
                  <a:ea typeface="Microsoft YaHei"/>
                  <a:cs typeface="Consolas"/>
                </a:rPr>
                <a:t>PAGE 03 / 10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0"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circle(in)">
                                      <p:cBhvr>
                                        <p:cTn id="7" dur="400"/>
                                        <p:tgtEl>
                                          <p:spTgt spid="16"/>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image">
                                      <p:cBhvr>
                                        <p:cTn id="11" dur="400"/>
                                        <p:tgtEl>
                                          <p:spTgt spid="19"/>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79"/>
                                        </p:tgtEl>
                                        <p:attrNameLst>
                                          <p:attrName>style.visibility</p:attrName>
                                        </p:attrNameLst>
                                      </p:cBhvr>
                                      <p:to>
                                        <p:strVal val="visible"/>
                                      </p:to>
                                    </p:set>
                                    <p:animEffect transition="in" filter="wipe(left)">
                                      <p:cBhvr>
                                        <p:cTn id="19" dur="400"/>
                                        <p:tgtEl>
                                          <p:spTgt spid="79"/>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83"/>
                                        </p:tgtEl>
                                        <p:attrNameLst>
                                          <p:attrName>style.visibility</p:attrName>
                                        </p:attrNameLst>
                                      </p:cBhvr>
                                      <p:to>
                                        <p:strVal val="visible"/>
                                      </p:to>
                                    </p:set>
                                    <p:animEffect transition="in" filter="fade">
                                      <p:cBhvr>
                                        <p:cTn id="23" dur="4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9" grpId="0"/>
      <p:bldP spid="23" grpId="0"/>
      <p:bldP spid="79" grpId="0"/>
      <p:bldP spid="8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solidFill>
            <a:srgbClr val="C8102E"/>
          </a:solidFill>
          <a:ln>
            <a:noFill/>
          </a:ln>
        </p:spPr>
      </p:sp>
      <p:grpSp>
        <p:nvGrpSpPr>
          <p:cNvPr id="8" name="Group 8"/>
          <p:cNvGrpSpPr/>
          <p:nvPr/>
        </p:nvGrpSpPr>
        <p:grpSpPr>
          <a:xfrm>
            <a:off x="447675" y="166688"/>
            <a:ext cx="11296650" cy="166687"/>
            <a:chOff x="447675" y="166688"/>
            <a:chExt cx="11296650" cy="166687"/>
          </a:xfrm>
        </p:grpSpPr>
        <p:sp>
          <p:nvSpPr>
            <p:cNvPr id="4" name="Line 4"/>
            <p:cNvSpPr/>
            <p:nvPr/>
          </p:nvSpPr>
          <p:spPr>
            <a:xfrm>
              <a:off x="457200" y="323850"/>
              <a:ext cx="11277600" cy="9525"/>
            </a:xfrm>
            <a:custGeom>
              <a:avLst/>
              <a:gdLst/>
              <a:ahLst/>
              <a:cxnLst/>
              <a:rect l="l" t="t" r="r" b="b"/>
              <a:pathLst>
                <a:path w="11277600" h="9525">
                  <a:moveTo>
                    <a:pt x="0" y="0"/>
                  </a:moveTo>
                  <a:lnTo>
                    <a:pt x="11277600" y="0"/>
                  </a:lnTo>
                </a:path>
              </a:pathLst>
            </a:custGeom>
            <a:noFill/>
            <a:ln w="9525">
              <a:solidFill>
                <a:srgbClr val="111111"/>
              </a:solidFill>
            </a:ln>
          </p:spPr>
        </p:sp>
        <p:sp>
          <p:nvSpPr>
            <p:cNvPr id="5" name="TextBox 5"/>
            <p:cNvSpPr txBox="1"/>
            <p:nvPr/>
          </p:nvSpPr>
          <p:spPr>
            <a:xfrm>
              <a:off x="447675" y="166688"/>
              <a:ext cx="1909286" cy="152400"/>
            </a:xfrm>
            <a:prstGeom prst="rect">
              <a:avLst/>
            </a:prstGeom>
            <a:noFill/>
            <a:ln>
              <a:noFill/>
            </a:ln>
          </p:spPr>
          <p:txBody>
            <a:bodyPr wrap="none" lIns="0" tIns="0" rIns="0" bIns="0" anchor="t" anchorCtr="0">
              <a:spAutoFit/>
            </a:bodyPr>
            <a:lstStyle/>
            <a:p>
              <a:pPr algn="l"/>
              <a:r>
                <a:rPr lang="zh-CN" sz="750" b="1" dirty="0">
                  <a:solidFill>
                    <a:srgbClr val="111111"/>
                  </a:solidFill>
                  <a:latin typeface="Consolas"/>
                  <a:ea typeface="Microsoft YaHei"/>
                  <a:cs typeface="Consolas"/>
                </a:rPr>
                <a:t>THE AI INDUSTRY 2026 · ANNUAL REPORT</a:t>
              </a:r>
            </a:p>
          </p:txBody>
        </p:sp>
        <p:sp>
          <p:nvSpPr>
            <p:cNvPr id="6" name="TextBox 6"/>
            <p:cNvSpPr txBox="1"/>
            <p:nvPr/>
          </p:nvSpPr>
          <p:spPr>
            <a:xfrm>
              <a:off x="5650671" y="166688"/>
              <a:ext cx="890659" cy="152400"/>
            </a:xfrm>
            <a:prstGeom prst="rect">
              <a:avLst/>
            </a:prstGeom>
            <a:noFill/>
            <a:ln>
              <a:noFill/>
            </a:ln>
          </p:spPr>
          <p:txBody>
            <a:bodyPr wrap="none" lIns="0" tIns="0" rIns="0" bIns="0" anchor="t" anchorCtr="0">
              <a:spAutoFit/>
            </a:bodyPr>
            <a:lstStyle/>
            <a:p>
              <a:pPr algn="ctr"/>
              <a:r>
                <a:rPr lang="zh-CN" sz="750" b="1" dirty="0">
                  <a:solidFill>
                    <a:srgbClr val="111111"/>
                  </a:solidFill>
                  <a:latin typeface="Consolas"/>
                  <a:ea typeface="Microsoft YaHei"/>
                  <a:cs typeface="Consolas"/>
                </a:rPr>
                <a:t>STORY I · SIDEBAR</a:t>
              </a:r>
            </a:p>
          </p:txBody>
        </p:sp>
        <p:sp>
          <p:nvSpPr>
            <p:cNvPr id="7" name="TextBox 7"/>
            <p:cNvSpPr txBox="1"/>
            <p:nvPr/>
          </p:nvSpPr>
          <p:spPr>
            <a:xfrm>
              <a:off x="10454616" y="166688"/>
              <a:ext cx="1289709" cy="152400"/>
            </a:xfrm>
            <a:prstGeom prst="rect">
              <a:avLst/>
            </a:prstGeom>
            <a:noFill/>
            <a:ln>
              <a:noFill/>
            </a:ln>
          </p:spPr>
          <p:txBody>
            <a:bodyPr wrap="none" lIns="0" tIns="0" rIns="0" bIns="0" anchor="t" anchorCtr="0">
              <a:spAutoFit/>
            </a:bodyPr>
            <a:lstStyle/>
            <a:p>
              <a:pPr algn="r"/>
              <a:r>
                <a:rPr lang="zh-CN" sz="750" b="1" dirty="0">
                  <a:solidFill>
                    <a:srgbClr val="111111"/>
                  </a:solidFill>
                  <a:latin typeface="Consolas"/>
                  <a:ea typeface="Microsoft YaHei"/>
                  <a:cs typeface="Consolas"/>
                </a:rPr>
                <a:t>VOL. 1 · NO. 1 · MAY 2026</a:t>
              </a:r>
            </a:p>
          </p:txBody>
        </p:sp>
      </p:grpSp>
      <p:grpSp>
        <p:nvGrpSpPr>
          <p:cNvPr id="13" name="Group 13"/>
          <p:cNvGrpSpPr/>
          <p:nvPr/>
        </p:nvGrpSpPr>
        <p:grpSpPr>
          <a:xfrm>
            <a:off x="415290" y="463391"/>
            <a:ext cx="11319510" cy="1032034"/>
            <a:chOff x="415290" y="463391"/>
            <a:chExt cx="11319510" cy="1032034"/>
          </a:xfrm>
        </p:grpSpPr>
        <p:sp>
          <p:nvSpPr>
            <p:cNvPr id="9" name="TextBox 9"/>
            <p:cNvSpPr txBox="1"/>
            <p:nvPr/>
          </p:nvSpPr>
          <p:spPr>
            <a:xfrm>
              <a:off x="446722" y="463391"/>
              <a:ext cx="1112566" cy="167640"/>
            </a:xfrm>
            <a:prstGeom prst="rect">
              <a:avLst/>
            </a:prstGeom>
            <a:noFill/>
            <a:ln>
              <a:noFill/>
            </a:ln>
          </p:spPr>
          <p:txBody>
            <a:bodyPr wrap="none" lIns="0" tIns="0" rIns="0" bIns="0" anchor="t" anchorCtr="0">
              <a:spAutoFit/>
            </a:bodyPr>
            <a:lstStyle/>
            <a:p>
              <a:pPr algn="l"/>
              <a:r>
                <a:rPr lang="zh-CN" sz="825" b="1" dirty="0">
                  <a:solidFill>
                    <a:srgbClr val="C8102E"/>
                  </a:solidFill>
                  <a:latin typeface="Arial Black"/>
                  <a:ea typeface="SimHei"/>
                  <a:cs typeface="Arial Black"/>
                </a:rPr>
                <a:t>SECTION II · SIDEBAR</a:t>
              </a:r>
            </a:p>
          </p:txBody>
        </p:sp>
        <p:sp>
          <p:nvSpPr>
            <p:cNvPr id="10" name="TextBox 10"/>
            <p:cNvSpPr txBox="1"/>
            <p:nvPr/>
          </p:nvSpPr>
          <p:spPr>
            <a:xfrm>
              <a:off x="415290" y="691515"/>
              <a:ext cx="3433739" cy="670560"/>
            </a:xfrm>
            <a:prstGeom prst="rect">
              <a:avLst/>
            </a:prstGeom>
            <a:noFill/>
            <a:ln>
              <a:noFill/>
            </a:ln>
          </p:spPr>
          <p:txBody>
            <a:bodyPr wrap="none" lIns="0" tIns="0" rIns="0" bIns="0" anchor="t" anchorCtr="0">
              <a:spAutoFit/>
            </a:bodyPr>
            <a:lstStyle/>
            <a:p>
              <a:pPr algn="l"/>
              <a:r>
                <a:rPr lang="zh-CN" sz="3300" b="1" dirty="0">
                  <a:solidFill>
                    <a:srgbClr val="111111"/>
                  </a:solidFill>
                  <a:latin typeface="Impact"/>
                  <a:ea typeface="SimHei"/>
                  <a:cs typeface="Impact"/>
                </a:rPr>
                <a:t>THE ARPU DIVIDE</a:t>
              </a:r>
            </a:p>
          </p:txBody>
        </p:sp>
        <p:sp>
          <p:nvSpPr>
            <p:cNvPr id="11" name="TextBox 11"/>
            <p:cNvSpPr txBox="1"/>
            <p:nvPr/>
          </p:nvSpPr>
          <p:spPr>
            <a:xfrm>
              <a:off x="441960" y="1184910"/>
              <a:ext cx="6271260" cy="243840"/>
            </a:xfrm>
            <a:prstGeom prst="rect">
              <a:avLst/>
            </a:prstGeom>
            <a:noFill/>
            <a:ln>
              <a:noFill/>
            </a:ln>
          </p:spPr>
          <p:txBody>
            <a:bodyPr wrap="none" lIns="0" tIns="0" rIns="0" bIns="0" anchor="t" anchorCtr="0">
              <a:spAutoFit/>
            </a:bodyPr>
            <a:lstStyle/>
            <a:p>
              <a:pPr algn="l"/>
              <a:r>
                <a:rPr lang="zh-CN" sz="1200" i="1" dirty="0">
                  <a:solidFill>
                    <a:srgbClr val="111111"/>
                  </a:solidFill>
                  <a:latin typeface="Times New Roman"/>
                  <a:ea typeface="SimSun"/>
                  <a:cs typeface="Times New Roman"/>
                </a:rPr>
                <a:t xml:space="preserve">Scale ≠ monetisation. Anthropic earns </a:t>
              </a:r>
              <a:r>
                <a:rPr lang="zh-CN" sz="1200" b="1" i="1" dirty="0">
                  <a:solidFill>
                    <a:srgbClr val="C8102E"/>
                  </a:solidFill>
                  <a:latin typeface="Times New Roman"/>
                  <a:ea typeface="SimSun"/>
                  <a:cs typeface="Times New Roman"/>
                </a:rPr>
                <a:t>7.4×</a:t>
              </a:r>
              <a:r>
                <a:rPr lang="zh-CN" sz="1200" i="1" dirty="0">
                  <a:solidFill>
                    <a:srgbClr val="111111"/>
                  </a:solidFill>
                  <a:latin typeface="Times New Roman"/>
                  <a:ea typeface="SimSun"/>
                  <a:cs typeface="Times New Roman"/>
                </a:rPr>
                <a:t xml:space="preserve"> per user vs. OpenAI, </a:t>
              </a:r>
              <a:r>
                <a:rPr lang="zh-CN" sz="1200" b="1" i="1" dirty="0">
                  <a:solidFill>
                    <a:srgbClr val="C8102E"/>
                  </a:solidFill>
                  <a:latin typeface="Times New Roman"/>
                  <a:ea typeface="SimSun"/>
                  <a:cs typeface="Times New Roman"/>
                </a:rPr>
                <a:t>162×</a:t>
              </a:r>
              <a:r>
                <a:rPr lang="zh-CN" sz="1200" i="1" dirty="0">
                  <a:solidFill>
                    <a:srgbClr val="111111"/>
                  </a:solidFill>
                  <a:latin typeface="Times New Roman"/>
                  <a:ea typeface="SimSun"/>
                  <a:cs typeface="Times New Roman"/>
                </a:rPr>
                <a:t xml:space="preserve"> vs. Meta.</a:t>
              </a:r>
            </a:p>
          </p:txBody>
        </p:sp>
        <p:sp>
          <p:nvSpPr>
            <p:cNvPr id="12" name="Line 12"/>
            <p:cNvSpPr/>
            <p:nvPr/>
          </p:nvSpPr>
          <p:spPr>
            <a:xfrm>
              <a:off x="457200" y="1485900"/>
              <a:ext cx="11277600" cy="9525"/>
            </a:xfrm>
            <a:custGeom>
              <a:avLst/>
              <a:gdLst/>
              <a:ahLst/>
              <a:cxnLst/>
              <a:rect l="l" t="t" r="r" b="b"/>
              <a:pathLst>
                <a:path w="11277600" h="9525">
                  <a:moveTo>
                    <a:pt x="0" y="0"/>
                  </a:moveTo>
                  <a:lnTo>
                    <a:pt x="11277600" y="0"/>
                  </a:lnTo>
                </a:path>
              </a:pathLst>
            </a:custGeom>
            <a:noFill/>
            <a:ln w="19050">
              <a:solidFill>
                <a:srgbClr val="111111"/>
              </a:solidFill>
            </a:ln>
          </p:spPr>
        </p:sp>
      </p:grpSp>
      <p:grpSp>
        <p:nvGrpSpPr>
          <p:cNvPr id="21" name="Group 21"/>
          <p:cNvGrpSpPr/>
          <p:nvPr/>
        </p:nvGrpSpPr>
        <p:grpSpPr>
          <a:xfrm>
            <a:off x="514350" y="1695450"/>
            <a:ext cx="11229022" cy="173831"/>
            <a:chOff x="514350" y="1695450"/>
            <a:chExt cx="11229022" cy="173831"/>
          </a:xfrm>
        </p:grpSpPr>
        <p:sp>
          <p:nvSpPr>
            <p:cNvPr id="14" name="Ellipse 14"/>
            <p:cNvSpPr/>
            <p:nvPr/>
          </p:nvSpPr>
          <p:spPr>
            <a:xfrm>
              <a:off x="514350" y="1695450"/>
              <a:ext cx="114300" cy="114300"/>
            </a:xfrm>
            <a:prstGeom prst="ellipse">
              <a:avLst/>
            </a:prstGeom>
            <a:solidFill>
              <a:srgbClr val="111111"/>
            </a:solidFill>
            <a:ln>
              <a:noFill/>
            </a:ln>
          </p:spPr>
        </p:sp>
        <p:sp>
          <p:nvSpPr>
            <p:cNvPr id="15" name="TextBox 15"/>
            <p:cNvSpPr txBox="1"/>
            <p:nvPr/>
          </p:nvSpPr>
          <p:spPr>
            <a:xfrm>
              <a:off x="694372" y="1701641"/>
              <a:ext cx="234657" cy="167640"/>
            </a:xfrm>
            <a:prstGeom prst="rect">
              <a:avLst/>
            </a:prstGeom>
            <a:noFill/>
            <a:ln>
              <a:noFill/>
            </a:ln>
          </p:spPr>
          <p:txBody>
            <a:bodyPr wrap="none" lIns="0" tIns="0" rIns="0" bIns="0" anchor="t" anchorCtr="0">
              <a:spAutoFit/>
            </a:bodyPr>
            <a:lstStyle/>
            <a:p>
              <a:pPr algn="l"/>
              <a:r>
                <a:rPr lang="zh-CN" sz="825" b="1" dirty="0">
                  <a:solidFill>
                    <a:srgbClr val="111111"/>
                  </a:solidFill>
                  <a:latin typeface="Arial Black"/>
                  <a:ea typeface="SimHei"/>
                  <a:cs typeface="Arial Black"/>
                </a:rPr>
                <a:t>MAU</a:t>
              </a:r>
            </a:p>
          </p:txBody>
        </p:sp>
        <p:sp>
          <p:nvSpPr>
            <p:cNvPr id="16" name="TextBox 16"/>
            <p:cNvSpPr txBox="1"/>
            <p:nvPr/>
          </p:nvSpPr>
          <p:spPr>
            <a:xfrm>
              <a:off x="1056322" y="1701641"/>
              <a:ext cx="1302615" cy="167640"/>
            </a:xfrm>
            <a:prstGeom prst="rect">
              <a:avLst/>
            </a:prstGeom>
            <a:noFill/>
            <a:ln>
              <a:noFill/>
            </a:ln>
          </p:spPr>
          <p:txBody>
            <a:bodyPr wrap="none" lIns="0" tIns="0" rIns="0" bIns="0" anchor="t" anchorCtr="0">
              <a:spAutoFit/>
            </a:bodyPr>
            <a:lstStyle/>
            <a:p>
              <a:pPr algn="l"/>
              <a:r>
                <a:rPr lang="zh-CN" sz="825" i="1" dirty="0">
                  <a:solidFill>
                    <a:srgbClr val="3A3A3A"/>
                  </a:solidFill>
                  <a:latin typeface="Times New Roman"/>
                  <a:ea typeface="SimSun"/>
                  <a:cs typeface="Times New Roman"/>
                </a:rPr>
                <a:t>% of largest (Meta ~1 B)</a:t>
              </a:r>
            </a:p>
          </p:txBody>
        </p:sp>
        <p:sp>
          <p:nvSpPr>
            <p:cNvPr id="17" name="Ellipse 17"/>
            <p:cNvSpPr/>
            <p:nvPr/>
          </p:nvSpPr>
          <p:spPr>
            <a:xfrm>
              <a:off x="2990850" y="1695450"/>
              <a:ext cx="114300" cy="114300"/>
            </a:xfrm>
            <a:prstGeom prst="ellipse">
              <a:avLst/>
            </a:prstGeom>
            <a:solidFill>
              <a:srgbClr val="C8102E"/>
            </a:solidFill>
            <a:ln>
              <a:noFill/>
            </a:ln>
          </p:spPr>
        </p:sp>
        <p:sp>
          <p:nvSpPr>
            <p:cNvPr id="18" name="TextBox 18"/>
            <p:cNvSpPr txBox="1"/>
            <p:nvPr/>
          </p:nvSpPr>
          <p:spPr>
            <a:xfrm>
              <a:off x="3170872" y="1701641"/>
              <a:ext cx="275087" cy="167640"/>
            </a:xfrm>
            <a:prstGeom prst="rect">
              <a:avLst/>
            </a:prstGeom>
            <a:noFill/>
            <a:ln>
              <a:noFill/>
            </a:ln>
          </p:spPr>
          <p:txBody>
            <a:bodyPr wrap="none" lIns="0" tIns="0" rIns="0" bIns="0" anchor="t" anchorCtr="0">
              <a:spAutoFit/>
            </a:bodyPr>
            <a:lstStyle/>
            <a:p>
              <a:pPr algn="l"/>
              <a:r>
                <a:rPr lang="zh-CN" sz="825" b="1" dirty="0">
                  <a:solidFill>
                    <a:srgbClr val="C8102E"/>
                  </a:solidFill>
                  <a:latin typeface="Arial Black"/>
                  <a:ea typeface="SimHei"/>
                  <a:cs typeface="Arial Black"/>
                </a:rPr>
                <a:t>ARPU</a:t>
              </a:r>
            </a:p>
          </p:txBody>
        </p:sp>
        <p:sp>
          <p:nvSpPr>
            <p:cNvPr id="19" name="TextBox 19"/>
            <p:cNvSpPr txBox="1"/>
            <p:nvPr/>
          </p:nvSpPr>
          <p:spPr>
            <a:xfrm>
              <a:off x="3609022" y="1701641"/>
              <a:ext cx="1940695" cy="167640"/>
            </a:xfrm>
            <a:prstGeom prst="rect">
              <a:avLst/>
            </a:prstGeom>
            <a:noFill/>
            <a:ln>
              <a:noFill/>
            </a:ln>
          </p:spPr>
          <p:txBody>
            <a:bodyPr wrap="none" lIns="0" tIns="0" rIns="0" bIns="0" anchor="t" anchorCtr="0">
              <a:spAutoFit/>
            </a:bodyPr>
            <a:lstStyle/>
            <a:p>
              <a:pPr algn="l"/>
              <a:r>
                <a:rPr lang="zh-CN" sz="825" i="1" dirty="0">
                  <a:solidFill>
                    <a:srgbClr val="3A3A3A"/>
                  </a:solidFill>
                  <a:latin typeface="Times New Roman"/>
                  <a:ea typeface="SimSun"/>
                  <a:cs typeface="Times New Roman"/>
                </a:rPr>
                <a:t>% of highest (Anthropic $16.20 /mo)</a:t>
              </a:r>
            </a:p>
          </p:txBody>
        </p:sp>
        <p:sp>
          <p:nvSpPr>
            <p:cNvPr id="20" name="TextBox 20"/>
            <p:cNvSpPr txBox="1"/>
            <p:nvPr/>
          </p:nvSpPr>
          <p:spPr>
            <a:xfrm>
              <a:off x="10317551" y="1717834"/>
              <a:ext cx="1425821" cy="137160"/>
            </a:xfrm>
            <a:prstGeom prst="rect">
              <a:avLst/>
            </a:prstGeom>
            <a:noFill/>
            <a:ln>
              <a:noFill/>
            </a:ln>
          </p:spPr>
          <p:txBody>
            <a:bodyPr wrap="none" lIns="0" tIns="0" rIns="0" bIns="0" anchor="t" anchorCtr="0">
              <a:spAutoFit/>
            </a:bodyPr>
            <a:lstStyle/>
            <a:p>
              <a:pPr algn="r"/>
              <a:r>
                <a:rPr lang="zh-CN" sz="675" dirty="0">
                  <a:solidFill>
                    <a:srgbClr val="3A3A3A"/>
                  </a:solidFill>
                  <a:latin typeface="Consolas"/>
                  <a:ea typeface="Microsoft YaHei"/>
                  <a:cs typeface="Consolas"/>
                </a:rPr>
                <a:t>ROWS RANKED BY ARPU DESCENDING</a:t>
              </a:r>
            </a:p>
          </p:txBody>
        </p:sp>
      </p:grpSp>
      <p:grpSp>
        <p:nvGrpSpPr>
          <p:cNvPr id="64" name="Group 64"/>
          <p:cNvGrpSpPr/>
          <p:nvPr/>
        </p:nvGrpSpPr>
        <p:grpSpPr>
          <a:xfrm>
            <a:off x="1073827" y="2095500"/>
            <a:ext cx="10478212" cy="3424238"/>
            <a:chOff x="1073827" y="2095500"/>
            <a:chExt cx="10478212" cy="3424238"/>
          </a:xfrm>
        </p:grpSpPr>
        <p:sp>
          <p:nvSpPr>
            <p:cNvPr id="22" name="Line 22"/>
            <p:cNvSpPr/>
            <p:nvPr/>
          </p:nvSpPr>
          <p:spPr>
            <a:xfrm>
              <a:off x="1905000" y="2095500"/>
              <a:ext cx="9525" cy="3162300"/>
            </a:xfrm>
            <a:custGeom>
              <a:avLst/>
              <a:gdLst/>
              <a:ahLst/>
              <a:cxnLst/>
              <a:rect l="l" t="t" r="r" b="b"/>
              <a:pathLst>
                <a:path w="9525" h="3162300">
                  <a:moveTo>
                    <a:pt x="0" y="0"/>
                  </a:moveTo>
                  <a:lnTo>
                    <a:pt x="0" y="3162300"/>
                  </a:lnTo>
                </a:path>
              </a:pathLst>
            </a:custGeom>
            <a:noFill/>
            <a:ln w="9525">
              <a:solidFill>
                <a:srgbClr val="111111"/>
              </a:solidFill>
            </a:ln>
          </p:spPr>
        </p:sp>
        <p:sp>
          <p:nvSpPr>
            <p:cNvPr id="23" name="Line 23"/>
            <p:cNvSpPr/>
            <p:nvPr/>
          </p:nvSpPr>
          <p:spPr>
            <a:xfrm>
              <a:off x="4286250" y="2095500"/>
              <a:ext cx="9525" cy="3162300"/>
            </a:xfrm>
            <a:custGeom>
              <a:avLst/>
              <a:gdLst/>
              <a:ahLst/>
              <a:cxnLst/>
              <a:rect l="l" t="t" r="r" b="b"/>
              <a:pathLst>
                <a:path w="9525" h="3162300">
                  <a:moveTo>
                    <a:pt x="0" y="0"/>
                  </a:moveTo>
                  <a:lnTo>
                    <a:pt x="0" y="3162300"/>
                  </a:lnTo>
                </a:path>
              </a:pathLst>
            </a:custGeom>
            <a:noFill/>
            <a:ln w="4762">
              <a:solidFill>
                <a:srgbClr val="3A3A3A"/>
              </a:solidFill>
              <a:custDash>
                <a:ds d="400000" sp="600000"/>
              </a:custDash>
            </a:ln>
          </p:spPr>
        </p:sp>
        <p:sp>
          <p:nvSpPr>
            <p:cNvPr id="24" name="Line 24"/>
            <p:cNvSpPr/>
            <p:nvPr/>
          </p:nvSpPr>
          <p:spPr>
            <a:xfrm>
              <a:off x="6667500" y="2095500"/>
              <a:ext cx="9525" cy="3162300"/>
            </a:xfrm>
            <a:custGeom>
              <a:avLst/>
              <a:gdLst/>
              <a:ahLst/>
              <a:cxnLst/>
              <a:rect l="l" t="t" r="r" b="b"/>
              <a:pathLst>
                <a:path w="9525" h="3162300">
                  <a:moveTo>
                    <a:pt x="0" y="0"/>
                  </a:moveTo>
                  <a:lnTo>
                    <a:pt x="0" y="3162300"/>
                  </a:lnTo>
                </a:path>
              </a:pathLst>
            </a:custGeom>
            <a:noFill/>
            <a:ln w="4762">
              <a:solidFill>
                <a:srgbClr val="3A3A3A"/>
              </a:solidFill>
              <a:custDash>
                <a:ds d="400000" sp="600000"/>
              </a:custDash>
            </a:ln>
          </p:spPr>
        </p:sp>
        <p:sp>
          <p:nvSpPr>
            <p:cNvPr id="25" name="Line 25"/>
            <p:cNvSpPr/>
            <p:nvPr/>
          </p:nvSpPr>
          <p:spPr>
            <a:xfrm>
              <a:off x="9048750" y="2095500"/>
              <a:ext cx="9525" cy="3162300"/>
            </a:xfrm>
            <a:custGeom>
              <a:avLst/>
              <a:gdLst/>
              <a:ahLst/>
              <a:cxnLst/>
              <a:rect l="l" t="t" r="r" b="b"/>
              <a:pathLst>
                <a:path w="9525" h="3162300">
                  <a:moveTo>
                    <a:pt x="0" y="0"/>
                  </a:moveTo>
                  <a:lnTo>
                    <a:pt x="0" y="3162300"/>
                  </a:lnTo>
                </a:path>
              </a:pathLst>
            </a:custGeom>
            <a:noFill/>
            <a:ln w="4762">
              <a:solidFill>
                <a:srgbClr val="3A3A3A"/>
              </a:solidFill>
              <a:custDash>
                <a:ds d="400000" sp="600000"/>
              </a:custDash>
            </a:ln>
          </p:spPr>
        </p:sp>
        <p:sp>
          <p:nvSpPr>
            <p:cNvPr id="26" name="Line 26"/>
            <p:cNvSpPr/>
            <p:nvPr/>
          </p:nvSpPr>
          <p:spPr>
            <a:xfrm>
              <a:off x="11430000" y="2095500"/>
              <a:ext cx="9525" cy="3162300"/>
            </a:xfrm>
            <a:custGeom>
              <a:avLst/>
              <a:gdLst/>
              <a:ahLst/>
              <a:cxnLst/>
              <a:rect l="l" t="t" r="r" b="b"/>
              <a:pathLst>
                <a:path w="9525" h="3162300">
                  <a:moveTo>
                    <a:pt x="0" y="0"/>
                  </a:moveTo>
                  <a:lnTo>
                    <a:pt x="0" y="3162300"/>
                  </a:lnTo>
                </a:path>
              </a:pathLst>
            </a:custGeom>
            <a:noFill/>
            <a:ln w="9525">
              <a:solidFill>
                <a:srgbClr val="111111"/>
              </a:solidFill>
            </a:ln>
          </p:spPr>
        </p:sp>
        <p:sp>
          <p:nvSpPr>
            <p:cNvPr id="27" name="Line 27"/>
            <p:cNvSpPr/>
            <p:nvPr/>
          </p:nvSpPr>
          <p:spPr>
            <a:xfrm>
              <a:off x="1905000" y="5257800"/>
              <a:ext cx="9525000" cy="9525"/>
            </a:xfrm>
            <a:custGeom>
              <a:avLst/>
              <a:gdLst/>
              <a:ahLst/>
              <a:cxnLst/>
              <a:rect l="l" t="t" r="r" b="b"/>
              <a:pathLst>
                <a:path w="9525000" h="9525">
                  <a:moveTo>
                    <a:pt x="0" y="0"/>
                  </a:moveTo>
                  <a:lnTo>
                    <a:pt x="9525000" y="0"/>
                  </a:lnTo>
                </a:path>
              </a:pathLst>
            </a:custGeom>
            <a:noFill/>
            <a:ln w="14288">
              <a:solidFill>
                <a:srgbClr val="111111"/>
              </a:solidFill>
            </a:ln>
          </p:spPr>
        </p:sp>
        <p:sp>
          <p:nvSpPr>
            <p:cNvPr id="28" name="TextBox 28"/>
            <p:cNvSpPr txBox="1"/>
            <p:nvPr/>
          </p:nvSpPr>
          <p:spPr>
            <a:xfrm>
              <a:off x="1825466" y="5367338"/>
              <a:ext cx="159068" cy="152400"/>
            </a:xfrm>
            <a:prstGeom prst="rect">
              <a:avLst/>
            </a:prstGeom>
            <a:noFill/>
            <a:ln>
              <a:noFill/>
            </a:ln>
          </p:spPr>
          <p:txBody>
            <a:bodyPr wrap="none" lIns="0" tIns="0" rIns="0" bIns="0" anchor="t" anchorCtr="0">
              <a:spAutoFit/>
            </a:bodyPr>
            <a:lstStyle/>
            <a:p>
              <a:pPr algn="ctr"/>
              <a:r>
                <a:rPr lang="zh-CN" sz="750" dirty="0">
                  <a:solidFill>
                    <a:srgbClr val="3A3A3A"/>
                  </a:solidFill>
                  <a:latin typeface="Consolas"/>
                  <a:ea typeface="Microsoft YaHei"/>
                  <a:cs typeface="Consolas"/>
                </a:rPr>
                <a:t>0 %</a:t>
              </a:r>
            </a:p>
          </p:txBody>
        </p:sp>
        <p:sp>
          <p:nvSpPr>
            <p:cNvPr id="29" name="TextBox 29"/>
            <p:cNvSpPr txBox="1"/>
            <p:nvPr/>
          </p:nvSpPr>
          <p:spPr>
            <a:xfrm>
              <a:off x="4179213" y="5367338"/>
              <a:ext cx="214074" cy="152400"/>
            </a:xfrm>
            <a:prstGeom prst="rect">
              <a:avLst/>
            </a:prstGeom>
            <a:noFill/>
            <a:ln>
              <a:noFill/>
            </a:ln>
          </p:spPr>
          <p:txBody>
            <a:bodyPr wrap="none" lIns="0" tIns="0" rIns="0" bIns="0" anchor="t" anchorCtr="0">
              <a:spAutoFit/>
            </a:bodyPr>
            <a:lstStyle/>
            <a:p>
              <a:pPr algn="ctr"/>
              <a:r>
                <a:rPr lang="zh-CN" sz="750" dirty="0">
                  <a:solidFill>
                    <a:srgbClr val="3A3A3A"/>
                  </a:solidFill>
                  <a:latin typeface="Consolas"/>
                  <a:ea typeface="Microsoft YaHei"/>
                  <a:cs typeface="Consolas"/>
                </a:rPr>
                <a:t>25 %</a:t>
              </a:r>
            </a:p>
          </p:txBody>
        </p:sp>
        <p:sp>
          <p:nvSpPr>
            <p:cNvPr id="30" name="TextBox 30"/>
            <p:cNvSpPr txBox="1"/>
            <p:nvPr/>
          </p:nvSpPr>
          <p:spPr>
            <a:xfrm>
              <a:off x="6560463" y="5367338"/>
              <a:ext cx="214074" cy="152400"/>
            </a:xfrm>
            <a:prstGeom prst="rect">
              <a:avLst/>
            </a:prstGeom>
            <a:noFill/>
            <a:ln>
              <a:noFill/>
            </a:ln>
          </p:spPr>
          <p:txBody>
            <a:bodyPr wrap="none" lIns="0" tIns="0" rIns="0" bIns="0" anchor="t" anchorCtr="0">
              <a:spAutoFit/>
            </a:bodyPr>
            <a:lstStyle/>
            <a:p>
              <a:pPr algn="ctr"/>
              <a:r>
                <a:rPr lang="zh-CN" sz="750" dirty="0">
                  <a:solidFill>
                    <a:srgbClr val="3A3A3A"/>
                  </a:solidFill>
                  <a:latin typeface="Consolas"/>
                  <a:ea typeface="Microsoft YaHei"/>
                  <a:cs typeface="Consolas"/>
                </a:rPr>
                <a:t>50 %</a:t>
              </a:r>
            </a:p>
          </p:txBody>
        </p:sp>
        <p:sp>
          <p:nvSpPr>
            <p:cNvPr id="31" name="TextBox 31"/>
            <p:cNvSpPr txBox="1"/>
            <p:nvPr/>
          </p:nvSpPr>
          <p:spPr>
            <a:xfrm>
              <a:off x="8941713" y="5367338"/>
              <a:ext cx="214074" cy="152400"/>
            </a:xfrm>
            <a:prstGeom prst="rect">
              <a:avLst/>
            </a:prstGeom>
            <a:noFill/>
            <a:ln>
              <a:noFill/>
            </a:ln>
          </p:spPr>
          <p:txBody>
            <a:bodyPr wrap="none" lIns="0" tIns="0" rIns="0" bIns="0" anchor="t" anchorCtr="0">
              <a:spAutoFit/>
            </a:bodyPr>
            <a:lstStyle/>
            <a:p>
              <a:pPr algn="ctr"/>
              <a:r>
                <a:rPr lang="zh-CN" sz="750" dirty="0">
                  <a:solidFill>
                    <a:srgbClr val="3A3A3A"/>
                  </a:solidFill>
                  <a:latin typeface="Consolas"/>
                  <a:ea typeface="Microsoft YaHei"/>
                  <a:cs typeface="Consolas"/>
                </a:rPr>
                <a:t>75 %</a:t>
              </a:r>
            </a:p>
          </p:txBody>
        </p:sp>
        <p:sp>
          <p:nvSpPr>
            <p:cNvPr id="32" name="TextBox 32"/>
            <p:cNvSpPr txBox="1"/>
            <p:nvPr/>
          </p:nvSpPr>
          <p:spPr>
            <a:xfrm>
              <a:off x="11307961" y="5367338"/>
              <a:ext cx="244078" cy="152400"/>
            </a:xfrm>
            <a:prstGeom prst="rect">
              <a:avLst/>
            </a:prstGeom>
            <a:noFill/>
            <a:ln>
              <a:noFill/>
            </a:ln>
          </p:spPr>
          <p:txBody>
            <a:bodyPr wrap="none" lIns="0" tIns="0" rIns="0" bIns="0" anchor="t" anchorCtr="0">
              <a:spAutoFit/>
            </a:bodyPr>
            <a:lstStyle/>
            <a:p>
              <a:pPr algn="ctr"/>
              <a:r>
                <a:rPr lang="zh-CN" sz="750" dirty="0">
                  <a:solidFill>
                    <a:srgbClr val="3A3A3A"/>
                  </a:solidFill>
                  <a:latin typeface="Consolas"/>
                  <a:ea typeface="Microsoft YaHei"/>
                  <a:cs typeface="Consolas"/>
                </a:rPr>
                <a:t>100 %</a:t>
              </a:r>
            </a:p>
          </p:txBody>
        </p:sp>
        <p:grpSp>
          <p:nvGrpSpPr>
            <p:cNvPr id="39" name="Group 39"/>
            <p:cNvGrpSpPr/>
            <p:nvPr/>
          </p:nvGrpSpPr>
          <p:grpSpPr>
            <a:xfrm>
              <a:off x="1128434" y="2128838"/>
              <a:ext cx="10377766" cy="326231"/>
              <a:chOff x="1128434" y="2128838"/>
              <a:chExt cx="10377766" cy="326231"/>
            </a:xfrm>
          </p:grpSpPr>
          <p:sp>
            <p:nvSpPr>
              <p:cNvPr id="33" name="TextBox 33"/>
              <p:cNvSpPr txBox="1"/>
              <p:nvPr/>
            </p:nvSpPr>
            <p:spPr>
              <a:xfrm>
                <a:off x="1128434" y="2256949"/>
                <a:ext cx="693699" cy="198120"/>
              </a:xfrm>
              <a:prstGeom prst="rect">
                <a:avLst/>
              </a:prstGeom>
              <a:noFill/>
              <a:ln>
                <a:noFill/>
              </a:ln>
            </p:spPr>
            <p:txBody>
              <a:bodyPr wrap="none" lIns="0" tIns="0" rIns="0" bIns="0" anchor="t" anchorCtr="0">
                <a:spAutoFit/>
              </a:bodyPr>
              <a:lstStyle/>
              <a:p>
                <a:pPr algn="r"/>
                <a:r>
                  <a:rPr lang="zh-CN" sz="975" b="1" dirty="0">
                    <a:solidFill>
                      <a:srgbClr val="111111"/>
                    </a:solidFill>
                    <a:latin typeface="Arial Black"/>
                    <a:ea typeface="SimHei"/>
                    <a:cs typeface="Arial Black"/>
                  </a:rPr>
                  <a:t>ANTHROPIC</a:t>
                </a:r>
              </a:p>
            </p:txBody>
          </p:sp>
          <p:sp>
            <p:nvSpPr>
              <p:cNvPr id="34" name="Line 34"/>
              <p:cNvSpPr/>
              <p:nvPr/>
            </p:nvSpPr>
            <p:spPr>
              <a:xfrm>
                <a:off x="3181350" y="2324100"/>
                <a:ext cx="8248650" cy="9525"/>
              </a:xfrm>
              <a:custGeom>
                <a:avLst/>
                <a:gdLst/>
                <a:ahLst/>
                <a:cxnLst/>
                <a:rect l="l" t="t" r="r" b="b"/>
                <a:pathLst>
                  <a:path w="8248650" h="9525">
                    <a:moveTo>
                      <a:pt x="0" y="0"/>
                    </a:moveTo>
                    <a:lnTo>
                      <a:pt x="8248650" y="0"/>
                    </a:lnTo>
                  </a:path>
                </a:pathLst>
              </a:custGeom>
              <a:noFill/>
              <a:ln w="14288">
                <a:solidFill>
                  <a:srgbClr val="111111"/>
                </a:solidFill>
              </a:ln>
            </p:spPr>
          </p:sp>
          <p:sp>
            <p:nvSpPr>
              <p:cNvPr id="35" name="Ellipse 35"/>
              <p:cNvSpPr/>
              <p:nvPr/>
            </p:nvSpPr>
            <p:spPr>
              <a:xfrm>
                <a:off x="3105150" y="2247900"/>
                <a:ext cx="152400" cy="152400"/>
              </a:xfrm>
              <a:prstGeom prst="ellipse">
                <a:avLst/>
              </a:prstGeom>
              <a:solidFill>
                <a:srgbClr val="111111"/>
              </a:solidFill>
              <a:ln>
                <a:noFill/>
              </a:ln>
            </p:spPr>
          </p:sp>
          <p:sp>
            <p:nvSpPr>
              <p:cNvPr id="36" name="Ellipse 36"/>
              <p:cNvSpPr/>
              <p:nvPr/>
            </p:nvSpPr>
            <p:spPr>
              <a:xfrm>
                <a:off x="11353800" y="2247900"/>
                <a:ext cx="152400" cy="152400"/>
              </a:xfrm>
              <a:prstGeom prst="ellipse">
                <a:avLst/>
              </a:prstGeom>
              <a:solidFill>
                <a:srgbClr val="C8102E"/>
              </a:solidFill>
              <a:ln>
                <a:noFill/>
              </a:ln>
            </p:spPr>
          </p:sp>
          <p:sp>
            <p:nvSpPr>
              <p:cNvPr id="37" name="TextBox 37"/>
              <p:cNvSpPr txBox="1"/>
              <p:nvPr/>
            </p:nvSpPr>
            <p:spPr>
              <a:xfrm>
                <a:off x="2774394" y="2128838"/>
                <a:ext cx="264081" cy="152400"/>
              </a:xfrm>
              <a:prstGeom prst="rect">
                <a:avLst/>
              </a:prstGeom>
              <a:noFill/>
              <a:ln>
                <a:noFill/>
              </a:ln>
            </p:spPr>
            <p:txBody>
              <a:bodyPr wrap="none" lIns="0" tIns="0" rIns="0" bIns="0" anchor="t" anchorCtr="0">
                <a:spAutoFit/>
              </a:bodyPr>
              <a:lstStyle/>
              <a:p>
                <a:pPr algn="r"/>
                <a:r>
                  <a:rPr lang="zh-CN" sz="750" dirty="0">
                    <a:solidFill>
                      <a:srgbClr val="3A3A3A"/>
                    </a:solidFill>
                    <a:latin typeface="Consolas"/>
                    <a:ea typeface="Microsoft YaHei"/>
                    <a:cs typeface="Consolas"/>
                  </a:rPr>
                  <a:t>134 M</a:t>
                </a:r>
              </a:p>
            </p:txBody>
          </p:sp>
          <p:sp>
            <p:nvSpPr>
              <p:cNvPr id="38" name="TextBox 38"/>
              <p:cNvSpPr txBox="1"/>
              <p:nvPr/>
            </p:nvSpPr>
            <p:spPr>
              <a:xfrm>
                <a:off x="10985885" y="2128838"/>
                <a:ext cx="339340" cy="152400"/>
              </a:xfrm>
              <a:prstGeom prst="rect">
                <a:avLst/>
              </a:prstGeom>
              <a:noFill/>
              <a:ln>
                <a:noFill/>
              </a:ln>
            </p:spPr>
            <p:txBody>
              <a:bodyPr wrap="none" lIns="0" tIns="0" rIns="0" bIns="0" anchor="t" anchorCtr="0">
                <a:spAutoFit/>
              </a:bodyPr>
              <a:lstStyle/>
              <a:p>
                <a:pPr algn="r"/>
                <a:r>
                  <a:rPr lang="zh-CN" sz="750" b="1" dirty="0">
                    <a:solidFill>
                      <a:srgbClr val="C8102E"/>
                    </a:solidFill>
                    <a:latin typeface="Consolas"/>
                    <a:ea typeface="Microsoft YaHei"/>
                    <a:cs typeface="Consolas"/>
                  </a:rPr>
                  <a:t>$16.20</a:t>
                </a:r>
              </a:p>
            </p:txBody>
          </p:sp>
        </p:grpSp>
        <p:grpSp>
          <p:nvGrpSpPr>
            <p:cNvPr id="44" name="Group 44"/>
            <p:cNvGrpSpPr/>
            <p:nvPr/>
          </p:nvGrpSpPr>
          <p:grpSpPr>
            <a:xfrm>
              <a:off x="1073827" y="2738438"/>
              <a:ext cx="4872393" cy="326231"/>
              <a:chOff x="1073827" y="2738438"/>
              <a:chExt cx="4872393" cy="326231"/>
            </a:xfrm>
          </p:grpSpPr>
          <p:sp>
            <p:nvSpPr>
              <p:cNvPr id="40" name="TextBox 40"/>
              <p:cNvSpPr txBox="1"/>
              <p:nvPr/>
            </p:nvSpPr>
            <p:spPr>
              <a:xfrm>
                <a:off x="1073827" y="2866549"/>
                <a:ext cx="748305" cy="198120"/>
              </a:xfrm>
              <a:prstGeom prst="rect">
                <a:avLst/>
              </a:prstGeom>
              <a:noFill/>
              <a:ln>
                <a:noFill/>
              </a:ln>
            </p:spPr>
            <p:txBody>
              <a:bodyPr wrap="none" lIns="0" tIns="0" rIns="0" bIns="0" anchor="t" anchorCtr="0">
                <a:spAutoFit/>
              </a:bodyPr>
              <a:lstStyle/>
              <a:p>
                <a:pPr algn="r"/>
                <a:r>
                  <a:rPr lang="zh-CN" sz="975" b="1" dirty="0">
                    <a:solidFill>
                      <a:srgbClr val="111111"/>
                    </a:solidFill>
                    <a:latin typeface="Arial Black"/>
                    <a:ea typeface="SimHei"/>
                    <a:cs typeface="Arial Black"/>
                  </a:rPr>
                  <a:t>MICROSOFT</a:t>
                </a:r>
              </a:p>
            </p:txBody>
          </p:sp>
          <p:sp>
            <p:nvSpPr>
              <p:cNvPr id="41" name="Ellipse 41"/>
              <p:cNvSpPr/>
              <p:nvPr/>
            </p:nvSpPr>
            <p:spPr>
              <a:xfrm>
                <a:off x="4772025" y="2857500"/>
                <a:ext cx="152400" cy="152400"/>
              </a:xfrm>
              <a:prstGeom prst="ellipse">
                <a:avLst/>
              </a:prstGeom>
              <a:solidFill>
                <a:srgbClr val="C8102E"/>
              </a:solidFill>
              <a:ln>
                <a:noFill/>
              </a:ln>
            </p:spPr>
          </p:sp>
          <p:sp>
            <p:nvSpPr>
              <p:cNvPr id="42" name="TextBox 42"/>
              <p:cNvSpPr txBox="1"/>
              <p:nvPr/>
            </p:nvSpPr>
            <p:spPr>
              <a:xfrm>
                <a:off x="4435614" y="2738438"/>
                <a:ext cx="307836" cy="152400"/>
              </a:xfrm>
              <a:prstGeom prst="rect">
                <a:avLst/>
              </a:prstGeom>
              <a:noFill/>
              <a:ln>
                <a:noFill/>
              </a:ln>
            </p:spPr>
            <p:txBody>
              <a:bodyPr wrap="none" lIns="0" tIns="0" rIns="0" bIns="0" anchor="t" anchorCtr="0">
                <a:spAutoFit/>
              </a:bodyPr>
              <a:lstStyle/>
              <a:p>
                <a:pPr algn="r"/>
                <a:r>
                  <a:rPr lang="zh-CN" sz="750" b="1" dirty="0">
                    <a:solidFill>
                      <a:srgbClr val="C8102E"/>
                    </a:solidFill>
                    <a:latin typeface="Consolas"/>
                    <a:ea typeface="Microsoft YaHei"/>
                    <a:cs typeface="Consolas"/>
                  </a:rPr>
                  <a:t>$5.00</a:t>
                </a:r>
              </a:p>
            </p:txBody>
          </p:sp>
          <p:sp>
            <p:nvSpPr>
              <p:cNvPr id="43" name="TextBox 43"/>
              <p:cNvSpPr txBox="1"/>
              <p:nvPr/>
            </p:nvSpPr>
            <p:spPr>
              <a:xfrm>
                <a:off x="4990148" y="2882741"/>
                <a:ext cx="956072" cy="167640"/>
              </a:xfrm>
              <a:prstGeom prst="rect">
                <a:avLst/>
              </a:prstGeom>
              <a:noFill/>
              <a:ln>
                <a:noFill/>
              </a:ln>
            </p:spPr>
            <p:txBody>
              <a:bodyPr wrap="none" lIns="0" tIns="0" rIns="0" bIns="0" anchor="t" anchorCtr="0">
                <a:spAutoFit/>
              </a:bodyPr>
              <a:lstStyle/>
              <a:p>
                <a:pPr algn="l"/>
                <a:r>
                  <a:rPr lang="zh-CN" sz="825" i="1" dirty="0">
                    <a:solidFill>
                      <a:srgbClr val="3A3A3A"/>
                    </a:solidFill>
                    <a:latin typeface="Times New Roman"/>
                    <a:ea typeface="SimSun"/>
                    <a:cs typeface="Times New Roman"/>
                  </a:rPr>
                  <a:t>MAU not reported</a:t>
                </a:r>
              </a:p>
            </p:txBody>
          </p:sp>
        </p:grpSp>
        <p:grpSp>
          <p:nvGrpSpPr>
            <p:cNvPr id="51" name="Group 51"/>
            <p:cNvGrpSpPr/>
            <p:nvPr/>
          </p:nvGrpSpPr>
          <p:grpSpPr>
            <a:xfrm>
              <a:off x="1353687" y="3348038"/>
              <a:ext cx="9200013" cy="326231"/>
              <a:chOff x="1353687" y="3348038"/>
              <a:chExt cx="9200013" cy="326231"/>
            </a:xfrm>
          </p:grpSpPr>
          <p:sp>
            <p:nvSpPr>
              <p:cNvPr id="45" name="TextBox 45"/>
              <p:cNvSpPr txBox="1"/>
              <p:nvPr/>
            </p:nvSpPr>
            <p:spPr>
              <a:xfrm>
                <a:off x="1353687" y="3476149"/>
                <a:ext cx="468445" cy="198120"/>
              </a:xfrm>
              <a:prstGeom prst="rect">
                <a:avLst/>
              </a:prstGeom>
              <a:noFill/>
              <a:ln>
                <a:noFill/>
              </a:ln>
            </p:spPr>
            <p:txBody>
              <a:bodyPr wrap="none" lIns="0" tIns="0" rIns="0" bIns="0" anchor="t" anchorCtr="0">
                <a:spAutoFit/>
              </a:bodyPr>
              <a:lstStyle/>
              <a:p>
                <a:pPr algn="r"/>
                <a:r>
                  <a:rPr lang="zh-CN" sz="975" b="1" dirty="0">
                    <a:solidFill>
                      <a:srgbClr val="111111"/>
                    </a:solidFill>
                    <a:latin typeface="Arial Black"/>
                    <a:ea typeface="SimHei"/>
                    <a:cs typeface="Arial Black"/>
                  </a:rPr>
                  <a:t>OPENAI</a:t>
                </a:r>
              </a:p>
            </p:txBody>
          </p:sp>
          <p:sp>
            <p:nvSpPr>
              <p:cNvPr id="46" name="Line 46"/>
              <p:cNvSpPr/>
              <p:nvPr/>
            </p:nvSpPr>
            <p:spPr>
              <a:xfrm>
                <a:off x="3200400" y="3543300"/>
                <a:ext cx="7277100" cy="9525"/>
              </a:xfrm>
              <a:custGeom>
                <a:avLst/>
                <a:gdLst/>
                <a:ahLst/>
                <a:cxnLst/>
                <a:rect l="l" t="t" r="r" b="b"/>
                <a:pathLst>
                  <a:path w="7277100" h="9525">
                    <a:moveTo>
                      <a:pt x="0" y="0"/>
                    </a:moveTo>
                    <a:lnTo>
                      <a:pt x="7277100" y="0"/>
                    </a:lnTo>
                  </a:path>
                </a:pathLst>
              </a:custGeom>
              <a:noFill/>
              <a:ln w="14288">
                <a:solidFill>
                  <a:srgbClr val="111111"/>
                </a:solidFill>
              </a:ln>
            </p:spPr>
          </p:sp>
          <p:sp>
            <p:nvSpPr>
              <p:cNvPr id="47" name="Ellipse 47"/>
              <p:cNvSpPr/>
              <p:nvPr/>
            </p:nvSpPr>
            <p:spPr>
              <a:xfrm>
                <a:off x="10401300" y="3467100"/>
                <a:ext cx="152400" cy="152400"/>
              </a:xfrm>
              <a:prstGeom prst="ellipse">
                <a:avLst/>
              </a:prstGeom>
              <a:solidFill>
                <a:srgbClr val="111111"/>
              </a:solidFill>
              <a:ln>
                <a:noFill/>
              </a:ln>
            </p:spPr>
          </p:sp>
          <p:sp>
            <p:nvSpPr>
              <p:cNvPr id="48" name="Ellipse 48"/>
              <p:cNvSpPr/>
              <p:nvPr/>
            </p:nvSpPr>
            <p:spPr>
              <a:xfrm>
                <a:off x="3124200" y="3467100"/>
                <a:ext cx="152400" cy="152400"/>
              </a:xfrm>
              <a:prstGeom prst="ellipse">
                <a:avLst/>
              </a:prstGeom>
              <a:solidFill>
                <a:srgbClr val="C8102E"/>
              </a:solidFill>
              <a:ln>
                <a:noFill/>
              </a:ln>
            </p:spPr>
          </p:sp>
          <p:sp>
            <p:nvSpPr>
              <p:cNvPr id="49" name="TextBox 49"/>
              <p:cNvSpPr txBox="1"/>
              <p:nvPr/>
            </p:nvSpPr>
            <p:spPr>
              <a:xfrm>
                <a:off x="2749689" y="3348038"/>
                <a:ext cx="307836" cy="152400"/>
              </a:xfrm>
              <a:prstGeom prst="rect">
                <a:avLst/>
              </a:prstGeom>
              <a:noFill/>
              <a:ln>
                <a:noFill/>
              </a:ln>
            </p:spPr>
            <p:txBody>
              <a:bodyPr wrap="none" lIns="0" tIns="0" rIns="0" bIns="0" anchor="t" anchorCtr="0">
                <a:spAutoFit/>
              </a:bodyPr>
              <a:lstStyle/>
              <a:p>
                <a:pPr algn="r"/>
                <a:r>
                  <a:rPr lang="zh-CN" sz="750" b="1" dirty="0">
                    <a:solidFill>
                      <a:srgbClr val="C8102E"/>
                    </a:solidFill>
                    <a:latin typeface="Consolas"/>
                    <a:ea typeface="Microsoft YaHei"/>
                    <a:cs typeface="Consolas"/>
                  </a:rPr>
                  <a:t>$2.20</a:t>
                </a:r>
              </a:p>
            </p:txBody>
          </p:sp>
          <p:sp>
            <p:nvSpPr>
              <p:cNvPr id="50" name="TextBox 50"/>
              <p:cNvSpPr txBox="1"/>
              <p:nvPr/>
            </p:nvSpPr>
            <p:spPr>
              <a:xfrm>
                <a:off x="10083641" y="3348038"/>
                <a:ext cx="289084" cy="152400"/>
              </a:xfrm>
              <a:prstGeom prst="rect">
                <a:avLst/>
              </a:prstGeom>
              <a:noFill/>
              <a:ln>
                <a:noFill/>
              </a:ln>
            </p:spPr>
            <p:txBody>
              <a:bodyPr wrap="none" lIns="0" tIns="0" rIns="0" bIns="0" anchor="t" anchorCtr="0">
                <a:spAutoFit/>
              </a:bodyPr>
              <a:lstStyle/>
              <a:p>
                <a:pPr algn="r"/>
                <a:r>
                  <a:rPr lang="zh-CN" sz="750" dirty="0">
                    <a:solidFill>
                      <a:srgbClr val="3A3A3A"/>
                    </a:solidFill>
                    <a:latin typeface="Consolas"/>
                    <a:ea typeface="Microsoft YaHei"/>
                    <a:cs typeface="Consolas"/>
                  </a:rPr>
                  <a:t>900 M</a:t>
                </a:r>
              </a:p>
            </p:txBody>
          </p:sp>
        </p:grpSp>
        <p:grpSp>
          <p:nvGrpSpPr>
            <p:cNvPr id="56" name="Group 56"/>
            <p:cNvGrpSpPr/>
            <p:nvPr/>
          </p:nvGrpSpPr>
          <p:grpSpPr>
            <a:xfrm>
              <a:off x="1292254" y="3957638"/>
              <a:ext cx="2358440" cy="326231"/>
              <a:chOff x="1292254" y="3957638"/>
              <a:chExt cx="2358440" cy="326231"/>
            </a:xfrm>
          </p:grpSpPr>
          <p:sp>
            <p:nvSpPr>
              <p:cNvPr id="52" name="TextBox 52"/>
              <p:cNvSpPr txBox="1"/>
              <p:nvPr/>
            </p:nvSpPr>
            <p:spPr>
              <a:xfrm>
                <a:off x="1292254" y="4085749"/>
                <a:ext cx="529878" cy="198120"/>
              </a:xfrm>
              <a:prstGeom prst="rect">
                <a:avLst/>
              </a:prstGeom>
              <a:noFill/>
              <a:ln>
                <a:noFill/>
              </a:ln>
            </p:spPr>
            <p:txBody>
              <a:bodyPr wrap="none" lIns="0" tIns="0" rIns="0" bIns="0" anchor="t" anchorCtr="0">
                <a:spAutoFit/>
              </a:bodyPr>
              <a:lstStyle/>
              <a:p>
                <a:pPr algn="r"/>
                <a:r>
                  <a:rPr lang="zh-CN" sz="975" b="1" dirty="0">
                    <a:solidFill>
                      <a:srgbClr val="111111"/>
                    </a:solidFill>
                    <a:latin typeface="Arial Black"/>
                    <a:ea typeface="SimHei"/>
                    <a:cs typeface="Arial Black"/>
                  </a:rPr>
                  <a:t>GOOGLE</a:t>
                </a:r>
              </a:p>
            </p:txBody>
          </p:sp>
          <p:sp>
            <p:nvSpPr>
              <p:cNvPr id="53" name="Ellipse 53"/>
              <p:cNvSpPr/>
              <p:nvPr/>
            </p:nvSpPr>
            <p:spPr>
              <a:xfrm>
                <a:off x="2476500" y="4076700"/>
                <a:ext cx="152400" cy="152400"/>
              </a:xfrm>
              <a:prstGeom prst="ellipse">
                <a:avLst/>
              </a:prstGeom>
              <a:solidFill>
                <a:srgbClr val="C8102E"/>
              </a:solidFill>
              <a:ln>
                <a:noFill/>
              </a:ln>
            </p:spPr>
          </p:sp>
          <p:sp>
            <p:nvSpPr>
              <p:cNvPr id="54" name="TextBox 54"/>
              <p:cNvSpPr txBox="1"/>
              <p:nvPr/>
            </p:nvSpPr>
            <p:spPr>
              <a:xfrm>
                <a:off x="2192595" y="3957638"/>
                <a:ext cx="255330" cy="152400"/>
              </a:xfrm>
              <a:prstGeom prst="rect">
                <a:avLst/>
              </a:prstGeom>
              <a:noFill/>
              <a:ln>
                <a:noFill/>
              </a:ln>
            </p:spPr>
            <p:txBody>
              <a:bodyPr wrap="none" lIns="0" tIns="0" rIns="0" bIns="0" anchor="t" anchorCtr="0">
                <a:spAutoFit/>
              </a:bodyPr>
              <a:lstStyle/>
              <a:p>
                <a:pPr algn="r"/>
                <a:r>
                  <a:rPr lang="zh-CN" sz="750" b="1" dirty="0">
                    <a:solidFill>
                      <a:srgbClr val="C8102E"/>
                    </a:solidFill>
                    <a:latin typeface="Consolas"/>
                    <a:ea typeface="Microsoft YaHei"/>
                    <a:cs typeface="Consolas"/>
                  </a:rPr>
                  <a:t>$1.10</a:t>
                </a:r>
              </a:p>
            </p:txBody>
          </p:sp>
          <p:sp>
            <p:nvSpPr>
              <p:cNvPr id="55" name="TextBox 55"/>
              <p:cNvSpPr txBox="1"/>
              <p:nvPr/>
            </p:nvSpPr>
            <p:spPr>
              <a:xfrm>
                <a:off x="2694622" y="4101941"/>
                <a:ext cx="956072" cy="167640"/>
              </a:xfrm>
              <a:prstGeom prst="rect">
                <a:avLst/>
              </a:prstGeom>
              <a:noFill/>
              <a:ln>
                <a:noFill/>
              </a:ln>
            </p:spPr>
            <p:txBody>
              <a:bodyPr wrap="none" lIns="0" tIns="0" rIns="0" bIns="0" anchor="t" anchorCtr="0">
                <a:spAutoFit/>
              </a:bodyPr>
              <a:lstStyle/>
              <a:p>
                <a:pPr algn="l"/>
                <a:r>
                  <a:rPr lang="zh-CN" sz="825" i="1" dirty="0">
                    <a:solidFill>
                      <a:srgbClr val="3A3A3A"/>
                    </a:solidFill>
                    <a:latin typeface="Times New Roman"/>
                    <a:ea typeface="SimSun"/>
                    <a:cs typeface="Times New Roman"/>
                  </a:rPr>
                  <a:t>MAU not reported</a:t>
                </a:r>
              </a:p>
            </p:txBody>
          </p:sp>
        </p:grpSp>
        <p:grpSp>
          <p:nvGrpSpPr>
            <p:cNvPr id="63" name="Group 63"/>
            <p:cNvGrpSpPr/>
            <p:nvPr/>
          </p:nvGrpSpPr>
          <p:grpSpPr>
            <a:xfrm>
              <a:off x="1469727" y="4567238"/>
              <a:ext cx="10036473" cy="326231"/>
              <a:chOff x="1469727" y="4567238"/>
              <a:chExt cx="10036473" cy="326231"/>
            </a:xfrm>
          </p:grpSpPr>
          <p:sp>
            <p:nvSpPr>
              <p:cNvPr id="57" name="TextBox 57"/>
              <p:cNvSpPr txBox="1"/>
              <p:nvPr/>
            </p:nvSpPr>
            <p:spPr>
              <a:xfrm>
                <a:off x="1469727" y="4695349"/>
                <a:ext cx="352406" cy="198120"/>
              </a:xfrm>
              <a:prstGeom prst="rect">
                <a:avLst/>
              </a:prstGeom>
              <a:noFill/>
              <a:ln>
                <a:noFill/>
              </a:ln>
            </p:spPr>
            <p:txBody>
              <a:bodyPr wrap="none" lIns="0" tIns="0" rIns="0" bIns="0" anchor="t" anchorCtr="0">
                <a:spAutoFit/>
              </a:bodyPr>
              <a:lstStyle/>
              <a:p>
                <a:pPr algn="r"/>
                <a:r>
                  <a:rPr lang="zh-CN" sz="975" b="1" dirty="0">
                    <a:solidFill>
                      <a:srgbClr val="111111"/>
                    </a:solidFill>
                    <a:latin typeface="Arial Black"/>
                    <a:ea typeface="SimHei"/>
                    <a:cs typeface="Arial Black"/>
                  </a:rPr>
                  <a:t>META</a:t>
                </a:r>
              </a:p>
            </p:txBody>
          </p:sp>
          <p:sp>
            <p:nvSpPr>
              <p:cNvPr id="58" name="Line 58"/>
              <p:cNvSpPr/>
              <p:nvPr/>
            </p:nvSpPr>
            <p:spPr>
              <a:xfrm>
                <a:off x="1962150" y="4762500"/>
                <a:ext cx="9467850" cy="9525"/>
              </a:xfrm>
              <a:custGeom>
                <a:avLst/>
                <a:gdLst/>
                <a:ahLst/>
                <a:cxnLst/>
                <a:rect l="l" t="t" r="r" b="b"/>
                <a:pathLst>
                  <a:path w="9467850" h="9525">
                    <a:moveTo>
                      <a:pt x="0" y="0"/>
                    </a:moveTo>
                    <a:lnTo>
                      <a:pt x="9467850" y="0"/>
                    </a:lnTo>
                  </a:path>
                </a:pathLst>
              </a:custGeom>
              <a:noFill/>
              <a:ln w="14288">
                <a:solidFill>
                  <a:srgbClr val="111111"/>
                </a:solidFill>
              </a:ln>
            </p:spPr>
          </p:sp>
          <p:sp>
            <p:nvSpPr>
              <p:cNvPr id="59" name="Ellipse 59"/>
              <p:cNvSpPr/>
              <p:nvPr/>
            </p:nvSpPr>
            <p:spPr>
              <a:xfrm>
                <a:off x="11353800" y="4686300"/>
                <a:ext cx="152400" cy="152400"/>
              </a:xfrm>
              <a:prstGeom prst="ellipse">
                <a:avLst/>
              </a:prstGeom>
              <a:solidFill>
                <a:srgbClr val="111111"/>
              </a:solidFill>
              <a:ln>
                <a:noFill/>
              </a:ln>
            </p:spPr>
          </p:sp>
          <p:sp>
            <p:nvSpPr>
              <p:cNvPr id="60" name="Ellipse 60"/>
              <p:cNvSpPr/>
              <p:nvPr/>
            </p:nvSpPr>
            <p:spPr>
              <a:xfrm>
                <a:off x="1885950" y="4686300"/>
                <a:ext cx="152400" cy="152400"/>
              </a:xfrm>
              <a:prstGeom prst="ellipse">
                <a:avLst/>
              </a:prstGeom>
              <a:solidFill>
                <a:srgbClr val="C8102E"/>
              </a:solidFill>
              <a:ln>
                <a:noFill/>
              </a:ln>
            </p:spPr>
          </p:sp>
          <p:sp>
            <p:nvSpPr>
              <p:cNvPr id="61" name="TextBox 61"/>
              <p:cNvSpPr txBox="1"/>
              <p:nvPr/>
            </p:nvSpPr>
            <p:spPr>
              <a:xfrm>
                <a:off x="2143125" y="4567238"/>
                <a:ext cx="281583" cy="152400"/>
              </a:xfrm>
              <a:prstGeom prst="rect">
                <a:avLst/>
              </a:prstGeom>
              <a:noFill/>
              <a:ln>
                <a:noFill/>
              </a:ln>
            </p:spPr>
            <p:txBody>
              <a:bodyPr wrap="none" lIns="0" tIns="0" rIns="0" bIns="0" anchor="t" anchorCtr="0">
                <a:spAutoFit/>
              </a:bodyPr>
              <a:lstStyle/>
              <a:p>
                <a:pPr algn="l"/>
                <a:r>
                  <a:rPr lang="zh-CN" sz="750" b="1" dirty="0">
                    <a:solidFill>
                      <a:srgbClr val="C8102E"/>
                    </a:solidFill>
                    <a:latin typeface="Consolas"/>
                    <a:ea typeface="Microsoft YaHei"/>
                    <a:cs typeface="Consolas"/>
                  </a:rPr>
                  <a:t>$0.10</a:t>
                </a:r>
              </a:p>
            </p:txBody>
          </p:sp>
          <p:sp>
            <p:nvSpPr>
              <p:cNvPr id="62" name="TextBox 62"/>
              <p:cNvSpPr txBox="1"/>
              <p:nvPr/>
            </p:nvSpPr>
            <p:spPr>
              <a:xfrm>
                <a:off x="10896124" y="4567238"/>
                <a:ext cx="429101" cy="152400"/>
              </a:xfrm>
              <a:prstGeom prst="rect">
                <a:avLst/>
              </a:prstGeom>
              <a:noFill/>
              <a:ln>
                <a:noFill/>
              </a:ln>
            </p:spPr>
            <p:txBody>
              <a:bodyPr wrap="none" lIns="0" tIns="0" rIns="0" bIns="0" anchor="t" anchorCtr="0">
                <a:spAutoFit/>
              </a:bodyPr>
              <a:lstStyle/>
              <a:p>
                <a:pPr algn="r"/>
                <a:r>
                  <a:rPr lang="zh-CN" sz="750" dirty="0">
                    <a:solidFill>
                      <a:srgbClr val="3A3A3A"/>
                    </a:solidFill>
                    <a:latin typeface="Consolas"/>
                    <a:ea typeface="Microsoft YaHei"/>
                    <a:cs typeface="Consolas"/>
                  </a:rPr>
                  <a:t>~1,000 M</a:t>
                </a:r>
              </a:p>
            </p:txBody>
          </p:sp>
        </p:grpSp>
      </p:grpSp>
      <p:sp>
        <p:nvSpPr>
          <p:cNvPr id="65" name="Line 65"/>
          <p:cNvSpPr/>
          <p:nvPr/>
        </p:nvSpPr>
        <p:spPr>
          <a:xfrm>
            <a:off x="457200" y="5791200"/>
            <a:ext cx="11277600" cy="9525"/>
          </a:xfrm>
          <a:custGeom>
            <a:avLst/>
            <a:gdLst/>
            <a:ahLst/>
            <a:cxnLst/>
            <a:rect l="l" t="t" r="r" b="b"/>
            <a:pathLst>
              <a:path w="11277600" h="9525">
                <a:moveTo>
                  <a:pt x="0" y="0"/>
                </a:moveTo>
                <a:lnTo>
                  <a:pt x="11277600" y="0"/>
                </a:lnTo>
              </a:path>
            </a:pathLst>
          </a:custGeom>
          <a:noFill/>
          <a:ln w="19050">
            <a:solidFill>
              <a:srgbClr val="111111"/>
            </a:solidFill>
          </a:ln>
        </p:spPr>
      </p:sp>
      <p:grpSp>
        <p:nvGrpSpPr>
          <p:cNvPr id="70" name="Group 70"/>
          <p:cNvGrpSpPr/>
          <p:nvPr/>
        </p:nvGrpSpPr>
        <p:grpSpPr>
          <a:xfrm>
            <a:off x="443865" y="5925502"/>
            <a:ext cx="11290935" cy="625317"/>
            <a:chOff x="443865" y="5925502"/>
            <a:chExt cx="11290935" cy="625317"/>
          </a:xfrm>
        </p:grpSpPr>
        <p:sp>
          <p:nvSpPr>
            <p:cNvPr id="66" name="TextBox 66"/>
            <p:cNvSpPr txBox="1"/>
            <p:nvPr/>
          </p:nvSpPr>
          <p:spPr>
            <a:xfrm>
              <a:off x="443865" y="5925502"/>
              <a:ext cx="1291028" cy="213360"/>
            </a:xfrm>
            <a:prstGeom prst="rect">
              <a:avLst/>
            </a:prstGeom>
            <a:noFill/>
            <a:ln>
              <a:noFill/>
            </a:ln>
          </p:spPr>
          <p:txBody>
            <a:bodyPr wrap="none" lIns="0" tIns="0" rIns="0" bIns="0" anchor="t" anchorCtr="0">
              <a:spAutoFit/>
            </a:bodyPr>
            <a:lstStyle/>
            <a:p>
              <a:pPr algn="l"/>
              <a:r>
                <a:rPr lang="zh-CN" sz="1050" b="1" dirty="0">
                  <a:solidFill>
                    <a:srgbClr val="111111"/>
                  </a:solidFill>
                  <a:latin typeface="Arial Black"/>
                  <a:ea typeface="SimHei"/>
                  <a:cs typeface="Arial Black"/>
                </a:rPr>
                <a:t>READING THE TABLE</a:t>
              </a:r>
            </a:p>
          </p:txBody>
        </p:sp>
        <p:sp>
          <p:nvSpPr>
            <p:cNvPr id="67" name="Line 67"/>
            <p:cNvSpPr/>
            <p:nvPr/>
          </p:nvSpPr>
          <p:spPr>
            <a:xfrm>
              <a:off x="2286000" y="5943600"/>
              <a:ext cx="9448800" cy="9525"/>
            </a:xfrm>
            <a:custGeom>
              <a:avLst/>
              <a:gdLst/>
              <a:ahLst/>
              <a:cxnLst/>
              <a:rect l="l" t="t" r="r" b="b"/>
              <a:pathLst>
                <a:path w="9448800" h="9525">
                  <a:moveTo>
                    <a:pt x="0" y="0"/>
                  </a:moveTo>
                  <a:lnTo>
                    <a:pt x="9448800" y="0"/>
                  </a:lnTo>
                </a:path>
              </a:pathLst>
            </a:custGeom>
            <a:noFill/>
            <a:ln w="4762">
              <a:solidFill>
                <a:srgbClr val="111111"/>
              </a:solidFill>
            </a:ln>
          </p:spPr>
        </p:sp>
        <p:sp>
          <p:nvSpPr>
            <p:cNvPr id="68" name="TextBox 68"/>
            <p:cNvSpPr txBox="1"/>
            <p:nvPr/>
          </p:nvSpPr>
          <p:spPr>
            <a:xfrm>
              <a:off x="444818" y="6181249"/>
              <a:ext cx="8781359" cy="198120"/>
            </a:xfrm>
            <a:prstGeom prst="rect">
              <a:avLst/>
            </a:prstGeom>
            <a:noFill/>
            <a:ln>
              <a:noFill/>
            </a:ln>
          </p:spPr>
          <p:txBody>
            <a:bodyPr wrap="none" lIns="0" tIns="0" rIns="0" bIns="0" anchor="t" anchorCtr="0">
              <a:spAutoFit/>
            </a:bodyPr>
            <a:lstStyle/>
            <a:p>
              <a:pPr algn="l"/>
              <a:r>
                <a:rPr lang="zh-CN" sz="975" dirty="0">
                  <a:solidFill>
                    <a:srgbClr val="111111"/>
                  </a:solidFill>
                  <a:latin typeface="Times New Roman"/>
                  <a:ea typeface="SimSun"/>
                  <a:cs typeface="Times New Roman"/>
                </a:rPr>
                <a:t>The rank-flip at Anthropic and Meta is the headline: Anthropic monetises a 134 M user base 162 times harder than Meta monetises a billion.</a:t>
              </a:r>
            </a:p>
          </p:txBody>
        </p:sp>
        <p:sp>
          <p:nvSpPr>
            <p:cNvPr id="69" name="TextBox 69"/>
            <p:cNvSpPr txBox="1"/>
            <p:nvPr/>
          </p:nvSpPr>
          <p:spPr>
            <a:xfrm>
              <a:off x="444818" y="6352699"/>
              <a:ext cx="9613463" cy="198120"/>
            </a:xfrm>
            <a:prstGeom prst="rect">
              <a:avLst/>
            </a:prstGeom>
            <a:noFill/>
            <a:ln>
              <a:noFill/>
            </a:ln>
          </p:spPr>
          <p:txBody>
            <a:bodyPr wrap="none" lIns="0" tIns="0" rIns="0" bIns="0" anchor="t" anchorCtr="0">
              <a:spAutoFit/>
            </a:bodyPr>
            <a:lstStyle/>
            <a:p>
              <a:pPr algn="l"/>
              <a:r>
                <a:rPr lang="zh-CN" sz="975" dirty="0">
                  <a:solidFill>
                    <a:srgbClr val="111111"/>
                  </a:solidFill>
                  <a:latin typeface="Times New Roman"/>
                  <a:ea typeface="SimSun"/>
                  <a:cs typeface="Times New Roman"/>
                </a:rPr>
                <a:t>Enterprise-API and coding workloads — Anthropic's load-bearing demand — compound faster on per-user terms than free-tier consumer scale ever has.</a:t>
              </a:r>
            </a:p>
          </p:txBody>
        </p:sp>
      </p:grpSp>
      <p:grpSp>
        <p:nvGrpSpPr>
          <p:cNvPr id="74" name="Group 74"/>
          <p:cNvGrpSpPr/>
          <p:nvPr/>
        </p:nvGrpSpPr>
        <p:grpSpPr>
          <a:xfrm>
            <a:off x="448628" y="6553200"/>
            <a:ext cx="11294744" cy="254794"/>
            <a:chOff x="448628" y="6553200"/>
            <a:chExt cx="11294744" cy="254794"/>
          </a:xfrm>
        </p:grpSpPr>
        <p:sp>
          <p:nvSpPr>
            <p:cNvPr id="71" name="Rectangle 71"/>
            <p:cNvSpPr/>
            <p:nvPr/>
          </p:nvSpPr>
          <p:spPr>
            <a:xfrm>
              <a:off x="457200" y="6553200"/>
              <a:ext cx="11277600" cy="19050"/>
            </a:xfrm>
            <a:prstGeom prst="rect">
              <a:avLst/>
            </a:prstGeom>
            <a:solidFill>
              <a:srgbClr val="C8102E"/>
            </a:solidFill>
            <a:ln>
              <a:noFill/>
            </a:ln>
          </p:spPr>
        </p:sp>
        <p:sp>
          <p:nvSpPr>
            <p:cNvPr id="72" name="TextBox 72"/>
            <p:cNvSpPr txBox="1"/>
            <p:nvPr/>
          </p:nvSpPr>
          <p:spPr>
            <a:xfrm>
              <a:off x="448628" y="6670834"/>
              <a:ext cx="5810719" cy="137160"/>
            </a:xfrm>
            <a:prstGeom prst="rect">
              <a:avLst/>
            </a:prstGeom>
            <a:noFill/>
            <a:ln>
              <a:noFill/>
            </a:ln>
          </p:spPr>
          <p:txBody>
            <a:bodyPr wrap="none" lIns="0" tIns="0" rIns="0" bIns="0" anchor="t" anchorCtr="0">
              <a:spAutoFit/>
            </a:bodyPr>
            <a:lstStyle/>
            <a:p>
              <a:pPr algn="l"/>
              <a:r>
                <a:rPr lang="zh-CN" sz="675" b="1" dirty="0">
                  <a:solidFill>
                    <a:srgbClr val="111111"/>
                  </a:solidFill>
                  <a:latin typeface="Consolas"/>
                  <a:ea typeface="Microsoft YaHei"/>
                  <a:cs typeface="Consolas"/>
                </a:rPr>
                <a:t>SOURCE COUNTERPOINT RESEARCH Q1 2026 · THE REGISTER 2026-04-30 · NORMALISATION: MAU PCT OF META; ARPU PCT OF ANTHROPIC</a:t>
              </a:r>
            </a:p>
          </p:txBody>
        </p:sp>
        <p:sp>
          <p:nvSpPr>
            <p:cNvPr id="73" name="TextBox 73"/>
            <p:cNvSpPr txBox="1"/>
            <p:nvPr/>
          </p:nvSpPr>
          <p:spPr>
            <a:xfrm>
              <a:off x="11196961" y="6670834"/>
              <a:ext cx="546411" cy="137160"/>
            </a:xfrm>
            <a:prstGeom prst="rect">
              <a:avLst/>
            </a:prstGeom>
            <a:noFill/>
            <a:ln>
              <a:noFill/>
            </a:ln>
          </p:spPr>
          <p:txBody>
            <a:bodyPr wrap="none" lIns="0" tIns="0" rIns="0" bIns="0" anchor="t" anchorCtr="0">
              <a:spAutoFit/>
            </a:bodyPr>
            <a:lstStyle/>
            <a:p>
              <a:pPr algn="r"/>
              <a:r>
                <a:rPr lang="zh-CN" sz="675" b="1" dirty="0">
                  <a:solidFill>
                    <a:srgbClr val="111111"/>
                  </a:solidFill>
                  <a:latin typeface="Consolas"/>
                  <a:ea typeface="Microsoft YaHei"/>
                  <a:cs typeface="Consolas"/>
                </a:rPr>
                <a:t>PAGE 04 / 10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400"/>
                                        <p:tgtEl>
                                          <p:spTgt spid="21"/>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64"/>
                                        </p:tgtEl>
                                        <p:attrNameLst>
                                          <p:attrName>style.visibility</p:attrName>
                                        </p:attrNameLst>
                                      </p:cBhvr>
                                      <p:to>
                                        <p:strVal val="visible"/>
                                      </p:to>
                                    </p:set>
                                    <p:animEffect transition="in" filter="wipe(left)">
                                      <p:cBhvr>
                                        <p:cTn id="11" dur="400"/>
                                        <p:tgtEl>
                                          <p:spTgt spid="64"/>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70"/>
                                        </p:tgtEl>
                                        <p:attrNameLst>
                                          <p:attrName>style.visibility</p:attrName>
                                        </p:attrNameLst>
                                      </p:cBhvr>
                                      <p:to>
                                        <p:strVal val="visible"/>
                                      </p:to>
                                    </p:set>
                                    <p:animEffect transition="in" filter="wipe(left)">
                                      <p:cBhvr>
                                        <p:cTn id="15" dur="4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64" grpId="0"/>
      <p:bldP spid="7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solidFill>
            <a:srgbClr val="C8102E"/>
          </a:solidFill>
          <a:ln>
            <a:noFill/>
          </a:ln>
        </p:spPr>
      </p:sp>
      <p:grpSp>
        <p:nvGrpSpPr>
          <p:cNvPr id="8" name="Group 8"/>
          <p:cNvGrpSpPr/>
          <p:nvPr/>
        </p:nvGrpSpPr>
        <p:grpSpPr>
          <a:xfrm>
            <a:off x="447675" y="166688"/>
            <a:ext cx="11296650" cy="166687"/>
            <a:chOff x="447675" y="166688"/>
            <a:chExt cx="11296650" cy="166687"/>
          </a:xfrm>
        </p:grpSpPr>
        <p:sp>
          <p:nvSpPr>
            <p:cNvPr id="4" name="Line 4"/>
            <p:cNvSpPr/>
            <p:nvPr/>
          </p:nvSpPr>
          <p:spPr>
            <a:xfrm>
              <a:off x="457200" y="323850"/>
              <a:ext cx="11277600" cy="9525"/>
            </a:xfrm>
            <a:custGeom>
              <a:avLst/>
              <a:gdLst/>
              <a:ahLst/>
              <a:cxnLst/>
              <a:rect l="l" t="t" r="r" b="b"/>
              <a:pathLst>
                <a:path w="11277600" h="9525">
                  <a:moveTo>
                    <a:pt x="0" y="0"/>
                  </a:moveTo>
                  <a:lnTo>
                    <a:pt x="11277600" y="0"/>
                  </a:lnTo>
                </a:path>
              </a:pathLst>
            </a:custGeom>
            <a:noFill/>
            <a:ln w="9525">
              <a:solidFill>
                <a:srgbClr val="111111"/>
              </a:solidFill>
            </a:ln>
          </p:spPr>
        </p:sp>
        <p:sp>
          <p:nvSpPr>
            <p:cNvPr id="5" name="TextBox 5"/>
            <p:cNvSpPr txBox="1"/>
            <p:nvPr/>
          </p:nvSpPr>
          <p:spPr>
            <a:xfrm>
              <a:off x="447675" y="166688"/>
              <a:ext cx="1909286" cy="152400"/>
            </a:xfrm>
            <a:prstGeom prst="rect">
              <a:avLst/>
            </a:prstGeom>
            <a:noFill/>
            <a:ln>
              <a:noFill/>
            </a:ln>
          </p:spPr>
          <p:txBody>
            <a:bodyPr wrap="none" lIns="0" tIns="0" rIns="0" bIns="0" anchor="t" anchorCtr="0">
              <a:spAutoFit/>
            </a:bodyPr>
            <a:lstStyle/>
            <a:p>
              <a:pPr algn="l"/>
              <a:r>
                <a:rPr lang="zh-CN" sz="750" b="1" dirty="0">
                  <a:solidFill>
                    <a:srgbClr val="111111"/>
                  </a:solidFill>
                  <a:latin typeface="Consolas"/>
                  <a:ea typeface="Microsoft YaHei"/>
                  <a:cs typeface="Consolas"/>
                </a:rPr>
                <a:t>THE AI INDUSTRY 2026 · ANNUAL REPORT</a:t>
              </a:r>
            </a:p>
          </p:txBody>
        </p:sp>
        <p:sp>
          <p:nvSpPr>
            <p:cNvPr id="6" name="TextBox 6"/>
            <p:cNvSpPr txBox="1"/>
            <p:nvPr/>
          </p:nvSpPr>
          <p:spPr>
            <a:xfrm>
              <a:off x="5356634" y="166688"/>
              <a:ext cx="1478732" cy="152400"/>
            </a:xfrm>
            <a:prstGeom prst="rect">
              <a:avLst/>
            </a:prstGeom>
            <a:noFill/>
            <a:ln>
              <a:noFill/>
            </a:ln>
          </p:spPr>
          <p:txBody>
            <a:bodyPr wrap="none" lIns="0" tIns="0" rIns="0" bIns="0" anchor="t" anchorCtr="0">
              <a:spAutoFit/>
            </a:bodyPr>
            <a:lstStyle/>
            <a:p>
              <a:pPr algn="ctr"/>
              <a:r>
                <a:rPr lang="zh-CN" sz="750" b="1" dirty="0">
                  <a:solidFill>
                    <a:srgbClr val="111111"/>
                  </a:solidFill>
                  <a:latin typeface="Consolas"/>
                  <a:ea typeface="Microsoft YaHei"/>
                  <a:cs typeface="Consolas"/>
                </a:rPr>
                <a:t>STORY II · FRONTIER COMPUTE</a:t>
              </a:r>
            </a:p>
          </p:txBody>
        </p:sp>
        <p:sp>
          <p:nvSpPr>
            <p:cNvPr id="7" name="TextBox 7"/>
            <p:cNvSpPr txBox="1"/>
            <p:nvPr/>
          </p:nvSpPr>
          <p:spPr>
            <a:xfrm>
              <a:off x="10454616" y="166688"/>
              <a:ext cx="1289709" cy="152400"/>
            </a:xfrm>
            <a:prstGeom prst="rect">
              <a:avLst/>
            </a:prstGeom>
            <a:noFill/>
            <a:ln>
              <a:noFill/>
            </a:ln>
          </p:spPr>
          <p:txBody>
            <a:bodyPr wrap="none" lIns="0" tIns="0" rIns="0" bIns="0" anchor="t" anchorCtr="0">
              <a:spAutoFit/>
            </a:bodyPr>
            <a:lstStyle/>
            <a:p>
              <a:pPr algn="r"/>
              <a:r>
                <a:rPr lang="zh-CN" sz="750" b="1" dirty="0">
                  <a:solidFill>
                    <a:srgbClr val="111111"/>
                  </a:solidFill>
                  <a:latin typeface="Consolas"/>
                  <a:ea typeface="Microsoft YaHei"/>
                  <a:cs typeface="Consolas"/>
                </a:rPr>
                <a:t>VOL. 1 · NO. 1 · MAY 2026</a:t>
              </a:r>
            </a:p>
          </p:txBody>
        </p:sp>
      </p:grpSp>
      <p:grpSp>
        <p:nvGrpSpPr>
          <p:cNvPr id="13" name="Group 13"/>
          <p:cNvGrpSpPr/>
          <p:nvPr/>
        </p:nvGrpSpPr>
        <p:grpSpPr>
          <a:xfrm>
            <a:off x="415290" y="463391"/>
            <a:ext cx="11319510" cy="1032034"/>
            <a:chOff x="415290" y="463391"/>
            <a:chExt cx="11319510" cy="1032034"/>
          </a:xfrm>
        </p:grpSpPr>
        <p:sp>
          <p:nvSpPr>
            <p:cNvPr id="9" name="TextBox 9"/>
            <p:cNvSpPr txBox="1"/>
            <p:nvPr/>
          </p:nvSpPr>
          <p:spPr>
            <a:xfrm>
              <a:off x="446722" y="463391"/>
              <a:ext cx="1176099" cy="167640"/>
            </a:xfrm>
            <a:prstGeom prst="rect">
              <a:avLst/>
            </a:prstGeom>
            <a:noFill/>
            <a:ln>
              <a:noFill/>
            </a:ln>
          </p:spPr>
          <p:txBody>
            <a:bodyPr wrap="none" lIns="0" tIns="0" rIns="0" bIns="0" anchor="t" anchorCtr="0">
              <a:spAutoFit/>
            </a:bodyPr>
            <a:lstStyle/>
            <a:p>
              <a:pPr algn="l"/>
              <a:r>
                <a:rPr lang="zh-CN" sz="825" b="1" dirty="0">
                  <a:solidFill>
                    <a:srgbClr val="C8102E"/>
                  </a:solidFill>
                  <a:latin typeface="Arial Black"/>
                  <a:ea typeface="SimHei"/>
                  <a:cs typeface="Arial Black"/>
                </a:rPr>
                <a:t>SECTION III · STORY II</a:t>
              </a:r>
            </a:p>
          </p:txBody>
        </p:sp>
        <p:sp>
          <p:nvSpPr>
            <p:cNvPr id="10" name="TextBox 10"/>
            <p:cNvSpPr txBox="1"/>
            <p:nvPr/>
          </p:nvSpPr>
          <p:spPr>
            <a:xfrm>
              <a:off x="415290" y="691515"/>
              <a:ext cx="6090571" cy="670560"/>
            </a:xfrm>
            <a:prstGeom prst="rect">
              <a:avLst/>
            </a:prstGeom>
            <a:noFill/>
            <a:ln>
              <a:noFill/>
            </a:ln>
          </p:spPr>
          <p:txBody>
            <a:bodyPr wrap="none" lIns="0" tIns="0" rIns="0" bIns="0" anchor="t" anchorCtr="0">
              <a:spAutoFit/>
            </a:bodyPr>
            <a:lstStyle/>
            <a:p>
              <a:pPr algn="l"/>
              <a:r>
                <a:rPr lang="zh-CN" sz="3300" b="1" dirty="0">
                  <a:solidFill>
                    <a:srgbClr val="111111"/>
                  </a:solidFill>
                  <a:latin typeface="Impact"/>
                  <a:ea typeface="SimHei"/>
                  <a:cs typeface="Impact"/>
                </a:rPr>
                <a:t>PAST THE HALF-BILLION LINE</a:t>
              </a:r>
            </a:p>
          </p:txBody>
        </p:sp>
        <p:sp>
          <p:nvSpPr>
            <p:cNvPr id="11" name="TextBox 11"/>
            <p:cNvSpPr txBox="1"/>
            <p:nvPr/>
          </p:nvSpPr>
          <p:spPr>
            <a:xfrm>
              <a:off x="441960" y="1184910"/>
              <a:ext cx="7271385" cy="243840"/>
            </a:xfrm>
            <a:prstGeom prst="rect">
              <a:avLst/>
            </a:prstGeom>
            <a:noFill/>
            <a:ln>
              <a:noFill/>
            </a:ln>
          </p:spPr>
          <p:txBody>
            <a:bodyPr wrap="none" lIns="0" tIns="0" rIns="0" bIns="0" anchor="t" anchorCtr="0">
              <a:spAutoFit/>
            </a:bodyPr>
            <a:lstStyle/>
            <a:p>
              <a:pPr algn="l"/>
              <a:r>
                <a:rPr lang="zh-CN" sz="1200" i="1" dirty="0">
                  <a:solidFill>
                    <a:srgbClr val="111111"/>
                  </a:solidFill>
                  <a:latin typeface="Times New Roman"/>
                  <a:ea typeface="SimSun"/>
                  <a:cs typeface="Times New Roman"/>
                </a:rPr>
                <a:t xml:space="preserve">Frontier 2026 runs land between </a:t>
              </a:r>
              <a:r>
                <a:rPr lang="zh-CN" sz="1200" b="1" i="1" dirty="0">
                  <a:solidFill>
                    <a:srgbClr val="C8102E"/>
                  </a:solidFill>
                  <a:latin typeface="Times New Roman"/>
                  <a:ea typeface="SimSun"/>
                  <a:cs typeface="Times New Roman"/>
                </a:rPr>
                <a:t>1 e26</a:t>
              </a:r>
              <a:r>
                <a:rPr lang="zh-CN" sz="1200" i="1" dirty="0">
                  <a:solidFill>
                    <a:srgbClr val="111111"/>
                  </a:solidFill>
                  <a:latin typeface="Times New Roman"/>
                  <a:ea typeface="SimSun"/>
                  <a:cs typeface="Times New Roman"/>
                </a:rPr>
                <a:t xml:space="preserve"> and </a:t>
              </a:r>
              <a:r>
                <a:rPr lang="zh-CN" sz="1200" b="1" i="1" dirty="0">
                  <a:solidFill>
                    <a:srgbClr val="C8102E"/>
                  </a:solidFill>
                  <a:latin typeface="Times New Roman"/>
                  <a:ea typeface="SimSun"/>
                  <a:cs typeface="Times New Roman"/>
                </a:rPr>
                <a:t>1 e27 FLOPs</a:t>
              </a:r>
              <a:r>
                <a:rPr lang="zh-CN" sz="1200" i="1" dirty="0">
                  <a:solidFill>
                    <a:srgbClr val="111111"/>
                  </a:solidFill>
                  <a:latin typeface="Times New Roman"/>
                  <a:ea typeface="SimSun"/>
                  <a:cs typeface="Times New Roman"/>
                </a:rPr>
                <a:t xml:space="preserve">. Late-2027 projection: </a:t>
              </a:r>
              <a:r>
                <a:rPr lang="zh-CN" sz="1200" b="1" i="1" dirty="0">
                  <a:solidFill>
                    <a:srgbClr val="C8102E"/>
                  </a:solidFill>
                  <a:latin typeface="Times New Roman"/>
                  <a:ea typeface="SimSun"/>
                  <a:cs typeface="Times New Roman"/>
                </a:rPr>
                <a:t>$1–3 B</a:t>
              </a:r>
              <a:r>
                <a:rPr lang="zh-CN" sz="1200" i="1" dirty="0">
                  <a:solidFill>
                    <a:srgbClr val="111111"/>
                  </a:solidFill>
                  <a:latin typeface="Times New Roman"/>
                  <a:ea typeface="SimSun"/>
                  <a:cs typeface="Times New Roman"/>
                </a:rPr>
                <a:t xml:space="preserve"> per run.</a:t>
              </a:r>
            </a:p>
          </p:txBody>
        </p:sp>
        <p:sp>
          <p:nvSpPr>
            <p:cNvPr id="12" name="Line 12"/>
            <p:cNvSpPr/>
            <p:nvPr/>
          </p:nvSpPr>
          <p:spPr>
            <a:xfrm>
              <a:off x="457200" y="1485900"/>
              <a:ext cx="11277600" cy="9525"/>
            </a:xfrm>
            <a:custGeom>
              <a:avLst/>
              <a:gdLst/>
              <a:ahLst/>
              <a:cxnLst/>
              <a:rect l="l" t="t" r="r" b="b"/>
              <a:pathLst>
                <a:path w="11277600" h="9525">
                  <a:moveTo>
                    <a:pt x="0" y="0"/>
                  </a:moveTo>
                  <a:lnTo>
                    <a:pt x="11277600" y="0"/>
                  </a:lnTo>
                </a:path>
              </a:pathLst>
            </a:custGeom>
            <a:noFill/>
            <a:ln w="19050">
              <a:solidFill>
                <a:srgbClr val="111111"/>
              </a:solidFill>
            </a:ln>
          </p:spPr>
        </p:sp>
      </p:grpSp>
      <p:grpSp>
        <p:nvGrpSpPr>
          <p:cNvPr id="16" name="Group 16"/>
          <p:cNvGrpSpPr/>
          <p:nvPr/>
        </p:nvGrpSpPr>
        <p:grpSpPr>
          <a:xfrm>
            <a:off x="457200" y="1619250"/>
            <a:ext cx="11277600" cy="1752600"/>
            <a:chOff x="457200" y="1619250"/>
            <a:chExt cx="11277600" cy="1752600"/>
          </a:xfrm>
        </p:grpSpPr>
        <p:pic>
          <p:nvPicPr>
            <p:cNvPr id="14" name="Image 14"/>
            <p:cNvPicPr>
              <a:picLocks noChangeAspect="1"/>
            </p:cNvPicPr>
            <p:nvPr/>
          </p:nvPicPr>
          <p:blipFill>
            <a:blip r:embed="rId2"/>
            <a:srcRect l="0" t="31717" r="0" b="31717"/>
            <a:stretch>
              <a:fillRect/>
            </a:stretch>
          </p:blipFill>
          <p:spPr>
            <a:xfrm>
              <a:off x="457200" y="1619250"/>
              <a:ext cx="11277600" cy="1752600"/>
            </a:xfrm>
            <a:prstGeom prst="rect">
              <a:avLst/>
            </a:prstGeom>
          </p:spPr>
        </p:pic>
        <p:sp>
          <p:nvSpPr>
            <p:cNvPr id="15" name="Rectangle 15"/>
            <p:cNvSpPr/>
            <p:nvPr/>
          </p:nvSpPr>
          <p:spPr>
            <a:xfrm>
              <a:off x="457200" y="1619250"/>
              <a:ext cx="11277600" cy="1752600"/>
            </a:xfrm>
            <a:prstGeom prst="rect">
              <a:avLst/>
            </a:prstGeom>
            <a:noFill/>
            <a:ln w="9525">
              <a:solidFill>
                <a:srgbClr val="111111"/>
              </a:solidFill>
            </a:ln>
          </p:spPr>
        </p:sp>
      </p:grpSp>
      <p:grpSp>
        <p:nvGrpSpPr>
          <p:cNvPr id="20" name="Group 20"/>
          <p:cNvGrpSpPr/>
          <p:nvPr/>
        </p:nvGrpSpPr>
        <p:grpSpPr>
          <a:xfrm>
            <a:off x="446722" y="3492341"/>
            <a:ext cx="11298555" cy="174784"/>
            <a:chOff x="446722" y="3492341"/>
            <a:chExt cx="11298555" cy="174784"/>
          </a:xfrm>
        </p:grpSpPr>
        <p:sp>
          <p:nvSpPr>
            <p:cNvPr id="17" name="TextBox 17"/>
            <p:cNvSpPr txBox="1"/>
            <p:nvPr/>
          </p:nvSpPr>
          <p:spPr>
            <a:xfrm>
              <a:off x="446722" y="3492341"/>
              <a:ext cx="1846083" cy="167640"/>
            </a:xfrm>
            <a:prstGeom prst="rect">
              <a:avLst/>
            </a:prstGeom>
            <a:noFill/>
            <a:ln>
              <a:noFill/>
            </a:ln>
          </p:spPr>
          <p:txBody>
            <a:bodyPr wrap="none" lIns="0" tIns="0" rIns="0" bIns="0" anchor="t" anchorCtr="0">
              <a:spAutoFit/>
            </a:bodyPr>
            <a:lstStyle/>
            <a:p>
              <a:pPr algn="l"/>
              <a:r>
                <a:rPr lang="zh-CN" sz="825" b="1" dirty="0">
                  <a:solidFill>
                    <a:srgbClr val="111111"/>
                  </a:solidFill>
                  <a:latin typeface="Arial Black"/>
                  <a:ea typeface="SimHei"/>
                  <a:cs typeface="Arial Black"/>
                </a:rPr>
                <a:t>FIG. 02 · A FRONTIER SERVER HALL</a:t>
              </a:r>
            </a:p>
          </p:txBody>
        </p:sp>
        <p:sp>
          <p:nvSpPr>
            <p:cNvPr id="18" name="TextBox 18"/>
            <p:cNvSpPr txBox="1"/>
            <p:nvPr/>
          </p:nvSpPr>
          <p:spPr>
            <a:xfrm>
              <a:off x="6592181" y="3492341"/>
              <a:ext cx="5153096" cy="167640"/>
            </a:xfrm>
            <a:prstGeom prst="rect">
              <a:avLst/>
            </a:prstGeom>
            <a:noFill/>
            <a:ln>
              <a:noFill/>
            </a:ln>
          </p:spPr>
          <p:txBody>
            <a:bodyPr wrap="none" lIns="0" tIns="0" rIns="0" bIns="0" anchor="t" anchorCtr="0">
              <a:spAutoFit/>
            </a:bodyPr>
            <a:lstStyle/>
            <a:p>
              <a:pPr algn="r"/>
              <a:r>
                <a:rPr lang="zh-CN" sz="825" i="1" dirty="0">
                  <a:solidFill>
                    <a:srgbClr val="3A3A3A"/>
                  </a:solidFill>
                  <a:latin typeface="Times New Roman"/>
                  <a:ea typeface="SimSun"/>
                  <a:cs typeface="Times New Roman"/>
                </a:rPr>
                <a:t>— power and grid interconnect, not chips, are the binding constraint for the late-2027 cohort.</a:t>
              </a:r>
            </a:p>
          </p:txBody>
        </p:sp>
        <p:sp>
          <p:nvSpPr>
            <p:cNvPr id="19" name="Line 19"/>
            <p:cNvSpPr/>
            <p:nvPr/>
          </p:nvSpPr>
          <p:spPr>
            <a:xfrm>
              <a:off x="457200" y="3657600"/>
              <a:ext cx="11277600" cy="9525"/>
            </a:xfrm>
            <a:custGeom>
              <a:avLst/>
              <a:gdLst/>
              <a:ahLst/>
              <a:cxnLst/>
              <a:rect l="l" t="t" r="r" b="b"/>
              <a:pathLst>
                <a:path w="11277600" h="9525">
                  <a:moveTo>
                    <a:pt x="0" y="0"/>
                  </a:moveTo>
                  <a:lnTo>
                    <a:pt x="11277600" y="0"/>
                  </a:lnTo>
                </a:path>
              </a:pathLst>
            </a:custGeom>
            <a:noFill/>
            <a:ln w="4762">
              <a:solidFill>
                <a:srgbClr val="111111"/>
              </a:solidFill>
            </a:ln>
          </p:spPr>
        </p:sp>
      </p:grpSp>
      <p:grpSp>
        <p:nvGrpSpPr>
          <p:cNvPr id="22" name="Group 22"/>
          <p:cNvGrpSpPr/>
          <p:nvPr/>
        </p:nvGrpSpPr>
        <p:grpSpPr>
          <a:xfrm>
            <a:off x="444818" y="3761899"/>
            <a:ext cx="4543480" cy="198120"/>
            <a:chOff x="444818" y="3761899"/>
            <a:chExt cx="4543480" cy="198120"/>
          </a:xfrm>
        </p:grpSpPr>
        <p:sp>
          <p:nvSpPr>
            <p:cNvPr id="21" name="TextBox 21"/>
            <p:cNvSpPr txBox="1"/>
            <p:nvPr/>
          </p:nvSpPr>
          <p:spPr>
            <a:xfrm>
              <a:off x="444818" y="3761899"/>
              <a:ext cx="4543480" cy="198120"/>
            </a:xfrm>
            <a:prstGeom prst="rect">
              <a:avLst/>
            </a:prstGeom>
            <a:noFill/>
            <a:ln>
              <a:noFill/>
            </a:ln>
          </p:spPr>
          <p:txBody>
            <a:bodyPr wrap="none" lIns="0" tIns="0" rIns="0" bIns="0" anchor="t" anchorCtr="0">
              <a:spAutoFit/>
            </a:bodyPr>
            <a:lstStyle/>
            <a:p>
              <a:pPr algn="l"/>
              <a:r>
                <a:rPr lang="zh-CN" sz="975" b="1" dirty="0">
                  <a:solidFill>
                    <a:srgbClr val="111111"/>
                  </a:solidFill>
                  <a:latin typeface="Arial Black"/>
                  <a:ea typeface="SimHei"/>
                  <a:cs typeface="Arial Black"/>
                </a:rPr>
                <a:t>FIG. 03 · TRAINING COST PER FRONTIER RUN · USD MILLIONS · LOG SCALE</a:t>
              </a:r>
            </a:p>
          </p:txBody>
        </p:sp>
      </p:grpSp>
      <p:grpSp>
        <p:nvGrpSpPr>
          <p:cNvPr id="64" name="Group 64"/>
          <p:cNvGrpSpPr/>
          <p:nvPr/>
        </p:nvGrpSpPr>
        <p:grpSpPr>
          <a:xfrm>
            <a:off x="922514" y="3959066"/>
            <a:ext cx="10599283" cy="1953578"/>
            <a:chOff x="922514" y="3959066"/>
            <a:chExt cx="10599283" cy="1953578"/>
          </a:xfrm>
        </p:grpSpPr>
        <p:sp>
          <p:nvSpPr>
            <p:cNvPr id="23" name="Line 23"/>
            <p:cNvSpPr/>
            <p:nvPr/>
          </p:nvSpPr>
          <p:spPr>
            <a:xfrm>
              <a:off x="1333500" y="5524500"/>
              <a:ext cx="9525000" cy="9525"/>
            </a:xfrm>
            <a:custGeom>
              <a:avLst/>
              <a:gdLst/>
              <a:ahLst/>
              <a:cxnLst/>
              <a:rect l="l" t="t" r="r" b="b"/>
              <a:pathLst>
                <a:path w="9525000" h="9525">
                  <a:moveTo>
                    <a:pt x="0" y="0"/>
                  </a:moveTo>
                  <a:lnTo>
                    <a:pt x="9525000" y="0"/>
                  </a:lnTo>
                </a:path>
              </a:pathLst>
            </a:custGeom>
            <a:noFill/>
            <a:ln w="4762">
              <a:solidFill>
                <a:srgbClr val="3A3A3A"/>
              </a:solidFill>
              <a:custDash>
                <a:ds d="400000" sp="600000"/>
              </a:custDash>
            </a:ln>
          </p:spPr>
        </p:sp>
        <p:sp>
          <p:nvSpPr>
            <p:cNvPr id="24" name="Line 24"/>
            <p:cNvSpPr/>
            <p:nvPr/>
          </p:nvSpPr>
          <p:spPr>
            <a:xfrm>
              <a:off x="1333500" y="5295900"/>
              <a:ext cx="9525000" cy="9525"/>
            </a:xfrm>
            <a:custGeom>
              <a:avLst/>
              <a:gdLst/>
              <a:ahLst/>
              <a:cxnLst/>
              <a:rect l="l" t="t" r="r" b="b"/>
              <a:pathLst>
                <a:path w="9525000" h="9525">
                  <a:moveTo>
                    <a:pt x="0" y="0"/>
                  </a:moveTo>
                  <a:lnTo>
                    <a:pt x="9525000" y="0"/>
                  </a:lnTo>
                </a:path>
              </a:pathLst>
            </a:custGeom>
            <a:noFill/>
            <a:ln w="4762">
              <a:solidFill>
                <a:srgbClr val="3A3A3A"/>
              </a:solidFill>
              <a:custDash>
                <a:ds d="400000" sp="600000"/>
              </a:custDash>
            </a:ln>
          </p:spPr>
        </p:sp>
        <p:sp>
          <p:nvSpPr>
            <p:cNvPr id="25" name="Line 25"/>
            <p:cNvSpPr/>
            <p:nvPr/>
          </p:nvSpPr>
          <p:spPr>
            <a:xfrm>
              <a:off x="1333500" y="5067300"/>
              <a:ext cx="9525000" cy="9525"/>
            </a:xfrm>
            <a:custGeom>
              <a:avLst/>
              <a:gdLst/>
              <a:ahLst/>
              <a:cxnLst/>
              <a:rect l="l" t="t" r="r" b="b"/>
              <a:pathLst>
                <a:path w="9525000" h="9525">
                  <a:moveTo>
                    <a:pt x="0" y="0"/>
                  </a:moveTo>
                  <a:lnTo>
                    <a:pt x="9525000" y="0"/>
                  </a:lnTo>
                </a:path>
              </a:pathLst>
            </a:custGeom>
            <a:noFill/>
            <a:ln w="4762">
              <a:solidFill>
                <a:srgbClr val="3A3A3A"/>
              </a:solidFill>
              <a:custDash>
                <a:ds d="400000" sp="600000"/>
              </a:custDash>
            </a:ln>
          </p:spPr>
        </p:sp>
        <p:sp>
          <p:nvSpPr>
            <p:cNvPr id="26" name="Line 26"/>
            <p:cNvSpPr/>
            <p:nvPr/>
          </p:nvSpPr>
          <p:spPr>
            <a:xfrm>
              <a:off x="1333500" y="4762500"/>
              <a:ext cx="9525000" cy="9525"/>
            </a:xfrm>
            <a:custGeom>
              <a:avLst/>
              <a:gdLst/>
              <a:ahLst/>
              <a:cxnLst/>
              <a:rect l="l" t="t" r="r" b="b"/>
              <a:pathLst>
                <a:path w="9525000" h="9525">
                  <a:moveTo>
                    <a:pt x="0" y="0"/>
                  </a:moveTo>
                  <a:lnTo>
                    <a:pt x="9525000" y="0"/>
                  </a:lnTo>
                </a:path>
              </a:pathLst>
            </a:custGeom>
            <a:noFill/>
            <a:ln w="9525">
              <a:solidFill>
                <a:srgbClr val="111111"/>
              </a:solidFill>
            </a:ln>
          </p:spPr>
        </p:sp>
        <p:sp>
          <p:nvSpPr>
            <p:cNvPr id="27" name="Line 27"/>
            <p:cNvSpPr/>
            <p:nvPr/>
          </p:nvSpPr>
          <p:spPr>
            <a:xfrm>
              <a:off x="1333500" y="4533900"/>
              <a:ext cx="9525000" cy="9525"/>
            </a:xfrm>
            <a:custGeom>
              <a:avLst/>
              <a:gdLst/>
              <a:ahLst/>
              <a:cxnLst/>
              <a:rect l="l" t="t" r="r" b="b"/>
              <a:pathLst>
                <a:path w="9525000" h="9525">
                  <a:moveTo>
                    <a:pt x="0" y="0"/>
                  </a:moveTo>
                  <a:lnTo>
                    <a:pt x="9525000" y="0"/>
                  </a:lnTo>
                </a:path>
              </a:pathLst>
            </a:custGeom>
            <a:noFill/>
            <a:ln w="4762">
              <a:solidFill>
                <a:srgbClr val="3A3A3A"/>
              </a:solidFill>
              <a:custDash>
                <a:ds d="400000" sp="600000"/>
              </a:custDash>
            </a:ln>
          </p:spPr>
        </p:sp>
        <p:sp>
          <p:nvSpPr>
            <p:cNvPr id="28" name="Line 28"/>
            <p:cNvSpPr/>
            <p:nvPr/>
          </p:nvSpPr>
          <p:spPr>
            <a:xfrm>
              <a:off x="1333500" y="4171950"/>
              <a:ext cx="9525000" cy="9525"/>
            </a:xfrm>
            <a:custGeom>
              <a:avLst/>
              <a:gdLst/>
              <a:ahLst/>
              <a:cxnLst/>
              <a:rect l="l" t="t" r="r" b="b"/>
              <a:pathLst>
                <a:path w="9525000" h="9525">
                  <a:moveTo>
                    <a:pt x="0" y="0"/>
                  </a:moveTo>
                  <a:lnTo>
                    <a:pt x="9525000" y="0"/>
                  </a:lnTo>
                </a:path>
              </a:pathLst>
            </a:custGeom>
            <a:noFill/>
            <a:ln w="4762">
              <a:solidFill>
                <a:srgbClr val="3A3A3A"/>
              </a:solidFill>
              <a:custDash>
                <a:ds d="400000" sp="600000"/>
              </a:custDash>
            </a:ln>
          </p:spPr>
        </p:sp>
        <p:sp>
          <p:nvSpPr>
            <p:cNvPr id="29" name="TextBox 29"/>
            <p:cNvSpPr txBox="1"/>
            <p:nvPr/>
          </p:nvSpPr>
          <p:spPr>
            <a:xfrm>
              <a:off x="10925175" y="4710112"/>
              <a:ext cx="596622" cy="152400"/>
            </a:xfrm>
            <a:prstGeom prst="rect">
              <a:avLst/>
            </a:prstGeom>
            <a:noFill/>
            <a:ln>
              <a:noFill/>
            </a:ln>
          </p:spPr>
          <p:txBody>
            <a:bodyPr wrap="none" lIns="0" tIns="0" rIns="0" bIns="0" anchor="t" anchorCtr="0">
              <a:spAutoFit/>
            </a:bodyPr>
            <a:lstStyle/>
            <a:p>
              <a:pPr algn="l"/>
              <a:r>
                <a:rPr lang="zh-CN" sz="750" b="1" dirty="0">
                  <a:solidFill>
                    <a:srgbClr val="C8102E"/>
                  </a:solidFill>
                  <a:latin typeface="Arial Black"/>
                  <a:ea typeface="SimHei"/>
                  <a:cs typeface="Arial Black"/>
                </a:rPr>
                <a:t>$500 M LINE</a:t>
              </a:r>
            </a:p>
          </p:txBody>
        </p:sp>
        <p:sp>
          <p:nvSpPr>
            <p:cNvPr id="30" name="TextBox 30"/>
            <p:cNvSpPr txBox="1"/>
            <p:nvPr/>
          </p:nvSpPr>
          <p:spPr>
            <a:xfrm>
              <a:off x="986647" y="5489734"/>
              <a:ext cx="260175" cy="137160"/>
            </a:xfrm>
            <a:prstGeom prst="rect">
              <a:avLst/>
            </a:prstGeom>
            <a:noFill/>
            <a:ln>
              <a:noFill/>
            </a:ln>
          </p:spPr>
          <p:txBody>
            <a:bodyPr wrap="none" lIns="0" tIns="0" rIns="0" bIns="0" anchor="t" anchorCtr="0">
              <a:spAutoFit/>
            </a:bodyPr>
            <a:lstStyle/>
            <a:p>
              <a:pPr algn="r"/>
              <a:r>
                <a:rPr lang="zh-CN" sz="675" dirty="0">
                  <a:solidFill>
                    <a:srgbClr val="3A3A3A"/>
                  </a:solidFill>
                  <a:latin typeface="Consolas"/>
                  <a:ea typeface="Microsoft YaHei"/>
                  <a:cs typeface="Consolas"/>
                </a:rPr>
                <a:t>$50 M</a:t>
              </a:r>
            </a:p>
          </p:txBody>
        </p:sp>
        <p:sp>
          <p:nvSpPr>
            <p:cNvPr id="31" name="TextBox 31"/>
            <p:cNvSpPr txBox="1"/>
            <p:nvPr/>
          </p:nvSpPr>
          <p:spPr>
            <a:xfrm>
              <a:off x="959644" y="5261134"/>
              <a:ext cx="287179" cy="137160"/>
            </a:xfrm>
            <a:prstGeom prst="rect">
              <a:avLst/>
            </a:prstGeom>
            <a:noFill/>
            <a:ln>
              <a:noFill/>
            </a:ln>
          </p:spPr>
          <p:txBody>
            <a:bodyPr wrap="none" lIns="0" tIns="0" rIns="0" bIns="0" anchor="t" anchorCtr="0">
              <a:spAutoFit/>
            </a:bodyPr>
            <a:lstStyle/>
            <a:p>
              <a:pPr algn="r"/>
              <a:r>
                <a:rPr lang="zh-CN" sz="675" dirty="0">
                  <a:solidFill>
                    <a:srgbClr val="3A3A3A"/>
                  </a:solidFill>
                  <a:latin typeface="Consolas"/>
                  <a:ea typeface="Microsoft YaHei"/>
                  <a:cs typeface="Consolas"/>
                </a:rPr>
                <a:t>$100 M</a:t>
              </a:r>
            </a:p>
          </p:txBody>
        </p:sp>
        <p:sp>
          <p:nvSpPr>
            <p:cNvPr id="32" name="TextBox 32"/>
            <p:cNvSpPr txBox="1"/>
            <p:nvPr/>
          </p:nvSpPr>
          <p:spPr>
            <a:xfrm>
              <a:off x="937141" y="5032534"/>
              <a:ext cx="309682" cy="137160"/>
            </a:xfrm>
            <a:prstGeom prst="rect">
              <a:avLst/>
            </a:prstGeom>
            <a:noFill/>
            <a:ln>
              <a:noFill/>
            </a:ln>
          </p:spPr>
          <p:txBody>
            <a:bodyPr wrap="none" lIns="0" tIns="0" rIns="0" bIns="0" anchor="t" anchorCtr="0">
              <a:spAutoFit/>
            </a:bodyPr>
            <a:lstStyle/>
            <a:p>
              <a:pPr algn="r"/>
              <a:r>
                <a:rPr lang="zh-CN" sz="675" dirty="0">
                  <a:solidFill>
                    <a:srgbClr val="3A3A3A"/>
                  </a:solidFill>
                  <a:latin typeface="Consolas"/>
                  <a:ea typeface="Microsoft YaHei"/>
                  <a:cs typeface="Consolas"/>
                </a:rPr>
                <a:t>$200 M</a:t>
              </a:r>
            </a:p>
          </p:txBody>
        </p:sp>
        <p:sp>
          <p:nvSpPr>
            <p:cNvPr id="33" name="TextBox 33"/>
            <p:cNvSpPr txBox="1"/>
            <p:nvPr/>
          </p:nvSpPr>
          <p:spPr>
            <a:xfrm>
              <a:off x="922514" y="4727734"/>
              <a:ext cx="324308" cy="137160"/>
            </a:xfrm>
            <a:prstGeom prst="rect">
              <a:avLst/>
            </a:prstGeom>
            <a:noFill/>
            <a:ln>
              <a:noFill/>
            </a:ln>
          </p:spPr>
          <p:txBody>
            <a:bodyPr wrap="none" lIns="0" tIns="0" rIns="0" bIns="0" anchor="t" anchorCtr="0">
              <a:spAutoFit/>
            </a:bodyPr>
            <a:lstStyle/>
            <a:p>
              <a:pPr algn="r"/>
              <a:r>
                <a:rPr lang="zh-CN" sz="675" b="1" dirty="0">
                  <a:solidFill>
                    <a:srgbClr val="C8102E"/>
                  </a:solidFill>
                  <a:latin typeface="Consolas"/>
                  <a:ea typeface="Microsoft YaHei"/>
                  <a:cs typeface="Consolas"/>
                </a:rPr>
                <a:t>$500 M</a:t>
              </a:r>
            </a:p>
          </p:txBody>
        </p:sp>
        <p:sp>
          <p:nvSpPr>
            <p:cNvPr id="34" name="TextBox 34"/>
            <p:cNvSpPr txBox="1"/>
            <p:nvPr/>
          </p:nvSpPr>
          <p:spPr>
            <a:xfrm>
              <a:off x="1076658" y="4499134"/>
              <a:ext cx="170164" cy="137160"/>
            </a:xfrm>
            <a:prstGeom prst="rect">
              <a:avLst/>
            </a:prstGeom>
            <a:noFill/>
            <a:ln>
              <a:noFill/>
            </a:ln>
          </p:spPr>
          <p:txBody>
            <a:bodyPr wrap="none" lIns="0" tIns="0" rIns="0" bIns="0" anchor="t" anchorCtr="0">
              <a:spAutoFit/>
            </a:bodyPr>
            <a:lstStyle/>
            <a:p>
              <a:pPr algn="r"/>
              <a:r>
                <a:rPr lang="zh-CN" sz="675" dirty="0">
                  <a:solidFill>
                    <a:srgbClr val="3A3A3A"/>
                  </a:solidFill>
                  <a:latin typeface="Consolas"/>
                  <a:ea typeface="Microsoft YaHei"/>
                  <a:cs typeface="Consolas"/>
                </a:rPr>
                <a:t>$1 B</a:t>
              </a:r>
            </a:p>
          </p:txBody>
        </p:sp>
        <p:sp>
          <p:nvSpPr>
            <p:cNvPr id="35" name="TextBox 35"/>
            <p:cNvSpPr txBox="1"/>
            <p:nvPr/>
          </p:nvSpPr>
          <p:spPr>
            <a:xfrm>
              <a:off x="1054156" y="4137184"/>
              <a:ext cx="192667" cy="137160"/>
            </a:xfrm>
            <a:prstGeom prst="rect">
              <a:avLst/>
            </a:prstGeom>
            <a:noFill/>
            <a:ln>
              <a:noFill/>
            </a:ln>
          </p:spPr>
          <p:txBody>
            <a:bodyPr wrap="none" lIns="0" tIns="0" rIns="0" bIns="0" anchor="t" anchorCtr="0">
              <a:spAutoFit/>
            </a:bodyPr>
            <a:lstStyle/>
            <a:p>
              <a:pPr algn="r"/>
              <a:r>
                <a:rPr lang="zh-CN" sz="675" dirty="0">
                  <a:solidFill>
                    <a:srgbClr val="3A3A3A"/>
                  </a:solidFill>
                  <a:latin typeface="Consolas"/>
                  <a:ea typeface="Microsoft YaHei"/>
                  <a:cs typeface="Consolas"/>
                </a:rPr>
                <a:t>$3 B</a:t>
              </a:r>
            </a:p>
          </p:txBody>
        </p:sp>
        <p:sp>
          <p:nvSpPr>
            <p:cNvPr id="36" name="Line 36"/>
            <p:cNvSpPr/>
            <p:nvPr/>
          </p:nvSpPr>
          <p:spPr>
            <a:xfrm>
              <a:off x="1333500" y="4000500"/>
              <a:ext cx="9525" cy="1524000"/>
            </a:xfrm>
            <a:custGeom>
              <a:avLst/>
              <a:gdLst/>
              <a:ahLst/>
              <a:cxnLst/>
              <a:rect l="l" t="t" r="r" b="b"/>
              <a:pathLst>
                <a:path w="9525" h="1524000">
                  <a:moveTo>
                    <a:pt x="0" y="0"/>
                  </a:moveTo>
                  <a:lnTo>
                    <a:pt x="0" y="1524000"/>
                  </a:lnTo>
                </a:path>
              </a:pathLst>
            </a:custGeom>
            <a:noFill/>
            <a:ln w="9525">
              <a:solidFill>
                <a:srgbClr val="111111"/>
              </a:solidFill>
            </a:ln>
          </p:spPr>
        </p:sp>
        <p:sp>
          <p:nvSpPr>
            <p:cNvPr id="37" name="Line 37"/>
            <p:cNvSpPr/>
            <p:nvPr/>
          </p:nvSpPr>
          <p:spPr>
            <a:xfrm>
              <a:off x="1333500" y="5524500"/>
              <a:ext cx="9525000" cy="9525"/>
            </a:xfrm>
            <a:custGeom>
              <a:avLst/>
              <a:gdLst/>
              <a:ahLst/>
              <a:cxnLst/>
              <a:rect l="l" t="t" r="r" b="b"/>
              <a:pathLst>
                <a:path w="9525000" h="9525">
                  <a:moveTo>
                    <a:pt x="0" y="0"/>
                  </a:moveTo>
                  <a:lnTo>
                    <a:pt x="9525000" y="0"/>
                  </a:lnTo>
                </a:path>
              </a:pathLst>
            </a:custGeom>
            <a:noFill/>
            <a:ln w="14288">
              <a:solidFill>
                <a:srgbClr val="111111"/>
              </a:solidFill>
            </a:ln>
          </p:spPr>
        </p:sp>
        <p:sp>
          <p:nvSpPr>
            <p:cNvPr id="38" name="Polyline 38"/>
            <p:cNvSpPr/>
            <p:nvPr/>
          </p:nvSpPr>
          <p:spPr>
            <a:xfrm>
              <a:off x="1333500" y="4876800"/>
              <a:ext cx="7143750" cy="504825"/>
            </a:xfrm>
            <a:custGeom>
              <a:avLst/>
              <a:gdLst/>
              <a:ahLst/>
              <a:cxnLst/>
              <a:rect l="l" t="t" r="r" b="b"/>
              <a:pathLst>
                <a:path w="7143750" h="504825">
                  <a:moveTo>
                    <a:pt x="0" y="504825"/>
                  </a:moveTo>
                  <a:lnTo>
                    <a:pt x="2381250" y="238125"/>
                  </a:lnTo>
                  <a:lnTo>
                    <a:pt x="4762500" y="200025"/>
                  </a:lnTo>
                  <a:lnTo>
                    <a:pt x="7143750" y="0"/>
                  </a:lnTo>
                </a:path>
              </a:pathLst>
            </a:custGeom>
            <a:noFill/>
            <a:ln w="23812" cap="sq">
              <a:solidFill>
                <a:srgbClr val="111111"/>
              </a:solidFill>
              <a:miter lim="800000"/>
            </a:ln>
          </p:spPr>
        </p:sp>
        <p:sp>
          <p:nvSpPr>
            <p:cNvPr id="39" name="Line 39"/>
            <p:cNvSpPr/>
            <p:nvPr/>
          </p:nvSpPr>
          <p:spPr>
            <a:xfrm>
              <a:off x="8477250" y="4305300"/>
              <a:ext cx="2381250" cy="571500"/>
            </a:xfrm>
            <a:custGeom>
              <a:avLst/>
              <a:gdLst/>
              <a:ahLst/>
              <a:cxnLst/>
              <a:rect l="l" t="t" r="r" b="b"/>
              <a:pathLst>
                <a:path w="2381250" h="571500">
                  <a:moveTo>
                    <a:pt x="0" y="571500"/>
                  </a:moveTo>
                  <a:lnTo>
                    <a:pt x="2381250" y="0"/>
                  </a:lnTo>
                </a:path>
              </a:pathLst>
            </a:custGeom>
            <a:noFill/>
            <a:ln w="23812" cap="sq">
              <a:solidFill>
                <a:srgbClr val="C8102E"/>
              </a:solidFill>
              <a:custDash>
                <a:ds d="240000" sp="160000"/>
              </a:custDash>
            </a:ln>
          </p:spPr>
        </p:sp>
        <p:sp>
          <p:nvSpPr>
            <p:cNvPr id="40" name="Line 40"/>
            <p:cNvSpPr/>
            <p:nvPr/>
          </p:nvSpPr>
          <p:spPr>
            <a:xfrm>
              <a:off x="8477250" y="4762500"/>
              <a:ext cx="9525" cy="304800"/>
            </a:xfrm>
            <a:custGeom>
              <a:avLst/>
              <a:gdLst/>
              <a:ahLst/>
              <a:cxnLst/>
              <a:rect l="l" t="t" r="r" b="b"/>
              <a:pathLst>
                <a:path w="9525" h="304800">
                  <a:moveTo>
                    <a:pt x="0" y="0"/>
                  </a:moveTo>
                  <a:lnTo>
                    <a:pt x="0" y="304800"/>
                  </a:lnTo>
                </a:path>
              </a:pathLst>
            </a:custGeom>
            <a:noFill/>
            <a:ln w="57150">
              <a:solidFill>
                <a:srgbClr val="111111"/>
              </a:solidFill>
            </a:ln>
          </p:spPr>
        </p:sp>
        <p:sp>
          <p:nvSpPr>
            <p:cNvPr id="41" name="Line 41"/>
            <p:cNvSpPr/>
            <p:nvPr/>
          </p:nvSpPr>
          <p:spPr>
            <a:xfrm>
              <a:off x="8401050" y="4762500"/>
              <a:ext cx="152400" cy="9525"/>
            </a:xfrm>
            <a:custGeom>
              <a:avLst/>
              <a:gdLst/>
              <a:ahLst/>
              <a:cxnLst/>
              <a:rect l="l" t="t" r="r" b="b"/>
              <a:pathLst>
                <a:path w="152400" h="9525">
                  <a:moveTo>
                    <a:pt x="0" y="0"/>
                  </a:moveTo>
                  <a:lnTo>
                    <a:pt x="152400" y="0"/>
                  </a:lnTo>
                </a:path>
              </a:pathLst>
            </a:custGeom>
            <a:noFill/>
            <a:ln w="19050">
              <a:solidFill>
                <a:srgbClr val="111111"/>
              </a:solidFill>
            </a:ln>
          </p:spPr>
        </p:sp>
        <p:sp>
          <p:nvSpPr>
            <p:cNvPr id="42" name="Line 42"/>
            <p:cNvSpPr/>
            <p:nvPr/>
          </p:nvSpPr>
          <p:spPr>
            <a:xfrm>
              <a:off x="8401050" y="5067300"/>
              <a:ext cx="152400" cy="9525"/>
            </a:xfrm>
            <a:custGeom>
              <a:avLst/>
              <a:gdLst/>
              <a:ahLst/>
              <a:cxnLst/>
              <a:rect l="l" t="t" r="r" b="b"/>
              <a:pathLst>
                <a:path w="152400" h="9525">
                  <a:moveTo>
                    <a:pt x="0" y="0"/>
                  </a:moveTo>
                  <a:lnTo>
                    <a:pt x="152400" y="0"/>
                  </a:lnTo>
                </a:path>
              </a:pathLst>
            </a:custGeom>
            <a:noFill/>
            <a:ln w="19050">
              <a:solidFill>
                <a:srgbClr val="111111"/>
              </a:solidFill>
            </a:ln>
          </p:spPr>
        </p:sp>
        <p:sp>
          <p:nvSpPr>
            <p:cNvPr id="43" name="Line 43"/>
            <p:cNvSpPr/>
            <p:nvPr/>
          </p:nvSpPr>
          <p:spPr>
            <a:xfrm>
              <a:off x="10858500" y="4171950"/>
              <a:ext cx="9525" cy="361950"/>
            </a:xfrm>
            <a:custGeom>
              <a:avLst/>
              <a:gdLst/>
              <a:ahLst/>
              <a:cxnLst/>
              <a:rect l="l" t="t" r="r" b="b"/>
              <a:pathLst>
                <a:path w="9525" h="361950">
                  <a:moveTo>
                    <a:pt x="0" y="0"/>
                  </a:moveTo>
                  <a:lnTo>
                    <a:pt x="0" y="361950"/>
                  </a:lnTo>
                </a:path>
              </a:pathLst>
            </a:custGeom>
            <a:noFill/>
            <a:ln w="57150">
              <a:solidFill>
                <a:srgbClr val="C8102E"/>
              </a:solidFill>
            </a:ln>
          </p:spPr>
        </p:sp>
        <p:sp>
          <p:nvSpPr>
            <p:cNvPr id="44" name="Line 44"/>
            <p:cNvSpPr/>
            <p:nvPr/>
          </p:nvSpPr>
          <p:spPr>
            <a:xfrm>
              <a:off x="10782300" y="4171950"/>
              <a:ext cx="152400" cy="9525"/>
            </a:xfrm>
            <a:custGeom>
              <a:avLst/>
              <a:gdLst/>
              <a:ahLst/>
              <a:cxnLst/>
              <a:rect l="l" t="t" r="r" b="b"/>
              <a:pathLst>
                <a:path w="152400" h="9525">
                  <a:moveTo>
                    <a:pt x="0" y="0"/>
                  </a:moveTo>
                  <a:lnTo>
                    <a:pt x="152400" y="0"/>
                  </a:lnTo>
                </a:path>
              </a:pathLst>
            </a:custGeom>
            <a:noFill/>
            <a:ln w="19050">
              <a:solidFill>
                <a:srgbClr val="C8102E"/>
              </a:solidFill>
            </a:ln>
          </p:spPr>
        </p:sp>
        <p:sp>
          <p:nvSpPr>
            <p:cNvPr id="45" name="Line 45"/>
            <p:cNvSpPr/>
            <p:nvPr/>
          </p:nvSpPr>
          <p:spPr>
            <a:xfrm>
              <a:off x="10782300" y="4533900"/>
              <a:ext cx="152400" cy="9525"/>
            </a:xfrm>
            <a:custGeom>
              <a:avLst/>
              <a:gdLst/>
              <a:ahLst/>
              <a:cxnLst/>
              <a:rect l="l" t="t" r="r" b="b"/>
              <a:pathLst>
                <a:path w="152400" h="9525">
                  <a:moveTo>
                    <a:pt x="0" y="0"/>
                  </a:moveTo>
                  <a:lnTo>
                    <a:pt x="152400" y="0"/>
                  </a:lnTo>
                </a:path>
              </a:pathLst>
            </a:custGeom>
            <a:noFill/>
            <a:ln w="19050">
              <a:solidFill>
                <a:srgbClr val="C8102E"/>
              </a:solidFill>
            </a:ln>
          </p:spPr>
        </p:sp>
        <p:sp>
          <p:nvSpPr>
            <p:cNvPr id="46" name="Ellipse 46"/>
            <p:cNvSpPr/>
            <p:nvPr/>
          </p:nvSpPr>
          <p:spPr>
            <a:xfrm>
              <a:off x="1266825" y="5314950"/>
              <a:ext cx="133350" cy="133350"/>
            </a:xfrm>
            <a:prstGeom prst="ellipse">
              <a:avLst/>
            </a:prstGeom>
            <a:solidFill>
              <a:srgbClr val="111111"/>
            </a:solidFill>
            <a:ln>
              <a:noFill/>
            </a:ln>
          </p:spPr>
        </p:sp>
        <p:sp>
          <p:nvSpPr>
            <p:cNvPr id="47" name="Ellipse 47"/>
            <p:cNvSpPr/>
            <p:nvPr/>
          </p:nvSpPr>
          <p:spPr>
            <a:xfrm>
              <a:off x="3648075" y="5048250"/>
              <a:ext cx="133350" cy="133350"/>
            </a:xfrm>
            <a:prstGeom prst="ellipse">
              <a:avLst/>
            </a:prstGeom>
            <a:solidFill>
              <a:srgbClr val="111111"/>
            </a:solidFill>
            <a:ln>
              <a:noFill/>
            </a:ln>
          </p:spPr>
        </p:sp>
        <p:sp>
          <p:nvSpPr>
            <p:cNvPr id="48" name="Ellipse 48"/>
            <p:cNvSpPr/>
            <p:nvPr/>
          </p:nvSpPr>
          <p:spPr>
            <a:xfrm>
              <a:off x="6029325" y="5010150"/>
              <a:ext cx="133350" cy="133350"/>
            </a:xfrm>
            <a:prstGeom prst="ellipse">
              <a:avLst/>
            </a:prstGeom>
            <a:solidFill>
              <a:srgbClr val="111111"/>
            </a:solidFill>
            <a:ln>
              <a:noFill/>
            </a:ln>
          </p:spPr>
        </p:sp>
        <p:sp>
          <p:nvSpPr>
            <p:cNvPr id="49" name="TextBox 49"/>
            <p:cNvSpPr txBox="1"/>
            <p:nvPr/>
          </p:nvSpPr>
          <p:spPr>
            <a:xfrm>
              <a:off x="1167078" y="5168741"/>
              <a:ext cx="332844" cy="167640"/>
            </a:xfrm>
            <a:prstGeom prst="rect">
              <a:avLst/>
            </a:prstGeom>
            <a:noFill/>
            <a:ln>
              <a:noFill/>
            </a:ln>
          </p:spPr>
          <p:txBody>
            <a:bodyPr wrap="none" lIns="0" tIns="0" rIns="0" bIns="0" anchor="t" anchorCtr="0">
              <a:spAutoFit/>
            </a:bodyPr>
            <a:lstStyle/>
            <a:p>
              <a:pPr algn="ctr"/>
              <a:r>
                <a:rPr lang="zh-CN" sz="825" b="1" dirty="0">
                  <a:solidFill>
                    <a:srgbClr val="111111"/>
                  </a:solidFill>
                  <a:latin typeface="Arial Black"/>
                  <a:ea typeface="SimHei"/>
                  <a:cs typeface="Arial Black"/>
                </a:rPr>
                <a:t>$78 M</a:t>
              </a:r>
            </a:p>
          </p:txBody>
        </p:sp>
        <p:sp>
          <p:nvSpPr>
            <p:cNvPr id="50" name="TextBox 50"/>
            <p:cNvSpPr txBox="1"/>
            <p:nvPr/>
          </p:nvSpPr>
          <p:spPr>
            <a:xfrm>
              <a:off x="3531001" y="4902041"/>
              <a:ext cx="367498" cy="167640"/>
            </a:xfrm>
            <a:prstGeom prst="rect">
              <a:avLst/>
            </a:prstGeom>
            <a:noFill/>
            <a:ln>
              <a:noFill/>
            </a:ln>
          </p:spPr>
          <p:txBody>
            <a:bodyPr wrap="none" lIns="0" tIns="0" rIns="0" bIns="0" anchor="t" anchorCtr="0">
              <a:spAutoFit/>
            </a:bodyPr>
            <a:lstStyle/>
            <a:p>
              <a:pPr algn="ctr"/>
              <a:r>
                <a:rPr lang="zh-CN" sz="825" b="1" dirty="0">
                  <a:solidFill>
                    <a:srgbClr val="111111"/>
                  </a:solidFill>
                  <a:latin typeface="Arial Black"/>
                  <a:ea typeface="SimHei"/>
                  <a:cs typeface="Arial Black"/>
                </a:rPr>
                <a:t>$170 M</a:t>
              </a:r>
            </a:p>
          </p:txBody>
        </p:sp>
        <p:sp>
          <p:nvSpPr>
            <p:cNvPr id="51" name="TextBox 51"/>
            <p:cNvSpPr txBox="1"/>
            <p:nvPr/>
          </p:nvSpPr>
          <p:spPr>
            <a:xfrm>
              <a:off x="5926690" y="4863941"/>
              <a:ext cx="338620" cy="167640"/>
            </a:xfrm>
            <a:prstGeom prst="rect">
              <a:avLst/>
            </a:prstGeom>
            <a:noFill/>
            <a:ln>
              <a:noFill/>
            </a:ln>
          </p:spPr>
          <p:txBody>
            <a:bodyPr wrap="none" lIns="0" tIns="0" rIns="0" bIns="0" anchor="t" anchorCtr="0">
              <a:spAutoFit/>
            </a:bodyPr>
            <a:lstStyle/>
            <a:p>
              <a:pPr algn="ctr"/>
              <a:r>
                <a:rPr lang="zh-CN" sz="825" b="1" dirty="0">
                  <a:solidFill>
                    <a:srgbClr val="111111"/>
                  </a:solidFill>
                  <a:latin typeface="Arial Black"/>
                  <a:ea typeface="SimHei"/>
                  <a:cs typeface="Arial Black"/>
                </a:rPr>
                <a:t>$191 M</a:t>
              </a:r>
            </a:p>
          </p:txBody>
        </p:sp>
        <p:sp>
          <p:nvSpPr>
            <p:cNvPr id="52" name="TextBox 52"/>
            <p:cNvSpPr txBox="1"/>
            <p:nvPr/>
          </p:nvSpPr>
          <p:spPr>
            <a:xfrm>
              <a:off x="8117341" y="4549616"/>
              <a:ext cx="719817" cy="167640"/>
            </a:xfrm>
            <a:prstGeom prst="rect">
              <a:avLst/>
            </a:prstGeom>
            <a:noFill/>
            <a:ln>
              <a:noFill/>
            </a:ln>
          </p:spPr>
          <p:txBody>
            <a:bodyPr wrap="none" lIns="0" tIns="0" rIns="0" bIns="0" anchor="t" anchorCtr="0">
              <a:spAutoFit/>
            </a:bodyPr>
            <a:lstStyle/>
            <a:p>
              <a:pPr algn="ctr"/>
              <a:r>
                <a:rPr lang="zh-CN" sz="825" b="1" dirty="0">
                  <a:solidFill>
                    <a:srgbClr val="111111"/>
                  </a:solidFill>
                  <a:latin typeface="Arial Black"/>
                  <a:ea typeface="SimHei"/>
                  <a:cs typeface="Arial Black"/>
                </a:rPr>
                <a:t>$200 – 500 M</a:t>
              </a:r>
            </a:p>
          </p:txBody>
        </p:sp>
        <p:sp>
          <p:nvSpPr>
            <p:cNvPr id="53" name="TextBox 53"/>
            <p:cNvSpPr txBox="1"/>
            <p:nvPr/>
          </p:nvSpPr>
          <p:spPr>
            <a:xfrm>
              <a:off x="10651648" y="3959066"/>
              <a:ext cx="413704" cy="167640"/>
            </a:xfrm>
            <a:prstGeom prst="rect">
              <a:avLst/>
            </a:prstGeom>
            <a:noFill/>
            <a:ln>
              <a:noFill/>
            </a:ln>
          </p:spPr>
          <p:txBody>
            <a:bodyPr wrap="none" lIns="0" tIns="0" rIns="0" bIns="0" anchor="t" anchorCtr="0">
              <a:spAutoFit/>
            </a:bodyPr>
            <a:lstStyle/>
            <a:p>
              <a:pPr algn="ctr"/>
              <a:r>
                <a:rPr lang="zh-CN" sz="825" b="1" dirty="0">
                  <a:solidFill>
                    <a:srgbClr val="C8102E"/>
                  </a:solidFill>
                  <a:latin typeface="Arial Black"/>
                  <a:ea typeface="SimHei"/>
                  <a:cs typeface="Arial Black"/>
                </a:rPr>
                <a:t>$1 – 3 B</a:t>
              </a:r>
            </a:p>
          </p:txBody>
        </p:sp>
        <p:sp>
          <p:nvSpPr>
            <p:cNvPr id="54" name="TextBox 54"/>
            <p:cNvSpPr txBox="1"/>
            <p:nvPr/>
          </p:nvSpPr>
          <p:spPr>
            <a:xfrm>
              <a:off x="1164190" y="5625941"/>
              <a:ext cx="338620" cy="167640"/>
            </a:xfrm>
            <a:prstGeom prst="rect">
              <a:avLst/>
            </a:prstGeom>
            <a:noFill/>
            <a:ln>
              <a:noFill/>
            </a:ln>
          </p:spPr>
          <p:txBody>
            <a:bodyPr wrap="none" lIns="0" tIns="0" rIns="0" bIns="0" anchor="t" anchorCtr="0">
              <a:spAutoFit/>
            </a:bodyPr>
            <a:lstStyle/>
            <a:p>
              <a:pPr algn="ctr"/>
              <a:r>
                <a:rPr lang="zh-CN" sz="825" b="1" dirty="0">
                  <a:solidFill>
                    <a:srgbClr val="111111"/>
                  </a:solidFill>
                  <a:latin typeface="Arial Black"/>
                  <a:ea typeface="SimHei"/>
                  <a:cs typeface="Arial Black"/>
                </a:rPr>
                <a:t>GPT-4</a:t>
              </a:r>
            </a:p>
          </p:txBody>
        </p:sp>
        <p:sp>
          <p:nvSpPr>
            <p:cNvPr id="55" name="TextBox 55"/>
            <p:cNvSpPr txBox="1"/>
            <p:nvPr/>
          </p:nvSpPr>
          <p:spPr>
            <a:xfrm>
              <a:off x="1129153" y="5775484"/>
              <a:ext cx="408694" cy="137160"/>
            </a:xfrm>
            <a:prstGeom prst="rect">
              <a:avLst/>
            </a:prstGeom>
            <a:noFill/>
            <a:ln>
              <a:noFill/>
            </a:ln>
          </p:spPr>
          <p:txBody>
            <a:bodyPr wrap="none" lIns="0" tIns="0" rIns="0" bIns="0" anchor="t" anchorCtr="0">
              <a:spAutoFit/>
            </a:bodyPr>
            <a:lstStyle/>
            <a:p>
              <a:pPr algn="ctr"/>
              <a:r>
                <a:rPr lang="zh-CN" sz="675" dirty="0">
                  <a:solidFill>
                    <a:srgbClr val="3A3A3A"/>
                  </a:solidFill>
                  <a:latin typeface="Consolas"/>
                  <a:ea typeface="Microsoft YaHei"/>
                  <a:cs typeface="Consolas"/>
                </a:rPr>
                <a:t>MAR 2023</a:t>
              </a:r>
            </a:p>
          </p:txBody>
        </p:sp>
        <p:sp>
          <p:nvSpPr>
            <p:cNvPr id="56" name="TextBox 56"/>
            <p:cNvSpPr txBox="1"/>
            <p:nvPr/>
          </p:nvSpPr>
          <p:spPr>
            <a:xfrm>
              <a:off x="3291308" y="5625941"/>
              <a:ext cx="846883" cy="167640"/>
            </a:xfrm>
            <a:prstGeom prst="rect">
              <a:avLst/>
            </a:prstGeom>
            <a:noFill/>
            <a:ln>
              <a:noFill/>
            </a:ln>
          </p:spPr>
          <p:txBody>
            <a:bodyPr wrap="none" lIns="0" tIns="0" rIns="0" bIns="0" anchor="t" anchorCtr="0">
              <a:spAutoFit/>
            </a:bodyPr>
            <a:lstStyle/>
            <a:p>
              <a:pPr algn="ctr"/>
              <a:r>
                <a:rPr lang="zh-CN" sz="825" b="1" dirty="0">
                  <a:solidFill>
                    <a:srgbClr val="111111"/>
                  </a:solidFill>
                  <a:latin typeface="Arial Black"/>
                  <a:ea typeface="SimHei"/>
                  <a:cs typeface="Arial Black"/>
                </a:rPr>
                <a:t>LLAMA 3.1 405B</a:t>
              </a:r>
            </a:p>
          </p:txBody>
        </p:sp>
        <p:sp>
          <p:nvSpPr>
            <p:cNvPr id="57" name="TextBox 57"/>
            <p:cNvSpPr txBox="1"/>
            <p:nvPr/>
          </p:nvSpPr>
          <p:spPr>
            <a:xfrm>
              <a:off x="3519404" y="5775484"/>
              <a:ext cx="390692" cy="137160"/>
            </a:xfrm>
            <a:prstGeom prst="rect">
              <a:avLst/>
            </a:prstGeom>
            <a:noFill/>
            <a:ln>
              <a:noFill/>
            </a:ln>
          </p:spPr>
          <p:txBody>
            <a:bodyPr wrap="none" lIns="0" tIns="0" rIns="0" bIns="0" anchor="t" anchorCtr="0">
              <a:spAutoFit/>
            </a:bodyPr>
            <a:lstStyle/>
            <a:p>
              <a:pPr algn="ctr"/>
              <a:r>
                <a:rPr lang="zh-CN" sz="675" dirty="0">
                  <a:solidFill>
                    <a:srgbClr val="3A3A3A"/>
                  </a:solidFill>
                  <a:latin typeface="Consolas"/>
                  <a:ea typeface="Microsoft YaHei"/>
                  <a:cs typeface="Consolas"/>
                </a:rPr>
                <a:t>JUL 2024</a:t>
              </a:r>
            </a:p>
          </p:txBody>
        </p:sp>
        <p:sp>
          <p:nvSpPr>
            <p:cNvPr id="58" name="TextBox 58"/>
            <p:cNvSpPr txBox="1"/>
            <p:nvPr/>
          </p:nvSpPr>
          <p:spPr>
            <a:xfrm>
              <a:off x="5736091" y="5625941"/>
              <a:ext cx="719817" cy="167640"/>
            </a:xfrm>
            <a:prstGeom prst="rect">
              <a:avLst/>
            </a:prstGeom>
            <a:noFill/>
            <a:ln>
              <a:noFill/>
            </a:ln>
          </p:spPr>
          <p:txBody>
            <a:bodyPr wrap="none" lIns="0" tIns="0" rIns="0" bIns="0" anchor="t" anchorCtr="0">
              <a:spAutoFit/>
            </a:bodyPr>
            <a:lstStyle/>
            <a:p>
              <a:pPr algn="ctr"/>
              <a:r>
                <a:rPr lang="zh-CN" sz="825" b="1" dirty="0">
                  <a:solidFill>
                    <a:srgbClr val="111111"/>
                  </a:solidFill>
                  <a:latin typeface="Arial Black"/>
                  <a:ea typeface="SimHei"/>
                  <a:cs typeface="Arial Black"/>
                </a:rPr>
                <a:t>GEMINI ULTRA</a:t>
              </a:r>
            </a:p>
          </p:txBody>
        </p:sp>
        <p:sp>
          <p:nvSpPr>
            <p:cNvPr id="59" name="TextBox 59"/>
            <p:cNvSpPr txBox="1"/>
            <p:nvPr/>
          </p:nvSpPr>
          <p:spPr>
            <a:xfrm>
              <a:off x="5900654" y="5775484"/>
              <a:ext cx="390692" cy="137160"/>
            </a:xfrm>
            <a:prstGeom prst="rect">
              <a:avLst/>
            </a:prstGeom>
            <a:noFill/>
            <a:ln>
              <a:noFill/>
            </a:ln>
          </p:spPr>
          <p:txBody>
            <a:bodyPr wrap="none" lIns="0" tIns="0" rIns="0" bIns="0" anchor="t" anchorCtr="0">
              <a:spAutoFit/>
            </a:bodyPr>
            <a:lstStyle/>
            <a:p>
              <a:pPr algn="ctr"/>
              <a:r>
                <a:rPr lang="zh-CN" sz="675" dirty="0">
                  <a:solidFill>
                    <a:srgbClr val="3A3A3A"/>
                  </a:solidFill>
                  <a:latin typeface="Consolas"/>
                  <a:ea typeface="Microsoft YaHei"/>
                  <a:cs typeface="Consolas"/>
                </a:rPr>
                <a:t>DEC 2024</a:t>
              </a:r>
            </a:p>
          </p:txBody>
        </p:sp>
        <p:sp>
          <p:nvSpPr>
            <p:cNvPr id="60" name="TextBox 60"/>
            <p:cNvSpPr txBox="1"/>
            <p:nvPr/>
          </p:nvSpPr>
          <p:spPr>
            <a:xfrm>
              <a:off x="8071136" y="5625941"/>
              <a:ext cx="812229" cy="167640"/>
            </a:xfrm>
            <a:prstGeom prst="rect">
              <a:avLst/>
            </a:prstGeom>
            <a:noFill/>
            <a:ln>
              <a:noFill/>
            </a:ln>
          </p:spPr>
          <p:txBody>
            <a:bodyPr wrap="none" lIns="0" tIns="0" rIns="0" bIns="0" anchor="t" anchorCtr="0">
              <a:spAutoFit/>
            </a:bodyPr>
            <a:lstStyle/>
            <a:p>
              <a:pPr algn="ctr"/>
              <a:r>
                <a:rPr lang="zh-CN" sz="825" b="1" dirty="0">
                  <a:solidFill>
                    <a:srgbClr val="111111"/>
                  </a:solidFill>
                  <a:latin typeface="Arial Black"/>
                  <a:ea typeface="SimHei"/>
                  <a:cs typeface="Arial Black"/>
                </a:rPr>
                <a:t>2026 FRONTIER</a:t>
              </a:r>
            </a:p>
          </p:txBody>
        </p:sp>
        <p:sp>
          <p:nvSpPr>
            <p:cNvPr id="61" name="TextBox 61"/>
            <p:cNvSpPr txBox="1"/>
            <p:nvPr/>
          </p:nvSpPr>
          <p:spPr>
            <a:xfrm>
              <a:off x="8095131" y="5775484"/>
              <a:ext cx="764238" cy="137160"/>
            </a:xfrm>
            <a:prstGeom prst="rect">
              <a:avLst/>
            </a:prstGeom>
            <a:noFill/>
            <a:ln>
              <a:noFill/>
            </a:ln>
          </p:spPr>
          <p:txBody>
            <a:bodyPr wrap="none" lIns="0" tIns="0" rIns="0" bIns="0" anchor="t" anchorCtr="0">
              <a:spAutoFit/>
            </a:bodyPr>
            <a:lstStyle/>
            <a:p>
              <a:pPr algn="ctr"/>
              <a:r>
                <a:rPr lang="zh-CN" sz="675" dirty="0">
                  <a:solidFill>
                    <a:srgbClr val="3A3A3A"/>
                  </a:solidFill>
                  <a:latin typeface="Consolas"/>
                  <a:ea typeface="Microsoft YaHei"/>
                  <a:cs typeface="Consolas"/>
                </a:rPr>
                <a:t>1e26 – 1e27 FLOPS</a:t>
              </a:r>
            </a:p>
          </p:txBody>
        </p:sp>
        <p:sp>
          <p:nvSpPr>
            <p:cNvPr id="62" name="TextBox 62"/>
            <p:cNvSpPr txBox="1"/>
            <p:nvPr/>
          </p:nvSpPr>
          <p:spPr>
            <a:xfrm>
              <a:off x="10406180" y="5625941"/>
              <a:ext cx="904640" cy="167640"/>
            </a:xfrm>
            <a:prstGeom prst="rect">
              <a:avLst/>
            </a:prstGeom>
            <a:noFill/>
            <a:ln>
              <a:noFill/>
            </a:ln>
          </p:spPr>
          <p:txBody>
            <a:bodyPr wrap="none" lIns="0" tIns="0" rIns="0" bIns="0" anchor="t" anchorCtr="0">
              <a:spAutoFit/>
            </a:bodyPr>
            <a:lstStyle/>
            <a:p>
              <a:pPr algn="ctr"/>
              <a:r>
                <a:rPr lang="zh-CN" sz="825" b="1" dirty="0">
                  <a:solidFill>
                    <a:srgbClr val="C8102E"/>
                  </a:solidFill>
                  <a:latin typeface="Arial Black"/>
                  <a:ea typeface="SimHei"/>
                  <a:cs typeface="Arial Black"/>
                </a:rPr>
                <a:t>2027 PROJECTED</a:t>
              </a:r>
            </a:p>
          </p:txBody>
        </p:sp>
        <p:sp>
          <p:nvSpPr>
            <p:cNvPr id="63" name="TextBox 63"/>
            <p:cNvSpPr txBox="1"/>
            <p:nvPr/>
          </p:nvSpPr>
          <p:spPr>
            <a:xfrm>
              <a:off x="10453878" y="5775484"/>
              <a:ext cx="809244" cy="137160"/>
            </a:xfrm>
            <a:prstGeom prst="rect">
              <a:avLst/>
            </a:prstGeom>
            <a:noFill/>
            <a:ln>
              <a:noFill/>
            </a:ln>
          </p:spPr>
          <p:txBody>
            <a:bodyPr wrap="none" lIns="0" tIns="0" rIns="0" bIns="0" anchor="t" anchorCtr="0">
              <a:spAutoFit/>
            </a:bodyPr>
            <a:lstStyle/>
            <a:p>
              <a:pPr algn="ctr"/>
              <a:r>
                <a:rPr lang="zh-CN" sz="675" dirty="0">
                  <a:solidFill>
                    <a:srgbClr val="C8102E"/>
                  </a:solidFill>
                  <a:latin typeface="Consolas"/>
                  <a:ea typeface="Microsoft YaHei"/>
                  <a:cs typeface="Consolas"/>
                </a:rPr>
                <a:t>DASHED · ESTIMATE</a:t>
              </a:r>
            </a:p>
          </p:txBody>
        </p:sp>
      </p:grpSp>
      <p:sp>
        <p:nvSpPr>
          <p:cNvPr id="65" name="Line 65"/>
          <p:cNvSpPr/>
          <p:nvPr/>
        </p:nvSpPr>
        <p:spPr>
          <a:xfrm>
            <a:off x="457200" y="6000750"/>
            <a:ext cx="11277600" cy="9525"/>
          </a:xfrm>
          <a:custGeom>
            <a:avLst/>
            <a:gdLst/>
            <a:ahLst/>
            <a:cxnLst/>
            <a:rect l="l" t="t" r="r" b="b"/>
            <a:pathLst>
              <a:path w="11277600" h="9525">
                <a:moveTo>
                  <a:pt x="0" y="0"/>
                </a:moveTo>
                <a:lnTo>
                  <a:pt x="11277600" y="0"/>
                </a:lnTo>
              </a:path>
            </a:pathLst>
          </a:custGeom>
          <a:noFill/>
          <a:ln w="19050">
            <a:solidFill>
              <a:srgbClr val="111111"/>
            </a:solidFill>
          </a:ln>
        </p:spPr>
      </p:sp>
      <p:grpSp>
        <p:nvGrpSpPr>
          <p:cNvPr id="69" name="Group 69"/>
          <p:cNvGrpSpPr/>
          <p:nvPr/>
        </p:nvGrpSpPr>
        <p:grpSpPr>
          <a:xfrm>
            <a:off x="444818" y="6085999"/>
            <a:ext cx="10393561" cy="388620"/>
            <a:chOff x="444818" y="6085999"/>
            <a:chExt cx="10393561" cy="388620"/>
          </a:xfrm>
        </p:grpSpPr>
        <p:sp>
          <p:nvSpPr>
            <p:cNvPr id="66" name="TextBox 66"/>
            <p:cNvSpPr txBox="1"/>
            <p:nvPr/>
          </p:nvSpPr>
          <p:spPr>
            <a:xfrm>
              <a:off x="445770" y="6094095"/>
              <a:ext cx="1371229" cy="182880"/>
            </a:xfrm>
            <a:prstGeom prst="rect">
              <a:avLst/>
            </a:prstGeom>
            <a:noFill/>
            <a:ln>
              <a:noFill/>
            </a:ln>
          </p:spPr>
          <p:txBody>
            <a:bodyPr wrap="none" lIns="0" tIns="0" rIns="0" bIns="0" anchor="t" anchorCtr="0">
              <a:spAutoFit/>
            </a:bodyPr>
            <a:lstStyle/>
            <a:p>
              <a:pPr algn="l"/>
              <a:r>
                <a:rPr lang="zh-CN" sz="900" b="1" dirty="0">
                  <a:solidFill>
                    <a:srgbClr val="111111"/>
                  </a:solidFill>
                  <a:latin typeface="Arial Black"/>
                  <a:ea typeface="SimHei"/>
                  <a:cs typeface="Arial Black"/>
                </a:rPr>
                <a:t>WHAT THE LINE MEANS —</a:t>
              </a:r>
            </a:p>
          </p:txBody>
        </p:sp>
        <p:sp>
          <p:nvSpPr>
            <p:cNvPr id="67" name="TextBox 67"/>
            <p:cNvSpPr txBox="1"/>
            <p:nvPr/>
          </p:nvSpPr>
          <p:spPr>
            <a:xfrm>
              <a:off x="2273618" y="6085999"/>
              <a:ext cx="8371808" cy="198120"/>
            </a:xfrm>
            <a:prstGeom prst="rect">
              <a:avLst/>
            </a:prstGeom>
            <a:noFill/>
            <a:ln>
              <a:noFill/>
            </a:ln>
          </p:spPr>
          <p:txBody>
            <a:bodyPr wrap="none" lIns="0" tIns="0" rIns="0" bIns="0" anchor="t" anchorCtr="0">
              <a:spAutoFit/>
            </a:bodyPr>
            <a:lstStyle/>
            <a:p>
              <a:pPr algn="l"/>
              <a:r>
                <a:rPr lang="zh-CN" sz="975" dirty="0">
                  <a:solidFill>
                    <a:srgbClr val="111111"/>
                  </a:solidFill>
                  <a:latin typeface="Times New Roman"/>
                  <a:ea typeface="SimSun"/>
                  <a:cs typeface="Times New Roman"/>
                </a:rPr>
                <a:t>a single training run for a 2026 frontier model now exceeds the lifetime engineering budget of most enterprise software products.</a:t>
              </a:r>
            </a:p>
          </p:txBody>
        </p:sp>
        <p:sp>
          <p:nvSpPr>
            <p:cNvPr id="68" name="TextBox 68"/>
            <p:cNvSpPr txBox="1"/>
            <p:nvPr/>
          </p:nvSpPr>
          <p:spPr>
            <a:xfrm>
              <a:off x="444818" y="6276499"/>
              <a:ext cx="10393561" cy="198120"/>
            </a:xfrm>
            <a:prstGeom prst="rect">
              <a:avLst/>
            </a:prstGeom>
            <a:noFill/>
            <a:ln>
              <a:noFill/>
            </a:ln>
          </p:spPr>
          <p:txBody>
            <a:bodyPr wrap="none" lIns="0" tIns="0" rIns="0" bIns="0" anchor="t" anchorCtr="0">
              <a:spAutoFit/>
            </a:bodyPr>
            <a:lstStyle/>
            <a:p>
              <a:pPr algn="l"/>
              <a:r>
                <a:rPr lang="zh-CN" sz="975" dirty="0">
                  <a:solidFill>
                    <a:srgbClr val="111111"/>
                  </a:solidFill>
                  <a:latin typeface="Times New Roman"/>
                  <a:ea typeface="SimSun"/>
                  <a:cs typeface="Times New Roman"/>
                </a:rPr>
                <a:t xml:space="preserve">Capital is no longer the gating factor; </a:t>
              </a:r>
              <a:r>
                <a:rPr lang="zh-CN" sz="975" b="1" dirty="0">
                  <a:solidFill>
                    <a:srgbClr val="111111"/>
                  </a:solidFill>
                  <a:latin typeface="Times New Roman"/>
                  <a:ea typeface="SimSun"/>
                  <a:cs typeface="Times New Roman"/>
                </a:rPr>
                <a:t>grid interconnect</a:t>
              </a:r>
              <a:r>
                <a:rPr lang="zh-CN" sz="975" dirty="0">
                  <a:solidFill>
                    <a:srgbClr val="111111"/>
                  </a:solidFill>
                  <a:latin typeface="Times New Roman"/>
                  <a:ea typeface="SimSun"/>
                  <a:cs typeface="Times New Roman"/>
                </a:rPr>
                <a:t xml:space="preserve"> and </a:t>
              </a:r>
              <a:r>
                <a:rPr lang="zh-CN" sz="975" b="1" dirty="0">
                  <a:solidFill>
                    <a:srgbClr val="111111"/>
                  </a:solidFill>
                  <a:latin typeface="Times New Roman"/>
                  <a:ea typeface="SimSun"/>
                  <a:cs typeface="Times New Roman"/>
                </a:rPr>
                <a:t>multi-gigawatt power siting</a:t>
              </a:r>
              <a:r>
                <a:rPr lang="zh-CN" sz="975" dirty="0">
                  <a:solidFill>
                    <a:srgbClr val="111111"/>
                  </a:solidFill>
                  <a:latin typeface="Times New Roman"/>
                  <a:ea typeface="SimSun"/>
                  <a:cs typeface="Times New Roman"/>
                </a:rPr>
                <a:t xml:space="preserve"> are. The next cohort is being built around substations, not around chips.</a:t>
              </a:r>
            </a:p>
          </p:txBody>
        </p:sp>
      </p:grpSp>
      <p:grpSp>
        <p:nvGrpSpPr>
          <p:cNvPr id="73" name="Group 73"/>
          <p:cNvGrpSpPr/>
          <p:nvPr/>
        </p:nvGrpSpPr>
        <p:grpSpPr>
          <a:xfrm>
            <a:off x="448628" y="6553200"/>
            <a:ext cx="11294744" cy="254794"/>
            <a:chOff x="448628" y="6553200"/>
            <a:chExt cx="11294744" cy="254794"/>
          </a:xfrm>
        </p:grpSpPr>
        <p:sp>
          <p:nvSpPr>
            <p:cNvPr id="70" name="Rectangle 70"/>
            <p:cNvSpPr/>
            <p:nvPr/>
          </p:nvSpPr>
          <p:spPr>
            <a:xfrm>
              <a:off x="457200" y="6553200"/>
              <a:ext cx="11277600" cy="19050"/>
            </a:xfrm>
            <a:prstGeom prst="rect">
              <a:avLst/>
            </a:prstGeom>
            <a:solidFill>
              <a:srgbClr val="C8102E"/>
            </a:solidFill>
            <a:ln>
              <a:noFill/>
            </a:ln>
          </p:spPr>
        </p:sp>
        <p:sp>
          <p:nvSpPr>
            <p:cNvPr id="71" name="TextBox 71"/>
            <p:cNvSpPr txBox="1"/>
            <p:nvPr/>
          </p:nvSpPr>
          <p:spPr>
            <a:xfrm>
              <a:off x="448628" y="6670834"/>
              <a:ext cx="5106606" cy="137160"/>
            </a:xfrm>
            <a:prstGeom prst="rect">
              <a:avLst/>
            </a:prstGeom>
            <a:noFill/>
            <a:ln>
              <a:noFill/>
            </a:ln>
          </p:spPr>
          <p:txBody>
            <a:bodyPr wrap="none" lIns="0" tIns="0" rIns="0" bIns="0" anchor="t" anchorCtr="0">
              <a:spAutoFit/>
            </a:bodyPr>
            <a:lstStyle/>
            <a:p>
              <a:pPr algn="l"/>
              <a:r>
                <a:rPr lang="zh-CN" sz="675" b="1" dirty="0">
                  <a:solidFill>
                    <a:srgbClr val="111111"/>
                  </a:solidFill>
                  <a:latin typeface="Consolas"/>
                  <a:ea typeface="Microsoft YaHei"/>
                  <a:cs typeface="Consolas"/>
                </a:rPr>
                <a:t>SOURCE EPOCH AI · DELUAIR CONSULTANCY 2026 · LOG-SCALE PLOT · COMPUTE-ONLY COST · POWER &amp; SITE EXCLUDED</a:t>
              </a:r>
            </a:p>
          </p:txBody>
        </p:sp>
        <p:sp>
          <p:nvSpPr>
            <p:cNvPr id="72" name="TextBox 72"/>
            <p:cNvSpPr txBox="1"/>
            <p:nvPr/>
          </p:nvSpPr>
          <p:spPr>
            <a:xfrm>
              <a:off x="11196961" y="6670834"/>
              <a:ext cx="546411" cy="137160"/>
            </a:xfrm>
            <a:prstGeom prst="rect">
              <a:avLst/>
            </a:prstGeom>
            <a:noFill/>
            <a:ln>
              <a:noFill/>
            </a:ln>
          </p:spPr>
          <p:txBody>
            <a:bodyPr wrap="none" lIns="0" tIns="0" rIns="0" bIns="0" anchor="t" anchorCtr="0">
              <a:spAutoFit/>
            </a:bodyPr>
            <a:lstStyle/>
            <a:p>
              <a:pPr algn="r"/>
              <a:r>
                <a:rPr lang="zh-CN" sz="675" b="1" dirty="0">
                  <a:solidFill>
                    <a:srgbClr val="111111"/>
                  </a:solidFill>
                  <a:latin typeface="Consolas"/>
                  <a:ea typeface="Microsoft YaHei"/>
                  <a:cs typeface="Consolas"/>
                </a:rPr>
                <a:t>PAGE 05 / 10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0"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amond(in)">
                                      <p:cBhvr>
                                        <p:cTn id="7" dur="400"/>
                                        <p:tgtEl>
                                          <p:spTgt spid="16"/>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image">
                                      <p:cBhvr>
                                        <p:cTn id="11" dur="400"/>
                                        <p:tgtEl>
                                          <p:spTgt spid="20"/>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64"/>
                                        </p:tgtEl>
                                        <p:attrNameLst>
                                          <p:attrName>style.visibility</p:attrName>
                                        </p:attrNameLst>
                                      </p:cBhvr>
                                      <p:to>
                                        <p:strVal val="visible"/>
                                      </p:to>
                                    </p:set>
                                    <p:animEffect transition="in" filter="wipe(left)">
                                      <p:cBhvr>
                                        <p:cTn id="19" dur="400"/>
                                        <p:tgtEl>
                                          <p:spTgt spid="64"/>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69"/>
                                        </p:tgtEl>
                                        <p:attrNameLst>
                                          <p:attrName>style.visibility</p:attrName>
                                        </p:attrNameLst>
                                      </p:cBhvr>
                                      <p:to>
                                        <p:strVal val="visible"/>
                                      </p:to>
                                    </p:set>
                                    <p:animEffect transition="in" filter="slide(fromBottom)">
                                      <p:cBhvr>
                                        <p:cTn id="23" dur="4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0" grpId="0"/>
      <p:bldP spid="22" grpId="0"/>
      <p:bldP spid="64" grpId="0"/>
      <p:bldP spid="6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2"/>
          <a:stretch>
            <a:fillRect/>
          </a:stretch>
        </p:blipFill>
        <p:spPr>
          <a:xfrm>
            <a:off x="0" y="0"/>
            <a:ext cx="12192000" cy="6858000"/>
          </a:xfrm>
          <a:prstGeom prst="rect">
            <a:avLst/>
          </a:prstGeom>
        </p:spPr>
      </p:pic>
      <p:sp>
        <p:nvSpPr>
          <p:cNvPr id="4" name="Rectangle 4"/>
          <p:cNvSpPr/>
          <p:nvPr/>
        </p:nvSpPr>
        <p:spPr>
          <a:xfrm>
            <a:off x="0" y="0"/>
            <a:ext cx="12192000" cy="1524000"/>
          </a:xfrm>
          <a:prstGeom prst="rect">
            <a:avLst/>
          </a:prstGeom>
          <a:solidFill>
            <a:srgbClr val="FFFFFF">
              <a:alpha val="92000"/>
            </a:srgbClr>
          </a:solidFill>
          <a:ln>
            <a:noFill/>
          </a:ln>
        </p:spPr>
      </p:sp>
      <p:sp>
        <p:nvSpPr>
          <p:cNvPr id="5" name="Rectangle 5"/>
          <p:cNvSpPr/>
          <p:nvPr/>
        </p:nvSpPr>
        <p:spPr>
          <a:xfrm>
            <a:off x="0" y="0"/>
            <a:ext cx="12192000" cy="38100"/>
          </a:xfrm>
          <a:prstGeom prst="rect">
            <a:avLst/>
          </a:prstGeom>
          <a:solidFill>
            <a:srgbClr val="C8102E"/>
          </a:solidFill>
          <a:ln>
            <a:noFill/>
          </a:ln>
        </p:spPr>
      </p:sp>
      <p:grpSp>
        <p:nvGrpSpPr>
          <p:cNvPr id="10" name="Group 10"/>
          <p:cNvGrpSpPr/>
          <p:nvPr/>
        </p:nvGrpSpPr>
        <p:grpSpPr>
          <a:xfrm>
            <a:off x="447675" y="166688"/>
            <a:ext cx="11296650" cy="166687"/>
            <a:chOff x="447675" y="166688"/>
            <a:chExt cx="11296650" cy="166687"/>
          </a:xfrm>
        </p:grpSpPr>
        <p:sp>
          <p:nvSpPr>
            <p:cNvPr id="6" name="Line 6"/>
            <p:cNvSpPr/>
            <p:nvPr/>
          </p:nvSpPr>
          <p:spPr>
            <a:xfrm>
              <a:off x="457200" y="323850"/>
              <a:ext cx="11277600" cy="9525"/>
            </a:xfrm>
            <a:custGeom>
              <a:avLst/>
              <a:gdLst/>
              <a:ahLst/>
              <a:cxnLst/>
              <a:rect l="l" t="t" r="r" b="b"/>
              <a:pathLst>
                <a:path w="11277600" h="9525">
                  <a:moveTo>
                    <a:pt x="0" y="0"/>
                  </a:moveTo>
                  <a:lnTo>
                    <a:pt x="11277600" y="0"/>
                  </a:lnTo>
                </a:path>
              </a:pathLst>
            </a:custGeom>
            <a:noFill/>
            <a:ln w="9525">
              <a:solidFill>
                <a:srgbClr val="111111"/>
              </a:solidFill>
            </a:ln>
          </p:spPr>
        </p:sp>
        <p:sp>
          <p:nvSpPr>
            <p:cNvPr id="7" name="TextBox 7"/>
            <p:cNvSpPr txBox="1"/>
            <p:nvPr/>
          </p:nvSpPr>
          <p:spPr>
            <a:xfrm>
              <a:off x="447675" y="166688"/>
              <a:ext cx="1909286" cy="152400"/>
            </a:xfrm>
            <a:prstGeom prst="rect">
              <a:avLst/>
            </a:prstGeom>
            <a:noFill/>
            <a:ln>
              <a:noFill/>
            </a:ln>
          </p:spPr>
          <p:txBody>
            <a:bodyPr wrap="none" lIns="0" tIns="0" rIns="0" bIns="0" anchor="t" anchorCtr="0">
              <a:spAutoFit/>
            </a:bodyPr>
            <a:lstStyle/>
            <a:p>
              <a:pPr algn="l"/>
              <a:r>
                <a:rPr lang="zh-CN" sz="750" b="1" dirty="0">
                  <a:solidFill>
                    <a:srgbClr val="111111"/>
                  </a:solidFill>
                  <a:latin typeface="Consolas"/>
                  <a:ea typeface="Microsoft YaHei"/>
                  <a:cs typeface="Consolas"/>
                </a:rPr>
                <a:t>THE AI INDUSTRY 2026 · ANNUAL REPORT</a:t>
              </a:r>
            </a:p>
          </p:txBody>
        </p:sp>
        <p:sp>
          <p:nvSpPr>
            <p:cNvPr id="8" name="TextBox 8"/>
            <p:cNvSpPr txBox="1"/>
            <p:nvPr/>
          </p:nvSpPr>
          <p:spPr>
            <a:xfrm>
              <a:off x="5561409" y="166688"/>
              <a:ext cx="1069181" cy="152400"/>
            </a:xfrm>
            <a:prstGeom prst="rect">
              <a:avLst/>
            </a:prstGeom>
            <a:noFill/>
            <a:ln>
              <a:noFill/>
            </a:ln>
          </p:spPr>
          <p:txBody>
            <a:bodyPr wrap="none" lIns="0" tIns="0" rIns="0" bIns="0" anchor="t" anchorCtr="0">
              <a:spAutoFit/>
            </a:bodyPr>
            <a:lstStyle/>
            <a:p>
              <a:pPr algn="ctr"/>
              <a:r>
                <a:rPr lang="zh-CN" sz="750" b="1" dirty="0">
                  <a:solidFill>
                    <a:srgbClr val="111111"/>
                  </a:solidFill>
                  <a:latin typeface="Consolas"/>
                  <a:ea typeface="Microsoft YaHei"/>
                  <a:cs typeface="Consolas"/>
                </a:rPr>
                <a:t>STORY III · INFERENCE</a:t>
              </a:r>
            </a:p>
          </p:txBody>
        </p:sp>
        <p:sp>
          <p:nvSpPr>
            <p:cNvPr id="9" name="TextBox 9"/>
            <p:cNvSpPr txBox="1"/>
            <p:nvPr/>
          </p:nvSpPr>
          <p:spPr>
            <a:xfrm>
              <a:off x="10454616" y="166688"/>
              <a:ext cx="1289709" cy="152400"/>
            </a:xfrm>
            <a:prstGeom prst="rect">
              <a:avLst/>
            </a:prstGeom>
            <a:noFill/>
            <a:ln>
              <a:noFill/>
            </a:ln>
          </p:spPr>
          <p:txBody>
            <a:bodyPr wrap="none" lIns="0" tIns="0" rIns="0" bIns="0" anchor="t" anchorCtr="0">
              <a:spAutoFit/>
            </a:bodyPr>
            <a:lstStyle/>
            <a:p>
              <a:pPr algn="r"/>
              <a:r>
                <a:rPr lang="zh-CN" sz="750" b="1" dirty="0">
                  <a:solidFill>
                    <a:srgbClr val="111111"/>
                  </a:solidFill>
                  <a:latin typeface="Consolas"/>
                  <a:ea typeface="Microsoft YaHei"/>
                  <a:cs typeface="Consolas"/>
                </a:rPr>
                <a:t>VOL. 1 · NO. 1 · MAY 2026</a:t>
              </a:r>
            </a:p>
          </p:txBody>
        </p:sp>
      </p:grpSp>
      <p:grpSp>
        <p:nvGrpSpPr>
          <p:cNvPr id="15" name="Group 15"/>
          <p:cNvGrpSpPr/>
          <p:nvPr/>
        </p:nvGrpSpPr>
        <p:grpSpPr>
          <a:xfrm>
            <a:off x="415290" y="463391"/>
            <a:ext cx="11319510" cy="1032034"/>
            <a:chOff x="415290" y="463391"/>
            <a:chExt cx="11319510" cy="1032034"/>
          </a:xfrm>
        </p:grpSpPr>
        <p:sp>
          <p:nvSpPr>
            <p:cNvPr id="11" name="TextBox 11"/>
            <p:cNvSpPr txBox="1"/>
            <p:nvPr/>
          </p:nvSpPr>
          <p:spPr>
            <a:xfrm>
              <a:off x="446722" y="463391"/>
              <a:ext cx="1204978" cy="167640"/>
            </a:xfrm>
            <a:prstGeom prst="rect">
              <a:avLst/>
            </a:prstGeom>
            <a:noFill/>
            <a:ln>
              <a:noFill/>
            </a:ln>
          </p:spPr>
          <p:txBody>
            <a:bodyPr wrap="none" lIns="0" tIns="0" rIns="0" bIns="0" anchor="t" anchorCtr="0">
              <a:spAutoFit/>
            </a:bodyPr>
            <a:lstStyle/>
            <a:p>
              <a:pPr algn="l"/>
              <a:r>
                <a:rPr lang="zh-CN" sz="825" b="1" dirty="0">
                  <a:solidFill>
                    <a:srgbClr val="C8102E"/>
                  </a:solidFill>
                  <a:latin typeface="Arial Black"/>
                  <a:ea typeface="SimHei"/>
                  <a:cs typeface="Arial Black"/>
                </a:rPr>
                <a:t>SECTION IV · STORY III</a:t>
              </a:r>
            </a:p>
          </p:txBody>
        </p:sp>
        <p:sp>
          <p:nvSpPr>
            <p:cNvPr id="12" name="TextBox 12"/>
            <p:cNvSpPr txBox="1"/>
            <p:nvPr/>
          </p:nvSpPr>
          <p:spPr>
            <a:xfrm>
              <a:off x="415290" y="691515"/>
              <a:ext cx="5859542" cy="670560"/>
            </a:xfrm>
            <a:prstGeom prst="rect">
              <a:avLst/>
            </a:prstGeom>
            <a:noFill/>
            <a:ln>
              <a:noFill/>
            </a:ln>
          </p:spPr>
          <p:txBody>
            <a:bodyPr wrap="none" lIns="0" tIns="0" rIns="0" bIns="0" anchor="t" anchorCtr="0">
              <a:spAutoFit/>
            </a:bodyPr>
            <a:lstStyle/>
            <a:p>
              <a:pPr algn="l"/>
              <a:r>
                <a:rPr lang="zh-CN" sz="3300" b="1" dirty="0">
                  <a:solidFill>
                    <a:srgbClr val="111111"/>
                  </a:solidFill>
                  <a:latin typeface="Impact"/>
                  <a:ea typeface="SimHei"/>
                  <a:cs typeface="Impact"/>
                </a:rPr>
                <a:t>INFERENCE — A 4.6× SPREAD</a:t>
              </a:r>
            </a:p>
          </p:txBody>
        </p:sp>
        <p:sp>
          <p:nvSpPr>
            <p:cNvPr id="13" name="TextBox 13"/>
            <p:cNvSpPr txBox="1"/>
            <p:nvPr/>
          </p:nvSpPr>
          <p:spPr>
            <a:xfrm>
              <a:off x="441960" y="1184910"/>
              <a:ext cx="6727317" cy="243840"/>
            </a:xfrm>
            <a:prstGeom prst="rect">
              <a:avLst/>
            </a:prstGeom>
            <a:noFill/>
            <a:ln>
              <a:noFill/>
            </a:ln>
          </p:spPr>
          <p:txBody>
            <a:bodyPr wrap="none" lIns="0" tIns="0" rIns="0" bIns="0" anchor="t" anchorCtr="0">
              <a:spAutoFit/>
            </a:bodyPr>
            <a:lstStyle/>
            <a:p>
              <a:pPr algn="l"/>
              <a:r>
                <a:rPr lang="zh-CN" sz="1200" i="1" dirty="0">
                  <a:solidFill>
                    <a:srgbClr val="111111"/>
                  </a:solidFill>
                  <a:latin typeface="Times New Roman"/>
                  <a:ea typeface="SimSun"/>
                  <a:cs typeface="Times New Roman"/>
                </a:rPr>
                <a:t xml:space="preserve">Same medium-length prompt; </a:t>
              </a:r>
              <a:r>
                <a:rPr lang="zh-CN" sz="1200" b="1" i="1" dirty="0">
                  <a:solidFill>
                    <a:srgbClr val="C8102E"/>
                  </a:solidFill>
                  <a:latin typeface="Times New Roman"/>
                  <a:ea typeface="SimSun"/>
                  <a:cs typeface="Times New Roman"/>
                </a:rPr>
                <a:t>5 W</a:t>
              </a:r>
              <a:r>
                <a:rPr lang="zh-CN" sz="1200" i="1" dirty="0">
                  <a:solidFill>
                    <a:srgbClr val="111111"/>
                  </a:solidFill>
                  <a:latin typeface="Times New Roman"/>
                  <a:ea typeface="SimSun"/>
                  <a:cs typeface="Times New Roman"/>
                </a:rPr>
                <a:t xml:space="preserve"> at one end of the frontier class, </a:t>
              </a:r>
              <a:r>
                <a:rPr lang="zh-CN" sz="1200" b="1" i="1" dirty="0">
                  <a:solidFill>
                    <a:srgbClr val="C8102E"/>
                  </a:solidFill>
                  <a:latin typeface="Times New Roman"/>
                  <a:ea typeface="SimSun"/>
                  <a:cs typeface="Times New Roman"/>
                </a:rPr>
                <a:t>23 W</a:t>
              </a:r>
              <a:r>
                <a:rPr lang="zh-CN" sz="1200" i="1" dirty="0">
                  <a:solidFill>
                    <a:srgbClr val="111111"/>
                  </a:solidFill>
                  <a:latin typeface="Times New Roman"/>
                  <a:ea typeface="SimSun"/>
                  <a:cs typeface="Times New Roman"/>
                </a:rPr>
                <a:t xml:space="preserve"> at the other.</a:t>
              </a:r>
            </a:p>
          </p:txBody>
        </p:sp>
        <p:sp>
          <p:nvSpPr>
            <p:cNvPr id="14" name="Line 14"/>
            <p:cNvSpPr/>
            <p:nvPr/>
          </p:nvSpPr>
          <p:spPr>
            <a:xfrm>
              <a:off x="457200" y="1485900"/>
              <a:ext cx="11277600" cy="9525"/>
            </a:xfrm>
            <a:custGeom>
              <a:avLst/>
              <a:gdLst/>
              <a:ahLst/>
              <a:cxnLst/>
              <a:rect l="l" t="t" r="r" b="b"/>
              <a:pathLst>
                <a:path w="11277600" h="9525">
                  <a:moveTo>
                    <a:pt x="0" y="0"/>
                  </a:moveTo>
                  <a:lnTo>
                    <a:pt x="11277600" y="0"/>
                  </a:lnTo>
                </a:path>
              </a:pathLst>
            </a:custGeom>
            <a:noFill/>
            <a:ln w="19050">
              <a:solidFill>
                <a:srgbClr val="111111"/>
              </a:solidFill>
            </a:ln>
          </p:spPr>
        </p:sp>
      </p:grpSp>
      <p:grpSp>
        <p:nvGrpSpPr>
          <p:cNvPr id="22" name="Group 22"/>
          <p:cNvGrpSpPr/>
          <p:nvPr/>
        </p:nvGrpSpPr>
        <p:grpSpPr>
          <a:xfrm>
            <a:off x="457200" y="1752600"/>
            <a:ext cx="2095500" cy="1276350"/>
            <a:chOff x="457200" y="1752600"/>
            <a:chExt cx="2095500" cy="1276350"/>
          </a:xfrm>
        </p:grpSpPr>
        <p:sp>
          <p:nvSpPr>
            <p:cNvPr id="16" name="Rectangle 16"/>
            <p:cNvSpPr/>
            <p:nvPr/>
          </p:nvSpPr>
          <p:spPr>
            <a:xfrm>
              <a:off x="457200" y="1752600"/>
              <a:ext cx="2095500" cy="1181100"/>
            </a:xfrm>
            <a:prstGeom prst="rect">
              <a:avLst/>
            </a:prstGeom>
            <a:solidFill>
              <a:srgbClr val="FFFFFF"/>
            </a:solidFill>
            <a:ln w="14288">
              <a:solidFill>
                <a:srgbClr val="111111"/>
              </a:solidFill>
            </a:ln>
          </p:spPr>
        </p:sp>
        <p:sp>
          <p:nvSpPr>
            <p:cNvPr id="17" name="Rectangle 17"/>
            <p:cNvSpPr/>
            <p:nvPr/>
          </p:nvSpPr>
          <p:spPr>
            <a:xfrm>
              <a:off x="457200" y="1752600"/>
              <a:ext cx="2095500" cy="57150"/>
            </a:xfrm>
            <a:prstGeom prst="rect">
              <a:avLst/>
            </a:prstGeom>
            <a:solidFill>
              <a:srgbClr val="111111"/>
            </a:solidFill>
            <a:ln>
              <a:noFill/>
            </a:ln>
          </p:spPr>
        </p:sp>
        <p:sp>
          <p:nvSpPr>
            <p:cNvPr id="18" name="TextBox 18"/>
            <p:cNvSpPr txBox="1"/>
            <p:nvPr/>
          </p:nvSpPr>
          <p:spPr>
            <a:xfrm>
              <a:off x="562928" y="1946434"/>
              <a:ext cx="905556" cy="137160"/>
            </a:xfrm>
            <a:prstGeom prst="rect">
              <a:avLst/>
            </a:prstGeom>
            <a:noFill/>
            <a:ln>
              <a:noFill/>
            </a:ln>
          </p:spPr>
          <p:txBody>
            <a:bodyPr wrap="none" lIns="0" tIns="0" rIns="0" bIns="0" anchor="t" anchorCtr="0">
              <a:spAutoFit/>
            </a:bodyPr>
            <a:lstStyle/>
            <a:p>
              <a:pPr algn="l"/>
              <a:r>
                <a:rPr lang="zh-CN" sz="675" b="1" dirty="0">
                  <a:solidFill>
                    <a:srgbClr val="3A3A3A"/>
                  </a:solidFill>
                  <a:latin typeface="Consolas"/>
                  <a:ea typeface="Microsoft YaHei"/>
                  <a:cs typeface="Consolas"/>
                </a:rPr>
                <a:t>PER MEDIUM PROMPT</a:t>
              </a:r>
            </a:p>
          </p:txBody>
        </p:sp>
        <p:sp>
          <p:nvSpPr>
            <p:cNvPr id="19" name="TextBox 19"/>
            <p:cNvSpPr txBox="1"/>
            <p:nvPr/>
          </p:nvSpPr>
          <p:spPr>
            <a:xfrm>
              <a:off x="510540" y="2053590"/>
              <a:ext cx="1197254" cy="975360"/>
            </a:xfrm>
            <a:prstGeom prst="rect">
              <a:avLst/>
            </a:prstGeom>
            <a:noFill/>
            <a:ln>
              <a:noFill/>
            </a:ln>
          </p:spPr>
          <p:txBody>
            <a:bodyPr wrap="none" lIns="0" tIns="0" rIns="0" bIns="0" anchor="t" anchorCtr="0">
              <a:spAutoFit/>
            </a:bodyPr>
            <a:lstStyle/>
            <a:p>
              <a:pPr algn="l"/>
              <a:r>
                <a:rPr lang="zh-CN" sz="4800" b="1" dirty="0">
                  <a:solidFill>
                    <a:srgbClr val="111111"/>
                  </a:solidFill>
                  <a:latin typeface="Impact"/>
                  <a:ea typeface="SimHei"/>
                  <a:cs typeface="Impact"/>
                </a:rPr>
                <a:t>5 W</a:t>
              </a:r>
            </a:p>
          </p:txBody>
        </p:sp>
        <p:sp>
          <p:nvSpPr>
            <p:cNvPr id="20" name="Line 20"/>
            <p:cNvSpPr/>
            <p:nvPr/>
          </p:nvSpPr>
          <p:spPr>
            <a:xfrm>
              <a:off x="571500" y="2686050"/>
              <a:ext cx="1866900" cy="9525"/>
            </a:xfrm>
            <a:custGeom>
              <a:avLst/>
              <a:gdLst/>
              <a:ahLst/>
              <a:cxnLst/>
              <a:rect l="l" t="t" r="r" b="b"/>
              <a:pathLst>
                <a:path w="1866900" h="9525">
                  <a:moveTo>
                    <a:pt x="0" y="0"/>
                  </a:moveTo>
                  <a:lnTo>
                    <a:pt x="1866900" y="0"/>
                  </a:lnTo>
                </a:path>
              </a:pathLst>
            </a:custGeom>
            <a:noFill/>
            <a:ln w="4762">
              <a:solidFill>
                <a:srgbClr val="111111"/>
              </a:solidFill>
            </a:ln>
          </p:spPr>
        </p:sp>
        <p:sp>
          <p:nvSpPr>
            <p:cNvPr id="21" name="TextBox 21"/>
            <p:cNvSpPr txBox="1"/>
            <p:nvPr/>
          </p:nvSpPr>
          <p:spPr>
            <a:xfrm>
              <a:off x="561022" y="2739866"/>
              <a:ext cx="812229" cy="167640"/>
            </a:xfrm>
            <a:prstGeom prst="rect">
              <a:avLst/>
            </a:prstGeom>
            <a:noFill/>
            <a:ln>
              <a:noFill/>
            </a:ln>
          </p:spPr>
          <p:txBody>
            <a:bodyPr wrap="none" lIns="0" tIns="0" rIns="0" bIns="0" anchor="t" anchorCtr="0">
              <a:spAutoFit/>
            </a:bodyPr>
            <a:lstStyle/>
            <a:p>
              <a:pPr algn="l"/>
              <a:r>
                <a:rPr lang="zh-CN" sz="825" b="1" dirty="0">
                  <a:solidFill>
                    <a:srgbClr val="111111"/>
                  </a:solidFill>
                  <a:latin typeface="Arial Black"/>
                  <a:ea typeface="SimHei"/>
                  <a:cs typeface="Arial Black"/>
                </a:rPr>
                <a:t>CLAUDE 4 OPUS</a:t>
              </a:r>
            </a:p>
          </p:txBody>
        </p:sp>
      </p:grpSp>
      <p:grpSp>
        <p:nvGrpSpPr>
          <p:cNvPr id="29" name="Group 29"/>
          <p:cNvGrpSpPr/>
          <p:nvPr/>
        </p:nvGrpSpPr>
        <p:grpSpPr>
          <a:xfrm>
            <a:off x="9639300" y="1752600"/>
            <a:ext cx="2095500" cy="1276350"/>
            <a:chOff x="9639300" y="1752600"/>
            <a:chExt cx="2095500" cy="1276350"/>
          </a:xfrm>
        </p:grpSpPr>
        <p:sp>
          <p:nvSpPr>
            <p:cNvPr id="23" name="Rectangle 23"/>
            <p:cNvSpPr/>
            <p:nvPr/>
          </p:nvSpPr>
          <p:spPr>
            <a:xfrm>
              <a:off x="9639300" y="1752600"/>
              <a:ext cx="2095500" cy="1181100"/>
            </a:xfrm>
            <a:prstGeom prst="rect">
              <a:avLst/>
            </a:prstGeom>
            <a:solidFill>
              <a:srgbClr val="FFFFFF"/>
            </a:solidFill>
            <a:ln w="14288">
              <a:solidFill>
                <a:srgbClr val="111111"/>
              </a:solidFill>
            </a:ln>
          </p:spPr>
        </p:sp>
        <p:sp>
          <p:nvSpPr>
            <p:cNvPr id="24" name="Rectangle 24"/>
            <p:cNvSpPr/>
            <p:nvPr/>
          </p:nvSpPr>
          <p:spPr>
            <a:xfrm>
              <a:off x="9639300" y="1752600"/>
              <a:ext cx="2095500" cy="57150"/>
            </a:xfrm>
            <a:prstGeom prst="rect">
              <a:avLst/>
            </a:prstGeom>
            <a:solidFill>
              <a:srgbClr val="C8102E"/>
            </a:solidFill>
            <a:ln>
              <a:noFill/>
            </a:ln>
          </p:spPr>
        </p:sp>
        <p:sp>
          <p:nvSpPr>
            <p:cNvPr id="25" name="TextBox 25"/>
            <p:cNvSpPr txBox="1"/>
            <p:nvPr/>
          </p:nvSpPr>
          <p:spPr>
            <a:xfrm>
              <a:off x="9745028" y="1946434"/>
              <a:ext cx="905556" cy="137160"/>
            </a:xfrm>
            <a:prstGeom prst="rect">
              <a:avLst/>
            </a:prstGeom>
            <a:noFill/>
            <a:ln>
              <a:noFill/>
            </a:ln>
          </p:spPr>
          <p:txBody>
            <a:bodyPr wrap="none" lIns="0" tIns="0" rIns="0" bIns="0" anchor="t" anchorCtr="0">
              <a:spAutoFit/>
            </a:bodyPr>
            <a:lstStyle/>
            <a:p>
              <a:pPr algn="l"/>
              <a:r>
                <a:rPr lang="zh-CN" sz="675" b="1" dirty="0">
                  <a:solidFill>
                    <a:srgbClr val="3A3A3A"/>
                  </a:solidFill>
                  <a:latin typeface="Consolas"/>
                  <a:ea typeface="Microsoft YaHei"/>
                  <a:cs typeface="Consolas"/>
                </a:rPr>
                <a:t>PER MEDIUM PROMPT</a:t>
              </a:r>
            </a:p>
          </p:txBody>
        </p:sp>
        <p:sp>
          <p:nvSpPr>
            <p:cNvPr id="26" name="TextBox 26"/>
            <p:cNvSpPr txBox="1"/>
            <p:nvPr/>
          </p:nvSpPr>
          <p:spPr>
            <a:xfrm>
              <a:off x="9692640" y="2053590"/>
              <a:ext cx="1566901" cy="975360"/>
            </a:xfrm>
            <a:prstGeom prst="rect">
              <a:avLst/>
            </a:prstGeom>
            <a:noFill/>
            <a:ln>
              <a:noFill/>
            </a:ln>
          </p:spPr>
          <p:txBody>
            <a:bodyPr wrap="none" lIns="0" tIns="0" rIns="0" bIns="0" anchor="t" anchorCtr="0">
              <a:spAutoFit/>
            </a:bodyPr>
            <a:lstStyle/>
            <a:p>
              <a:pPr algn="l"/>
              <a:r>
                <a:rPr lang="zh-CN" sz="4800" b="1" dirty="0">
                  <a:solidFill>
                    <a:srgbClr val="C8102E"/>
                  </a:solidFill>
                  <a:latin typeface="Impact"/>
                  <a:ea typeface="SimHei"/>
                  <a:cs typeface="Impact"/>
                </a:rPr>
                <a:t>23 W</a:t>
              </a:r>
            </a:p>
          </p:txBody>
        </p:sp>
        <p:sp>
          <p:nvSpPr>
            <p:cNvPr id="27" name="Line 27"/>
            <p:cNvSpPr/>
            <p:nvPr/>
          </p:nvSpPr>
          <p:spPr>
            <a:xfrm>
              <a:off x="9753600" y="2686050"/>
              <a:ext cx="1866900" cy="9525"/>
            </a:xfrm>
            <a:custGeom>
              <a:avLst/>
              <a:gdLst/>
              <a:ahLst/>
              <a:cxnLst/>
              <a:rect l="l" t="t" r="r" b="b"/>
              <a:pathLst>
                <a:path w="1866900" h="9525">
                  <a:moveTo>
                    <a:pt x="0" y="0"/>
                  </a:moveTo>
                  <a:lnTo>
                    <a:pt x="1866900" y="0"/>
                  </a:lnTo>
                </a:path>
              </a:pathLst>
            </a:custGeom>
            <a:noFill/>
            <a:ln w="4762">
              <a:solidFill>
                <a:srgbClr val="111111"/>
              </a:solidFill>
            </a:ln>
          </p:spPr>
        </p:sp>
        <p:sp>
          <p:nvSpPr>
            <p:cNvPr id="28" name="TextBox 28"/>
            <p:cNvSpPr txBox="1"/>
            <p:nvPr/>
          </p:nvSpPr>
          <p:spPr>
            <a:xfrm>
              <a:off x="9743122" y="2739866"/>
              <a:ext cx="690939" cy="167640"/>
            </a:xfrm>
            <a:prstGeom prst="rect">
              <a:avLst/>
            </a:prstGeom>
            <a:noFill/>
            <a:ln>
              <a:noFill/>
            </a:ln>
          </p:spPr>
          <p:txBody>
            <a:bodyPr wrap="none" lIns="0" tIns="0" rIns="0" bIns="0" anchor="t" anchorCtr="0">
              <a:spAutoFit/>
            </a:bodyPr>
            <a:lstStyle/>
            <a:p>
              <a:pPr algn="l"/>
              <a:r>
                <a:rPr lang="zh-CN" sz="825" b="1" dirty="0">
                  <a:solidFill>
                    <a:srgbClr val="111111"/>
                  </a:solidFill>
                  <a:latin typeface="Arial Black"/>
                  <a:ea typeface="SimHei"/>
                  <a:cs typeface="Arial Black"/>
                </a:rPr>
                <a:t>DEEPSEEK V3</a:t>
              </a:r>
            </a:p>
          </p:txBody>
        </p:sp>
      </p:grpSp>
      <p:grpSp>
        <p:nvGrpSpPr>
          <p:cNvPr id="34" name="Group 34"/>
          <p:cNvGrpSpPr/>
          <p:nvPr/>
        </p:nvGrpSpPr>
        <p:grpSpPr>
          <a:xfrm>
            <a:off x="9639300" y="3086100"/>
            <a:ext cx="2095500" cy="1009650"/>
            <a:chOff x="9639300" y="3086100"/>
            <a:chExt cx="2095500" cy="1009650"/>
          </a:xfrm>
        </p:grpSpPr>
        <p:sp>
          <p:nvSpPr>
            <p:cNvPr id="30" name="Rectangle 30"/>
            <p:cNvSpPr/>
            <p:nvPr/>
          </p:nvSpPr>
          <p:spPr>
            <a:xfrm>
              <a:off x="9639300" y="3086100"/>
              <a:ext cx="2095500" cy="990600"/>
            </a:xfrm>
            <a:prstGeom prst="rect">
              <a:avLst/>
            </a:prstGeom>
            <a:solidFill>
              <a:srgbClr val="FFFFFF"/>
            </a:solidFill>
            <a:ln w="14288">
              <a:solidFill>
                <a:srgbClr val="111111"/>
              </a:solidFill>
            </a:ln>
          </p:spPr>
        </p:sp>
        <p:sp>
          <p:nvSpPr>
            <p:cNvPr id="31" name="TextBox 31"/>
            <p:cNvSpPr txBox="1"/>
            <p:nvPr/>
          </p:nvSpPr>
          <p:spPr>
            <a:xfrm>
              <a:off x="9745028" y="3222784"/>
              <a:ext cx="1118208" cy="137160"/>
            </a:xfrm>
            <a:prstGeom prst="rect">
              <a:avLst/>
            </a:prstGeom>
            <a:noFill/>
            <a:ln>
              <a:noFill/>
            </a:ln>
          </p:spPr>
          <p:txBody>
            <a:bodyPr wrap="none" lIns="0" tIns="0" rIns="0" bIns="0" anchor="t" anchorCtr="0">
              <a:spAutoFit/>
            </a:bodyPr>
            <a:lstStyle/>
            <a:p>
              <a:pPr algn="l"/>
              <a:r>
                <a:rPr lang="zh-CN" sz="675" b="1" dirty="0">
                  <a:solidFill>
                    <a:srgbClr val="3A3A3A"/>
                  </a:solidFill>
                  <a:latin typeface="Consolas"/>
                  <a:ea typeface="Microsoft YaHei"/>
                  <a:cs typeface="Consolas"/>
                </a:rPr>
                <a:t>CARBON EMISSIONS RATIO</a:t>
              </a:r>
            </a:p>
          </p:txBody>
        </p:sp>
        <p:sp>
          <p:nvSpPr>
            <p:cNvPr id="32" name="TextBox 32"/>
            <p:cNvSpPr txBox="1"/>
            <p:nvPr/>
          </p:nvSpPr>
          <p:spPr>
            <a:xfrm>
              <a:off x="9707880" y="3364230"/>
              <a:ext cx="797128" cy="731520"/>
            </a:xfrm>
            <a:prstGeom prst="rect">
              <a:avLst/>
            </a:prstGeom>
            <a:noFill/>
            <a:ln>
              <a:noFill/>
            </a:ln>
          </p:spPr>
          <p:txBody>
            <a:bodyPr wrap="none" lIns="0" tIns="0" rIns="0" bIns="0" anchor="t" anchorCtr="0">
              <a:spAutoFit/>
            </a:bodyPr>
            <a:lstStyle/>
            <a:p>
              <a:pPr algn="l"/>
              <a:r>
                <a:rPr lang="zh-CN" sz="3600" b="1" dirty="0">
                  <a:solidFill>
                    <a:srgbClr val="111111"/>
                  </a:solidFill>
                  <a:latin typeface="Impact"/>
                  <a:ea typeface="SimHei"/>
                  <a:cs typeface="Impact"/>
                </a:rPr>
                <a:t>10×</a:t>
              </a:r>
            </a:p>
          </p:txBody>
        </p:sp>
        <p:sp>
          <p:nvSpPr>
            <p:cNvPr id="33" name="TextBox 33"/>
            <p:cNvSpPr txBox="1"/>
            <p:nvPr/>
          </p:nvSpPr>
          <p:spPr>
            <a:xfrm>
              <a:off x="9743122" y="3873341"/>
              <a:ext cx="1874687" cy="167640"/>
            </a:xfrm>
            <a:prstGeom prst="rect">
              <a:avLst/>
            </a:prstGeom>
            <a:noFill/>
            <a:ln>
              <a:noFill/>
            </a:ln>
          </p:spPr>
          <p:txBody>
            <a:bodyPr wrap="none" lIns="0" tIns="0" rIns="0" bIns="0" anchor="t" anchorCtr="0">
              <a:spAutoFit/>
            </a:bodyPr>
            <a:lstStyle/>
            <a:p>
              <a:pPr algn="l"/>
              <a:r>
                <a:rPr lang="zh-CN" sz="825" i="1" dirty="0">
                  <a:solidFill>
                    <a:srgbClr val="111111"/>
                  </a:solidFill>
                  <a:latin typeface="Times New Roman"/>
                  <a:ea typeface="SimSun"/>
                  <a:cs typeface="Times New Roman"/>
                </a:rPr>
                <a:t>least-vs-most efficient inference</a:t>
              </a:r>
            </a:p>
          </p:txBody>
        </p:sp>
      </p:grpSp>
      <p:grpSp>
        <p:nvGrpSpPr>
          <p:cNvPr id="39" name="Group 39"/>
          <p:cNvGrpSpPr/>
          <p:nvPr/>
        </p:nvGrpSpPr>
        <p:grpSpPr>
          <a:xfrm>
            <a:off x="9639300" y="4229100"/>
            <a:ext cx="2095500" cy="990600"/>
            <a:chOff x="9639300" y="4229100"/>
            <a:chExt cx="2095500" cy="990600"/>
          </a:xfrm>
        </p:grpSpPr>
        <p:sp>
          <p:nvSpPr>
            <p:cNvPr id="35" name="Rectangle 35"/>
            <p:cNvSpPr/>
            <p:nvPr/>
          </p:nvSpPr>
          <p:spPr>
            <a:xfrm>
              <a:off x="9639300" y="4229100"/>
              <a:ext cx="2095500" cy="990600"/>
            </a:xfrm>
            <a:prstGeom prst="rect">
              <a:avLst/>
            </a:prstGeom>
            <a:solidFill>
              <a:srgbClr val="FFFFFF"/>
            </a:solidFill>
            <a:ln w="14288">
              <a:solidFill>
                <a:srgbClr val="111111"/>
              </a:solidFill>
            </a:ln>
          </p:spPr>
        </p:sp>
        <p:sp>
          <p:nvSpPr>
            <p:cNvPr id="36" name="TextBox 36"/>
            <p:cNvSpPr txBox="1"/>
            <p:nvPr/>
          </p:nvSpPr>
          <p:spPr>
            <a:xfrm>
              <a:off x="9745028" y="4365784"/>
              <a:ext cx="1340310" cy="137160"/>
            </a:xfrm>
            <a:prstGeom prst="rect">
              <a:avLst/>
            </a:prstGeom>
            <a:noFill/>
            <a:ln>
              <a:noFill/>
            </a:ln>
          </p:spPr>
          <p:txBody>
            <a:bodyPr wrap="none" lIns="0" tIns="0" rIns="0" bIns="0" anchor="t" anchorCtr="0">
              <a:spAutoFit/>
            </a:bodyPr>
            <a:lstStyle/>
            <a:p>
              <a:pPr algn="l"/>
              <a:r>
                <a:rPr lang="zh-CN" sz="675" b="1" dirty="0">
                  <a:solidFill>
                    <a:srgbClr val="3A3A3A"/>
                  </a:solidFill>
                  <a:latin typeface="Consolas"/>
                  <a:ea typeface="Microsoft YaHei"/>
                  <a:cs typeface="Consolas"/>
                </a:rPr>
                <a:t>COST AT CONSTANT CAPABILITY</a:t>
              </a:r>
            </a:p>
          </p:txBody>
        </p:sp>
        <p:sp>
          <p:nvSpPr>
            <p:cNvPr id="37" name="TextBox 37"/>
            <p:cNvSpPr txBox="1"/>
            <p:nvPr/>
          </p:nvSpPr>
          <p:spPr>
            <a:xfrm>
              <a:off x="9711690" y="4539615"/>
              <a:ext cx="1770331" cy="670560"/>
            </a:xfrm>
            <a:prstGeom prst="rect">
              <a:avLst/>
            </a:prstGeom>
            <a:noFill/>
            <a:ln>
              <a:noFill/>
            </a:ln>
          </p:spPr>
          <p:txBody>
            <a:bodyPr wrap="none" lIns="0" tIns="0" rIns="0" bIns="0" anchor="t" anchorCtr="0">
              <a:spAutoFit/>
            </a:bodyPr>
            <a:lstStyle/>
            <a:p>
              <a:pPr algn="l"/>
              <a:r>
                <a:rPr lang="zh-CN" sz="3300" b="1" dirty="0">
                  <a:solidFill>
                    <a:srgbClr val="C8102E"/>
                  </a:solidFill>
                  <a:latin typeface="Impact"/>
                  <a:ea typeface="SimHei"/>
                  <a:cs typeface="Impact"/>
                </a:rPr>
                <a:t>10× / yr</a:t>
              </a:r>
            </a:p>
          </p:txBody>
        </p:sp>
        <p:sp>
          <p:nvSpPr>
            <p:cNvPr id="38" name="TextBox 38"/>
            <p:cNvSpPr txBox="1"/>
            <p:nvPr/>
          </p:nvSpPr>
          <p:spPr>
            <a:xfrm>
              <a:off x="9743122" y="5016341"/>
              <a:ext cx="1858185" cy="167640"/>
            </a:xfrm>
            <a:prstGeom prst="rect">
              <a:avLst/>
            </a:prstGeom>
            <a:noFill/>
            <a:ln>
              <a:noFill/>
            </a:ln>
          </p:spPr>
          <p:txBody>
            <a:bodyPr wrap="none" lIns="0" tIns="0" rIns="0" bIns="0" anchor="t" anchorCtr="0">
              <a:spAutoFit/>
            </a:bodyPr>
            <a:lstStyle/>
            <a:p>
              <a:pPr algn="l"/>
              <a:r>
                <a:rPr lang="zh-CN" sz="825" i="1" dirty="0">
                  <a:solidFill>
                    <a:srgbClr val="111111"/>
                  </a:solidFill>
                  <a:latin typeface="Times New Roman"/>
                  <a:ea typeface="SimSun"/>
                  <a:cs typeface="Times New Roman"/>
                </a:rPr>
                <a:t>falls faster than capability climbs</a:t>
              </a:r>
            </a:p>
          </p:txBody>
        </p:sp>
      </p:grpSp>
      <p:sp>
        <p:nvSpPr>
          <p:cNvPr id="40" name="Rectangle 40"/>
          <p:cNvSpPr/>
          <p:nvPr/>
        </p:nvSpPr>
        <p:spPr>
          <a:xfrm>
            <a:off x="0" y="5410200"/>
            <a:ext cx="12192000" cy="1143000"/>
          </a:xfrm>
          <a:prstGeom prst="rect">
            <a:avLst/>
          </a:prstGeom>
          <a:solidFill>
            <a:srgbClr val="FFFFFF">
              <a:alpha val="92000"/>
            </a:srgbClr>
          </a:solidFill>
          <a:ln>
            <a:noFill/>
          </a:ln>
        </p:spPr>
      </p:sp>
      <p:grpSp>
        <p:nvGrpSpPr>
          <p:cNvPr id="42" name="Group 42"/>
          <p:cNvGrpSpPr/>
          <p:nvPr/>
        </p:nvGrpSpPr>
        <p:grpSpPr>
          <a:xfrm>
            <a:off x="445770" y="5503545"/>
            <a:ext cx="5151701" cy="182880"/>
            <a:chOff x="445770" y="5503545"/>
            <a:chExt cx="5151701" cy="182880"/>
          </a:xfrm>
        </p:grpSpPr>
        <p:sp>
          <p:nvSpPr>
            <p:cNvPr id="41" name="TextBox 41"/>
            <p:cNvSpPr txBox="1"/>
            <p:nvPr/>
          </p:nvSpPr>
          <p:spPr>
            <a:xfrm>
              <a:off x="445770" y="5503545"/>
              <a:ext cx="5151701" cy="182880"/>
            </a:xfrm>
            <a:prstGeom prst="rect">
              <a:avLst/>
            </a:prstGeom>
            <a:noFill/>
            <a:ln>
              <a:noFill/>
            </a:ln>
          </p:spPr>
          <p:txBody>
            <a:bodyPr wrap="none" lIns="0" tIns="0" rIns="0" bIns="0" anchor="t" anchorCtr="0">
              <a:spAutoFit/>
            </a:bodyPr>
            <a:lstStyle/>
            <a:p>
              <a:pPr algn="l"/>
              <a:r>
                <a:rPr lang="zh-CN" sz="900" b="1" dirty="0">
                  <a:solidFill>
                    <a:srgbClr val="111111"/>
                  </a:solidFill>
                  <a:latin typeface="Arial Black"/>
                  <a:ea typeface="SimHei"/>
                  <a:cs typeface="Arial Black"/>
                </a:rPr>
                <a:t>FIG. 04 · WATTAGE SPECTRUM ACROSS THE FRONTIER CLASS · WATTS PER MEDIUM PROMPT</a:t>
              </a:r>
            </a:p>
          </p:txBody>
        </p:sp>
      </p:grpSp>
      <p:grpSp>
        <p:nvGrpSpPr>
          <p:cNvPr id="62" name="Group 62"/>
          <p:cNvGrpSpPr/>
          <p:nvPr/>
        </p:nvGrpSpPr>
        <p:grpSpPr>
          <a:xfrm>
            <a:off x="681418" y="5829300"/>
            <a:ext cx="8711160" cy="692944"/>
            <a:chOff x="681418" y="5829300"/>
            <a:chExt cx="8711160" cy="692944"/>
          </a:xfrm>
        </p:grpSpPr>
        <p:sp>
          <p:nvSpPr>
            <p:cNvPr id="43" name="Line 43"/>
            <p:cNvSpPr/>
            <p:nvPr/>
          </p:nvSpPr>
          <p:spPr>
            <a:xfrm>
              <a:off x="762000" y="6286500"/>
              <a:ext cx="8572500" cy="9525"/>
            </a:xfrm>
            <a:custGeom>
              <a:avLst/>
              <a:gdLst/>
              <a:ahLst/>
              <a:cxnLst/>
              <a:rect l="l" t="t" r="r" b="b"/>
              <a:pathLst>
                <a:path w="8572500" h="9525">
                  <a:moveTo>
                    <a:pt x="0" y="0"/>
                  </a:moveTo>
                  <a:lnTo>
                    <a:pt x="8572500" y="0"/>
                  </a:lnTo>
                </a:path>
              </a:pathLst>
            </a:custGeom>
            <a:noFill/>
            <a:ln w="14288">
              <a:solidFill>
                <a:srgbClr val="111111"/>
              </a:solidFill>
            </a:ln>
          </p:spPr>
        </p:sp>
        <p:sp>
          <p:nvSpPr>
            <p:cNvPr id="44" name="Line 44"/>
            <p:cNvSpPr/>
            <p:nvPr/>
          </p:nvSpPr>
          <p:spPr>
            <a:xfrm>
              <a:off x="762000" y="6286500"/>
              <a:ext cx="9525" cy="57150"/>
            </a:xfrm>
            <a:custGeom>
              <a:avLst/>
              <a:gdLst/>
              <a:ahLst/>
              <a:cxnLst/>
              <a:rect l="l" t="t" r="r" b="b"/>
              <a:pathLst>
                <a:path w="9525" h="57150">
                  <a:moveTo>
                    <a:pt x="0" y="0"/>
                  </a:moveTo>
                  <a:lnTo>
                    <a:pt x="0" y="57150"/>
                  </a:lnTo>
                </a:path>
              </a:pathLst>
            </a:custGeom>
            <a:noFill/>
            <a:ln w="9525">
              <a:solidFill>
                <a:srgbClr val="111111"/>
              </a:solidFill>
            </a:ln>
          </p:spPr>
        </p:sp>
        <p:sp>
          <p:nvSpPr>
            <p:cNvPr id="45" name="Line 45"/>
            <p:cNvSpPr/>
            <p:nvPr/>
          </p:nvSpPr>
          <p:spPr>
            <a:xfrm>
              <a:off x="2476500" y="6286500"/>
              <a:ext cx="9525" cy="57150"/>
            </a:xfrm>
            <a:custGeom>
              <a:avLst/>
              <a:gdLst/>
              <a:ahLst/>
              <a:cxnLst/>
              <a:rect l="l" t="t" r="r" b="b"/>
              <a:pathLst>
                <a:path w="9525" h="57150">
                  <a:moveTo>
                    <a:pt x="0" y="0"/>
                  </a:moveTo>
                  <a:lnTo>
                    <a:pt x="0" y="57150"/>
                  </a:lnTo>
                </a:path>
              </a:pathLst>
            </a:custGeom>
            <a:noFill/>
            <a:ln w="9525">
              <a:solidFill>
                <a:srgbClr val="111111"/>
              </a:solidFill>
            </a:ln>
          </p:spPr>
        </p:sp>
        <p:sp>
          <p:nvSpPr>
            <p:cNvPr id="46" name="Line 46"/>
            <p:cNvSpPr/>
            <p:nvPr/>
          </p:nvSpPr>
          <p:spPr>
            <a:xfrm>
              <a:off x="4191000" y="6286500"/>
              <a:ext cx="9525" cy="57150"/>
            </a:xfrm>
            <a:custGeom>
              <a:avLst/>
              <a:gdLst/>
              <a:ahLst/>
              <a:cxnLst/>
              <a:rect l="l" t="t" r="r" b="b"/>
              <a:pathLst>
                <a:path w="9525" h="57150">
                  <a:moveTo>
                    <a:pt x="0" y="0"/>
                  </a:moveTo>
                  <a:lnTo>
                    <a:pt x="0" y="57150"/>
                  </a:lnTo>
                </a:path>
              </a:pathLst>
            </a:custGeom>
            <a:noFill/>
            <a:ln w="9525">
              <a:solidFill>
                <a:srgbClr val="111111"/>
              </a:solidFill>
            </a:ln>
          </p:spPr>
        </p:sp>
        <p:sp>
          <p:nvSpPr>
            <p:cNvPr id="47" name="Line 47"/>
            <p:cNvSpPr/>
            <p:nvPr/>
          </p:nvSpPr>
          <p:spPr>
            <a:xfrm>
              <a:off x="5905500" y="6286500"/>
              <a:ext cx="9525" cy="57150"/>
            </a:xfrm>
            <a:custGeom>
              <a:avLst/>
              <a:gdLst/>
              <a:ahLst/>
              <a:cxnLst/>
              <a:rect l="l" t="t" r="r" b="b"/>
              <a:pathLst>
                <a:path w="9525" h="57150">
                  <a:moveTo>
                    <a:pt x="0" y="0"/>
                  </a:moveTo>
                  <a:lnTo>
                    <a:pt x="0" y="57150"/>
                  </a:lnTo>
                </a:path>
              </a:pathLst>
            </a:custGeom>
            <a:noFill/>
            <a:ln w="9525">
              <a:solidFill>
                <a:srgbClr val="111111"/>
              </a:solidFill>
            </a:ln>
          </p:spPr>
        </p:sp>
        <p:sp>
          <p:nvSpPr>
            <p:cNvPr id="48" name="Line 48"/>
            <p:cNvSpPr/>
            <p:nvPr/>
          </p:nvSpPr>
          <p:spPr>
            <a:xfrm>
              <a:off x="7620000" y="6286500"/>
              <a:ext cx="9525" cy="57150"/>
            </a:xfrm>
            <a:custGeom>
              <a:avLst/>
              <a:gdLst/>
              <a:ahLst/>
              <a:cxnLst/>
              <a:rect l="l" t="t" r="r" b="b"/>
              <a:pathLst>
                <a:path w="9525" h="57150">
                  <a:moveTo>
                    <a:pt x="0" y="0"/>
                  </a:moveTo>
                  <a:lnTo>
                    <a:pt x="0" y="57150"/>
                  </a:lnTo>
                </a:path>
              </a:pathLst>
            </a:custGeom>
            <a:noFill/>
            <a:ln w="9525">
              <a:solidFill>
                <a:srgbClr val="111111"/>
              </a:solidFill>
            </a:ln>
          </p:spPr>
        </p:sp>
        <p:sp>
          <p:nvSpPr>
            <p:cNvPr id="49" name="Line 49"/>
            <p:cNvSpPr/>
            <p:nvPr/>
          </p:nvSpPr>
          <p:spPr>
            <a:xfrm>
              <a:off x="9334500" y="6286500"/>
              <a:ext cx="9525" cy="57150"/>
            </a:xfrm>
            <a:custGeom>
              <a:avLst/>
              <a:gdLst/>
              <a:ahLst/>
              <a:cxnLst/>
              <a:rect l="l" t="t" r="r" b="b"/>
              <a:pathLst>
                <a:path w="9525" h="57150">
                  <a:moveTo>
                    <a:pt x="0" y="0"/>
                  </a:moveTo>
                  <a:lnTo>
                    <a:pt x="0" y="57150"/>
                  </a:lnTo>
                </a:path>
              </a:pathLst>
            </a:custGeom>
            <a:noFill/>
            <a:ln w="9525">
              <a:solidFill>
                <a:srgbClr val="111111"/>
              </a:solidFill>
            </a:ln>
          </p:spPr>
        </p:sp>
        <p:sp>
          <p:nvSpPr>
            <p:cNvPr id="50" name="TextBox 50"/>
            <p:cNvSpPr txBox="1"/>
            <p:nvPr/>
          </p:nvSpPr>
          <p:spPr>
            <a:xfrm>
              <a:off x="681418" y="6385084"/>
              <a:ext cx="161163" cy="137160"/>
            </a:xfrm>
            <a:prstGeom prst="rect">
              <a:avLst/>
            </a:prstGeom>
            <a:noFill/>
            <a:ln>
              <a:noFill/>
            </a:ln>
          </p:spPr>
          <p:txBody>
            <a:bodyPr wrap="none" lIns="0" tIns="0" rIns="0" bIns="0" anchor="t" anchorCtr="0">
              <a:spAutoFit/>
            </a:bodyPr>
            <a:lstStyle/>
            <a:p>
              <a:pPr algn="ctr"/>
              <a:r>
                <a:rPr lang="zh-CN" sz="675" dirty="0">
                  <a:solidFill>
                    <a:srgbClr val="3A3A3A"/>
                  </a:solidFill>
                  <a:latin typeface="Consolas"/>
                  <a:ea typeface="Microsoft YaHei"/>
                  <a:cs typeface="Consolas"/>
                </a:rPr>
                <a:t>0 W</a:t>
              </a:r>
            </a:p>
          </p:txBody>
        </p:sp>
        <p:sp>
          <p:nvSpPr>
            <p:cNvPr id="51" name="TextBox 51"/>
            <p:cNvSpPr txBox="1"/>
            <p:nvPr/>
          </p:nvSpPr>
          <p:spPr>
            <a:xfrm>
              <a:off x="2443174" y="6385084"/>
              <a:ext cx="66651" cy="137160"/>
            </a:xfrm>
            <a:prstGeom prst="rect">
              <a:avLst/>
            </a:prstGeom>
            <a:noFill/>
            <a:ln>
              <a:noFill/>
            </a:ln>
          </p:spPr>
          <p:txBody>
            <a:bodyPr wrap="none" lIns="0" tIns="0" rIns="0" bIns="0" anchor="t" anchorCtr="0">
              <a:spAutoFit/>
            </a:bodyPr>
            <a:lstStyle/>
            <a:p>
              <a:pPr algn="ctr"/>
              <a:r>
                <a:rPr lang="zh-CN" sz="675" dirty="0">
                  <a:solidFill>
                    <a:srgbClr val="3A3A3A"/>
                  </a:solidFill>
                  <a:latin typeface="Consolas"/>
                  <a:ea typeface="Microsoft YaHei"/>
                  <a:cs typeface="Consolas"/>
                </a:rPr>
                <a:t>5</a:t>
              </a:r>
            </a:p>
          </p:txBody>
        </p:sp>
        <p:sp>
          <p:nvSpPr>
            <p:cNvPr id="52" name="TextBox 52"/>
            <p:cNvSpPr txBox="1"/>
            <p:nvPr/>
          </p:nvSpPr>
          <p:spPr>
            <a:xfrm>
              <a:off x="4144173" y="6385084"/>
              <a:ext cx="93655" cy="137160"/>
            </a:xfrm>
            <a:prstGeom prst="rect">
              <a:avLst/>
            </a:prstGeom>
            <a:noFill/>
            <a:ln>
              <a:noFill/>
            </a:ln>
          </p:spPr>
          <p:txBody>
            <a:bodyPr wrap="none" lIns="0" tIns="0" rIns="0" bIns="0" anchor="t" anchorCtr="0">
              <a:spAutoFit/>
            </a:bodyPr>
            <a:lstStyle/>
            <a:p>
              <a:pPr algn="ctr"/>
              <a:r>
                <a:rPr lang="zh-CN" sz="675" dirty="0">
                  <a:solidFill>
                    <a:srgbClr val="3A3A3A"/>
                  </a:solidFill>
                  <a:latin typeface="Consolas"/>
                  <a:ea typeface="Microsoft YaHei"/>
                  <a:cs typeface="Consolas"/>
                </a:rPr>
                <a:t>10</a:t>
              </a:r>
            </a:p>
          </p:txBody>
        </p:sp>
        <p:sp>
          <p:nvSpPr>
            <p:cNvPr id="53" name="TextBox 53"/>
            <p:cNvSpPr txBox="1"/>
            <p:nvPr/>
          </p:nvSpPr>
          <p:spPr>
            <a:xfrm>
              <a:off x="5858673" y="6385084"/>
              <a:ext cx="93655" cy="137160"/>
            </a:xfrm>
            <a:prstGeom prst="rect">
              <a:avLst/>
            </a:prstGeom>
            <a:noFill/>
            <a:ln>
              <a:noFill/>
            </a:ln>
          </p:spPr>
          <p:txBody>
            <a:bodyPr wrap="none" lIns="0" tIns="0" rIns="0" bIns="0" anchor="t" anchorCtr="0">
              <a:spAutoFit/>
            </a:bodyPr>
            <a:lstStyle/>
            <a:p>
              <a:pPr algn="ctr"/>
              <a:r>
                <a:rPr lang="zh-CN" sz="675" dirty="0">
                  <a:solidFill>
                    <a:srgbClr val="3A3A3A"/>
                  </a:solidFill>
                  <a:latin typeface="Consolas"/>
                  <a:ea typeface="Microsoft YaHei"/>
                  <a:cs typeface="Consolas"/>
                </a:rPr>
                <a:t>15</a:t>
              </a:r>
            </a:p>
          </p:txBody>
        </p:sp>
        <p:sp>
          <p:nvSpPr>
            <p:cNvPr id="54" name="TextBox 54"/>
            <p:cNvSpPr txBox="1"/>
            <p:nvPr/>
          </p:nvSpPr>
          <p:spPr>
            <a:xfrm>
              <a:off x="7561921" y="6385084"/>
              <a:ext cx="116157" cy="137160"/>
            </a:xfrm>
            <a:prstGeom prst="rect">
              <a:avLst/>
            </a:prstGeom>
            <a:noFill/>
            <a:ln>
              <a:noFill/>
            </a:ln>
          </p:spPr>
          <p:txBody>
            <a:bodyPr wrap="none" lIns="0" tIns="0" rIns="0" bIns="0" anchor="t" anchorCtr="0">
              <a:spAutoFit/>
            </a:bodyPr>
            <a:lstStyle/>
            <a:p>
              <a:pPr algn="ctr"/>
              <a:r>
                <a:rPr lang="zh-CN" sz="675" dirty="0">
                  <a:solidFill>
                    <a:srgbClr val="3A3A3A"/>
                  </a:solidFill>
                  <a:latin typeface="Consolas"/>
                  <a:ea typeface="Microsoft YaHei"/>
                  <a:cs typeface="Consolas"/>
                </a:rPr>
                <a:t>20</a:t>
              </a:r>
            </a:p>
          </p:txBody>
        </p:sp>
        <p:sp>
          <p:nvSpPr>
            <p:cNvPr id="55" name="TextBox 55"/>
            <p:cNvSpPr txBox="1"/>
            <p:nvPr/>
          </p:nvSpPr>
          <p:spPr>
            <a:xfrm>
              <a:off x="9276421" y="6385084"/>
              <a:ext cx="116157" cy="137160"/>
            </a:xfrm>
            <a:prstGeom prst="rect">
              <a:avLst/>
            </a:prstGeom>
            <a:noFill/>
            <a:ln>
              <a:noFill/>
            </a:ln>
          </p:spPr>
          <p:txBody>
            <a:bodyPr wrap="none" lIns="0" tIns="0" rIns="0" bIns="0" anchor="t" anchorCtr="0">
              <a:spAutoFit/>
            </a:bodyPr>
            <a:lstStyle/>
            <a:p>
              <a:pPr algn="ctr"/>
              <a:r>
                <a:rPr lang="zh-CN" sz="675" dirty="0">
                  <a:solidFill>
                    <a:srgbClr val="3A3A3A"/>
                  </a:solidFill>
                  <a:latin typeface="Consolas"/>
                  <a:ea typeface="Microsoft YaHei"/>
                  <a:cs typeface="Consolas"/>
                </a:rPr>
                <a:t>25</a:t>
              </a:r>
            </a:p>
          </p:txBody>
        </p:sp>
        <p:sp>
          <p:nvSpPr>
            <p:cNvPr id="56" name="Rectangle 56"/>
            <p:cNvSpPr/>
            <p:nvPr/>
          </p:nvSpPr>
          <p:spPr>
            <a:xfrm>
              <a:off x="762000" y="5829300"/>
              <a:ext cx="1714500" cy="133350"/>
            </a:xfrm>
            <a:prstGeom prst="rect">
              <a:avLst/>
            </a:prstGeom>
            <a:solidFill>
              <a:srgbClr val="111111"/>
            </a:solidFill>
            <a:ln>
              <a:noFill/>
            </a:ln>
          </p:spPr>
        </p:sp>
        <p:sp>
          <p:nvSpPr>
            <p:cNvPr id="57" name="TextBox 57"/>
            <p:cNvSpPr txBox="1"/>
            <p:nvPr/>
          </p:nvSpPr>
          <p:spPr>
            <a:xfrm>
              <a:off x="2561272" y="5854541"/>
              <a:ext cx="1129894" cy="167640"/>
            </a:xfrm>
            <a:prstGeom prst="rect">
              <a:avLst/>
            </a:prstGeom>
            <a:noFill/>
            <a:ln>
              <a:noFill/>
            </a:ln>
          </p:spPr>
          <p:txBody>
            <a:bodyPr wrap="none" lIns="0" tIns="0" rIns="0" bIns="0" anchor="t" anchorCtr="0">
              <a:spAutoFit/>
            </a:bodyPr>
            <a:lstStyle/>
            <a:p>
              <a:pPr algn="l"/>
              <a:r>
                <a:rPr lang="zh-CN" sz="825" b="1" dirty="0">
                  <a:solidFill>
                    <a:srgbClr val="111111"/>
                  </a:solidFill>
                  <a:latin typeface="Arial Black"/>
                  <a:ea typeface="SimHei"/>
                  <a:cs typeface="Arial Black"/>
                </a:rPr>
                <a:t>5 W · CLAUDE 4 OPUS</a:t>
              </a:r>
            </a:p>
          </p:txBody>
        </p:sp>
        <p:sp>
          <p:nvSpPr>
            <p:cNvPr id="58" name="Rectangle 58"/>
            <p:cNvSpPr/>
            <p:nvPr/>
          </p:nvSpPr>
          <p:spPr>
            <a:xfrm>
              <a:off x="3505200" y="6019800"/>
              <a:ext cx="3429000" cy="95250"/>
            </a:xfrm>
            <a:prstGeom prst="rect">
              <a:avLst/>
            </a:prstGeom>
            <a:solidFill>
              <a:srgbClr val="3A3A3A">
                <a:alpha val="32000"/>
              </a:srgbClr>
            </a:solidFill>
            <a:ln>
              <a:noFill/>
            </a:ln>
          </p:spPr>
        </p:sp>
        <p:sp>
          <p:nvSpPr>
            <p:cNvPr id="59" name="Line 59"/>
            <p:cNvSpPr/>
            <p:nvPr/>
          </p:nvSpPr>
          <p:spPr>
            <a:xfrm>
              <a:off x="3505200" y="6000750"/>
              <a:ext cx="9525" cy="133350"/>
            </a:xfrm>
            <a:custGeom>
              <a:avLst/>
              <a:gdLst/>
              <a:ahLst/>
              <a:cxnLst/>
              <a:rect l="l" t="t" r="r" b="b"/>
              <a:pathLst>
                <a:path w="9525" h="133350">
                  <a:moveTo>
                    <a:pt x="0" y="0"/>
                  </a:moveTo>
                  <a:lnTo>
                    <a:pt x="0" y="133350"/>
                  </a:lnTo>
                </a:path>
              </a:pathLst>
            </a:custGeom>
            <a:noFill/>
            <a:ln w="14288">
              <a:solidFill>
                <a:srgbClr val="3A3A3A"/>
              </a:solidFill>
            </a:ln>
          </p:spPr>
        </p:sp>
        <p:sp>
          <p:nvSpPr>
            <p:cNvPr id="60" name="Line 60"/>
            <p:cNvSpPr/>
            <p:nvPr/>
          </p:nvSpPr>
          <p:spPr>
            <a:xfrm>
              <a:off x="6934200" y="6000750"/>
              <a:ext cx="9525" cy="133350"/>
            </a:xfrm>
            <a:custGeom>
              <a:avLst/>
              <a:gdLst/>
              <a:ahLst/>
              <a:cxnLst/>
              <a:rect l="l" t="t" r="r" b="b"/>
              <a:pathLst>
                <a:path w="9525" h="133350">
                  <a:moveTo>
                    <a:pt x="0" y="0"/>
                  </a:moveTo>
                  <a:lnTo>
                    <a:pt x="0" y="133350"/>
                  </a:lnTo>
                </a:path>
              </a:pathLst>
            </a:custGeom>
            <a:noFill/>
            <a:ln w="14288">
              <a:solidFill>
                <a:srgbClr val="3A3A3A"/>
              </a:solidFill>
            </a:ln>
          </p:spPr>
        </p:sp>
        <p:sp>
          <p:nvSpPr>
            <p:cNvPr id="61" name="TextBox 61"/>
            <p:cNvSpPr txBox="1"/>
            <p:nvPr/>
          </p:nvSpPr>
          <p:spPr>
            <a:xfrm>
              <a:off x="7019925" y="6024562"/>
              <a:ext cx="2029301" cy="152400"/>
            </a:xfrm>
            <a:prstGeom prst="rect">
              <a:avLst/>
            </a:prstGeom>
            <a:noFill/>
            <a:ln>
              <a:noFill/>
            </a:ln>
          </p:spPr>
          <p:txBody>
            <a:bodyPr wrap="none" lIns="0" tIns="0" rIns="0" bIns="0" anchor="t" anchorCtr="0">
              <a:spAutoFit/>
            </a:bodyPr>
            <a:lstStyle/>
            <a:p>
              <a:pPr algn="l"/>
              <a:r>
                <a:rPr lang="zh-CN" sz="750" i="1" dirty="0">
                  <a:solidFill>
                    <a:srgbClr val="3A3A3A"/>
                  </a:solidFill>
                  <a:latin typeface="Times New Roman"/>
                  <a:ea typeface="SimSun"/>
                  <a:cs typeface="Times New Roman"/>
                </a:rPr>
                <a:t>illustrative band — rest of frontier class</a:t>
              </a:r>
            </a:p>
          </p:txBody>
        </p:sp>
      </p:grpSp>
      <p:grpSp>
        <p:nvGrpSpPr>
          <p:cNvPr id="65" name="Group 65"/>
          <p:cNvGrpSpPr/>
          <p:nvPr/>
        </p:nvGrpSpPr>
        <p:grpSpPr>
          <a:xfrm>
            <a:off x="762000" y="6149816"/>
            <a:ext cx="9043608" cy="167640"/>
            <a:chOff x="762000" y="6149816"/>
            <a:chExt cx="9043608" cy="167640"/>
          </a:xfrm>
        </p:grpSpPr>
        <p:sp>
          <p:nvSpPr>
            <p:cNvPr id="63" name="Rectangle 63"/>
            <p:cNvSpPr/>
            <p:nvPr/>
          </p:nvSpPr>
          <p:spPr>
            <a:xfrm>
              <a:off x="762000" y="6153150"/>
              <a:ext cx="7886700" cy="95250"/>
            </a:xfrm>
            <a:prstGeom prst="rect">
              <a:avLst/>
            </a:prstGeom>
            <a:solidFill>
              <a:srgbClr val="C8102E"/>
            </a:solidFill>
            <a:ln>
              <a:noFill/>
            </a:ln>
          </p:spPr>
        </p:sp>
        <p:sp>
          <p:nvSpPr>
            <p:cNvPr id="64" name="TextBox 64"/>
            <p:cNvSpPr txBox="1"/>
            <p:nvPr/>
          </p:nvSpPr>
          <p:spPr>
            <a:xfrm>
              <a:off x="8733472" y="6149816"/>
              <a:ext cx="1072136" cy="167640"/>
            </a:xfrm>
            <a:prstGeom prst="rect">
              <a:avLst/>
            </a:prstGeom>
            <a:noFill/>
            <a:ln>
              <a:noFill/>
            </a:ln>
          </p:spPr>
          <p:txBody>
            <a:bodyPr wrap="none" lIns="0" tIns="0" rIns="0" bIns="0" anchor="t" anchorCtr="0">
              <a:spAutoFit/>
            </a:bodyPr>
            <a:lstStyle/>
            <a:p>
              <a:pPr algn="l"/>
              <a:r>
                <a:rPr lang="zh-CN" sz="825" b="1" dirty="0">
                  <a:solidFill>
                    <a:srgbClr val="C8102E"/>
                  </a:solidFill>
                  <a:latin typeface="Arial Black"/>
                  <a:ea typeface="SimHei"/>
                  <a:cs typeface="Arial Black"/>
                </a:rPr>
                <a:t>23 W · DEEPSEEK V3</a:t>
              </a:r>
            </a:p>
          </p:txBody>
        </p:sp>
      </p:grpSp>
      <p:grpSp>
        <p:nvGrpSpPr>
          <p:cNvPr id="69" name="Group 69"/>
          <p:cNvGrpSpPr/>
          <p:nvPr/>
        </p:nvGrpSpPr>
        <p:grpSpPr>
          <a:xfrm>
            <a:off x="448628" y="6553200"/>
            <a:ext cx="11294744" cy="254794"/>
            <a:chOff x="448628" y="6553200"/>
            <a:chExt cx="11294744" cy="254794"/>
          </a:xfrm>
        </p:grpSpPr>
        <p:sp>
          <p:nvSpPr>
            <p:cNvPr id="66" name="Rectangle 66"/>
            <p:cNvSpPr/>
            <p:nvPr/>
          </p:nvSpPr>
          <p:spPr>
            <a:xfrm>
              <a:off x="457200" y="6553200"/>
              <a:ext cx="11277600" cy="19050"/>
            </a:xfrm>
            <a:prstGeom prst="rect">
              <a:avLst/>
            </a:prstGeom>
            <a:solidFill>
              <a:srgbClr val="C8102E"/>
            </a:solidFill>
            <a:ln>
              <a:noFill/>
            </a:ln>
          </p:spPr>
        </p:sp>
        <p:sp>
          <p:nvSpPr>
            <p:cNvPr id="67" name="TextBox 67"/>
            <p:cNvSpPr txBox="1"/>
            <p:nvPr/>
          </p:nvSpPr>
          <p:spPr>
            <a:xfrm>
              <a:off x="448628" y="6670834"/>
              <a:ext cx="5328709" cy="137160"/>
            </a:xfrm>
            <a:prstGeom prst="rect">
              <a:avLst/>
            </a:prstGeom>
            <a:noFill/>
            <a:ln>
              <a:noFill/>
            </a:ln>
          </p:spPr>
          <p:txBody>
            <a:bodyPr wrap="none" lIns="0" tIns="0" rIns="0" bIns="0" anchor="t" anchorCtr="0">
              <a:spAutoFit/>
            </a:bodyPr>
            <a:lstStyle/>
            <a:p>
              <a:pPr algn="l"/>
              <a:r>
                <a:rPr lang="zh-CN" sz="675" b="1" dirty="0">
                  <a:solidFill>
                    <a:srgbClr val="111111"/>
                  </a:solidFill>
                  <a:latin typeface="Consolas"/>
                  <a:ea typeface="Microsoft YaHei"/>
                  <a:cs typeface="Consolas"/>
                </a:rPr>
                <a:t>SOURCE STANFORD HAI AI INDEX 2026 · TWO ANCHORS MEASURED; MIDDLE BAND ILLUSTRATIVE OF REPORTED FRONTIER RANGE</a:t>
              </a:r>
            </a:p>
          </p:txBody>
        </p:sp>
        <p:sp>
          <p:nvSpPr>
            <p:cNvPr id="68" name="TextBox 68"/>
            <p:cNvSpPr txBox="1"/>
            <p:nvPr/>
          </p:nvSpPr>
          <p:spPr>
            <a:xfrm>
              <a:off x="11196961" y="6670834"/>
              <a:ext cx="546411" cy="137160"/>
            </a:xfrm>
            <a:prstGeom prst="rect">
              <a:avLst/>
            </a:prstGeom>
            <a:noFill/>
            <a:ln>
              <a:noFill/>
            </a:ln>
          </p:spPr>
          <p:txBody>
            <a:bodyPr wrap="none" lIns="0" tIns="0" rIns="0" bIns="0" anchor="t" anchorCtr="0">
              <a:spAutoFit/>
            </a:bodyPr>
            <a:lstStyle/>
            <a:p>
              <a:pPr algn="r"/>
              <a:r>
                <a:rPr lang="zh-CN" sz="675" b="1" dirty="0">
                  <a:solidFill>
                    <a:srgbClr val="111111"/>
                  </a:solidFill>
                  <a:latin typeface="Consolas"/>
                  <a:ea typeface="Microsoft YaHei"/>
                  <a:cs typeface="Consolas"/>
                </a:rPr>
                <a:t>PAGE 06 / 10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0"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ox(in)">
                                      <p:cBhvr>
                                        <p:cTn id="7" dur="400"/>
                                        <p:tgtEl>
                                          <p:spTgt spid="22"/>
                                        </p:tgtEl>
                                      </p:cBhvr>
                                    </p:animEffect>
                                  </p:childTnLst>
                                </p:cTn>
                              </p:par>
                            </p:childTnLst>
                          </p:cTn>
                        </p:par>
                        <p:par>
                          <p:cTn id="8" fill="hold">
                            <p:stCondLst>
                              <p:cond delay="900"/>
                            </p:stCondLst>
                            <p:childTnLst>
                              <p:par>
                                <p:cTn id="9" presetID="8" presetClass="entr" presetSubtype="0"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diamond(in)">
                                      <p:cBhvr>
                                        <p:cTn id="11" dur="400"/>
                                        <p:tgtEl>
                                          <p:spTgt spid="29"/>
                                        </p:tgtEl>
                                      </p:cBhvr>
                                    </p:animEffect>
                                  </p:childTnLst>
                                </p:cTn>
                              </p:par>
                            </p:childTnLst>
                          </p:cTn>
                        </p:par>
                        <p:par>
                          <p:cTn id="12" fill="hold">
                            <p:stCondLst>
                              <p:cond delay="1800"/>
                            </p:stCondLst>
                            <p:childTnLst>
                              <p:par>
                                <p:cTn id="13" presetID="21" presetClass="entr" presetSubtype="0" fill="hold" nodeType="after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wheel(4)">
                                      <p:cBhvr>
                                        <p:cTn id="15" dur="400"/>
                                        <p:tgtEl>
                                          <p:spTgt spid="34"/>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image">
                                      <p:cBhvr>
                                        <p:cTn id="19" dur="400"/>
                                        <p:tgtEl>
                                          <p:spTgt spid="39"/>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42"/>
                                        </p:tgtEl>
                                        <p:attrNameLst>
                                          <p:attrName>style.visibility</p:attrName>
                                        </p:attrNameLst>
                                      </p:cBhvr>
                                      <p:to>
                                        <p:strVal val="visible"/>
                                      </p:to>
                                    </p:set>
                                    <p:animEffect transition="in" filter="fade">
                                      <p:cBhvr>
                                        <p:cTn id="23" dur="400"/>
                                        <p:tgtEl>
                                          <p:spTgt spid="42"/>
                                        </p:tgtEl>
                                      </p:cBhvr>
                                    </p:animEffect>
                                  </p:childTnLst>
                                </p:cTn>
                              </p:par>
                            </p:childTnLst>
                          </p:cTn>
                        </p:par>
                        <p:par>
                          <p:cTn id="24" fill="hold">
                            <p:stCondLst>
                              <p:cond delay="4500"/>
                            </p:stCondLst>
                            <p:childTnLst>
                              <p:par>
                                <p:cTn id="25" presetID="22" presetClass="entr" presetSubtype="1" fill="hold" nodeType="afterEffect">
                                  <p:stCondLst>
                                    <p:cond delay="0"/>
                                  </p:stCondLst>
                                  <p:childTnLst>
                                    <p:set>
                                      <p:cBhvr>
                                        <p:cTn id="26" dur="1" fill="hold">
                                          <p:stCondLst>
                                            <p:cond delay="0"/>
                                          </p:stCondLst>
                                        </p:cTn>
                                        <p:tgtEl>
                                          <p:spTgt spid="62"/>
                                        </p:tgtEl>
                                        <p:attrNameLst>
                                          <p:attrName>style.visibility</p:attrName>
                                        </p:attrNameLst>
                                      </p:cBhvr>
                                      <p:to>
                                        <p:strVal val="visible"/>
                                      </p:to>
                                    </p:set>
                                    <p:animEffect transition="in" filter="wipe(left)">
                                      <p:cBhvr>
                                        <p:cTn id="27" dur="400"/>
                                        <p:tgtEl>
                                          <p:spTgt spid="62"/>
                                        </p:tgtEl>
                                      </p:cBhvr>
                                    </p:animEffect>
                                  </p:childTnLst>
                                </p:cTn>
                              </p:par>
                            </p:childTnLst>
                          </p:cTn>
                        </p:par>
                        <p:par>
                          <p:cTn id="28" fill="hold">
                            <p:stCondLst>
                              <p:cond delay="5400"/>
                            </p:stCondLst>
                            <p:childTnLst>
                              <p:par>
                                <p:cTn id="29" presetID="22" presetClass="entr" presetSubtype="1" fill="hold" nodeType="afterEffect">
                                  <p:stCondLst>
                                    <p:cond delay="0"/>
                                  </p:stCondLst>
                                  <p:childTnLst>
                                    <p:set>
                                      <p:cBhvr>
                                        <p:cTn id="30" dur="1" fill="hold">
                                          <p:stCondLst>
                                            <p:cond delay="0"/>
                                          </p:stCondLst>
                                        </p:cTn>
                                        <p:tgtEl>
                                          <p:spTgt spid="65"/>
                                        </p:tgtEl>
                                        <p:attrNameLst>
                                          <p:attrName>style.visibility</p:attrName>
                                        </p:attrNameLst>
                                      </p:cBhvr>
                                      <p:to>
                                        <p:strVal val="visible"/>
                                      </p:to>
                                    </p:set>
                                    <p:animEffect transition="in" filter="wipe(left)">
                                      <p:cBhvr>
                                        <p:cTn id="31" dur="4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9" grpId="0"/>
      <p:bldP spid="34" grpId="0"/>
      <p:bldP spid="39" grpId="0"/>
      <p:bldP spid="42" grpId="0"/>
      <p:bldP spid="62" grpId="0"/>
      <p:bldP spid="6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solidFill>
            <a:srgbClr val="C8102E"/>
          </a:solidFill>
          <a:ln>
            <a:noFill/>
          </a:ln>
        </p:spPr>
      </p:sp>
      <p:grpSp>
        <p:nvGrpSpPr>
          <p:cNvPr id="8" name="Group 8"/>
          <p:cNvGrpSpPr/>
          <p:nvPr/>
        </p:nvGrpSpPr>
        <p:grpSpPr>
          <a:xfrm>
            <a:off x="447675" y="166688"/>
            <a:ext cx="11296650" cy="166687"/>
            <a:chOff x="447675" y="166688"/>
            <a:chExt cx="11296650" cy="166687"/>
          </a:xfrm>
        </p:grpSpPr>
        <p:sp>
          <p:nvSpPr>
            <p:cNvPr id="4" name="Line 4"/>
            <p:cNvSpPr/>
            <p:nvPr/>
          </p:nvSpPr>
          <p:spPr>
            <a:xfrm>
              <a:off x="457200" y="323850"/>
              <a:ext cx="11277600" cy="9525"/>
            </a:xfrm>
            <a:custGeom>
              <a:avLst/>
              <a:gdLst/>
              <a:ahLst/>
              <a:cxnLst/>
              <a:rect l="l" t="t" r="r" b="b"/>
              <a:pathLst>
                <a:path w="11277600" h="9525">
                  <a:moveTo>
                    <a:pt x="0" y="0"/>
                  </a:moveTo>
                  <a:lnTo>
                    <a:pt x="11277600" y="0"/>
                  </a:lnTo>
                </a:path>
              </a:pathLst>
            </a:custGeom>
            <a:noFill/>
            <a:ln w="9525">
              <a:solidFill>
                <a:srgbClr val="111111"/>
              </a:solidFill>
            </a:ln>
          </p:spPr>
        </p:sp>
        <p:sp>
          <p:nvSpPr>
            <p:cNvPr id="5" name="TextBox 5"/>
            <p:cNvSpPr txBox="1"/>
            <p:nvPr/>
          </p:nvSpPr>
          <p:spPr>
            <a:xfrm>
              <a:off x="447675" y="166688"/>
              <a:ext cx="1909286" cy="152400"/>
            </a:xfrm>
            <a:prstGeom prst="rect">
              <a:avLst/>
            </a:prstGeom>
            <a:noFill/>
            <a:ln>
              <a:noFill/>
            </a:ln>
          </p:spPr>
          <p:txBody>
            <a:bodyPr wrap="none" lIns="0" tIns="0" rIns="0" bIns="0" anchor="t" anchorCtr="0">
              <a:spAutoFit/>
            </a:bodyPr>
            <a:lstStyle/>
            <a:p>
              <a:pPr algn="l"/>
              <a:r>
                <a:rPr lang="zh-CN" sz="750" b="1" dirty="0">
                  <a:solidFill>
                    <a:srgbClr val="111111"/>
                  </a:solidFill>
                  <a:latin typeface="Consolas"/>
                  <a:ea typeface="Microsoft YaHei"/>
                  <a:cs typeface="Consolas"/>
                </a:rPr>
                <a:t>THE AI INDUSTRY 2026 · ANNUAL REPORT</a:t>
              </a:r>
            </a:p>
          </p:txBody>
        </p:sp>
        <p:sp>
          <p:nvSpPr>
            <p:cNvPr id="6" name="TextBox 6"/>
            <p:cNvSpPr txBox="1"/>
            <p:nvPr/>
          </p:nvSpPr>
          <p:spPr>
            <a:xfrm>
              <a:off x="5548283" y="166688"/>
              <a:ext cx="1095435" cy="152400"/>
            </a:xfrm>
            <a:prstGeom prst="rect">
              <a:avLst/>
            </a:prstGeom>
            <a:noFill/>
            <a:ln>
              <a:noFill/>
            </a:ln>
          </p:spPr>
          <p:txBody>
            <a:bodyPr wrap="none" lIns="0" tIns="0" rIns="0" bIns="0" anchor="t" anchorCtr="0">
              <a:spAutoFit/>
            </a:bodyPr>
            <a:lstStyle/>
            <a:p>
              <a:pPr algn="ctr"/>
              <a:r>
                <a:rPr lang="zh-CN" sz="750" b="1" dirty="0">
                  <a:solidFill>
                    <a:srgbClr val="111111"/>
                  </a:solidFill>
                  <a:latin typeface="Consolas"/>
                  <a:ea typeface="Microsoft YaHei"/>
                  <a:cs typeface="Consolas"/>
                </a:rPr>
                <a:t>STORY IV · CAPABILITY</a:t>
              </a:r>
            </a:p>
          </p:txBody>
        </p:sp>
        <p:sp>
          <p:nvSpPr>
            <p:cNvPr id="7" name="TextBox 7"/>
            <p:cNvSpPr txBox="1"/>
            <p:nvPr/>
          </p:nvSpPr>
          <p:spPr>
            <a:xfrm>
              <a:off x="10454616" y="166688"/>
              <a:ext cx="1289709" cy="152400"/>
            </a:xfrm>
            <a:prstGeom prst="rect">
              <a:avLst/>
            </a:prstGeom>
            <a:noFill/>
            <a:ln>
              <a:noFill/>
            </a:ln>
          </p:spPr>
          <p:txBody>
            <a:bodyPr wrap="none" lIns="0" tIns="0" rIns="0" bIns="0" anchor="t" anchorCtr="0">
              <a:spAutoFit/>
            </a:bodyPr>
            <a:lstStyle/>
            <a:p>
              <a:pPr algn="r"/>
              <a:r>
                <a:rPr lang="zh-CN" sz="750" b="1" dirty="0">
                  <a:solidFill>
                    <a:srgbClr val="111111"/>
                  </a:solidFill>
                  <a:latin typeface="Consolas"/>
                  <a:ea typeface="Microsoft YaHei"/>
                  <a:cs typeface="Consolas"/>
                </a:rPr>
                <a:t>VOL. 1 · NO. 1 · MAY 2026</a:t>
              </a:r>
            </a:p>
          </p:txBody>
        </p:sp>
      </p:grpSp>
      <p:grpSp>
        <p:nvGrpSpPr>
          <p:cNvPr id="13" name="Group 13"/>
          <p:cNvGrpSpPr/>
          <p:nvPr/>
        </p:nvGrpSpPr>
        <p:grpSpPr>
          <a:xfrm>
            <a:off x="415290" y="463391"/>
            <a:ext cx="11319510" cy="1032034"/>
            <a:chOff x="415290" y="463391"/>
            <a:chExt cx="11319510" cy="1032034"/>
          </a:xfrm>
        </p:grpSpPr>
        <p:sp>
          <p:nvSpPr>
            <p:cNvPr id="9" name="TextBox 9"/>
            <p:cNvSpPr txBox="1"/>
            <p:nvPr/>
          </p:nvSpPr>
          <p:spPr>
            <a:xfrm>
              <a:off x="446722" y="463391"/>
              <a:ext cx="1164548" cy="167640"/>
            </a:xfrm>
            <a:prstGeom prst="rect">
              <a:avLst/>
            </a:prstGeom>
            <a:noFill/>
            <a:ln>
              <a:noFill/>
            </a:ln>
          </p:spPr>
          <p:txBody>
            <a:bodyPr wrap="none" lIns="0" tIns="0" rIns="0" bIns="0" anchor="t" anchorCtr="0">
              <a:spAutoFit/>
            </a:bodyPr>
            <a:lstStyle/>
            <a:p>
              <a:pPr algn="l"/>
              <a:r>
                <a:rPr lang="zh-CN" sz="825" b="1" dirty="0">
                  <a:solidFill>
                    <a:srgbClr val="C8102E"/>
                  </a:solidFill>
                  <a:latin typeface="Arial Black"/>
                  <a:ea typeface="SimHei"/>
                  <a:cs typeface="Arial Black"/>
                </a:rPr>
                <a:t>SECTION V · STORY IV</a:t>
              </a:r>
            </a:p>
          </p:txBody>
        </p:sp>
        <p:sp>
          <p:nvSpPr>
            <p:cNvPr id="10" name="TextBox 10"/>
            <p:cNvSpPr txBox="1"/>
            <p:nvPr/>
          </p:nvSpPr>
          <p:spPr>
            <a:xfrm>
              <a:off x="415290" y="691515"/>
              <a:ext cx="9255666" cy="670560"/>
            </a:xfrm>
            <a:prstGeom prst="rect">
              <a:avLst/>
            </a:prstGeom>
            <a:noFill/>
            <a:ln>
              <a:noFill/>
            </a:ln>
          </p:spPr>
          <p:txBody>
            <a:bodyPr wrap="none" lIns="0" tIns="0" rIns="0" bIns="0" anchor="t" anchorCtr="0">
              <a:spAutoFit/>
            </a:bodyPr>
            <a:lstStyle/>
            <a:p>
              <a:pPr algn="l"/>
              <a:r>
                <a:rPr lang="zh-CN" sz="3300" b="1" dirty="0">
                  <a:solidFill>
                    <a:srgbClr val="111111"/>
                  </a:solidFill>
                  <a:latin typeface="Impact"/>
                  <a:ea typeface="SimHei"/>
                  <a:cs typeface="Impact"/>
                </a:rPr>
                <a:t>BENCHMARKS SATURATED FASTER THAN BUILT</a:t>
              </a:r>
            </a:p>
          </p:txBody>
        </p:sp>
        <p:sp>
          <p:nvSpPr>
            <p:cNvPr id="11" name="TextBox 11"/>
            <p:cNvSpPr txBox="1"/>
            <p:nvPr/>
          </p:nvSpPr>
          <p:spPr>
            <a:xfrm>
              <a:off x="441960" y="1184910"/>
              <a:ext cx="10567797" cy="243840"/>
            </a:xfrm>
            <a:prstGeom prst="rect">
              <a:avLst/>
            </a:prstGeom>
            <a:noFill/>
            <a:ln>
              <a:noFill/>
            </a:ln>
          </p:spPr>
          <p:txBody>
            <a:bodyPr wrap="none" lIns="0" tIns="0" rIns="0" bIns="0" anchor="t" anchorCtr="0">
              <a:spAutoFit/>
            </a:bodyPr>
            <a:lstStyle/>
            <a:p>
              <a:pPr algn="l"/>
              <a:r>
                <a:rPr lang="zh-CN" sz="1200" i="1" dirty="0">
                  <a:solidFill>
                    <a:srgbClr val="111111"/>
                  </a:solidFill>
                  <a:latin typeface="Times New Roman"/>
                  <a:ea typeface="SimSun"/>
                  <a:cs typeface="Times New Roman"/>
                </a:rPr>
                <a:t>Evaluations designed to last years are saturated in months — the bench-design community is now permanently behind the release cycle.</a:t>
              </a:r>
            </a:p>
          </p:txBody>
        </p:sp>
        <p:sp>
          <p:nvSpPr>
            <p:cNvPr id="12" name="Line 12"/>
            <p:cNvSpPr/>
            <p:nvPr/>
          </p:nvSpPr>
          <p:spPr>
            <a:xfrm>
              <a:off x="457200" y="1485900"/>
              <a:ext cx="11277600" cy="9525"/>
            </a:xfrm>
            <a:custGeom>
              <a:avLst/>
              <a:gdLst/>
              <a:ahLst/>
              <a:cxnLst/>
              <a:rect l="l" t="t" r="r" b="b"/>
              <a:pathLst>
                <a:path w="11277600" h="9525">
                  <a:moveTo>
                    <a:pt x="0" y="0"/>
                  </a:moveTo>
                  <a:lnTo>
                    <a:pt x="11277600" y="0"/>
                  </a:lnTo>
                </a:path>
              </a:pathLst>
            </a:custGeom>
            <a:noFill/>
            <a:ln w="19050">
              <a:solidFill>
                <a:srgbClr val="111111"/>
              </a:solidFill>
            </a:ln>
          </p:spPr>
        </p:sp>
      </p:grpSp>
      <p:grpSp>
        <p:nvGrpSpPr>
          <p:cNvPr id="22" name="Group 22"/>
          <p:cNvGrpSpPr/>
          <p:nvPr/>
        </p:nvGrpSpPr>
        <p:grpSpPr>
          <a:xfrm>
            <a:off x="504825" y="1685925"/>
            <a:ext cx="11238547" cy="183356"/>
            <a:chOff x="504825" y="1685925"/>
            <a:chExt cx="11238547" cy="183356"/>
          </a:xfrm>
        </p:grpSpPr>
        <p:sp>
          <p:nvSpPr>
            <p:cNvPr id="14" name="Ellipse 14"/>
            <p:cNvSpPr/>
            <p:nvPr/>
          </p:nvSpPr>
          <p:spPr>
            <a:xfrm>
              <a:off x="504825" y="1685925"/>
              <a:ext cx="133350" cy="133350"/>
            </a:xfrm>
            <a:prstGeom prst="ellipse">
              <a:avLst/>
            </a:prstGeom>
            <a:solidFill>
              <a:srgbClr val="111111"/>
            </a:solidFill>
            <a:ln>
              <a:noFill/>
            </a:ln>
          </p:spPr>
        </p:sp>
        <p:sp>
          <p:nvSpPr>
            <p:cNvPr id="15" name="TextBox 15"/>
            <p:cNvSpPr txBox="1"/>
            <p:nvPr/>
          </p:nvSpPr>
          <p:spPr>
            <a:xfrm>
              <a:off x="694372" y="1701641"/>
              <a:ext cx="275087" cy="167640"/>
            </a:xfrm>
            <a:prstGeom prst="rect">
              <a:avLst/>
            </a:prstGeom>
            <a:noFill/>
            <a:ln>
              <a:noFill/>
            </a:ln>
          </p:spPr>
          <p:txBody>
            <a:bodyPr wrap="none" lIns="0" tIns="0" rIns="0" bIns="0" anchor="t" anchorCtr="0">
              <a:spAutoFit/>
            </a:bodyPr>
            <a:lstStyle/>
            <a:p>
              <a:pPr algn="l"/>
              <a:r>
                <a:rPr lang="zh-CN" sz="825" b="1" dirty="0">
                  <a:solidFill>
                    <a:srgbClr val="111111"/>
                  </a:solidFill>
                  <a:latin typeface="Arial Black"/>
                  <a:ea typeface="SimHei"/>
                  <a:cs typeface="Arial Black"/>
                </a:rPr>
                <a:t>2024</a:t>
              </a:r>
            </a:p>
          </p:txBody>
        </p:sp>
        <p:sp>
          <p:nvSpPr>
            <p:cNvPr id="16" name="TextBox 16"/>
            <p:cNvSpPr txBox="1"/>
            <p:nvPr/>
          </p:nvSpPr>
          <p:spPr>
            <a:xfrm>
              <a:off x="1113472" y="1701641"/>
              <a:ext cx="813054" cy="167640"/>
            </a:xfrm>
            <a:prstGeom prst="rect">
              <a:avLst/>
            </a:prstGeom>
            <a:noFill/>
            <a:ln>
              <a:noFill/>
            </a:ln>
          </p:spPr>
          <p:txBody>
            <a:bodyPr wrap="none" lIns="0" tIns="0" rIns="0" bIns="0" anchor="t" anchorCtr="0">
              <a:spAutoFit/>
            </a:bodyPr>
            <a:lstStyle/>
            <a:p>
              <a:pPr algn="l"/>
              <a:r>
                <a:rPr lang="zh-CN" sz="825" i="1" dirty="0">
                  <a:solidFill>
                    <a:srgbClr val="3A3A3A"/>
                  </a:solidFill>
                  <a:latin typeface="Times New Roman"/>
                  <a:ea typeface="SimSun"/>
                  <a:cs typeface="Times New Roman"/>
                </a:rPr>
                <a:t>starting score</a:t>
              </a:r>
            </a:p>
          </p:txBody>
        </p:sp>
        <p:sp>
          <p:nvSpPr>
            <p:cNvPr id="17" name="Ellipse 17"/>
            <p:cNvSpPr/>
            <p:nvPr/>
          </p:nvSpPr>
          <p:spPr>
            <a:xfrm>
              <a:off x="2219325" y="1685925"/>
              <a:ext cx="133350" cy="133350"/>
            </a:xfrm>
            <a:prstGeom prst="ellipse">
              <a:avLst/>
            </a:prstGeom>
            <a:solidFill>
              <a:srgbClr val="C8102E"/>
            </a:solidFill>
            <a:ln>
              <a:noFill/>
            </a:ln>
          </p:spPr>
        </p:sp>
        <p:sp>
          <p:nvSpPr>
            <p:cNvPr id="18" name="TextBox 18"/>
            <p:cNvSpPr txBox="1"/>
            <p:nvPr/>
          </p:nvSpPr>
          <p:spPr>
            <a:xfrm>
              <a:off x="2408872" y="1701641"/>
              <a:ext cx="275087" cy="167640"/>
            </a:xfrm>
            <a:prstGeom prst="rect">
              <a:avLst/>
            </a:prstGeom>
            <a:noFill/>
            <a:ln>
              <a:noFill/>
            </a:ln>
          </p:spPr>
          <p:txBody>
            <a:bodyPr wrap="none" lIns="0" tIns="0" rIns="0" bIns="0" anchor="t" anchorCtr="0">
              <a:spAutoFit/>
            </a:bodyPr>
            <a:lstStyle/>
            <a:p>
              <a:pPr algn="l"/>
              <a:r>
                <a:rPr lang="zh-CN" sz="825" b="1" dirty="0">
                  <a:solidFill>
                    <a:srgbClr val="C8102E"/>
                  </a:solidFill>
                  <a:latin typeface="Arial Black"/>
                  <a:ea typeface="SimHei"/>
                  <a:cs typeface="Arial Black"/>
                </a:rPr>
                <a:t>2025</a:t>
              </a:r>
            </a:p>
          </p:txBody>
        </p:sp>
        <p:sp>
          <p:nvSpPr>
            <p:cNvPr id="19" name="TextBox 19"/>
            <p:cNvSpPr txBox="1"/>
            <p:nvPr/>
          </p:nvSpPr>
          <p:spPr>
            <a:xfrm>
              <a:off x="2827972" y="1701641"/>
              <a:ext cx="1176099" cy="167640"/>
            </a:xfrm>
            <a:prstGeom prst="rect">
              <a:avLst/>
            </a:prstGeom>
            <a:noFill/>
            <a:ln>
              <a:noFill/>
            </a:ln>
          </p:spPr>
          <p:txBody>
            <a:bodyPr wrap="none" lIns="0" tIns="0" rIns="0" bIns="0" anchor="t" anchorCtr="0">
              <a:spAutoFit/>
            </a:bodyPr>
            <a:lstStyle/>
            <a:p>
              <a:pPr algn="l"/>
              <a:r>
                <a:rPr lang="zh-CN" sz="825" i="1" dirty="0">
                  <a:solidFill>
                    <a:srgbClr val="3A3A3A"/>
                  </a:solidFill>
                  <a:latin typeface="Times New Roman"/>
                  <a:ea typeface="SimSun"/>
                  <a:cs typeface="Times New Roman"/>
                </a:rPr>
                <a:t>one-year-later score</a:t>
              </a:r>
            </a:p>
          </p:txBody>
        </p:sp>
        <p:sp>
          <p:nvSpPr>
            <p:cNvPr id="20" name="TextBox 20"/>
            <p:cNvSpPr txBox="1"/>
            <p:nvPr/>
          </p:nvSpPr>
          <p:spPr>
            <a:xfrm>
              <a:off x="4752022" y="1701641"/>
              <a:ext cx="4124468" cy="167640"/>
            </a:xfrm>
            <a:prstGeom prst="rect">
              <a:avLst/>
            </a:prstGeom>
            <a:noFill/>
            <a:ln>
              <a:noFill/>
            </a:ln>
          </p:spPr>
          <p:txBody>
            <a:bodyPr wrap="none" lIns="0" tIns="0" rIns="0" bIns="0" anchor="t" anchorCtr="0">
              <a:spAutoFit/>
            </a:bodyPr>
            <a:lstStyle/>
            <a:p>
              <a:pPr algn="l"/>
              <a:r>
                <a:rPr lang="zh-CN" sz="825" i="1" dirty="0">
                  <a:solidFill>
                    <a:srgbClr val="111111"/>
                  </a:solidFill>
                  <a:latin typeface="Times New Roman"/>
                  <a:ea typeface="SimSun"/>
                  <a:cs typeface="Times New Roman"/>
                </a:rPr>
                <a:t>· scoring is normalised: 100 % = human baseline; values above 100 % surpass it</a:t>
              </a:r>
            </a:p>
          </p:txBody>
        </p:sp>
        <p:sp>
          <p:nvSpPr>
            <p:cNvPr id="21" name="TextBox 21"/>
            <p:cNvSpPr txBox="1"/>
            <p:nvPr/>
          </p:nvSpPr>
          <p:spPr>
            <a:xfrm>
              <a:off x="10578584" y="1717834"/>
              <a:ext cx="1164788" cy="137160"/>
            </a:xfrm>
            <a:prstGeom prst="rect">
              <a:avLst/>
            </a:prstGeom>
            <a:noFill/>
            <a:ln>
              <a:noFill/>
            </a:ln>
          </p:spPr>
          <p:txBody>
            <a:bodyPr wrap="none" lIns="0" tIns="0" rIns="0" bIns="0" anchor="t" anchorCtr="0">
              <a:spAutoFit/>
            </a:bodyPr>
            <a:lstStyle/>
            <a:p>
              <a:pPr algn="r"/>
              <a:r>
                <a:rPr lang="zh-CN" sz="675" dirty="0">
                  <a:solidFill>
                    <a:srgbClr val="3A3A3A"/>
                  </a:solidFill>
                  <a:latin typeface="Consolas"/>
                  <a:ea typeface="Microsoft YaHei"/>
                  <a:cs typeface="Consolas"/>
                </a:rPr>
                <a:t>STANFORD HAI AI INDEX 2026</a:t>
              </a:r>
            </a:p>
          </p:txBody>
        </p:sp>
      </p:grpSp>
      <p:grpSp>
        <p:nvGrpSpPr>
          <p:cNvPr id="81" name="Group 81"/>
          <p:cNvGrpSpPr/>
          <p:nvPr/>
        </p:nvGrpSpPr>
        <p:grpSpPr>
          <a:xfrm>
            <a:off x="478107" y="2095500"/>
            <a:ext cx="11454932" cy="3424238"/>
            <a:chOff x="478107" y="2095500"/>
            <a:chExt cx="11454932" cy="3424238"/>
          </a:xfrm>
        </p:grpSpPr>
        <p:sp>
          <p:nvSpPr>
            <p:cNvPr id="23" name="Line 23"/>
            <p:cNvSpPr/>
            <p:nvPr/>
          </p:nvSpPr>
          <p:spPr>
            <a:xfrm>
              <a:off x="2286000" y="2095500"/>
              <a:ext cx="9525" cy="3162300"/>
            </a:xfrm>
            <a:custGeom>
              <a:avLst/>
              <a:gdLst/>
              <a:ahLst/>
              <a:cxnLst/>
              <a:rect l="l" t="t" r="r" b="b"/>
              <a:pathLst>
                <a:path w="9525" h="3162300">
                  <a:moveTo>
                    <a:pt x="0" y="0"/>
                  </a:moveTo>
                  <a:lnTo>
                    <a:pt x="0" y="3162300"/>
                  </a:lnTo>
                </a:path>
              </a:pathLst>
            </a:custGeom>
            <a:noFill/>
            <a:ln w="9525">
              <a:solidFill>
                <a:srgbClr val="111111"/>
              </a:solidFill>
            </a:ln>
          </p:spPr>
        </p:sp>
        <p:sp>
          <p:nvSpPr>
            <p:cNvPr id="24" name="Line 24"/>
            <p:cNvSpPr/>
            <p:nvPr/>
          </p:nvSpPr>
          <p:spPr>
            <a:xfrm>
              <a:off x="4191000" y="2095500"/>
              <a:ext cx="9525" cy="3162300"/>
            </a:xfrm>
            <a:custGeom>
              <a:avLst/>
              <a:gdLst/>
              <a:ahLst/>
              <a:cxnLst/>
              <a:rect l="l" t="t" r="r" b="b"/>
              <a:pathLst>
                <a:path w="9525" h="3162300">
                  <a:moveTo>
                    <a:pt x="0" y="0"/>
                  </a:moveTo>
                  <a:lnTo>
                    <a:pt x="0" y="3162300"/>
                  </a:lnTo>
                </a:path>
              </a:pathLst>
            </a:custGeom>
            <a:noFill/>
            <a:ln w="4762">
              <a:solidFill>
                <a:srgbClr val="3A3A3A"/>
              </a:solidFill>
              <a:custDash>
                <a:ds d="400000" sp="600000"/>
              </a:custDash>
            </a:ln>
          </p:spPr>
        </p:sp>
        <p:sp>
          <p:nvSpPr>
            <p:cNvPr id="25" name="Line 25"/>
            <p:cNvSpPr/>
            <p:nvPr/>
          </p:nvSpPr>
          <p:spPr>
            <a:xfrm>
              <a:off x="6096000" y="2095500"/>
              <a:ext cx="9525" cy="3162300"/>
            </a:xfrm>
            <a:custGeom>
              <a:avLst/>
              <a:gdLst/>
              <a:ahLst/>
              <a:cxnLst/>
              <a:rect l="l" t="t" r="r" b="b"/>
              <a:pathLst>
                <a:path w="9525" h="3162300">
                  <a:moveTo>
                    <a:pt x="0" y="0"/>
                  </a:moveTo>
                  <a:lnTo>
                    <a:pt x="0" y="3162300"/>
                  </a:lnTo>
                </a:path>
              </a:pathLst>
            </a:custGeom>
            <a:noFill/>
            <a:ln w="4762">
              <a:solidFill>
                <a:srgbClr val="3A3A3A"/>
              </a:solidFill>
              <a:custDash>
                <a:ds d="400000" sp="600000"/>
              </a:custDash>
            </a:ln>
          </p:spPr>
        </p:sp>
        <p:sp>
          <p:nvSpPr>
            <p:cNvPr id="26" name="Line 26"/>
            <p:cNvSpPr/>
            <p:nvPr/>
          </p:nvSpPr>
          <p:spPr>
            <a:xfrm>
              <a:off x="8001000" y="2095500"/>
              <a:ext cx="9525" cy="3162300"/>
            </a:xfrm>
            <a:custGeom>
              <a:avLst/>
              <a:gdLst/>
              <a:ahLst/>
              <a:cxnLst/>
              <a:rect l="l" t="t" r="r" b="b"/>
              <a:pathLst>
                <a:path w="9525" h="3162300">
                  <a:moveTo>
                    <a:pt x="0" y="0"/>
                  </a:moveTo>
                  <a:lnTo>
                    <a:pt x="0" y="3162300"/>
                  </a:lnTo>
                </a:path>
              </a:pathLst>
            </a:custGeom>
            <a:noFill/>
            <a:ln w="4762">
              <a:solidFill>
                <a:srgbClr val="3A3A3A"/>
              </a:solidFill>
              <a:custDash>
                <a:ds d="400000" sp="600000"/>
              </a:custDash>
            </a:ln>
          </p:spPr>
        </p:sp>
        <p:sp>
          <p:nvSpPr>
            <p:cNvPr id="27" name="Line 27"/>
            <p:cNvSpPr/>
            <p:nvPr/>
          </p:nvSpPr>
          <p:spPr>
            <a:xfrm>
              <a:off x="9906000" y="2095500"/>
              <a:ext cx="9525" cy="3162300"/>
            </a:xfrm>
            <a:custGeom>
              <a:avLst/>
              <a:gdLst/>
              <a:ahLst/>
              <a:cxnLst/>
              <a:rect l="l" t="t" r="r" b="b"/>
              <a:pathLst>
                <a:path w="9525" h="3162300">
                  <a:moveTo>
                    <a:pt x="0" y="0"/>
                  </a:moveTo>
                  <a:lnTo>
                    <a:pt x="0" y="3162300"/>
                  </a:lnTo>
                </a:path>
              </a:pathLst>
            </a:custGeom>
            <a:noFill/>
            <a:ln w="9525">
              <a:solidFill>
                <a:srgbClr val="C8102E"/>
              </a:solidFill>
            </a:ln>
          </p:spPr>
        </p:sp>
        <p:sp>
          <p:nvSpPr>
            <p:cNvPr id="28" name="Line 28"/>
            <p:cNvSpPr/>
            <p:nvPr/>
          </p:nvSpPr>
          <p:spPr>
            <a:xfrm>
              <a:off x="11811000" y="2095500"/>
              <a:ext cx="9525" cy="3162300"/>
            </a:xfrm>
            <a:custGeom>
              <a:avLst/>
              <a:gdLst/>
              <a:ahLst/>
              <a:cxnLst/>
              <a:rect l="l" t="t" r="r" b="b"/>
              <a:pathLst>
                <a:path w="9525" h="3162300">
                  <a:moveTo>
                    <a:pt x="0" y="0"/>
                  </a:moveTo>
                  <a:lnTo>
                    <a:pt x="0" y="3162300"/>
                  </a:lnTo>
                </a:path>
              </a:pathLst>
            </a:custGeom>
            <a:noFill/>
            <a:ln w="4762">
              <a:solidFill>
                <a:srgbClr val="3A3A3A"/>
              </a:solidFill>
              <a:custDash>
                <a:ds d="400000" sp="600000"/>
              </a:custDash>
            </a:ln>
          </p:spPr>
        </p:sp>
        <p:sp>
          <p:nvSpPr>
            <p:cNvPr id="29" name="Line 29"/>
            <p:cNvSpPr/>
            <p:nvPr/>
          </p:nvSpPr>
          <p:spPr>
            <a:xfrm>
              <a:off x="2286000" y="5257800"/>
              <a:ext cx="9525000" cy="9525"/>
            </a:xfrm>
            <a:custGeom>
              <a:avLst/>
              <a:gdLst/>
              <a:ahLst/>
              <a:cxnLst/>
              <a:rect l="l" t="t" r="r" b="b"/>
              <a:pathLst>
                <a:path w="9525000" h="9525">
                  <a:moveTo>
                    <a:pt x="0" y="0"/>
                  </a:moveTo>
                  <a:lnTo>
                    <a:pt x="9525000" y="0"/>
                  </a:lnTo>
                </a:path>
              </a:pathLst>
            </a:custGeom>
            <a:noFill/>
            <a:ln w="14288">
              <a:solidFill>
                <a:srgbClr val="111111"/>
              </a:solidFill>
            </a:ln>
          </p:spPr>
        </p:sp>
        <p:sp>
          <p:nvSpPr>
            <p:cNvPr id="30" name="TextBox 30"/>
            <p:cNvSpPr txBox="1"/>
            <p:nvPr/>
          </p:nvSpPr>
          <p:spPr>
            <a:xfrm>
              <a:off x="2206466" y="5367338"/>
              <a:ext cx="159068" cy="152400"/>
            </a:xfrm>
            <a:prstGeom prst="rect">
              <a:avLst/>
            </a:prstGeom>
            <a:noFill/>
            <a:ln>
              <a:noFill/>
            </a:ln>
          </p:spPr>
          <p:txBody>
            <a:bodyPr wrap="none" lIns="0" tIns="0" rIns="0" bIns="0" anchor="t" anchorCtr="0">
              <a:spAutoFit/>
            </a:bodyPr>
            <a:lstStyle/>
            <a:p>
              <a:pPr algn="ctr"/>
              <a:r>
                <a:rPr lang="zh-CN" sz="750" dirty="0">
                  <a:solidFill>
                    <a:srgbClr val="3A3A3A"/>
                  </a:solidFill>
                  <a:latin typeface="Consolas"/>
                  <a:ea typeface="Microsoft YaHei"/>
                  <a:cs typeface="Consolas"/>
                </a:rPr>
                <a:t>0 %</a:t>
              </a:r>
            </a:p>
          </p:txBody>
        </p:sp>
        <p:sp>
          <p:nvSpPr>
            <p:cNvPr id="31" name="TextBox 31"/>
            <p:cNvSpPr txBox="1"/>
            <p:nvPr/>
          </p:nvSpPr>
          <p:spPr>
            <a:xfrm>
              <a:off x="4083963" y="5367338"/>
              <a:ext cx="214074" cy="152400"/>
            </a:xfrm>
            <a:prstGeom prst="rect">
              <a:avLst/>
            </a:prstGeom>
            <a:noFill/>
            <a:ln>
              <a:noFill/>
            </a:ln>
          </p:spPr>
          <p:txBody>
            <a:bodyPr wrap="none" lIns="0" tIns="0" rIns="0" bIns="0" anchor="t" anchorCtr="0">
              <a:spAutoFit/>
            </a:bodyPr>
            <a:lstStyle/>
            <a:p>
              <a:pPr algn="ctr"/>
              <a:r>
                <a:rPr lang="zh-CN" sz="750" dirty="0">
                  <a:solidFill>
                    <a:srgbClr val="3A3A3A"/>
                  </a:solidFill>
                  <a:latin typeface="Consolas"/>
                  <a:ea typeface="Microsoft YaHei"/>
                  <a:cs typeface="Consolas"/>
                </a:rPr>
                <a:t>25 %</a:t>
              </a:r>
            </a:p>
          </p:txBody>
        </p:sp>
        <p:sp>
          <p:nvSpPr>
            <p:cNvPr id="32" name="TextBox 32"/>
            <p:cNvSpPr txBox="1"/>
            <p:nvPr/>
          </p:nvSpPr>
          <p:spPr>
            <a:xfrm>
              <a:off x="5988963" y="5367338"/>
              <a:ext cx="214074" cy="152400"/>
            </a:xfrm>
            <a:prstGeom prst="rect">
              <a:avLst/>
            </a:prstGeom>
            <a:noFill/>
            <a:ln>
              <a:noFill/>
            </a:ln>
          </p:spPr>
          <p:txBody>
            <a:bodyPr wrap="none" lIns="0" tIns="0" rIns="0" bIns="0" anchor="t" anchorCtr="0">
              <a:spAutoFit/>
            </a:bodyPr>
            <a:lstStyle/>
            <a:p>
              <a:pPr algn="ctr"/>
              <a:r>
                <a:rPr lang="zh-CN" sz="750" dirty="0">
                  <a:solidFill>
                    <a:srgbClr val="3A3A3A"/>
                  </a:solidFill>
                  <a:latin typeface="Consolas"/>
                  <a:ea typeface="Microsoft YaHei"/>
                  <a:cs typeface="Consolas"/>
                </a:rPr>
                <a:t>50 %</a:t>
              </a:r>
            </a:p>
          </p:txBody>
        </p:sp>
        <p:sp>
          <p:nvSpPr>
            <p:cNvPr id="33" name="TextBox 33"/>
            <p:cNvSpPr txBox="1"/>
            <p:nvPr/>
          </p:nvSpPr>
          <p:spPr>
            <a:xfrm>
              <a:off x="7893963" y="5367338"/>
              <a:ext cx="214074" cy="152400"/>
            </a:xfrm>
            <a:prstGeom prst="rect">
              <a:avLst/>
            </a:prstGeom>
            <a:noFill/>
            <a:ln>
              <a:noFill/>
            </a:ln>
          </p:spPr>
          <p:txBody>
            <a:bodyPr wrap="none" lIns="0" tIns="0" rIns="0" bIns="0" anchor="t" anchorCtr="0">
              <a:spAutoFit/>
            </a:bodyPr>
            <a:lstStyle/>
            <a:p>
              <a:pPr algn="ctr"/>
              <a:r>
                <a:rPr lang="zh-CN" sz="750" dirty="0">
                  <a:solidFill>
                    <a:srgbClr val="3A3A3A"/>
                  </a:solidFill>
                  <a:latin typeface="Consolas"/>
                  <a:ea typeface="Microsoft YaHei"/>
                  <a:cs typeface="Consolas"/>
                </a:rPr>
                <a:t>75 %</a:t>
              </a:r>
            </a:p>
          </p:txBody>
        </p:sp>
        <p:sp>
          <p:nvSpPr>
            <p:cNvPr id="34" name="TextBox 34"/>
            <p:cNvSpPr txBox="1"/>
            <p:nvPr/>
          </p:nvSpPr>
          <p:spPr>
            <a:xfrm>
              <a:off x="9563058" y="5367338"/>
              <a:ext cx="685883" cy="152400"/>
            </a:xfrm>
            <a:prstGeom prst="rect">
              <a:avLst/>
            </a:prstGeom>
            <a:noFill/>
            <a:ln>
              <a:noFill/>
            </a:ln>
          </p:spPr>
          <p:txBody>
            <a:bodyPr wrap="none" lIns="0" tIns="0" rIns="0" bIns="0" anchor="t" anchorCtr="0">
              <a:spAutoFit/>
            </a:bodyPr>
            <a:lstStyle/>
            <a:p>
              <a:pPr algn="ctr"/>
              <a:r>
                <a:rPr lang="zh-CN" sz="750" b="1" dirty="0">
                  <a:solidFill>
                    <a:srgbClr val="C8102E"/>
                  </a:solidFill>
                  <a:latin typeface="Consolas"/>
                  <a:ea typeface="Microsoft YaHei"/>
                  <a:cs typeface="Consolas"/>
                </a:rPr>
                <a:t>100 % · HUMAN</a:t>
              </a:r>
            </a:p>
          </p:txBody>
        </p:sp>
        <p:sp>
          <p:nvSpPr>
            <p:cNvPr id="35" name="TextBox 35"/>
            <p:cNvSpPr txBox="1"/>
            <p:nvPr/>
          </p:nvSpPr>
          <p:spPr>
            <a:xfrm>
              <a:off x="11688961" y="5367338"/>
              <a:ext cx="244078" cy="152400"/>
            </a:xfrm>
            <a:prstGeom prst="rect">
              <a:avLst/>
            </a:prstGeom>
            <a:noFill/>
            <a:ln>
              <a:noFill/>
            </a:ln>
          </p:spPr>
          <p:txBody>
            <a:bodyPr wrap="none" lIns="0" tIns="0" rIns="0" bIns="0" anchor="t" anchorCtr="0">
              <a:spAutoFit/>
            </a:bodyPr>
            <a:lstStyle/>
            <a:p>
              <a:pPr algn="ctr"/>
              <a:r>
                <a:rPr lang="zh-CN" sz="750" dirty="0">
                  <a:solidFill>
                    <a:srgbClr val="3A3A3A"/>
                  </a:solidFill>
                  <a:latin typeface="Consolas"/>
                  <a:ea typeface="Microsoft YaHei"/>
                  <a:cs typeface="Consolas"/>
                </a:rPr>
                <a:t>125 %</a:t>
              </a:r>
            </a:p>
          </p:txBody>
        </p:sp>
        <p:grpSp>
          <p:nvGrpSpPr>
            <p:cNvPr id="44" name="Group 44"/>
            <p:cNvGrpSpPr/>
            <p:nvPr/>
          </p:nvGrpSpPr>
          <p:grpSpPr>
            <a:xfrm>
              <a:off x="1001073" y="2147888"/>
              <a:ext cx="10896604" cy="457200"/>
              <a:chOff x="1001073" y="2147888"/>
              <a:chExt cx="10896604" cy="457200"/>
            </a:xfrm>
          </p:grpSpPr>
          <p:sp>
            <p:nvSpPr>
              <p:cNvPr id="36" name="TextBox 36"/>
              <p:cNvSpPr txBox="1"/>
              <p:nvPr/>
            </p:nvSpPr>
            <p:spPr>
              <a:xfrm>
                <a:off x="1001073" y="2303145"/>
                <a:ext cx="1201107" cy="182880"/>
              </a:xfrm>
              <a:prstGeom prst="rect">
                <a:avLst/>
              </a:prstGeom>
              <a:noFill/>
              <a:ln>
                <a:noFill/>
              </a:ln>
            </p:spPr>
            <p:txBody>
              <a:bodyPr wrap="none" lIns="0" tIns="0" rIns="0" bIns="0" anchor="t" anchorCtr="0">
                <a:spAutoFit/>
              </a:bodyPr>
              <a:lstStyle/>
              <a:p>
                <a:pPr algn="r"/>
                <a:r>
                  <a:rPr lang="zh-CN" sz="900" b="1" dirty="0">
                    <a:solidFill>
                      <a:srgbClr val="111111"/>
                    </a:solidFill>
                    <a:latin typeface="Arial Black"/>
                    <a:ea typeface="SimHei"/>
                    <a:cs typeface="Arial Black"/>
                  </a:rPr>
                  <a:t>SWE-BENCH VERIFIED</a:t>
                </a:r>
              </a:p>
            </p:txBody>
          </p:sp>
          <p:sp>
            <p:nvSpPr>
              <p:cNvPr id="37" name="TextBox 37"/>
              <p:cNvSpPr txBox="1"/>
              <p:nvPr/>
            </p:nvSpPr>
            <p:spPr>
              <a:xfrm>
                <a:off x="1376124" y="2452688"/>
                <a:ext cx="824151" cy="152400"/>
              </a:xfrm>
              <a:prstGeom prst="rect">
                <a:avLst/>
              </a:prstGeom>
              <a:noFill/>
              <a:ln>
                <a:noFill/>
              </a:ln>
            </p:spPr>
            <p:txBody>
              <a:bodyPr wrap="none" lIns="0" tIns="0" rIns="0" bIns="0" anchor="t" anchorCtr="0">
                <a:spAutoFit/>
              </a:bodyPr>
              <a:lstStyle/>
              <a:p>
                <a:pPr algn="r"/>
                <a:r>
                  <a:rPr lang="zh-CN" sz="750" i="1" dirty="0">
                    <a:solidFill>
                      <a:srgbClr val="3A3A3A"/>
                    </a:solidFill>
                    <a:latin typeface="Times New Roman"/>
                    <a:ea typeface="SimSun"/>
                    <a:cs typeface="Times New Roman"/>
                  </a:rPr>
                  <a:t>coding · sourced</a:t>
                </a:r>
              </a:p>
            </p:txBody>
          </p:sp>
          <p:sp>
            <p:nvSpPr>
              <p:cNvPr id="38" name="Line 38"/>
              <p:cNvSpPr/>
              <p:nvPr/>
            </p:nvSpPr>
            <p:spPr>
              <a:xfrm>
                <a:off x="6858000" y="2362200"/>
                <a:ext cx="3048000" cy="9525"/>
              </a:xfrm>
              <a:custGeom>
                <a:avLst/>
                <a:gdLst/>
                <a:ahLst/>
                <a:cxnLst/>
                <a:rect l="l" t="t" r="r" b="b"/>
                <a:pathLst>
                  <a:path w="3048000" h="9525">
                    <a:moveTo>
                      <a:pt x="0" y="0"/>
                    </a:moveTo>
                    <a:lnTo>
                      <a:pt x="3048000" y="0"/>
                    </a:lnTo>
                  </a:path>
                </a:pathLst>
              </a:custGeom>
              <a:noFill/>
              <a:ln w="19050">
                <a:solidFill>
                  <a:srgbClr val="111111"/>
                </a:solidFill>
              </a:ln>
            </p:spPr>
          </p:sp>
          <p:sp>
            <p:nvSpPr>
              <p:cNvPr id="39" name="Ellipse 39"/>
              <p:cNvSpPr/>
              <p:nvPr/>
            </p:nvSpPr>
            <p:spPr>
              <a:xfrm>
                <a:off x="6772275" y="2276475"/>
                <a:ext cx="171450" cy="171450"/>
              </a:xfrm>
              <a:prstGeom prst="ellipse">
                <a:avLst/>
              </a:prstGeom>
              <a:solidFill>
                <a:srgbClr val="111111"/>
              </a:solidFill>
              <a:ln>
                <a:noFill/>
              </a:ln>
            </p:spPr>
          </p:sp>
          <p:sp>
            <p:nvSpPr>
              <p:cNvPr id="40" name="Ellipse 40"/>
              <p:cNvSpPr/>
              <p:nvPr/>
            </p:nvSpPr>
            <p:spPr>
              <a:xfrm>
                <a:off x="9820275" y="2276475"/>
                <a:ext cx="171450" cy="171450"/>
              </a:xfrm>
              <a:prstGeom prst="ellipse">
                <a:avLst/>
              </a:prstGeom>
              <a:solidFill>
                <a:srgbClr val="C8102E"/>
              </a:solidFill>
              <a:ln>
                <a:noFill/>
              </a:ln>
            </p:spPr>
          </p:sp>
          <p:sp>
            <p:nvSpPr>
              <p:cNvPr id="41" name="TextBox 41"/>
              <p:cNvSpPr txBox="1"/>
              <p:nvPr/>
            </p:nvSpPr>
            <p:spPr>
              <a:xfrm>
                <a:off x="6501051" y="2147888"/>
                <a:ext cx="214074" cy="152400"/>
              </a:xfrm>
              <a:prstGeom prst="rect">
                <a:avLst/>
              </a:prstGeom>
              <a:noFill/>
              <a:ln>
                <a:noFill/>
              </a:ln>
            </p:spPr>
            <p:txBody>
              <a:bodyPr wrap="none" lIns="0" tIns="0" rIns="0" bIns="0" anchor="t" anchorCtr="0">
                <a:spAutoFit/>
              </a:bodyPr>
              <a:lstStyle/>
              <a:p>
                <a:pPr algn="r"/>
                <a:r>
                  <a:rPr lang="zh-CN" sz="750" dirty="0">
                    <a:solidFill>
                      <a:srgbClr val="3A3A3A"/>
                    </a:solidFill>
                    <a:latin typeface="Consolas"/>
                    <a:ea typeface="Microsoft YaHei"/>
                    <a:cs typeface="Consolas"/>
                  </a:rPr>
                  <a:t>60 %</a:t>
                </a:r>
              </a:p>
            </p:txBody>
          </p:sp>
          <p:sp>
            <p:nvSpPr>
              <p:cNvPr id="42" name="TextBox 42"/>
              <p:cNvSpPr txBox="1"/>
              <p:nvPr/>
            </p:nvSpPr>
            <p:spPr>
              <a:xfrm>
                <a:off x="10048875" y="2147888"/>
                <a:ext cx="255330" cy="152400"/>
              </a:xfrm>
              <a:prstGeom prst="rect">
                <a:avLst/>
              </a:prstGeom>
              <a:noFill/>
              <a:ln>
                <a:noFill/>
              </a:ln>
            </p:spPr>
            <p:txBody>
              <a:bodyPr wrap="none" lIns="0" tIns="0" rIns="0" bIns="0" anchor="t" anchorCtr="0">
                <a:spAutoFit/>
              </a:bodyPr>
              <a:lstStyle/>
              <a:p>
                <a:pPr algn="l"/>
                <a:r>
                  <a:rPr lang="zh-CN" sz="750" b="1" dirty="0">
                    <a:solidFill>
                      <a:srgbClr val="C8102E"/>
                    </a:solidFill>
                    <a:latin typeface="Consolas"/>
                    <a:ea typeface="Microsoft YaHei"/>
                    <a:cs typeface="Consolas"/>
                  </a:rPr>
                  <a:t>100 %</a:t>
                </a:r>
              </a:p>
            </p:txBody>
          </p:sp>
          <p:sp>
            <p:nvSpPr>
              <p:cNvPr id="43" name="TextBox 43"/>
              <p:cNvSpPr txBox="1"/>
              <p:nvPr/>
            </p:nvSpPr>
            <p:spPr>
              <a:xfrm>
                <a:off x="11524403" y="2311241"/>
                <a:ext cx="373274" cy="167640"/>
              </a:xfrm>
              <a:prstGeom prst="rect">
                <a:avLst/>
              </a:prstGeom>
              <a:noFill/>
              <a:ln>
                <a:noFill/>
              </a:ln>
            </p:spPr>
            <p:txBody>
              <a:bodyPr wrap="none" lIns="0" tIns="0" rIns="0" bIns="0" anchor="t" anchorCtr="0">
                <a:spAutoFit/>
              </a:bodyPr>
              <a:lstStyle/>
              <a:p>
                <a:pPr algn="r"/>
                <a:r>
                  <a:rPr lang="zh-CN" sz="825" b="1" dirty="0">
                    <a:solidFill>
                      <a:srgbClr val="C8102E"/>
                    </a:solidFill>
                    <a:latin typeface="Arial Black"/>
                    <a:ea typeface="SimHei"/>
                    <a:cs typeface="Arial Black"/>
                  </a:rPr>
                  <a:t>+40 pp</a:t>
                </a:r>
              </a:p>
            </p:txBody>
          </p:sp>
        </p:grpSp>
        <p:grpSp>
          <p:nvGrpSpPr>
            <p:cNvPr id="53" name="Group 53"/>
            <p:cNvGrpSpPr/>
            <p:nvPr/>
          </p:nvGrpSpPr>
          <p:grpSpPr>
            <a:xfrm>
              <a:off x="837252" y="2719388"/>
              <a:ext cx="11060425" cy="457200"/>
              <a:chOff x="837252" y="2719388"/>
              <a:chExt cx="11060425" cy="457200"/>
            </a:xfrm>
          </p:grpSpPr>
          <p:sp>
            <p:nvSpPr>
              <p:cNvPr id="45" name="TextBox 45"/>
              <p:cNvSpPr txBox="1"/>
              <p:nvPr/>
            </p:nvSpPr>
            <p:spPr>
              <a:xfrm>
                <a:off x="837252" y="2874645"/>
                <a:ext cx="1364928" cy="182880"/>
              </a:xfrm>
              <a:prstGeom prst="rect">
                <a:avLst/>
              </a:prstGeom>
              <a:noFill/>
              <a:ln>
                <a:noFill/>
              </a:ln>
            </p:spPr>
            <p:txBody>
              <a:bodyPr wrap="none" lIns="0" tIns="0" rIns="0" bIns="0" anchor="t" anchorCtr="0">
                <a:spAutoFit/>
              </a:bodyPr>
              <a:lstStyle/>
              <a:p>
                <a:pPr algn="r"/>
                <a:r>
                  <a:rPr lang="zh-CN" sz="900" b="1" dirty="0">
                    <a:solidFill>
                      <a:srgbClr val="111111"/>
                    </a:solidFill>
                    <a:latin typeface="Arial Black"/>
                    <a:ea typeface="SimHei"/>
                    <a:cs typeface="Arial Black"/>
                  </a:rPr>
                  <a:t>HUMANITY'S LAST EXAM</a:t>
                </a:r>
              </a:p>
            </p:txBody>
          </p:sp>
          <p:sp>
            <p:nvSpPr>
              <p:cNvPr id="46" name="TextBox 46"/>
              <p:cNvSpPr txBox="1"/>
              <p:nvPr/>
            </p:nvSpPr>
            <p:spPr>
              <a:xfrm>
                <a:off x="991076" y="3024188"/>
                <a:ext cx="1209199" cy="152400"/>
              </a:xfrm>
              <a:prstGeom prst="rect">
                <a:avLst/>
              </a:prstGeom>
              <a:noFill/>
              <a:ln>
                <a:noFill/>
              </a:ln>
            </p:spPr>
            <p:txBody>
              <a:bodyPr wrap="none" lIns="0" tIns="0" rIns="0" bIns="0" anchor="t" anchorCtr="0">
                <a:spAutoFit/>
              </a:bodyPr>
              <a:lstStyle/>
              <a:p>
                <a:pPr algn="r"/>
                <a:r>
                  <a:rPr lang="zh-CN" sz="750" i="1" dirty="0">
                    <a:solidFill>
                      <a:srgbClr val="3A3A3A"/>
                    </a:solidFill>
                    <a:latin typeface="Times New Roman"/>
                    <a:ea typeface="SimSun"/>
                    <a:cs typeface="Times New Roman"/>
                  </a:rPr>
                  <a:t>designed-hard · sourced</a:t>
                </a:r>
              </a:p>
            </p:txBody>
          </p:sp>
          <p:sp>
            <p:nvSpPr>
              <p:cNvPr id="47" name="Line 47"/>
              <p:cNvSpPr/>
              <p:nvPr/>
            </p:nvSpPr>
            <p:spPr>
              <a:xfrm>
                <a:off x="3200400" y="2933700"/>
                <a:ext cx="2286000" cy="9525"/>
              </a:xfrm>
              <a:custGeom>
                <a:avLst/>
                <a:gdLst/>
                <a:ahLst/>
                <a:cxnLst/>
                <a:rect l="l" t="t" r="r" b="b"/>
                <a:pathLst>
                  <a:path w="2286000" h="9525">
                    <a:moveTo>
                      <a:pt x="0" y="0"/>
                    </a:moveTo>
                    <a:lnTo>
                      <a:pt x="2286000" y="0"/>
                    </a:lnTo>
                  </a:path>
                </a:pathLst>
              </a:custGeom>
              <a:noFill/>
              <a:ln w="19050">
                <a:solidFill>
                  <a:srgbClr val="111111"/>
                </a:solidFill>
              </a:ln>
            </p:spPr>
          </p:sp>
          <p:sp>
            <p:nvSpPr>
              <p:cNvPr id="48" name="Ellipse 48"/>
              <p:cNvSpPr/>
              <p:nvPr/>
            </p:nvSpPr>
            <p:spPr>
              <a:xfrm>
                <a:off x="3114675" y="2847975"/>
                <a:ext cx="171450" cy="171450"/>
              </a:xfrm>
              <a:prstGeom prst="ellipse">
                <a:avLst/>
              </a:prstGeom>
              <a:solidFill>
                <a:srgbClr val="111111"/>
              </a:solidFill>
              <a:ln>
                <a:noFill/>
              </a:ln>
            </p:spPr>
          </p:sp>
          <p:sp>
            <p:nvSpPr>
              <p:cNvPr id="49" name="Ellipse 49"/>
              <p:cNvSpPr/>
              <p:nvPr/>
            </p:nvSpPr>
            <p:spPr>
              <a:xfrm>
                <a:off x="5400675" y="2847975"/>
                <a:ext cx="171450" cy="171450"/>
              </a:xfrm>
              <a:prstGeom prst="ellipse">
                <a:avLst/>
              </a:prstGeom>
              <a:solidFill>
                <a:srgbClr val="C8102E"/>
              </a:solidFill>
              <a:ln>
                <a:noFill/>
              </a:ln>
            </p:spPr>
          </p:sp>
          <p:sp>
            <p:nvSpPr>
              <p:cNvPr id="50" name="TextBox 50"/>
              <p:cNvSpPr txBox="1"/>
              <p:nvPr/>
            </p:nvSpPr>
            <p:spPr>
              <a:xfrm>
                <a:off x="2868454" y="2719388"/>
                <a:ext cx="189071" cy="152400"/>
              </a:xfrm>
              <a:prstGeom prst="rect">
                <a:avLst/>
              </a:prstGeom>
              <a:noFill/>
              <a:ln>
                <a:noFill/>
              </a:ln>
            </p:spPr>
            <p:txBody>
              <a:bodyPr wrap="none" lIns="0" tIns="0" rIns="0" bIns="0" anchor="t" anchorCtr="0">
                <a:spAutoFit/>
              </a:bodyPr>
              <a:lstStyle/>
              <a:p>
                <a:pPr algn="r"/>
                <a:r>
                  <a:rPr lang="zh-CN" sz="750" dirty="0">
                    <a:solidFill>
                      <a:srgbClr val="3A3A3A"/>
                    </a:solidFill>
                    <a:latin typeface="Consolas"/>
                    <a:ea typeface="Microsoft YaHei"/>
                    <a:cs typeface="Consolas"/>
                  </a:rPr>
                  <a:t>12 %</a:t>
                </a:r>
              </a:p>
            </p:txBody>
          </p:sp>
          <p:sp>
            <p:nvSpPr>
              <p:cNvPr id="51" name="TextBox 51"/>
              <p:cNvSpPr txBox="1"/>
              <p:nvPr/>
            </p:nvSpPr>
            <p:spPr>
              <a:xfrm>
                <a:off x="5629275" y="2719388"/>
                <a:ext cx="223826" cy="152400"/>
              </a:xfrm>
              <a:prstGeom prst="rect">
                <a:avLst/>
              </a:prstGeom>
              <a:noFill/>
              <a:ln>
                <a:noFill/>
              </a:ln>
            </p:spPr>
            <p:txBody>
              <a:bodyPr wrap="none" lIns="0" tIns="0" rIns="0" bIns="0" anchor="t" anchorCtr="0">
                <a:spAutoFit/>
              </a:bodyPr>
              <a:lstStyle/>
              <a:p>
                <a:pPr algn="l"/>
                <a:r>
                  <a:rPr lang="zh-CN" sz="750" b="1" dirty="0">
                    <a:solidFill>
                      <a:srgbClr val="C8102E"/>
                    </a:solidFill>
                    <a:latin typeface="Consolas"/>
                    <a:ea typeface="Microsoft YaHei"/>
                    <a:cs typeface="Consolas"/>
                  </a:rPr>
                  <a:t>42 %</a:t>
                </a:r>
              </a:p>
            </p:txBody>
          </p:sp>
          <p:sp>
            <p:nvSpPr>
              <p:cNvPr id="52" name="TextBox 52"/>
              <p:cNvSpPr txBox="1"/>
              <p:nvPr/>
            </p:nvSpPr>
            <p:spPr>
              <a:xfrm>
                <a:off x="11524403" y="2882741"/>
                <a:ext cx="373274" cy="167640"/>
              </a:xfrm>
              <a:prstGeom prst="rect">
                <a:avLst/>
              </a:prstGeom>
              <a:noFill/>
              <a:ln>
                <a:noFill/>
              </a:ln>
            </p:spPr>
            <p:txBody>
              <a:bodyPr wrap="none" lIns="0" tIns="0" rIns="0" bIns="0" anchor="t" anchorCtr="0">
                <a:spAutoFit/>
              </a:bodyPr>
              <a:lstStyle/>
              <a:p>
                <a:pPr algn="r"/>
                <a:r>
                  <a:rPr lang="zh-CN" sz="825" b="1" dirty="0">
                    <a:solidFill>
                      <a:srgbClr val="C8102E"/>
                    </a:solidFill>
                    <a:latin typeface="Arial Black"/>
                    <a:ea typeface="SimHei"/>
                    <a:cs typeface="Arial Black"/>
                  </a:rPr>
                  <a:t>+30 pp</a:t>
                </a:r>
              </a:p>
            </p:txBody>
          </p:sp>
        </p:grpSp>
        <p:grpSp>
          <p:nvGrpSpPr>
            <p:cNvPr id="62" name="Group 62"/>
            <p:cNvGrpSpPr/>
            <p:nvPr/>
          </p:nvGrpSpPr>
          <p:grpSpPr>
            <a:xfrm>
              <a:off x="755342" y="3290888"/>
              <a:ext cx="11142335" cy="457200"/>
              <a:chOff x="755342" y="3290888"/>
              <a:chExt cx="11142335" cy="457200"/>
            </a:xfrm>
          </p:grpSpPr>
          <p:sp>
            <p:nvSpPr>
              <p:cNvPr id="54" name="TextBox 54"/>
              <p:cNvSpPr txBox="1"/>
              <p:nvPr/>
            </p:nvSpPr>
            <p:spPr>
              <a:xfrm>
                <a:off x="755342" y="3446145"/>
                <a:ext cx="1446838" cy="182880"/>
              </a:xfrm>
              <a:prstGeom prst="rect">
                <a:avLst/>
              </a:prstGeom>
              <a:noFill/>
              <a:ln>
                <a:noFill/>
              </a:ln>
            </p:spPr>
            <p:txBody>
              <a:bodyPr wrap="none" lIns="0" tIns="0" rIns="0" bIns="0" anchor="t" anchorCtr="0">
                <a:spAutoFit/>
              </a:bodyPr>
              <a:lstStyle/>
              <a:p>
                <a:pPr algn="r"/>
                <a:r>
                  <a:rPr lang="zh-CN" sz="900" b="1" dirty="0">
                    <a:solidFill>
                      <a:srgbClr val="111111"/>
                    </a:solidFill>
                    <a:latin typeface="Arial Black"/>
                    <a:ea typeface="SimHei"/>
                    <a:cs typeface="Arial Black"/>
                  </a:rPr>
                  <a:t>PhD-LEVEL SCIENCE QA †</a:t>
                </a:r>
              </a:p>
            </p:txBody>
          </p:sp>
          <p:sp>
            <p:nvSpPr>
              <p:cNvPr id="55" name="TextBox 55"/>
              <p:cNvSpPr txBox="1"/>
              <p:nvPr/>
            </p:nvSpPr>
            <p:spPr>
              <a:xfrm>
                <a:off x="1396127" y="3595688"/>
                <a:ext cx="804148" cy="152400"/>
              </a:xfrm>
              <a:prstGeom prst="rect">
                <a:avLst/>
              </a:prstGeom>
              <a:noFill/>
              <a:ln>
                <a:noFill/>
              </a:ln>
            </p:spPr>
            <p:txBody>
              <a:bodyPr wrap="none" lIns="0" tIns="0" rIns="0" bIns="0" anchor="t" anchorCtr="0">
                <a:spAutoFit/>
              </a:bodyPr>
              <a:lstStyle/>
              <a:p>
                <a:pPr algn="r"/>
                <a:r>
                  <a:rPr lang="zh-CN" sz="750" i="1" dirty="0">
                    <a:solidFill>
                      <a:srgbClr val="3A3A3A"/>
                    </a:solidFill>
                    <a:latin typeface="Times New Roman"/>
                    <a:ea typeface="SimSun"/>
                    <a:cs typeface="Times New Roman"/>
                  </a:rPr>
                  <a:t>illustrative pair</a:t>
                </a:r>
              </a:p>
            </p:txBody>
          </p:sp>
          <p:sp>
            <p:nvSpPr>
              <p:cNvPr id="56" name="Line 56"/>
              <p:cNvSpPr/>
              <p:nvPr/>
            </p:nvSpPr>
            <p:spPr>
              <a:xfrm>
                <a:off x="6477000" y="3505200"/>
                <a:ext cx="2514600" cy="9525"/>
              </a:xfrm>
              <a:custGeom>
                <a:avLst/>
                <a:gdLst/>
                <a:ahLst/>
                <a:cxnLst/>
                <a:rect l="l" t="t" r="r" b="b"/>
                <a:pathLst>
                  <a:path w="2514600" h="9525">
                    <a:moveTo>
                      <a:pt x="0" y="0"/>
                    </a:moveTo>
                    <a:lnTo>
                      <a:pt x="2514600" y="0"/>
                    </a:lnTo>
                  </a:path>
                </a:pathLst>
              </a:custGeom>
              <a:noFill/>
              <a:ln w="19050">
                <a:solidFill>
                  <a:srgbClr val="111111"/>
                </a:solidFill>
                <a:custDash>
                  <a:ds d="200000" sp="150000"/>
                </a:custDash>
              </a:ln>
            </p:spPr>
          </p:sp>
          <p:sp>
            <p:nvSpPr>
              <p:cNvPr id="57" name="Ellipse 57"/>
              <p:cNvSpPr/>
              <p:nvPr/>
            </p:nvSpPr>
            <p:spPr>
              <a:xfrm>
                <a:off x="6391275" y="3419475"/>
                <a:ext cx="171450" cy="171450"/>
              </a:xfrm>
              <a:prstGeom prst="ellipse">
                <a:avLst/>
              </a:prstGeom>
              <a:solidFill>
                <a:srgbClr val="111111"/>
              </a:solidFill>
              <a:ln>
                <a:noFill/>
              </a:ln>
            </p:spPr>
          </p:sp>
          <p:sp>
            <p:nvSpPr>
              <p:cNvPr id="58" name="Ellipse 58"/>
              <p:cNvSpPr/>
              <p:nvPr/>
            </p:nvSpPr>
            <p:spPr>
              <a:xfrm>
                <a:off x="8905875" y="3419475"/>
                <a:ext cx="171450" cy="171450"/>
              </a:xfrm>
              <a:prstGeom prst="ellipse">
                <a:avLst/>
              </a:prstGeom>
              <a:solidFill>
                <a:srgbClr val="C8102E"/>
              </a:solidFill>
              <a:ln>
                <a:noFill/>
              </a:ln>
            </p:spPr>
          </p:sp>
          <p:sp>
            <p:nvSpPr>
              <p:cNvPr id="59" name="TextBox 59"/>
              <p:cNvSpPr txBox="1"/>
              <p:nvPr/>
            </p:nvSpPr>
            <p:spPr>
              <a:xfrm>
                <a:off x="6120051" y="3290888"/>
                <a:ext cx="214074" cy="152400"/>
              </a:xfrm>
              <a:prstGeom prst="rect">
                <a:avLst/>
              </a:prstGeom>
              <a:noFill/>
              <a:ln>
                <a:noFill/>
              </a:ln>
            </p:spPr>
            <p:txBody>
              <a:bodyPr wrap="none" lIns="0" tIns="0" rIns="0" bIns="0" anchor="t" anchorCtr="0">
                <a:spAutoFit/>
              </a:bodyPr>
              <a:lstStyle/>
              <a:p>
                <a:pPr algn="r"/>
                <a:r>
                  <a:rPr lang="zh-CN" sz="750" dirty="0">
                    <a:solidFill>
                      <a:srgbClr val="3A3A3A"/>
                    </a:solidFill>
                    <a:latin typeface="Consolas"/>
                    <a:ea typeface="Microsoft YaHei"/>
                    <a:cs typeface="Consolas"/>
                  </a:rPr>
                  <a:t>55 %</a:t>
                </a:r>
              </a:p>
            </p:txBody>
          </p:sp>
          <p:sp>
            <p:nvSpPr>
              <p:cNvPr id="60" name="TextBox 60"/>
              <p:cNvSpPr txBox="1"/>
              <p:nvPr/>
            </p:nvSpPr>
            <p:spPr>
              <a:xfrm>
                <a:off x="9134475" y="3290888"/>
                <a:ext cx="223826" cy="152400"/>
              </a:xfrm>
              <a:prstGeom prst="rect">
                <a:avLst/>
              </a:prstGeom>
              <a:noFill/>
              <a:ln>
                <a:noFill/>
              </a:ln>
            </p:spPr>
            <p:txBody>
              <a:bodyPr wrap="none" lIns="0" tIns="0" rIns="0" bIns="0" anchor="t" anchorCtr="0">
                <a:spAutoFit/>
              </a:bodyPr>
              <a:lstStyle/>
              <a:p>
                <a:pPr algn="l"/>
                <a:r>
                  <a:rPr lang="zh-CN" sz="750" b="1" dirty="0">
                    <a:solidFill>
                      <a:srgbClr val="C8102E"/>
                    </a:solidFill>
                    <a:latin typeface="Consolas"/>
                    <a:ea typeface="Microsoft YaHei"/>
                    <a:cs typeface="Consolas"/>
                  </a:rPr>
                  <a:t>88 %</a:t>
                </a:r>
              </a:p>
            </p:txBody>
          </p:sp>
          <p:sp>
            <p:nvSpPr>
              <p:cNvPr id="61" name="TextBox 61"/>
              <p:cNvSpPr txBox="1"/>
              <p:nvPr/>
            </p:nvSpPr>
            <p:spPr>
              <a:xfrm>
                <a:off x="11524403" y="3454241"/>
                <a:ext cx="373274" cy="167640"/>
              </a:xfrm>
              <a:prstGeom prst="rect">
                <a:avLst/>
              </a:prstGeom>
              <a:noFill/>
              <a:ln>
                <a:noFill/>
              </a:ln>
            </p:spPr>
            <p:txBody>
              <a:bodyPr wrap="none" lIns="0" tIns="0" rIns="0" bIns="0" anchor="t" anchorCtr="0">
                <a:spAutoFit/>
              </a:bodyPr>
              <a:lstStyle/>
              <a:p>
                <a:pPr algn="r"/>
                <a:r>
                  <a:rPr lang="zh-CN" sz="825" b="1" dirty="0">
                    <a:solidFill>
                      <a:srgbClr val="C8102E"/>
                    </a:solidFill>
                    <a:latin typeface="Arial Black"/>
                    <a:ea typeface="SimHei"/>
                    <a:cs typeface="Arial Black"/>
                  </a:rPr>
                  <a:t>+33 pp</a:t>
                </a:r>
              </a:p>
            </p:txBody>
          </p:sp>
        </p:grpSp>
        <p:grpSp>
          <p:nvGrpSpPr>
            <p:cNvPr id="71" name="Group 71"/>
            <p:cNvGrpSpPr/>
            <p:nvPr/>
          </p:nvGrpSpPr>
          <p:grpSpPr>
            <a:xfrm>
              <a:off x="679733" y="3862388"/>
              <a:ext cx="11217944" cy="457200"/>
              <a:chOff x="679733" y="3862388"/>
              <a:chExt cx="11217944" cy="457200"/>
            </a:xfrm>
          </p:grpSpPr>
          <p:sp>
            <p:nvSpPr>
              <p:cNvPr id="63" name="TextBox 63"/>
              <p:cNvSpPr txBox="1"/>
              <p:nvPr/>
            </p:nvSpPr>
            <p:spPr>
              <a:xfrm>
                <a:off x="679733" y="4017645"/>
                <a:ext cx="1522447" cy="182880"/>
              </a:xfrm>
              <a:prstGeom prst="rect">
                <a:avLst/>
              </a:prstGeom>
              <a:noFill/>
              <a:ln>
                <a:noFill/>
              </a:ln>
            </p:spPr>
            <p:txBody>
              <a:bodyPr wrap="none" lIns="0" tIns="0" rIns="0" bIns="0" anchor="t" anchorCtr="0">
                <a:spAutoFit/>
              </a:bodyPr>
              <a:lstStyle/>
              <a:p>
                <a:pPr algn="r"/>
                <a:r>
                  <a:rPr lang="zh-CN" sz="900" b="1" dirty="0">
                    <a:solidFill>
                      <a:srgbClr val="111111"/>
                    </a:solidFill>
                    <a:latin typeface="Arial Black"/>
                    <a:ea typeface="SimHei"/>
                    <a:cs typeface="Arial Black"/>
                  </a:rPr>
                  <a:t>MULTIMODAL REASONING †</a:t>
                </a:r>
              </a:p>
            </p:txBody>
          </p:sp>
          <p:sp>
            <p:nvSpPr>
              <p:cNvPr id="64" name="TextBox 64"/>
              <p:cNvSpPr txBox="1"/>
              <p:nvPr/>
            </p:nvSpPr>
            <p:spPr>
              <a:xfrm>
                <a:off x="1396127" y="4167188"/>
                <a:ext cx="804148" cy="152400"/>
              </a:xfrm>
              <a:prstGeom prst="rect">
                <a:avLst/>
              </a:prstGeom>
              <a:noFill/>
              <a:ln>
                <a:noFill/>
              </a:ln>
            </p:spPr>
            <p:txBody>
              <a:bodyPr wrap="none" lIns="0" tIns="0" rIns="0" bIns="0" anchor="t" anchorCtr="0">
                <a:spAutoFit/>
              </a:bodyPr>
              <a:lstStyle/>
              <a:p>
                <a:pPr algn="r"/>
                <a:r>
                  <a:rPr lang="zh-CN" sz="750" i="1" dirty="0">
                    <a:solidFill>
                      <a:srgbClr val="3A3A3A"/>
                    </a:solidFill>
                    <a:latin typeface="Times New Roman"/>
                    <a:ea typeface="SimSun"/>
                    <a:cs typeface="Times New Roman"/>
                  </a:rPr>
                  <a:t>illustrative pair</a:t>
                </a:r>
              </a:p>
            </p:txBody>
          </p:sp>
          <p:sp>
            <p:nvSpPr>
              <p:cNvPr id="65" name="Line 65"/>
              <p:cNvSpPr/>
              <p:nvPr/>
            </p:nvSpPr>
            <p:spPr>
              <a:xfrm>
                <a:off x="6096000" y="4076700"/>
                <a:ext cx="2438400" cy="9525"/>
              </a:xfrm>
              <a:custGeom>
                <a:avLst/>
                <a:gdLst/>
                <a:ahLst/>
                <a:cxnLst/>
                <a:rect l="l" t="t" r="r" b="b"/>
                <a:pathLst>
                  <a:path w="2438400" h="9525">
                    <a:moveTo>
                      <a:pt x="0" y="0"/>
                    </a:moveTo>
                    <a:lnTo>
                      <a:pt x="2438400" y="0"/>
                    </a:lnTo>
                  </a:path>
                </a:pathLst>
              </a:custGeom>
              <a:noFill/>
              <a:ln w="19050">
                <a:solidFill>
                  <a:srgbClr val="111111"/>
                </a:solidFill>
                <a:custDash>
                  <a:ds d="200000" sp="150000"/>
                </a:custDash>
              </a:ln>
            </p:spPr>
          </p:sp>
          <p:sp>
            <p:nvSpPr>
              <p:cNvPr id="66" name="Ellipse 66"/>
              <p:cNvSpPr/>
              <p:nvPr/>
            </p:nvSpPr>
            <p:spPr>
              <a:xfrm>
                <a:off x="6010275" y="3990975"/>
                <a:ext cx="171450" cy="171450"/>
              </a:xfrm>
              <a:prstGeom prst="ellipse">
                <a:avLst/>
              </a:prstGeom>
              <a:solidFill>
                <a:srgbClr val="111111"/>
              </a:solidFill>
              <a:ln>
                <a:noFill/>
              </a:ln>
            </p:spPr>
          </p:sp>
          <p:sp>
            <p:nvSpPr>
              <p:cNvPr id="67" name="Ellipse 67"/>
              <p:cNvSpPr/>
              <p:nvPr/>
            </p:nvSpPr>
            <p:spPr>
              <a:xfrm>
                <a:off x="8448675" y="3990975"/>
                <a:ext cx="171450" cy="171450"/>
              </a:xfrm>
              <a:prstGeom prst="ellipse">
                <a:avLst/>
              </a:prstGeom>
              <a:solidFill>
                <a:srgbClr val="C8102E"/>
              </a:solidFill>
              <a:ln>
                <a:noFill/>
              </a:ln>
            </p:spPr>
          </p:sp>
          <p:sp>
            <p:nvSpPr>
              <p:cNvPr id="68" name="TextBox 68"/>
              <p:cNvSpPr txBox="1"/>
              <p:nvPr/>
            </p:nvSpPr>
            <p:spPr>
              <a:xfrm>
                <a:off x="5739051" y="3862388"/>
                <a:ext cx="214074" cy="152400"/>
              </a:xfrm>
              <a:prstGeom prst="rect">
                <a:avLst/>
              </a:prstGeom>
              <a:noFill/>
              <a:ln>
                <a:noFill/>
              </a:ln>
            </p:spPr>
            <p:txBody>
              <a:bodyPr wrap="none" lIns="0" tIns="0" rIns="0" bIns="0" anchor="t" anchorCtr="0">
                <a:spAutoFit/>
              </a:bodyPr>
              <a:lstStyle/>
              <a:p>
                <a:pPr algn="r"/>
                <a:r>
                  <a:rPr lang="zh-CN" sz="750" dirty="0">
                    <a:solidFill>
                      <a:srgbClr val="3A3A3A"/>
                    </a:solidFill>
                    <a:latin typeface="Consolas"/>
                    <a:ea typeface="Microsoft YaHei"/>
                    <a:cs typeface="Consolas"/>
                  </a:rPr>
                  <a:t>50 %</a:t>
                </a:r>
              </a:p>
            </p:txBody>
          </p:sp>
          <p:sp>
            <p:nvSpPr>
              <p:cNvPr id="69" name="TextBox 69"/>
              <p:cNvSpPr txBox="1"/>
              <p:nvPr/>
            </p:nvSpPr>
            <p:spPr>
              <a:xfrm>
                <a:off x="8677275" y="3862388"/>
                <a:ext cx="223826" cy="152400"/>
              </a:xfrm>
              <a:prstGeom prst="rect">
                <a:avLst/>
              </a:prstGeom>
              <a:noFill/>
              <a:ln>
                <a:noFill/>
              </a:ln>
            </p:spPr>
            <p:txBody>
              <a:bodyPr wrap="none" lIns="0" tIns="0" rIns="0" bIns="0" anchor="t" anchorCtr="0">
                <a:spAutoFit/>
              </a:bodyPr>
              <a:lstStyle/>
              <a:p>
                <a:pPr algn="l"/>
                <a:r>
                  <a:rPr lang="zh-CN" sz="750" b="1" dirty="0">
                    <a:solidFill>
                      <a:srgbClr val="C8102E"/>
                    </a:solidFill>
                    <a:latin typeface="Consolas"/>
                    <a:ea typeface="Microsoft YaHei"/>
                    <a:cs typeface="Consolas"/>
                  </a:rPr>
                  <a:t>82 %</a:t>
                </a:r>
              </a:p>
            </p:txBody>
          </p:sp>
          <p:sp>
            <p:nvSpPr>
              <p:cNvPr id="70" name="TextBox 70"/>
              <p:cNvSpPr txBox="1"/>
              <p:nvPr/>
            </p:nvSpPr>
            <p:spPr>
              <a:xfrm>
                <a:off x="11524403" y="4025741"/>
                <a:ext cx="373274" cy="167640"/>
              </a:xfrm>
              <a:prstGeom prst="rect">
                <a:avLst/>
              </a:prstGeom>
              <a:noFill/>
              <a:ln>
                <a:noFill/>
              </a:ln>
            </p:spPr>
            <p:txBody>
              <a:bodyPr wrap="none" lIns="0" tIns="0" rIns="0" bIns="0" anchor="t" anchorCtr="0">
                <a:spAutoFit/>
              </a:bodyPr>
              <a:lstStyle/>
              <a:p>
                <a:pPr algn="r"/>
                <a:r>
                  <a:rPr lang="zh-CN" sz="825" b="1" dirty="0">
                    <a:solidFill>
                      <a:srgbClr val="C8102E"/>
                    </a:solidFill>
                    <a:latin typeface="Arial Black"/>
                    <a:ea typeface="SimHei"/>
                    <a:cs typeface="Arial Black"/>
                  </a:rPr>
                  <a:t>+32 pp</a:t>
                </a:r>
              </a:p>
            </p:txBody>
          </p:sp>
        </p:grpSp>
        <p:grpSp>
          <p:nvGrpSpPr>
            <p:cNvPr id="80" name="Group 80"/>
            <p:cNvGrpSpPr/>
            <p:nvPr/>
          </p:nvGrpSpPr>
          <p:grpSpPr>
            <a:xfrm>
              <a:off x="478107" y="4433888"/>
              <a:ext cx="11419570" cy="457200"/>
              <a:chOff x="478107" y="4433888"/>
              <a:chExt cx="11419570" cy="457200"/>
            </a:xfrm>
          </p:grpSpPr>
          <p:sp>
            <p:nvSpPr>
              <p:cNvPr id="72" name="TextBox 72"/>
              <p:cNvSpPr txBox="1"/>
              <p:nvPr/>
            </p:nvSpPr>
            <p:spPr>
              <a:xfrm>
                <a:off x="478107" y="4589145"/>
                <a:ext cx="1724073" cy="182880"/>
              </a:xfrm>
              <a:prstGeom prst="rect">
                <a:avLst/>
              </a:prstGeom>
              <a:noFill/>
              <a:ln>
                <a:noFill/>
              </a:ln>
            </p:spPr>
            <p:txBody>
              <a:bodyPr wrap="none" lIns="0" tIns="0" rIns="0" bIns="0" anchor="t" anchorCtr="0">
                <a:spAutoFit/>
              </a:bodyPr>
              <a:lstStyle/>
              <a:p>
                <a:pPr algn="r"/>
                <a:r>
                  <a:rPr lang="zh-CN" sz="900" b="1" dirty="0">
                    <a:solidFill>
                      <a:srgbClr val="111111"/>
                    </a:solidFill>
                    <a:latin typeface="Arial Black"/>
                    <a:ea typeface="SimHei"/>
                    <a:cs typeface="Arial Black"/>
                  </a:rPr>
                  <a:t>COMPETITION MATHEMATICS †</a:t>
                </a:r>
              </a:p>
            </p:txBody>
          </p:sp>
          <p:sp>
            <p:nvSpPr>
              <p:cNvPr id="73" name="TextBox 73"/>
              <p:cNvSpPr txBox="1"/>
              <p:nvPr/>
            </p:nvSpPr>
            <p:spPr>
              <a:xfrm>
                <a:off x="1396127" y="4738688"/>
                <a:ext cx="804148" cy="152400"/>
              </a:xfrm>
              <a:prstGeom prst="rect">
                <a:avLst/>
              </a:prstGeom>
              <a:noFill/>
              <a:ln>
                <a:noFill/>
              </a:ln>
            </p:spPr>
            <p:txBody>
              <a:bodyPr wrap="none" lIns="0" tIns="0" rIns="0" bIns="0" anchor="t" anchorCtr="0">
                <a:spAutoFit/>
              </a:bodyPr>
              <a:lstStyle/>
              <a:p>
                <a:pPr algn="r"/>
                <a:r>
                  <a:rPr lang="zh-CN" sz="750" i="1" dirty="0">
                    <a:solidFill>
                      <a:srgbClr val="3A3A3A"/>
                    </a:solidFill>
                    <a:latin typeface="Times New Roman"/>
                    <a:ea typeface="SimSun"/>
                    <a:cs typeface="Times New Roman"/>
                  </a:rPr>
                  <a:t>illustrative pair</a:t>
                </a:r>
              </a:p>
            </p:txBody>
          </p:sp>
          <p:sp>
            <p:nvSpPr>
              <p:cNvPr id="74" name="Line 74"/>
              <p:cNvSpPr/>
              <p:nvPr/>
            </p:nvSpPr>
            <p:spPr>
              <a:xfrm>
                <a:off x="5715000" y="4648200"/>
                <a:ext cx="2514600" cy="9525"/>
              </a:xfrm>
              <a:custGeom>
                <a:avLst/>
                <a:gdLst/>
                <a:ahLst/>
                <a:cxnLst/>
                <a:rect l="l" t="t" r="r" b="b"/>
                <a:pathLst>
                  <a:path w="2514600" h="9525">
                    <a:moveTo>
                      <a:pt x="0" y="0"/>
                    </a:moveTo>
                    <a:lnTo>
                      <a:pt x="2514600" y="0"/>
                    </a:lnTo>
                  </a:path>
                </a:pathLst>
              </a:custGeom>
              <a:noFill/>
              <a:ln w="19050">
                <a:solidFill>
                  <a:srgbClr val="111111"/>
                </a:solidFill>
                <a:custDash>
                  <a:ds d="200000" sp="150000"/>
                </a:custDash>
              </a:ln>
            </p:spPr>
          </p:sp>
          <p:sp>
            <p:nvSpPr>
              <p:cNvPr id="75" name="Ellipse 75"/>
              <p:cNvSpPr/>
              <p:nvPr/>
            </p:nvSpPr>
            <p:spPr>
              <a:xfrm>
                <a:off x="5629275" y="4562475"/>
                <a:ext cx="171450" cy="171450"/>
              </a:xfrm>
              <a:prstGeom prst="ellipse">
                <a:avLst/>
              </a:prstGeom>
              <a:solidFill>
                <a:srgbClr val="111111"/>
              </a:solidFill>
              <a:ln>
                <a:noFill/>
              </a:ln>
            </p:spPr>
          </p:sp>
          <p:sp>
            <p:nvSpPr>
              <p:cNvPr id="76" name="Ellipse 76"/>
              <p:cNvSpPr/>
              <p:nvPr/>
            </p:nvSpPr>
            <p:spPr>
              <a:xfrm>
                <a:off x="8143875" y="4562475"/>
                <a:ext cx="171450" cy="171450"/>
              </a:xfrm>
              <a:prstGeom prst="ellipse">
                <a:avLst/>
              </a:prstGeom>
              <a:solidFill>
                <a:srgbClr val="C8102E"/>
              </a:solidFill>
              <a:ln>
                <a:noFill/>
              </a:ln>
            </p:spPr>
          </p:sp>
          <p:sp>
            <p:nvSpPr>
              <p:cNvPr id="77" name="TextBox 77"/>
              <p:cNvSpPr txBox="1"/>
              <p:nvPr/>
            </p:nvSpPr>
            <p:spPr>
              <a:xfrm>
                <a:off x="5358051" y="4433888"/>
                <a:ext cx="214074" cy="152400"/>
              </a:xfrm>
              <a:prstGeom prst="rect">
                <a:avLst/>
              </a:prstGeom>
              <a:noFill/>
              <a:ln>
                <a:noFill/>
              </a:ln>
            </p:spPr>
            <p:txBody>
              <a:bodyPr wrap="none" lIns="0" tIns="0" rIns="0" bIns="0" anchor="t" anchorCtr="0">
                <a:spAutoFit/>
              </a:bodyPr>
              <a:lstStyle/>
              <a:p>
                <a:pPr algn="r"/>
                <a:r>
                  <a:rPr lang="zh-CN" sz="750" dirty="0">
                    <a:solidFill>
                      <a:srgbClr val="3A3A3A"/>
                    </a:solidFill>
                    <a:latin typeface="Consolas"/>
                    <a:ea typeface="Microsoft YaHei"/>
                    <a:cs typeface="Consolas"/>
                  </a:rPr>
                  <a:t>45 %</a:t>
                </a:r>
              </a:p>
            </p:txBody>
          </p:sp>
          <p:sp>
            <p:nvSpPr>
              <p:cNvPr id="78" name="TextBox 78"/>
              <p:cNvSpPr txBox="1"/>
              <p:nvPr/>
            </p:nvSpPr>
            <p:spPr>
              <a:xfrm>
                <a:off x="8372475" y="4433888"/>
                <a:ext cx="223826" cy="152400"/>
              </a:xfrm>
              <a:prstGeom prst="rect">
                <a:avLst/>
              </a:prstGeom>
              <a:noFill/>
              <a:ln>
                <a:noFill/>
              </a:ln>
            </p:spPr>
            <p:txBody>
              <a:bodyPr wrap="none" lIns="0" tIns="0" rIns="0" bIns="0" anchor="t" anchorCtr="0">
                <a:spAutoFit/>
              </a:bodyPr>
              <a:lstStyle/>
              <a:p>
                <a:pPr algn="l"/>
                <a:r>
                  <a:rPr lang="zh-CN" sz="750" b="1" dirty="0">
                    <a:solidFill>
                      <a:srgbClr val="C8102E"/>
                    </a:solidFill>
                    <a:latin typeface="Consolas"/>
                    <a:ea typeface="Microsoft YaHei"/>
                    <a:cs typeface="Consolas"/>
                  </a:rPr>
                  <a:t>78 %</a:t>
                </a:r>
              </a:p>
            </p:txBody>
          </p:sp>
          <p:sp>
            <p:nvSpPr>
              <p:cNvPr id="79" name="TextBox 79"/>
              <p:cNvSpPr txBox="1"/>
              <p:nvPr/>
            </p:nvSpPr>
            <p:spPr>
              <a:xfrm>
                <a:off x="11524403" y="4597241"/>
                <a:ext cx="373274" cy="167640"/>
              </a:xfrm>
              <a:prstGeom prst="rect">
                <a:avLst/>
              </a:prstGeom>
              <a:noFill/>
              <a:ln>
                <a:noFill/>
              </a:ln>
            </p:spPr>
            <p:txBody>
              <a:bodyPr wrap="none" lIns="0" tIns="0" rIns="0" bIns="0" anchor="t" anchorCtr="0">
                <a:spAutoFit/>
              </a:bodyPr>
              <a:lstStyle/>
              <a:p>
                <a:pPr algn="r"/>
                <a:r>
                  <a:rPr lang="zh-CN" sz="825" b="1" dirty="0">
                    <a:solidFill>
                      <a:srgbClr val="C8102E"/>
                    </a:solidFill>
                    <a:latin typeface="Arial Black"/>
                    <a:ea typeface="SimHei"/>
                    <a:cs typeface="Arial Black"/>
                  </a:rPr>
                  <a:t>+33 pp</a:t>
                </a:r>
              </a:p>
            </p:txBody>
          </p:sp>
        </p:grpSp>
      </p:grpSp>
      <p:sp>
        <p:nvSpPr>
          <p:cNvPr id="82" name="Line 82"/>
          <p:cNvSpPr/>
          <p:nvPr/>
        </p:nvSpPr>
        <p:spPr>
          <a:xfrm>
            <a:off x="457200" y="5715000"/>
            <a:ext cx="11277600" cy="9525"/>
          </a:xfrm>
          <a:custGeom>
            <a:avLst/>
            <a:gdLst/>
            <a:ahLst/>
            <a:cxnLst/>
            <a:rect l="l" t="t" r="r" b="b"/>
            <a:pathLst>
              <a:path w="11277600" h="9525">
                <a:moveTo>
                  <a:pt x="0" y="0"/>
                </a:moveTo>
                <a:lnTo>
                  <a:pt x="11277600" y="0"/>
                </a:lnTo>
              </a:path>
            </a:pathLst>
          </a:custGeom>
          <a:noFill/>
          <a:ln w="19050">
            <a:solidFill>
              <a:srgbClr val="111111"/>
            </a:solidFill>
          </a:ln>
        </p:spPr>
      </p:sp>
      <p:grpSp>
        <p:nvGrpSpPr>
          <p:cNvPr id="85" name="Group 85"/>
          <p:cNvGrpSpPr/>
          <p:nvPr/>
        </p:nvGrpSpPr>
        <p:grpSpPr>
          <a:xfrm>
            <a:off x="434340" y="5854541"/>
            <a:ext cx="10580637" cy="660559"/>
            <a:chOff x="434340" y="5854541"/>
            <a:chExt cx="10580637" cy="660559"/>
          </a:xfrm>
        </p:grpSpPr>
        <p:sp>
          <p:nvSpPr>
            <p:cNvPr id="83" name="TextBox 83"/>
            <p:cNvSpPr txBox="1"/>
            <p:nvPr/>
          </p:nvSpPr>
          <p:spPr>
            <a:xfrm>
              <a:off x="446722" y="5854541"/>
              <a:ext cx="10257734" cy="167640"/>
            </a:xfrm>
            <a:prstGeom prst="rect">
              <a:avLst/>
            </a:prstGeom>
            <a:noFill/>
            <a:ln>
              <a:noFill/>
            </a:ln>
          </p:spPr>
          <p:txBody>
            <a:bodyPr wrap="none" lIns="0" tIns="0" rIns="0" bIns="0" anchor="t" anchorCtr="0">
              <a:spAutoFit/>
            </a:bodyPr>
            <a:lstStyle/>
            <a:p>
              <a:pPr algn="l"/>
              <a:r>
                <a:rPr lang="zh-CN" sz="825" i="1" dirty="0">
                  <a:solidFill>
                    <a:srgbClr val="3A3A3A"/>
                  </a:solidFill>
                  <a:latin typeface="Times New Roman"/>
                  <a:ea typeface="SimSun"/>
                  <a:cs typeface="Times New Roman"/>
                </a:rPr>
                <a:t>† Illustrative pairs reflect the source's qualitative framing of these benchmarks ("below baseline → meet or exceed human baseline" within twelve months). Solid bars are explicitly sourced.</a:t>
              </a:r>
            </a:p>
          </p:txBody>
        </p:sp>
        <p:sp>
          <p:nvSpPr>
            <p:cNvPr id="84" name="TextBox 84"/>
            <p:cNvSpPr txBox="1"/>
            <p:nvPr/>
          </p:nvSpPr>
          <p:spPr>
            <a:xfrm>
              <a:off x="434340" y="6149340"/>
              <a:ext cx="10580637" cy="365760"/>
            </a:xfrm>
            <a:prstGeom prst="rect">
              <a:avLst/>
            </a:prstGeom>
            <a:noFill/>
            <a:ln>
              <a:noFill/>
            </a:ln>
          </p:spPr>
          <p:txBody>
            <a:bodyPr wrap="none" lIns="0" tIns="0" rIns="0" bIns="0" anchor="t" anchorCtr="0">
              <a:spAutoFit/>
            </a:bodyPr>
            <a:lstStyle/>
            <a:p>
              <a:pPr algn="l"/>
              <a:r>
                <a:rPr lang="zh-CN" sz="1800" b="1" dirty="0">
                  <a:solidFill>
                    <a:srgbClr val="C8102E"/>
                  </a:solidFill>
                  <a:latin typeface="Impact"/>
                  <a:ea typeface="SimHei"/>
                  <a:cs typeface="Impact"/>
                </a:rPr>
                <a:t>"THE BENCH-DESIGN COMMUNITY IS NOW PERMANENTLY BEHIND THE MODEL-RELEASE CYCLE."</a:t>
              </a:r>
            </a:p>
          </p:txBody>
        </p:sp>
      </p:grpSp>
      <p:grpSp>
        <p:nvGrpSpPr>
          <p:cNvPr id="89" name="Group 89"/>
          <p:cNvGrpSpPr/>
          <p:nvPr/>
        </p:nvGrpSpPr>
        <p:grpSpPr>
          <a:xfrm>
            <a:off x="448628" y="6553200"/>
            <a:ext cx="11294744" cy="254794"/>
            <a:chOff x="448628" y="6553200"/>
            <a:chExt cx="11294744" cy="254794"/>
          </a:xfrm>
        </p:grpSpPr>
        <p:sp>
          <p:nvSpPr>
            <p:cNvPr id="86" name="Rectangle 86"/>
            <p:cNvSpPr/>
            <p:nvPr/>
          </p:nvSpPr>
          <p:spPr>
            <a:xfrm>
              <a:off x="457200" y="6553200"/>
              <a:ext cx="11277600" cy="19050"/>
            </a:xfrm>
            <a:prstGeom prst="rect">
              <a:avLst/>
            </a:prstGeom>
            <a:solidFill>
              <a:srgbClr val="C8102E"/>
            </a:solidFill>
            <a:ln>
              <a:noFill/>
            </a:ln>
          </p:spPr>
        </p:sp>
        <p:sp>
          <p:nvSpPr>
            <p:cNvPr id="87" name="TextBox 87"/>
            <p:cNvSpPr txBox="1"/>
            <p:nvPr/>
          </p:nvSpPr>
          <p:spPr>
            <a:xfrm>
              <a:off x="448628" y="6670834"/>
              <a:ext cx="5834347" cy="137160"/>
            </a:xfrm>
            <a:prstGeom prst="rect">
              <a:avLst/>
            </a:prstGeom>
            <a:noFill/>
            <a:ln>
              <a:noFill/>
            </a:ln>
          </p:spPr>
          <p:txBody>
            <a:bodyPr wrap="none" lIns="0" tIns="0" rIns="0" bIns="0" anchor="t" anchorCtr="0">
              <a:spAutoFit/>
            </a:bodyPr>
            <a:lstStyle/>
            <a:p>
              <a:pPr algn="l"/>
              <a:r>
                <a:rPr lang="zh-CN" sz="675" b="1" dirty="0">
                  <a:solidFill>
                    <a:srgbClr val="111111"/>
                  </a:solidFill>
                  <a:latin typeface="Consolas"/>
                  <a:ea typeface="Microsoft YaHei"/>
                  <a:cs typeface="Consolas"/>
                </a:rPr>
                <a:t>SOURCE STANFORD HAI AI INDEX 2026 (PUBLISHED 2026-04-13) · ROWS 1-2 SOURCED; ROWS 3-5 ILLUSTRATIVE OF QUALITATIVE FRAMING</a:t>
              </a:r>
            </a:p>
          </p:txBody>
        </p:sp>
        <p:sp>
          <p:nvSpPr>
            <p:cNvPr id="88" name="TextBox 88"/>
            <p:cNvSpPr txBox="1"/>
            <p:nvPr/>
          </p:nvSpPr>
          <p:spPr>
            <a:xfrm>
              <a:off x="11196961" y="6670834"/>
              <a:ext cx="546411" cy="137160"/>
            </a:xfrm>
            <a:prstGeom prst="rect">
              <a:avLst/>
            </a:prstGeom>
            <a:noFill/>
            <a:ln>
              <a:noFill/>
            </a:ln>
          </p:spPr>
          <p:txBody>
            <a:bodyPr wrap="none" lIns="0" tIns="0" rIns="0" bIns="0" anchor="t" anchorCtr="0">
              <a:spAutoFit/>
            </a:bodyPr>
            <a:lstStyle/>
            <a:p>
              <a:pPr algn="r"/>
              <a:r>
                <a:rPr lang="zh-CN" sz="675" b="1" dirty="0">
                  <a:solidFill>
                    <a:srgbClr val="111111"/>
                  </a:solidFill>
                  <a:latin typeface="Consolas"/>
                  <a:ea typeface="Microsoft YaHei"/>
                  <a:cs typeface="Consolas"/>
                </a:rPr>
                <a:t>PAGE 07 / 10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400"/>
                                        <p:tgtEl>
                                          <p:spTgt spid="22"/>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81"/>
                                        </p:tgtEl>
                                        <p:attrNameLst>
                                          <p:attrName>style.visibility</p:attrName>
                                        </p:attrNameLst>
                                      </p:cBhvr>
                                      <p:to>
                                        <p:strVal val="visible"/>
                                      </p:to>
                                    </p:set>
                                    <p:animEffect transition="in" filter="wipe(left)">
                                      <p:cBhvr>
                                        <p:cTn id="11" dur="400"/>
                                        <p:tgtEl>
                                          <p:spTgt spid="81"/>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85"/>
                                        </p:tgtEl>
                                        <p:attrNameLst>
                                          <p:attrName>style.visibility</p:attrName>
                                        </p:attrNameLst>
                                      </p:cBhvr>
                                      <p:to>
                                        <p:strVal val="visible"/>
                                      </p:to>
                                    </p:set>
                                    <p:animEffect transition="in" filter="fade">
                                      <p:cBhvr>
                                        <p:cTn id="15" dur="4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81" grpId="0"/>
      <p:bldP spid="8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solidFill>
            <a:srgbClr val="C8102E"/>
          </a:solidFill>
          <a:ln>
            <a:noFill/>
          </a:ln>
        </p:spPr>
      </p:sp>
      <p:grpSp>
        <p:nvGrpSpPr>
          <p:cNvPr id="8" name="Group 8"/>
          <p:cNvGrpSpPr/>
          <p:nvPr/>
        </p:nvGrpSpPr>
        <p:grpSpPr>
          <a:xfrm>
            <a:off x="447675" y="166688"/>
            <a:ext cx="11296650" cy="166687"/>
            <a:chOff x="447675" y="166688"/>
            <a:chExt cx="11296650" cy="166687"/>
          </a:xfrm>
        </p:grpSpPr>
        <p:sp>
          <p:nvSpPr>
            <p:cNvPr id="4" name="Line 4"/>
            <p:cNvSpPr/>
            <p:nvPr/>
          </p:nvSpPr>
          <p:spPr>
            <a:xfrm>
              <a:off x="457200" y="323850"/>
              <a:ext cx="11277600" cy="9525"/>
            </a:xfrm>
            <a:custGeom>
              <a:avLst/>
              <a:gdLst/>
              <a:ahLst/>
              <a:cxnLst/>
              <a:rect l="l" t="t" r="r" b="b"/>
              <a:pathLst>
                <a:path w="11277600" h="9525">
                  <a:moveTo>
                    <a:pt x="0" y="0"/>
                  </a:moveTo>
                  <a:lnTo>
                    <a:pt x="11277600" y="0"/>
                  </a:lnTo>
                </a:path>
              </a:pathLst>
            </a:custGeom>
            <a:noFill/>
            <a:ln w="9525">
              <a:solidFill>
                <a:srgbClr val="111111"/>
              </a:solidFill>
            </a:ln>
          </p:spPr>
        </p:sp>
        <p:sp>
          <p:nvSpPr>
            <p:cNvPr id="5" name="TextBox 5"/>
            <p:cNvSpPr txBox="1"/>
            <p:nvPr/>
          </p:nvSpPr>
          <p:spPr>
            <a:xfrm>
              <a:off x="447675" y="166688"/>
              <a:ext cx="1909286" cy="152400"/>
            </a:xfrm>
            <a:prstGeom prst="rect">
              <a:avLst/>
            </a:prstGeom>
            <a:noFill/>
            <a:ln>
              <a:noFill/>
            </a:ln>
          </p:spPr>
          <p:txBody>
            <a:bodyPr wrap="none" lIns="0" tIns="0" rIns="0" bIns="0" anchor="t" anchorCtr="0">
              <a:spAutoFit/>
            </a:bodyPr>
            <a:lstStyle/>
            <a:p>
              <a:pPr algn="l"/>
              <a:r>
                <a:rPr lang="zh-CN" sz="750" b="1" dirty="0">
                  <a:solidFill>
                    <a:srgbClr val="111111"/>
                  </a:solidFill>
                  <a:latin typeface="Consolas"/>
                  <a:ea typeface="Microsoft YaHei"/>
                  <a:cs typeface="Consolas"/>
                </a:rPr>
                <a:t>THE AI INDUSTRY 2026 · ANNUAL REPORT</a:t>
              </a:r>
            </a:p>
          </p:txBody>
        </p:sp>
        <p:sp>
          <p:nvSpPr>
            <p:cNvPr id="6" name="TextBox 6"/>
            <p:cNvSpPr txBox="1"/>
            <p:nvPr/>
          </p:nvSpPr>
          <p:spPr>
            <a:xfrm>
              <a:off x="5540407" y="166688"/>
              <a:ext cx="1111186" cy="152400"/>
            </a:xfrm>
            <a:prstGeom prst="rect">
              <a:avLst/>
            </a:prstGeom>
            <a:noFill/>
            <a:ln>
              <a:noFill/>
            </a:ln>
          </p:spPr>
          <p:txBody>
            <a:bodyPr wrap="none" lIns="0" tIns="0" rIns="0" bIns="0" anchor="t" anchorCtr="0">
              <a:spAutoFit/>
            </a:bodyPr>
            <a:lstStyle/>
            <a:p>
              <a:pPr algn="ctr"/>
              <a:r>
                <a:rPr lang="zh-CN" sz="750" b="1" dirty="0">
                  <a:solidFill>
                    <a:srgbClr val="111111"/>
                  </a:solidFill>
                  <a:latin typeface="Consolas"/>
                  <a:ea typeface="Microsoft YaHei"/>
                  <a:cs typeface="Consolas"/>
                </a:rPr>
                <a:t>STORY V · REGULATION</a:t>
              </a:r>
            </a:p>
          </p:txBody>
        </p:sp>
        <p:sp>
          <p:nvSpPr>
            <p:cNvPr id="7" name="TextBox 7"/>
            <p:cNvSpPr txBox="1"/>
            <p:nvPr/>
          </p:nvSpPr>
          <p:spPr>
            <a:xfrm>
              <a:off x="10454616" y="166688"/>
              <a:ext cx="1289709" cy="152400"/>
            </a:xfrm>
            <a:prstGeom prst="rect">
              <a:avLst/>
            </a:prstGeom>
            <a:noFill/>
            <a:ln>
              <a:noFill/>
            </a:ln>
          </p:spPr>
          <p:txBody>
            <a:bodyPr wrap="none" lIns="0" tIns="0" rIns="0" bIns="0" anchor="t" anchorCtr="0">
              <a:spAutoFit/>
            </a:bodyPr>
            <a:lstStyle/>
            <a:p>
              <a:pPr algn="r"/>
              <a:r>
                <a:rPr lang="zh-CN" sz="750" b="1" dirty="0">
                  <a:solidFill>
                    <a:srgbClr val="111111"/>
                  </a:solidFill>
                  <a:latin typeface="Consolas"/>
                  <a:ea typeface="Microsoft YaHei"/>
                  <a:cs typeface="Consolas"/>
                </a:rPr>
                <a:t>VOL. 1 · NO. 1 · MAY 2026</a:t>
              </a:r>
            </a:p>
          </p:txBody>
        </p:sp>
      </p:grpSp>
      <p:grpSp>
        <p:nvGrpSpPr>
          <p:cNvPr id="13" name="Group 13"/>
          <p:cNvGrpSpPr/>
          <p:nvPr/>
        </p:nvGrpSpPr>
        <p:grpSpPr>
          <a:xfrm>
            <a:off x="415290" y="463391"/>
            <a:ext cx="11319510" cy="1032034"/>
            <a:chOff x="415290" y="463391"/>
            <a:chExt cx="11319510" cy="1032034"/>
          </a:xfrm>
        </p:grpSpPr>
        <p:sp>
          <p:nvSpPr>
            <p:cNvPr id="9" name="TextBox 9"/>
            <p:cNvSpPr txBox="1"/>
            <p:nvPr/>
          </p:nvSpPr>
          <p:spPr>
            <a:xfrm>
              <a:off x="446722" y="463391"/>
              <a:ext cx="1164548" cy="167640"/>
            </a:xfrm>
            <a:prstGeom prst="rect">
              <a:avLst/>
            </a:prstGeom>
            <a:noFill/>
            <a:ln>
              <a:noFill/>
            </a:ln>
          </p:spPr>
          <p:txBody>
            <a:bodyPr wrap="none" lIns="0" tIns="0" rIns="0" bIns="0" anchor="t" anchorCtr="0">
              <a:spAutoFit/>
            </a:bodyPr>
            <a:lstStyle/>
            <a:p>
              <a:pPr algn="l"/>
              <a:r>
                <a:rPr lang="zh-CN" sz="825" b="1" dirty="0">
                  <a:solidFill>
                    <a:srgbClr val="C8102E"/>
                  </a:solidFill>
                  <a:latin typeface="Arial Black"/>
                  <a:ea typeface="SimHei"/>
                  <a:cs typeface="Arial Black"/>
                </a:rPr>
                <a:t>SECTION VI · STORY V</a:t>
              </a:r>
            </a:p>
          </p:txBody>
        </p:sp>
        <p:sp>
          <p:nvSpPr>
            <p:cNvPr id="10" name="TextBox 10"/>
            <p:cNvSpPr txBox="1"/>
            <p:nvPr/>
          </p:nvSpPr>
          <p:spPr>
            <a:xfrm>
              <a:off x="415290" y="691515"/>
              <a:ext cx="6367805" cy="670560"/>
            </a:xfrm>
            <a:prstGeom prst="rect">
              <a:avLst/>
            </a:prstGeom>
            <a:noFill/>
            <a:ln>
              <a:noFill/>
            </a:ln>
          </p:spPr>
          <p:txBody>
            <a:bodyPr wrap="none" lIns="0" tIns="0" rIns="0" bIns="0" anchor="t" anchorCtr="0">
              <a:spAutoFit/>
            </a:bodyPr>
            <a:lstStyle/>
            <a:p>
              <a:pPr algn="l"/>
              <a:r>
                <a:rPr lang="zh-CN" sz="3300" b="1" dirty="0">
                  <a:solidFill>
                    <a:srgbClr val="111111"/>
                  </a:solidFill>
                  <a:latin typeface="Impact"/>
                  <a:ea typeface="SimHei"/>
                  <a:cs typeface="Impact"/>
                </a:rPr>
                <a:t>THREE RULEBOOKS, ONE RACE</a:t>
              </a:r>
            </a:p>
          </p:txBody>
        </p:sp>
        <p:sp>
          <p:nvSpPr>
            <p:cNvPr id="11" name="TextBox 11"/>
            <p:cNvSpPr txBox="1"/>
            <p:nvPr/>
          </p:nvSpPr>
          <p:spPr>
            <a:xfrm>
              <a:off x="441960" y="1184910"/>
              <a:ext cx="5711190" cy="243840"/>
            </a:xfrm>
            <a:prstGeom prst="rect">
              <a:avLst/>
            </a:prstGeom>
            <a:noFill/>
            <a:ln>
              <a:noFill/>
            </a:ln>
          </p:spPr>
          <p:txBody>
            <a:bodyPr wrap="none" lIns="0" tIns="0" rIns="0" bIns="0" anchor="t" anchorCtr="0">
              <a:spAutoFit/>
            </a:bodyPr>
            <a:lstStyle/>
            <a:p>
              <a:pPr algn="l"/>
              <a:r>
                <a:rPr lang="zh-CN" sz="1200" b="1" i="1" dirty="0">
                  <a:solidFill>
                    <a:srgbClr val="C8102E"/>
                  </a:solidFill>
                  <a:latin typeface="Times New Roman"/>
                  <a:ea typeface="SimSun"/>
                  <a:cs typeface="Times New Roman"/>
                </a:rPr>
                <a:t>72+ countries</a:t>
              </a:r>
              <a:r>
                <a:rPr lang="zh-CN" sz="1200" i="1" dirty="0">
                  <a:solidFill>
                    <a:srgbClr val="111111"/>
                  </a:solidFill>
                  <a:latin typeface="Times New Roman"/>
                  <a:ea typeface="SimSun"/>
                  <a:cs typeface="Times New Roman"/>
                </a:rPr>
                <a:t xml:space="preserve">, </a:t>
              </a:r>
              <a:r>
                <a:rPr lang="zh-CN" sz="1200" b="1" i="1" dirty="0">
                  <a:solidFill>
                    <a:srgbClr val="C8102E"/>
                  </a:solidFill>
                  <a:latin typeface="Times New Roman"/>
                  <a:ea typeface="SimSun"/>
                  <a:cs typeface="Times New Roman"/>
                </a:rPr>
                <a:t>1,000+ policies</a:t>
              </a:r>
              <a:r>
                <a:rPr lang="zh-CN" sz="1200" i="1" dirty="0">
                  <a:solidFill>
                    <a:srgbClr val="111111"/>
                  </a:solidFill>
                  <a:latin typeface="Times New Roman"/>
                  <a:ea typeface="SimSun"/>
                  <a:cs typeface="Times New Roman"/>
                </a:rPr>
                <a:t xml:space="preserve"> — three regimes do the load-bearing work.</a:t>
              </a:r>
            </a:p>
          </p:txBody>
        </p:sp>
        <p:sp>
          <p:nvSpPr>
            <p:cNvPr id="12" name="Line 12"/>
            <p:cNvSpPr/>
            <p:nvPr/>
          </p:nvSpPr>
          <p:spPr>
            <a:xfrm>
              <a:off x="457200" y="1485900"/>
              <a:ext cx="11277600" cy="9525"/>
            </a:xfrm>
            <a:custGeom>
              <a:avLst/>
              <a:gdLst/>
              <a:ahLst/>
              <a:cxnLst/>
              <a:rect l="l" t="t" r="r" b="b"/>
              <a:pathLst>
                <a:path w="11277600" h="9525">
                  <a:moveTo>
                    <a:pt x="0" y="0"/>
                  </a:moveTo>
                  <a:lnTo>
                    <a:pt x="11277600" y="0"/>
                  </a:lnTo>
                </a:path>
              </a:pathLst>
            </a:custGeom>
            <a:noFill/>
            <a:ln w="19050">
              <a:solidFill>
                <a:srgbClr val="111111"/>
              </a:solidFill>
            </a:ln>
          </p:spPr>
        </p:sp>
      </p:grpSp>
      <p:grpSp>
        <p:nvGrpSpPr>
          <p:cNvPr id="16" name="Group 16"/>
          <p:cNvGrpSpPr/>
          <p:nvPr/>
        </p:nvGrpSpPr>
        <p:grpSpPr>
          <a:xfrm>
            <a:off x="457200" y="1619250"/>
            <a:ext cx="11277600" cy="1524000"/>
            <a:chOff x="457200" y="1619250"/>
            <a:chExt cx="11277600" cy="1524000"/>
          </a:xfrm>
        </p:grpSpPr>
        <p:pic>
          <p:nvPicPr>
            <p:cNvPr id="14" name="Image 14"/>
            <p:cNvPicPr>
              <a:picLocks noChangeAspect="1"/>
            </p:cNvPicPr>
            <p:nvPr/>
          </p:nvPicPr>
          <p:blipFill>
            <a:blip r:embed="rId2"/>
            <a:srcRect l="0" t="34102" r="0" b="34102"/>
            <a:stretch>
              <a:fillRect/>
            </a:stretch>
          </p:blipFill>
          <p:spPr>
            <a:xfrm>
              <a:off x="457200" y="1619250"/>
              <a:ext cx="11277600" cy="1524000"/>
            </a:xfrm>
            <a:prstGeom prst="rect">
              <a:avLst/>
            </a:prstGeom>
          </p:spPr>
        </p:pic>
        <p:sp>
          <p:nvSpPr>
            <p:cNvPr id="15" name="Rectangle 15"/>
            <p:cNvSpPr/>
            <p:nvPr/>
          </p:nvSpPr>
          <p:spPr>
            <a:xfrm>
              <a:off x="457200" y="1619250"/>
              <a:ext cx="11277600" cy="1524000"/>
            </a:xfrm>
            <a:prstGeom prst="rect">
              <a:avLst/>
            </a:prstGeom>
            <a:noFill/>
            <a:ln w="9525">
              <a:solidFill>
                <a:srgbClr val="111111"/>
              </a:solidFill>
            </a:ln>
          </p:spPr>
        </p:sp>
      </p:grpSp>
      <p:grpSp>
        <p:nvGrpSpPr>
          <p:cNvPr id="20" name="Group 20"/>
          <p:cNvGrpSpPr/>
          <p:nvPr/>
        </p:nvGrpSpPr>
        <p:grpSpPr>
          <a:xfrm>
            <a:off x="446722" y="3244691"/>
            <a:ext cx="11298556" cy="174784"/>
            <a:chOff x="446722" y="3244691"/>
            <a:chExt cx="11298556" cy="174784"/>
          </a:xfrm>
        </p:grpSpPr>
        <p:sp>
          <p:nvSpPr>
            <p:cNvPr id="17" name="TextBox 17"/>
            <p:cNvSpPr txBox="1"/>
            <p:nvPr/>
          </p:nvSpPr>
          <p:spPr>
            <a:xfrm>
              <a:off x="446722" y="3244691"/>
              <a:ext cx="2412104" cy="167640"/>
            </a:xfrm>
            <a:prstGeom prst="rect">
              <a:avLst/>
            </a:prstGeom>
            <a:noFill/>
            <a:ln>
              <a:noFill/>
            </a:ln>
          </p:spPr>
          <p:txBody>
            <a:bodyPr wrap="none" lIns="0" tIns="0" rIns="0" bIns="0" anchor="t" anchorCtr="0">
              <a:spAutoFit/>
            </a:bodyPr>
            <a:lstStyle/>
            <a:p>
              <a:pPr algn="l"/>
              <a:r>
                <a:rPr lang="zh-CN" sz="825" b="1" dirty="0">
                  <a:solidFill>
                    <a:srgbClr val="111111"/>
                  </a:solidFill>
                  <a:latin typeface="Arial Black"/>
                  <a:ea typeface="SimHei"/>
                  <a:cs typeface="Arial Black"/>
                </a:rPr>
                <a:t>FIG. 05 · THREE FOLDERS, THREE TRADITIONS</a:t>
              </a:r>
            </a:p>
          </p:txBody>
        </p:sp>
        <p:sp>
          <p:nvSpPr>
            <p:cNvPr id="18" name="TextBox 18"/>
            <p:cNvSpPr txBox="1"/>
            <p:nvPr/>
          </p:nvSpPr>
          <p:spPr>
            <a:xfrm>
              <a:off x="6933224" y="3244691"/>
              <a:ext cx="4812054" cy="167640"/>
            </a:xfrm>
            <a:prstGeom prst="rect">
              <a:avLst/>
            </a:prstGeom>
            <a:noFill/>
            <a:ln>
              <a:noFill/>
            </a:ln>
          </p:spPr>
          <p:txBody>
            <a:bodyPr wrap="none" lIns="0" tIns="0" rIns="0" bIns="0" anchor="t" anchorCtr="0">
              <a:spAutoFit/>
            </a:bodyPr>
            <a:lstStyle/>
            <a:p>
              <a:pPr algn="r"/>
              <a:r>
                <a:rPr lang="zh-CN" sz="825" i="1" dirty="0">
                  <a:solidFill>
                    <a:srgbClr val="3A3A3A"/>
                  </a:solidFill>
                  <a:latin typeface="Times New Roman"/>
                  <a:ea typeface="SimSun"/>
                  <a:cs typeface="Times New Roman"/>
                </a:rPr>
                <a:t>— Brussels stamps the model class; Washington devolves; Beijing watermarks the output.</a:t>
              </a:r>
            </a:p>
          </p:txBody>
        </p:sp>
        <p:sp>
          <p:nvSpPr>
            <p:cNvPr id="19" name="Line 19"/>
            <p:cNvSpPr/>
            <p:nvPr/>
          </p:nvSpPr>
          <p:spPr>
            <a:xfrm>
              <a:off x="457200" y="3409950"/>
              <a:ext cx="11277600" cy="9525"/>
            </a:xfrm>
            <a:custGeom>
              <a:avLst/>
              <a:gdLst/>
              <a:ahLst/>
              <a:cxnLst/>
              <a:rect l="l" t="t" r="r" b="b"/>
              <a:pathLst>
                <a:path w="11277600" h="9525">
                  <a:moveTo>
                    <a:pt x="0" y="0"/>
                  </a:moveTo>
                  <a:lnTo>
                    <a:pt x="11277600" y="0"/>
                  </a:lnTo>
                </a:path>
              </a:pathLst>
            </a:custGeom>
            <a:noFill/>
            <a:ln w="4762">
              <a:solidFill>
                <a:srgbClr val="111111"/>
              </a:solidFill>
            </a:ln>
          </p:spPr>
        </p:sp>
      </p:grpSp>
      <p:grpSp>
        <p:nvGrpSpPr>
          <p:cNvPr id="32" name="Group 32"/>
          <p:cNvGrpSpPr/>
          <p:nvPr/>
        </p:nvGrpSpPr>
        <p:grpSpPr>
          <a:xfrm>
            <a:off x="457200" y="3524250"/>
            <a:ext cx="11277600" cy="478631"/>
            <a:chOff x="457200" y="3524250"/>
            <a:chExt cx="11277600" cy="478631"/>
          </a:xfrm>
        </p:grpSpPr>
        <p:sp>
          <p:nvSpPr>
            <p:cNvPr id="21" name="Rectangle 21"/>
            <p:cNvSpPr/>
            <p:nvPr/>
          </p:nvSpPr>
          <p:spPr>
            <a:xfrm>
              <a:off x="457200" y="3524250"/>
              <a:ext cx="1905000" cy="457200"/>
            </a:xfrm>
            <a:prstGeom prst="rect">
              <a:avLst/>
            </a:prstGeom>
            <a:solidFill>
              <a:srgbClr val="F4F1EA"/>
            </a:solidFill>
            <a:ln>
              <a:noFill/>
            </a:ln>
          </p:spPr>
        </p:sp>
        <p:sp>
          <p:nvSpPr>
            <p:cNvPr id="22" name="TextBox 22"/>
            <p:cNvSpPr txBox="1"/>
            <p:nvPr/>
          </p:nvSpPr>
          <p:spPr>
            <a:xfrm>
              <a:off x="560070" y="3712845"/>
              <a:ext cx="634036" cy="182880"/>
            </a:xfrm>
            <a:prstGeom prst="rect">
              <a:avLst/>
            </a:prstGeom>
            <a:noFill/>
            <a:ln>
              <a:noFill/>
            </a:ln>
          </p:spPr>
          <p:txBody>
            <a:bodyPr wrap="none" lIns="0" tIns="0" rIns="0" bIns="0" anchor="t" anchorCtr="0">
              <a:spAutoFit/>
            </a:bodyPr>
            <a:lstStyle/>
            <a:p>
              <a:pPr algn="l"/>
              <a:r>
                <a:rPr lang="zh-CN" sz="900" b="1" dirty="0">
                  <a:solidFill>
                    <a:srgbClr val="111111"/>
                  </a:solidFill>
                  <a:latin typeface="Arial Black"/>
                  <a:ea typeface="SimHei"/>
                  <a:cs typeface="Arial Black"/>
                </a:rPr>
                <a:t>DIMENSION</a:t>
              </a:r>
            </a:p>
          </p:txBody>
        </p:sp>
        <p:sp>
          <p:nvSpPr>
            <p:cNvPr id="23" name="Rectangle 23"/>
            <p:cNvSpPr/>
            <p:nvPr/>
          </p:nvSpPr>
          <p:spPr>
            <a:xfrm>
              <a:off x="2438400" y="3524250"/>
              <a:ext cx="3048000" cy="457200"/>
            </a:xfrm>
            <a:prstGeom prst="rect">
              <a:avLst/>
            </a:prstGeom>
            <a:solidFill>
              <a:srgbClr val="111111"/>
            </a:solidFill>
            <a:ln>
              <a:noFill/>
            </a:ln>
          </p:spPr>
        </p:sp>
        <p:sp>
          <p:nvSpPr>
            <p:cNvPr id="24" name="TextBox 24"/>
            <p:cNvSpPr txBox="1"/>
            <p:nvPr/>
          </p:nvSpPr>
          <p:spPr>
            <a:xfrm>
              <a:off x="3854748" y="3623310"/>
              <a:ext cx="21530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Black"/>
                  <a:ea typeface="SimHei"/>
                  <a:cs typeface="Arial Black"/>
                </a:rPr>
                <a:t>EU</a:t>
              </a:r>
            </a:p>
          </p:txBody>
        </p:sp>
        <p:sp>
          <p:nvSpPr>
            <p:cNvPr id="25" name="TextBox 25"/>
            <p:cNvSpPr txBox="1"/>
            <p:nvPr/>
          </p:nvSpPr>
          <p:spPr>
            <a:xfrm>
              <a:off x="3951922" y="3835241"/>
              <a:ext cx="1418130" cy="167640"/>
            </a:xfrm>
            <a:prstGeom prst="rect">
              <a:avLst/>
            </a:prstGeom>
            <a:noFill/>
            <a:ln>
              <a:noFill/>
            </a:ln>
          </p:spPr>
          <p:txBody>
            <a:bodyPr wrap="none" lIns="0" tIns="0" rIns="0" bIns="0" anchor="t" anchorCtr="0">
              <a:spAutoFit/>
            </a:bodyPr>
            <a:lstStyle/>
            <a:p>
              <a:pPr algn="l"/>
              <a:r>
                <a:rPr lang="zh-CN" sz="825" i="1" dirty="0">
                  <a:solidFill>
                    <a:srgbClr val="FFFFFF"/>
                  </a:solidFill>
                  <a:latin typeface="Times New Roman"/>
                  <a:ea typeface="SimSun"/>
                  <a:cs typeface="Times New Roman"/>
                </a:rPr>
                <a:t>class-of-model regulation</a:t>
              </a:r>
            </a:p>
          </p:txBody>
        </p:sp>
        <p:sp>
          <p:nvSpPr>
            <p:cNvPr id="26" name="Rectangle 26"/>
            <p:cNvSpPr/>
            <p:nvPr/>
          </p:nvSpPr>
          <p:spPr>
            <a:xfrm>
              <a:off x="5562600" y="3524250"/>
              <a:ext cx="3048000" cy="457200"/>
            </a:xfrm>
            <a:prstGeom prst="rect">
              <a:avLst/>
            </a:prstGeom>
            <a:solidFill>
              <a:srgbClr val="111111"/>
            </a:solidFill>
            <a:ln>
              <a:noFill/>
            </a:ln>
          </p:spPr>
        </p:sp>
        <p:sp>
          <p:nvSpPr>
            <p:cNvPr id="27" name="TextBox 27"/>
            <p:cNvSpPr txBox="1"/>
            <p:nvPr/>
          </p:nvSpPr>
          <p:spPr>
            <a:xfrm>
              <a:off x="6512690" y="3623310"/>
              <a:ext cx="1147820"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Black"/>
                  <a:ea typeface="SimHei"/>
                  <a:cs typeface="Arial Black"/>
                </a:rPr>
                <a:t>UNITED STATES</a:t>
              </a:r>
            </a:p>
          </p:txBody>
        </p:sp>
        <p:sp>
          <p:nvSpPr>
            <p:cNvPr id="28" name="TextBox 28"/>
            <p:cNvSpPr txBox="1"/>
            <p:nvPr/>
          </p:nvSpPr>
          <p:spPr>
            <a:xfrm>
              <a:off x="7076122" y="3835241"/>
              <a:ext cx="1396127" cy="167640"/>
            </a:xfrm>
            <a:prstGeom prst="rect">
              <a:avLst/>
            </a:prstGeom>
            <a:noFill/>
            <a:ln>
              <a:noFill/>
            </a:ln>
          </p:spPr>
          <p:txBody>
            <a:bodyPr wrap="none" lIns="0" tIns="0" rIns="0" bIns="0" anchor="t" anchorCtr="0">
              <a:spAutoFit/>
            </a:bodyPr>
            <a:lstStyle/>
            <a:p>
              <a:pPr algn="l"/>
              <a:r>
                <a:rPr lang="zh-CN" sz="825" i="1" dirty="0">
                  <a:solidFill>
                    <a:srgbClr val="FFFFFF"/>
                  </a:solidFill>
                  <a:latin typeface="Times New Roman"/>
                  <a:ea typeface="SimSun"/>
                  <a:cs typeface="Times New Roman"/>
                </a:rPr>
                <a:t>sector + state regulation</a:t>
              </a:r>
            </a:p>
          </p:txBody>
        </p:sp>
        <p:sp>
          <p:nvSpPr>
            <p:cNvPr id="29" name="Rectangle 29"/>
            <p:cNvSpPr/>
            <p:nvPr/>
          </p:nvSpPr>
          <p:spPr>
            <a:xfrm>
              <a:off x="8686800" y="3524250"/>
              <a:ext cx="3048000" cy="457200"/>
            </a:xfrm>
            <a:prstGeom prst="rect">
              <a:avLst/>
            </a:prstGeom>
            <a:solidFill>
              <a:srgbClr val="C8102E"/>
            </a:solidFill>
            <a:ln>
              <a:noFill/>
            </a:ln>
          </p:spPr>
        </p:sp>
        <p:sp>
          <p:nvSpPr>
            <p:cNvPr id="30" name="TextBox 30"/>
            <p:cNvSpPr txBox="1"/>
            <p:nvPr/>
          </p:nvSpPr>
          <p:spPr>
            <a:xfrm>
              <a:off x="9985534" y="3623310"/>
              <a:ext cx="45053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Black"/>
                  <a:ea typeface="SimHei"/>
                  <a:cs typeface="Arial Black"/>
                </a:rPr>
                <a:t>CHINA</a:t>
              </a:r>
            </a:p>
          </p:txBody>
        </p:sp>
        <p:sp>
          <p:nvSpPr>
            <p:cNvPr id="31" name="TextBox 31"/>
            <p:cNvSpPr txBox="1"/>
            <p:nvPr/>
          </p:nvSpPr>
          <p:spPr>
            <a:xfrm>
              <a:off x="10200322" y="3835241"/>
              <a:ext cx="1423630" cy="167640"/>
            </a:xfrm>
            <a:prstGeom prst="rect">
              <a:avLst/>
            </a:prstGeom>
            <a:noFill/>
            <a:ln>
              <a:noFill/>
            </a:ln>
          </p:spPr>
          <p:txBody>
            <a:bodyPr wrap="none" lIns="0" tIns="0" rIns="0" bIns="0" anchor="t" anchorCtr="0">
              <a:spAutoFit/>
            </a:bodyPr>
            <a:lstStyle/>
            <a:p>
              <a:pPr algn="l"/>
              <a:r>
                <a:rPr lang="zh-CN" sz="825" i="1" dirty="0">
                  <a:solidFill>
                    <a:srgbClr val="FFFFFF"/>
                  </a:solidFill>
                  <a:latin typeface="Times New Roman"/>
                  <a:ea typeface="SimSun"/>
                  <a:cs typeface="Times New Roman"/>
                </a:rPr>
                <a:t>output-tagging regulation</a:t>
              </a:r>
            </a:p>
          </p:txBody>
        </p:sp>
      </p:grpSp>
      <p:grpSp>
        <p:nvGrpSpPr>
          <p:cNvPr id="44" name="Group 44"/>
          <p:cNvGrpSpPr/>
          <p:nvPr/>
        </p:nvGrpSpPr>
        <p:grpSpPr>
          <a:xfrm>
            <a:off x="457200" y="3981450"/>
            <a:ext cx="11277600" cy="469106"/>
            <a:chOff x="457200" y="3981450"/>
            <a:chExt cx="11277600" cy="469106"/>
          </a:xfrm>
        </p:grpSpPr>
        <p:sp>
          <p:nvSpPr>
            <p:cNvPr id="33" name="Rectangle 33"/>
            <p:cNvSpPr/>
            <p:nvPr/>
          </p:nvSpPr>
          <p:spPr>
            <a:xfrm>
              <a:off x="457200" y="3981450"/>
              <a:ext cx="1905000" cy="457200"/>
            </a:xfrm>
            <a:prstGeom prst="rect">
              <a:avLst/>
            </a:prstGeom>
            <a:solidFill>
              <a:srgbClr val="F4F1EA"/>
            </a:solidFill>
            <a:ln>
              <a:noFill/>
            </a:ln>
          </p:spPr>
        </p:sp>
        <p:sp>
          <p:nvSpPr>
            <p:cNvPr id="34" name="TextBox 34"/>
            <p:cNvSpPr txBox="1"/>
            <p:nvPr/>
          </p:nvSpPr>
          <p:spPr>
            <a:xfrm>
              <a:off x="561022" y="4140041"/>
              <a:ext cx="962398" cy="167640"/>
            </a:xfrm>
            <a:prstGeom prst="rect">
              <a:avLst/>
            </a:prstGeom>
            <a:noFill/>
            <a:ln>
              <a:noFill/>
            </a:ln>
          </p:spPr>
          <p:txBody>
            <a:bodyPr wrap="none" lIns="0" tIns="0" rIns="0" bIns="0" anchor="t" anchorCtr="0">
              <a:spAutoFit/>
            </a:bodyPr>
            <a:lstStyle/>
            <a:p>
              <a:pPr algn="l"/>
              <a:r>
                <a:rPr lang="zh-CN" sz="825" b="1" dirty="0">
                  <a:solidFill>
                    <a:srgbClr val="111111"/>
                  </a:solidFill>
                  <a:latin typeface="Arial Black"/>
                  <a:ea typeface="SimHei"/>
                  <a:cs typeface="Arial Black"/>
                </a:rPr>
                <a:t>CORE INSTRUMENT</a:t>
              </a:r>
            </a:p>
          </p:txBody>
        </p:sp>
        <p:sp>
          <p:nvSpPr>
            <p:cNvPr id="35" name="Rectangle 35"/>
            <p:cNvSpPr/>
            <p:nvPr/>
          </p:nvSpPr>
          <p:spPr>
            <a:xfrm>
              <a:off x="2438400" y="3981450"/>
              <a:ext cx="3048000" cy="457200"/>
            </a:xfrm>
            <a:prstGeom prst="rect">
              <a:avLst/>
            </a:prstGeom>
            <a:solidFill>
              <a:srgbClr val="FFFFFF"/>
            </a:solidFill>
            <a:ln w="4762">
              <a:solidFill>
                <a:srgbClr val="111111"/>
              </a:solidFill>
            </a:ln>
          </p:spPr>
        </p:sp>
        <p:sp>
          <p:nvSpPr>
            <p:cNvPr id="36" name="TextBox 36"/>
            <p:cNvSpPr txBox="1"/>
            <p:nvPr/>
          </p:nvSpPr>
          <p:spPr>
            <a:xfrm>
              <a:off x="2521268" y="4095274"/>
              <a:ext cx="407013" cy="198120"/>
            </a:xfrm>
            <a:prstGeom prst="rect">
              <a:avLst/>
            </a:prstGeom>
            <a:noFill/>
            <a:ln>
              <a:noFill/>
            </a:ln>
          </p:spPr>
          <p:txBody>
            <a:bodyPr wrap="none" lIns="0" tIns="0" rIns="0" bIns="0" anchor="t" anchorCtr="0">
              <a:spAutoFit/>
            </a:bodyPr>
            <a:lstStyle/>
            <a:p>
              <a:pPr algn="l"/>
              <a:r>
                <a:rPr lang="zh-CN" sz="975" b="1" dirty="0">
                  <a:solidFill>
                    <a:srgbClr val="111111"/>
                  </a:solidFill>
                  <a:latin typeface="Times New Roman"/>
                  <a:ea typeface="SimSun"/>
                  <a:cs typeface="Times New Roman"/>
                </a:rPr>
                <a:t>AI Act</a:t>
              </a:r>
            </a:p>
          </p:txBody>
        </p:sp>
        <p:sp>
          <p:nvSpPr>
            <p:cNvPr id="37" name="TextBox 37"/>
            <p:cNvSpPr txBox="1"/>
            <p:nvPr/>
          </p:nvSpPr>
          <p:spPr>
            <a:xfrm>
              <a:off x="2523172" y="4282916"/>
              <a:ext cx="1753672" cy="167640"/>
            </a:xfrm>
            <a:prstGeom prst="rect">
              <a:avLst/>
            </a:prstGeom>
            <a:noFill/>
            <a:ln>
              <a:noFill/>
            </a:ln>
          </p:spPr>
          <p:txBody>
            <a:bodyPr wrap="none" lIns="0" tIns="0" rIns="0" bIns="0" anchor="t" anchorCtr="0">
              <a:spAutoFit/>
            </a:bodyPr>
            <a:lstStyle/>
            <a:p>
              <a:pPr algn="l"/>
              <a:r>
                <a:rPr lang="zh-CN" sz="825" i="1" dirty="0">
                  <a:solidFill>
                    <a:srgbClr val="3A3A3A"/>
                  </a:solidFill>
                  <a:latin typeface="Times New Roman"/>
                  <a:ea typeface="SimSun"/>
                  <a:cs typeface="Times New Roman"/>
                </a:rPr>
                <a:t>general-purpose &amp; systemic risk</a:t>
              </a:r>
            </a:p>
          </p:txBody>
        </p:sp>
        <p:sp>
          <p:nvSpPr>
            <p:cNvPr id="38" name="Rectangle 38"/>
            <p:cNvSpPr/>
            <p:nvPr/>
          </p:nvSpPr>
          <p:spPr>
            <a:xfrm>
              <a:off x="5562600" y="3981450"/>
              <a:ext cx="3048000" cy="457200"/>
            </a:xfrm>
            <a:prstGeom prst="rect">
              <a:avLst/>
            </a:prstGeom>
            <a:solidFill>
              <a:srgbClr val="FFFFFF"/>
            </a:solidFill>
            <a:ln w="4762">
              <a:solidFill>
                <a:srgbClr val="111111"/>
              </a:solidFill>
            </a:ln>
          </p:spPr>
        </p:sp>
        <p:sp>
          <p:nvSpPr>
            <p:cNvPr id="39" name="TextBox 39"/>
            <p:cNvSpPr txBox="1"/>
            <p:nvPr/>
          </p:nvSpPr>
          <p:spPr>
            <a:xfrm>
              <a:off x="5645468" y="4095274"/>
              <a:ext cx="1417239" cy="198120"/>
            </a:xfrm>
            <a:prstGeom prst="rect">
              <a:avLst/>
            </a:prstGeom>
            <a:noFill/>
            <a:ln>
              <a:noFill/>
            </a:ln>
          </p:spPr>
          <p:txBody>
            <a:bodyPr wrap="none" lIns="0" tIns="0" rIns="0" bIns="0" anchor="t" anchorCtr="0">
              <a:spAutoFit/>
            </a:bodyPr>
            <a:lstStyle/>
            <a:p>
              <a:pPr algn="l"/>
              <a:r>
                <a:rPr lang="zh-CN" sz="975" b="1" dirty="0">
                  <a:solidFill>
                    <a:srgbClr val="111111"/>
                  </a:solidFill>
                  <a:latin typeface="Times New Roman"/>
                  <a:ea typeface="SimSun"/>
                  <a:cs typeface="Times New Roman"/>
                </a:rPr>
                <a:t>EO 14179 + state laws</a:t>
              </a:r>
            </a:p>
          </p:txBody>
        </p:sp>
        <p:sp>
          <p:nvSpPr>
            <p:cNvPr id="40" name="TextBox 40"/>
            <p:cNvSpPr txBox="1"/>
            <p:nvPr/>
          </p:nvSpPr>
          <p:spPr>
            <a:xfrm>
              <a:off x="5647372" y="4282916"/>
              <a:ext cx="1060585" cy="167640"/>
            </a:xfrm>
            <a:prstGeom prst="rect">
              <a:avLst/>
            </a:prstGeom>
            <a:noFill/>
            <a:ln>
              <a:noFill/>
            </a:ln>
          </p:spPr>
          <p:txBody>
            <a:bodyPr wrap="none" lIns="0" tIns="0" rIns="0" bIns="0" anchor="t" anchorCtr="0">
              <a:spAutoFit/>
            </a:bodyPr>
            <a:lstStyle/>
            <a:p>
              <a:pPr algn="l"/>
              <a:r>
                <a:rPr lang="zh-CN" sz="825" i="1" dirty="0">
                  <a:solidFill>
                    <a:srgbClr val="3A3A3A"/>
                  </a:solidFill>
                  <a:latin typeface="Times New Roman"/>
                  <a:ea typeface="SimSun"/>
                  <a:cs typeface="Times New Roman"/>
                </a:rPr>
                <a:t>CA · CO · TX leading</a:t>
              </a:r>
            </a:p>
          </p:txBody>
        </p:sp>
        <p:sp>
          <p:nvSpPr>
            <p:cNvPr id="41" name="Rectangle 41"/>
            <p:cNvSpPr/>
            <p:nvPr/>
          </p:nvSpPr>
          <p:spPr>
            <a:xfrm>
              <a:off x="8686800" y="3981450"/>
              <a:ext cx="3048000" cy="457200"/>
            </a:xfrm>
            <a:prstGeom prst="rect">
              <a:avLst/>
            </a:prstGeom>
            <a:solidFill>
              <a:srgbClr val="FFFFFF"/>
            </a:solidFill>
            <a:ln w="4762">
              <a:solidFill>
                <a:srgbClr val="111111"/>
              </a:solidFill>
            </a:ln>
          </p:spPr>
        </p:sp>
        <p:sp>
          <p:nvSpPr>
            <p:cNvPr id="42" name="TextBox 42"/>
            <p:cNvSpPr txBox="1"/>
            <p:nvPr/>
          </p:nvSpPr>
          <p:spPr>
            <a:xfrm>
              <a:off x="8769668" y="4095274"/>
              <a:ext cx="2113476" cy="198120"/>
            </a:xfrm>
            <a:prstGeom prst="rect">
              <a:avLst/>
            </a:prstGeom>
            <a:noFill/>
            <a:ln>
              <a:noFill/>
            </a:ln>
          </p:spPr>
          <p:txBody>
            <a:bodyPr wrap="none" lIns="0" tIns="0" rIns="0" bIns="0" anchor="t" anchorCtr="0">
              <a:spAutoFit/>
            </a:bodyPr>
            <a:lstStyle/>
            <a:p>
              <a:pPr algn="l"/>
              <a:r>
                <a:rPr lang="zh-CN" sz="975" b="1" dirty="0">
                  <a:solidFill>
                    <a:srgbClr val="111111"/>
                  </a:solidFill>
                  <a:latin typeface="Times New Roman"/>
                  <a:ea typeface="SimSun"/>
                  <a:cs typeface="Times New Roman"/>
                </a:rPr>
                <a:t>Gen-AI Services Mgmt Measures</a:t>
              </a:r>
            </a:p>
          </p:txBody>
        </p:sp>
        <p:sp>
          <p:nvSpPr>
            <p:cNvPr id="43" name="TextBox 43"/>
            <p:cNvSpPr txBox="1"/>
            <p:nvPr/>
          </p:nvSpPr>
          <p:spPr>
            <a:xfrm>
              <a:off x="8771572" y="4282916"/>
              <a:ext cx="1423630" cy="167640"/>
            </a:xfrm>
            <a:prstGeom prst="rect">
              <a:avLst/>
            </a:prstGeom>
            <a:noFill/>
            <a:ln>
              <a:noFill/>
            </a:ln>
          </p:spPr>
          <p:txBody>
            <a:bodyPr wrap="none" lIns="0" tIns="0" rIns="0" bIns="0" anchor="t" anchorCtr="0">
              <a:spAutoFit/>
            </a:bodyPr>
            <a:lstStyle/>
            <a:p>
              <a:pPr algn="l"/>
              <a:r>
                <a:rPr lang="zh-CN" sz="825" i="1" dirty="0">
                  <a:solidFill>
                    <a:srgbClr val="3A3A3A"/>
                  </a:solidFill>
                  <a:latin typeface="Times New Roman"/>
                  <a:ea typeface="SimSun"/>
                  <a:cs typeface="Times New Roman"/>
                </a:rPr>
                <a:t>+ synthetic-content rules</a:t>
              </a:r>
            </a:p>
          </p:txBody>
        </p:sp>
      </p:grpSp>
      <p:grpSp>
        <p:nvGrpSpPr>
          <p:cNvPr id="56" name="Group 56"/>
          <p:cNvGrpSpPr/>
          <p:nvPr/>
        </p:nvGrpSpPr>
        <p:grpSpPr>
          <a:xfrm>
            <a:off x="457200" y="4438650"/>
            <a:ext cx="11277600" cy="469106"/>
            <a:chOff x="457200" y="4438650"/>
            <a:chExt cx="11277600" cy="469106"/>
          </a:xfrm>
        </p:grpSpPr>
        <p:sp>
          <p:nvSpPr>
            <p:cNvPr id="45" name="Rectangle 45"/>
            <p:cNvSpPr/>
            <p:nvPr/>
          </p:nvSpPr>
          <p:spPr>
            <a:xfrm>
              <a:off x="457200" y="4438650"/>
              <a:ext cx="1905000" cy="457200"/>
            </a:xfrm>
            <a:prstGeom prst="rect">
              <a:avLst/>
            </a:prstGeom>
            <a:solidFill>
              <a:srgbClr val="F4F1EA"/>
            </a:solidFill>
            <a:ln>
              <a:noFill/>
            </a:ln>
          </p:spPr>
        </p:sp>
        <p:sp>
          <p:nvSpPr>
            <p:cNvPr id="46" name="TextBox 46"/>
            <p:cNvSpPr txBox="1"/>
            <p:nvPr/>
          </p:nvSpPr>
          <p:spPr>
            <a:xfrm>
              <a:off x="561022" y="4597241"/>
              <a:ext cx="973949" cy="167640"/>
            </a:xfrm>
            <a:prstGeom prst="rect">
              <a:avLst/>
            </a:prstGeom>
            <a:noFill/>
            <a:ln>
              <a:noFill/>
            </a:ln>
          </p:spPr>
          <p:txBody>
            <a:bodyPr wrap="none" lIns="0" tIns="0" rIns="0" bIns="0" anchor="t" anchorCtr="0">
              <a:spAutoFit/>
            </a:bodyPr>
            <a:lstStyle/>
            <a:p>
              <a:pPr algn="l"/>
              <a:r>
                <a:rPr lang="zh-CN" sz="825" b="1" dirty="0">
                  <a:solidFill>
                    <a:srgbClr val="111111"/>
                  </a:solidFill>
                  <a:latin typeface="Arial Black"/>
                  <a:ea typeface="SimHei"/>
                  <a:cs typeface="Arial Black"/>
                </a:rPr>
                <a:t>FULL FORCE SINCE</a:t>
              </a:r>
            </a:p>
          </p:txBody>
        </p:sp>
        <p:sp>
          <p:nvSpPr>
            <p:cNvPr id="47" name="Rectangle 47"/>
            <p:cNvSpPr/>
            <p:nvPr/>
          </p:nvSpPr>
          <p:spPr>
            <a:xfrm>
              <a:off x="2438400" y="4438650"/>
              <a:ext cx="3048000" cy="457200"/>
            </a:xfrm>
            <a:prstGeom prst="rect">
              <a:avLst/>
            </a:prstGeom>
            <a:solidFill>
              <a:srgbClr val="FFFFFF"/>
            </a:solidFill>
            <a:ln w="4762">
              <a:solidFill>
                <a:srgbClr val="111111"/>
              </a:solidFill>
            </a:ln>
          </p:spPr>
        </p:sp>
        <p:sp>
          <p:nvSpPr>
            <p:cNvPr id="48" name="TextBox 48"/>
            <p:cNvSpPr txBox="1"/>
            <p:nvPr/>
          </p:nvSpPr>
          <p:spPr>
            <a:xfrm>
              <a:off x="2521268" y="4552474"/>
              <a:ext cx="816564" cy="198120"/>
            </a:xfrm>
            <a:prstGeom prst="rect">
              <a:avLst/>
            </a:prstGeom>
            <a:noFill/>
            <a:ln>
              <a:noFill/>
            </a:ln>
          </p:spPr>
          <p:txBody>
            <a:bodyPr wrap="none" lIns="0" tIns="0" rIns="0" bIns="0" anchor="t" anchorCtr="0">
              <a:spAutoFit/>
            </a:bodyPr>
            <a:lstStyle/>
            <a:p>
              <a:pPr algn="l"/>
              <a:r>
                <a:rPr lang="zh-CN" sz="975" b="1" dirty="0">
                  <a:solidFill>
                    <a:srgbClr val="111111"/>
                  </a:solidFill>
                  <a:latin typeface="Arial Black"/>
                  <a:ea typeface="SimHei"/>
                  <a:cs typeface="Arial Black"/>
                </a:rPr>
                <a:t>August 2025</a:t>
              </a:r>
            </a:p>
          </p:txBody>
        </p:sp>
        <p:sp>
          <p:nvSpPr>
            <p:cNvPr id="49" name="TextBox 49"/>
            <p:cNvSpPr txBox="1"/>
            <p:nvPr/>
          </p:nvSpPr>
          <p:spPr>
            <a:xfrm>
              <a:off x="2523172" y="4740116"/>
              <a:ext cx="1863685" cy="167640"/>
            </a:xfrm>
            <a:prstGeom prst="rect">
              <a:avLst/>
            </a:prstGeom>
            <a:noFill/>
            <a:ln>
              <a:noFill/>
            </a:ln>
          </p:spPr>
          <p:txBody>
            <a:bodyPr wrap="none" lIns="0" tIns="0" rIns="0" bIns="0" anchor="t" anchorCtr="0">
              <a:spAutoFit/>
            </a:bodyPr>
            <a:lstStyle/>
            <a:p>
              <a:pPr algn="l"/>
              <a:r>
                <a:rPr lang="zh-CN" sz="825" i="1" dirty="0">
                  <a:solidFill>
                    <a:srgbClr val="3A3A3A"/>
                  </a:solidFill>
                  <a:latin typeface="Times New Roman"/>
                  <a:ea typeface="SimSun"/>
                  <a:cs typeface="Times New Roman"/>
                </a:rPr>
                <a:t>first binding horizontal AI statute</a:t>
              </a:r>
            </a:p>
          </p:txBody>
        </p:sp>
        <p:sp>
          <p:nvSpPr>
            <p:cNvPr id="50" name="Rectangle 50"/>
            <p:cNvSpPr/>
            <p:nvPr/>
          </p:nvSpPr>
          <p:spPr>
            <a:xfrm>
              <a:off x="5562600" y="4438650"/>
              <a:ext cx="3048000" cy="457200"/>
            </a:xfrm>
            <a:prstGeom prst="rect">
              <a:avLst/>
            </a:prstGeom>
            <a:solidFill>
              <a:srgbClr val="FFFFFF"/>
            </a:solidFill>
            <a:ln w="4762">
              <a:solidFill>
                <a:srgbClr val="111111"/>
              </a:solidFill>
            </a:ln>
          </p:spPr>
        </p:sp>
        <p:sp>
          <p:nvSpPr>
            <p:cNvPr id="51" name="TextBox 51"/>
            <p:cNvSpPr txBox="1"/>
            <p:nvPr/>
          </p:nvSpPr>
          <p:spPr>
            <a:xfrm>
              <a:off x="5645468" y="4552474"/>
              <a:ext cx="2031566" cy="198120"/>
            </a:xfrm>
            <a:prstGeom prst="rect">
              <a:avLst/>
            </a:prstGeom>
            <a:noFill/>
            <a:ln>
              <a:noFill/>
            </a:ln>
          </p:spPr>
          <p:txBody>
            <a:bodyPr wrap="none" lIns="0" tIns="0" rIns="0" bIns="0" anchor="t" anchorCtr="0">
              <a:spAutoFit/>
            </a:bodyPr>
            <a:lstStyle/>
            <a:p>
              <a:pPr algn="l"/>
              <a:r>
                <a:rPr lang="zh-CN" sz="975" b="1" dirty="0">
                  <a:solidFill>
                    <a:srgbClr val="111111"/>
                  </a:solidFill>
                  <a:latin typeface="Arial Black"/>
                  <a:ea typeface="SimHei"/>
                  <a:cs typeface="Arial Black"/>
                </a:rPr>
                <a:t>No federal statute (Apr 2026)</a:t>
              </a:r>
            </a:p>
          </p:txBody>
        </p:sp>
        <p:sp>
          <p:nvSpPr>
            <p:cNvPr id="52" name="TextBox 52"/>
            <p:cNvSpPr txBox="1"/>
            <p:nvPr/>
          </p:nvSpPr>
          <p:spPr>
            <a:xfrm>
              <a:off x="5647372" y="4740116"/>
              <a:ext cx="1214604" cy="167640"/>
            </a:xfrm>
            <a:prstGeom prst="rect">
              <a:avLst/>
            </a:prstGeom>
            <a:noFill/>
            <a:ln>
              <a:noFill/>
            </a:ln>
          </p:spPr>
          <p:txBody>
            <a:bodyPr wrap="none" lIns="0" tIns="0" rIns="0" bIns="0" anchor="t" anchorCtr="0">
              <a:spAutoFit/>
            </a:bodyPr>
            <a:lstStyle/>
            <a:p>
              <a:pPr algn="l"/>
              <a:r>
                <a:rPr lang="zh-CN" sz="825" i="1" dirty="0">
                  <a:solidFill>
                    <a:srgbClr val="3A3A3A"/>
                  </a:solidFill>
                  <a:latin typeface="Times New Roman"/>
                  <a:ea typeface="SimSun"/>
                  <a:cs typeface="Times New Roman"/>
                </a:rPr>
                <a:t>state laws fill the gap</a:t>
              </a:r>
            </a:p>
          </p:txBody>
        </p:sp>
        <p:sp>
          <p:nvSpPr>
            <p:cNvPr id="53" name="Rectangle 53"/>
            <p:cNvSpPr/>
            <p:nvPr/>
          </p:nvSpPr>
          <p:spPr>
            <a:xfrm>
              <a:off x="8686800" y="4438650"/>
              <a:ext cx="3048000" cy="457200"/>
            </a:xfrm>
            <a:prstGeom prst="rect">
              <a:avLst/>
            </a:prstGeom>
            <a:solidFill>
              <a:srgbClr val="FFFFFF"/>
            </a:solidFill>
            <a:ln w="4762">
              <a:solidFill>
                <a:srgbClr val="111111"/>
              </a:solidFill>
            </a:ln>
          </p:spPr>
        </p:sp>
        <p:sp>
          <p:nvSpPr>
            <p:cNvPr id="54" name="TextBox 54"/>
            <p:cNvSpPr txBox="1"/>
            <p:nvPr/>
          </p:nvSpPr>
          <p:spPr>
            <a:xfrm>
              <a:off x="8769668" y="4552474"/>
              <a:ext cx="2011088" cy="198120"/>
            </a:xfrm>
            <a:prstGeom prst="rect">
              <a:avLst/>
            </a:prstGeom>
            <a:noFill/>
            <a:ln>
              <a:noFill/>
            </a:ln>
          </p:spPr>
          <p:txBody>
            <a:bodyPr wrap="none" lIns="0" tIns="0" rIns="0" bIns="0" anchor="t" anchorCtr="0">
              <a:spAutoFit/>
            </a:bodyPr>
            <a:lstStyle/>
            <a:p>
              <a:pPr algn="l"/>
              <a:r>
                <a:rPr lang="zh-CN" sz="975" b="1" dirty="0">
                  <a:solidFill>
                    <a:srgbClr val="111111"/>
                  </a:solidFill>
                  <a:latin typeface="Arial Black"/>
                  <a:ea typeface="SimHei"/>
                  <a:cs typeface="Arial Black"/>
                </a:rPr>
                <a:t>Watermark rules · 2025-09-01</a:t>
              </a:r>
            </a:p>
          </p:txBody>
        </p:sp>
        <p:sp>
          <p:nvSpPr>
            <p:cNvPr id="55" name="TextBox 55"/>
            <p:cNvSpPr txBox="1"/>
            <p:nvPr/>
          </p:nvSpPr>
          <p:spPr>
            <a:xfrm>
              <a:off x="8771572" y="4740116"/>
              <a:ext cx="2210229" cy="167640"/>
            </a:xfrm>
            <a:prstGeom prst="rect">
              <a:avLst/>
            </a:prstGeom>
            <a:noFill/>
            <a:ln>
              <a:noFill/>
            </a:ln>
          </p:spPr>
          <p:txBody>
            <a:bodyPr wrap="none" lIns="0" tIns="0" rIns="0" bIns="0" anchor="t" anchorCtr="0">
              <a:spAutoFit/>
            </a:bodyPr>
            <a:lstStyle/>
            <a:p>
              <a:pPr algn="l"/>
              <a:r>
                <a:rPr lang="zh-CN" sz="825" i="1" dirty="0">
                  <a:solidFill>
                    <a:srgbClr val="3A3A3A"/>
                  </a:solidFill>
                  <a:latin typeface="Times New Roman"/>
                  <a:ea typeface="SimSun"/>
                  <a:cs typeface="Times New Roman"/>
                </a:rPr>
                <a:t>first state-mandated watermark regime</a:t>
              </a:r>
            </a:p>
          </p:txBody>
        </p:sp>
      </p:grpSp>
      <p:grpSp>
        <p:nvGrpSpPr>
          <p:cNvPr id="68" name="Group 68"/>
          <p:cNvGrpSpPr/>
          <p:nvPr/>
        </p:nvGrpSpPr>
        <p:grpSpPr>
          <a:xfrm>
            <a:off x="457200" y="4895850"/>
            <a:ext cx="11277600" cy="469106"/>
            <a:chOff x="457200" y="4895850"/>
            <a:chExt cx="11277600" cy="469106"/>
          </a:xfrm>
        </p:grpSpPr>
        <p:sp>
          <p:nvSpPr>
            <p:cNvPr id="57" name="Rectangle 57"/>
            <p:cNvSpPr/>
            <p:nvPr/>
          </p:nvSpPr>
          <p:spPr>
            <a:xfrm>
              <a:off x="457200" y="4895850"/>
              <a:ext cx="1905000" cy="457200"/>
            </a:xfrm>
            <a:prstGeom prst="rect">
              <a:avLst/>
            </a:prstGeom>
            <a:solidFill>
              <a:srgbClr val="F4F1EA"/>
            </a:solidFill>
            <a:ln>
              <a:noFill/>
            </a:ln>
          </p:spPr>
        </p:sp>
        <p:sp>
          <p:nvSpPr>
            <p:cNvPr id="58" name="TextBox 58"/>
            <p:cNvSpPr txBox="1"/>
            <p:nvPr/>
          </p:nvSpPr>
          <p:spPr>
            <a:xfrm>
              <a:off x="561022" y="5054441"/>
              <a:ext cx="714042" cy="167640"/>
            </a:xfrm>
            <a:prstGeom prst="rect">
              <a:avLst/>
            </a:prstGeom>
            <a:noFill/>
            <a:ln>
              <a:noFill/>
            </a:ln>
          </p:spPr>
          <p:txBody>
            <a:bodyPr wrap="none" lIns="0" tIns="0" rIns="0" bIns="0" anchor="t" anchorCtr="0">
              <a:spAutoFit/>
            </a:bodyPr>
            <a:lstStyle/>
            <a:p>
              <a:pPr algn="l"/>
              <a:r>
                <a:rPr lang="zh-CN" sz="825" b="1" dirty="0">
                  <a:solidFill>
                    <a:srgbClr val="111111"/>
                  </a:solidFill>
                  <a:latin typeface="Arial Black"/>
                  <a:ea typeface="SimHei"/>
                  <a:cs typeface="Arial Black"/>
                </a:rPr>
                <a:t>MAX PENALTY</a:t>
              </a:r>
            </a:p>
          </p:txBody>
        </p:sp>
        <p:sp>
          <p:nvSpPr>
            <p:cNvPr id="59" name="Rectangle 59"/>
            <p:cNvSpPr/>
            <p:nvPr/>
          </p:nvSpPr>
          <p:spPr>
            <a:xfrm>
              <a:off x="2438400" y="4895850"/>
              <a:ext cx="3048000" cy="457200"/>
            </a:xfrm>
            <a:prstGeom prst="rect">
              <a:avLst/>
            </a:prstGeom>
            <a:solidFill>
              <a:srgbClr val="FFFFFF"/>
            </a:solidFill>
            <a:ln w="4762">
              <a:solidFill>
                <a:srgbClr val="111111"/>
              </a:solidFill>
            </a:ln>
          </p:spPr>
        </p:sp>
        <p:sp>
          <p:nvSpPr>
            <p:cNvPr id="60" name="TextBox 60"/>
            <p:cNvSpPr txBox="1"/>
            <p:nvPr/>
          </p:nvSpPr>
          <p:spPr>
            <a:xfrm>
              <a:off x="2521268" y="5009674"/>
              <a:ext cx="1458194" cy="198120"/>
            </a:xfrm>
            <a:prstGeom prst="rect">
              <a:avLst/>
            </a:prstGeom>
            <a:noFill/>
            <a:ln>
              <a:noFill/>
            </a:ln>
          </p:spPr>
          <p:txBody>
            <a:bodyPr wrap="none" lIns="0" tIns="0" rIns="0" bIns="0" anchor="t" anchorCtr="0">
              <a:spAutoFit/>
            </a:bodyPr>
            <a:lstStyle/>
            <a:p>
              <a:pPr algn="l"/>
              <a:r>
                <a:rPr lang="zh-CN" sz="975" b="1" dirty="0">
                  <a:solidFill>
                    <a:srgbClr val="C8102E"/>
                  </a:solidFill>
                  <a:latin typeface="Arial Black"/>
                  <a:ea typeface="SimHei"/>
                  <a:cs typeface="Arial Black"/>
                </a:rPr>
                <a:t>€35 M or 7 % turnover</a:t>
              </a:r>
            </a:p>
          </p:txBody>
        </p:sp>
        <p:sp>
          <p:nvSpPr>
            <p:cNvPr id="61" name="TextBox 61"/>
            <p:cNvSpPr txBox="1"/>
            <p:nvPr/>
          </p:nvSpPr>
          <p:spPr>
            <a:xfrm>
              <a:off x="2523172" y="5197316"/>
              <a:ext cx="1055084" cy="167640"/>
            </a:xfrm>
            <a:prstGeom prst="rect">
              <a:avLst/>
            </a:prstGeom>
            <a:noFill/>
            <a:ln>
              <a:noFill/>
            </a:ln>
          </p:spPr>
          <p:txBody>
            <a:bodyPr wrap="none" lIns="0" tIns="0" rIns="0" bIns="0" anchor="t" anchorCtr="0">
              <a:spAutoFit/>
            </a:bodyPr>
            <a:lstStyle/>
            <a:p>
              <a:pPr algn="l"/>
              <a:r>
                <a:rPr lang="zh-CN" sz="825" i="1" dirty="0">
                  <a:solidFill>
                    <a:srgbClr val="3A3A3A"/>
                  </a:solidFill>
                  <a:latin typeface="Times New Roman"/>
                  <a:ea typeface="SimSun"/>
                  <a:cs typeface="Times New Roman"/>
                </a:rPr>
                <a:t>whichever is higher</a:t>
              </a:r>
            </a:p>
          </p:txBody>
        </p:sp>
        <p:sp>
          <p:nvSpPr>
            <p:cNvPr id="62" name="Rectangle 62"/>
            <p:cNvSpPr/>
            <p:nvPr/>
          </p:nvSpPr>
          <p:spPr>
            <a:xfrm>
              <a:off x="5562600" y="4895850"/>
              <a:ext cx="3048000" cy="457200"/>
            </a:xfrm>
            <a:prstGeom prst="rect">
              <a:avLst/>
            </a:prstGeom>
            <a:solidFill>
              <a:srgbClr val="FFFFFF"/>
            </a:solidFill>
            <a:ln w="4762">
              <a:solidFill>
                <a:srgbClr val="111111"/>
              </a:solidFill>
            </a:ln>
          </p:spPr>
        </p:sp>
        <p:sp>
          <p:nvSpPr>
            <p:cNvPr id="63" name="TextBox 63"/>
            <p:cNvSpPr txBox="1"/>
            <p:nvPr/>
          </p:nvSpPr>
          <p:spPr>
            <a:xfrm>
              <a:off x="5645468" y="5009674"/>
              <a:ext cx="1048643" cy="198120"/>
            </a:xfrm>
            <a:prstGeom prst="rect">
              <a:avLst/>
            </a:prstGeom>
            <a:noFill/>
            <a:ln>
              <a:noFill/>
            </a:ln>
          </p:spPr>
          <p:txBody>
            <a:bodyPr wrap="none" lIns="0" tIns="0" rIns="0" bIns="0" anchor="t" anchorCtr="0">
              <a:spAutoFit/>
            </a:bodyPr>
            <a:lstStyle/>
            <a:p>
              <a:pPr algn="l"/>
              <a:r>
                <a:rPr lang="zh-CN" sz="975" b="1" dirty="0">
                  <a:solidFill>
                    <a:srgbClr val="111111"/>
                  </a:solidFill>
                  <a:latin typeface="Arial Black"/>
                  <a:ea typeface="SimHei"/>
                  <a:cs typeface="Arial Black"/>
                </a:rPr>
                <a:t>Varies by state</a:t>
              </a:r>
            </a:p>
          </p:txBody>
        </p:sp>
        <p:sp>
          <p:nvSpPr>
            <p:cNvPr id="64" name="TextBox 64"/>
            <p:cNvSpPr txBox="1"/>
            <p:nvPr/>
          </p:nvSpPr>
          <p:spPr>
            <a:xfrm>
              <a:off x="5647372" y="5197316"/>
              <a:ext cx="1225606" cy="167640"/>
            </a:xfrm>
            <a:prstGeom prst="rect">
              <a:avLst/>
            </a:prstGeom>
            <a:noFill/>
            <a:ln>
              <a:noFill/>
            </a:ln>
          </p:spPr>
          <p:txBody>
            <a:bodyPr wrap="none" lIns="0" tIns="0" rIns="0" bIns="0" anchor="t" anchorCtr="0">
              <a:spAutoFit/>
            </a:bodyPr>
            <a:lstStyle/>
            <a:p>
              <a:pPr algn="l"/>
              <a:r>
                <a:rPr lang="zh-CN" sz="825" i="1" dirty="0">
                  <a:solidFill>
                    <a:srgbClr val="3A3A3A"/>
                  </a:solidFill>
                  <a:latin typeface="Times New Roman"/>
                  <a:ea typeface="SimSun"/>
                  <a:cs typeface="Times New Roman"/>
                </a:rPr>
                <a:t>civil + injunction track</a:t>
              </a:r>
            </a:p>
          </p:txBody>
        </p:sp>
        <p:sp>
          <p:nvSpPr>
            <p:cNvPr id="65" name="Rectangle 65"/>
            <p:cNvSpPr/>
            <p:nvPr/>
          </p:nvSpPr>
          <p:spPr>
            <a:xfrm>
              <a:off x="8686800" y="4895850"/>
              <a:ext cx="3048000" cy="457200"/>
            </a:xfrm>
            <a:prstGeom prst="rect">
              <a:avLst/>
            </a:prstGeom>
            <a:solidFill>
              <a:srgbClr val="FFFFFF"/>
            </a:solidFill>
            <a:ln w="4762">
              <a:solidFill>
                <a:srgbClr val="111111"/>
              </a:solidFill>
            </a:ln>
          </p:spPr>
        </p:sp>
        <p:sp>
          <p:nvSpPr>
            <p:cNvPr id="66" name="TextBox 66"/>
            <p:cNvSpPr txBox="1"/>
            <p:nvPr/>
          </p:nvSpPr>
          <p:spPr>
            <a:xfrm>
              <a:off x="8769668" y="5009674"/>
              <a:ext cx="1765358" cy="198120"/>
            </a:xfrm>
            <a:prstGeom prst="rect">
              <a:avLst/>
            </a:prstGeom>
            <a:noFill/>
            <a:ln>
              <a:noFill/>
            </a:ln>
          </p:spPr>
          <p:txBody>
            <a:bodyPr wrap="none" lIns="0" tIns="0" rIns="0" bIns="0" anchor="t" anchorCtr="0">
              <a:spAutoFit/>
            </a:bodyPr>
            <a:lstStyle/>
            <a:p>
              <a:pPr algn="l"/>
              <a:r>
                <a:rPr lang="zh-CN" sz="975" b="1" dirty="0">
                  <a:solidFill>
                    <a:srgbClr val="111111"/>
                  </a:solidFill>
                  <a:latin typeface="Arial Black"/>
                  <a:ea typeface="SimHei"/>
                  <a:cs typeface="Arial Black"/>
                </a:rPr>
                <a:t>Admin + licence revocation</a:t>
              </a:r>
            </a:p>
          </p:txBody>
        </p:sp>
        <p:sp>
          <p:nvSpPr>
            <p:cNvPr id="67" name="TextBox 67"/>
            <p:cNvSpPr txBox="1"/>
            <p:nvPr/>
          </p:nvSpPr>
          <p:spPr>
            <a:xfrm>
              <a:off x="8771572" y="5197316"/>
              <a:ext cx="1302615" cy="167640"/>
            </a:xfrm>
            <a:prstGeom prst="rect">
              <a:avLst/>
            </a:prstGeom>
            <a:noFill/>
            <a:ln>
              <a:noFill/>
            </a:ln>
          </p:spPr>
          <p:txBody>
            <a:bodyPr wrap="none" lIns="0" tIns="0" rIns="0" bIns="0" anchor="t" anchorCtr="0">
              <a:spAutoFit/>
            </a:bodyPr>
            <a:lstStyle/>
            <a:p>
              <a:pPr algn="l"/>
              <a:r>
                <a:rPr lang="zh-CN" sz="825" i="1" dirty="0">
                  <a:solidFill>
                    <a:srgbClr val="3A3A3A"/>
                  </a:solidFill>
                  <a:latin typeface="Times New Roman"/>
                  <a:ea typeface="SimSun"/>
                  <a:cs typeface="Times New Roman"/>
                </a:rPr>
                <a:t>CAC + sector regulators</a:t>
              </a:r>
            </a:p>
          </p:txBody>
        </p:sp>
      </p:grpSp>
      <p:grpSp>
        <p:nvGrpSpPr>
          <p:cNvPr id="80" name="Group 80"/>
          <p:cNvGrpSpPr/>
          <p:nvPr/>
        </p:nvGrpSpPr>
        <p:grpSpPr>
          <a:xfrm>
            <a:off x="457200" y="5353050"/>
            <a:ext cx="11277600" cy="469106"/>
            <a:chOff x="457200" y="5353050"/>
            <a:chExt cx="11277600" cy="469106"/>
          </a:xfrm>
        </p:grpSpPr>
        <p:sp>
          <p:nvSpPr>
            <p:cNvPr id="69" name="Rectangle 69"/>
            <p:cNvSpPr/>
            <p:nvPr/>
          </p:nvSpPr>
          <p:spPr>
            <a:xfrm>
              <a:off x="457200" y="5353050"/>
              <a:ext cx="1905000" cy="457200"/>
            </a:xfrm>
            <a:prstGeom prst="rect">
              <a:avLst/>
            </a:prstGeom>
            <a:solidFill>
              <a:srgbClr val="F4F1EA"/>
            </a:solidFill>
            <a:ln>
              <a:noFill/>
            </a:ln>
          </p:spPr>
        </p:sp>
        <p:sp>
          <p:nvSpPr>
            <p:cNvPr id="70" name="TextBox 70"/>
            <p:cNvSpPr txBox="1"/>
            <p:nvPr/>
          </p:nvSpPr>
          <p:spPr>
            <a:xfrm>
              <a:off x="561022" y="5511641"/>
              <a:ext cx="898865" cy="167640"/>
            </a:xfrm>
            <a:prstGeom prst="rect">
              <a:avLst/>
            </a:prstGeom>
            <a:noFill/>
            <a:ln>
              <a:noFill/>
            </a:ln>
          </p:spPr>
          <p:txBody>
            <a:bodyPr wrap="none" lIns="0" tIns="0" rIns="0" bIns="0" anchor="t" anchorCtr="0">
              <a:spAutoFit/>
            </a:bodyPr>
            <a:lstStyle/>
            <a:p>
              <a:pPr algn="l"/>
              <a:r>
                <a:rPr lang="zh-CN" sz="825" b="1" dirty="0">
                  <a:solidFill>
                    <a:srgbClr val="111111"/>
                  </a:solidFill>
                  <a:latin typeface="Arial Black"/>
                  <a:ea typeface="SimHei"/>
                  <a:cs typeface="Arial Black"/>
                </a:rPr>
                <a:t>FRONTIER FOCUS</a:t>
              </a:r>
            </a:p>
          </p:txBody>
        </p:sp>
        <p:sp>
          <p:nvSpPr>
            <p:cNvPr id="71" name="Rectangle 71"/>
            <p:cNvSpPr/>
            <p:nvPr/>
          </p:nvSpPr>
          <p:spPr>
            <a:xfrm>
              <a:off x="2438400" y="5353050"/>
              <a:ext cx="3048000" cy="457200"/>
            </a:xfrm>
            <a:prstGeom prst="rect">
              <a:avLst/>
            </a:prstGeom>
            <a:solidFill>
              <a:srgbClr val="FFFFFF"/>
            </a:solidFill>
            <a:ln w="4762">
              <a:solidFill>
                <a:srgbClr val="111111"/>
              </a:solidFill>
            </a:ln>
          </p:spPr>
        </p:sp>
        <p:sp>
          <p:nvSpPr>
            <p:cNvPr id="72" name="TextBox 72"/>
            <p:cNvSpPr txBox="1"/>
            <p:nvPr/>
          </p:nvSpPr>
          <p:spPr>
            <a:xfrm>
              <a:off x="2521268" y="5466874"/>
              <a:ext cx="1214414" cy="198120"/>
            </a:xfrm>
            <a:prstGeom prst="rect">
              <a:avLst/>
            </a:prstGeom>
            <a:noFill/>
            <a:ln>
              <a:noFill/>
            </a:ln>
          </p:spPr>
          <p:txBody>
            <a:bodyPr wrap="none" lIns="0" tIns="0" rIns="0" bIns="0" anchor="t" anchorCtr="0">
              <a:spAutoFit/>
            </a:bodyPr>
            <a:lstStyle/>
            <a:p>
              <a:pPr algn="l"/>
              <a:r>
                <a:rPr lang="zh-CN" sz="975" dirty="0">
                  <a:solidFill>
                    <a:srgbClr val="111111"/>
                  </a:solidFill>
                  <a:latin typeface="Times New Roman"/>
                  <a:ea typeface="SimSun"/>
                  <a:cs typeface="Times New Roman"/>
                </a:rPr>
                <a:t>General-purpose AI</a:t>
              </a:r>
            </a:p>
          </p:txBody>
        </p:sp>
        <p:sp>
          <p:nvSpPr>
            <p:cNvPr id="73" name="TextBox 73"/>
            <p:cNvSpPr txBox="1"/>
            <p:nvPr/>
          </p:nvSpPr>
          <p:spPr>
            <a:xfrm>
              <a:off x="2523172" y="5654516"/>
              <a:ext cx="1561148" cy="167640"/>
            </a:xfrm>
            <a:prstGeom prst="rect">
              <a:avLst/>
            </a:prstGeom>
            <a:noFill/>
            <a:ln>
              <a:noFill/>
            </a:ln>
          </p:spPr>
          <p:txBody>
            <a:bodyPr wrap="none" lIns="0" tIns="0" rIns="0" bIns="0" anchor="t" anchorCtr="0">
              <a:spAutoFit/>
            </a:bodyPr>
            <a:lstStyle/>
            <a:p>
              <a:pPr algn="l"/>
              <a:r>
                <a:rPr lang="zh-CN" sz="825" i="1" dirty="0">
                  <a:solidFill>
                    <a:srgbClr val="3A3A3A"/>
                  </a:solidFill>
                  <a:latin typeface="Times New Roman"/>
                  <a:ea typeface="SimSun"/>
                  <a:cs typeface="Times New Roman"/>
                </a:rPr>
                <a:t>w/ systemic-risk thresholds</a:t>
              </a:r>
            </a:p>
          </p:txBody>
        </p:sp>
        <p:sp>
          <p:nvSpPr>
            <p:cNvPr id="74" name="Rectangle 74"/>
            <p:cNvSpPr/>
            <p:nvPr/>
          </p:nvSpPr>
          <p:spPr>
            <a:xfrm>
              <a:off x="5562600" y="5353050"/>
              <a:ext cx="3048000" cy="457200"/>
            </a:xfrm>
            <a:prstGeom prst="rect">
              <a:avLst/>
            </a:prstGeom>
            <a:solidFill>
              <a:srgbClr val="FFFFFF"/>
            </a:solidFill>
            <a:ln w="4762">
              <a:solidFill>
                <a:srgbClr val="111111"/>
              </a:solidFill>
            </a:ln>
          </p:spPr>
        </p:sp>
        <p:sp>
          <p:nvSpPr>
            <p:cNvPr id="75" name="TextBox 75"/>
            <p:cNvSpPr txBox="1"/>
            <p:nvPr/>
          </p:nvSpPr>
          <p:spPr>
            <a:xfrm>
              <a:off x="5645468" y="5466874"/>
              <a:ext cx="1747480" cy="198120"/>
            </a:xfrm>
            <a:prstGeom prst="rect">
              <a:avLst/>
            </a:prstGeom>
            <a:noFill/>
            <a:ln>
              <a:noFill/>
            </a:ln>
          </p:spPr>
          <p:txBody>
            <a:bodyPr wrap="none" lIns="0" tIns="0" rIns="0" bIns="0" anchor="t" anchorCtr="0">
              <a:spAutoFit/>
            </a:bodyPr>
            <a:lstStyle/>
            <a:p>
              <a:pPr algn="l"/>
              <a:r>
                <a:rPr lang="zh-CN" sz="975" dirty="0">
                  <a:solidFill>
                    <a:srgbClr val="111111"/>
                  </a:solidFill>
                  <a:latin typeface="Times New Roman"/>
                  <a:ea typeface="SimSun"/>
                  <a:cs typeface="Times New Roman"/>
                </a:rPr>
                <a:t>Innovation-first reframing</a:t>
              </a:r>
            </a:p>
          </p:txBody>
        </p:sp>
        <p:sp>
          <p:nvSpPr>
            <p:cNvPr id="76" name="TextBox 76"/>
            <p:cNvSpPr txBox="1"/>
            <p:nvPr/>
          </p:nvSpPr>
          <p:spPr>
            <a:xfrm>
              <a:off x="5647372" y="5654516"/>
              <a:ext cx="1330119" cy="167640"/>
            </a:xfrm>
            <a:prstGeom prst="rect">
              <a:avLst/>
            </a:prstGeom>
            <a:noFill/>
            <a:ln>
              <a:noFill/>
            </a:ln>
          </p:spPr>
          <p:txBody>
            <a:bodyPr wrap="none" lIns="0" tIns="0" rIns="0" bIns="0" anchor="t" anchorCtr="0">
              <a:spAutoFit/>
            </a:bodyPr>
            <a:lstStyle/>
            <a:p>
              <a:pPr algn="l"/>
              <a:r>
                <a:rPr lang="zh-CN" sz="825" i="1" dirty="0">
                  <a:solidFill>
                    <a:srgbClr val="3A3A3A"/>
                  </a:solidFill>
                  <a:latin typeface="Times New Roman"/>
                  <a:ea typeface="SimSun"/>
                  <a:cs typeface="Times New Roman"/>
                </a:rPr>
                <a:t>post EO 14179 (Jan 2025)</a:t>
              </a:r>
            </a:p>
          </p:txBody>
        </p:sp>
        <p:sp>
          <p:nvSpPr>
            <p:cNvPr id="77" name="Rectangle 77"/>
            <p:cNvSpPr/>
            <p:nvPr/>
          </p:nvSpPr>
          <p:spPr>
            <a:xfrm>
              <a:off x="8686800" y="5353050"/>
              <a:ext cx="3048000" cy="457200"/>
            </a:xfrm>
            <a:prstGeom prst="rect">
              <a:avLst/>
            </a:prstGeom>
            <a:solidFill>
              <a:srgbClr val="FFFFFF"/>
            </a:solidFill>
            <a:ln w="4762">
              <a:solidFill>
                <a:srgbClr val="111111"/>
              </a:solidFill>
            </a:ln>
          </p:spPr>
        </p:sp>
        <p:sp>
          <p:nvSpPr>
            <p:cNvPr id="78" name="TextBox 78"/>
            <p:cNvSpPr txBox="1"/>
            <p:nvPr/>
          </p:nvSpPr>
          <p:spPr>
            <a:xfrm>
              <a:off x="8769668" y="5466874"/>
              <a:ext cx="1929503" cy="198120"/>
            </a:xfrm>
            <a:prstGeom prst="rect">
              <a:avLst/>
            </a:prstGeom>
            <a:noFill/>
            <a:ln>
              <a:noFill/>
            </a:ln>
          </p:spPr>
          <p:txBody>
            <a:bodyPr wrap="none" lIns="0" tIns="0" rIns="0" bIns="0" anchor="t" anchorCtr="0">
              <a:spAutoFit/>
            </a:bodyPr>
            <a:lstStyle/>
            <a:p>
              <a:pPr algn="l"/>
              <a:r>
                <a:rPr lang="zh-CN" sz="975" dirty="0">
                  <a:solidFill>
                    <a:srgbClr val="111111"/>
                  </a:solidFill>
                  <a:latin typeface="Times New Roman"/>
                  <a:ea typeface="SimSun"/>
                  <a:cs typeface="Times New Roman"/>
                </a:rPr>
                <a:t>Domestic data + party-aligned</a:t>
              </a:r>
            </a:p>
          </p:txBody>
        </p:sp>
        <p:sp>
          <p:nvSpPr>
            <p:cNvPr id="79" name="TextBox 79"/>
            <p:cNvSpPr txBox="1"/>
            <p:nvPr/>
          </p:nvSpPr>
          <p:spPr>
            <a:xfrm>
              <a:off x="8771572" y="5654516"/>
              <a:ext cx="1506141" cy="167640"/>
            </a:xfrm>
            <a:prstGeom prst="rect">
              <a:avLst/>
            </a:prstGeom>
            <a:noFill/>
            <a:ln>
              <a:noFill/>
            </a:ln>
          </p:spPr>
          <p:txBody>
            <a:bodyPr wrap="none" lIns="0" tIns="0" rIns="0" bIns="0" anchor="t" anchorCtr="0">
              <a:spAutoFit/>
            </a:bodyPr>
            <a:lstStyle/>
            <a:p>
              <a:pPr algn="l"/>
              <a:r>
                <a:rPr lang="zh-CN" sz="825" i="1" dirty="0">
                  <a:solidFill>
                    <a:srgbClr val="3A3A3A"/>
                  </a:solidFill>
                  <a:latin typeface="Times New Roman"/>
                  <a:ea typeface="SimSun"/>
                  <a:cs typeface="Times New Roman"/>
                </a:rPr>
                <a:t>ethical standards mandated</a:t>
              </a:r>
            </a:p>
          </p:txBody>
        </p:sp>
      </p:grpSp>
      <p:grpSp>
        <p:nvGrpSpPr>
          <p:cNvPr id="92" name="Group 92"/>
          <p:cNvGrpSpPr/>
          <p:nvPr/>
        </p:nvGrpSpPr>
        <p:grpSpPr>
          <a:xfrm>
            <a:off x="457200" y="5810250"/>
            <a:ext cx="11277600" cy="469106"/>
            <a:chOff x="457200" y="5810250"/>
            <a:chExt cx="11277600" cy="469106"/>
          </a:xfrm>
        </p:grpSpPr>
        <p:sp>
          <p:nvSpPr>
            <p:cNvPr id="81" name="Rectangle 81"/>
            <p:cNvSpPr/>
            <p:nvPr/>
          </p:nvSpPr>
          <p:spPr>
            <a:xfrm>
              <a:off x="457200" y="5810250"/>
              <a:ext cx="1905000" cy="457200"/>
            </a:xfrm>
            <a:prstGeom prst="rect">
              <a:avLst/>
            </a:prstGeom>
            <a:solidFill>
              <a:srgbClr val="F4F1EA"/>
            </a:solidFill>
            <a:ln>
              <a:noFill/>
            </a:ln>
          </p:spPr>
        </p:sp>
        <p:sp>
          <p:nvSpPr>
            <p:cNvPr id="82" name="TextBox 82"/>
            <p:cNvSpPr txBox="1"/>
            <p:nvPr/>
          </p:nvSpPr>
          <p:spPr>
            <a:xfrm>
              <a:off x="561022" y="5968841"/>
              <a:ext cx="1014379" cy="167640"/>
            </a:xfrm>
            <a:prstGeom prst="rect">
              <a:avLst/>
            </a:prstGeom>
            <a:noFill/>
            <a:ln>
              <a:noFill/>
            </a:ln>
          </p:spPr>
          <p:txBody>
            <a:bodyPr wrap="none" lIns="0" tIns="0" rIns="0" bIns="0" anchor="t" anchorCtr="0">
              <a:spAutoFit/>
            </a:bodyPr>
            <a:lstStyle/>
            <a:p>
              <a:pPr algn="l"/>
              <a:r>
                <a:rPr lang="zh-CN" sz="825" b="1" dirty="0">
                  <a:solidFill>
                    <a:srgbClr val="111111"/>
                  </a:solidFill>
                  <a:latin typeface="Arial Black"/>
                  <a:ea typeface="SimHei"/>
                  <a:cs typeface="Arial Black"/>
                </a:rPr>
                <a:t>POSTURE SUMMARY</a:t>
              </a:r>
            </a:p>
          </p:txBody>
        </p:sp>
        <p:sp>
          <p:nvSpPr>
            <p:cNvPr id="83" name="Rectangle 83"/>
            <p:cNvSpPr/>
            <p:nvPr/>
          </p:nvSpPr>
          <p:spPr>
            <a:xfrm>
              <a:off x="2438400" y="5810250"/>
              <a:ext cx="3048000" cy="457200"/>
            </a:xfrm>
            <a:prstGeom prst="rect">
              <a:avLst/>
            </a:prstGeom>
            <a:solidFill>
              <a:srgbClr val="FFFFFF"/>
            </a:solidFill>
            <a:ln w="4762">
              <a:solidFill>
                <a:srgbClr val="111111"/>
              </a:solidFill>
            </a:ln>
          </p:spPr>
        </p:sp>
        <p:sp>
          <p:nvSpPr>
            <p:cNvPr id="84" name="TextBox 84"/>
            <p:cNvSpPr txBox="1"/>
            <p:nvPr/>
          </p:nvSpPr>
          <p:spPr>
            <a:xfrm>
              <a:off x="2521268" y="5924074"/>
              <a:ext cx="1110401" cy="198120"/>
            </a:xfrm>
            <a:prstGeom prst="rect">
              <a:avLst/>
            </a:prstGeom>
            <a:noFill/>
            <a:ln>
              <a:noFill/>
            </a:ln>
          </p:spPr>
          <p:txBody>
            <a:bodyPr wrap="none" lIns="0" tIns="0" rIns="0" bIns="0" anchor="t" anchorCtr="0">
              <a:spAutoFit/>
            </a:bodyPr>
            <a:lstStyle/>
            <a:p>
              <a:pPr algn="l"/>
              <a:r>
                <a:rPr lang="zh-CN" sz="975" i="1" dirty="0">
                  <a:solidFill>
                    <a:srgbClr val="111111"/>
                  </a:solidFill>
                  <a:latin typeface="Times New Roman"/>
                  <a:ea typeface="SimSun"/>
                  <a:cs typeface="Times New Roman"/>
                </a:rPr>
                <a:t>regulate by class</a:t>
              </a:r>
            </a:p>
          </p:txBody>
        </p:sp>
        <p:sp>
          <p:nvSpPr>
            <p:cNvPr id="85" name="TextBox 85"/>
            <p:cNvSpPr txBox="1"/>
            <p:nvPr/>
          </p:nvSpPr>
          <p:spPr>
            <a:xfrm>
              <a:off x="2523172" y="6111716"/>
              <a:ext cx="1566648" cy="167640"/>
            </a:xfrm>
            <a:prstGeom prst="rect">
              <a:avLst/>
            </a:prstGeom>
            <a:noFill/>
            <a:ln>
              <a:noFill/>
            </a:ln>
          </p:spPr>
          <p:txBody>
            <a:bodyPr wrap="none" lIns="0" tIns="0" rIns="0" bIns="0" anchor="t" anchorCtr="0">
              <a:spAutoFit/>
            </a:bodyPr>
            <a:lstStyle/>
            <a:p>
              <a:pPr algn="l"/>
              <a:r>
                <a:rPr lang="zh-CN" sz="825" i="1" dirty="0">
                  <a:solidFill>
                    <a:srgbClr val="3A3A3A"/>
                  </a:solidFill>
                  <a:latin typeface="Times New Roman"/>
                  <a:ea typeface="SimSun"/>
                  <a:cs typeface="Times New Roman"/>
                </a:rPr>
                <a:t>model-side compliance bundle</a:t>
              </a:r>
            </a:p>
          </p:txBody>
        </p:sp>
        <p:sp>
          <p:nvSpPr>
            <p:cNvPr id="86" name="Rectangle 86"/>
            <p:cNvSpPr/>
            <p:nvPr/>
          </p:nvSpPr>
          <p:spPr>
            <a:xfrm>
              <a:off x="5562600" y="5810250"/>
              <a:ext cx="3048000" cy="457200"/>
            </a:xfrm>
            <a:prstGeom prst="rect">
              <a:avLst/>
            </a:prstGeom>
            <a:solidFill>
              <a:srgbClr val="FFFFFF"/>
            </a:solidFill>
            <a:ln w="4762">
              <a:solidFill>
                <a:srgbClr val="111111"/>
              </a:solidFill>
            </a:ln>
          </p:spPr>
        </p:sp>
        <p:sp>
          <p:nvSpPr>
            <p:cNvPr id="87" name="TextBox 87"/>
            <p:cNvSpPr txBox="1"/>
            <p:nvPr/>
          </p:nvSpPr>
          <p:spPr>
            <a:xfrm>
              <a:off x="5645468" y="5924074"/>
              <a:ext cx="1721477" cy="198120"/>
            </a:xfrm>
            <a:prstGeom prst="rect">
              <a:avLst/>
            </a:prstGeom>
            <a:noFill/>
            <a:ln>
              <a:noFill/>
            </a:ln>
          </p:spPr>
          <p:txBody>
            <a:bodyPr wrap="none" lIns="0" tIns="0" rIns="0" bIns="0" anchor="t" anchorCtr="0">
              <a:spAutoFit/>
            </a:bodyPr>
            <a:lstStyle/>
            <a:p>
              <a:pPr algn="l"/>
              <a:r>
                <a:rPr lang="zh-CN" sz="975" i="1" dirty="0">
                  <a:solidFill>
                    <a:srgbClr val="111111"/>
                  </a:solidFill>
                  <a:latin typeface="Times New Roman"/>
                  <a:ea typeface="SimSun"/>
                  <a:cs typeface="Times New Roman"/>
                </a:rPr>
                <a:t>regulate by sector + state</a:t>
              </a:r>
            </a:p>
          </p:txBody>
        </p:sp>
        <p:sp>
          <p:nvSpPr>
            <p:cNvPr id="88" name="TextBox 88"/>
            <p:cNvSpPr txBox="1"/>
            <p:nvPr/>
          </p:nvSpPr>
          <p:spPr>
            <a:xfrm>
              <a:off x="5647372" y="6111716"/>
              <a:ext cx="1088088" cy="167640"/>
            </a:xfrm>
            <a:prstGeom prst="rect">
              <a:avLst/>
            </a:prstGeom>
            <a:noFill/>
            <a:ln>
              <a:noFill/>
            </a:ln>
          </p:spPr>
          <p:txBody>
            <a:bodyPr wrap="none" lIns="0" tIns="0" rIns="0" bIns="0" anchor="t" anchorCtr="0">
              <a:spAutoFit/>
            </a:bodyPr>
            <a:lstStyle/>
            <a:p>
              <a:pPr algn="l"/>
              <a:r>
                <a:rPr lang="zh-CN" sz="825" i="1" dirty="0">
                  <a:solidFill>
                    <a:srgbClr val="3A3A3A"/>
                  </a:solidFill>
                  <a:latin typeface="Times New Roman"/>
                  <a:ea typeface="SimSun"/>
                  <a:cs typeface="Times New Roman"/>
                </a:rPr>
                <a:t>federalism in action</a:t>
              </a:r>
            </a:p>
          </p:txBody>
        </p:sp>
        <p:sp>
          <p:nvSpPr>
            <p:cNvPr id="89" name="Rectangle 89"/>
            <p:cNvSpPr/>
            <p:nvPr/>
          </p:nvSpPr>
          <p:spPr>
            <a:xfrm>
              <a:off x="8686800" y="5810250"/>
              <a:ext cx="3048000" cy="457200"/>
            </a:xfrm>
            <a:prstGeom prst="rect">
              <a:avLst/>
            </a:prstGeom>
            <a:solidFill>
              <a:srgbClr val="FFFFFF"/>
            </a:solidFill>
            <a:ln w="4762">
              <a:solidFill>
                <a:srgbClr val="111111"/>
              </a:solidFill>
            </a:ln>
          </p:spPr>
        </p:sp>
        <p:sp>
          <p:nvSpPr>
            <p:cNvPr id="90" name="TextBox 90"/>
            <p:cNvSpPr txBox="1"/>
            <p:nvPr/>
          </p:nvSpPr>
          <p:spPr>
            <a:xfrm>
              <a:off x="8769668" y="5924074"/>
              <a:ext cx="1214414" cy="198120"/>
            </a:xfrm>
            <a:prstGeom prst="rect">
              <a:avLst/>
            </a:prstGeom>
            <a:noFill/>
            <a:ln>
              <a:noFill/>
            </a:ln>
          </p:spPr>
          <p:txBody>
            <a:bodyPr wrap="none" lIns="0" tIns="0" rIns="0" bIns="0" anchor="t" anchorCtr="0">
              <a:spAutoFit/>
            </a:bodyPr>
            <a:lstStyle/>
            <a:p>
              <a:pPr algn="l"/>
              <a:r>
                <a:rPr lang="zh-CN" sz="975" i="1" dirty="0">
                  <a:solidFill>
                    <a:srgbClr val="111111"/>
                  </a:solidFill>
                  <a:latin typeface="Times New Roman"/>
                  <a:ea typeface="SimSun"/>
                  <a:cs typeface="Times New Roman"/>
                </a:rPr>
                <a:t>regulate by output</a:t>
              </a:r>
            </a:p>
          </p:txBody>
        </p:sp>
        <p:sp>
          <p:nvSpPr>
            <p:cNvPr id="91" name="TextBox 91"/>
            <p:cNvSpPr txBox="1"/>
            <p:nvPr/>
          </p:nvSpPr>
          <p:spPr>
            <a:xfrm>
              <a:off x="8771572" y="6111716"/>
              <a:ext cx="1434632" cy="167640"/>
            </a:xfrm>
            <a:prstGeom prst="rect">
              <a:avLst/>
            </a:prstGeom>
            <a:noFill/>
            <a:ln>
              <a:noFill/>
            </a:ln>
          </p:spPr>
          <p:txBody>
            <a:bodyPr wrap="none" lIns="0" tIns="0" rIns="0" bIns="0" anchor="t" anchorCtr="0">
              <a:spAutoFit/>
            </a:bodyPr>
            <a:lstStyle/>
            <a:p>
              <a:pPr algn="l"/>
              <a:r>
                <a:rPr lang="zh-CN" sz="825" i="1" dirty="0">
                  <a:solidFill>
                    <a:srgbClr val="3A3A3A"/>
                  </a:solidFill>
                  <a:latin typeface="Times New Roman"/>
                  <a:ea typeface="SimSun"/>
                  <a:cs typeface="Times New Roman"/>
                </a:rPr>
                <a:t>tag, register, watermark</a:t>
              </a:r>
            </a:p>
          </p:txBody>
        </p:sp>
      </p:grpSp>
      <p:grpSp>
        <p:nvGrpSpPr>
          <p:cNvPr id="94" name="Group 94"/>
          <p:cNvGrpSpPr/>
          <p:nvPr/>
        </p:nvGrpSpPr>
        <p:grpSpPr>
          <a:xfrm>
            <a:off x="3972951" y="6344602"/>
            <a:ext cx="4246097" cy="213360"/>
            <a:chOff x="3972951" y="6344602"/>
            <a:chExt cx="4246097" cy="213360"/>
          </a:xfrm>
        </p:grpSpPr>
        <p:sp>
          <p:nvSpPr>
            <p:cNvPr id="93" name="TextBox 93"/>
            <p:cNvSpPr txBox="1"/>
            <p:nvPr/>
          </p:nvSpPr>
          <p:spPr>
            <a:xfrm>
              <a:off x="3972951" y="6344602"/>
              <a:ext cx="4246097" cy="213360"/>
            </a:xfrm>
            <a:prstGeom prst="rect">
              <a:avLst/>
            </a:prstGeom>
            <a:noFill/>
            <a:ln>
              <a:noFill/>
            </a:ln>
          </p:spPr>
          <p:txBody>
            <a:bodyPr wrap="none" lIns="0" tIns="0" rIns="0" bIns="0" anchor="t" anchorCtr="0">
              <a:spAutoFit/>
            </a:bodyPr>
            <a:lstStyle/>
            <a:p>
              <a:pPr algn="ctr"/>
              <a:r>
                <a:rPr lang="zh-CN" sz="1050" b="1" dirty="0">
                  <a:solidFill>
                    <a:srgbClr val="C8102E"/>
                  </a:solidFill>
                  <a:latin typeface="Impact"/>
                  <a:ea typeface="SimHei"/>
                  <a:cs typeface="Impact"/>
                </a:rPr>
                <a:t>CONVERGENCE ON PRINCIPLE · DIVERGENCE ON IMPLEMENTATION</a:t>
              </a:r>
            </a:p>
          </p:txBody>
        </p:sp>
      </p:grpSp>
      <p:grpSp>
        <p:nvGrpSpPr>
          <p:cNvPr id="98" name="Group 98"/>
          <p:cNvGrpSpPr/>
          <p:nvPr/>
        </p:nvGrpSpPr>
        <p:grpSpPr>
          <a:xfrm>
            <a:off x="448628" y="6553200"/>
            <a:ext cx="11294744" cy="254794"/>
            <a:chOff x="448628" y="6553200"/>
            <a:chExt cx="11294744" cy="254794"/>
          </a:xfrm>
        </p:grpSpPr>
        <p:sp>
          <p:nvSpPr>
            <p:cNvPr id="95" name="Rectangle 95"/>
            <p:cNvSpPr/>
            <p:nvPr/>
          </p:nvSpPr>
          <p:spPr>
            <a:xfrm>
              <a:off x="457200" y="6553200"/>
              <a:ext cx="11277600" cy="19050"/>
            </a:xfrm>
            <a:prstGeom prst="rect">
              <a:avLst/>
            </a:prstGeom>
            <a:solidFill>
              <a:srgbClr val="C8102E"/>
            </a:solidFill>
            <a:ln>
              <a:noFill/>
            </a:ln>
          </p:spPr>
        </p:sp>
        <p:sp>
          <p:nvSpPr>
            <p:cNvPr id="96" name="TextBox 96"/>
            <p:cNvSpPr txBox="1"/>
            <p:nvPr/>
          </p:nvSpPr>
          <p:spPr>
            <a:xfrm>
              <a:off x="448628" y="6670834"/>
              <a:ext cx="5106606" cy="137160"/>
            </a:xfrm>
            <a:prstGeom prst="rect">
              <a:avLst/>
            </a:prstGeom>
            <a:noFill/>
            <a:ln>
              <a:noFill/>
            </a:ln>
          </p:spPr>
          <p:txBody>
            <a:bodyPr wrap="none" lIns="0" tIns="0" rIns="0" bIns="0" anchor="t" anchorCtr="0">
              <a:spAutoFit/>
            </a:bodyPr>
            <a:lstStyle/>
            <a:p>
              <a:pPr algn="l"/>
              <a:r>
                <a:rPr lang="zh-CN" sz="675" b="1" dirty="0">
                  <a:solidFill>
                    <a:srgbClr val="111111"/>
                  </a:solidFill>
                  <a:latin typeface="Consolas"/>
                  <a:ea typeface="Microsoft YaHei"/>
                  <a:cs typeface="Consolas"/>
                </a:rPr>
                <a:t>SOURCE ONETRUST APR 2026 · BRICS J.ECON · CMUACM REVIEW · INSIGHTS.UTU · POLICY SCANS OF 72+ JURISDICTIONS</a:t>
              </a:r>
            </a:p>
          </p:txBody>
        </p:sp>
        <p:sp>
          <p:nvSpPr>
            <p:cNvPr id="97" name="TextBox 97"/>
            <p:cNvSpPr txBox="1"/>
            <p:nvPr/>
          </p:nvSpPr>
          <p:spPr>
            <a:xfrm>
              <a:off x="11196961" y="6670834"/>
              <a:ext cx="546411" cy="137160"/>
            </a:xfrm>
            <a:prstGeom prst="rect">
              <a:avLst/>
            </a:prstGeom>
            <a:noFill/>
            <a:ln>
              <a:noFill/>
            </a:ln>
          </p:spPr>
          <p:txBody>
            <a:bodyPr wrap="none" lIns="0" tIns="0" rIns="0" bIns="0" anchor="t" anchorCtr="0">
              <a:spAutoFit/>
            </a:bodyPr>
            <a:lstStyle/>
            <a:p>
              <a:pPr algn="r"/>
              <a:r>
                <a:rPr lang="zh-CN" sz="675" b="1" dirty="0">
                  <a:solidFill>
                    <a:srgbClr val="111111"/>
                  </a:solidFill>
                  <a:latin typeface="Consolas"/>
                  <a:ea typeface="Microsoft YaHei"/>
                  <a:cs typeface="Consolas"/>
                </a:rPr>
                <a:t>PAGE 08 / 10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400"/>
                                        <p:tgtEl>
                                          <p:spTgt spid="16"/>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slide(fromBottom)">
                                      <p:cBhvr>
                                        <p:cTn id="11" dur="400"/>
                                        <p:tgtEl>
                                          <p:spTgt spid="20"/>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44"/>
                                        </p:tgtEl>
                                        <p:attrNameLst>
                                          <p:attrName>style.visibility</p:attrName>
                                        </p:attrNameLst>
                                      </p:cBhvr>
                                      <p:to>
                                        <p:strVal val="visible"/>
                                      </p:to>
                                    </p:set>
                                    <p:animEffect transition="in" filter="image">
                                      <p:cBhvr>
                                        <p:cTn id="15" dur="400"/>
                                        <p:tgtEl>
                                          <p:spTgt spid="44"/>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fade">
                                      <p:cBhvr>
                                        <p:cTn id="19" dur="400"/>
                                        <p:tgtEl>
                                          <p:spTgt spid="56"/>
                                        </p:tgtEl>
                                      </p:cBhvr>
                                    </p:animEffect>
                                  </p:childTnLst>
                                </p:cTn>
                              </p:par>
                            </p:childTnLst>
                          </p:cTn>
                        </p:par>
                        <p:par>
                          <p:cTn id="20" fill="hold">
                            <p:stCondLst>
                              <p:cond delay="3600"/>
                            </p:stCondLst>
                            <p:childTnLst>
                              <p:par>
                                <p:cTn id="21" presetID="22" presetClass="entr" presetSubtype="1" fill="hold" nodeType="afterEffect">
                                  <p:stCondLst>
                                    <p:cond delay="0"/>
                                  </p:stCondLst>
                                  <p:childTnLst>
                                    <p:set>
                                      <p:cBhvr>
                                        <p:cTn id="22" dur="1" fill="hold">
                                          <p:stCondLst>
                                            <p:cond delay="0"/>
                                          </p:stCondLst>
                                        </p:cTn>
                                        <p:tgtEl>
                                          <p:spTgt spid="68"/>
                                        </p:tgtEl>
                                        <p:attrNameLst>
                                          <p:attrName>style.visibility</p:attrName>
                                        </p:attrNameLst>
                                      </p:cBhvr>
                                      <p:to>
                                        <p:strVal val="visible"/>
                                      </p:to>
                                    </p:set>
                                    <p:animEffect transition="in" filter="wipe(left)">
                                      <p:cBhvr>
                                        <p:cTn id="23" dur="400"/>
                                        <p:tgtEl>
                                          <p:spTgt spid="68"/>
                                        </p:tgtEl>
                                      </p:cBhvr>
                                    </p:animEffect>
                                  </p:childTnLst>
                                </p:cTn>
                              </p:par>
                            </p:childTnLst>
                          </p:cTn>
                        </p:par>
                        <p:par>
                          <p:cTn id="24" fill="hold">
                            <p:stCondLst>
                              <p:cond delay="4500"/>
                            </p:stCondLst>
                            <p:childTnLst>
                              <p:par>
                                <p:cTn id="25" presetID="2" presetClass="entr" presetSubtype="4" fill="hold" nodeType="afterEffect">
                                  <p:stCondLst>
                                    <p:cond delay="0"/>
                                  </p:stCondLst>
                                  <p:childTnLst>
                                    <p:set>
                                      <p:cBhvr>
                                        <p:cTn id="26" dur="1" fill="hold">
                                          <p:stCondLst>
                                            <p:cond delay="0"/>
                                          </p:stCondLst>
                                        </p:cTn>
                                        <p:tgtEl>
                                          <p:spTgt spid="80"/>
                                        </p:tgtEl>
                                        <p:attrNameLst>
                                          <p:attrName>style.visibility</p:attrName>
                                        </p:attrNameLst>
                                      </p:cBhvr>
                                      <p:to>
                                        <p:strVal val="visible"/>
                                      </p:to>
                                    </p:set>
                                    <p:animEffect transition="in" filter="slide(fromBottom)">
                                      <p:cBhvr>
                                        <p:cTn id="27" dur="400"/>
                                        <p:tgtEl>
                                          <p:spTgt spid="80"/>
                                        </p:tgtEl>
                                      </p:cBhvr>
                                    </p:animEffect>
                                  </p:childTnLst>
                                </p:cTn>
                              </p:par>
                            </p:childTnLst>
                          </p:cTn>
                        </p:par>
                        <p:par>
                          <p:cTn id="28" fill="hold">
                            <p:stCondLst>
                              <p:cond delay="5400"/>
                            </p:stCondLst>
                            <p:childTnLst>
                              <p:par>
                                <p:cTn id="29" presetID="23" presetClass="entr" presetSubtype="0" fill="hold" nodeType="afterEffect">
                                  <p:stCondLst>
                                    <p:cond delay="0"/>
                                  </p:stCondLst>
                                  <p:childTnLst>
                                    <p:set>
                                      <p:cBhvr>
                                        <p:cTn id="30" dur="1" fill="hold">
                                          <p:stCondLst>
                                            <p:cond delay="0"/>
                                          </p:stCondLst>
                                        </p:cTn>
                                        <p:tgtEl>
                                          <p:spTgt spid="92"/>
                                        </p:tgtEl>
                                        <p:attrNameLst>
                                          <p:attrName>style.visibility</p:attrName>
                                        </p:attrNameLst>
                                      </p:cBhvr>
                                      <p:to>
                                        <p:strVal val="visible"/>
                                      </p:to>
                                    </p:set>
                                    <p:animEffect transition="in" filter="image">
                                      <p:cBhvr>
                                        <p:cTn id="31" dur="400"/>
                                        <p:tgtEl>
                                          <p:spTgt spid="92"/>
                                        </p:tgtEl>
                                      </p:cBhvr>
                                    </p:animEffect>
                                  </p:childTnLst>
                                </p:cTn>
                              </p:par>
                            </p:childTnLst>
                          </p:cTn>
                        </p:par>
                        <p:par>
                          <p:cTn id="32" fill="hold">
                            <p:stCondLst>
                              <p:cond delay="6300"/>
                            </p:stCondLst>
                            <p:childTnLst>
                              <p:par>
                                <p:cTn id="33" presetID="10" presetClass="entr" presetSubtype="0" fill="hold" nodeType="afterEffect">
                                  <p:stCondLst>
                                    <p:cond delay="0"/>
                                  </p:stCondLst>
                                  <p:childTnLst>
                                    <p:set>
                                      <p:cBhvr>
                                        <p:cTn id="34" dur="1" fill="hold">
                                          <p:stCondLst>
                                            <p:cond delay="0"/>
                                          </p:stCondLst>
                                        </p:cTn>
                                        <p:tgtEl>
                                          <p:spTgt spid="94"/>
                                        </p:tgtEl>
                                        <p:attrNameLst>
                                          <p:attrName>style.visibility</p:attrName>
                                        </p:attrNameLst>
                                      </p:cBhvr>
                                      <p:to>
                                        <p:strVal val="visible"/>
                                      </p:to>
                                    </p:set>
                                    <p:animEffect transition="in" filter="fade">
                                      <p:cBhvr>
                                        <p:cTn id="35" dur="4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0" grpId="0"/>
      <p:bldP spid="44" grpId="0"/>
      <p:bldP spid="56" grpId="0"/>
      <p:bldP spid="68" grpId="0"/>
      <p:bldP spid="80" grpId="0"/>
      <p:bldP spid="92" grpId="0"/>
      <p:bldP spid="9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solidFill>
            <a:srgbClr val="C8102E"/>
          </a:solidFill>
          <a:ln>
            <a:noFill/>
          </a:ln>
        </p:spPr>
      </p:sp>
      <p:grpSp>
        <p:nvGrpSpPr>
          <p:cNvPr id="8" name="Group 8"/>
          <p:cNvGrpSpPr/>
          <p:nvPr/>
        </p:nvGrpSpPr>
        <p:grpSpPr>
          <a:xfrm>
            <a:off x="447675" y="166688"/>
            <a:ext cx="11296650" cy="166687"/>
            <a:chOff x="447675" y="166688"/>
            <a:chExt cx="11296650" cy="166687"/>
          </a:xfrm>
        </p:grpSpPr>
        <p:sp>
          <p:nvSpPr>
            <p:cNvPr id="4" name="Line 4"/>
            <p:cNvSpPr/>
            <p:nvPr/>
          </p:nvSpPr>
          <p:spPr>
            <a:xfrm>
              <a:off x="457200" y="323850"/>
              <a:ext cx="11277600" cy="9525"/>
            </a:xfrm>
            <a:custGeom>
              <a:avLst/>
              <a:gdLst/>
              <a:ahLst/>
              <a:cxnLst/>
              <a:rect l="l" t="t" r="r" b="b"/>
              <a:pathLst>
                <a:path w="11277600" h="9525">
                  <a:moveTo>
                    <a:pt x="0" y="0"/>
                  </a:moveTo>
                  <a:lnTo>
                    <a:pt x="11277600" y="0"/>
                  </a:lnTo>
                </a:path>
              </a:pathLst>
            </a:custGeom>
            <a:noFill/>
            <a:ln w="9525">
              <a:solidFill>
                <a:srgbClr val="111111"/>
              </a:solidFill>
            </a:ln>
          </p:spPr>
        </p:sp>
        <p:sp>
          <p:nvSpPr>
            <p:cNvPr id="5" name="TextBox 5"/>
            <p:cNvSpPr txBox="1"/>
            <p:nvPr/>
          </p:nvSpPr>
          <p:spPr>
            <a:xfrm>
              <a:off x="447675" y="166688"/>
              <a:ext cx="1909286" cy="152400"/>
            </a:xfrm>
            <a:prstGeom prst="rect">
              <a:avLst/>
            </a:prstGeom>
            <a:noFill/>
            <a:ln>
              <a:noFill/>
            </a:ln>
          </p:spPr>
          <p:txBody>
            <a:bodyPr wrap="none" lIns="0" tIns="0" rIns="0" bIns="0" anchor="t" anchorCtr="0">
              <a:spAutoFit/>
            </a:bodyPr>
            <a:lstStyle/>
            <a:p>
              <a:pPr algn="l"/>
              <a:r>
                <a:rPr lang="zh-CN" sz="750" b="1" dirty="0">
                  <a:solidFill>
                    <a:srgbClr val="111111"/>
                  </a:solidFill>
                  <a:latin typeface="Consolas"/>
                  <a:ea typeface="Microsoft YaHei"/>
                  <a:cs typeface="Consolas"/>
                </a:rPr>
                <a:t>THE AI INDUSTRY 2026 · ANNUAL REPORT</a:t>
              </a:r>
            </a:p>
          </p:txBody>
        </p:sp>
        <p:sp>
          <p:nvSpPr>
            <p:cNvPr id="6" name="TextBox 6"/>
            <p:cNvSpPr txBox="1"/>
            <p:nvPr/>
          </p:nvSpPr>
          <p:spPr>
            <a:xfrm>
              <a:off x="5514153" y="166688"/>
              <a:ext cx="1163693" cy="152400"/>
            </a:xfrm>
            <a:prstGeom prst="rect">
              <a:avLst/>
            </a:prstGeom>
            <a:noFill/>
            <a:ln>
              <a:noFill/>
            </a:ln>
          </p:spPr>
          <p:txBody>
            <a:bodyPr wrap="none" lIns="0" tIns="0" rIns="0" bIns="0" anchor="t" anchorCtr="0">
              <a:spAutoFit/>
            </a:bodyPr>
            <a:lstStyle/>
            <a:p>
              <a:pPr algn="ctr"/>
              <a:r>
                <a:rPr lang="zh-CN" sz="750" b="1" dirty="0">
                  <a:solidFill>
                    <a:srgbClr val="111111"/>
                  </a:solidFill>
                  <a:latin typeface="Consolas"/>
                  <a:ea typeface="Microsoft YaHei"/>
                  <a:cs typeface="Consolas"/>
                </a:rPr>
                <a:t>CHRONICLE · 16 MONTHS</a:t>
              </a:r>
            </a:p>
          </p:txBody>
        </p:sp>
        <p:sp>
          <p:nvSpPr>
            <p:cNvPr id="7" name="TextBox 7"/>
            <p:cNvSpPr txBox="1"/>
            <p:nvPr/>
          </p:nvSpPr>
          <p:spPr>
            <a:xfrm>
              <a:off x="10454616" y="166688"/>
              <a:ext cx="1289709" cy="152400"/>
            </a:xfrm>
            <a:prstGeom prst="rect">
              <a:avLst/>
            </a:prstGeom>
            <a:noFill/>
            <a:ln>
              <a:noFill/>
            </a:ln>
          </p:spPr>
          <p:txBody>
            <a:bodyPr wrap="none" lIns="0" tIns="0" rIns="0" bIns="0" anchor="t" anchorCtr="0">
              <a:spAutoFit/>
            </a:bodyPr>
            <a:lstStyle/>
            <a:p>
              <a:pPr algn="r"/>
              <a:r>
                <a:rPr lang="zh-CN" sz="750" b="1" dirty="0">
                  <a:solidFill>
                    <a:srgbClr val="111111"/>
                  </a:solidFill>
                  <a:latin typeface="Consolas"/>
                  <a:ea typeface="Microsoft YaHei"/>
                  <a:cs typeface="Consolas"/>
                </a:rPr>
                <a:t>VOL. 1 · NO. 1 · MAY 2026</a:t>
              </a:r>
            </a:p>
          </p:txBody>
        </p:sp>
      </p:grpSp>
      <p:grpSp>
        <p:nvGrpSpPr>
          <p:cNvPr id="13" name="Group 13"/>
          <p:cNvGrpSpPr/>
          <p:nvPr/>
        </p:nvGrpSpPr>
        <p:grpSpPr>
          <a:xfrm>
            <a:off x="415290" y="463391"/>
            <a:ext cx="11319510" cy="1032034"/>
            <a:chOff x="415290" y="463391"/>
            <a:chExt cx="11319510" cy="1032034"/>
          </a:xfrm>
        </p:grpSpPr>
        <p:sp>
          <p:nvSpPr>
            <p:cNvPr id="9" name="TextBox 9"/>
            <p:cNvSpPr txBox="1"/>
            <p:nvPr/>
          </p:nvSpPr>
          <p:spPr>
            <a:xfrm>
              <a:off x="446722" y="463391"/>
              <a:ext cx="1326268" cy="167640"/>
            </a:xfrm>
            <a:prstGeom prst="rect">
              <a:avLst/>
            </a:prstGeom>
            <a:noFill/>
            <a:ln>
              <a:noFill/>
            </a:ln>
          </p:spPr>
          <p:txBody>
            <a:bodyPr wrap="none" lIns="0" tIns="0" rIns="0" bIns="0" anchor="t" anchorCtr="0">
              <a:spAutoFit/>
            </a:bodyPr>
            <a:lstStyle/>
            <a:p>
              <a:pPr algn="l"/>
              <a:r>
                <a:rPr lang="zh-CN" sz="825" b="1" dirty="0">
                  <a:solidFill>
                    <a:srgbClr val="C8102E"/>
                  </a:solidFill>
                  <a:latin typeface="Arial Black"/>
                  <a:ea typeface="SimHei"/>
                  <a:cs typeface="Arial Black"/>
                </a:rPr>
                <a:t>SECTION VII · CHRONICLE</a:t>
              </a:r>
            </a:p>
          </p:txBody>
        </p:sp>
        <p:sp>
          <p:nvSpPr>
            <p:cNvPr id="10" name="TextBox 10"/>
            <p:cNvSpPr txBox="1"/>
            <p:nvPr/>
          </p:nvSpPr>
          <p:spPr>
            <a:xfrm>
              <a:off x="415290" y="691515"/>
              <a:ext cx="6575731" cy="670560"/>
            </a:xfrm>
            <a:prstGeom prst="rect">
              <a:avLst/>
            </a:prstGeom>
            <a:noFill/>
            <a:ln>
              <a:noFill/>
            </a:ln>
          </p:spPr>
          <p:txBody>
            <a:bodyPr wrap="none" lIns="0" tIns="0" rIns="0" bIns="0" anchor="t" anchorCtr="0">
              <a:spAutoFit/>
            </a:bodyPr>
            <a:lstStyle/>
            <a:p>
              <a:pPr algn="l"/>
              <a:r>
                <a:rPr lang="zh-CN" sz="3300" b="1" dirty="0">
                  <a:solidFill>
                    <a:srgbClr val="111111"/>
                  </a:solidFill>
                  <a:latin typeface="Impact"/>
                  <a:ea typeface="SimHei"/>
                  <a:cs typeface="Impact"/>
                </a:rPr>
                <a:t>2025 – 2026 · SIX MILESTONES</a:t>
              </a:r>
            </a:p>
          </p:txBody>
        </p:sp>
        <p:sp>
          <p:nvSpPr>
            <p:cNvPr id="11" name="TextBox 11"/>
            <p:cNvSpPr txBox="1"/>
            <p:nvPr/>
          </p:nvSpPr>
          <p:spPr>
            <a:xfrm>
              <a:off x="441960" y="1184910"/>
              <a:ext cx="6495288" cy="243840"/>
            </a:xfrm>
            <a:prstGeom prst="rect">
              <a:avLst/>
            </a:prstGeom>
            <a:noFill/>
            <a:ln>
              <a:noFill/>
            </a:ln>
          </p:spPr>
          <p:txBody>
            <a:bodyPr wrap="none" lIns="0" tIns="0" rIns="0" bIns="0" anchor="t" anchorCtr="0">
              <a:spAutoFit/>
            </a:bodyPr>
            <a:lstStyle/>
            <a:p>
              <a:pPr algn="l"/>
              <a:r>
                <a:rPr lang="zh-CN" sz="1200" i="1" dirty="0">
                  <a:solidFill>
                    <a:srgbClr val="111111"/>
                  </a:solidFill>
                  <a:latin typeface="Times New Roman"/>
                  <a:ea typeface="SimSun"/>
                  <a:cs typeface="Times New Roman"/>
                </a:rPr>
                <a:t xml:space="preserve">From </a:t>
              </a:r>
              <a:r>
                <a:rPr lang="zh-CN" sz="1200" b="1" i="1" dirty="0">
                  <a:solidFill>
                    <a:srgbClr val="C8102E"/>
                  </a:solidFill>
                  <a:latin typeface="Times New Roman"/>
                  <a:ea typeface="SimSun"/>
                  <a:cs typeface="Times New Roman"/>
                </a:rPr>
                <a:t>EO 14179</a:t>
              </a:r>
              <a:r>
                <a:rPr lang="zh-CN" sz="1200" i="1" dirty="0">
                  <a:solidFill>
                    <a:srgbClr val="111111"/>
                  </a:solidFill>
                  <a:latin typeface="Times New Roman"/>
                  <a:ea typeface="SimSun"/>
                  <a:cs typeface="Times New Roman"/>
                </a:rPr>
                <a:t xml:space="preserve"> to the </a:t>
              </a:r>
              <a:r>
                <a:rPr lang="zh-CN" sz="1200" b="1" i="1" dirty="0">
                  <a:solidFill>
                    <a:srgbClr val="C8102E"/>
                  </a:solidFill>
                  <a:latin typeface="Times New Roman"/>
                  <a:ea typeface="SimSun"/>
                  <a:cs typeface="Times New Roman"/>
                </a:rPr>
                <a:t>AI Index 2026</a:t>
              </a:r>
              <a:r>
                <a:rPr lang="zh-CN" sz="1200" i="1" dirty="0">
                  <a:solidFill>
                    <a:srgbClr val="111111"/>
                  </a:solidFill>
                  <a:latin typeface="Times New Roman"/>
                  <a:ea typeface="SimSun"/>
                  <a:cs typeface="Times New Roman"/>
                </a:rPr>
                <a:t xml:space="preserve"> — sixteen months that rewrote the league table.</a:t>
              </a:r>
            </a:p>
          </p:txBody>
        </p:sp>
        <p:sp>
          <p:nvSpPr>
            <p:cNvPr id="12" name="Line 12"/>
            <p:cNvSpPr/>
            <p:nvPr/>
          </p:nvSpPr>
          <p:spPr>
            <a:xfrm>
              <a:off x="457200" y="1485900"/>
              <a:ext cx="11277600" cy="9525"/>
            </a:xfrm>
            <a:custGeom>
              <a:avLst/>
              <a:gdLst/>
              <a:ahLst/>
              <a:cxnLst/>
              <a:rect l="l" t="t" r="r" b="b"/>
              <a:pathLst>
                <a:path w="11277600" h="9525">
                  <a:moveTo>
                    <a:pt x="0" y="0"/>
                  </a:moveTo>
                  <a:lnTo>
                    <a:pt x="11277600" y="0"/>
                  </a:lnTo>
                </a:path>
              </a:pathLst>
            </a:custGeom>
            <a:noFill/>
            <a:ln w="19050">
              <a:solidFill>
                <a:srgbClr val="111111"/>
              </a:solidFill>
            </a:ln>
          </p:spPr>
        </p:sp>
      </p:grpSp>
      <p:grpSp>
        <p:nvGrpSpPr>
          <p:cNvPr id="18" name="Group 18"/>
          <p:cNvGrpSpPr/>
          <p:nvPr/>
        </p:nvGrpSpPr>
        <p:grpSpPr>
          <a:xfrm>
            <a:off x="952500" y="3333750"/>
            <a:ext cx="10287000" cy="466725"/>
            <a:chOff x="952500" y="3333750"/>
            <a:chExt cx="10287000" cy="466725"/>
          </a:xfrm>
        </p:grpSpPr>
        <p:sp>
          <p:nvSpPr>
            <p:cNvPr id="14" name="Rectangle 14"/>
            <p:cNvSpPr/>
            <p:nvPr/>
          </p:nvSpPr>
          <p:spPr>
            <a:xfrm>
              <a:off x="952500" y="3333750"/>
              <a:ext cx="7715250" cy="381000"/>
            </a:xfrm>
            <a:prstGeom prst="rect">
              <a:avLst/>
            </a:prstGeom>
            <a:solidFill>
              <a:srgbClr val="F4F1EA"/>
            </a:solidFill>
            <a:ln>
              <a:noFill/>
            </a:ln>
          </p:spPr>
        </p:sp>
        <p:sp>
          <p:nvSpPr>
            <p:cNvPr id="15" name="TextBox 15"/>
            <p:cNvSpPr txBox="1"/>
            <p:nvPr/>
          </p:nvSpPr>
          <p:spPr>
            <a:xfrm>
              <a:off x="1002030" y="3373755"/>
              <a:ext cx="700221" cy="426720"/>
            </a:xfrm>
            <a:prstGeom prst="rect">
              <a:avLst/>
            </a:prstGeom>
            <a:noFill/>
            <a:ln>
              <a:noFill/>
            </a:ln>
          </p:spPr>
          <p:txBody>
            <a:bodyPr wrap="none" lIns="0" tIns="0" rIns="0" bIns="0" anchor="t" anchorCtr="0">
              <a:spAutoFit/>
            </a:bodyPr>
            <a:lstStyle/>
            <a:p>
              <a:pPr algn="l"/>
              <a:r>
                <a:rPr lang="zh-CN" sz="2100" b="1" dirty="0">
                  <a:solidFill>
                    <a:srgbClr val="CBC8B7"/>
                  </a:solidFill>
                  <a:latin typeface="Impact"/>
                  <a:ea typeface="SimHei"/>
                  <a:cs typeface="Impact"/>
                </a:rPr>
                <a:t>2025</a:t>
              </a:r>
            </a:p>
          </p:txBody>
        </p:sp>
        <p:sp>
          <p:nvSpPr>
            <p:cNvPr id="16" name="Rectangle 16"/>
            <p:cNvSpPr/>
            <p:nvPr/>
          </p:nvSpPr>
          <p:spPr>
            <a:xfrm>
              <a:off x="8667750" y="3333750"/>
              <a:ext cx="2571750" cy="381000"/>
            </a:xfrm>
            <a:prstGeom prst="rect">
              <a:avLst/>
            </a:prstGeom>
            <a:solidFill>
              <a:srgbClr val="F4F1EA"/>
            </a:solidFill>
            <a:ln>
              <a:noFill/>
            </a:ln>
          </p:spPr>
        </p:sp>
        <p:sp>
          <p:nvSpPr>
            <p:cNvPr id="17" name="TextBox 17"/>
            <p:cNvSpPr txBox="1"/>
            <p:nvPr/>
          </p:nvSpPr>
          <p:spPr>
            <a:xfrm>
              <a:off x="8717280" y="3373755"/>
              <a:ext cx="700221" cy="426720"/>
            </a:xfrm>
            <a:prstGeom prst="rect">
              <a:avLst/>
            </a:prstGeom>
            <a:noFill/>
            <a:ln>
              <a:noFill/>
            </a:ln>
          </p:spPr>
          <p:txBody>
            <a:bodyPr wrap="none" lIns="0" tIns="0" rIns="0" bIns="0" anchor="t" anchorCtr="0">
              <a:spAutoFit/>
            </a:bodyPr>
            <a:lstStyle/>
            <a:p>
              <a:pPr algn="l"/>
              <a:r>
                <a:rPr lang="zh-CN" sz="2100" b="1" dirty="0">
                  <a:solidFill>
                    <a:srgbClr val="CBC8B7"/>
                  </a:solidFill>
                  <a:latin typeface="Impact"/>
                  <a:ea typeface="SimHei"/>
                  <a:cs typeface="Impact"/>
                </a:rPr>
                <a:t>2026</a:t>
              </a:r>
            </a:p>
          </p:txBody>
        </p:sp>
      </p:grpSp>
      <p:grpSp>
        <p:nvGrpSpPr>
          <p:cNvPr id="32" name="Group 32"/>
          <p:cNvGrpSpPr/>
          <p:nvPr/>
        </p:nvGrpSpPr>
        <p:grpSpPr>
          <a:xfrm>
            <a:off x="896672" y="3524250"/>
            <a:ext cx="10342828" cy="502444"/>
            <a:chOff x="896672" y="3524250"/>
            <a:chExt cx="10342828" cy="502444"/>
          </a:xfrm>
        </p:grpSpPr>
        <p:sp>
          <p:nvSpPr>
            <p:cNvPr id="19" name="Line 19"/>
            <p:cNvSpPr/>
            <p:nvPr/>
          </p:nvSpPr>
          <p:spPr>
            <a:xfrm>
              <a:off x="952500" y="3524250"/>
              <a:ext cx="10287000" cy="9525"/>
            </a:xfrm>
            <a:custGeom>
              <a:avLst/>
              <a:gdLst/>
              <a:ahLst/>
              <a:cxnLst/>
              <a:rect l="l" t="t" r="r" b="b"/>
              <a:pathLst>
                <a:path w="10287000" h="9525">
                  <a:moveTo>
                    <a:pt x="0" y="0"/>
                  </a:moveTo>
                  <a:lnTo>
                    <a:pt x="10287000" y="0"/>
                  </a:lnTo>
                </a:path>
              </a:pathLst>
            </a:custGeom>
            <a:noFill/>
            <a:ln w="38100">
              <a:solidFill>
                <a:srgbClr val="111111"/>
              </a:solidFill>
            </a:ln>
          </p:spPr>
        </p:sp>
        <p:sp>
          <p:nvSpPr>
            <p:cNvPr id="20" name="Line 20"/>
            <p:cNvSpPr/>
            <p:nvPr/>
          </p:nvSpPr>
          <p:spPr>
            <a:xfrm>
              <a:off x="952500" y="3733800"/>
              <a:ext cx="9525" cy="95250"/>
            </a:xfrm>
            <a:custGeom>
              <a:avLst/>
              <a:gdLst/>
              <a:ahLst/>
              <a:cxnLst/>
              <a:rect l="l" t="t" r="r" b="b"/>
              <a:pathLst>
                <a:path w="9525" h="95250">
                  <a:moveTo>
                    <a:pt x="0" y="0"/>
                  </a:moveTo>
                  <a:lnTo>
                    <a:pt x="0" y="95250"/>
                  </a:lnTo>
                </a:path>
              </a:pathLst>
            </a:custGeom>
            <a:noFill/>
            <a:ln w="9525">
              <a:solidFill>
                <a:srgbClr val="111111"/>
              </a:solidFill>
            </a:ln>
          </p:spPr>
        </p:sp>
        <p:sp>
          <p:nvSpPr>
            <p:cNvPr id="21" name="Line 21"/>
            <p:cNvSpPr/>
            <p:nvPr/>
          </p:nvSpPr>
          <p:spPr>
            <a:xfrm>
              <a:off x="2876550" y="3733800"/>
              <a:ext cx="9525" cy="95250"/>
            </a:xfrm>
            <a:custGeom>
              <a:avLst/>
              <a:gdLst/>
              <a:ahLst/>
              <a:cxnLst/>
              <a:rect l="l" t="t" r="r" b="b"/>
              <a:pathLst>
                <a:path w="9525" h="95250">
                  <a:moveTo>
                    <a:pt x="0" y="0"/>
                  </a:moveTo>
                  <a:lnTo>
                    <a:pt x="0" y="95250"/>
                  </a:lnTo>
                </a:path>
              </a:pathLst>
            </a:custGeom>
            <a:noFill/>
            <a:ln w="9525">
              <a:solidFill>
                <a:srgbClr val="111111"/>
              </a:solidFill>
            </a:ln>
          </p:spPr>
        </p:sp>
        <p:sp>
          <p:nvSpPr>
            <p:cNvPr id="22" name="Line 22"/>
            <p:cNvSpPr/>
            <p:nvPr/>
          </p:nvSpPr>
          <p:spPr>
            <a:xfrm>
              <a:off x="4810125" y="3733800"/>
              <a:ext cx="9525" cy="95250"/>
            </a:xfrm>
            <a:custGeom>
              <a:avLst/>
              <a:gdLst/>
              <a:ahLst/>
              <a:cxnLst/>
              <a:rect l="l" t="t" r="r" b="b"/>
              <a:pathLst>
                <a:path w="9525" h="95250">
                  <a:moveTo>
                    <a:pt x="0" y="0"/>
                  </a:moveTo>
                  <a:lnTo>
                    <a:pt x="0" y="95250"/>
                  </a:lnTo>
                </a:path>
              </a:pathLst>
            </a:custGeom>
            <a:noFill/>
            <a:ln w="9525">
              <a:solidFill>
                <a:srgbClr val="111111"/>
              </a:solidFill>
            </a:ln>
          </p:spPr>
        </p:sp>
        <p:sp>
          <p:nvSpPr>
            <p:cNvPr id="23" name="Line 23"/>
            <p:cNvSpPr/>
            <p:nvPr/>
          </p:nvSpPr>
          <p:spPr>
            <a:xfrm>
              <a:off x="6734175" y="3733800"/>
              <a:ext cx="9525" cy="95250"/>
            </a:xfrm>
            <a:custGeom>
              <a:avLst/>
              <a:gdLst/>
              <a:ahLst/>
              <a:cxnLst/>
              <a:rect l="l" t="t" r="r" b="b"/>
              <a:pathLst>
                <a:path w="9525" h="95250">
                  <a:moveTo>
                    <a:pt x="0" y="0"/>
                  </a:moveTo>
                  <a:lnTo>
                    <a:pt x="0" y="95250"/>
                  </a:lnTo>
                </a:path>
              </a:pathLst>
            </a:custGeom>
            <a:noFill/>
            <a:ln w="9525">
              <a:solidFill>
                <a:srgbClr val="111111"/>
              </a:solidFill>
            </a:ln>
          </p:spPr>
        </p:sp>
        <p:sp>
          <p:nvSpPr>
            <p:cNvPr id="24" name="Line 24"/>
            <p:cNvSpPr/>
            <p:nvPr/>
          </p:nvSpPr>
          <p:spPr>
            <a:xfrm>
              <a:off x="8667750" y="3733800"/>
              <a:ext cx="9525" cy="95250"/>
            </a:xfrm>
            <a:custGeom>
              <a:avLst/>
              <a:gdLst/>
              <a:ahLst/>
              <a:cxnLst/>
              <a:rect l="l" t="t" r="r" b="b"/>
              <a:pathLst>
                <a:path w="9525" h="95250">
                  <a:moveTo>
                    <a:pt x="0" y="0"/>
                  </a:moveTo>
                  <a:lnTo>
                    <a:pt x="0" y="95250"/>
                  </a:lnTo>
                </a:path>
              </a:pathLst>
            </a:custGeom>
            <a:noFill/>
            <a:ln w="9525">
              <a:solidFill>
                <a:srgbClr val="111111"/>
              </a:solidFill>
            </a:ln>
          </p:spPr>
        </p:sp>
        <p:sp>
          <p:nvSpPr>
            <p:cNvPr id="25" name="Line 25"/>
            <p:cNvSpPr/>
            <p:nvPr/>
          </p:nvSpPr>
          <p:spPr>
            <a:xfrm>
              <a:off x="10591800" y="3733800"/>
              <a:ext cx="9525" cy="95250"/>
            </a:xfrm>
            <a:custGeom>
              <a:avLst/>
              <a:gdLst/>
              <a:ahLst/>
              <a:cxnLst/>
              <a:rect l="l" t="t" r="r" b="b"/>
              <a:pathLst>
                <a:path w="9525" h="95250">
                  <a:moveTo>
                    <a:pt x="0" y="0"/>
                  </a:moveTo>
                  <a:lnTo>
                    <a:pt x="0" y="95250"/>
                  </a:lnTo>
                </a:path>
              </a:pathLst>
            </a:custGeom>
            <a:noFill/>
            <a:ln w="9525">
              <a:solidFill>
                <a:srgbClr val="111111"/>
              </a:solidFill>
            </a:ln>
          </p:spPr>
        </p:sp>
        <p:sp>
          <p:nvSpPr>
            <p:cNvPr id="26" name="TextBox 26"/>
            <p:cNvSpPr txBox="1"/>
            <p:nvPr/>
          </p:nvSpPr>
          <p:spPr>
            <a:xfrm>
              <a:off x="896672" y="3889534"/>
              <a:ext cx="111657" cy="137160"/>
            </a:xfrm>
            <a:prstGeom prst="rect">
              <a:avLst/>
            </a:prstGeom>
            <a:noFill/>
            <a:ln>
              <a:noFill/>
            </a:ln>
          </p:spPr>
          <p:txBody>
            <a:bodyPr wrap="none" lIns="0" tIns="0" rIns="0" bIns="0" anchor="t" anchorCtr="0">
              <a:spAutoFit/>
            </a:bodyPr>
            <a:lstStyle/>
            <a:p>
              <a:pPr algn="ctr"/>
              <a:r>
                <a:rPr lang="zh-CN" sz="675" dirty="0">
                  <a:solidFill>
                    <a:srgbClr val="3A3A3A"/>
                  </a:solidFill>
                  <a:latin typeface="Consolas"/>
                  <a:ea typeface="Microsoft YaHei"/>
                  <a:cs typeface="Consolas"/>
                </a:rPr>
                <a:t>Q1</a:t>
              </a:r>
            </a:p>
          </p:txBody>
        </p:sp>
        <p:sp>
          <p:nvSpPr>
            <p:cNvPr id="27" name="TextBox 27"/>
            <p:cNvSpPr txBox="1"/>
            <p:nvPr/>
          </p:nvSpPr>
          <p:spPr>
            <a:xfrm>
              <a:off x="2809470" y="3889534"/>
              <a:ext cx="134160" cy="137160"/>
            </a:xfrm>
            <a:prstGeom prst="rect">
              <a:avLst/>
            </a:prstGeom>
            <a:noFill/>
            <a:ln>
              <a:noFill/>
            </a:ln>
          </p:spPr>
          <p:txBody>
            <a:bodyPr wrap="none" lIns="0" tIns="0" rIns="0" bIns="0" anchor="t" anchorCtr="0">
              <a:spAutoFit/>
            </a:bodyPr>
            <a:lstStyle/>
            <a:p>
              <a:pPr algn="ctr"/>
              <a:r>
                <a:rPr lang="zh-CN" sz="675" dirty="0">
                  <a:solidFill>
                    <a:srgbClr val="3A3A3A"/>
                  </a:solidFill>
                  <a:latin typeface="Consolas"/>
                  <a:ea typeface="Microsoft YaHei"/>
                  <a:cs typeface="Consolas"/>
                </a:rPr>
                <a:t>Q2</a:t>
              </a:r>
            </a:p>
          </p:txBody>
        </p:sp>
        <p:sp>
          <p:nvSpPr>
            <p:cNvPr id="28" name="TextBox 28"/>
            <p:cNvSpPr txBox="1"/>
            <p:nvPr/>
          </p:nvSpPr>
          <p:spPr>
            <a:xfrm>
              <a:off x="4743045" y="3889534"/>
              <a:ext cx="134160" cy="137160"/>
            </a:xfrm>
            <a:prstGeom prst="rect">
              <a:avLst/>
            </a:prstGeom>
            <a:noFill/>
            <a:ln>
              <a:noFill/>
            </a:ln>
          </p:spPr>
          <p:txBody>
            <a:bodyPr wrap="none" lIns="0" tIns="0" rIns="0" bIns="0" anchor="t" anchorCtr="0">
              <a:spAutoFit/>
            </a:bodyPr>
            <a:lstStyle/>
            <a:p>
              <a:pPr algn="ctr"/>
              <a:r>
                <a:rPr lang="zh-CN" sz="675" dirty="0">
                  <a:solidFill>
                    <a:srgbClr val="3A3A3A"/>
                  </a:solidFill>
                  <a:latin typeface="Consolas"/>
                  <a:ea typeface="Microsoft YaHei"/>
                  <a:cs typeface="Consolas"/>
                </a:rPr>
                <a:t>Q3</a:t>
              </a:r>
            </a:p>
          </p:txBody>
        </p:sp>
        <p:sp>
          <p:nvSpPr>
            <p:cNvPr id="29" name="TextBox 29"/>
            <p:cNvSpPr txBox="1"/>
            <p:nvPr/>
          </p:nvSpPr>
          <p:spPr>
            <a:xfrm>
              <a:off x="6667095" y="3889534"/>
              <a:ext cx="134160" cy="137160"/>
            </a:xfrm>
            <a:prstGeom prst="rect">
              <a:avLst/>
            </a:prstGeom>
            <a:noFill/>
            <a:ln>
              <a:noFill/>
            </a:ln>
          </p:spPr>
          <p:txBody>
            <a:bodyPr wrap="none" lIns="0" tIns="0" rIns="0" bIns="0" anchor="t" anchorCtr="0">
              <a:spAutoFit/>
            </a:bodyPr>
            <a:lstStyle/>
            <a:p>
              <a:pPr algn="ctr"/>
              <a:r>
                <a:rPr lang="zh-CN" sz="675" dirty="0">
                  <a:solidFill>
                    <a:srgbClr val="3A3A3A"/>
                  </a:solidFill>
                  <a:latin typeface="Consolas"/>
                  <a:ea typeface="Microsoft YaHei"/>
                  <a:cs typeface="Consolas"/>
                </a:rPr>
                <a:t>Q4</a:t>
              </a:r>
            </a:p>
          </p:txBody>
        </p:sp>
        <p:sp>
          <p:nvSpPr>
            <p:cNvPr id="30" name="TextBox 30"/>
            <p:cNvSpPr txBox="1"/>
            <p:nvPr/>
          </p:nvSpPr>
          <p:spPr>
            <a:xfrm>
              <a:off x="8611922" y="3889534"/>
              <a:ext cx="111657" cy="137160"/>
            </a:xfrm>
            <a:prstGeom prst="rect">
              <a:avLst/>
            </a:prstGeom>
            <a:noFill/>
            <a:ln>
              <a:noFill/>
            </a:ln>
          </p:spPr>
          <p:txBody>
            <a:bodyPr wrap="none" lIns="0" tIns="0" rIns="0" bIns="0" anchor="t" anchorCtr="0">
              <a:spAutoFit/>
            </a:bodyPr>
            <a:lstStyle/>
            <a:p>
              <a:pPr algn="ctr"/>
              <a:r>
                <a:rPr lang="zh-CN" sz="675" dirty="0">
                  <a:solidFill>
                    <a:srgbClr val="3A3A3A"/>
                  </a:solidFill>
                  <a:latin typeface="Consolas"/>
                  <a:ea typeface="Microsoft YaHei"/>
                  <a:cs typeface="Consolas"/>
                </a:rPr>
                <a:t>Q1</a:t>
              </a:r>
            </a:p>
          </p:txBody>
        </p:sp>
        <p:sp>
          <p:nvSpPr>
            <p:cNvPr id="31" name="TextBox 31"/>
            <p:cNvSpPr txBox="1"/>
            <p:nvPr/>
          </p:nvSpPr>
          <p:spPr>
            <a:xfrm>
              <a:off x="10524720" y="3889534"/>
              <a:ext cx="134160" cy="137160"/>
            </a:xfrm>
            <a:prstGeom prst="rect">
              <a:avLst/>
            </a:prstGeom>
            <a:noFill/>
            <a:ln>
              <a:noFill/>
            </a:ln>
          </p:spPr>
          <p:txBody>
            <a:bodyPr wrap="none" lIns="0" tIns="0" rIns="0" bIns="0" anchor="t" anchorCtr="0">
              <a:spAutoFit/>
            </a:bodyPr>
            <a:lstStyle/>
            <a:p>
              <a:pPr algn="ctr"/>
              <a:r>
                <a:rPr lang="zh-CN" sz="675" dirty="0">
                  <a:solidFill>
                    <a:srgbClr val="3A3A3A"/>
                  </a:solidFill>
                  <a:latin typeface="Consolas"/>
                  <a:ea typeface="Microsoft YaHei"/>
                  <a:cs typeface="Consolas"/>
                </a:rPr>
                <a:t>Q2</a:t>
              </a:r>
            </a:p>
          </p:txBody>
        </p:sp>
      </p:grpSp>
      <p:grpSp>
        <p:nvGrpSpPr>
          <p:cNvPr id="41" name="Group 41"/>
          <p:cNvGrpSpPr/>
          <p:nvPr/>
        </p:nvGrpSpPr>
        <p:grpSpPr>
          <a:xfrm>
            <a:off x="444818" y="1828800"/>
            <a:ext cx="2135123" cy="1790700"/>
            <a:chOff x="444818" y="1828800"/>
            <a:chExt cx="2135123" cy="1790700"/>
          </a:xfrm>
        </p:grpSpPr>
        <p:sp>
          <p:nvSpPr>
            <p:cNvPr id="33" name="Line 33"/>
            <p:cNvSpPr/>
            <p:nvPr/>
          </p:nvSpPr>
          <p:spPr>
            <a:xfrm>
              <a:off x="952500" y="2667000"/>
              <a:ext cx="9525" cy="666750"/>
            </a:xfrm>
            <a:custGeom>
              <a:avLst/>
              <a:gdLst/>
              <a:ahLst/>
              <a:cxnLst/>
              <a:rect l="l" t="t" r="r" b="b"/>
              <a:pathLst>
                <a:path w="9525" h="666750">
                  <a:moveTo>
                    <a:pt x="0" y="666750"/>
                  </a:moveTo>
                  <a:lnTo>
                    <a:pt x="0" y="0"/>
                  </a:lnTo>
                </a:path>
              </a:pathLst>
            </a:custGeom>
            <a:noFill/>
            <a:ln w="9525">
              <a:solidFill>
                <a:srgbClr val="111111"/>
              </a:solidFill>
            </a:ln>
          </p:spPr>
        </p:sp>
        <p:sp>
          <p:nvSpPr>
            <p:cNvPr id="34" name="Ellipse 34"/>
            <p:cNvSpPr/>
            <p:nvPr/>
          </p:nvSpPr>
          <p:spPr>
            <a:xfrm>
              <a:off x="857250" y="3429000"/>
              <a:ext cx="190500" cy="190500"/>
            </a:xfrm>
            <a:prstGeom prst="ellipse">
              <a:avLst/>
            </a:prstGeom>
            <a:solidFill>
              <a:srgbClr val="111111"/>
            </a:solidFill>
            <a:ln>
              <a:noFill/>
            </a:ln>
          </p:spPr>
        </p:sp>
        <p:sp>
          <p:nvSpPr>
            <p:cNvPr id="35" name="Line 35"/>
            <p:cNvSpPr/>
            <p:nvPr/>
          </p:nvSpPr>
          <p:spPr>
            <a:xfrm>
              <a:off x="457200" y="1828800"/>
              <a:ext cx="1943100" cy="9525"/>
            </a:xfrm>
            <a:custGeom>
              <a:avLst/>
              <a:gdLst/>
              <a:ahLst/>
              <a:cxnLst/>
              <a:rect l="l" t="t" r="r" b="b"/>
              <a:pathLst>
                <a:path w="1943100" h="9525">
                  <a:moveTo>
                    <a:pt x="0" y="0"/>
                  </a:moveTo>
                  <a:lnTo>
                    <a:pt x="1943100" y="0"/>
                  </a:lnTo>
                </a:path>
              </a:pathLst>
            </a:custGeom>
            <a:noFill/>
            <a:ln w="19050">
              <a:solidFill>
                <a:srgbClr val="111111"/>
              </a:solidFill>
            </a:ln>
          </p:spPr>
        </p:sp>
        <p:sp>
          <p:nvSpPr>
            <p:cNvPr id="36" name="TextBox 36"/>
            <p:cNvSpPr txBox="1"/>
            <p:nvPr/>
          </p:nvSpPr>
          <p:spPr>
            <a:xfrm>
              <a:off x="444818" y="1952149"/>
              <a:ext cx="516226" cy="198120"/>
            </a:xfrm>
            <a:prstGeom prst="rect">
              <a:avLst/>
            </a:prstGeom>
            <a:noFill/>
            <a:ln>
              <a:noFill/>
            </a:ln>
          </p:spPr>
          <p:txBody>
            <a:bodyPr wrap="none" lIns="0" tIns="0" rIns="0" bIns="0" anchor="t" anchorCtr="0">
              <a:spAutoFit/>
            </a:bodyPr>
            <a:lstStyle/>
            <a:p>
              <a:pPr algn="l"/>
              <a:r>
                <a:rPr lang="zh-CN" sz="975" b="1" dirty="0">
                  <a:solidFill>
                    <a:srgbClr val="C8102E"/>
                  </a:solidFill>
                  <a:latin typeface="Arial Black"/>
                  <a:ea typeface="SimHei"/>
                  <a:cs typeface="Arial Black"/>
                </a:rPr>
                <a:t>2025-01</a:t>
              </a:r>
            </a:p>
          </p:txBody>
        </p:sp>
        <p:sp>
          <p:nvSpPr>
            <p:cNvPr id="37" name="TextBox 37"/>
            <p:cNvSpPr txBox="1"/>
            <p:nvPr/>
          </p:nvSpPr>
          <p:spPr>
            <a:xfrm>
              <a:off x="444818" y="2180749"/>
              <a:ext cx="1198812" cy="198120"/>
            </a:xfrm>
            <a:prstGeom prst="rect">
              <a:avLst/>
            </a:prstGeom>
            <a:noFill/>
            <a:ln>
              <a:noFill/>
            </a:ln>
          </p:spPr>
          <p:txBody>
            <a:bodyPr wrap="none" lIns="0" tIns="0" rIns="0" bIns="0" anchor="t" anchorCtr="0">
              <a:spAutoFit/>
            </a:bodyPr>
            <a:lstStyle/>
            <a:p>
              <a:pPr algn="l"/>
              <a:r>
                <a:rPr lang="zh-CN" sz="975" b="1" dirty="0">
                  <a:solidFill>
                    <a:srgbClr val="111111"/>
                  </a:solidFill>
                  <a:latin typeface="Arial Black"/>
                  <a:ea typeface="SimHei"/>
                  <a:cs typeface="Arial Black"/>
                </a:rPr>
                <a:t>US EO 14179 SIGNED</a:t>
              </a:r>
            </a:p>
          </p:txBody>
        </p:sp>
        <p:sp>
          <p:nvSpPr>
            <p:cNvPr id="38" name="TextBox 38"/>
            <p:cNvSpPr txBox="1"/>
            <p:nvPr/>
          </p:nvSpPr>
          <p:spPr>
            <a:xfrm>
              <a:off x="446722" y="2368391"/>
              <a:ext cx="2067211" cy="167640"/>
            </a:xfrm>
            <a:prstGeom prst="rect">
              <a:avLst/>
            </a:prstGeom>
            <a:noFill/>
            <a:ln>
              <a:noFill/>
            </a:ln>
          </p:spPr>
          <p:txBody>
            <a:bodyPr wrap="none" lIns="0" tIns="0" rIns="0" bIns="0" anchor="t" anchorCtr="0">
              <a:spAutoFit/>
            </a:bodyPr>
            <a:lstStyle/>
            <a:p>
              <a:pPr algn="l"/>
              <a:r>
                <a:rPr lang="zh-CN" sz="825" dirty="0">
                  <a:solidFill>
                    <a:srgbClr val="111111"/>
                  </a:solidFill>
                  <a:latin typeface="Times New Roman"/>
                  <a:ea typeface="SimSun"/>
                  <a:cs typeface="Times New Roman"/>
                </a:rPr>
                <a:t>Federal posture reversed — innovation</a:t>
              </a:r>
            </a:p>
          </p:txBody>
        </p:sp>
        <p:sp>
          <p:nvSpPr>
            <p:cNvPr id="39" name="TextBox 39"/>
            <p:cNvSpPr txBox="1"/>
            <p:nvPr/>
          </p:nvSpPr>
          <p:spPr>
            <a:xfrm>
              <a:off x="446722" y="2501741"/>
              <a:ext cx="2133219" cy="167640"/>
            </a:xfrm>
            <a:prstGeom prst="rect">
              <a:avLst/>
            </a:prstGeom>
            <a:noFill/>
            <a:ln>
              <a:noFill/>
            </a:ln>
          </p:spPr>
          <p:txBody>
            <a:bodyPr wrap="none" lIns="0" tIns="0" rIns="0" bIns="0" anchor="t" anchorCtr="0">
              <a:spAutoFit/>
            </a:bodyPr>
            <a:lstStyle/>
            <a:p>
              <a:pPr algn="l"/>
              <a:r>
                <a:rPr lang="zh-CN" sz="825" dirty="0">
                  <a:solidFill>
                    <a:srgbClr val="111111"/>
                  </a:solidFill>
                  <a:latin typeface="Times New Roman"/>
                  <a:ea typeface="SimSun"/>
                  <a:cs typeface="Times New Roman"/>
                </a:rPr>
                <a:t>first over restriction; the state-level</a:t>
              </a:r>
            </a:p>
          </p:txBody>
        </p:sp>
        <p:sp>
          <p:nvSpPr>
            <p:cNvPr id="40" name="TextBox 40"/>
            <p:cNvSpPr txBox="1"/>
            <p:nvPr/>
          </p:nvSpPr>
          <p:spPr>
            <a:xfrm>
              <a:off x="446722" y="2635091"/>
              <a:ext cx="659035" cy="167640"/>
            </a:xfrm>
            <a:prstGeom prst="rect">
              <a:avLst/>
            </a:prstGeom>
            <a:noFill/>
            <a:ln>
              <a:noFill/>
            </a:ln>
          </p:spPr>
          <p:txBody>
            <a:bodyPr wrap="none" lIns="0" tIns="0" rIns="0" bIns="0" anchor="t" anchorCtr="0">
              <a:spAutoFit/>
            </a:bodyPr>
            <a:lstStyle/>
            <a:p>
              <a:pPr algn="l"/>
              <a:r>
                <a:rPr lang="zh-CN" sz="825" dirty="0">
                  <a:solidFill>
                    <a:srgbClr val="111111"/>
                  </a:solidFill>
                  <a:latin typeface="Times New Roman"/>
                  <a:ea typeface="SimSun"/>
                  <a:cs typeface="Times New Roman"/>
                </a:rPr>
                <a:t>race opens.</a:t>
              </a:r>
            </a:p>
          </p:txBody>
        </p:sp>
      </p:grpSp>
      <p:grpSp>
        <p:nvGrpSpPr>
          <p:cNvPr id="50" name="Group 50"/>
          <p:cNvGrpSpPr/>
          <p:nvPr/>
        </p:nvGrpSpPr>
        <p:grpSpPr>
          <a:xfrm>
            <a:off x="4473892" y="3429000"/>
            <a:ext cx="2019611" cy="1926431"/>
            <a:chOff x="4473892" y="3429000"/>
            <a:chExt cx="2019611" cy="1926431"/>
          </a:xfrm>
        </p:grpSpPr>
        <p:sp>
          <p:nvSpPr>
            <p:cNvPr id="42" name="Line 42"/>
            <p:cNvSpPr/>
            <p:nvPr/>
          </p:nvSpPr>
          <p:spPr>
            <a:xfrm>
              <a:off x="5457825" y="3714750"/>
              <a:ext cx="9525" cy="666750"/>
            </a:xfrm>
            <a:custGeom>
              <a:avLst/>
              <a:gdLst/>
              <a:ahLst/>
              <a:cxnLst/>
              <a:rect l="l" t="t" r="r" b="b"/>
              <a:pathLst>
                <a:path w="9525" h="666750">
                  <a:moveTo>
                    <a:pt x="0" y="0"/>
                  </a:moveTo>
                  <a:lnTo>
                    <a:pt x="0" y="666750"/>
                  </a:lnTo>
                </a:path>
              </a:pathLst>
            </a:custGeom>
            <a:noFill/>
            <a:ln w="9525">
              <a:solidFill>
                <a:srgbClr val="111111"/>
              </a:solidFill>
            </a:ln>
          </p:spPr>
        </p:sp>
        <p:sp>
          <p:nvSpPr>
            <p:cNvPr id="43" name="Ellipse 43"/>
            <p:cNvSpPr/>
            <p:nvPr/>
          </p:nvSpPr>
          <p:spPr>
            <a:xfrm>
              <a:off x="5362575" y="3429000"/>
              <a:ext cx="190500" cy="190500"/>
            </a:xfrm>
            <a:prstGeom prst="ellipse">
              <a:avLst/>
            </a:prstGeom>
            <a:solidFill>
              <a:srgbClr val="111111"/>
            </a:solidFill>
            <a:ln>
              <a:noFill/>
            </a:ln>
          </p:spPr>
        </p:sp>
        <p:sp>
          <p:nvSpPr>
            <p:cNvPr id="44" name="Line 44"/>
            <p:cNvSpPr/>
            <p:nvPr/>
          </p:nvSpPr>
          <p:spPr>
            <a:xfrm>
              <a:off x="4486275" y="4381500"/>
              <a:ext cx="1943100" cy="9525"/>
            </a:xfrm>
            <a:custGeom>
              <a:avLst/>
              <a:gdLst/>
              <a:ahLst/>
              <a:cxnLst/>
              <a:rect l="l" t="t" r="r" b="b"/>
              <a:pathLst>
                <a:path w="1943100" h="9525">
                  <a:moveTo>
                    <a:pt x="0" y="0"/>
                  </a:moveTo>
                  <a:lnTo>
                    <a:pt x="1943100" y="0"/>
                  </a:lnTo>
                </a:path>
              </a:pathLst>
            </a:custGeom>
            <a:noFill/>
            <a:ln w="19050">
              <a:solidFill>
                <a:srgbClr val="111111"/>
              </a:solidFill>
            </a:ln>
          </p:spPr>
        </p:sp>
        <p:sp>
          <p:nvSpPr>
            <p:cNvPr id="45" name="TextBox 45"/>
            <p:cNvSpPr txBox="1"/>
            <p:nvPr/>
          </p:nvSpPr>
          <p:spPr>
            <a:xfrm>
              <a:off x="4473892" y="4504849"/>
              <a:ext cx="550356" cy="198120"/>
            </a:xfrm>
            <a:prstGeom prst="rect">
              <a:avLst/>
            </a:prstGeom>
            <a:noFill/>
            <a:ln>
              <a:noFill/>
            </a:ln>
          </p:spPr>
          <p:txBody>
            <a:bodyPr wrap="none" lIns="0" tIns="0" rIns="0" bIns="0" anchor="t" anchorCtr="0">
              <a:spAutoFit/>
            </a:bodyPr>
            <a:lstStyle/>
            <a:p>
              <a:pPr algn="l"/>
              <a:r>
                <a:rPr lang="zh-CN" sz="975" b="1" dirty="0">
                  <a:solidFill>
                    <a:srgbClr val="C8102E"/>
                  </a:solidFill>
                  <a:latin typeface="Arial Black"/>
                  <a:ea typeface="SimHei"/>
                  <a:cs typeface="Arial Black"/>
                </a:rPr>
                <a:t>2025-08</a:t>
              </a:r>
            </a:p>
          </p:txBody>
        </p:sp>
        <p:sp>
          <p:nvSpPr>
            <p:cNvPr id="46" name="TextBox 46"/>
            <p:cNvSpPr txBox="1"/>
            <p:nvPr/>
          </p:nvSpPr>
          <p:spPr>
            <a:xfrm>
              <a:off x="4473892" y="4733449"/>
              <a:ext cx="1499149" cy="198120"/>
            </a:xfrm>
            <a:prstGeom prst="rect">
              <a:avLst/>
            </a:prstGeom>
            <a:noFill/>
            <a:ln>
              <a:noFill/>
            </a:ln>
          </p:spPr>
          <p:txBody>
            <a:bodyPr wrap="none" lIns="0" tIns="0" rIns="0" bIns="0" anchor="t" anchorCtr="0">
              <a:spAutoFit/>
            </a:bodyPr>
            <a:lstStyle/>
            <a:p>
              <a:pPr algn="l"/>
              <a:r>
                <a:rPr lang="zh-CN" sz="975" b="1" dirty="0">
                  <a:solidFill>
                    <a:srgbClr val="111111"/>
                  </a:solidFill>
                  <a:latin typeface="Arial Black"/>
                  <a:ea typeface="SimHei"/>
                  <a:cs typeface="Arial Black"/>
                </a:rPr>
                <a:t>EU AI ACT — FULL FORCE</a:t>
              </a:r>
            </a:p>
          </p:txBody>
        </p:sp>
        <p:sp>
          <p:nvSpPr>
            <p:cNvPr id="47" name="TextBox 47"/>
            <p:cNvSpPr txBox="1"/>
            <p:nvPr/>
          </p:nvSpPr>
          <p:spPr>
            <a:xfrm>
              <a:off x="4475798" y="4921091"/>
              <a:ext cx="2017705" cy="167640"/>
            </a:xfrm>
            <a:prstGeom prst="rect">
              <a:avLst/>
            </a:prstGeom>
            <a:noFill/>
            <a:ln>
              <a:noFill/>
            </a:ln>
          </p:spPr>
          <p:txBody>
            <a:bodyPr wrap="none" lIns="0" tIns="0" rIns="0" bIns="0" anchor="t" anchorCtr="0">
              <a:spAutoFit/>
            </a:bodyPr>
            <a:lstStyle/>
            <a:p>
              <a:pPr algn="l"/>
              <a:r>
                <a:rPr lang="zh-CN" sz="825" dirty="0">
                  <a:solidFill>
                    <a:srgbClr val="111111"/>
                  </a:solidFill>
                  <a:latin typeface="Times New Roman"/>
                  <a:ea typeface="SimSun"/>
                  <a:cs typeface="Times New Roman"/>
                </a:rPr>
                <a:t>First binding horizontal AI statute on</a:t>
              </a:r>
            </a:p>
          </p:txBody>
        </p:sp>
        <p:sp>
          <p:nvSpPr>
            <p:cNvPr id="48" name="TextBox 48"/>
            <p:cNvSpPr txBox="1"/>
            <p:nvPr/>
          </p:nvSpPr>
          <p:spPr>
            <a:xfrm>
              <a:off x="4475798" y="5054441"/>
              <a:ext cx="1814179" cy="167640"/>
            </a:xfrm>
            <a:prstGeom prst="rect">
              <a:avLst/>
            </a:prstGeom>
            <a:noFill/>
            <a:ln>
              <a:noFill/>
            </a:ln>
          </p:spPr>
          <p:txBody>
            <a:bodyPr wrap="none" lIns="0" tIns="0" rIns="0" bIns="0" anchor="t" anchorCtr="0">
              <a:spAutoFit/>
            </a:bodyPr>
            <a:lstStyle/>
            <a:p>
              <a:pPr algn="l"/>
              <a:r>
                <a:rPr lang="zh-CN" sz="825" dirty="0">
                  <a:solidFill>
                    <a:srgbClr val="111111"/>
                  </a:solidFill>
                  <a:latin typeface="Times New Roman"/>
                  <a:ea typeface="SimSun"/>
                  <a:cs typeface="Times New Roman"/>
                </a:rPr>
                <a:t>a major economy. Penalty ceiling:</a:t>
              </a:r>
            </a:p>
          </p:txBody>
        </p:sp>
        <p:sp>
          <p:nvSpPr>
            <p:cNvPr id="49" name="TextBox 49"/>
            <p:cNvSpPr txBox="1"/>
            <p:nvPr/>
          </p:nvSpPr>
          <p:spPr>
            <a:xfrm>
              <a:off x="4475798" y="5187791"/>
              <a:ext cx="1731669" cy="167640"/>
            </a:xfrm>
            <a:prstGeom prst="rect">
              <a:avLst/>
            </a:prstGeom>
            <a:noFill/>
            <a:ln>
              <a:noFill/>
            </a:ln>
          </p:spPr>
          <p:txBody>
            <a:bodyPr wrap="none" lIns="0" tIns="0" rIns="0" bIns="0" anchor="t" anchorCtr="0">
              <a:spAutoFit/>
            </a:bodyPr>
            <a:lstStyle/>
            <a:p>
              <a:pPr algn="l"/>
              <a:r>
                <a:rPr lang="zh-CN" sz="825" dirty="0">
                  <a:solidFill>
                    <a:srgbClr val="111111"/>
                  </a:solidFill>
                  <a:latin typeface="Times New Roman"/>
                  <a:ea typeface="SimSun"/>
                  <a:cs typeface="Times New Roman"/>
                </a:rPr>
                <a:t>€35 M or 7 % of global turnover.</a:t>
              </a:r>
            </a:p>
          </p:txBody>
        </p:sp>
      </p:grpSp>
      <p:grpSp>
        <p:nvGrpSpPr>
          <p:cNvPr id="59" name="Group 59"/>
          <p:cNvGrpSpPr/>
          <p:nvPr/>
        </p:nvGrpSpPr>
        <p:grpSpPr>
          <a:xfrm>
            <a:off x="5112068" y="1828800"/>
            <a:ext cx="1955482" cy="1790700"/>
            <a:chOff x="5112068" y="1828800"/>
            <a:chExt cx="1955482" cy="1790700"/>
          </a:xfrm>
        </p:grpSpPr>
        <p:sp>
          <p:nvSpPr>
            <p:cNvPr id="51" name="Line 51"/>
            <p:cNvSpPr/>
            <p:nvPr/>
          </p:nvSpPr>
          <p:spPr>
            <a:xfrm>
              <a:off x="6096000" y="2667000"/>
              <a:ext cx="9525" cy="666750"/>
            </a:xfrm>
            <a:custGeom>
              <a:avLst/>
              <a:gdLst/>
              <a:ahLst/>
              <a:cxnLst/>
              <a:rect l="l" t="t" r="r" b="b"/>
              <a:pathLst>
                <a:path w="9525" h="666750">
                  <a:moveTo>
                    <a:pt x="0" y="666750"/>
                  </a:moveTo>
                  <a:lnTo>
                    <a:pt x="0" y="0"/>
                  </a:lnTo>
                </a:path>
              </a:pathLst>
            </a:custGeom>
            <a:noFill/>
            <a:ln w="9525">
              <a:solidFill>
                <a:srgbClr val="111111"/>
              </a:solidFill>
            </a:ln>
          </p:spPr>
        </p:sp>
        <p:sp>
          <p:nvSpPr>
            <p:cNvPr id="52" name="Ellipse 52"/>
            <p:cNvSpPr/>
            <p:nvPr/>
          </p:nvSpPr>
          <p:spPr>
            <a:xfrm>
              <a:off x="6000750" y="3429000"/>
              <a:ext cx="190500" cy="190500"/>
            </a:xfrm>
            <a:prstGeom prst="ellipse">
              <a:avLst/>
            </a:prstGeom>
            <a:solidFill>
              <a:srgbClr val="111111"/>
            </a:solidFill>
            <a:ln>
              <a:noFill/>
            </a:ln>
          </p:spPr>
        </p:sp>
        <p:sp>
          <p:nvSpPr>
            <p:cNvPr id="53" name="Line 53"/>
            <p:cNvSpPr/>
            <p:nvPr/>
          </p:nvSpPr>
          <p:spPr>
            <a:xfrm>
              <a:off x="5124450" y="1828800"/>
              <a:ext cx="1943100" cy="9525"/>
            </a:xfrm>
            <a:custGeom>
              <a:avLst/>
              <a:gdLst/>
              <a:ahLst/>
              <a:cxnLst/>
              <a:rect l="l" t="t" r="r" b="b"/>
              <a:pathLst>
                <a:path w="1943100" h="9525">
                  <a:moveTo>
                    <a:pt x="0" y="0"/>
                  </a:moveTo>
                  <a:lnTo>
                    <a:pt x="1943100" y="0"/>
                  </a:lnTo>
                </a:path>
              </a:pathLst>
            </a:custGeom>
            <a:noFill/>
            <a:ln w="19050">
              <a:solidFill>
                <a:srgbClr val="111111"/>
              </a:solidFill>
            </a:ln>
          </p:spPr>
        </p:sp>
        <p:sp>
          <p:nvSpPr>
            <p:cNvPr id="54" name="TextBox 54"/>
            <p:cNvSpPr txBox="1"/>
            <p:nvPr/>
          </p:nvSpPr>
          <p:spPr>
            <a:xfrm>
              <a:off x="5112068" y="1952149"/>
              <a:ext cx="550356" cy="198120"/>
            </a:xfrm>
            <a:prstGeom prst="rect">
              <a:avLst/>
            </a:prstGeom>
            <a:noFill/>
            <a:ln>
              <a:noFill/>
            </a:ln>
          </p:spPr>
          <p:txBody>
            <a:bodyPr wrap="none" lIns="0" tIns="0" rIns="0" bIns="0" anchor="t" anchorCtr="0">
              <a:spAutoFit/>
            </a:bodyPr>
            <a:lstStyle/>
            <a:p>
              <a:pPr algn="l"/>
              <a:r>
                <a:rPr lang="zh-CN" sz="975" b="1" dirty="0">
                  <a:solidFill>
                    <a:srgbClr val="C8102E"/>
                  </a:solidFill>
                  <a:latin typeface="Arial Black"/>
                  <a:ea typeface="SimHei"/>
                  <a:cs typeface="Arial Black"/>
                </a:rPr>
                <a:t>2025-09</a:t>
              </a:r>
            </a:p>
          </p:txBody>
        </p:sp>
        <p:sp>
          <p:nvSpPr>
            <p:cNvPr id="55" name="TextBox 55"/>
            <p:cNvSpPr txBox="1"/>
            <p:nvPr/>
          </p:nvSpPr>
          <p:spPr>
            <a:xfrm>
              <a:off x="5112068" y="2180749"/>
              <a:ext cx="1553756" cy="198120"/>
            </a:xfrm>
            <a:prstGeom prst="rect">
              <a:avLst/>
            </a:prstGeom>
            <a:noFill/>
            <a:ln>
              <a:noFill/>
            </a:ln>
          </p:spPr>
          <p:txBody>
            <a:bodyPr wrap="none" lIns="0" tIns="0" rIns="0" bIns="0" anchor="t" anchorCtr="0">
              <a:spAutoFit/>
            </a:bodyPr>
            <a:lstStyle/>
            <a:p>
              <a:pPr algn="l"/>
              <a:r>
                <a:rPr lang="zh-CN" sz="975" b="1" dirty="0">
                  <a:solidFill>
                    <a:srgbClr val="111111"/>
                  </a:solidFill>
                  <a:latin typeface="Arial Black"/>
                  <a:ea typeface="SimHei"/>
                  <a:cs typeface="Arial Black"/>
                </a:rPr>
                <a:t>CHINA WATERMARK RULES</a:t>
              </a:r>
            </a:p>
          </p:txBody>
        </p:sp>
        <p:sp>
          <p:nvSpPr>
            <p:cNvPr id="56" name="TextBox 56"/>
            <p:cNvSpPr txBox="1"/>
            <p:nvPr/>
          </p:nvSpPr>
          <p:spPr>
            <a:xfrm>
              <a:off x="5113972" y="2368391"/>
              <a:ext cx="1808678" cy="167640"/>
            </a:xfrm>
            <a:prstGeom prst="rect">
              <a:avLst/>
            </a:prstGeom>
            <a:noFill/>
            <a:ln>
              <a:noFill/>
            </a:ln>
          </p:spPr>
          <p:txBody>
            <a:bodyPr wrap="none" lIns="0" tIns="0" rIns="0" bIns="0" anchor="t" anchorCtr="0">
              <a:spAutoFit/>
            </a:bodyPr>
            <a:lstStyle/>
            <a:p>
              <a:pPr algn="l"/>
              <a:r>
                <a:rPr lang="zh-CN" sz="825" dirty="0">
                  <a:solidFill>
                    <a:srgbClr val="111111"/>
                  </a:solidFill>
                  <a:latin typeface="Times New Roman"/>
                  <a:ea typeface="SimSun"/>
                  <a:cs typeface="Times New Roman"/>
                </a:rPr>
                <a:t>First state-mandated synthetic-</a:t>
              </a:r>
            </a:p>
          </p:txBody>
        </p:sp>
        <p:sp>
          <p:nvSpPr>
            <p:cNvPr id="57" name="TextBox 57"/>
            <p:cNvSpPr txBox="1"/>
            <p:nvPr/>
          </p:nvSpPr>
          <p:spPr>
            <a:xfrm>
              <a:off x="5113972" y="2501741"/>
              <a:ext cx="1759172" cy="167640"/>
            </a:xfrm>
            <a:prstGeom prst="rect">
              <a:avLst/>
            </a:prstGeom>
            <a:noFill/>
            <a:ln>
              <a:noFill/>
            </a:ln>
          </p:spPr>
          <p:txBody>
            <a:bodyPr wrap="none" lIns="0" tIns="0" rIns="0" bIns="0" anchor="t" anchorCtr="0">
              <a:spAutoFit/>
            </a:bodyPr>
            <a:lstStyle/>
            <a:p>
              <a:pPr algn="l"/>
              <a:r>
                <a:rPr lang="zh-CN" sz="825" dirty="0">
                  <a:solidFill>
                    <a:srgbClr val="111111"/>
                  </a:solidFill>
                  <a:latin typeface="Times New Roman"/>
                  <a:ea typeface="SimSun"/>
                  <a:cs typeface="Times New Roman"/>
                </a:rPr>
                <a:t>content identification regime at</a:t>
              </a:r>
            </a:p>
          </p:txBody>
        </p:sp>
        <p:sp>
          <p:nvSpPr>
            <p:cNvPr id="58" name="TextBox 58"/>
            <p:cNvSpPr txBox="1"/>
            <p:nvPr/>
          </p:nvSpPr>
          <p:spPr>
            <a:xfrm>
              <a:off x="5113972" y="2635091"/>
              <a:ext cx="1506141" cy="167640"/>
            </a:xfrm>
            <a:prstGeom prst="rect">
              <a:avLst/>
            </a:prstGeom>
            <a:noFill/>
            <a:ln>
              <a:noFill/>
            </a:ln>
          </p:spPr>
          <p:txBody>
            <a:bodyPr wrap="none" lIns="0" tIns="0" rIns="0" bIns="0" anchor="t" anchorCtr="0">
              <a:spAutoFit/>
            </a:bodyPr>
            <a:lstStyle/>
            <a:p>
              <a:pPr algn="l"/>
              <a:r>
                <a:rPr lang="zh-CN" sz="825" dirty="0">
                  <a:solidFill>
                    <a:srgbClr val="111111"/>
                  </a:solidFill>
                  <a:latin typeface="Times New Roman"/>
                  <a:ea typeface="SimSun"/>
                  <a:cs typeface="Times New Roman"/>
                </a:rPr>
                <a:t>frontier-deployment scale.</a:t>
              </a:r>
            </a:p>
          </p:txBody>
        </p:sp>
      </p:grpSp>
      <p:grpSp>
        <p:nvGrpSpPr>
          <p:cNvPr id="68" name="Group 68"/>
          <p:cNvGrpSpPr/>
          <p:nvPr/>
        </p:nvGrpSpPr>
        <p:grpSpPr>
          <a:xfrm>
            <a:off x="6397942" y="3429000"/>
            <a:ext cx="2019611" cy="1926431"/>
            <a:chOff x="6397942" y="3429000"/>
            <a:chExt cx="2019611" cy="1926431"/>
          </a:xfrm>
        </p:grpSpPr>
        <p:sp>
          <p:nvSpPr>
            <p:cNvPr id="60" name="Line 60"/>
            <p:cNvSpPr/>
            <p:nvPr/>
          </p:nvSpPr>
          <p:spPr>
            <a:xfrm>
              <a:off x="7381875" y="3714750"/>
              <a:ext cx="9525" cy="666750"/>
            </a:xfrm>
            <a:custGeom>
              <a:avLst/>
              <a:gdLst/>
              <a:ahLst/>
              <a:cxnLst/>
              <a:rect l="l" t="t" r="r" b="b"/>
              <a:pathLst>
                <a:path w="9525" h="666750">
                  <a:moveTo>
                    <a:pt x="0" y="0"/>
                  </a:moveTo>
                  <a:lnTo>
                    <a:pt x="0" y="666750"/>
                  </a:lnTo>
                </a:path>
              </a:pathLst>
            </a:custGeom>
            <a:noFill/>
            <a:ln w="9525">
              <a:solidFill>
                <a:srgbClr val="111111"/>
              </a:solidFill>
            </a:ln>
          </p:spPr>
        </p:sp>
        <p:sp>
          <p:nvSpPr>
            <p:cNvPr id="61" name="Ellipse 61"/>
            <p:cNvSpPr/>
            <p:nvPr/>
          </p:nvSpPr>
          <p:spPr>
            <a:xfrm>
              <a:off x="7286625" y="3429000"/>
              <a:ext cx="190500" cy="190500"/>
            </a:xfrm>
            <a:prstGeom prst="ellipse">
              <a:avLst/>
            </a:prstGeom>
            <a:solidFill>
              <a:srgbClr val="111111"/>
            </a:solidFill>
            <a:ln>
              <a:noFill/>
            </a:ln>
          </p:spPr>
        </p:sp>
        <p:sp>
          <p:nvSpPr>
            <p:cNvPr id="62" name="Line 62"/>
            <p:cNvSpPr/>
            <p:nvPr/>
          </p:nvSpPr>
          <p:spPr>
            <a:xfrm>
              <a:off x="6410325" y="4381500"/>
              <a:ext cx="1943100" cy="9525"/>
            </a:xfrm>
            <a:custGeom>
              <a:avLst/>
              <a:gdLst/>
              <a:ahLst/>
              <a:cxnLst/>
              <a:rect l="l" t="t" r="r" b="b"/>
              <a:pathLst>
                <a:path w="1943100" h="9525">
                  <a:moveTo>
                    <a:pt x="0" y="0"/>
                  </a:moveTo>
                  <a:lnTo>
                    <a:pt x="1943100" y="0"/>
                  </a:lnTo>
                </a:path>
              </a:pathLst>
            </a:custGeom>
            <a:noFill/>
            <a:ln w="19050">
              <a:solidFill>
                <a:srgbClr val="111111"/>
              </a:solidFill>
            </a:ln>
          </p:spPr>
        </p:sp>
        <p:sp>
          <p:nvSpPr>
            <p:cNvPr id="63" name="TextBox 63"/>
            <p:cNvSpPr txBox="1"/>
            <p:nvPr/>
          </p:nvSpPr>
          <p:spPr>
            <a:xfrm>
              <a:off x="6397942" y="4504849"/>
              <a:ext cx="577659" cy="198120"/>
            </a:xfrm>
            <a:prstGeom prst="rect">
              <a:avLst/>
            </a:prstGeom>
            <a:noFill/>
            <a:ln>
              <a:noFill/>
            </a:ln>
          </p:spPr>
          <p:txBody>
            <a:bodyPr wrap="none" lIns="0" tIns="0" rIns="0" bIns="0" anchor="t" anchorCtr="0">
              <a:spAutoFit/>
            </a:bodyPr>
            <a:lstStyle/>
            <a:p>
              <a:pPr algn="l"/>
              <a:r>
                <a:rPr lang="zh-CN" sz="975" b="1" dirty="0">
                  <a:solidFill>
                    <a:srgbClr val="C8102E"/>
                  </a:solidFill>
                  <a:latin typeface="Arial Black"/>
                  <a:ea typeface="SimHei"/>
                  <a:cs typeface="Arial Black"/>
                </a:rPr>
                <a:t>2025-Q4</a:t>
              </a:r>
            </a:p>
          </p:txBody>
        </p:sp>
        <p:sp>
          <p:nvSpPr>
            <p:cNvPr id="64" name="TextBox 64"/>
            <p:cNvSpPr txBox="1"/>
            <p:nvPr/>
          </p:nvSpPr>
          <p:spPr>
            <a:xfrm>
              <a:off x="6397942" y="4733449"/>
              <a:ext cx="1458194" cy="198120"/>
            </a:xfrm>
            <a:prstGeom prst="rect">
              <a:avLst/>
            </a:prstGeom>
            <a:noFill/>
            <a:ln>
              <a:noFill/>
            </a:ln>
          </p:spPr>
          <p:txBody>
            <a:bodyPr wrap="none" lIns="0" tIns="0" rIns="0" bIns="0" anchor="t" anchorCtr="0">
              <a:spAutoFit/>
            </a:bodyPr>
            <a:lstStyle/>
            <a:p>
              <a:pPr algn="l"/>
              <a:r>
                <a:rPr lang="zh-CN" sz="975" b="1" dirty="0">
                  <a:solidFill>
                    <a:srgbClr val="111111"/>
                  </a:solidFill>
                  <a:latin typeface="Arial Black"/>
                  <a:ea typeface="SimHei"/>
                  <a:cs typeface="Arial Black"/>
                </a:rPr>
                <a:t>DEEPSEEK-R1 RELEASED</a:t>
              </a:r>
            </a:p>
          </p:txBody>
        </p:sp>
        <p:sp>
          <p:nvSpPr>
            <p:cNvPr id="65" name="TextBox 65"/>
            <p:cNvSpPr txBox="1"/>
            <p:nvPr/>
          </p:nvSpPr>
          <p:spPr>
            <a:xfrm>
              <a:off x="6399848" y="4921091"/>
              <a:ext cx="2017705" cy="167640"/>
            </a:xfrm>
            <a:prstGeom prst="rect">
              <a:avLst/>
            </a:prstGeom>
            <a:noFill/>
            <a:ln>
              <a:noFill/>
            </a:ln>
          </p:spPr>
          <p:txBody>
            <a:bodyPr wrap="none" lIns="0" tIns="0" rIns="0" bIns="0" anchor="t" anchorCtr="0">
              <a:spAutoFit/>
            </a:bodyPr>
            <a:lstStyle/>
            <a:p>
              <a:pPr algn="l"/>
              <a:r>
                <a:rPr lang="zh-CN" sz="825" dirty="0">
                  <a:solidFill>
                    <a:srgbClr val="111111"/>
                  </a:solidFill>
                  <a:latin typeface="Times New Roman"/>
                  <a:ea typeface="SimSun"/>
                  <a:cs typeface="Times New Roman"/>
                </a:rPr>
                <a:t>Open-weights reasoning at frontier-</a:t>
              </a:r>
            </a:p>
          </p:txBody>
        </p:sp>
        <p:sp>
          <p:nvSpPr>
            <p:cNvPr id="66" name="TextBox 66"/>
            <p:cNvSpPr txBox="1"/>
            <p:nvPr/>
          </p:nvSpPr>
          <p:spPr>
            <a:xfrm>
              <a:off x="6399848" y="5054441"/>
              <a:ext cx="1847183" cy="167640"/>
            </a:xfrm>
            <a:prstGeom prst="rect">
              <a:avLst/>
            </a:prstGeom>
            <a:noFill/>
            <a:ln>
              <a:noFill/>
            </a:ln>
          </p:spPr>
          <p:txBody>
            <a:bodyPr wrap="none" lIns="0" tIns="0" rIns="0" bIns="0" anchor="t" anchorCtr="0">
              <a:spAutoFit/>
            </a:bodyPr>
            <a:lstStyle/>
            <a:p>
              <a:pPr algn="l"/>
              <a:r>
                <a:rPr lang="zh-CN" sz="825" dirty="0">
                  <a:solidFill>
                    <a:srgbClr val="111111"/>
                  </a:solidFill>
                  <a:latin typeface="Times New Roman"/>
                  <a:ea typeface="SimSun"/>
                  <a:cs typeface="Times New Roman"/>
                </a:rPr>
                <a:t>adjacent capability; reframes the</a:t>
              </a:r>
            </a:p>
          </p:txBody>
        </p:sp>
        <p:sp>
          <p:nvSpPr>
            <p:cNvPr id="67" name="TextBox 67"/>
            <p:cNvSpPr txBox="1"/>
            <p:nvPr/>
          </p:nvSpPr>
          <p:spPr>
            <a:xfrm>
              <a:off x="6399848" y="5187791"/>
              <a:ext cx="1632656" cy="167640"/>
            </a:xfrm>
            <a:prstGeom prst="rect">
              <a:avLst/>
            </a:prstGeom>
            <a:noFill/>
            <a:ln>
              <a:noFill/>
            </a:ln>
          </p:spPr>
          <p:txBody>
            <a:bodyPr wrap="none" lIns="0" tIns="0" rIns="0" bIns="0" anchor="t" anchorCtr="0">
              <a:spAutoFit/>
            </a:bodyPr>
            <a:lstStyle/>
            <a:p>
              <a:pPr algn="l"/>
              <a:r>
                <a:rPr lang="zh-CN" sz="825" dirty="0">
                  <a:solidFill>
                    <a:srgbClr val="111111"/>
                  </a:solidFill>
                  <a:latin typeface="Times New Roman"/>
                  <a:ea typeface="SimSun"/>
                  <a:cs typeface="Times New Roman"/>
                </a:rPr>
                <a:t>inference-cost conversation.</a:t>
              </a:r>
            </a:p>
          </p:txBody>
        </p:sp>
      </p:grpSp>
      <p:grpSp>
        <p:nvGrpSpPr>
          <p:cNvPr id="77" name="Group 77"/>
          <p:cNvGrpSpPr/>
          <p:nvPr/>
        </p:nvGrpSpPr>
        <p:grpSpPr>
          <a:xfrm>
            <a:off x="8331518" y="1828800"/>
            <a:ext cx="1955482" cy="1800225"/>
            <a:chOff x="8331518" y="1828800"/>
            <a:chExt cx="1955482" cy="1800225"/>
          </a:xfrm>
        </p:grpSpPr>
        <p:sp>
          <p:nvSpPr>
            <p:cNvPr id="69" name="Line 69"/>
            <p:cNvSpPr/>
            <p:nvPr/>
          </p:nvSpPr>
          <p:spPr>
            <a:xfrm>
              <a:off x="9315450" y="2667000"/>
              <a:ext cx="9525" cy="666750"/>
            </a:xfrm>
            <a:custGeom>
              <a:avLst/>
              <a:gdLst/>
              <a:ahLst/>
              <a:cxnLst/>
              <a:rect l="l" t="t" r="r" b="b"/>
              <a:pathLst>
                <a:path w="9525" h="666750">
                  <a:moveTo>
                    <a:pt x="0" y="666750"/>
                  </a:moveTo>
                  <a:lnTo>
                    <a:pt x="0" y="0"/>
                  </a:lnTo>
                </a:path>
              </a:pathLst>
            </a:custGeom>
            <a:noFill/>
            <a:ln w="14288">
              <a:solidFill>
                <a:srgbClr val="C8102E"/>
              </a:solidFill>
            </a:ln>
          </p:spPr>
        </p:sp>
        <p:sp>
          <p:nvSpPr>
            <p:cNvPr id="70" name="Ellipse 70"/>
            <p:cNvSpPr/>
            <p:nvPr/>
          </p:nvSpPr>
          <p:spPr>
            <a:xfrm>
              <a:off x="9210675" y="3419475"/>
              <a:ext cx="209550" cy="209550"/>
            </a:xfrm>
            <a:prstGeom prst="ellipse">
              <a:avLst/>
            </a:prstGeom>
            <a:solidFill>
              <a:srgbClr val="C8102E"/>
            </a:solidFill>
            <a:ln>
              <a:noFill/>
            </a:ln>
          </p:spPr>
        </p:sp>
        <p:sp>
          <p:nvSpPr>
            <p:cNvPr id="71" name="Line 71"/>
            <p:cNvSpPr/>
            <p:nvPr/>
          </p:nvSpPr>
          <p:spPr>
            <a:xfrm>
              <a:off x="8343900" y="1828800"/>
              <a:ext cx="1943100" cy="9525"/>
            </a:xfrm>
            <a:custGeom>
              <a:avLst/>
              <a:gdLst/>
              <a:ahLst/>
              <a:cxnLst/>
              <a:rect l="l" t="t" r="r" b="b"/>
              <a:pathLst>
                <a:path w="1943100" h="9525">
                  <a:moveTo>
                    <a:pt x="0" y="0"/>
                  </a:moveTo>
                  <a:lnTo>
                    <a:pt x="1943100" y="0"/>
                  </a:lnTo>
                </a:path>
              </a:pathLst>
            </a:custGeom>
            <a:noFill/>
            <a:ln w="19050">
              <a:solidFill>
                <a:srgbClr val="C8102E"/>
              </a:solidFill>
            </a:ln>
          </p:spPr>
        </p:sp>
        <p:sp>
          <p:nvSpPr>
            <p:cNvPr id="72" name="TextBox 72"/>
            <p:cNvSpPr txBox="1"/>
            <p:nvPr/>
          </p:nvSpPr>
          <p:spPr>
            <a:xfrm>
              <a:off x="8331518" y="1952149"/>
              <a:ext cx="543530" cy="198120"/>
            </a:xfrm>
            <a:prstGeom prst="rect">
              <a:avLst/>
            </a:prstGeom>
            <a:noFill/>
            <a:ln>
              <a:noFill/>
            </a:ln>
          </p:spPr>
          <p:txBody>
            <a:bodyPr wrap="none" lIns="0" tIns="0" rIns="0" bIns="0" anchor="t" anchorCtr="0">
              <a:spAutoFit/>
            </a:bodyPr>
            <a:lstStyle/>
            <a:p>
              <a:pPr algn="l"/>
              <a:r>
                <a:rPr lang="zh-CN" sz="975" b="1" dirty="0">
                  <a:solidFill>
                    <a:srgbClr val="C8102E"/>
                  </a:solidFill>
                  <a:latin typeface="Arial Black"/>
                  <a:ea typeface="SimHei"/>
                  <a:cs typeface="Arial Black"/>
                </a:rPr>
                <a:t>2026-Q1</a:t>
              </a:r>
            </a:p>
          </p:txBody>
        </p:sp>
        <p:sp>
          <p:nvSpPr>
            <p:cNvPr id="73" name="TextBox 73"/>
            <p:cNvSpPr txBox="1"/>
            <p:nvPr/>
          </p:nvSpPr>
          <p:spPr>
            <a:xfrm>
              <a:off x="8331518" y="2180749"/>
              <a:ext cx="1267070" cy="198120"/>
            </a:xfrm>
            <a:prstGeom prst="rect">
              <a:avLst/>
            </a:prstGeom>
            <a:noFill/>
            <a:ln>
              <a:noFill/>
            </a:ln>
          </p:spPr>
          <p:txBody>
            <a:bodyPr wrap="none" lIns="0" tIns="0" rIns="0" bIns="0" anchor="t" anchorCtr="0">
              <a:spAutoFit/>
            </a:bodyPr>
            <a:lstStyle/>
            <a:p>
              <a:pPr algn="l"/>
              <a:r>
                <a:rPr lang="zh-CN" sz="975" b="1" dirty="0">
                  <a:solidFill>
                    <a:srgbClr val="C8102E"/>
                  </a:solidFill>
                  <a:latin typeface="Arial Black"/>
                  <a:ea typeface="SimHei"/>
                  <a:cs typeface="Arial Black"/>
                </a:rPr>
                <a:t>ANTHROPIC TAKES #1</a:t>
              </a:r>
            </a:p>
          </p:txBody>
        </p:sp>
        <p:sp>
          <p:nvSpPr>
            <p:cNvPr id="74" name="TextBox 74"/>
            <p:cNvSpPr txBox="1"/>
            <p:nvPr/>
          </p:nvSpPr>
          <p:spPr>
            <a:xfrm>
              <a:off x="8333422" y="2368391"/>
              <a:ext cx="1643658" cy="167640"/>
            </a:xfrm>
            <a:prstGeom prst="rect">
              <a:avLst/>
            </a:prstGeom>
            <a:noFill/>
            <a:ln>
              <a:noFill/>
            </a:ln>
          </p:spPr>
          <p:txBody>
            <a:bodyPr wrap="none" lIns="0" tIns="0" rIns="0" bIns="0" anchor="t" anchorCtr="0">
              <a:spAutoFit/>
            </a:bodyPr>
            <a:lstStyle/>
            <a:p>
              <a:pPr algn="l"/>
              <a:r>
                <a:rPr lang="zh-CN" sz="825" dirty="0">
                  <a:solidFill>
                    <a:srgbClr val="111111"/>
                  </a:solidFill>
                  <a:latin typeface="Times New Roman"/>
                  <a:ea typeface="SimSun"/>
                  <a:cs typeface="Times New Roman"/>
                </a:rPr>
                <a:t>31.4 % vs OpenAI 29.0 % — first</a:t>
              </a:r>
            </a:p>
          </p:txBody>
        </p:sp>
        <p:sp>
          <p:nvSpPr>
            <p:cNvPr id="75" name="TextBox 75"/>
            <p:cNvSpPr txBox="1"/>
            <p:nvPr/>
          </p:nvSpPr>
          <p:spPr>
            <a:xfrm>
              <a:off x="8333422" y="2501741"/>
              <a:ext cx="1731669" cy="167640"/>
            </a:xfrm>
            <a:prstGeom prst="rect">
              <a:avLst/>
            </a:prstGeom>
            <a:noFill/>
            <a:ln>
              <a:noFill/>
            </a:ln>
          </p:spPr>
          <p:txBody>
            <a:bodyPr wrap="none" lIns="0" tIns="0" rIns="0" bIns="0" anchor="t" anchorCtr="0">
              <a:spAutoFit/>
            </a:bodyPr>
            <a:lstStyle/>
            <a:p>
              <a:pPr algn="l"/>
              <a:r>
                <a:rPr lang="zh-CN" sz="825" dirty="0">
                  <a:solidFill>
                    <a:srgbClr val="111111"/>
                  </a:solidFill>
                  <a:latin typeface="Times New Roman"/>
                  <a:ea typeface="SimSun"/>
                  <a:cs typeface="Times New Roman"/>
                </a:rPr>
                <a:t>non-OpenAI lab in the #1 revenue</a:t>
              </a:r>
            </a:p>
          </p:txBody>
        </p:sp>
        <p:sp>
          <p:nvSpPr>
            <p:cNvPr id="76" name="TextBox 76"/>
            <p:cNvSpPr txBox="1"/>
            <p:nvPr/>
          </p:nvSpPr>
          <p:spPr>
            <a:xfrm>
              <a:off x="8333422" y="2635091"/>
              <a:ext cx="1814179" cy="167640"/>
            </a:xfrm>
            <a:prstGeom prst="rect">
              <a:avLst/>
            </a:prstGeom>
            <a:noFill/>
            <a:ln>
              <a:noFill/>
            </a:ln>
          </p:spPr>
          <p:txBody>
            <a:bodyPr wrap="none" lIns="0" tIns="0" rIns="0" bIns="0" anchor="t" anchorCtr="0">
              <a:spAutoFit/>
            </a:bodyPr>
            <a:lstStyle/>
            <a:p>
              <a:pPr algn="l"/>
              <a:r>
                <a:rPr lang="zh-CN" sz="825" dirty="0">
                  <a:solidFill>
                    <a:srgbClr val="111111"/>
                  </a:solidFill>
                  <a:latin typeface="Times New Roman"/>
                  <a:ea typeface="SimSun"/>
                  <a:cs typeface="Times New Roman"/>
                </a:rPr>
                <a:t>spot since the modern era began.</a:t>
              </a:r>
            </a:p>
          </p:txBody>
        </p:sp>
      </p:grpSp>
      <p:grpSp>
        <p:nvGrpSpPr>
          <p:cNvPr id="86" name="Group 86"/>
          <p:cNvGrpSpPr/>
          <p:nvPr/>
        </p:nvGrpSpPr>
        <p:grpSpPr>
          <a:xfrm>
            <a:off x="9617392" y="3429000"/>
            <a:ext cx="1964604" cy="1926431"/>
            <a:chOff x="9617392" y="3429000"/>
            <a:chExt cx="1964604" cy="1926431"/>
          </a:xfrm>
        </p:grpSpPr>
        <p:sp>
          <p:nvSpPr>
            <p:cNvPr id="78" name="Line 78"/>
            <p:cNvSpPr/>
            <p:nvPr/>
          </p:nvSpPr>
          <p:spPr>
            <a:xfrm>
              <a:off x="10601325" y="3714750"/>
              <a:ext cx="9525" cy="666750"/>
            </a:xfrm>
            <a:custGeom>
              <a:avLst/>
              <a:gdLst/>
              <a:ahLst/>
              <a:cxnLst/>
              <a:rect l="l" t="t" r="r" b="b"/>
              <a:pathLst>
                <a:path w="9525" h="666750">
                  <a:moveTo>
                    <a:pt x="0" y="0"/>
                  </a:moveTo>
                  <a:lnTo>
                    <a:pt x="0" y="666750"/>
                  </a:lnTo>
                </a:path>
              </a:pathLst>
            </a:custGeom>
            <a:noFill/>
            <a:ln w="9525">
              <a:solidFill>
                <a:srgbClr val="111111"/>
              </a:solidFill>
            </a:ln>
          </p:spPr>
        </p:sp>
        <p:sp>
          <p:nvSpPr>
            <p:cNvPr id="79" name="Ellipse 79"/>
            <p:cNvSpPr/>
            <p:nvPr/>
          </p:nvSpPr>
          <p:spPr>
            <a:xfrm>
              <a:off x="10506075" y="3429000"/>
              <a:ext cx="190500" cy="190500"/>
            </a:xfrm>
            <a:prstGeom prst="ellipse">
              <a:avLst/>
            </a:prstGeom>
            <a:solidFill>
              <a:srgbClr val="111111"/>
            </a:solidFill>
            <a:ln>
              <a:noFill/>
            </a:ln>
          </p:spPr>
        </p:sp>
        <p:sp>
          <p:nvSpPr>
            <p:cNvPr id="80" name="Line 80"/>
            <p:cNvSpPr/>
            <p:nvPr/>
          </p:nvSpPr>
          <p:spPr>
            <a:xfrm>
              <a:off x="9629775" y="4381500"/>
              <a:ext cx="1943100" cy="9525"/>
            </a:xfrm>
            <a:custGeom>
              <a:avLst/>
              <a:gdLst/>
              <a:ahLst/>
              <a:cxnLst/>
              <a:rect l="l" t="t" r="r" b="b"/>
              <a:pathLst>
                <a:path w="1943100" h="9525">
                  <a:moveTo>
                    <a:pt x="0" y="0"/>
                  </a:moveTo>
                  <a:lnTo>
                    <a:pt x="1943100" y="0"/>
                  </a:lnTo>
                </a:path>
              </a:pathLst>
            </a:custGeom>
            <a:noFill/>
            <a:ln w="19050">
              <a:solidFill>
                <a:srgbClr val="111111"/>
              </a:solidFill>
            </a:ln>
          </p:spPr>
        </p:sp>
        <p:sp>
          <p:nvSpPr>
            <p:cNvPr id="81" name="TextBox 81"/>
            <p:cNvSpPr txBox="1"/>
            <p:nvPr/>
          </p:nvSpPr>
          <p:spPr>
            <a:xfrm>
              <a:off x="9617392" y="4504849"/>
              <a:ext cx="550356" cy="198120"/>
            </a:xfrm>
            <a:prstGeom prst="rect">
              <a:avLst/>
            </a:prstGeom>
            <a:noFill/>
            <a:ln>
              <a:noFill/>
            </a:ln>
          </p:spPr>
          <p:txBody>
            <a:bodyPr wrap="none" lIns="0" tIns="0" rIns="0" bIns="0" anchor="t" anchorCtr="0">
              <a:spAutoFit/>
            </a:bodyPr>
            <a:lstStyle/>
            <a:p>
              <a:pPr algn="l"/>
              <a:r>
                <a:rPr lang="zh-CN" sz="975" b="1" dirty="0">
                  <a:solidFill>
                    <a:srgbClr val="C8102E"/>
                  </a:solidFill>
                  <a:latin typeface="Arial Black"/>
                  <a:ea typeface="SimHei"/>
                  <a:cs typeface="Arial Black"/>
                </a:rPr>
                <a:t>2026-04</a:t>
              </a:r>
            </a:p>
          </p:txBody>
        </p:sp>
        <p:sp>
          <p:nvSpPr>
            <p:cNvPr id="82" name="TextBox 82"/>
            <p:cNvSpPr txBox="1"/>
            <p:nvPr/>
          </p:nvSpPr>
          <p:spPr>
            <a:xfrm>
              <a:off x="9617392" y="4733449"/>
              <a:ext cx="1546930" cy="198120"/>
            </a:xfrm>
            <a:prstGeom prst="rect">
              <a:avLst/>
            </a:prstGeom>
            <a:noFill/>
            <a:ln>
              <a:noFill/>
            </a:ln>
          </p:spPr>
          <p:txBody>
            <a:bodyPr wrap="none" lIns="0" tIns="0" rIns="0" bIns="0" anchor="t" anchorCtr="0">
              <a:spAutoFit/>
            </a:bodyPr>
            <a:lstStyle/>
            <a:p>
              <a:pPr algn="l"/>
              <a:r>
                <a:rPr lang="zh-CN" sz="975" b="1" dirty="0">
                  <a:solidFill>
                    <a:srgbClr val="111111"/>
                  </a:solidFill>
                  <a:latin typeface="Arial Black"/>
                  <a:ea typeface="SimHei"/>
                  <a:cs typeface="Arial Black"/>
                </a:rPr>
                <a:t>AI INDEX 2026 PUBLISHED</a:t>
              </a:r>
            </a:p>
          </p:txBody>
        </p:sp>
        <p:sp>
          <p:nvSpPr>
            <p:cNvPr id="83" name="TextBox 83"/>
            <p:cNvSpPr txBox="1"/>
            <p:nvPr/>
          </p:nvSpPr>
          <p:spPr>
            <a:xfrm>
              <a:off x="9619298" y="4921091"/>
              <a:ext cx="1880187" cy="167640"/>
            </a:xfrm>
            <a:prstGeom prst="rect">
              <a:avLst/>
            </a:prstGeom>
            <a:noFill/>
            <a:ln>
              <a:noFill/>
            </a:ln>
          </p:spPr>
          <p:txBody>
            <a:bodyPr wrap="none" lIns="0" tIns="0" rIns="0" bIns="0" anchor="t" anchorCtr="0">
              <a:spAutoFit/>
            </a:bodyPr>
            <a:lstStyle/>
            <a:p>
              <a:pPr algn="l"/>
              <a:r>
                <a:rPr lang="zh-CN" sz="825" dirty="0">
                  <a:solidFill>
                    <a:srgbClr val="111111"/>
                  </a:solidFill>
                  <a:latin typeface="Times New Roman"/>
                  <a:ea typeface="SimSun"/>
                  <a:cs typeface="Times New Roman"/>
                </a:rPr>
                <a:t>First year SWE-bench Verified hits</a:t>
              </a:r>
            </a:p>
          </p:txBody>
        </p:sp>
        <p:sp>
          <p:nvSpPr>
            <p:cNvPr id="84" name="TextBox 84"/>
            <p:cNvSpPr txBox="1"/>
            <p:nvPr/>
          </p:nvSpPr>
          <p:spPr>
            <a:xfrm>
              <a:off x="9619298" y="5054441"/>
              <a:ext cx="1962698" cy="167640"/>
            </a:xfrm>
            <a:prstGeom prst="rect">
              <a:avLst/>
            </a:prstGeom>
            <a:noFill/>
            <a:ln>
              <a:noFill/>
            </a:ln>
          </p:spPr>
          <p:txBody>
            <a:bodyPr wrap="none" lIns="0" tIns="0" rIns="0" bIns="0" anchor="t" anchorCtr="0">
              <a:spAutoFit/>
            </a:bodyPr>
            <a:lstStyle/>
            <a:p>
              <a:pPr algn="l"/>
              <a:r>
                <a:rPr lang="zh-CN" sz="825" dirty="0">
                  <a:solidFill>
                    <a:srgbClr val="111111"/>
                  </a:solidFill>
                  <a:latin typeface="Times New Roman"/>
                  <a:ea typeface="SimSun"/>
                  <a:cs typeface="Times New Roman"/>
                </a:rPr>
                <a:t>~100 % of human baseline; benchmark</a:t>
              </a:r>
            </a:p>
          </p:txBody>
        </p:sp>
        <p:sp>
          <p:nvSpPr>
            <p:cNvPr id="85" name="TextBox 85"/>
            <p:cNvSpPr txBox="1"/>
            <p:nvPr/>
          </p:nvSpPr>
          <p:spPr>
            <a:xfrm>
              <a:off x="9619298" y="5187791"/>
              <a:ext cx="1808678" cy="167640"/>
            </a:xfrm>
            <a:prstGeom prst="rect">
              <a:avLst/>
            </a:prstGeom>
            <a:noFill/>
            <a:ln>
              <a:noFill/>
            </a:ln>
          </p:spPr>
          <p:txBody>
            <a:bodyPr wrap="none" lIns="0" tIns="0" rIns="0" bIns="0" anchor="t" anchorCtr="0">
              <a:spAutoFit/>
            </a:bodyPr>
            <a:lstStyle/>
            <a:p>
              <a:pPr algn="l"/>
              <a:r>
                <a:rPr lang="zh-CN" sz="825" dirty="0">
                  <a:solidFill>
                    <a:srgbClr val="111111"/>
                  </a:solidFill>
                  <a:latin typeface="Times New Roman"/>
                  <a:ea typeface="SimSun"/>
                  <a:cs typeface="Times New Roman"/>
                </a:rPr>
                <a:t>half-life now months, not years.</a:t>
              </a:r>
            </a:p>
          </p:txBody>
        </p:sp>
      </p:grpSp>
      <p:sp>
        <p:nvSpPr>
          <p:cNvPr id="87" name="Line 87"/>
          <p:cNvSpPr/>
          <p:nvPr/>
        </p:nvSpPr>
        <p:spPr>
          <a:xfrm>
            <a:off x="457200" y="5715000"/>
            <a:ext cx="11277600" cy="9525"/>
          </a:xfrm>
          <a:custGeom>
            <a:avLst/>
            <a:gdLst/>
            <a:ahLst/>
            <a:cxnLst/>
            <a:rect l="l" t="t" r="r" b="b"/>
            <a:pathLst>
              <a:path w="11277600" h="9525">
                <a:moveTo>
                  <a:pt x="0" y="0"/>
                </a:moveTo>
                <a:lnTo>
                  <a:pt x="11277600" y="0"/>
                </a:lnTo>
              </a:path>
            </a:pathLst>
          </a:custGeom>
          <a:noFill/>
          <a:ln w="19050">
            <a:solidFill>
              <a:srgbClr val="111111"/>
            </a:solidFill>
          </a:ln>
        </p:spPr>
      </p:sp>
      <p:grpSp>
        <p:nvGrpSpPr>
          <p:cNvPr id="92" name="Group 92"/>
          <p:cNvGrpSpPr/>
          <p:nvPr/>
        </p:nvGrpSpPr>
        <p:grpSpPr>
          <a:xfrm>
            <a:off x="443865" y="5868352"/>
            <a:ext cx="11290935" cy="663417"/>
            <a:chOff x="443865" y="5868352"/>
            <a:chExt cx="11290935" cy="663417"/>
          </a:xfrm>
        </p:grpSpPr>
        <p:sp>
          <p:nvSpPr>
            <p:cNvPr id="88" name="TextBox 88"/>
            <p:cNvSpPr txBox="1"/>
            <p:nvPr/>
          </p:nvSpPr>
          <p:spPr>
            <a:xfrm>
              <a:off x="443865" y="5868352"/>
              <a:ext cx="3018494" cy="213360"/>
            </a:xfrm>
            <a:prstGeom prst="rect">
              <a:avLst/>
            </a:prstGeom>
            <a:noFill/>
            <a:ln>
              <a:noFill/>
            </a:ln>
          </p:spPr>
          <p:txBody>
            <a:bodyPr wrap="none" lIns="0" tIns="0" rIns="0" bIns="0" anchor="t" anchorCtr="0">
              <a:spAutoFit/>
            </a:bodyPr>
            <a:lstStyle/>
            <a:p>
              <a:pPr algn="l"/>
              <a:r>
                <a:rPr lang="zh-CN" sz="1050" b="1" dirty="0">
                  <a:solidFill>
                    <a:srgbClr val="111111"/>
                  </a:solidFill>
                  <a:latin typeface="Arial Black"/>
                  <a:ea typeface="SimHei"/>
                  <a:cs typeface="Arial Black"/>
                </a:rPr>
                <a:t>SIXTEEN MONTHS, THREE STRUCTURAL SHIFTS</a:t>
              </a:r>
            </a:p>
          </p:txBody>
        </p:sp>
        <p:sp>
          <p:nvSpPr>
            <p:cNvPr id="89" name="Line 89"/>
            <p:cNvSpPr/>
            <p:nvPr/>
          </p:nvSpPr>
          <p:spPr>
            <a:xfrm>
              <a:off x="457200" y="6076950"/>
              <a:ext cx="11277600" cy="9525"/>
            </a:xfrm>
            <a:custGeom>
              <a:avLst/>
              <a:gdLst/>
              <a:ahLst/>
              <a:cxnLst/>
              <a:rect l="l" t="t" r="r" b="b"/>
              <a:pathLst>
                <a:path w="11277600" h="9525">
                  <a:moveTo>
                    <a:pt x="0" y="0"/>
                  </a:moveTo>
                  <a:lnTo>
                    <a:pt x="11277600" y="0"/>
                  </a:lnTo>
                </a:path>
              </a:pathLst>
            </a:custGeom>
            <a:noFill/>
            <a:ln w="4762">
              <a:solidFill>
                <a:srgbClr val="111111"/>
              </a:solidFill>
            </a:ln>
          </p:spPr>
        </p:sp>
        <p:sp>
          <p:nvSpPr>
            <p:cNvPr id="90" name="TextBox 90"/>
            <p:cNvSpPr txBox="1"/>
            <p:nvPr/>
          </p:nvSpPr>
          <p:spPr>
            <a:xfrm>
              <a:off x="444818" y="6181249"/>
              <a:ext cx="11024140" cy="198120"/>
            </a:xfrm>
            <a:prstGeom prst="rect">
              <a:avLst/>
            </a:prstGeom>
            <a:noFill/>
            <a:ln>
              <a:noFill/>
            </a:ln>
          </p:spPr>
          <p:txBody>
            <a:bodyPr wrap="none" lIns="0" tIns="0" rIns="0" bIns="0" anchor="t" anchorCtr="0">
              <a:spAutoFit/>
            </a:bodyPr>
            <a:lstStyle/>
            <a:p>
              <a:pPr algn="l"/>
              <a:r>
                <a:rPr lang="zh-CN" sz="975" dirty="0">
                  <a:solidFill>
                    <a:srgbClr val="111111"/>
                  </a:solidFill>
                  <a:latin typeface="Times New Roman"/>
                  <a:ea typeface="SimSun"/>
                  <a:cs typeface="Times New Roman"/>
                </a:rPr>
                <a:t>Compliance: from one rulebook to three. Compute: from $100 M runs to $500 M ones. Capability: from benchmarks lasting years to benchmarks lasting months. None of these</a:t>
              </a:r>
            </a:p>
          </p:txBody>
        </p:sp>
        <p:sp>
          <p:nvSpPr>
            <p:cNvPr id="91" name="TextBox 91"/>
            <p:cNvSpPr txBox="1"/>
            <p:nvPr/>
          </p:nvSpPr>
          <p:spPr>
            <a:xfrm>
              <a:off x="444818" y="6333649"/>
              <a:ext cx="10380559" cy="198120"/>
            </a:xfrm>
            <a:prstGeom prst="rect">
              <a:avLst/>
            </a:prstGeom>
            <a:noFill/>
            <a:ln>
              <a:noFill/>
            </a:ln>
          </p:spPr>
          <p:txBody>
            <a:bodyPr wrap="none" lIns="0" tIns="0" rIns="0" bIns="0" anchor="t" anchorCtr="0">
              <a:spAutoFit/>
            </a:bodyPr>
            <a:lstStyle/>
            <a:p>
              <a:pPr algn="l"/>
              <a:r>
                <a:rPr lang="zh-CN" sz="975" dirty="0">
                  <a:solidFill>
                    <a:srgbClr val="111111"/>
                  </a:solidFill>
                  <a:latin typeface="Times New Roman"/>
                  <a:ea typeface="SimSun"/>
                  <a:cs typeface="Times New Roman"/>
                </a:rPr>
                <a:t>unwinds on the present trajectory — and the late-2027 projection of $1–3 B per run, plus an inference-spread doubling, raises the bar for the next twelve months.</a:t>
              </a:r>
            </a:p>
          </p:txBody>
        </p:sp>
      </p:grpSp>
      <p:grpSp>
        <p:nvGrpSpPr>
          <p:cNvPr id="96" name="Group 96"/>
          <p:cNvGrpSpPr/>
          <p:nvPr/>
        </p:nvGrpSpPr>
        <p:grpSpPr>
          <a:xfrm>
            <a:off x="448628" y="6553200"/>
            <a:ext cx="11294744" cy="254794"/>
            <a:chOff x="448628" y="6553200"/>
            <a:chExt cx="11294744" cy="254794"/>
          </a:xfrm>
        </p:grpSpPr>
        <p:sp>
          <p:nvSpPr>
            <p:cNvPr id="93" name="Rectangle 93"/>
            <p:cNvSpPr/>
            <p:nvPr/>
          </p:nvSpPr>
          <p:spPr>
            <a:xfrm>
              <a:off x="457200" y="6553200"/>
              <a:ext cx="11277600" cy="19050"/>
            </a:xfrm>
            <a:prstGeom prst="rect">
              <a:avLst/>
            </a:prstGeom>
            <a:solidFill>
              <a:srgbClr val="C8102E"/>
            </a:solidFill>
            <a:ln>
              <a:noFill/>
            </a:ln>
          </p:spPr>
        </p:sp>
        <p:sp>
          <p:nvSpPr>
            <p:cNvPr id="94" name="TextBox 94"/>
            <p:cNvSpPr txBox="1"/>
            <p:nvPr/>
          </p:nvSpPr>
          <p:spPr>
            <a:xfrm>
              <a:off x="448628" y="6670834"/>
              <a:ext cx="5938310" cy="137160"/>
            </a:xfrm>
            <a:prstGeom prst="rect">
              <a:avLst/>
            </a:prstGeom>
            <a:noFill/>
            <a:ln>
              <a:noFill/>
            </a:ln>
          </p:spPr>
          <p:txBody>
            <a:bodyPr wrap="none" lIns="0" tIns="0" rIns="0" bIns="0" anchor="t" anchorCtr="0">
              <a:spAutoFit/>
            </a:bodyPr>
            <a:lstStyle/>
            <a:p>
              <a:pPr algn="l"/>
              <a:r>
                <a:rPr lang="zh-CN" sz="675" b="1" dirty="0">
                  <a:solidFill>
                    <a:srgbClr val="111111"/>
                  </a:solidFill>
                  <a:latin typeface="Consolas"/>
                  <a:ea typeface="Microsoft YaHei"/>
                  <a:cs typeface="Consolas"/>
                </a:rPr>
                <a:t>SOURCES STANFORD HAI · COUNTERPOINT · ONETRUST · WHITE HOUSE · EUROPEAN COMMISSION · CAC · DEEPSEEK PRESS · IEEE SPECTRUM</a:t>
              </a:r>
            </a:p>
          </p:txBody>
        </p:sp>
        <p:sp>
          <p:nvSpPr>
            <p:cNvPr id="95" name="TextBox 95"/>
            <p:cNvSpPr txBox="1"/>
            <p:nvPr/>
          </p:nvSpPr>
          <p:spPr>
            <a:xfrm>
              <a:off x="11196961" y="6670834"/>
              <a:ext cx="546411" cy="137160"/>
            </a:xfrm>
            <a:prstGeom prst="rect">
              <a:avLst/>
            </a:prstGeom>
            <a:noFill/>
            <a:ln>
              <a:noFill/>
            </a:ln>
          </p:spPr>
          <p:txBody>
            <a:bodyPr wrap="none" lIns="0" tIns="0" rIns="0" bIns="0" anchor="t" anchorCtr="0">
              <a:spAutoFit/>
            </a:bodyPr>
            <a:lstStyle/>
            <a:p>
              <a:pPr algn="r"/>
              <a:r>
                <a:rPr lang="zh-CN" sz="675" b="1" dirty="0">
                  <a:solidFill>
                    <a:srgbClr val="111111"/>
                  </a:solidFill>
                  <a:latin typeface="Consolas"/>
                  <a:ea typeface="Microsoft YaHei"/>
                  <a:cs typeface="Consolas"/>
                </a:rPr>
                <a:t>PAGE 09 / 10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400"/>
                                        <p:tgtEl>
                                          <p:spTgt spid="18"/>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wipe(left)">
                                      <p:cBhvr>
                                        <p:cTn id="11" dur="400"/>
                                        <p:tgtEl>
                                          <p:spTgt spid="32"/>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41"/>
                                        </p:tgtEl>
                                        <p:attrNameLst>
                                          <p:attrName>style.visibility</p:attrName>
                                        </p:attrNameLst>
                                      </p:cBhvr>
                                      <p:to>
                                        <p:strVal val="visible"/>
                                      </p:to>
                                    </p:set>
                                    <p:animEffect transition="in" filter="image">
                                      <p:cBhvr>
                                        <p:cTn id="15" dur="400"/>
                                        <p:tgtEl>
                                          <p:spTgt spid="41"/>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50"/>
                                        </p:tgtEl>
                                        <p:attrNameLst>
                                          <p:attrName>style.visibility</p:attrName>
                                        </p:attrNameLst>
                                      </p:cBhvr>
                                      <p:to>
                                        <p:strVal val="visible"/>
                                      </p:to>
                                    </p:set>
                                    <p:animEffect transition="in" filter="fade">
                                      <p:cBhvr>
                                        <p:cTn id="19" dur="400"/>
                                        <p:tgtEl>
                                          <p:spTgt spid="50"/>
                                        </p:tgtEl>
                                      </p:cBhvr>
                                    </p:animEffect>
                                  </p:childTnLst>
                                </p:cTn>
                              </p:par>
                            </p:childTnLst>
                          </p:cTn>
                        </p:par>
                        <p:par>
                          <p:cTn id="20" fill="hold">
                            <p:stCondLst>
                              <p:cond delay="3600"/>
                            </p:stCondLst>
                            <p:childTnLst>
                              <p:par>
                                <p:cTn id="21" presetID="22" presetClass="entr" presetSubtype="1" fill="hold" nodeType="afterEffect">
                                  <p:stCondLst>
                                    <p:cond delay="0"/>
                                  </p:stCondLst>
                                  <p:childTnLst>
                                    <p:set>
                                      <p:cBhvr>
                                        <p:cTn id="22" dur="1" fill="hold">
                                          <p:stCondLst>
                                            <p:cond delay="0"/>
                                          </p:stCondLst>
                                        </p:cTn>
                                        <p:tgtEl>
                                          <p:spTgt spid="59"/>
                                        </p:tgtEl>
                                        <p:attrNameLst>
                                          <p:attrName>style.visibility</p:attrName>
                                        </p:attrNameLst>
                                      </p:cBhvr>
                                      <p:to>
                                        <p:strVal val="visible"/>
                                      </p:to>
                                    </p:set>
                                    <p:animEffect transition="in" filter="wipe(left)">
                                      <p:cBhvr>
                                        <p:cTn id="23" dur="400"/>
                                        <p:tgtEl>
                                          <p:spTgt spid="59"/>
                                        </p:tgtEl>
                                      </p:cBhvr>
                                    </p:animEffect>
                                  </p:childTnLst>
                                </p:cTn>
                              </p:par>
                            </p:childTnLst>
                          </p:cTn>
                        </p:par>
                        <p:par>
                          <p:cTn id="24" fill="hold">
                            <p:stCondLst>
                              <p:cond delay="4500"/>
                            </p:stCondLst>
                            <p:childTnLst>
                              <p:par>
                                <p:cTn id="25" presetID="2" presetClass="entr" presetSubtype="4" fill="hold" nodeType="afterEffect">
                                  <p:stCondLst>
                                    <p:cond delay="0"/>
                                  </p:stCondLst>
                                  <p:childTnLst>
                                    <p:set>
                                      <p:cBhvr>
                                        <p:cTn id="26" dur="1" fill="hold">
                                          <p:stCondLst>
                                            <p:cond delay="0"/>
                                          </p:stCondLst>
                                        </p:cTn>
                                        <p:tgtEl>
                                          <p:spTgt spid="68"/>
                                        </p:tgtEl>
                                        <p:attrNameLst>
                                          <p:attrName>style.visibility</p:attrName>
                                        </p:attrNameLst>
                                      </p:cBhvr>
                                      <p:to>
                                        <p:strVal val="visible"/>
                                      </p:to>
                                    </p:set>
                                    <p:animEffect transition="in" filter="slide(fromBottom)">
                                      <p:cBhvr>
                                        <p:cTn id="27" dur="400"/>
                                        <p:tgtEl>
                                          <p:spTgt spid="68"/>
                                        </p:tgtEl>
                                      </p:cBhvr>
                                    </p:animEffect>
                                  </p:childTnLst>
                                </p:cTn>
                              </p:par>
                            </p:childTnLst>
                          </p:cTn>
                        </p:par>
                        <p:par>
                          <p:cTn id="28" fill="hold">
                            <p:stCondLst>
                              <p:cond delay="5400"/>
                            </p:stCondLst>
                            <p:childTnLst>
                              <p:par>
                                <p:cTn id="29" presetID="23" presetClass="entr" presetSubtype="0" fill="hold" nodeType="afterEffect">
                                  <p:stCondLst>
                                    <p:cond delay="0"/>
                                  </p:stCondLst>
                                  <p:childTnLst>
                                    <p:set>
                                      <p:cBhvr>
                                        <p:cTn id="30" dur="1" fill="hold">
                                          <p:stCondLst>
                                            <p:cond delay="0"/>
                                          </p:stCondLst>
                                        </p:cTn>
                                        <p:tgtEl>
                                          <p:spTgt spid="77"/>
                                        </p:tgtEl>
                                        <p:attrNameLst>
                                          <p:attrName>style.visibility</p:attrName>
                                        </p:attrNameLst>
                                      </p:cBhvr>
                                      <p:to>
                                        <p:strVal val="visible"/>
                                      </p:to>
                                    </p:set>
                                    <p:animEffect transition="in" filter="image">
                                      <p:cBhvr>
                                        <p:cTn id="31" dur="400"/>
                                        <p:tgtEl>
                                          <p:spTgt spid="77"/>
                                        </p:tgtEl>
                                      </p:cBhvr>
                                    </p:animEffect>
                                  </p:childTnLst>
                                </p:cTn>
                              </p:par>
                            </p:childTnLst>
                          </p:cTn>
                        </p:par>
                        <p:par>
                          <p:cTn id="32" fill="hold">
                            <p:stCondLst>
                              <p:cond delay="6300"/>
                            </p:stCondLst>
                            <p:childTnLst>
                              <p:par>
                                <p:cTn id="33" presetID="10" presetClass="entr" presetSubtype="0" fill="hold" nodeType="afterEffect">
                                  <p:stCondLst>
                                    <p:cond delay="0"/>
                                  </p:stCondLst>
                                  <p:childTnLst>
                                    <p:set>
                                      <p:cBhvr>
                                        <p:cTn id="34" dur="1" fill="hold">
                                          <p:stCondLst>
                                            <p:cond delay="0"/>
                                          </p:stCondLst>
                                        </p:cTn>
                                        <p:tgtEl>
                                          <p:spTgt spid="86"/>
                                        </p:tgtEl>
                                        <p:attrNameLst>
                                          <p:attrName>style.visibility</p:attrName>
                                        </p:attrNameLst>
                                      </p:cBhvr>
                                      <p:to>
                                        <p:strVal val="visible"/>
                                      </p:to>
                                    </p:set>
                                    <p:animEffect transition="in" filter="fade">
                                      <p:cBhvr>
                                        <p:cTn id="35" dur="400"/>
                                        <p:tgtEl>
                                          <p:spTgt spid="86"/>
                                        </p:tgtEl>
                                      </p:cBhvr>
                                    </p:animEffect>
                                  </p:childTnLst>
                                </p:cTn>
                              </p:par>
                            </p:childTnLst>
                          </p:cTn>
                        </p:par>
                        <p:par>
                          <p:cTn id="36" fill="hold">
                            <p:stCondLst>
                              <p:cond delay="7200"/>
                            </p:stCondLst>
                            <p:childTnLst>
                              <p:par>
                                <p:cTn id="37" presetID="22" presetClass="entr" presetSubtype="1" fill="hold" nodeType="afterEffect">
                                  <p:stCondLst>
                                    <p:cond delay="0"/>
                                  </p:stCondLst>
                                  <p:childTnLst>
                                    <p:set>
                                      <p:cBhvr>
                                        <p:cTn id="38" dur="1" fill="hold">
                                          <p:stCondLst>
                                            <p:cond delay="0"/>
                                          </p:stCondLst>
                                        </p:cTn>
                                        <p:tgtEl>
                                          <p:spTgt spid="92"/>
                                        </p:tgtEl>
                                        <p:attrNameLst>
                                          <p:attrName>style.visibility</p:attrName>
                                        </p:attrNameLst>
                                      </p:cBhvr>
                                      <p:to>
                                        <p:strVal val="visible"/>
                                      </p:to>
                                    </p:set>
                                    <p:animEffect transition="in" filter="wipe(left)">
                                      <p:cBhvr>
                                        <p:cTn id="39" dur="4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32" grpId="0"/>
      <p:bldP spid="41" grpId="0"/>
      <p:bldP spid="50" grpId="0"/>
      <p:bldP spid="59" grpId="0"/>
      <p:bldP spid="68" grpId="0"/>
      <p:bldP spid="77" grpId="0"/>
      <p:bldP spid="86" grpId="0"/>
      <p:bldP spid="9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solidFill>
            <a:srgbClr val="C8102E"/>
          </a:solidFill>
          <a:ln>
            <a:noFill/>
          </a:ln>
        </p:spPr>
      </p:sp>
      <p:grpSp>
        <p:nvGrpSpPr>
          <p:cNvPr id="8" name="Group 8"/>
          <p:cNvGrpSpPr/>
          <p:nvPr/>
        </p:nvGrpSpPr>
        <p:grpSpPr>
          <a:xfrm>
            <a:off x="447675" y="166688"/>
            <a:ext cx="11296650" cy="166687"/>
            <a:chOff x="447675" y="166688"/>
            <a:chExt cx="11296650" cy="166687"/>
          </a:xfrm>
        </p:grpSpPr>
        <p:sp>
          <p:nvSpPr>
            <p:cNvPr id="4" name="Line 4"/>
            <p:cNvSpPr/>
            <p:nvPr/>
          </p:nvSpPr>
          <p:spPr>
            <a:xfrm>
              <a:off x="457200" y="323850"/>
              <a:ext cx="11277600" cy="9525"/>
            </a:xfrm>
            <a:custGeom>
              <a:avLst/>
              <a:gdLst/>
              <a:ahLst/>
              <a:cxnLst/>
              <a:rect l="l" t="t" r="r" b="b"/>
              <a:pathLst>
                <a:path w="11277600" h="9525">
                  <a:moveTo>
                    <a:pt x="0" y="0"/>
                  </a:moveTo>
                  <a:lnTo>
                    <a:pt x="11277600" y="0"/>
                  </a:lnTo>
                </a:path>
              </a:pathLst>
            </a:custGeom>
            <a:noFill/>
            <a:ln w="9525">
              <a:solidFill>
                <a:srgbClr val="111111"/>
              </a:solidFill>
            </a:ln>
          </p:spPr>
        </p:sp>
        <p:sp>
          <p:nvSpPr>
            <p:cNvPr id="5" name="TextBox 5"/>
            <p:cNvSpPr txBox="1"/>
            <p:nvPr/>
          </p:nvSpPr>
          <p:spPr>
            <a:xfrm>
              <a:off x="447675" y="166688"/>
              <a:ext cx="1909286" cy="152400"/>
            </a:xfrm>
            <a:prstGeom prst="rect">
              <a:avLst/>
            </a:prstGeom>
            <a:noFill/>
            <a:ln>
              <a:noFill/>
            </a:ln>
          </p:spPr>
          <p:txBody>
            <a:bodyPr wrap="none" lIns="0" tIns="0" rIns="0" bIns="0" anchor="t" anchorCtr="0">
              <a:spAutoFit/>
            </a:bodyPr>
            <a:lstStyle/>
            <a:p>
              <a:pPr algn="l"/>
              <a:r>
                <a:rPr lang="zh-CN" sz="750" b="1" dirty="0">
                  <a:solidFill>
                    <a:srgbClr val="111111"/>
                  </a:solidFill>
                  <a:latin typeface="Consolas"/>
                  <a:ea typeface="Microsoft YaHei"/>
                  <a:cs typeface="Consolas"/>
                </a:rPr>
                <a:t>THE AI INDUSTRY 2026 · ANNUAL REPORT</a:t>
              </a:r>
            </a:p>
          </p:txBody>
        </p:sp>
        <p:sp>
          <p:nvSpPr>
            <p:cNvPr id="6" name="TextBox 6"/>
            <p:cNvSpPr txBox="1"/>
            <p:nvPr/>
          </p:nvSpPr>
          <p:spPr>
            <a:xfrm>
              <a:off x="5755684" y="166688"/>
              <a:ext cx="680633" cy="152400"/>
            </a:xfrm>
            <a:prstGeom prst="rect">
              <a:avLst/>
            </a:prstGeom>
            <a:noFill/>
            <a:ln>
              <a:noFill/>
            </a:ln>
          </p:spPr>
          <p:txBody>
            <a:bodyPr wrap="none" lIns="0" tIns="0" rIns="0" bIns="0" anchor="t" anchorCtr="0">
              <a:spAutoFit/>
            </a:bodyPr>
            <a:lstStyle/>
            <a:p>
              <a:pPr algn="ctr"/>
              <a:r>
                <a:rPr lang="zh-CN" sz="750" b="1" dirty="0">
                  <a:solidFill>
                    <a:srgbClr val="111111"/>
                  </a:solidFill>
                  <a:latin typeface="Consolas"/>
                  <a:ea typeface="Microsoft YaHei"/>
                  <a:cs typeface="Consolas"/>
                </a:rPr>
                <a:t>CLOSING READ</a:t>
              </a:r>
            </a:p>
          </p:txBody>
        </p:sp>
        <p:sp>
          <p:nvSpPr>
            <p:cNvPr id="7" name="TextBox 7"/>
            <p:cNvSpPr txBox="1"/>
            <p:nvPr/>
          </p:nvSpPr>
          <p:spPr>
            <a:xfrm>
              <a:off x="10454616" y="166688"/>
              <a:ext cx="1289709" cy="152400"/>
            </a:xfrm>
            <a:prstGeom prst="rect">
              <a:avLst/>
            </a:prstGeom>
            <a:noFill/>
            <a:ln>
              <a:noFill/>
            </a:ln>
          </p:spPr>
          <p:txBody>
            <a:bodyPr wrap="none" lIns="0" tIns="0" rIns="0" bIns="0" anchor="t" anchorCtr="0">
              <a:spAutoFit/>
            </a:bodyPr>
            <a:lstStyle/>
            <a:p>
              <a:pPr algn="r"/>
              <a:r>
                <a:rPr lang="zh-CN" sz="750" b="1" dirty="0">
                  <a:solidFill>
                    <a:srgbClr val="111111"/>
                  </a:solidFill>
                  <a:latin typeface="Consolas"/>
                  <a:ea typeface="Microsoft YaHei"/>
                  <a:cs typeface="Consolas"/>
                </a:rPr>
                <a:t>VOL. 1 · NO. 1 · MAY 2026</a:t>
              </a:r>
            </a:p>
          </p:txBody>
        </p:sp>
      </p:grpSp>
      <p:grpSp>
        <p:nvGrpSpPr>
          <p:cNvPr id="13" name="Group 13"/>
          <p:cNvGrpSpPr/>
          <p:nvPr/>
        </p:nvGrpSpPr>
        <p:grpSpPr>
          <a:xfrm>
            <a:off x="411480" y="463391"/>
            <a:ext cx="11323320" cy="1032034"/>
            <a:chOff x="411480" y="463391"/>
            <a:chExt cx="11323320" cy="1032034"/>
          </a:xfrm>
        </p:grpSpPr>
        <p:sp>
          <p:nvSpPr>
            <p:cNvPr id="9" name="TextBox 9"/>
            <p:cNvSpPr txBox="1"/>
            <p:nvPr/>
          </p:nvSpPr>
          <p:spPr>
            <a:xfrm>
              <a:off x="446722" y="463391"/>
              <a:ext cx="1233857" cy="167640"/>
            </a:xfrm>
            <a:prstGeom prst="rect">
              <a:avLst/>
            </a:prstGeom>
            <a:noFill/>
            <a:ln>
              <a:noFill/>
            </a:ln>
          </p:spPr>
          <p:txBody>
            <a:bodyPr wrap="none" lIns="0" tIns="0" rIns="0" bIns="0" anchor="t" anchorCtr="0">
              <a:spAutoFit/>
            </a:bodyPr>
            <a:lstStyle/>
            <a:p>
              <a:pPr algn="l"/>
              <a:r>
                <a:rPr lang="zh-CN" sz="825" b="1" dirty="0">
                  <a:solidFill>
                    <a:srgbClr val="C8102E"/>
                  </a:solidFill>
                  <a:latin typeface="Arial Black"/>
                  <a:ea typeface="SimHei"/>
                  <a:cs typeface="Arial Black"/>
                </a:rPr>
                <a:t>SECTION VIII · CLOSING</a:t>
              </a:r>
            </a:p>
          </p:txBody>
        </p:sp>
        <p:sp>
          <p:nvSpPr>
            <p:cNvPr id="10" name="TextBox 10"/>
            <p:cNvSpPr txBox="1"/>
            <p:nvPr/>
          </p:nvSpPr>
          <p:spPr>
            <a:xfrm>
              <a:off x="411480" y="659130"/>
              <a:ext cx="6997103" cy="731520"/>
            </a:xfrm>
            <a:prstGeom prst="rect">
              <a:avLst/>
            </a:prstGeom>
            <a:noFill/>
            <a:ln>
              <a:noFill/>
            </a:ln>
          </p:spPr>
          <p:txBody>
            <a:bodyPr wrap="none" lIns="0" tIns="0" rIns="0" bIns="0" anchor="t" anchorCtr="0">
              <a:spAutoFit/>
            </a:bodyPr>
            <a:lstStyle/>
            <a:p>
              <a:pPr algn="l"/>
              <a:r>
                <a:rPr lang="zh-CN" sz="3600" b="1" dirty="0">
                  <a:solidFill>
                    <a:srgbClr val="111111"/>
                  </a:solidFill>
                  <a:latin typeface="Impact"/>
                  <a:ea typeface="SimHei"/>
                  <a:cs typeface="Impact"/>
                </a:rPr>
                <a:t>WHAT CHANGED. WHAT DIDN'T.</a:t>
              </a:r>
            </a:p>
          </p:txBody>
        </p:sp>
        <p:sp>
          <p:nvSpPr>
            <p:cNvPr id="11" name="TextBox 11"/>
            <p:cNvSpPr txBox="1"/>
            <p:nvPr/>
          </p:nvSpPr>
          <p:spPr>
            <a:xfrm>
              <a:off x="441960" y="1184910"/>
              <a:ext cx="2990850" cy="243840"/>
            </a:xfrm>
            <a:prstGeom prst="rect">
              <a:avLst/>
            </a:prstGeom>
            <a:noFill/>
            <a:ln>
              <a:noFill/>
            </a:ln>
          </p:spPr>
          <p:txBody>
            <a:bodyPr wrap="none" lIns="0" tIns="0" rIns="0" bIns="0" anchor="t" anchorCtr="0">
              <a:spAutoFit/>
            </a:bodyPr>
            <a:lstStyle/>
            <a:p>
              <a:pPr algn="l"/>
              <a:r>
                <a:rPr lang="zh-CN" sz="1200" i="1" dirty="0">
                  <a:solidFill>
                    <a:srgbClr val="111111"/>
                  </a:solidFill>
                  <a:latin typeface="Times New Roman"/>
                  <a:ea typeface="SimSun"/>
                  <a:cs typeface="Times New Roman"/>
                </a:rPr>
                <a:t>Eight observations to carry forward.</a:t>
              </a:r>
            </a:p>
          </p:txBody>
        </p:sp>
        <p:sp>
          <p:nvSpPr>
            <p:cNvPr id="12" name="Line 12"/>
            <p:cNvSpPr/>
            <p:nvPr/>
          </p:nvSpPr>
          <p:spPr>
            <a:xfrm>
              <a:off x="457200" y="1485900"/>
              <a:ext cx="11277600" cy="9525"/>
            </a:xfrm>
            <a:custGeom>
              <a:avLst/>
              <a:gdLst/>
              <a:ahLst/>
              <a:cxnLst/>
              <a:rect l="l" t="t" r="r" b="b"/>
              <a:pathLst>
                <a:path w="11277600" h="9525">
                  <a:moveTo>
                    <a:pt x="0" y="0"/>
                  </a:moveTo>
                  <a:lnTo>
                    <a:pt x="11277600" y="0"/>
                  </a:lnTo>
                </a:path>
              </a:pathLst>
            </a:custGeom>
            <a:noFill/>
            <a:ln w="19050">
              <a:solidFill>
                <a:srgbClr val="111111"/>
              </a:solidFill>
            </a:ln>
          </p:spPr>
        </p:sp>
      </p:grpSp>
      <p:sp>
        <p:nvSpPr>
          <p:cNvPr id="14" name="Line 14"/>
          <p:cNvSpPr/>
          <p:nvPr/>
        </p:nvSpPr>
        <p:spPr>
          <a:xfrm>
            <a:off x="6096000" y="1714500"/>
            <a:ext cx="9525" cy="3429000"/>
          </a:xfrm>
          <a:custGeom>
            <a:avLst/>
            <a:gdLst/>
            <a:ahLst/>
            <a:cxnLst/>
            <a:rect l="l" t="t" r="r" b="b"/>
            <a:pathLst>
              <a:path w="9525" h="3429000">
                <a:moveTo>
                  <a:pt x="0" y="0"/>
                </a:moveTo>
                <a:lnTo>
                  <a:pt x="0" y="3429000"/>
                </a:lnTo>
              </a:path>
            </a:pathLst>
          </a:custGeom>
          <a:noFill/>
          <a:ln w="9525">
            <a:solidFill>
              <a:srgbClr val="111111"/>
            </a:solidFill>
          </a:ln>
        </p:spPr>
      </p:sp>
      <p:grpSp>
        <p:nvGrpSpPr>
          <p:cNvPr id="17" name="Group 17"/>
          <p:cNvGrpSpPr/>
          <p:nvPr/>
        </p:nvGrpSpPr>
        <p:grpSpPr>
          <a:xfrm>
            <a:off x="436245" y="1784032"/>
            <a:ext cx="5393055" cy="335280"/>
            <a:chOff x="436245" y="1784032"/>
            <a:chExt cx="5393055" cy="335280"/>
          </a:xfrm>
        </p:grpSpPr>
        <p:sp>
          <p:nvSpPr>
            <p:cNvPr id="15" name="TextBox 15"/>
            <p:cNvSpPr txBox="1"/>
            <p:nvPr/>
          </p:nvSpPr>
          <p:spPr>
            <a:xfrm>
              <a:off x="436245" y="1784032"/>
              <a:ext cx="931371" cy="335280"/>
            </a:xfrm>
            <a:prstGeom prst="rect">
              <a:avLst/>
            </a:prstGeom>
            <a:noFill/>
            <a:ln>
              <a:noFill/>
            </a:ln>
          </p:spPr>
          <p:txBody>
            <a:bodyPr wrap="none" lIns="0" tIns="0" rIns="0" bIns="0" anchor="t" anchorCtr="0">
              <a:spAutoFit/>
            </a:bodyPr>
            <a:lstStyle/>
            <a:p>
              <a:pPr algn="l"/>
              <a:r>
                <a:rPr lang="zh-CN" sz="1650" b="1" dirty="0">
                  <a:solidFill>
                    <a:srgbClr val="C8102E"/>
                  </a:solidFill>
                  <a:latin typeface="Impact"/>
                  <a:ea typeface="SimHei"/>
                  <a:cs typeface="Impact"/>
                </a:rPr>
                <a:t>CHANGED</a:t>
              </a:r>
            </a:p>
          </p:txBody>
        </p:sp>
        <p:sp>
          <p:nvSpPr>
            <p:cNvPr id="16" name="Line 16"/>
            <p:cNvSpPr/>
            <p:nvPr/>
          </p:nvSpPr>
          <p:spPr>
            <a:xfrm>
              <a:off x="457200" y="2095500"/>
              <a:ext cx="5372100" cy="9525"/>
            </a:xfrm>
            <a:custGeom>
              <a:avLst/>
              <a:gdLst/>
              <a:ahLst/>
              <a:cxnLst/>
              <a:rect l="l" t="t" r="r" b="b"/>
              <a:pathLst>
                <a:path w="5372100" h="9525">
                  <a:moveTo>
                    <a:pt x="0" y="0"/>
                  </a:moveTo>
                  <a:lnTo>
                    <a:pt x="5372100" y="0"/>
                  </a:lnTo>
                </a:path>
              </a:pathLst>
            </a:custGeom>
            <a:noFill/>
            <a:ln w="19050">
              <a:solidFill>
                <a:srgbClr val="C8102E"/>
              </a:solidFill>
            </a:ln>
          </p:spPr>
        </p:sp>
      </p:grpSp>
      <p:grpSp>
        <p:nvGrpSpPr>
          <p:cNvPr id="21" name="Group 21"/>
          <p:cNvGrpSpPr/>
          <p:nvPr/>
        </p:nvGrpSpPr>
        <p:grpSpPr>
          <a:xfrm>
            <a:off x="446722" y="2286952"/>
            <a:ext cx="4606100" cy="434817"/>
            <a:chOff x="446722" y="2286952"/>
            <a:chExt cx="4606100" cy="434817"/>
          </a:xfrm>
        </p:grpSpPr>
        <p:sp>
          <p:nvSpPr>
            <p:cNvPr id="18" name="TextBox 18"/>
            <p:cNvSpPr txBox="1"/>
            <p:nvPr/>
          </p:nvSpPr>
          <p:spPr>
            <a:xfrm>
              <a:off x="446722" y="2311241"/>
              <a:ext cx="119142" cy="167640"/>
            </a:xfrm>
            <a:prstGeom prst="rect">
              <a:avLst/>
            </a:prstGeom>
            <a:noFill/>
            <a:ln>
              <a:noFill/>
            </a:ln>
          </p:spPr>
          <p:txBody>
            <a:bodyPr wrap="none" lIns="0" tIns="0" rIns="0" bIns="0" anchor="t" anchorCtr="0">
              <a:spAutoFit/>
            </a:bodyPr>
            <a:lstStyle/>
            <a:p>
              <a:pPr algn="l"/>
              <a:r>
                <a:rPr lang="zh-CN" sz="825" b="1" dirty="0">
                  <a:solidFill>
                    <a:srgbClr val="C8102E"/>
                  </a:solidFill>
                  <a:latin typeface="Consolas"/>
                  <a:ea typeface="Microsoft YaHei"/>
                  <a:cs typeface="Consolas"/>
                </a:rPr>
                <a:t>I.</a:t>
              </a:r>
            </a:p>
          </p:txBody>
        </p:sp>
        <p:sp>
          <p:nvSpPr>
            <p:cNvPr id="19" name="TextBox 19"/>
            <p:cNvSpPr txBox="1"/>
            <p:nvPr/>
          </p:nvSpPr>
          <p:spPr>
            <a:xfrm>
              <a:off x="710565" y="2286952"/>
              <a:ext cx="3408093" cy="213360"/>
            </a:xfrm>
            <a:prstGeom prst="rect">
              <a:avLst/>
            </a:prstGeom>
            <a:noFill/>
            <a:ln>
              <a:noFill/>
            </a:ln>
          </p:spPr>
          <p:txBody>
            <a:bodyPr wrap="none" lIns="0" tIns="0" rIns="0" bIns="0" anchor="t" anchorCtr="0">
              <a:spAutoFit/>
            </a:bodyPr>
            <a:lstStyle/>
            <a:p>
              <a:pPr algn="l"/>
              <a:r>
                <a:rPr lang="zh-CN" sz="1050" b="1" dirty="0">
                  <a:solidFill>
                    <a:srgbClr val="111111"/>
                  </a:solidFill>
                  <a:latin typeface="Arial Black"/>
                  <a:ea typeface="SimHei"/>
                  <a:cs typeface="Arial Black"/>
                </a:rPr>
                <a:t>REVENUE LEADER NO LONGER USER-COUNT LEADER.</a:t>
              </a:r>
            </a:p>
          </p:txBody>
        </p:sp>
        <p:sp>
          <p:nvSpPr>
            <p:cNvPr id="20" name="TextBox 20"/>
            <p:cNvSpPr txBox="1"/>
            <p:nvPr/>
          </p:nvSpPr>
          <p:spPr>
            <a:xfrm>
              <a:off x="711518" y="2523649"/>
              <a:ext cx="4341304" cy="198120"/>
            </a:xfrm>
            <a:prstGeom prst="rect">
              <a:avLst/>
            </a:prstGeom>
            <a:noFill/>
            <a:ln>
              <a:noFill/>
            </a:ln>
          </p:spPr>
          <p:txBody>
            <a:bodyPr wrap="none" lIns="0" tIns="0" rIns="0" bIns="0" anchor="t" anchorCtr="0">
              <a:spAutoFit/>
            </a:bodyPr>
            <a:lstStyle/>
            <a:p>
              <a:pPr algn="l"/>
              <a:r>
                <a:rPr lang="zh-CN" sz="975" dirty="0">
                  <a:solidFill>
                    <a:srgbClr val="111111"/>
                  </a:solidFill>
                  <a:latin typeface="Times New Roman"/>
                  <a:ea typeface="SimSun"/>
                  <a:cs typeface="Times New Roman"/>
                </a:rPr>
                <a:t>Anthropic leads on revenue with a 7× smaller user base than OpenAI.</a:t>
              </a:r>
            </a:p>
          </p:txBody>
        </p:sp>
      </p:grpSp>
      <p:grpSp>
        <p:nvGrpSpPr>
          <p:cNvPr id="26" name="Group 26"/>
          <p:cNvGrpSpPr/>
          <p:nvPr/>
        </p:nvGrpSpPr>
        <p:grpSpPr>
          <a:xfrm>
            <a:off x="446722" y="2914650"/>
            <a:ext cx="5382578" cy="569119"/>
            <a:chOff x="446722" y="2914650"/>
            <a:chExt cx="5382578" cy="569119"/>
          </a:xfrm>
        </p:grpSpPr>
        <p:sp>
          <p:nvSpPr>
            <p:cNvPr id="22" name="Line 22"/>
            <p:cNvSpPr/>
            <p:nvPr/>
          </p:nvSpPr>
          <p:spPr>
            <a:xfrm>
              <a:off x="457200" y="2914650"/>
              <a:ext cx="5372100" cy="9525"/>
            </a:xfrm>
            <a:custGeom>
              <a:avLst/>
              <a:gdLst/>
              <a:ahLst/>
              <a:cxnLst/>
              <a:rect l="l" t="t" r="r" b="b"/>
              <a:pathLst>
                <a:path w="5372100" h="9525">
                  <a:moveTo>
                    <a:pt x="0" y="0"/>
                  </a:moveTo>
                  <a:lnTo>
                    <a:pt x="5372100" y="0"/>
                  </a:lnTo>
                </a:path>
              </a:pathLst>
            </a:custGeom>
            <a:noFill/>
            <a:ln w="4762">
              <a:solidFill>
                <a:srgbClr val="3A3A3A"/>
              </a:solidFill>
            </a:ln>
          </p:spPr>
        </p:sp>
        <p:sp>
          <p:nvSpPr>
            <p:cNvPr id="23" name="TextBox 23"/>
            <p:cNvSpPr txBox="1"/>
            <p:nvPr/>
          </p:nvSpPr>
          <p:spPr>
            <a:xfrm>
              <a:off x="446722" y="3073241"/>
              <a:ext cx="153797" cy="167640"/>
            </a:xfrm>
            <a:prstGeom prst="rect">
              <a:avLst/>
            </a:prstGeom>
            <a:noFill/>
            <a:ln>
              <a:noFill/>
            </a:ln>
          </p:spPr>
          <p:txBody>
            <a:bodyPr wrap="none" lIns="0" tIns="0" rIns="0" bIns="0" anchor="t" anchorCtr="0">
              <a:spAutoFit/>
            </a:bodyPr>
            <a:lstStyle/>
            <a:p>
              <a:pPr algn="l"/>
              <a:r>
                <a:rPr lang="zh-CN" sz="825" b="1" dirty="0">
                  <a:solidFill>
                    <a:srgbClr val="C8102E"/>
                  </a:solidFill>
                  <a:latin typeface="Consolas"/>
                  <a:ea typeface="Microsoft YaHei"/>
                  <a:cs typeface="Consolas"/>
                </a:rPr>
                <a:t>II.</a:t>
              </a:r>
            </a:p>
          </p:txBody>
        </p:sp>
        <p:sp>
          <p:nvSpPr>
            <p:cNvPr id="24" name="TextBox 24"/>
            <p:cNvSpPr txBox="1"/>
            <p:nvPr/>
          </p:nvSpPr>
          <p:spPr>
            <a:xfrm>
              <a:off x="710565" y="3048952"/>
              <a:ext cx="3305180" cy="213360"/>
            </a:xfrm>
            <a:prstGeom prst="rect">
              <a:avLst/>
            </a:prstGeom>
            <a:noFill/>
            <a:ln>
              <a:noFill/>
            </a:ln>
          </p:spPr>
          <p:txBody>
            <a:bodyPr wrap="none" lIns="0" tIns="0" rIns="0" bIns="0" anchor="t" anchorCtr="0">
              <a:spAutoFit/>
            </a:bodyPr>
            <a:lstStyle/>
            <a:p>
              <a:pPr algn="l"/>
              <a:r>
                <a:rPr lang="zh-CN" sz="1050" b="1" dirty="0">
                  <a:solidFill>
                    <a:srgbClr val="111111"/>
                  </a:solidFill>
                  <a:latin typeface="Arial Black"/>
                  <a:ea typeface="SimHei"/>
                  <a:cs typeface="Arial Black"/>
                </a:rPr>
                <a:t>TRAINING COST CROSSED THE HALF-BILLION LINE.</a:t>
              </a:r>
            </a:p>
          </p:txBody>
        </p:sp>
        <p:sp>
          <p:nvSpPr>
            <p:cNvPr id="25" name="TextBox 25"/>
            <p:cNvSpPr txBox="1"/>
            <p:nvPr/>
          </p:nvSpPr>
          <p:spPr>
            <a:xfrm>
              <a:off x="711518" y="3285649"/>
              <a:ext cx="4653343" cy="198120"/>
            </a:xfrm>
            <a:prstGeom prst="rect">
              <a:avLst/>
            </a:prstGeom>
            <a:noFill/>
            <a:ln>
              <a:noFill/>
            </a:ln>
          </p:spPr>
          <p:txBody>
            <a:bodyPr wrap="none" lIns="0" tIns="0" rIns="0" bIns="0" anchor="t" anchorCtr="0">
              <a:spAutoFit/>
            </a:bodyPr>
            <a:lstStyle/>
            <a:p>
              <a:pPr algn="l"/>
              <a:r>
                <a:rPr lang="zh-CN" sz="975" dirty="0">
                  <a:solidFill>
                    <a:srgbClr val="111111"/>
                  </a:solidFill>
                  <a:latin typeface="Times New Roman"/>
                  <a:ea typeface="SimSun"/>
                  <a:cs typeface="Times New Roman"/>
                </a:rPr>
                <a:t>2026 frontier runs land $200 – $500 M; the 2027 cohort heads to $1 – 3 B.</a:t>
              </a:r>
            </a:p>
          </p:txBody>
        </p:sp>
      </p:grpSp>
      <p:grpSp>
        <p:nvGrpSpPr>
          <p:cNvPr id="31" name="Group 31"/>
          <p:cNvGrpSpPr/>
          <p:nvPr/>
        </p:nvGrpSpPr>
        <p:grpSpPr>
          <a:xfrm>
            <a:off x="446722" y="3676650"/>
            <a:ext cx="5382578" cy="569119"/>
            <a:chOff x="446722" y="3676650"/>
            <a:chExt cx="5382578" cy="569119"/>
          </a:xfrm>
        </p:grpSpPr>
        <p:sp>
          <p:nvSpPr>
            <p:cNvPr id="27" name="Line 27"/>
            <p:cNvSpPr/>
            <p:nvPr/>
          </p:nvSpPr>
          <p:spPr>
            <a:xfrm>
              <a:off x="457200" y="3676650"/>
              <a:ext cx="5372100" cy="9525"/>
            </a:xfrm>
            <a:custGeom>
              <a:avLst/>
              <a:gdLst/>
              <a:ahLst/>
              <a:cxnLst/>
              <a:rect l="l" t="t" r="r" b="b"/>
              <a:pathLst>
                <a:path w="5372100" h="9525">
                  <a:moveTo>
                    <a:pt x="0" y="0"/>
                  </a:moveTo>
                  <a:lnTo>
                    <a:pt x="5372100" y="0"/>
                  </a:lnTo>
                </a:path>
              </a:pathLst>
            </a:custGeom>
            <a:noFill/>
            <a:ln w="4762">
              <a:solidFill>
                <a:srgbClr val="3A3A3A"/>
              </a:solidFill>
            </a:ln>
          </p:spPr>
        </p:sp>
        <p:sp>
          <p:nvSpPr>
            <p:cNvPr id="28" name="TextBox 28"/>
            <p:cNvSpPr txBox="1"/>
            <p:nvPr/>
          </p:nvSpPr>
          <p:spPr>
            <a:xfrm>
              <a:off x="446722" y="3835241"/>
              <a:ext cx="188451" cy="167640"/>
            </a:xfrm>
            <a:prstGeom prst="rect">
              <a:avLst/>
            </a:prstGeom>
            <a:noFill/>
            <a:ln>
              <a:noFill/>
            </a:ln>
          </p:spPr>
          <p:txBody>
            <a:bodyPr wrap="none" lIns="0" tIns="0" rIns="0" bIns="0" anchor="t" anchorCtr="0">
              <a:spAutoFit/>
            </a:bodyPr>
            <a:lstStyle/>
            <a:p>
              <a:pPr algn="l"/>
              <a:r>
                <a:rPr lang="zh-CN" sz="825" b="1" dirty="0">
                  <a:solidFill>
                    <a:srgbClr val="C8102E"/>
                  </a:solidFill>
                  <a:latin typeface="Consolas"/>
                  <a:ea typeface="Microsoft YaHei"/>
                  <a:cs typeface="Consolas"/>
                </a:rPr>
                <a:t>III.</a:t>
              </a:r>
            </a:p>
          </p:txBody>
        </p:sp>
        <p:sp>
          <p:nvSpPr>
            <p:cNvPr id="29" name="TextBox 29"/>
            <p:cNvSpPr txBox="1"/>
            <p:nvPr/>
          </p:nvSpPr>
          <p:spPr>
            <a:xfrm>
              <a:off x="805815" y="3810952"/>
              <a:ext cx="2893528" cy="213360"/>
            </a:xfrm>
            <a:prstGeom prst="rect">
              <a:avLst/>
            </a:prstGeom>
            <a:noFill/>
            <a:ln>
              <a:noFill/>
            </a:ln>
          </p:spPr>
          <p:txBody>
            <a:bodyPr wrap="none" lIns="0" tIns="0" rIns="0" bIns="0" anchor="t" anchorCtr="0">
              <a:spAutoFit/>
            </a:bodyPr>
            <a:lstStyle/>
            <a:p>
              <a:pPr algn="l"/>
              <a:r>
                <a:rPr lang="zh-CN" sz="1050" b="1" dirty="0">
                  <a:solidFill>
                    <a:srgbClr val="111111"/>
                  </a:solidFill>
                  <a:latin typeface="Arial Black"/>
                  <a:ea typeface="SimHei"/>
                  <a:cs typeface="Arial Black"/>
                </a:rPr>
                <a:t>INFERENCE BECAME A 4.6× DISCRIMINATOR.</a:t>
              </a:r>
            </a:p>
          </p:txBody>
        </p:sp>
        <p:sp>
          <p:nvSpPr>
            <p:cNvPr id="30" name="TextBox 30"/>
            <p:cNvSpPr txBox="1"/>
            <p:nvPr/>
          </p:nvSpPr>
          <p:spPr>
            <a:xfrm>
              <a:off x="806768" y="4047649"/>
              <a:ext cx="4497324" cy="198120"/>
            </a:xfrm>
            <a:prstGeom prst="rect">
              <a:avLst/>
            </a:prstGeom>
            <a:noFill/>
            <a:ln>
              <a:noFill/>
            </a:ln>
          </p:spPr>
          <p:txBody>
            <a:bodyPr wrap="none" lIns="0" tIns="0" rIns="0" bIns="0" anchor="t" anchorCtr="0">
              <a:spAutoFit/>
            </a:bodyPr>
            <a:lstStyle/>
            <a:p>
              <a:pPr algn="l"/>
              <a:r>
                <a:rPr lang="zh-CN" sz="975" dirty="0">
                  <a:solidFill>
                    <a:srgbClr val="111111"/>
                  </a:solidFill>
                  <a:latin typeface="Times New Roman"/>
                  <a:ea typeface="SimSun"/>
                  <a:cs typeface="Times New Roman"/>
                </a:rPr>
                <a:t>Inside the frontier class: 5 W vs 23 W per medium prompt — same task.</a:t>
              </a:r>
            </a:p>
          </p:txBody>
        </p:sp>
      </p:grpSp>
      <p:grpSp>
        <p:nvGrpSpPr>
          <p:cNvPr id="36" name="Group 36"/>
          <p:cNvGrpSpPr/>
          <p:nvPr/>
        </p:nvGrpSpPr>
        <p:grpSpPr>
          <a:xfrm>
            <a:off x="446722" y="4438650"/>
            <a:ext cx="5943006" cy="569119"/>
            <a:chOff x="446722" y="4438650"/>
            <a:chExt cx="5943006" cy="569119"/>
          </a:xfrm>
        </p:grpSpPr>
        <p:sp>
          <p:nvSpPr>
            <p:cNvPr id="32" name="Line 32"/>
            <p:cNvSpPr/>
            <p:nvPr/>
          </p:nvSpPr>
          <p:spPr>
            <a:xfrm>
              <a:off x="457200" y="4438650"/>
              <a:ext cx="5372100" cy="9525"/>
            </a:xfrm>
            <a:custGeom>
              <a:avLst/>
              <a:gdLst/>
              <a:ahLst/>
              <a:cxnLst/>
              <a:rect l="l" t="t" r="r" b="b"/>
              <a:pathLst>
                <a:path w="5372100" h="9525">
                  <a:moveTo>
                    <a:pt x="0" y="0"/>
                  </a:moveTo>
                  <a:lnTo>
                    <a:pt x="5372100" y="0"/>
                  </a:lnTo>
                </a:path>
              </a:pathLst>
            </a:custGeom>
            <a:noFill/>
            <a:ln w="4762">
              <a:solidFill>
                <a:srgbClr val="3A3A3A"/>
              </a:solidFill>
            </a:ln>
          </p:spPr>
        </p:sp>
        <p:sp>
          <p:nvSpPr>
            <p:cNvPr id="33" name="TextBox 33"/>
            <p:cNvSpPr txBox="1"/>
            <p:nvPr/>
          </p:nvSpPr>
          <p:spPr>
            <a:xfrm>
              <a:off x="446722" y="4597241"/>
              <a:ext cx="182675" cy="167640"/>
            </a:xfrm>
            <a:prstGeom prst="rect">
              <a:avLst/>
            </a:prstGeom>
            <a:noFill/>
            <a:ln>
              <a:noFill/>
            </a:ln>
          </p:spPr>
          <p:txBody>
            <a:bodyPr wrap="none" lIns="0" tIns="0" rIns="0" bIns="0" anchor="t" anchorCtr="0">
              <a:spAutoFit/>
            </a:bodyPr>
            <a:lstStyle/>
            <a:p>
              <a:pPr algn="l"/>
              <a:r>
                <a:rPr lang="zh-CN" sz="825" b="1" dirty="0">
                  <a:solidFill>
                    <a:srgbClr val="C8102E"/>
                  </a:solidFill>
                  <a:latin typeface="Consolas"/>
                  <a:ea typeface="Microsoft YaHei"/>
                  <a:cs typeface="Consolas"/>
                </a:rPr>
                <a:t>IV.</a:t>
              </a:r>
            </a:p>
          </p:txBody>
        </p:sp>
        <p:sp>
          <p:nvSpPr>
            <p:cNvPr id="34" name="TextBox 34"/>
            <p:cNvSpPr txBox="1"/>
            <p:nvPr/>
          </p:nvSpPr>
          <p:spPr>
            <a:xfrm>
              <a:off x="805815" y="4572952"/>
              <a:ext cx="3400742" cy="213360"/>
            </a:xfrm>
            <a:prstGeom prst="rect">
              <a:avLst/>
            </a:prstGeom>
            <a:noFill/>
            <a:ln>
              <a:noFill/>
            </a:ln>
          </p:spPr>
          <p:txBody>
            <a:bodyPr wrap="none" lIns="0" tIns="0" rIns="0" bIns="0" anchor="t" anchorCtr="0">
              <a:spAutoFit/>
            </a:bodyPr>
            <a:lstStyle/>
            <a:p>
              <a:pPr algn="l"/>
              <a:r>
                <a:rPr lang="zh-CN" sz="1050" b="1" dirty="0">
                  <a:solidFill>
                    <a:srgbClr val="111111"/>
                  </a:solidFill>
                  <a:latin typeface="Arial Black"/>
                  <a:ea typeface="SimHei"/>
                  <a:cs typeface="Arial Black"/>
                </a:rPr>
                <a:t>BENCHMARK HALF-LIFE DROPPED YEARS → MONTHS.</a:t>
              </a:r>
            </a:p>
          </p:txBody>
        </p:sp>
        <p:sp>
          <p:nvSpPr>
            <p:cNvPr id="35" name="TextBox 35"/>
            <p:cNvSpPr txBox="1"/>
            <p:nvPr/>
          </p:nvSpPr>
          <p:spPr>
            <a:xfrm>
              <a:off x="806768" y="4809649"/>
              <a:ext cx="5582960" cy="198120"/>
            </a:xfrm>
            <a:prstGeom prst="rect">
              <a:avLst/>
            </a:prstGeom>
            <a:noFill/>
            <a:ln>
              <a:noFill/>
            </a:ln>
          </p:spPr>
          <p:txBody>
            <a:bodyPr wrap="none" lIns="0" tIns="0" rIns="0" bIns="0" anchor="t" anchorCtr="0">
              <a:spAutoFit/>
            </a:bodyPr>
            <a:lstStyle/>
            <a:p>
              <a:pPr algn="l"/>
              <a:r>
                <a:rPr lang="zh-CN" sz="975" dirty="0">
                  <a:solidFill>
                    <a:srgbClr val="111111"/>
                  </a:solidFill>
                  <a:latin typeface="Times New Roman"/>
                  <a:ea typeface="SimSun"/>
                  <a:cs typeface="Times New Roman"/>
                </a:rPr>
                <a:t>Static benchmarks are losing meaning faster than bench-designers can write new ones.</a:t>
              </a:r>
            </a:p>
          </p:txBody>
        </p:sp>
      </p:grpSp>
      <p:grpSp>
        <p:nvGrpSpPr>
          <p:cNvPr id="39" name="Group 39"/>
          <p:cNvGrpSpPr/>
          <p:nvPr/>
        </p:nvGrpSpPr>
        <p:grpSpPr>
          <a:xfrm>
            <a:off x="6265545" y="1784032"/>
            <a:ext cx="5469255" cy="335280"/>
            <a:chOff x="6265545" y="1784032"/>
            <a:chExt cx="5469255" cy="335280"/>
          </a:xfrm>
        </p:grpSpPr>
        <p:sp>
          <p:nvSpPr>
            <p:cNvPr id="37" name="TextBox 37"/>
            <p:cNvSpPr txBox="1"/>
            <p:nvPr/>
          </p:nvSpPr>
          <p:spPr>
            <a:xfrm>
              <a:off x="6265545" y="1784032"/>
              <a:ext cx="1693766" cy="335280"/>
            </a:xfrm>
            <a:prstGeom prst="rect">
              <a:avLst/>
            </a:prstGeom>
            <a:noFill/>
            <a:ln>
              <a:noFill/>
            </a:ln>
          </p:spPr>
          <p:txBody>
            <a:bodyPr wrap="none" lIns="0" tIns="0" rIns="0" bIns="0" anchor="t" anchorCtr="0">
              <a:spAutoFit/>
            </a:bodyPr>
            <a:lstStyle/>
            <a:p>
              <a:pPr algn="l"/>
              <a:r>
                <a:rPr lang="zh-CN" sz="1650" b="1" dirty="0">
                  <a:solidFill>
                    <a:srgbClr val="111111"/>
                  </a:solidFill>
                  <a:latin typeface="Impact"/>
                  <a:ea typeface="SimHei"/>
                  <a:cs typeface="Impact"/>
                </a:rPr>
                <a:t>DID NOT CHANGE</a:t>
              </a:r>
            </a:p>
          </p:txBody>
        </p:sp>
        <p:sp>
          <p:nvSpPr>
            <p:cNvPr id="38" name="Line 38"/>
            <p:cNvSpPr/>
            <p:nvPr/>
          </p:nvSpPr>
          <p:spPr>
            <a:xfrm>
              <a:off x="6286500" y="2095500"/>
              <a:ext cx="5448300" cy="9525"/>
            </a:xfrm>
            <a:custGeom>
              <a:avLst/>
              <a:gdLst/>
              <a:ahLst/>
              <a:cxnLst/>
              <a:rect l="l" t="t" r="r" b="b"/>
              <a:pathLst>
                <a:path w="5448300" h="9525">
                  <a:moveTo>
                    <a:pt x="0" y="0"/>
                  </a:moveTo>
                  <a:lnTo>
                    <a:pt x="5448300" y="0"/>
                  </a:lnTo>
                </a:path>
              </a:pathLst>
            </a:custGeom>
            <a:noFill/>
            <a:ln w="19050">
              <a:solidFill>
                <a:srgbClr val="111111"/>
              </a:solidFill>
            </a:ln>
          </p:spPr>
        </p:sp>
      </p:grpSp>
      <p:grpSp>
        <p:nvGrpSpPr>
          <p:cNvPr id="43" name="Group 43"/>
          <p:cNvGrpSpPr/>
          <p:nvPr/>
        </p:nvGrpSpPr>
        <p:grpSpPr>
          <a:xfrm>
            <a:off x="6276022" y="2286952"/>
            <a:ext cx="3539967" cy="434817"/>
            <a:chOff x="6276022" y="2286952"/>
            <a:chExt cx="3539967" cy="434817"/>
          </a:xfrm>
        </p:grpSpPr>
        <p:sp>
          <p:nvSpPr>
            <p:cNvPr id="40" name="TextBox 40"/>
            <p:cNvSpPr txBox="1"/>
            <p:nvPr/>
          </p:nvSpPr>
          <p:spPr>
            <a:xfrm>
              <a:off x="6276022" y="2311241"/>
              <a:ext cx="119142" cy="167640"/>
            </a:xfrm>
            <a:prstGeom prst="rect">
              <a:avLst/>
            </a:prstGeom>
            <a:noFill/>
            <a:ln>
              <a:noFill/>
            </a:ln>
          </p:spPr>
          <p:txBody>
            <a:bodyPr wrap="none" lIns="0" tIns="0" rIns="0" bIns="0" anchor="t" anchorCtr="0">
              <a:spAutoFit/>
            </a:bodyPr>
            <a:lstStyle/>
            <a:p>
              <a:pPr algn="l"/>
              <a:r>
                <a:rPr lang="zh-CN" sz="825" b="1" dirty="0">
                  <a:solidFill>
                    <a:srgbClr val="3A3A3A"/>
                  </a:solidFill>
                  <a:latin typeface="Consolas"/>
                  <a:ea typeface="Microsoft YaHei"/>
                  <a:cs typeface="Consolas"/>
                </a:rPr>
                <a:t>I.</a:t>
              </a:r>
            </a:p>
          </p:txBody>
        </p:sp>
        <p:sp>
          <p:nvSpPr>
            <p:cNvPr id="41" name="TextBox 41"/>
            <p:cNvSpPr txBox="1"/>
            <p:nvPr/>
          </p:nvSpPr>
          <p:spPr>
            <a:xfrm>
              <a:off x="6539865" y="2286952"/>
              <a:ext cx="2320157" cy="213360"/>
            </a:xfrm>
            <a:prstGeom prst="rect">
              <a:avLst/>
            </a:prstGeom>
            <a:noFill/>
            <a:ln>
              <a:noFill/>
            </a:ln>
          </p:spPr>
          <p:txBody>
            <a:bodyPr wrap="none" lIns="0" tIns="0" rIns="0" bIns="0" anchor="t" anchorCtr="0">
              <a:spAutoFit/>
            </a:bodyPr>
            <a:lstStyle/>
            <a:p>
              <a:pPr algn="l"/>
              <a:r>
                <a:rPr lang="zh-CN" sz="1050" b="1" dirty="0">
                  <a:solidFill>
                    <a:srgbClr val="111111"/>
                  </a:solidFill>
                  <a:latin typeface="Arial Black"/>
                  <a:ea typeface="SimHei"/>
                  <a:cs typeface="Arial Black"/>
                </a:rPr>
                <a:t>FRONTIER COHORT STILL ~5 LABS.</a:t>
              </a:r>
            </a:p>
          </p:txBody>
        </p:sp>
        <p:sp>
          <p:nvSpPr>
            <p:cNvPr id="42" name="TextBox 42"/>
            <p:cNvSpPr txBox="1"/>
            <p:nvPr/>
          </p:nvSpPr>
          <p:spPr>
            <a:xfrm>
              <a:off x="6540818" y="2523649"/>
              <a:ext cx="3275171" cy="198120"/>
            </a:xfrm>
            <a:prstGeom prst="rect">
              <a:avLst/>
            </a:prstGeom>
            <a:noFill/>
            <a:ln>
              <a:noFill/>
            </a:ln>
          </p:spPr>
          <p:txBody>
            <a:bodyPr wrap="none" lIns="0" tIns="0" rIns="0" bIns="0" anchor="t" anchorCtr="0">
              <a:spAutoFit/>
            </a:bodyPr>
            <a:lstStyle/>
            <a:p>
              <a:pPr algn="l"/>
              <a:r>
                <a:rPr lang="zh-CN" sz="975" dirty="0">
                  <a:solidFill>
                    <a:srgbClr val="111111"/>
                  </a:solidFill>
                  <a:latin typeface="Times New Roman"/>
                  <a:ea typeface="SimSun"/>
                  <a:cs typeface="Times New Roman"/>
                </a:rPr>
                <a:t>No Tier-1 lab has been added or removed since 2024.</a:t>
              </a:r>
            </a:p>
          </p:txBody>
        </p:sp>
      </p:grpSp>
      <p:grpSp>
        <p:nvGrpSpPr>
          <p:cNvPr id="48" name="Group 48"/>
          <p:cNvGrpSpPr/>
          <p:nvPr/>
        </p:nvGrpSpPr>
        <p:grpSpPr>
          <a:xfrm>
            <a:off x="6276022" y="2914650"/>
            <a:ext cx="5458778" cy="569119"/>
            <a:chOff x="6276022" y="2914650"/>
            <a:chExt cx="5458778" cy="569119"/>
          </a:xfrm>
        </p:grpSpPr>
        <p:sp>
          <p:nvSpPr>
            <p:cNvPr id="44" name="Line 44"/>
            <p:cNvSpPr/>
            <p:nvPr/>
          </p:nvSpPr>
          <p:spPr>
            <a:xfrm>
              <a:off x="6286500" y="2914650"/>
              <a:ext cx="5448300" cy="9525"/>
            </a:xfrm>
            <a:custGeom>
              <a:avLst/>
              <a:gdLst/>
              <a:ahLst/>
              <a:cxnLst/>
              <a:rect l="l" t="t" r="r" b="b"/>
              <a:pathLst>
                <a:path w="5448300" h="9525">
                  <a:moveTo>
                    <a:pt x="0" y="0"/>
                  </a:moveTo>
                  <a:lnTo>
                    <a:pt x="5448300" y="0"/>
                  </a:lnTo>
                </a:path>
              </a:pathLst>
            </a:custGeom>
            <a:noFill/>
            <a:ln w="4762">
              <a:solidFill>
                <a:srgbClr val="3A3A3A"/>
              </a:solidFill>
            </a:ln>
          </p:spPr>
        </p:sp>
        <p:sp>
          <p:nvSpPr>
            <p:cNvPr id="45" name="TextBox 45"/>
            <p:cNvSpPr txBox="1"/>
            <p:nvPr/>
          </p:nvSpPr>
          <p:spPr>
            <a:xfrm>
              <a:off x="6276022" y="3073241"/>
              <a:ext cx="153797" cy="167640"/>
            </a:xfrm>
            <a:prstGeom prst="rect">
              <a:avLst/>
            </a:prstGeom>
            <a:noFill/>
            <a:ln>
              <a:noFill/>
            </a:ln>
          </p:spPr>
          <p:txBody>
            <a:bodyPr wrap="none" lIns="0" tIns="0" rIns="0" bIns="0" anchor="t" anchorCtr="0">
              <a:spAutoFit/>
            </a:bodyPr>
            <a:lstStyle/>
            <a:p>
              <a:pPr algn="l"/>
              <a:r>
                <a:rPr lang="zh-CN" sz="825" b="1" dirty="0">
                  <a:solidFill>
                    <a:srgbClr val="3A3A3A"/>
                  </a:solidFill>
                  <a:latin typeface="Consolas"/>
                  <a:ea typeface="Microsoft YaHei"/>
                  <a:cs typeface="Consolas"/>
                </a:rPr>
                <a:t>II.</a:t>
              </a:r>
            </a:p>
          </p:txBody>
        </p:sp>
        <p:sp>
          <p:nvSpPr>
            <p:cNvPr id="46" name="TextBox 46"/>
            <p:cNvSpPr txBox="1"/>
            <p:nvPr/>
          </p:nvSpPr>
          <p:spPr>
            <a:xfrm>
              <a:off x="6539865" y="3048952"/>
              <a:ext cx="3503655" cy="213360"/>
            </a:xfrm>
            <a:prstGeom prst="rect">
              <a:avLst/>
            </a:prstGeom>
            <a:noFill/>
            <a:ln>
              <a:noFill/>
            </a:ln>
          </p:spPr>
          <p:txBody>
            <a:bodyPr wrap="none" lIns="0" tIns="0" rIns="0" bIns="0" anchor="t" anchorCtr="0">
              <a:spAutoFit/>
            </a:bodyPr>
            <a:lstStyle/>
            <a:p>
              <a:pPr algn="l"/>
              <a:r>
                <a:rPr lang="zh-CN" sz="1050" b="1" dirty="0">
                  <a:solidFill>
                    <a:srgbClr val="111111"/>
                  </a:solidFill>
                  <a:latin typeface="Arial Black"/>
                  <a:ea typeface="SimHei"/>
                  <a:cs typeface="Arial Black"/>
                </a:rPr>
                <a:t>CHINA FRONTIER LABS = $0 OF EU-MARKET REVENUE.</a:t>
              </a:r>
            </a:p>
          </p:txBody>
        </p:sp>
        <p:sp>
          <p:nvSpPr>
            <p:cNvPr id="47" name="TextBox 47"/>
            <p:cNvSpPr txBox="1"/>
            <p:nvPr/>
          </p:nvSpPr>
          <p:spPr>
            <a:xfrm>
              <a:off x="6540818" y="3285649"/>
              <a:ext cx="4191786" cy="198120"/>
            </a:xfrm>
            <a:prstGeom prst="rect">
              <a:avLst/>
            </a:prstGeom>
            <a:noFill/>
            <a:ln>
              <a:noFill/>
            </a:ln>
          </p:spPr>
          <p:txBody>
            <a:bodyPr wrap="none" lIns="0" tIns="0" rIns="0" bIns="0" anchor="t" anchorCtr="0">
              <a:spAutoFit/>
            </a:bodyPr>
            <a:lstStyle/>
            <a:p>
              <a:pPr algn="l"/>
              <a:r>
                <a:rPr lang="zh-CN" sz="975" dirty="0">
                  <a:solidFill>
                    <a:srgbClr val="111111"/>
                  </a:solidFill>
                  <a:latin typeface="Times New Roman"/>
                  <a:ea typeface="SimSun"/>
                  <a:cs typeface="Times New Roman"/>
                </a:rPr>
                <a:t>Three-rulebook divergence keeps the trade barrier where it was.</a:t>
              </a:r>
            </a:p>
          </p:txBody>
        </p:sp>
      </p:grpSp>
      <p:grpSp>
        <p:nvGrpSpPr>
          <p:cNvPr id="53" name="Group 53"/>
          <p:cNvGrpSpPr/>
          <p:nvPr/>
        </p:nvGrpSpPr>
        <p:grpSpPr>
          <a:xfrm>
            <a:off x="6276022" y="3676650"/>
            <a:ext cx="5458778" cy="569119"/>
            <a:chOff x="6276022" y="3676650"/>
            <a:chExt cx="5458778" cy="569119"/>
          </a:xfrm>
        </p:grpSpPr>
        <p:sp>
          <p:nvSpPr>
            <p:cNvPr id="49" name="Line 49"/>
            <p:cNvSpPr/>
            <p:nvPr/>
          </p:nvSpPr>
          <p:spPr>
            <a:xfrm>
              <a:off x="6286500" y="3676650"/>
              <a:ext cx="5448300" cy="9525"/>
            </a:xfrm>
            <a:custGeom>
              <a:avLst/>
              <a:gdLst/>
              <a:ahLst/>
              <a:cxnLst/>
              <a:rect l="l" t="t" r="r" b="b"/>
              <a:pathLst>
                <a:path w="5448300" h="9525">
                  <a:moveTo>
                    <a:pt x="0" y="0"/>
                  </a:moveTo>
                  <a:lnTo>
                    <a:pt x="5448300" y="0"/>
                  </a:lnTo>
                </a:path>
              </a:pathLst>
            </a:custGeom>
            <a:noFill/>
            <a:ln w="4762">
              <a:solidFill>
                <a:srgbClr val="3A3A3A"/>
              </a:solidFill>
            </a:ln>
          </p:spPr>
        </p:sp>
        <p:sp>
          <p:nvSpPr>
            <p:cNvPr id="50" name="TextBox 50"/>
            <p:cNvSpPr txBox="1"/>
            <p:nvPr/>
          </p:nvSpPr>
          <p:spPr>
            <a:xfrm>
              <a:off x="6276022" y="3835241"/>
              <a:ext cx="188451" cy="167640"/>
            </a:xfrm>
            <a:prstGeom prst="rect">
              <a:avLst/>
            </a:prstGeom>
            <a:noFill/>
            <a:ln>
              <a:noFill/>
            </a:ln>
          </p:spPr>
          <p:txBody>
            <a:bodyPr wrap="none" lIns="0" tIns="0" rIns="0" bIns="0" anchor="t" anchorCtr="0">
              <a:spAutoFit/>
            </a:bodyPr>
            <a:lstStyle/>
            <a:p>
              <a:pPr algn="l"/>
              <a:r>
                <a:rPr lang="zh-CN" sz="825" b="1" dirty="0">
                  <a:solidFill>
                    <a:srgbClr val="3A3A3A"/>
                  </a:solidFill>
                  <a:latin typeface="Consolas"/>
                  <a:ea typeface="Microsoft YaHei"/>
                  <a:cs typeface="Consolas"/>
                </a:rPr>
                <a:t>III.</a:t>
              </a:r>
            </a:p>
          </p:txBody>
        </p:sp>
        <p:sp>
          <p:nvSpPr>
            <p:cNvPr id="51" name="TextBox 51"/>
            <p:cNvSpPr txBox="1"/>
            <p:nvPr/>
          </p:nvSpPr>
          <p:spPr>
            <a:xfrm>
              <a:off x="6635115" y="3810952"/>
              <a:ext cx="2327508" cy="213360"/>
            </a:xfrm>
            <a:prstGeom prst="rect">
              <a:avLst/>
            </a:prstGeom>
            <a:noFill/>
            <a:ln>
              <a:noFill/>
            </a:ln>
          </p:spPr>
          <p:txBody>
            <a:bodyPr wrap="none" lIns="0" tIns="0" rIns="0" bIns="0" anchor="t" anchorCtr="0">
              <a:spAutoFit/>
            </a:bodyPr>
            <a:lstStyle/>
            <a:p>
              <a:pPr algn="l"/>
              <a:r>
                <a:rPr lang="zh-CN" sz="1050" b="1" dirty="0">
                  <a:solidFill>
                    <a:srgbClr val="111111"/>
                  </a:solidFill>
                  <a:latin typeface="Arial Black"/>
                  <a:ea typeface="SimHei"/>
                  <a:cs typeface="Arial Black"/>
                </a:rPr>
                <a:t>OPEN-WEIGHTS ≠ DIRECT REVENUE.</a:t>
              </a:r>
            </a:p>
          </p:txBody>
        </p:sp>
        <p:sp>
          <p:nvSpPr>
            <p:cNvPr id="52" name="TextBox 52"/>
            <p:cNvSpPr txBox="1"/>
            <p:nvPr/>
          </p:nvSpPr>
          <p:spPr>
            <a:xfrm>
              <a:off x="6636068" y="4047649"/>
              <a:ext cx="4731353" cy="198120"/>
            </a:xfrm>
            <a:prstGeom prst="rect">
              <a:avLst/>
            </a:prstGeom>
            <a:noFill/>
            <a:ln>
              <a:noFill/>
            </a:ln>
          </p:spPr>
          <p:txBody>
            <a:bodyPr wrap="none" lIns="0" tIns="0" rIns="0" bIns="0" anchor="t" anchorCtr="0">
              <a:spAutoFit/>
            </a:bodyPr>
            <a:lstStyle/>
            <a:p>
              <a:pPr algn="l"/>
              <a:r>
                <a:rPr lang="zh-CN" sz="975" dirty="0">
                  <a:solidFill>
                    <a:srgbClr val="111111"/>
                  </a:solidFill>
                  <a:latin typeface="Times New Roman"/>
                  <a:ea typeface="SimSun"/>
                  <a:cs typeface="Times New Roman"/>
                </a:rPr>
                <a:t>DeepSeek 0.2 %, Zhipu 0.1 %. Distribution and monetisation still decoupled.</a:t>
              </a:r>
            </a:p>
          </p:txBody>
        </p:sp>
      </p:grpSp>
      <p:grpSp>
        <p:nvGrpSpPr>
          <p:cNvPr id="58" name="Group 58"/>
          <p:cNvGrpSpPr/>
          <p:nvPr/>
        </p:nvGrpSpPr>
        <p:grpSpPr>
          <a:xfrm>
            <a:off x="6276022" y="4438650"/>
            <a:ext cx="5458778" cy="569119"/>
            <a:chOff x="6276022" y="4438650"/>
            <a:chExt cx="5458778" cy="569119"/>
          </a:xfrm>
        </p:grpSpPr>
        <p:sp>
          <p:nvSpPr>
            <p:cNvPr id="54" name="Line 54"/>
            <p:cNvSpPr/>
            <p:nvPr/>
          </p:nvSpPr>
          <p:spPr>
            <a:xfrm>
              <a:off x="6286500" y="4438650"/>
              <a:ext cx="5448300" cy="9525"/>
            </a:xfrm>
            <a:custGeom>
              <a:avLst/>
              <a:gdLst/>
              <a:ahLst/>
              <a:cxnLst/>
              <a:rect l="l" t="t" r="r" b="b"/>
              <a:pathLst>
                <a:path w="5448300" h="9525">
                  <a:moveTo>
                    <a:pt x="0" y="0"/>
                  </a:moveTo>
                  <a:lnTo>
                    <a:pt x="5448300" y="0"/>
                  </a:lnTo>
                </a:path>
              </a:pathLst>
            </a:custGeom>
            <a:noFill/>
            <a:ln w="4762">
              <a:solidFill>
                <a:srgbClr val="3A3A3A"/>
              </a:solidFill>
            </a:ln>
          </p:spPr>
        </p:sp>
        <p:sp>
          <p:nvSpPr>
            <p:cNvPr id="55" name="TextBox 55"/>
            <p:cNvSpPr txBox="1"/>
            <p:nvPr/>
          </p:nvSpPr>
          <p:spPr>
            <a:xfrm>
              <a:off x="6276022" y="4597241"/>
              <a:ext cx="182675" cy="167640"/>
            </a:xfrm>
            <a:prstGeom prst="rect">
              <a:avLst/>
            </a:prstGeom>
            <a:noFill/>
            <a:ln>
              <a:noFill/>
            </a:ln>
          </p:spPr>
          <p:txBody>
            <a:bodyPr wrap="none" lIns="0" tIns="0" rIns="0" bIns="0" anchor="t" anchorCtr="0">
              <a:spAutoFit/>
            </a:bodyPr>
            <a:lstStyle/>
            <a:p>
              <a:pPr algn="l"/>
              <a:r>
                <a:rPr lang="zh-CN" sz="825" b="1" dirty="0">
                  <a:solidFill>
                    <a:srgbClr val="3A3A3A"/>
                  </a:solidFill>
                  <a:latin typeface="Consolas"/>
                  <a:ea typeface="Microsoft YaHei"/>
                  <a:cs typeface="Consolas"/>
                </a:rPr>
                <a:t>IV.</a:t>
              </a:r>
            </a:p>
          </p:txBody>
        </p:sp>
        <p:sp>
          <p:nvSpPr>
            <p:cNvPr id="56" name="TextBox 56"/>
            <p:cNvSpPr txBox="1"/>
            <p:nvPr/>
          </p:nvSpPr>
          <p:spPr>
            <a:xfrm>
              <a:off x="6635115" y="4572952"/>
              <a:ext cx="3878551" cy="213360"/>
            </a:xfrm>
            <a:prstGeom prst="rect">
              <a:avLst/>
            </a:prstGeom>
            <a:noFill/>
            <a:ln>
              <a:noFill/>
            </a:ln>
          </p:spPr>
          <p:txBody>
            <a:bodyPr wrap="none" lIns="0" tIns="0" rIns="0" bIns="0" anchor="t" anchorCtr="0">
              <a:spAutoFit/>
            </a:bodyPr>
            <a:lstStyle/>
            <a:p>
              <a:pPr algn="l"/>
              <a:r>
                <a:rPr lang="zh-CN" sz="1050" b="1" dirty="0">
                  <a:solidFill>
                    <a:srgbClr val="111111"/>
                  </a:solidFill>
                  <a:latin typeface="Arial Black"/>
                  <a:ea typeface="SimHei"/>
                  <a:cs typeface="Arial Black"/>
                </a:rPr>
                <a:t>POWER &amp; GRID INTERCONNECT — STILL THE HARDEST INPUT.</a:t>
              </a:r>
            </a:p>
          </p:txBody>
        </p:sp>
        <p:sp>
          <p:nvSpPr>
            <p:cNvPr id="57" name="TextBox 57"/>
            <p:cNvSpPr txBox="1"/>
            <p:nvPr/>
          </p:nvSpPr>
          <p:spPr>
            <a:xfrm>
              <a:off x="6636068" y="4809649"/>
              <a:ext cx="5043392" cy="198120"/>
            </a:xfrm>
            <a:prstGeom prst="rect">
              <a:avLst/>
            </a:prstGeom>
            <a:noFill/>
            <a:ln>
              <a:noFill/>
            </a:ln>
          </p:spPr>
          <p:txBody>
            <a:bodyPr wrap="none" lIns="0" tIns="0" rIns="0" bIns="0" anchor="t" anchorCtr="0">
              <a:spAutoFit/>
            </a:bodyPr>
            <a:lstStyle/>
            <a:p>
              <a:pPr algn="l"/>
              <a:r>
                <a:rPr lang="zh-CN" sz="975" dirty="0">
                  <a:solidFill>
                    <a:srgbClr val="111111"/>
                  </a:solidFill>
                  <a:latin typeface="Times New Roman"/>
                  <a:ea typeface="SimSun"/>
                  <a:cs typeface="Times New Roman"/>
                </a:rPr>
                <a:t>Harder than chips, harder than capital, harder than talent. No 2025 progress.</a:t>
              </a:r>
            </a:p>
          </p:txBody>
        </p:sp>
      </p:grpSp>
      <p:sp>
        <p:nvSpPr>
          <p:cNvPr id="59" name="Line 59"/>
          <p:cNvSpPr/>
          <p:nvPr/>
        </p:nvSpPr>
        <p:spPr>
          <a:xfrm>
            <a:off x="457200" y="5334000"/>
            <a:ext cx="11277600" cy="9525"/>
          </a:xfrm>
          <a:custGeom>
            <a:avLst/>
            <a:gdLst/>
            <a:ahLst/>
            <a:cxnLst/>
            <a:rect l="l" t="t" r="r" b="b"/>
            <a:pathLst>
              <a:path w="11277600" h="9525">
                <a:moveTo>
                  <a:pt x="0" y="0"/>
                </a:moveTo>
                <a:lnTo>
                  <a:pt x="11277600" y="0"/>
                </a:lnTo>
              </a:path>
            </a:pathLst>
          </a:custGeom>
          <a:noFill/>
          <a:ln w="19050">
            <a:solidFill>
              <a:srgbClr val="111111"/>
            </a:solidFill>
          </a:ln>
        </p:spPr>
      </p:sp>
      <p:grpSp>
        <p:nvGrpSpPr>
          <p:cNvPr id="62" name="Group 62"/>
          <p:cNvGrpSpPr/>
          <p:nvPr/>
        </p:nvGrpSpPr>
        <p:grpSpPr>
          <a:xfrm>
            <a:off x="2717311" y="5569268"/>
            <a:ext cx="6757378" cy="726757"/>
            <a:chOff x="2717311" y="5569268"/>
            <a:chExt cx="6757378" cy="726757"/>
          </a:xfrm>
        </p:grpSpPr>
        <p:sp>
          <p:nvSpPr>
            <p:cNvPr id="60" name="TextBox 60"/>
            <p:cNvSpPr txBox="1"/>
            <p:nvPr/>
          </p:nvSpPr>
          <p:spPr>
            <a:xfrm>
              <a:off x="4247126" y="5569268"/>
              <a:ext cx="3697748" cy="274320"/>
            </a:xfrm>
            <a:prstGeom prst="rect">
              <a:avLst/>
            </a:prstGeom>
            <a:noFill/>
            <a:ln>
              <a:noFill/>
            </a:ln>
          </p:spPr>
          <p:txBody>
            <a:bodyPr wrap="none" lIns="0" tIns="0" rIns="0" bIns="0" anchor="t" anchorCtr="0">
              <a:spAutoFit/>
            </a:bodyPr>
            <a:lstStyle/>
            <a:p>
              <a:pPr algn="ctr"/>
              <a:r>
                <a:rPr lang="zh-CN" sz="1350" i="1" dirty="0">
                  <a:solidFill>
                    <a:srgbClr val="111111"/>
                  </a:solidFill>
                  <a:latin typeface="Times New Roman"/>
                  <a:ea typeface="SimSun"/>
                  <a:cs typeface="Times New Roman"/>
                </a:rPr>
                <a:t>— what the next twelve months will test —</a:t>
              </a:r>
            </a:p>
          </p:txBody>
        </p:sp>
        <p:sp>
          <p:nvSpPr>
            <p:cNvPr id="61" name="TextBox 61"/>
            <p:cNvSpPr txBox="1"/>
            <p:nvPr/>
          </p:nvSpPr>
          <p:spPr>
            <a:xfrm>
              <a:off x="2717311" y="5869305"/>
              <a:ext cx="6757378" cy="426720"/>
            </a:xfrm>
            <a:prstGeom prst="rect">
              <a:avLst/>
            </a:prstGeom>
            <a:noFill/>
            <a:ln>
              <a:noFill/>
            </a:ln>
          </p:spPr>
          <p:txBody>
            <a:bodyPr wrap="none" lIns="0" tIns="0" rIns="0" bIns="0" anchor="t" anchorCtr="0">
              <a:spAutoFit/>
            </a:bodyPr>
            <a:lstStyle/>
            <a:p>
              <a:pPr algn="ctr"/>
              <a:r>
                <a:rPr lang="zh-CN" sz="2100" b="1" dirty="0">
                  <a:solidFill>
                    <a:srgbClr val="C8102E"/>
                  </a:solidFill>
                  <a:latin typeface="Impact"/>
                  <a:ea typeface="SimHei"/>
                  <a:cs typeface="Impact"/>
                </a:rPr>
                <a:t>Can the second wave land the half-billion runs?</a:t>
              </a:r>
            </a:p>
          </p:txBody>
        </p:sp>
      </p:grpSp>
      <p:grpSp>
        <p:nvGrpSpPr>
          <p:cNvPr id="67" name="Group 67"/>
          <p:cNvGrpSpPr/>
          <p:nvPr/>
        </p:nvGrpSpPr>
        <p:grpSpPr>
          <a:xfrm>
            <a:off x="447675" y="6438900"/>
            <a:ext cx="11295697" cy="388144"/>
            <a:chOff x="447675" y="6438900"/>
            <a:chExt cx="11295697" cy="388144"/>
          </a:xfrm>
        </p:grpSpPr>
        <p:sp>
          <p:nvSpPr>
            <p:cNvPr id="63" name="Rectangle 63"/>
            <p:cNvSpPr/>
            <p:nvPr/>
          </p:nvSpPr>
          <p:spPr>
            <a:xfrm>
              <a:off x="457200" y="6438900"/>
              <a:ext cx="11277600" cy="19050"/>
            </a:xfrm>
            <a:prstGeom prst="rect">
              <a:avLst/>
            </a:prstGeom>
            <a:solidFill>
              <a:srgbClr val="C8102E"/>
            </a:solidFill>
            <a:ln>
              <a:noFill/>
            </a:ln>
          </p:spPr>
        </p:sp>
        <p:sp>
          <p:nvSpPr>
            <p:cNvPr id="64" name="TextBox 64"/>
            <p:cNvSpPr txBox="1"/>
            <p:nvPr/>
          </p:nvSpPr>
          <p:spPr>
            <a:xfrm>
              <a:off x="447675" y="6548438"/>
              <a:ext cx="3300710" cy="152400"/>
            </a:xfrm>
            <a:prstGeom prst="rect">
              <a:avLst/>
            </a:prstGeom>
            <a:noFill/>
            <a:ln>
              <a:noFill/>
            </a:ln>
          </p:spPr>
          <p:txBody>
            <a:bodyPr wrap="none" lIns="0" tIns="0" rIns="0" bIns="0" anchor="t" anchorCtr="0">
              <a:spAutoFit/>
            </a:bodyPr>
            <a:lstStyle/>
            <a:p>
              <a:pPr algn="l"/>
              <a:r>
                <a:rPr lang="zh-CN" sz="750" b="1" dirty="0">
                  <a:solidFill>
                    <a:srgbClr val="111111"/>
                  </a:solidFill>
                  <a:latin typeface="Arial Black"/>
                  <a:ea typeface="SimHei"/>
                  <a:cs typeface="Arial Black"/>
                </a:rPr>
                <a:t>THE AI INDUSTRY 2026 · ANNUAL REPORT · VOL. 1 · NO. 1 · MAY 2026</a:t>
              </a:r>
            </a:p>
          </p:txBody>
        </p:sp>
        <p:sp>
          <p:nvSpPr>
            <p:cNvPr id="65" name="TextBox 65"/>
            <p:cNvSpPr txBox="1"/>
            <p:nvPr/>
          </p:nvSpPr>
          <p:spPr>
            <a:xfrm>
              <a:off x="448628" y="6689884"/>
              <a:ext cx="4859750" cy="137160"/>
            </a:xfrm>
            <a:prstGeom prst="rect">
              <a:avLst/>
            </a:prstGeom>
            <a:noFill/>
            <a:ln>
              <a:noFill/>
            </a:ln>
          </p:spPr>
          <p:txBody>
            <a:bodyPr wrap="none" lIns="0" tIns="0" rIns="0" bIns="0" anchor="t" anchorCtr="0">
              <a:spAutoFit/>
            </a:bodyPr>
            <a:lstStyle/>
            <a:p>
              <a:pPr algn="l"/>
              <a:r>
                <a:rPr lang="zh-CN" sz="675" dirty="0">
                  <a:solidFill>
                    <a:srgbClr val="3A3A3A"/>
                  </a:solidFill>
                  <a:latin typeface="Consolas"/>
                  <a:ea typeface="Microsoft YaHei"/>
                  <a:cs typeface="Consolas"/>
                </a:rPr>
                <a:t>PPT MASTER · BRUTALIST NEWSPAPER DEMO · ROADMAP §P0-2 · CAPABILITY-SHOWCASE DECK · COMPILED IN ONE WEEK</a:t>
              </a:r>
            </a:p>
          </p:txBody>
        </p:sp>
        <p:sp>
          <p:nvSpPr>
            <p:cNvPr id="66" name="TextBox 66"/>
            <p:cNvSpPr txBox="1"/>
            <p:nvPr/>
          </p:nvSpPr>
          <p:spPr>
            <a:xfrm>
              <a:off x="10955956" y="6689884"/>
              <a:ext cx="787416" cy="137160"/>
            </a:xfrm>
            <a:prstGeom prst="rect">
              <a:avLst/>
            </a:prstGeom>
            <a:noFill/>
            <a:ln>
              <a:noFill/>
            </a:ln>
          </p:spPr>
          <p:txBody>
            <a:bodyPr wrap="none" lIns="0" tIns="0" rIns="0" bIns="0" anchor="t" anchorCtr="0">
              <a:spAutoFit/>
            </a:bodyPr>
            <a:lstStyle/>
            <a:p>
              <a:pPr algn="r"/>
              <a:r>
                <a:rPr lang="zh-CN" sz="675" b="1" dirty="0">
                  <a:solidFill>
                    <a:srgbClr val="111111"/>
                  </a:solidFill>
                  <a:latin typeface="Consolas"/>
                  <a:ea typeface="Microsoft YaHei"/>
                  <a:cs typeface="Consolas"/>
                </a:rPr>
                <a:t>PAGE 10 / 10 · END</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slide(fromBottom)">
                                      <p:cBhvr>
                                        <p:cTn id="7" dur="400"/>
                                        <p:tgtEl>
                                          <p:spTgt spid="21"/>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image">
                                      <p:cBhvr>
                                        <p:cTn id="11" dur="400"/>
                                        <p:tgtEl>
                                          <p:spTgt spid="26"/>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400"/>
                                        <p:tgtEl>
                                          <p:spTgt spid="31"/>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wipe(left)">
                                      <p:cBhvr>
                                        <p:cTn id="19" dur="400"/>
                                        <p:tgtEl>
                                          <p:spTgt spid="36"/>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43"/>
                                        </p:tgtEl>
                                        <p:attrNameLst>
                                          <p:attrName>style.visibility</p:attrName>
                                        </p:attrNameLst>
                                      </p:cBhvr>
                                      <p:to>
                                        <p:strVal val="visible"/>
                                      </p:to>
                                    </p:set>
                                    <p:animEffect transition="in" filter="slide(fromBottom)">
                                      <p:cBhvr>
                                        <p:cTn id="23" dur="400"/>
                                        <p:tgtEl>
                                          <p:spTgt spid="43"/>
                                        </p:tgtEl>
                                      </p:cBhvr>
                                    </p:animEffect>
                                  </p:childTnLst>
                                </p:cTn>
                              </p:par>
                            </p:childTnLst>
                          </p:cTn>
                        </p:par>
                        <p:par>
                          <p:cTn id="24" fill="hold">
                            <p:stCondLst>
                              <p:cond delay="4500"/>
                            </p:stCondLst>
                            <p:childTnLst>
                              <p:par>
                                <p:cTn id="25" presetID="23" presetClass="entr" presetSubtype="0" fill="hold" nodeType="afterEffect">
                                  <p:stCondLst>
                                    <p:cond delay="0"/>
                                  </p:stCondLst>
                                  <p:childTnLst>
                                    <p:set>
                                      <p:cBhvr>
                                        <p:cTn id="26" dur="1" fill="hold">
                                          <p:stCondLst>
                                            <p:cond delay="0"/>
                                          </p:stCondLst>
                                        </p:cTn>
                                        <p:tgtEl>
                                          <p:spTgt spid="48"/>
                                        </p:tgtEl>
                                        <p:attrNameLst>
                                          <p:attrName>style.visibility</p:attrName>
                                        </p:attrNameLst>
                                      </p:cBhvr>
                                      <p:to>
                                        <p:strVal val="visible"/>
                                      </p:to>
                                    </p:set>
                                    <p:animEffect transition="in" filter="image">
                                      <p:cBhvr>
                                        <p:cTn id="27" dur="400"/>
                                        <p:tgtEl>
                                          <p:spTgt spid="48"/>
                                        </p:tgtEl>
                                      </p:cBhvr>
                                    </p:animEffect>
                                  </p:childTnLst>
                                </p:cTn>
                              </p:par>
                            </p:childTnLst>
                          </p:cTn>
                        </p:par>
                        <p:par>
                          <p:cTn id="28" fill="hold">
                            <p:stCondLst>
                              <p:cond delay="5400"/>
                            </p:stCondLst>
                            <p:childTnLst>
                              <p:par>
                                <p:cTn id="29" presetID="10" presetClass="entr" presetSubtype="0" fill="hold" nodeType="afterEffect">
                                  <p:stCondLst>
                                    <p:cond delay="0"/>
                                  </p:stCondLst>
                                  <p:childTnLst>
                                    <p:set>
                                      <p:cBhvr>
                                        <p:cTn id="30" dur="1" fill="hold">
                                          <p:stCondLst>
                                            <p:cond delay="0"/>
                                          </p:stCondLst>
                                        </p:cTn>
                                        <p:tgtEl>
                                          <p:spTgt spid="53"/>
                                        </p:tgtEl>
                                        <p:attrNameLst>
                                          <p:attrName>style.visibility</p:attrName>
                                        </p:attrNameLst>
                                      </p:cBhvr>
                                      <p:to>
                                        <p:strVal val="visible"/>
                                      </p:to>
                                    </p:set>
                                    <p:animEffect transition="in" filter="fade">
                                      <p:cBhvr>
                                        <p:cTn id="31" dur="400"/>
                                        <p:tgtEl>
                                          <p:spTgt spid="53"/>
                                        </p:tgtEl>
                                      </p:cBhvr>
                                    </p:animEffect>
                                  </p:childTnLst>
                                </p:cTn>
                              </p:par>
                            </p:childTnLst>
                          </p:cTn>
                        </p:par>
                        <p:par>
                          <p:cTn id="32" fill="hold">
                            <p:stCondLst>
                              <p:cond delay="6300"/>
                            </p:stCondLst>
                            <p:childTnLst>
                              <p:par>
                                <p:cTn id="33" presetID="22" presetClass="entr" presetSubtype="1" fill="hold" nodeType="afterEffect">
                                  <p:stCondLst>
                                    <p:cond delay="0"/>
                                  </p:stCondLst>
                                  <p:childTnLst>
                                    <p:set>
                                      <p:cBhvr>
                                        <p:cTn id="34" dur="1" fill="hold">
                                          <p:stCondLst>
                                            <p:cond delay="0"/>
                                          </p:stCondLst>
                                        </p:cTn>
                                        <p:tgtEl>
                                          <p:spTgt spid="58"/>
                                        </p:tgtEl>
                                        <p:attrNameLst>
                                          <p:attrName>style.visibility</p:attrName>
                                        </p:attrNameLst>
                                      </p:cBhvr>
                                      <p:to>
                                        <p:strVal val="visible"/>
                                      </p:to>
                                    </p:set>
                                    <p:animEffect transition="in" filter="wipe(left)">
                                      <p:cBhvr>
                                        <p:cTn id="35" dur="400"/>
                                        <p:tgtEl>
                                          <p:spTgt spid="58"/>
                                        </p:tgtEl>
                                      </p:cBhvr>
                                    </p:animEffect>
                                  </p:childTnLst>
                                </p:cTn>
                              </p:par>
                            </p:childTnLst>
                          </p:cTn>
                        </p:par>
                        <p:par>
                          <p:cTn id="36" fill="hold">
                            <p:stCondLst>
                              <p:cond delay="7200"/>
                            </p:stCondLst>
                            <p:childTnLst>
                              <p:par>
                                <p:cTn id="37" presetID="2" presetClass="entr" presetSubtype="4" fill="hold" nodeType="afterEffect">
                                  <p:stCondLst>
                                    <p:cond delay="0"/>
                                  </p:stCondLst>
                                  <p:childTnLst>
                                    <p:set>
                                      <p:cBhvr>
                                        <p:cTn id="38" dur="1" fill="hold">
                                          <p:stCondLst>
                                            <p:cond delay="0"/>
                                          </p:stCondLst>
                                        </p:cTn>
                                        <p:tgtEl>
                                          <p:spTgt spid="62"/>
                                        </p:tgtEl>
                                        <p:attrNameLst>
                                          <p:attrName>style.visibility</p:attrName>
                                        </p:attrNameLst>
                                      </p:cBhvr>
                                      <p:to>
                                        <p:strVal val="visible"/>
                                      </p:to>
                                    </p:set>
                                    <p:animEffect transition="in" filter="slide(fromBottom)">
                                      <p:cBhvr>
                                        <p:cTn id="39" dur="4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6" grpId="0"/>
      <p:bldP spid="31" grpId="0"/>
      <p:bldP spid="36" grpId="0"/>
      <p:bldP spid="43" grpId="0"/>
      <p:bldP spid="48" grpId="0"/>
      <p:bldP spid="53" grpId="0"/>
      <p:bldP spid="58" grpId="0"/>
      <p:bldP spid="6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