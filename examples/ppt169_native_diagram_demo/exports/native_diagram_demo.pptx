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70b9d6a8e05b6241.png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7239000" cy="6858000"/>
          </a:xfrm>
          <a:prstGeom prst="rect">
            <a:avLst/>
          </a:prstGeom>
          <a:solidFill>
            <a:srgbClr val="1E3A5F">
              <a:alpha val="35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96290" y="2529840"/>
            <a:ext cx="5498592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数字化能力成熟度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51535" y="3447098"/>
            <a:ext cx="447008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D4AF37"/>
                </a:solidFill>
                <a:latin typeface="Microsoft YaHei"/>
                <a:ea typeface="Microsoft YaHei"/>
                <a:cs typeface="Microsoft YaHei"/>
              </a:rPr>
              <a:t>从基础数字化到智能化跃迁的三级演进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9155" y="6159818"/>
            <a:ext cx="414780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8DEE8"/>
                </a:solidFill>
                <a:latin typeface="Microsoft YaHei"/>
                <a:ea typeface="Microsoft YaHei"/>
                <a:cs typeface="Microsoft YaHei"/>
              </a:rPr>
              <a:t>端到端测试 · Claude 驱动 + Codex 配图 + 原生图示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29615" y="524828"/>
            <a:ext cx="327817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能力成熟度三级模型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933450"/>
            <a:ext cx="609600" cy="47625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grpSp xmlns:a="http://schemas.openxmlformats.org/drawingml/2006/main" xmlns:p="http://schemas.openxmlformats.org/presentationml/2006/main" xmlns:r="http://schemas.openxmlformats.org/officeDocument/2006/relationships">
        <p:nvGrpSpPr>
          <p:cNvPr id="40" name="NativeDiagram 40"/>
          <p:cNvGrpSpPr/>
          <p:nvPr/>
        </p:nvGrpSpPr>
        <p:grpSpPr>
          <a:xfrm>
            <a:off x="1143000" y="1190625"/>
            <a:ext cx="9906000" cy="5476875"/>
            <a:chOff x="0" y="0"/>
            <a:chExt cx="12192000" cy="6858000"/>
          </a:xfrm>
        </p:grpSpPr>
        <p:sp>
          <p:nvSpPr>
            <p:cNvPr id="5" name="任意多边形: 形状 29">
              <a:extLst>
                <a:ext uri="{FF2B5EF4-FFF2-40B4-BE49-F238E27FC236}">
                  <a16:creationId xmlns:a16="http://schemas.microsoft.com/office/drawing/2014/main" id="{D8BC3345-47C7-63D7-7E39-9ED17E16D4CD}"/>
                </a:ext>
              </a:extLst>
            </p:cNvPr>
            <p:cNvSpPr/>
            <p:nvPr/>
          </p:nvSpPr>
          <p:spPr>
            <a:xfrm>
              <a:off x="2465437" y="1130300"/>
              <a:ext cx="7261124" cy="3435519"/>
            </a:xfrm>
            <a:custGeom>
              <a:avLst/>
              <a:gdLst>
                <a:gd name="connsiteX0" fmla="*/ 3993849 w 7987236"/>
                <a:gd name="connsiteY0" fmla="*/ 0 h 4365770"/>
                <a:gd name="connsiteX1" fmla="*/ 4557470 w 7987236"/>
                <a:gd name="connsiteY1" fmla="*/ 850683 h 4365770"/>
                <a:gd name="connsiteX2" fmla="*/ 4271012 w 7987236"/>
                <a:gd name="connsiteY2" fmla="*/ 850683 h 4365770"/>
                <a:gd name="connsiteX3" fmla="*/ 4272869 w 7987236"/>
                <a:gd name="connsiteY3" fmla="*/ 866139 h 4365770"/>
                <a:gd name="connsiteX4" fmla="*/ 4278501 w 7987236"/>
                <a:gd name="connsiteY4" fmla="*/ 866139 h 4365770"/>
                <a:gd name="connsiteX5" fmla="*/ 4278864 w 7987236"/>
                <a:gd name="connsiteY5" fmla="*/ 915572 h 4365770"/>
                <a:gd name="connsiteX6" fmla="*/ 4278948 w 7987236"/>
                <a:gd name="connsiteY6" fmla="*/ 916727 h 4365770"/>
                <a:gd name="connsiteX7" fmla="*/ 4285552 w 7987236"/>
                <a:gd name="connsiteY7" fmla="*/ 971697 h 4365770"/>
                <a:gd name="connsiteX8" fmla="*/ 4358821 w 7987236"/>
                <a:gd name="connsiteY8" fmla="*/ 1404359 h 4365770"/>
                <a:gd name="connsiteX9" fmla="*/ 4419370 w 7987236"/>
                <a:gd name="connsiteY9" fmla="*/ 1678677 h 4365770"/>
                <a:gd name="connsiteX10" fmla="*/ 4561374 w 7987236"/>
                <a:gd name="connsiteY10" fmla="*/ 2039394 h 4365770"/>
                <a:gd name="connsiteX11" fmla="*/ 6017649 w 7987236"/>
                <a:gd name="connsiteY11" fmla="*/ 3683414 h 4365770"/>
                <a:gd name="connsiteX12" fmla="*/ 7878001 w 7987236"/>
                <a:gd name="connsiteY12" fmla="*/ 4359431 h 4365770"/>
                <a:gd name="connsiteX13" fmla="*/ 7987236 w 7987236"/>
                <a:gd name="connsiteY13" fmla="*/ 4365770 h 4365770"/>
                <a:gd name="connsiteX14" fmla="*/ 0 w 7987236"/>
                <a:gd name="connsiteY14" fmla="*/ 4365770 h 4365770"/>
                <a:gd name="connsiteX15" fmla="*/ 109217 w 7987236"/>
                <a:gd name="connsiteY15" fmla="*/ 4359432 h 4365770"/>
                <a:gd name="connsiteX16" fmla="*/ 1969571 w 7987236"/>
                <a:gd name="connsiteY16" fmla="*/ 3683415 h 4365770"/>
                <a:gd name="connsiteX17" fmla="*/ 3425846 w 7987236"/>
                <a:gd name="connsiteY17" fmla="*/ 2039395 h 4365770"/>
                <a:gd name="connsiteX18" fmla="*/ 3566763 w 7987236"/>
                <a:gd name="connsiteY18" fmla="*/ 1681440 h 4365770"/>
                <a:gd name="connsiteX19" fmla="*/ 3627917 w 7987236"/>
                <a:gd name="connsiteY19" fmla="*/ 1404359 h 4365770"/>
                <a:gd name="connsiteX20" fmla="*/ 3701185 w 7987236"/>
                <a:gd name="connsiteY20" fmla="*/ 971697 h 4365770"/>
                <a:gd name="connsiteX21" fmla="*/ 3708382 w 7987236"/>
                <a:gd name="connsiteY21" fmla="*/ 911805 h 4365770"/>
                <a:gd name="connsiteX22" fmla="*/ 3708720 w 7987236"/>
                <a:gd name="connsiteY22" fmla="*/ 866139 h 4365770"/>
                <a:gd name="connsiteX23" fmla="*/ 3713870 w 7987236"/>
                <a:gd name="connsiteY23" fmla="*/ 866139 h 4365770"/>
                <a:gd name="connsiteX24" fmla="*/ 3715727 w 7987236"/>
                <a:gd name="connsiteY24" fmla="*/ 850683 h 4365770"/>
                <a:gd name="connsiteX25" fmla="*/ 3429750 w 7987236"/>
                <a:gd name="connsiteY25" fmla="*/ 850683 h 4365770"/>
                <a:gd name="connsiteX0" fmla="*/ 3993849 w 7987236"/>
                <a:gd name="connsiteY0" fmla="*/ 0 h 4365770"/>
                <a:gd name="connsiteX1" fmla="*/ 4557470 w 7987236"/>
                <a:gd name="connsiteY1" fmla="*/ 850683 h 4365770"/>
                <a:gd name="connsiteX2" fmla="*/ 4271012 w 7987236"/>
                <a:gd name="connsiteY2" fmla="*/ 850683 h 4365770"/>
                <a:gd name="connsiteX3" fmla="*/ 4272869 w 7987236"/>
                <a:gd name="connsiteY3" fmla="*/ 866139 h 4365770"/>
                <a:gd name="connsiteX4" fmla="*/ 4278864 w 7987236"/>
                <a:gd name="connsiteY4" fmla="*/ 915572 h 4365770"/>
                <a:gd name="connsiteX5" fmla="*/ 4278948 w 7987236"/>
                <a:gd name="connsiteY5" fmla="*/ 916727 h 4365770"/>
                <a:gd name="connsiteX6" fmla="*/ 4285552 w 7987236"/>
                <a:gd name="connsiteY6" fmla="*/ 971697 h 4365770"/>
                <a:gd name="connsiteX7" fmla="*/ 4358821 w 7987236"/>
                <a:gd name="connsiteY7" fmla="*/ 1404359 h 4365770"/>
                <a:gd name="connsiteX8" fmla="*/ 4419370 w 7987236"/>
                <a:gd name="connsiteY8" fmla="*/ 1678677 h 4365770"/>
                <a:gd name="connsiteX9" fmla="*/ 4561374 w 7987236"/>
                <a:gd name="connsiteY9" fmla="*/ 2039394 h 4365770"/>
                <a:gd name="connsiteX10" fmla="*/ 6017649 w 7987236"/>
                <a:gd name="connsiteY10" fmla="*/ 3683414 h 4365770"/>
                <a:gd name="connsiteX11" fmla="*/ 7878001 w 7987236"/>
                <a:gd name="connsiteY11" fmla="*/ 4359431 h 4365770"/>
                <a:gd name="connsiteX12" fmla="*/ 7987236 w 7987236"/>
                <a:gd name="connsiteY12" fmla="*/ 4365770 h 4365770"/>
                <a:gd name="connsiteX13" fmla="*/ 0 w 7987236"/>
                <a:gd name="connsiteY13" fmla="*/ 4365770 h 4365770"/>
                <a:gd name="connsiteX14" fmla="*/ 109217 w 7987236"/>
                <a:gd name="connsiteY14" fmla="*/ 4359432 h 4365770"/>
                <a:gd name="connsiteX15" fmla="*/ 1969571 w 7987236"/>
                <a:gd name="connsiteY15" fmla="*/ 3683415 h 4365770"/>
                <a:gd name="connsiteX16" fmla="*/ 3425846 w 7987236"/>
                <a:gd name="connsiteY16" fmla="*/ 2039395 h 4365770"/>
                <a:gd name="connsiteX17" fmla="*/ 3566763 w 7987236"/>
                <a:gd name="connsiteY17" fmla="*/ 1681440 h 4365770"/>
                <a:gd name="connsiteX18" fmla="*/ 3627917 w 7987236"/>
                <a:gd name="connsiteY18" fmla="*/ 1404359 h 4365770"/>
                <a:gd name="connsiteX19" fmla="*/ 3701185 w 7987236"/>
                <a:gd name="connsiteY19" fmla="*/ 971697 h 4365770"/>
                <a:gd name="connsiteX20" fmla="*/ 3708382 w 7987236"/>
                <a:gd name="connsiteY20" fmla="*/ 911805 h 4365770"/>
                <a:gd name="connsiteX21" fmla="*/ 3708720 w 7987236"/>
                <a:gd name="connsiteY21" fmla="*/ 866139 h 4365770"/>
                <a:gd name="connsiteX22" fmla="*/ 3713870 w 7987236"/>
                <a:gd name="connsiteY22" fmla="*/ 866139 h 4365770"/>
                <a:gd name="connsiteX23" fmla="*/ 3715727 w 7987236"/>
                <a:gd name="connsiteY23" fmla="*/ 850683 h 4365770"/>
                <a:gd name="connsiteX24" fmla="*/ 3429750 w 7987236"/>
                <a:gd name="connsiteY24" fmla="*/ 850683 h 4365770"/>
                <a:gd name="connsiteX25" fmla="*/ 3993849 w 7987236"/>
                <a:gd name="connsiteY25" fmla="*/ 0 h 4365770"/>
                <a:gd name="connsiteX0" fmla="*/ 3993849 w 7987236"/>
                <a:gd name="connsiteY0" fmla="*/ 0 h 4365770"/>
                <a:gd name="connsiteX1" fmla="*/ 4557470 w 7987236"/>
                <a:gd name="connsiteY1" fmla="*/ 850683 h 4365770"/>
                <a:gd name="connsiteX2" fmla="*/ 4271012 w 7987236"/>
                <a:gd name="connsiteY2" fmla="*/ 850683 h 4365770"/>
                <a:gd name="connsiteX3" fmla="*/ 4272869 w 7987236"/>
                <a:gd name="connsiteY3" fmla="*/ 866139 h 4365770"/>
                <a:gd name="connsiteX4" fmla="*/ 4278864 w 7987236"/>
                <a:gd name="connsiteY4" fmla="*/ 915572 h 4365770"/>
                <a:gd name="connsiteX5" fmla="*/ 4278948 w 7987236"/>
                <a:gd name="connsiteY5" fmla="*/ 916727 h 4365770"/>
                <a:gd name="connsiteX6" fmla="*/ 4285552 w 7987236"/>
                <a:gd name="connsiteY6" fmla="*/ 971697 h 4365770"/>
                <a:gd name="connsiteX7" fmla="*/ 4358821 w 7987236"/>
                <a:gd name="connsiteY7" fmla="*/ 1404359 h 4365770"/>
                <a:gd name="connsiteX8" fmla="*/ 4419370 w 7987236"/>
                <a:gd name="connsiteY8" fmla="*/ 1678677 h 4365770"/>
                <a:gd name="connsiteX9" fmla="*/ 4561374 w 7987236"/>
                <a:gd name="connsiteY9" fmla="*/ 2039394 h 4365770"/>
                <a:gd name="connsiteX10" fmla="*/ 6017649 w 7987236"/>
                <a:gd name="connsiteY10" fmla="*/ 3683414 h 4365770"/>
                <a:gd name="connsiteX11" fmla="*/ 7878001 w 7987236"/>
                <a:gd name="connsiteY11" fmla="*/ 4359431 h 4365770"/>
                <a:gd name="connsiteX12" fmla="*/ 7987236 w 7987236"/>
                <a:gd name="connsiteY12" fmla="*/ 4365770 h 4365770"/>
                <a:gd name="connsiteX13" fmla="*/ 0 w 7987236"/>
                <a:gd name="connsiteY13" fmla="*/ 4365770 h 4365770"/>
                <a:gd name="connsiteX14" fmla="*/ 109217 w 7987236"/>
                <a:gd name="connsiteY14" fmla="*/ 4359432 h 4365770"/>
                <a:gd name="connsiteX15" fmla="*/ 1969571 w 7987236"/>
                <a:gd name="connsiteY15" fmla="*/ 3683415 h 4365770"/>
                <a:gd name="connsiteX16" fmla="*/ 3425846 w 7987236"/>
                <a:gd name="connsiteY16" fmla="*/ 2039395 h 4365770"/>
                <a:gd name="connsiteX17" fmla="*/ 3566763 w 7987236"/>
                <a:gd name="connsiteY17" fmla="*/ 1681440 h 4365770"/>
                <a:gd name="connsiteX18" fmla="*/ 3627917 w 7987236"/>
                <a:gd name="connsiteY18" fmla="*/ 1404359 h 4365770"/>
                <a:gd name="connsiteX19" fmla="*/ 3701185 w 7987236"/>
                <a:gd name="connsiteY19" fmla="*/ 971697 h 4365770"/>
                <a:gd name="connsiteX20" fmla="*/ 3708382 w 7987236"/>
                <a:gd name="connsiteY20" fmla="*/ 911805 h 4365770"/>
                <a:gd name="connsiteX21" fmla="*/ 3708720 w 7987236"/>
                <a:gd name="connsiteY21" fmla="*/ 866139 h 4365770"/>
                <a:gd name="connsiteX22" fmla="*/ 3715727 w 7987236"/>
                <a:gd name="connsiteY22" fmla="*/ 850683 h 4365770"/>
                <a:gd name="connsiteX23" fmla="*/ 3429750 w 7987236"/>
                <a:gd name="connsiteY23" fmla="*/ 850683 h 4365770"/>
                <a:gd name="connsiteX24" fmla="*/ 3993849 w 7987236"/>
                <a:gd name="connsiteY24" fmla="*/ 0 h 4365770"/>
                <a:gd name="connsiteX0" fmla="*/ 3993849 w 7987236"/>
                <a:gd name="connsiteY0" fmla="*/ 0 h 4365770"/>
                <a:gd name="connsiteX1" fmla="*/ 4557470 w 7987236"/>
                <a:gd name="connsiteY1" fmla="*/ 850683 h 4365770"/>
                <a:gd name="connsiteX2" fmla="*/ 4271012 w 7987236"/>
                <a:gd name="connsiteY2" fmla="*/ 850683 h 4365770"/>
                <a:gd name="connsiteX3" fmla="*/ 4272869 w 7987236"/>
                <a:gd name="connsiteY3" fmla="*/ 866139 h 4365770"/>
                <a:gd name="connsiteX4" fmla="*/ 4278864 w 7987236"/>
                <a:gd name="connsiteY4" fmla="*/ 915572 h 4365770"/>
                <a:gd name="connsiteX5" fmla="*/ 4278948 w 7987236"/>
                <a:gd name="connsiteY5" fmla="*/ 916727 h 4365770"/>
                <a:gd name="connsiteX6" fmla="*/ 4285552 w 7987236"/>
                <a:gd name="connsiteY6" fmla="*/ 971697 h 4365770"/>
                <a:gd name="connsiteX7" fmla="*/ 4358821 w 7987236"/>
                <a:gd name="connsiteY7" fmla="*/ 1404359 h 4365770"/>
                <a:gd name="connsiteX8" fmla="*/ 4419370 w 7987236"/>
                <a:gd name="connsiteY8" fmla="*/ 1678677 h 4365770"/>
                <a:gd name="connsiteX9" fmla="*/ 4561374 w 7987236"/>
                <a:gd name="connsiteY9" fmla="*/ 2039394 h 4365770"/>
                <a:gd name="connsiteX10" fmla="*/ 6017649 w 7987236"/>
                <a:gd name="connsiteY10" fmla="*/ 3683414 h 4365770"/>
                <a:gd name="connsiteX11" fmla="*/ 7878001 w 7987236"/>
                <a:gd name="connsiteY11" fmla="*/ 4359431 h 4365770"/>
                <a:gd name="connsiteX12" fmla="*/ 7987236 w 7987236"/>
                <a:gd name="connsiteY12" fmla="*/ 4365770 h 4365770"/>
                <a:gd name="connsiteX13" fmla="*/ 0 w 7987236"/>
                <a:gd name="connsiteY13" fmla="*/ 4365770 h 4365770"/>
                <a:gd name="connsiteX14" fmla="*/ 109217 w 7987236"/>
                <a:gd name="connsiteY14" fmla="*/ 4359432 h 4365770"/>
                <a:gd name="connsiteX15" fmla="*/ 1969571 w 7987236"/>
                <a:gd name="connsiteY15" fmla="*/ 3683415 h 4365770"/>
                <a:gd name="connsiteX16" fmla="*/ 3425846 w 7987236"/>
                <a:gd name="connsiteY16" fmla="*/ 2039395 h 4365770"/>
                <a:gd name="connsiteX17" fmla="*/ 3566763 w 7987236"/>
                <a:gd name="connsiteY17" fmla="*/ 1681440 h 4365770"/>
                <a:gd name="connsiteX18" fmla="*/ 3627917 w 7987236"/>
                <a:gd name="connsiteY18" fmla="*/ 1404359 h 4365770"/>
                <a:gd name="connsiteX19" fmla="*/ 3701185 w 7987236"/>
                <a:gd name="connsiteY19" fmla="*/ 971697 h 4365770"/>
                <a:gd name="connsiteX20" fmla="*/ 3708382 w 7987236"/>
                <a:gd name="connsiteY20" fmla="*/ 911805 h 4365770"/>
                <a:gd name="connsiteX21" fmla="*/ 3715727 w 7987236"/>
                <a:gd name="connsiteY21" fmla="*/ 850683 h 4365770"/>
                <a:gd name="connsiteX22" fmla="*/ 3429750 w 7987236"/>
                <a:gd name="connsiteY22" fmla="*/ 850683 h 4365770"/>
                <a:gd name="connsiteX23" fmla="*/ 3993849 w 7987236"/>
                <a:gd name="connsiteY23" fmla="*/ 0 h 4365770"/>
                <a:gd name="connsiteX0" fmla="*/ 3993849 w 7987236"/>
                <a:gd name="connsiteY0" fmla="*/ 0 h 4365770"/>
                <a:gd name="connsiteX1" fmla="*/ 4557470 w 7987236"/>
                <a:gd name="connsiteY1" fmla="*/ 850683 h 4365770"/>
                <a:gd name="connsiteX2" fmla="*/ 4271012 w 7987236"/>
                <a:gd name="connsiteY2" fmla="*/ 850683 h 4365770"/>
                <a:gd name="connsiteX3" fmla="*/ 4272869 w 7987236"/>
                <a:gd name="connsiteY3" fmla="*/ 866139 h 4365770"/>
                <a:gd name="connsiteX4" fmla="*/ 4278864 w 7987236"/>
                <a:gd name="connsiteY4" fmla="*/ 915572 h 4365770"/>
                <a:gd name="connsiteX5" fmla="*/ 4278948 w 7987236"/>
                <a:gd name="connsiteY5" fmla="*/ 916727 h 4365770"/>
                <a:gd name="connsiteX6" fmla="*/ 4285552 w 7987236"/>
                <a:gd name="connsiteY6" fmla="*/ 971697 h 4365770"/>
                <a:gd name="connsiteX7" fmla="*/ 4358821 w 7987236"/>
                <a:gd name="connsiteY7" fmla="*/ 1404359 h 4365770"/>
                <a:gd name="connsiteX8" fmla="*/ 4419370 w 7987236"/>
                <a:gd name="connsiteY8" fmla="*/ 1678677 h 4365770"/>
                <a:gd name="connsiteX9" fmla="*/ 4561374 w 7987236"/>
                <a:gd name="connsiteY9" fmla="*/ 2039394 h 4365770"/>
                <a:gd name="connsiteX10" fmla="*/ 6017649 w 7987236"/>
                <a:gd name="connsiteY10" fmla="*/ 3683414 h 4365770"/>
                <a:gd name="connsiteX11" fmla="*/ 7878001 w 7987236"/>
                <a:gd name="connsiteY11" fmla="*/ 4359431 h 4365770"/>
                <a:gd name="connsiteX12" fmla="*/ 7987236 w 7987236"/>
                <a:gd name="connsiteY12" fmla="*/ 4365770 h 4365770"/>
                <a:gd name="connsiteX13" fmla="*/ 0 w 7987236"/>
                <a:gd name="connsiteY13" fmla="*/ 4365770 h 4365770"/>
                <a:gd name="connsiteX14" fmla="*/ 109217 w 7987236"/>
                <a:gd name="connsiteY14" fmla="*/ 4359432 h 4365770"/>
                <a:gd name="connsiteX15" fmla="*/ 1969571 w 7987236"/>
                <a:gd name="connsiteY15" fmla="*/ 3683415 h 4365770"/>
                <a:gd name="connsiteX16" fmla="*/ 3425846 w 7987236"/>
                <a:gd name="connsiteY16" fmla="*/ 2039395 h 4365770"/>
                <a:gd name="connsiteX17" fmla="*/ 3566763 w 7987236"/>
                <a:gd name="connsiteY17" fmla="*/ 1681440 h 4365770"/>
                <a:gd name="connsiteX18" fmla="*/ 3627917 w 7987236"/>
                <a:gd name="connsiteY18" fmla="*/ 1404359 h 4365770"/>
                <a:gd name="connsiteX19" fmla="*/ 3701185 w 7987236"/>
                <a:gd name="connsiteY19" fmla="*/ 971697 h 4365770"/>
                <a:gd name="connsiteX20" fmla="*/ 3708382 w 7987236"/>
                <a:gd name="connsiteY20" fmla="*/ 911805 h 4365770"/>
                <a:gd name="connsiteX21" fmla="*/ 3715727 w 7987236"/>
                <a:gd name="connsiteY21" fmla="*/ 850683 h 4365770"/>
                <a:gd name="connsiteX22" fmla="*/ 3429750 w 7987236"/>
                <a:gd name="connsiteY22" fmla="*/ 850683 h 4365770"/>
                <a:gd name="connsiteX23" fmla="*/ 3993849 w 7987236"/>
                <a:gd name="connsiteY23" fmla="*/ 0 h 4365770"/>
                <a:gd name="connsiteX0" fmla="*/ 3993849 w 7987236"/>
                <a:gd name="connsiteY0" fmla="*/ 0 h 4365770"/>
                <a:gd name="connsiteX1" fmla="*/ 4557470 w 7987236"/>
                <a:gd name="connsiteY1" fmla="*/ 850683 h 4365770"/>
                <a:gd name="connsiteX2" fmla="*/ 4271012 w 7987236"/>
                <a:gd name="connsiteY2" fmla="*/ 850683 h 4365770"/>
                <a:gd name="connsiteX3" fmla="*/ 4272869 w 7987236"/>
                <a:gd name="connsiteY3" fmla="*/ 866139 h 4365770"/>
                <a:gd name="connsiteX4" fmla="*/ 4278864 w 7987236"/>
                <a:gd name="connsiteY4" fmla="*/ 915572 h 4365770"/>
                <a:gd name="connsiteX5" fmla="*/ 4278948 w 7987236"/>
                <a:gd name="connsiteY5" fmla="*/ 916727 h 4365770"/>
                <a:gd name="connsiteX6" fmla="*/ 4285552 w 7987236"/>
                <a:gd name="connsiteY6" fmla="*/ 971697 h 4365770"/>
                <a:gd name="connsiteX7" fmla="*/ 4358821 w 7987236"/>
                <a:gd name="connsiteY7" fmla="*/ 1404359 h 4365770"/>
                <a:gd name="connsiteX8" fmla="*/ 4419370 w 7987236"/>
                <a:gd name="connsiteY8" fmla="*/ 1678677 h 4365770"/>
                <a:gd name="connsiteX9" fmla="*/ 4561374 w 7987236"/>
                <a:gd name="connsiteY9" fmla="*/ 2039394 h 4365770"/>
                <a:gd name="connsiteX10" fmla="*/ 6017649 w 7987236"/>
                <a:gd name="connsiteY10" fmla="*/ 3683414 h 4365770"/>
                <a:gd name="connsiteX11" fmla="*/ 7878001 w 7987236"/>
                <a:gd name="connsiteY11" fmla="*/ 4359431 h 4365770"/>
                <a:gd name="connsiteX12" fmla="*/ 7987236 w 7987236"/>
                <a:gd name="connsiteY12" fmla="*/ 4365770 h 4365770"/>
                <a:gd name="connsiteX13" fmla="*/ 0 w 7987236"/>
                <a:gd name="connsiteY13" fmla="*/ 4365770 h 4365770"/>
                <a:gd name="connsiteX14" fmla="*/ 109217 w 7987236"/>
                <a:gd name="connsiteY14" fmla="*/ 4359432 h 4365770"/>
                <a:gd name="connsiteX15" fmla="*/ 1969571 w 7987236"/>
                <a:gd name="connsiteY15" fmla="*/ 3683415 h 4365770"/>
                <a:gd name="connsiteX16" fmla="*/ 3425846 w 7987236"/>
                <a:gd name="connsiteY16" fmla="*/ 2039395 h 4365770"/>
                <a:gd name="connsiteX17" fmla="*/ 3566763 w 7987236"/>
                <a:gd name="connsiteY17" fmla="*/ 1681440 h 4365770"/>
                <a:gd name="connsiteX18" fmla="*/ 3627917 w 7987236"/>
                <a:gd name="connsiteY18" fmla="*/ 1404359 h 4365770"/>
                <a:gd name="connsiteX19" fmla="*/ 3701185 w 7987236"/>
                <a:gd name="connsiteY19" fmla="*/ 971697 h 4365770"/>
                <a:gd name="connsiteX20" fmla="*/ 3708382 w 7987236"/>
                <a:gd name="connsiteY20" fmla="*/ 911805 h 4365770"/>
                <a:gd name="connsiteX21" fmla="*/ 3715727 w 7987236"/>
                <a:gd name="connsiteY21" fmla="*/ 850683 h 4365770"/>
                <a:gd name="connsiteX22" fmla="*/ 3429750 w 7987236"/>
                <a:gd name="connsiteY22" fmla="*/ 850683 h 4365770"/>
                <a:gd name="connsiteX23" fmla="*/ 3993849 w 7987236"/>
                <a:gd name="connsiteY23" fmla="*/ 0 h 4365770"/>
                <a:gd name="connsiteX0" fmla="*/ 3993849 w 7987236"/>
                <a:gd name="connsiteY0" fmla="*/ 0 h 4365770"/>
                <a:gd name="connsiteX1" fmla="*/ 4557470 w 7987236"/>
                <a:gd name="connsiteY1" fmla="*/ 850683 h 4365770"/>
                <a:gd name="connsiteX2" fmla="*/ 4271012 w 7987236"/>
                <a:gd name="connsiteY2" fmla="*/ 850683 h 4365770"/>
                <a:gd name="connsiteX3" fmla="*/ 4272869 w 7987236"/>
                <a:gd name="connsiteY3" fmla="*/ 866139 h 4365770"/>
                <a:gd name="connsiteX4" fmla="*/ 4278864 w 7987236"/>
                <a:gd name="connsiteY4" fmla="*/ 915572 h 4365770"/>
                <a:gd name="connsiteX5" fmla="*/ 4278948 w 7987236"/>
                <a:gd name="connsiteY5" fmla="*/ 916727 h 4365770"/>
                <a:gd name="connsiteX6" fmla="*/ 4285552 w 7987236"/>
                <a:gd name="connsiteY6" fmla="*/ 971697 h 4365770"/>
                <a:gd name="connsiteX7" fmla="*/ 4358821 w 7987236"/>
                <a:gd name="connsiteY7" fmla="*/ 1404359 h 4365770"/>
                <a:gd name="connsiteX8" fmla="*/ 4419370 w 7987236"/>
                <a:gd name="connsiteY8" fmla="*/ 1678677 h 4365770"/>
                <a:gd name="connsiteX9" fmla="*/ 4561374 w 7987236"/>
                <a:gd name="connsiteY9" fmla="*/ 2039394 h 4365770"/>
                <a:gd name="connsiteX10" fmla="*/ 6017649 w 7987236"/>
                <a:gd name="connsiteY10" fmla="*/ 3683414 h 4365770"/>
                <a:gd name="connsiteX11" fmla="*/ 7878001 w 7987236"/>
                <a:gd name="connsiteY11" fmla="*/ 4359431 h 4365770"/>
                <a:gd name="connsiteX12" fmla="*/ 7987236 w 7987236"/>
                <a:gd name="connsiteY12" fmla="*/ 4365770 h 4365770"/>
                <a:gd name="connsiteX13" fmla="*/ 0 w 7987236"/>
                <a:gd name="connsiteY13" fmla="*/ 4365770 h 4365770"/>
                <a:gd name="connsiteX14" fmla="*/ 109217 w 7987236"/>
                <a:gd name="connsiteY14" fmla="*/ 4359432 h 4365770"/>
                <a:gd name="connsiteX15" fmla="*/ 1969571 w 7987236"/>
                <a:gd name="connsiteY15" fmla="*/ 3683415 h 4365770"/>
                <a:gd name="connsiteX16" fmla="*/ 3425846 w 7987236"/>
                <a:gd name="connsiteY16" fmla="*/ 2039395 h 4365770"/>
                <a:gd name="connsiteX17" fmla="*/ 3566763 w 7987236"/>
                <a:gd name="connsiteY17" fmla="*/ 1681440 h 4365770"/>
                <a:gd name="connsiteX18" fmla="*/ 3627917 w 7987236"/>
                <a:gd name="connsiteY18" fmla="*/ 1404359 h 4365770"/>
                <a:gd name="connsiteX19" fmla="*/ 3701185 w 7987236"/>
                <a:gd name="connsiteY19" fmla="*/ 971697 h 4365770"/>
                <a:gd name="connsiteX20" fmla="*/ 3708382 w 7987236"/>
                <a:gd name="connsiteY20" fmla="*/ 911805 h 4365770"/>
                <a:gd name="connsiteX21" fmla="*/ 3715727 w 7987236"/>
                <a:gd name="connsiteY21" fmla="*/ 850683 h 4365770"/>
                <a:gd name="connsiteX22" fmla="*/ 3429750 w 7987236"/>
                <a:gd name="connsiteY22" fmla="*/ 850683 h 4365770"/>
                <a:gd name="connsiteX23" fmla="*/ 3993849 w 7987236"/>
                <a:gd name="connsiteY23" fmla="*/ 0 h 4365770"/>
                <a:gd name="connsiteX0" fmla="*/ 3993849 w 7987236"/>
                <a:gd name="connsiteY0" fmla="*/ 0 h 4365770"/>
                <a:gd name="connsiteX1" fmla="*/ 4557470 w 7987236"/>
                <a:gd name="connsiteY1" fmla="*/ 850683 h 4365770"/>
                <a:gd name="connsiteX2" fmla="*/ 4271012 w 7987236"/>
                <a:gd name="connsiteY2" fmla="*/ 850683 h 4365770"/>
                <a:gd name="connsiteX3" fmla="*/ 4272869 w 7987236"/>
                <a:gd name="connsiteY3" fmla="*/ 866139 h 4365770"/>
                <a:gd name="connsiteX4" fmla="*/ 4278864 w 7987236"/>
                <a:gd name="connsiteY4" fmla="*/ 915572 h 4365770"/>
                <a:gd name="connsiteX5" fmla="*/ 4278948 w 7987236"/>
                <a:gd name="connsiteY5" fmla="*/ 916727 h 4365770"/>
                <a:gd name="connsiteX6" fmla="*/ 4285552 w 7987236"/>
                <a:gd name="connsiteY6" fmla="*/ 971697 h 4365770"/>
                <a:gd name="connsiteX7" fmla="*/ 4358821 w 7987236"/>
                <a:gd name="connsiteY7" fmla="*/ 1404359 h 4365770"/>
                <a:gd name="connsiteX8" fmla="*/ 4419370 w 7987236"/>
                <a:gd name="connsiteY8" fmla="*/ 1678677 h 4365770"/>
                <a:gd name="connsiteX9" fmla="*/ 4561374 w 7987236"/>
                <a:gd name="connsiteY9" fmla="*/ 2039394 h 4365770"/>
                <a:gd name="connsiteX10" fmla="*/ 6017649 w 7987236"/>
                <a:gd name="connsiteY10" fmla="*/ 3683414 h 4365770"/>
                <a:gd name="connsiteX11" fmla="*/ 7878001 w 7987236"/>
                <a:gd name="connsiteY11" fmla="*/ 4359431 h 4365770"/>
                <a:gd name="connsiteX12" fmla="*/ 7987236 w 7987236"/>
                <a:gd name="connsiteY12" fmla="*/ 4365770 h 4365770"/>
                <a:gd name="connsiteX13" fmla="*/ 0 w 7987236"/>
                <a:gd name="connsiteY13" fmla="*/ 4365770 h 4365770"/>
                <a:gd name="connsiteX14" fmla="*/ 109217 w 7987236"/>
                <a:gd name="connsiteY14" fmla="*/ 4359432 h 4365770"/>
                <a:gd name="connsiteX15" fmla="*/ 1969571 w 7987236"/>
                <a:gd name="connsiteY15" fmla="*/ 3683415 h 4365770"/>
                <a:gd name="connsiteX16" fmla="*/ 3425846 w 7987236"/>
                <a:gd name="connsiteY16" fmla="*/ 2039395 h 4365770"/>
                <a:gd name="connsiteX17" fmla="*/ 3566763 w 7987236"/>
                <a:gd name="connsiteY17" fmla="*/ 1681440 h 4365770"/>
                <a:gd name="connsiteX18" fmla="*/ 3627917 w 7987236"/>
                <a:gd name="connsiteY18" fmla="*/ 1404359 h 4365770"/>
                <a:gd name="connsiteX19" fmla="*/ 3701185 w 7987236"/>
                <a:gd name="connsiteY19" fmla="*/ 971697 h 4365770"/>
                <a:gd name="connsiteX20" fmla="*/ 3708382 w 7987236"/>
                <a:gd name="connsiteY20" fmla="*/ 911805 h 4365770"/>
                <a:gd name="connsiteX21" fmla="*/ 3715727 w 7987236"/>
                <a:gd name="connsiteY21" fmla="*/ 850683 h 4365770"/>
                <a:gd name="connsiteX22" fmla="*/ 3429750 w 7987236"/>
                <a:gd name="connsiteY22" fmla="*/ 850683 h 4365770"/>
                <a:gd name="connsiteX23" fmla="*/ 3993849 w 7987236"/>
                <a:gd name="connsiteY23" fmla="*/ 0 h 4365770"/>
                <a:gd name="connsiteX0" fmla="*/ 3993849 w 7987236"/>
                <a:gd name="connsiteY0" fmla="*/ 0 h 4365770"/>
                <a:gd name="connsiteX1" fmla="*/ 4557470 w 7987236"/>
                <a:gd name="connsiteY1" fmla="*/ 850683 h 4365770"/>
                <a:gd name="connsiteX2" fmla="*/ 4271012 w 7987236"/>
                <a:gd name="connsiteY2" fmla="*/ 850683 h 4365770"/>
                <a:gd name="connsiteX3" fmla="*/ 4272869 w 7987236"/>
                <a:gd name="connsiteY3" fmla="*/ 866139 h 4365770"/>
                <a:gd name="connsiteX4" fmla="*/ 4278864 w 7987236"/>
                <a:gd name="connsiteY4" fmla="*/ 915572 h 4365770"/>
                <a:gd name="connsiteX5" fmla="*/ 4278948 w 7987236"/>
                <a:gd name="connsiteY5" fmla="*/ 916727 h 4365770"/>
                <a:gd name="connsiteX6" fmla="*/ 4285552 w 7987236"/>
                <a:gd name="connsiteY6" fmla="*/ 971697 h 4365770"/>
                <a:gd name="connsiteX7" fmla="*/ 4358821 w 7987236"/>
                <a:gd name="connsiteY7" fmla="*/ 1404359 h 4365770"/>
                <a:gd name="connsiteX8" fmla="*/ 4419370 w 7987236"/>
                <a:gd name="connsiteY8" fmla="*/ 1678677 h 4365770"/>
                <a:gd name="connsiteX9" fmla="*/ 4561374 w 7987236"/>
                <a:gd name="connsiteY9" fmla="*/ 2039394 h 4365770"/>
                <a:gd name="connsiteX10" fmla="*/ 6017649 w 7987236"/>
                <a:gd name="connsiteY10" fmla="*/ 3683414 h 4365770"/>
                <a:gd name="connsiteX11" fmla="*/ 7878001 w 7987236"/>
                <a:gd name="connsiteY11" fmla="*/ 4359431 h 4365770"/>
                <a:gd name="connsiteX12" fmla="*/ 7987236 w 7987236"/>
                <a:gd name="connsiteY12" fmla="*/ 4365770 h 4365770"/>
                <a:gd name="connsiteX13" fmla="*/ 0 w 7987236"/>
                <a:gd name="connsiteY13" fmla="*/ 4365770 h 4365770"/>
                <a:gd name="connsiteX14" fmla="*/ 109217 w 7987236"/>
                <a:gd name="connsiteY14" fmla="*/ 4359432 h 4365770"/>
                <a:gd name="connsiteX15" fmla="*/ 1969571 w 7987236"/>
                <a:gd name="connsiteY15" fmla="*/ 3683415 h 4365770"/>
                <a:gd name="connsiteX16" fmla="*/ 3425846 w 7987236"/>
                <a:gd name="connsiteY16" fmla="*/ 2039395 h 4365770"/>
                <a:gd name="connsiteX17" fmla="*/ 3566763 w 7987236"/>
                <a:gd name="connsiteY17" fmla="*/ 1681440 h 4365770"/>
                <a:gd name="connsiteX18" fmla="*/ 3627917 w 7987236"/>
                <a:gd name="connsiteY18" fmla="*/ 1404359 h 4365770"/>
                <a:gd name="connsiteX19" fmla="*/ 3701185 w 7987236"/>
                <a:gd name="connsiteY19" fmla="*/ 971697 h 4365770"/>
                <a:gd name="connsiteX20" fmla="*/ 3708382 w 7987236"/>
                <a:gd name="connsiteY20" fmla="*/ 911805 h 4365770"/>
                <a:gd name="connsiteX21" fmla="*/ 3715727 w 7987236"/>
                <a:gd name="connsiteY21" fmla="*/ 850683 h 4365770"/>
                <a:gd name="connsiteX22" fmla="*/ 3429750 w 7987236"/>
                <a:gd name="connsiteY22" fmla="*/ 850683 h 4365770"/>
                <a:gd name="connsiteX23" fmla="*/ 3993849 w 7987236"/>
                <a:gd name="connsiteY23" fmla="*/ 0 h 4365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987236" h="4365770">
                  <a:moveTo>
                    <a:pt x="3993849" y="0"/>
                  </a:moveTo>
                  <a:lnTo>
                    <a:pt x="4557470" y="850683"/>
                  </a:lnTo>
                  <a:lnTo>
                    <a:pt x="4271012" y="850683"/>
                  </a:lnTo>
                  <a:lnTo>
                    <a:pt x="4272869" y="866139"/>
                  </a:lnTo>
                  <a:lnTo>
                    <a:pt x="4278864" y="915572"/>
                  </a:lnTo>
                  <a:lnTo>
                    <a:pt x="4278948" y="916727"/>
                  </a:lnTo>
                  <a:lnTo>
                    <a:pt x="4285552" y="971697"/>
                  </a:lnTo>
                  <a:cubicBezTo>
                    <a:pt x="4305963" y="1117212"/>
                    <a:pt x="4330828" y="1262095"/>
                    <a:pt x="4358821" y="1404359"/>
                  </a:cubicBezTo>
                  <a:lnTo>
                    <a:pt x="4419370" y="1678677"/>
                  </a:lnTo>
                  <a:cubicBezTo>
                    <a:pt x="4439553" y="1770116"/>
                    <a:pt x="4444219" y="1771946"/>
                    <a:pt x="4561374" y="2039394"/>
                  </a:cubicBezTo>
                  <a:cubicBezTo>
                    <a:pt x="4849130" y="2657012"/>
                    <a:pt x="5347268" y="3241518"/>
                    <a:pt x="6017649" y="3683414"/>
                  </a:cubicBezTo>
                  <a:cubicBezTo>
                    <a:pt x="6614897" y="4077103"/>
                    <a:pt x="7262278" y="4300529"/>
                    <a:pt x="7878001" y="4359431"/>
                  </a:cubicBezTo>
                  <a:lnTo>
                    <a:pt x="7987236" y="4365770"/>
                  </a:lnTo>
                  <a:lnTo>
                    <a:pt x="0" y="4365770"/>
                  </a:lnTo>
                  <a:lnTo>
                    <a:pt x="109217" y="4359432"/>
                  </a:lnTo>
                  <a:cubicBezTo>
                    <a:pt x="724940" y="4300531"/>
                    <a:pt x="1372323" y="4077104"/>
                    <a:pt x="1969571" y="3683415"/>
                  </a:cubicBezTo>
                  <a:cubicBezTo>
                    <a:pt x="2639952" y="3241519"/>
                    <a:pt x="3138091" y="2657013"/>
                    <a:pt x="3425846" y="2039395"/>
                  </a:cubicBezTo>
                  <a:cubicBezTo>
                    <a:pt x="3472818" y="1920077"/>
                    <a:pt x="3527728" y="1800758"/>
                    <a:pt x="3566763" y="1681440"/>
                  </a:cubicBezTo>
                  <a:cubicBezTo>
                    <a:pt x="3605798" y="1562122"/>
                    <a:pt x="3605513" y="1522649"/>
                    <a:pt x="3627917" y="1404359"/>
                  </a:cubicBezTo>
                  <a:cubicBezTo>
                    <a:pt x="3655909" y="1262095"/>
                    <a:pt x="3680774" y="1117212"/>
                    <a:pt x="3701185" y="971697"/>
                  </a:cubicBezTo>
                  <a:lnTo>
                    <a:pt x="3708382" y="911805"/>
                  </a:lnTo>
                  <a:cubicBezTo>
                    <a:pt x="3710806" y="891636"/>
                    <a:pt x="3720891" y="849758"/>
                    <a:pt x="3715727" y="850683"/>
                  </a:cubicBezTo>
                  <a:cubicBezTo>
                    <a:pt x="3710563" y="851608"/>
                    <a:pt x="3525076" y="850683"/>
                    <a:pt x="3429750" y="850683"/>
                  </a:cubicBezTo>
                  <a:lnTo>
                    <a:pt x="3993849" y="0"/>
                  </a:lnTo>
                  <a:close/>
                </a:path>
              </a:pathLst>
            </a:custGeom>
            <a:gradFill>
              <a:gsLst>
                <a:gs pos="0">
                  <a:srgbClr val="D4AF37">
                    <a:alpha val="53000"/>
                  </a:srgbClr>
                </a:gs>
                <a:gs pos="100000">
                  <a:srgbClr val="D4AF37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rgbClr val="1E3A5F">
                <a:shade val="15000"/>
              </a:srgbClr>
            </a:lnRef>
            <a:fillRef idx="1">
              <a:srgbClr val="1E3A5F"/>
            </a:fillRef>
            <a:effectRef idx="0">
              <a:srgbClr val="1E3A5F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" name="椭圆 35">
              <a:extLst>
                <a:ext uri="{FF2B5EF4-FFF2-40B4-BE49-F238E27FC236}">
                  <a16:creationId xmlns:a16="http://schemas.microsoft.com/office/drawing/2014/main" id="{04CA549E-C163-4D46-EFB2-8583708F074E}"/>
                </a:ext>
              </a:extLst>
            </p:cNvPr>
            <p:cNvSpPr/>
            <p:nvPr/>
          </p:nvSpPr>
          <p:spPr>
            <a:xfrm>
              <a:off x="2100668" y="3445809"/>
              <a:ext cx="7990663" cy="2614679"/>
            </a:xfrm>
            <a:prstGeom prst="ellipse">
              <a:avLst/>
            </a:prstGeom>
            <a:gradFill>
              <a:gsLst>
                <a:gs pos="0">
                  <a:srgbClr val="D4AF37">
                    <a:alpha val="0"/>
                  </a:srgbClr>
                </a:gs>
                <a:gs pos="100000">
                  <a:srgbClr val="D4AF37">
                    <a:alpha val="14000"/>
                  </a:srgbClr>
                </a:gs>
              </a:gsLst>
              <a:lin ang="5400000" scaled="1"/>
            </a:gradFill>
            <a:ln>
              <a:noFill/>
            </a:ln>
            <a:effectLst>
              <a:outerShdw blurRad="342900" dist="38100" dir="5400000" algn="t" rotWithShape="0">
                <a:srgbClr val="000000">
                  <a:lumMod val="50000"/>
                  <a:alpha val="19000"/>
                </a:srgbClr>
              </a:outerShdw>
            </a:effectLst>
          </p:spPr>
          <p:style>
            <a:lnRef idx="2">
              <a:srgbClr val="1E3A5F">
                <a:shade val="15000"/>
              </a:srgbClr>
            </a:lnRef>
            <a:fillRef idx="1">
              <a:srgbClr val="1E3A5F"/>
            </a:fillRef>
            <a:effectRef idx="0">
              <a:srgbClr val="1E3A5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椭圆 36">
              <a:extLst>
                <a:ext uri="{FF2B5EF4-FFF2-40B4-BE49-F238E27FC236}">
                  <a16:creationId xmlns:a16="http://schemas.microsoft.com/office/drawing/2014/main" id="{F335F293-D3A7-236B-1B84-FE19B881138B}"/>
                </a:ext>
              </a:extLst>
            </p:cNvPr>
            <p:cNvSpPr/>
            <p:nvPr/>
          </p:nvSpPr>
          <p:spPr>
            <a:xfrm>
              <a:off x="3178847" y="2743515"/>
              <a:ext cx="5834304" cy="1904577"/>
            </a:xfrm>
            <a:prstGeom prst="ellipse">
              <a:avLst/>
            </a:prstGeom>
            <a:gradFill>
              <a:gsLst>
                <a:gs pos="0">
                  <a:srgbClr val="1E3A5F">
                    <a:alpha val="0"/>
                  </a:srgbClr>
                </a:gs>
                <a:gs pos="100000">
                  <a:srgbClr val="1E3A5F">
                    <a:alpha val="11000"/>
                  </a:srgbClr>
                </a:gs>
              </a:gsLst>
              <a:lin ang="5400000" scaled="1"/>
            </a:gradFill>
            <a:ln>
              <a:noFill/>
            </a:ln>
            <a:effectLst>
              <a:outerShdw blurRad="342900" dist="38100" dir="5400000" algn="t" rotWithShape="0">
                <a:srgbClr val="000000">
                  <a:lumMod val="50000"/>
                  <a:alpha val="19000"/>
                </a:srgbClr>
              </a:outerShdw>
            </a:effectLst>
          </p:spPr>
          <p:style>
            <a:lnRef idx="2">
              <a:srgbClr val="1E3A5F">
                <a:shade val="15000"/>
              </a:srgbClr>
            </a:lnRef>
            <a:fillRef idx="1">
              <a:srgbClr val="1E3A5F"/>
            </a:fillRef>
            <a:effectRef idx="0">
              <a:srgbClr val="1E3A5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37">
              <a:extLst>
                <a:ext uri="{FF2B5EF4-FFF2-40B4-BE49-F238E27FC236}">
                  <a16:creationId xmlns:a16="http://schemas.microsoft.com/office/drawing/2014/main" id="{D0F44BD2-977D-C3EF-CE20-0945CADEB181}"/>
                </a:ext>
              </a:extLst>
            </p:cNvPr>
            <p:cNvSpPr/>
            <p:nvPr/>
          </p:nvSpPr>
          <p:spPr>
            <a:xfrm>
              <a:off x="3403600" y="2728122"/>
              <a:ext cx="5384800" cy="1652153"/>
            </a:xfrm>
            <a:prstGeom prst="ellipse">
              <a:avLst/>
            </a:prstGeom>
            <a:noFill/>
            <a:ln w="22225">
              <a:gradFill>
                <a:gsLst>
                  <a:gs pos="19000">
                    <a:srgbClr val="1E3A5F">
                      <a:alpha val="0"/>
                    </a:srgbClr>
                  </a:gs>
                  <a:gs pos="100000">
                    <a:srgbClr val="1E3A5F">
                      <a:alpha val="50000"/>
                    </a:srgbClr>
                  </a:gs>
                </a:gsLst>
                <a:lin ang="5400000" scaled="1"/>
              </a:gradFill>
            </a:ln>
          </p:spPr>
          <p:style>
            <a:lnRef idx="2">
              <a:srgbClr val="1E3A5F">
                <a:shade val="15000"/>
              </a:srgbClr>
            </a:lnRef>
            <a:fillRef idx="1">
              <a:srgbClr val="1E3A5F"/>
            </a:fillRef>
            <a:effectRef idx="0">
              <a:srgbClr val="1E3A5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sp>
          <p:nvSpPr>
            <p:cNvPr id="9" name="椭圆 38">
              <a:extLst>
                <a:ext uri="{FF2B5EF4-FFF2-40B4-BE49-F238E27FC236}">
                  <a16:creationId xmlns:a16="http://schemas.microsoft.com/office/drawing/2014/main" id="{194D961C-6EA1-0AF5-B9F7-DBE50DB02EC4}"/>
                </a:ext>
              </a:extLst>
            </p:cNvPr>
            <p:cNvSpPr/>
            <p:nvPr/>
          </p:nvSpPr>
          <p:spPr>
            <a:xfrm>
              <a:off x="4310302" y="2033436"/>
              <a:ext cx="3571395" cy="1186243"/>
            </a:xfrm>
            <a:prstGeom prst="ellipse">
              <a:avLst/>
            </a:prstGeom>
            <a:gradFill>
              <a:gsLst>
                <a:gs pos="0">
                  <a:srgbClr val="1E3A5F">
                    <a:alpha val="0"/>
                  </a:srgbClr>
                </a:gs>
                <a:gs pos="100000">
                  <a:srgbClr val="1E3A5F">
                    <a:alpha val="21000"/>
                  </a:srgbClr>
                </a:gs>
              </a:gsLst>
              <a:lin ang="5400000" scaled="1"/>
            </a:gradFill>
            <a:ln>
              <a:noFill/>
            </a:ln>
            <a:effectLst>
              <a:outerShdw blurRad="342900" dist="38100" dir="5400000" algn="t" rotWithShape="0">
                <a:srgbClr val="000000">
                  <a:lumMod val="50000"/>
                  <a:alpha val="19000"/>
                </a:srgbClr>
              </a:outerShdw>
            </a:effectLst>
          </p:spPr>
          <p:style>
            <a:lnRef idx="2">
              <a:srgbClr val="1E3A5F">
                <a:shade val="15000"/>
              </a:srgbClr>
            </a:lnRef>
            <a:fillRef idx="1">
              <a:srgbClr val="1E3A5F"/>
            </a:fillRef>
            <a:effectRef idx="0">
              <a:srgbClr val="1E3A5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" name="椭圆 39">
              <a:extLst>
                <a:ext uri="{FF2B5EF4-FFF2-40B4-BE49-F238E27FC236}">
                  <a16:creationId xmlns:a16="http://schemas.microsoft.com/office/drawing/2014/main" id="{F5B4DA2D-7A6E-EC4B-A616-312EDFBEEF21}"/>
                </a:ext>
              </a:extLst>
            </p:cNvPr>
            <p:cNvSpPr/>
            <p:nvPr/>
          </p:nvSpPr>
          <p:spPr>
            <a:xfrm>
              <a:off x="4489343" y="2023849"/>
              <a:ext cx="3213313" cy="1012794"/>
            </a:xfrm>
            <a:prstGeom prst="ellipse">
              <a:avLst/>
            </a:prstGeom>
            <a:noFill/>
            <a:ln w="22225">
              <a:gradFill>
                <a:gsLst>
                  <a:gs pos="19000">
                    <a:srgbClr val="1E3A5F">
                      <a:alpha val="0"/>
                    </a:srgbClr>
                  </a:gs>
                  <a:gs pos="100000">
                    <a:srgbClr val="1E3A5F">
                      <a:alpha val="63000"/>
                    </a:srgbClr>
                  </a:gs>
                </a:gsLst>
                <a:lin ang="5400000" scaled="1"/>
              </a:gradFill>
            </a:ln>
          </p:spPr>
          <p:style>
            <a:lnRef idx="2">
              <a:srgbClr val="1E3A5F">
                <a:shade val="15000"/>
              </a:srgbClr>
            </a:lnRef>
            <a:fillRef idx="1">
              <a:srgbClr val="1E3A5F"/>
            </a:fillRef>
            <a:effectRef idx="0">
              <a:srgbClr val="1E3A5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1" name="椭圆 40">
              <a:extLst>
                <a:ext uri="{FF2B5EF4-FFF2-40B4-BE49-F238E27FC236}">
                  <a16:creationId xmlns:a16="http://schemas.microsoft.com/office/drawing/2014/main" id="{37C37301-F9EA-60C5-F2A8-D2FCC2E6278D}"/>
                </a:ext>
              </a:extLst>
            </p:cNvPr>
            <p:cNvSpPr/>
            <p:nvPr/>
          </p:nvSpPr>
          <p:spPr>
            <a:xfrm>
              <a:off x="2293444" y="3454513"/>
              <a:ext cx="7605110" cy="2344096"/>
            </a:xfrm>
            <a:prstGeom prst="ellipse">
              <a:avLst/>
            </a:prstGeom>
            <a:noFill/>
            <a:ln w="22225">
              <a:gradFill>
                <a:gsLst>
                  <a:gs pos="19000">
                    <a:srgbClr val="D4AF37">
                      <a:alpha val="0"/>
                    </a:srgbClr>
                  </a:gs>
                  <a:gs pos="100000">
                    <a:srgbClr val="D4AF37"/>
                  </a:gs>
                </a:gsLst>
                <a:lin ang="5400000" scaled="1"/>
              </a:gradFill>
            </a:ln>
          </p:spPr>
          <p:style>
            <a:lnRef idx="2">
              <a:srgbClr val="1E3A5F">
                <a:shade val="15000"/>
              </a:srgbClr>
            </a:lnRef>
            <a:fillRef idx="1">
              <a:srgbClr val="1E3A5F"/>
            </a:fillRef>
            <a:effectRef idx="0">
              <a:srgbClr val="1E3A5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2" name="椭圆 41">
              <a:extLst>
                <a:ext uri="{FF2B5EF4-FFF2-40B4-BE49-F238E27FC236}">
                  <a16:creationId xmlns:a16="http://schemas.microsoft.com/office/drawing/2014/main" id="{797B6574-C864-DD2E-38D2-BECCAD9EE971}"/>
                </a:ext>
              </a:extLst>
            </p:cNvPr>
            <p:cNvSpPr/>
            <p:nvPr/>
          </p:nvSpPr>
          <p:spPr>
            <a:xfrm>
              <a:off x="2244104" y="4704319"/>
              <a:ext cx="148099" cy="148099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4AF37"/>
              </a:solidFill>
            </a:ln>
          </p:spPr>
          <p:style>
            <a:lnRef idx="2">
              <a:srgbClr val="1E3A5F">
                <a:shade val="15000"/>
              </a:srgbClr>
            </a:lnRef>
            <a:fillRef idx="1">
              <a:srgbClr val="1E3A5F"/>
            </a:fillRef>
            <a:effectRef idx="0">
              <a:srgbClr val="1E3A5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等腰三角形 42">
              <a:extLst>
                <a:ext uri="{FF2B5EF4-FFF2-40B4-BE49-F238E27FC236}">
                  <a16:creationId xmlns:a16="http://schemas.microsoft.com/office/drawing/2014/main" id="{6F72C015-4231-D6EA-BFBB-2A9F20332AC5}"/>
                </a:ext>
              </a:extLst>
            </p:cNvPr>
            <p:cNvSpPr/>
            <p:nvPr/>
          </p:nvSpPr>
          <p:spPr>
            <a:xfrm rot="6577563">
              <a:off x="3760329" y="5512156"/>
              <a:ext cx="117122" cy="100967"/>
            </a:xfrm>
            <a:prstGeom prst="triangl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rgbClr val="1E3A5F">
                <a:shade val="15000"/>
              </a:srgbClr>
            </a:lnRef>
            <a:fillRef idx="1">
              <a:srgbClr val="1E3A5F"/>
            </a:fillRef>
            <a:effectRef idx="0">
              <a:srgbClr val="1E3A5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43">
              <a:extLst>
                <a:ext uri="{FF2B5EF4-FFF2-40B4-BE49-F238E27FC236}">
                  <a16:creationId xmlns:a16="http://schemas.microsoft.com/office/drawing/2014/main" id="{811B83AE-05BE-A563-E3A9-5EF91F488A0F}"/>
                </a:ext>
              </a:extLst>
            </p:cNvPr>
            <p:cNvSpPr/>
            <p:nvPr/>
          </p:nvSpPr>
          <p:spPr>
            <a:xfrm>
              <a:off x="6021951" y="5727425"/>
              <a:ext cx="148099" cy="148099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4AF37"/>
              </a:solidFill>
            </a:ln>
          </p:spPr>
          <p:style>
            <a:lnRef idx="2">
              <a:srgbClr val="1E3A5F">
                <a:shade val="15000"/>
              </a:srgbClr>
            </a:lnRef>
            <a:fillRef idx="1">
              <a:srgbClr val="1E3A5F"/>
            </a:fillRef>
            <a:effectRef idx="0">
              <a:srgbClr val="1E3A5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44">
              <a:extLst>
                <a:ext uri="{FF2B5EF4-FFF2-40B4-BE49-F238E27FC236}">
                  <a16:creationId xmlns:a16="http://schemas.microsoft.com/office/drawing/2014/main" id="{A0FC7865-4B06-A032-22E4-9722315F7488}"/>
                </a:ext>
              </a:extLst>
            </p:cNvPr>
            <p:cNvSpPr/>
            <p:nvPr/>
          </p:nvSpPr>
          <p:spPr>
            <a:xfrm>
              <a:off x="9772794" y="4704319"/>
              <a:ext cx="148099" cy="148099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4AF37"/>
              </a:solidFill>
            </a:ln>
          </p:spPr>
          <p:style>
            <a:lnRef idx="2">
              <a:srgbClr val="1E3A5F">
                <a:shade val="15000"/>
              </a:srgbClr>
            </a:lnRef>
            <a:fillRef idx="1">
              <a:srgbClr val="1E3A5F"/>
            </a:fillRef>
            <a:effectRef idx="0">
              <a:srgbClr val="1E3A5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45">
              <a:extLst>
                <a:ext uri="{FF2B5EF4-FFF2-40B4-BE49-F238E27FC236}">
                  <a16:creationId xmlns:a16="http://schemas.microsoft.com/office/drawing/2014/main" id="{5417E08F-6A72-ECC6-3C17-883AA04D359F}"/>
                </a:ext>
              </a:extLst>
            </p:cNvPr>
            <p:cNvSpPr/>
            <p:nvPr/>
          </p:nvSpPr>
          <p:spPr>
            <a:xfrm rot="4558482">
              <a:off x="8372045" y="5504463"/>
              <a:ext cx="117122" cy="100967"/>
            </a:xfrm>
            <a:prstGeom prst="triangle">
              <a:avLst/>
            </a:prstGeom>
            <a:solidFill>
              <a:srgbClr val="D4AF37"/>
            </a:solidFill>
            <a:ln>
              <a:noFill/>
            </a:ln>
          </p:spPr>
          <p:style>
            <a:lnRef idx="2">
              <a:srgbClr val="1E3A5F">
                <a:shade val="15000"/>
              </a:srgbClr>
            </a:lnRef>
            <a:fillRef idx="1">
              <a:srgbClr val="1E3A5F"/>
            </a:fillRef>
            <a:effectRef idx="0">
              <a:srgbClr val="1E3A5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46">
              <a:extLst>
                <a:ext uri="{FF2B5EF4-FFF2-40B4-BE49-F238E27FC236}">
                  <a16:creationId xmlns:a16="http://schemas.microsoft.com/office/drawing/2014/main" id="{2C5C8BCB-45FF-1C01-2816-93CFA77C8B06}"/>
                </a:ext>
              </a:extLst>
            </p:cNvPr>
            <p:cNvSpPr/>
            <p:nvPr/>
          </p:nvSpPr>
          <p:spPr>
            <a:xfrm>
              <a:off x="3334167" y="3496472"/>
              <a:ext cx="148099" cy="148099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E3A5F"/>
              </a:solidFill>
            </a:ln>
          </p:spPr>
          <p:style>
            <a:lnRef idx="2">
              <a:srgbClr val="1E3A5F">
                <a:shade val="15000"/>
              </a:srgbClr>
            </a:lnRef>
            <a:fillRef idx="1">
              <a:srgbClr val="1E3A5F"/>
            </a:fillRef>
            <a:effectRef idx="0">
              <a:srgbClr val="1E3A5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椭圆 47">
              <a:extLst>
                <a:ext uri="{FF2B5EF4-FFF2-40B4-BE49-F238E27FC236}">
                  <a16:creationId xmlns:a16="http://schemas.microsoft.com/office/drawing/2014/main" id="{DD067CC7-F2BE-9D57-F33A-C8BA478E71FD}"/>
                </a:ext>
              </a:extLst>
            </p:cNvPr>
            <p:cNvSpPr/>
            <p:nvPr/>
          </p:nvSpPr>
          <p:spPr>
            <a:xfrm>
              <a:off x="6021950" y="4299223"/>
              <a:ext cx="148099" cy="148099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E3A5F"/>
              </a:solidFill>
            </a:ln>
          </p:spPr>
          <p:style>
            <a:lnRef idx="2">
              <a:srgbClr val="1E3A5F">
                <a:shade val="15000"/>
              </a:srgbClr>
            </a:lnRef>
            <a:fillRef idx="1">
              <a:srgbClr val="1E3A5F"/>
            </a:fillRef>
            <a:effectRef idx="0">
              <a:srgbClr val="1E3A5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48">
              <a:extLst>
                <a:ext uri="{FF2B5EF4-FFF2-40B4-BE49-F238E27FC236}">
                  <a16:creationId xmlns:a16="http://schemas.microsoft.com/office/drawing/2014/main" id="{F410D7B4-2606-32B3-060D-5188AFB4BBA0}"/>
                </a:ext>
              </a:extLst>
            </p:cNvPr>
            <p:cNvSpPr/>
            <p:nvPr/>
          </p:nvSpPr>
          <p:spPr>
            <a:xfrm>
              <a:off x="8709733" y="3496472"/>
              <a:ext cx="148099" cy="148099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E3A5F"/>
              </a:solidFill>
            </a:ln>
          </p:spPr>
          <p:style>
            <a:lnRef idx="2">
              <a:srgbClr val="1E3A5F">
                <a:shade val="15000"/>
              </a:srgbClr>
            </a:lnRef>
            <a:fillRef idx="1">
              <a:srgbClr val="1E3A5F"/>
            </a:fillRef>
            <a:effectRef idx="0">
              <a:srgbClr val="1E3A5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49">
              <a:extLst>
                <a:ext uri="{FF2B5EF4-FFF2-40B4-BE49-F238E27FC236}">
                  <a16:creationId xmlns:a16="http://schemas.microsoft.com/office/drawing/2014/main" id="{EBAD1295-0C6D-D08F-BBE1-8BDC05425D5A}"/>
                </a:ext>
              </a:extLst>
            </p:cNvPr>
            <p:cNvSpPr txBox="1"/>
            <p:nvPr/>
          </p:nvSpPr>
          <p:spPr>
            <a:xfrm>
              <a:off x="649706" y="523557"/>
              <a:ext cx="6862344" cy="49244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zh-CN" altLang="en-US" sz="32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数字化能力</a:t>
              </a:r>
              <a:r>
                <a:rPr lang="zh-CN" altLang="en-US" sz="3200" b="1" dirty="0">
                  <a:solidFill>
                    <a:srgbClr val="000000"/>
                  </a:solidFill>
                  <a:latin typeface="微软雅黑"/>
                  <a:ea typeface="微软雅黑"/>
                </a:rPr>
                <a:t>成熟度模型</a:t>
              </a:r>
              <a:endPara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50">
              <a:extLst>
                <a:ext uri="{FF2B5EF4-FFF2-40B4-BE49-F238E27FC236}">
                  <a16:creationId xmlns:a16="http://schemas.microsoft.com/office/drawing/2014/main" id="{E9CE4BAC-BBE4-74E8-F46A-7B861585BD42}"/>
                </a:ext>
              </a:extLst>
            </p:cNvPr>
            <p:cNvSpPr txBox="1"/>
            <p:nvPr/>
          </p:nvSpPr>
          <p:spPr>
            <a:xfrm>
              <a:off x="1021169" y="4565819"/>
              <a:ext cx="95410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rgbClr val="000000"/>
                  </a:solidFill>
                </a:rPr>
                <a:t>评估</a:t>
              </a:r>
              <a:endParaRPr lang="en-US" altLang="zh-CN" sz="1200">
                <a:solidFill>
                  <a:srgbClr val="000000"/>
                </a:solidFill>
              </a:endParaRPr>
            </a:p>
            <a:p>
              <a:pPr algn="ctr"/>
              <a:r>
                <a:rPr lang="zh-CN" altLang="en-US" sz="1200">
                  <a:solidFill>
                    <a:srgbClr val="000000"/>
                  </a:solidFill>
                </a:rPr>
                <a:t>规划</a:t>
              </a:r>
              <a:r>
                <a:rPr lang="zh-CN" altLang="en-US" sz="1200" dirty="0">
                  <a:solidFill>
                    <a:srgbClr val="000000"/>
                  </a:solidFill>
                </a:rPr>
                <a:t>落地</a:t>
              </a:r>
            </a:p>
          </p:txBody>
        </p:sp>
        <p:sp>
          <p:nvSpPr>
            <p:cNvPr id="22" name="文本框 51">
              <a:extLst>
                <a:ext uri="{FF2B5EF4-FFF2-40B4-BE49-F238E27FC236}">
                  <a16:creationId xmlns:a16="http://schemas.microsoft.com/office/drawing/2014/main" id="{184A6BF6-982C-6666-3C84-9683283E7BD0}"/>
                </a:ext>
              </a:extLst>
            </p:cNvPr>
            <p:cNvSpPr txBox="1"/>
            <p:nvPr/>
          </p:nvSpPr>
          <p:spPr>
            <a:xfrm>
              <a:off x="5542001" y="5911209"/>
              <a:ext cx="11079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rgbClr val="000000"/>
                  </a:solidFill>
                </a:rPr>
                <a:t>数据基建</a:t>
              </a:r>
            </a:p>
          </p:txBody>
        </p:sp>
        <p:sp>
          <p:nvSpPr>
            <p:cNvPr id="23" name="文本框 52">
              <a:extLst>
                <a:ext uri="{FF2B5EF4-FFF2-40B4-BE49-F238E27FC236}">
                  <a16:creationId xmlns:a16="http://schemas.microsoft.com/office/drawing/2014/main" id="{0E1DFF37-A829-168E-B43F-452860D5CECF}"/>
                </a:ext>
              </a:extLst>
            </p:cNvPr>
            <p:cNvSpPr txBox="1"/>
            <p:nvPr/>
          </p:nvSpPr>
          <p:spPr>
            <a:xfrm>
              <a:off x="10057966" y="4649638"/>
              <a:ext cx="11079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rgbClr val="000000"/>
                  </a:solidFill>
                </a:rPr>
                <a:t>流程上线</a:t>
              </a:r>
            </a:p>
          </p:txBody>
        </p:sp>
        <p:sp>
          <p:nvSpPr>
            <p:cNvPr id="24" name="文本框 53">
              <a:extLst>
                <a:ext uri="{FF2B5EF4-FFF2-40B4-BE49-F238E27FC236}">
                  <a16:creationId xmlns:a16="http://schemas.microsoft.com/office/drawing/2014/main" id="{94C619D4-4C8D-7C0E-32C9-E9D9254D14EA}"/>
                </a:ext>
              </a:extLst>
            </p:cNvPr>
            <p:cNvSpPr txBox="1"/>
            <p:nvPr/>
          </p:nvSpPr>
          <p:spPr>
            <a:xfrm>
              <a:off x="1919890" y="3421909"/>
              <a:ext cx="12618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rgbClr val="000000"/>
                  </a:solidFill>
                </a:rPr>
                <a:t>系统打通</a:t>
              </a:r>
            </a:p>
          </p:txBody>
        </p:sp>
        <p:sp>
          <p:nvSpPr>
            <p:cNvPr id="25" name="文本框 54">
              <a:extLst>
                <a:ext uri="{FF2B5EF4-FFF2-40B4-BE49-F238E27FC236}">
                  <a16:creationId xmlns:a16="http://schemas.microsoft.com/office/drawing/2014/main" id="{C5D6A07D-7F8C-762E-D5F8-B8D9F00ACE3E}"/>
                </a:ext>
              </a:extLst>
            </p:cNvPr>
            <p:cNvSpPr txBox="1"/>
            <p:nvPr/>
          </p:nvSpPr>
          <p:spPr>
            <a:xfrm>
              <a:off x="5542001" y="4457190"/>
              <a:ext cx="11079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rgbClr val="000000"/>
                  </a:solidFill>
                </a:rPr>
                <a:t>数据治理</a:t>
              </a:r>
            </a:p>
          </p:txBody>
        </p:sp>
        <p:sp>
          <p:nvSpPr>
            <p:cNvPr id="26" name="文本框 55">
              <a:extLst>
                <a:ext uri="{FF2B5EF4-FFF2-40B4-BE49-F238E27FC236}">
                  <a16:creationId xmlns:a16="http://schemas.microsoft.com/office/drawing/2014/main" id="{A14CE1E6-0AB0-A883-2BD1-0A8BB791D8C9}"/>
                </a:ext>
              </a:extLst>
            </p:cNvPr>
            <p:cNvSpPr txBox="1"/>
            <p:nvPr/>
          </p:nvSpPr>
          <p:spPr>
            <a:xfrm>
              <a:off x="9016714" y="3421909"/>
              <a:ext cx="12618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rgbClr val="000000"/>
                  </a:solidFill>
                </a:rPr>
                <a:t>智能应用</a:t>
              </a:r>
            </a:p>
          </p:txBody>
        </p:sp>
        <p:sp>
          <p:nvSpPr>
            <p:cNvPr id="27" name="椭圆 56">
              <a:extLst>
                <a:ext uri="{FF2B5EF4-FFF2-40B4-BE49-F238E27FC236}">
                  <a16:creationId xmlns:a16="http://schemas.microsoft.com/office/drawing/2014/main" id="{BD90C70C-57A9-2264-DDF3-B242931122F3}"/>
                </a:ext>
              </a:extLst>
            </p:cNvPr>
            <p:cNvSpPr/>
            <p:nvPr/>
          </p:nvSpPr>
          <p:spPr>
            <a:xfrm>
              <a:off x="4437520" y="2528628"/>
              <a:ext cx="148099" cy="148099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E3A5F"/>
              </a:solidFill>
            </a:ln>
          </p:spPr>
          <p:style>
            <a:lnRef idx="2">
              <a:srgbClr val="1E3A5F">
                <a:shade val="15000"/>
              </a:srgbClr>
            </a:lnRef>
            <a:fillRef idx="1">
              <a:srgbClr val="1E3A5F"/>
            </a:fillRef>
            <a:effectRef idx="0">
              <a:srgbClr val="1E3A5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椭圆 57">
              <a:extLst>
                <a:ext uri="{FF2B5EF4-FFF2-40B4-BE49-F238E27FC236}">
                  <a16:creationId xmlns:a16="http://schemas.microsoft.com/office/drawing/2014/main" id="{25D2A676-C6A9-6BB3-9009-0FB9EDDCDC9C}"/>
                </a:ext>
              </a:extLst>
            </p:cNvPr>
            <p:cNvSpPr/>
            <p:nvPr/>
          </p:nvSpPr>
          <p:spPr>
            <a:xfrm>
              <a:off x="6021950" y="2960133"/>
              <a:ext cx="148099" cy="148099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E3A5F"/>
              </a:solidFill>
            </a:ln>
          </p:spPr>
          <p:style>
            <a:lnRef idx="2">
              <a:srgbClr val="1E3A5F">
                <a:shade val="15000"/>
              </a:srgbClr>
            </a:lnRef>
            <a:fillRef idx="1">
              <a:srgbClr val="1E3A5F"/>
            </a:fillRef>
            <a:effectRef idx="0">
              <a:srgbClr val="1E3A5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58">
              <a:extLst>
                <a:ext uri="{FF2B5EF4-FFF2-40B4-BE49-F238E27FC236}">
                  <a16:creationId xmlns:a16="http://schemas.microsoft.com/office/drawing/2014/main" id="{D59175ED-F8A4-3D3F-B00A-13124F618837}"/>
                </a:ext>
              </a:extLst>
            </p:cNvPr>
            <p:cNvSpPr/>
            <p:nvPr/>
          </p:nvSpPr>
          <p:spPr>
            <a:xfrm>
              <a:off x="7592567" y="2528628"/>
              <a:ext cx="148099" cy="148099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E3A5F"/>
              </a:solidFill>
            </a:ln>
          </p:spPr>
          <p:style>
            <a:lnRef idx="2">
              <a:srgbClr val="1E3A5F">
                <a:shade val="15000"/>
              </a:srgbClr>
            </a:lnRef>
            <a:fillRef idx="1">
              <a:srgbClr val="1E3A5F"/>
            </a:fillRef>
            <a:effectRef idx="0">
              <a:srgbClr val="1E3A5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59">
              <a:extLst>
                <a:ext uri="{FF2B5EF4-FFF2-40B4-BE49-F238E27FC236}">
                  <a16:creationId xmlns:a16="http://schemas.microsoft.com/office/drawing/2014/main" id="{0D013CA8-D49A-27BA-6358-862D45223980}"/>
                </a:ext>
              </a:extLst>
            </p:cNvPr>
            <p:cNvSpPr txBox="1"/>
            <p:nvPr/>
          </p:nvSpPr>
          <p:spPr>
            <a:xfrm>
              <a:off x="3069836" y="2445536"/>
              <a:ext cx="11079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rgbClr val="000000"/>
                  </a:solidFill>
                </a:rPr>
                <a:t>生态协同</a:t>
              </a:r>
            </a:p>
          </p:txBody>
        </p:sp>
        <p:sp>
          <p:nvSpPr>
            <p:cNvPr id="31" name="文本框 60">
              <a:extLst>
                <a:ext uri="{FF2B5EF4-FFF2-40B4-BE49-F238E27FC236}">
                  <a16:creationId xmlns:a16="http://schemas.microsoft.com/office/drawing/2014/main" id="{510241EB-E3D8-2A5F-DE7F-77597A23D18E}"/>
                </a:ext>
              </a:extLst>
            </p:cNvPr>
            <p:cNvSpPr txBox="1"/>
            <p:nvPr/>
          </p:nvSpPr>
          <p:spPr>
            <a:xfrm>
              <a:off x="5388113" y="3105582"/>
              <a:ext cx="141577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rgbClr val="000000"/>
                  </a:solidFill>
                </a:rPr>
                <a:t>模式创新</a:t>
              </a:r>
            </a:p>
          </p:txBody>
        </p:sp>
        <p:sp>
          <p:nvSpPr>
            <p:cNvPr id="32" name="文本框 61">
              <a:extLst>
                <a:ext uri="{FF2B5EF4-FFF2-40B4-BE49-F238E27FC236}">
                  <a16:creationId xmlns:a16="http://schemas.microsoft.com/office/drawing/2014/main" id="{78E3DA98-F336-4A54-F197-76B4913F1C39}"/>
                </a:ext>
              </a:extLst>
            </p:cNvPr>
            <p:cNvSpPr txBox="1"/>
            <p:nvPr/>
          </p:nvSpPr>
          <p:spPr>
            <a:xfrm>
              <a:off x="7963163" y="2416498"/>
              <a:ext cx="12618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rgbClr val="000000"/>
                  </a:solidFill>
                </a:rPr>
                <a:t>持续进化</a:t>
              </a:r>
            </a:p>
          </p:txBody>
        </p:sp>
        <p:sp>
          <p:nvSpPr>
            <p:cNvPr id="33" name="等腰三角形 62">
              <a:extLst>
                <a:ext uri="{FF2B5EF4-FFF2-40B4-BE49-F238E27FC236}">
                  <a16:creationId xmlns:a16="http://schemas.microsoft.com/office/drawing/2014/main" id="{6743AD24-39F6-AD19-9603-B857566927D8}"/>
                </a:ext>
              </a:extLst>
            </p:cNvPr>
            <p:cNvSpPr/>
            <p:nvPr/>
          </p:nvSpPr>
          <p:spPr>
            <a:xfrm rot="6577563">
              <a:off x="4363562" y="4149345"/>
              <a:ext cx="117122" cy="100967"/>
            </a:xfrm>
            <a:prstGeom prst="triangle">
              <a:avLst/>
            </a:prstGeom>
            <a:solidFill>
              <a:srgbClr val="1E3A5F"/>
            </a:solidFill>
            <a:ln>
              <a:noFill/>
            </a:ln>
          </p:spPr>
          <p:style>
            <a:lnRef idx="2">
              <a:srgbClr val="1E3A5F">
                <a:shade val="15000"/>
              </a:srgbClr>
            </a:lnRef>
            <a:fillRef idx="1">
              <a:srgbClr val="1E3A5F"/>
            </a:fillRef>
            <a:effectRef idx="0">
              <a:srgbClr val="1E3A5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等腰三角形 63">
              <a:extLst>
                <a:ext uri="{FF2B5EF4-FFF2-40B4-BE49-F238E27FC236}">
                  <a16:creationId xmlns:a16="http://schemas.microsoft.com/office/drawing/2014/main" id="{1D000746-D0CC-A7FD-38E2-FE4FC1880DD3}"/>
                </a:ext>
              </a:extLst>
            </p:cNvPr>
            <p:cNvSpPr/>
            <p:nvPr/>
          </p:nvSpPr>
          <p:spPr>
            <a:xfrm rot="4558482">
              <a:off x="7707266" y="4154343"/>
              <a:ext cx="117122" cy="100967"/>
            </a:xfrm>
            <a:prstGeom prst="triangle">
              <a:avLst/>
            </a:prstGeom>
            <a:solidFill>
              <a:srgbClr val="1E3A5F"/>
            </a:solidFill>
            <a:ln>
              <a:noFill/>
            </a:ln>
          </p:spPr>
          <p:style>
            <a:lnRef idx="2">
              <a:srgbClr val="1E3A5F">
                <a:shade val="15000"/>
              </a:srgbClr>
            </a:lnRef>
            <a:fillRef idx="1">
              <a:srgbClr val="1E3A5F"/>
            </a:fillRef>
            <a:effectRef idx="0">
              <a:srgbClr val="1E3A5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等腰三角形 64">
              <a:extLst>
                <a:ext uri="{FF2B5EF4-FFF2-40B4-BE49-F238E27FC236}">
                  <a16:creationId xmlns:a16="http://schemas.microsoft.com/office/drawing/2014/main" id="{62CFC648-FE92-7A07-A88A-888D26757909}"/>
                </a:ext>
              </a:extLst>
            </p:cNvPr>
            <p:cNvSpPr/>
            <p:nvPr/>
          </p:nvSpPr>
          <p:spPr>
            <a:xfrm rot="4558482">
              <a:off x="7033920" y="2874092"/>
              <a:ext cx="117122" cy="100967"/>
            </a:xfrm>
            <a:prstGeom prst="triangle">
              <a:avLst/>
            </a:prstGeom>
            <a:solidFill>
              <a:srgbClr val="1E3A5F"/>
            </a:solidFill>
            <a:ln>
              <a:noFill/>
            </a:ln>
          </p:spPr>
          <p:style>
            <a:lnRef idx="2">
              <a:srgbClr val="1E3A5F">
                <a:shade val="15000"/>
              </a:srgbClr>
            </a:lnRef>
            <a:fillRef idx="1">
              <a:srgbClr val="1E3A5F"/>
            </a:fillRef>
            <a:effectRef idx="0">
              <a:srgbClr val="1E3A5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等腰三角形 65">
              <a:extLst>
                <a:ext uri="{FF2B5EF4-FFF2-40B4-BE49-F238E27FC236}">
                  <a16:creationId xmlns:a16="http://schemas.microsoft.com/office/drawing/2014/main" id="{FAF8FBC1-E84E-4F47-6F69-CBC6BF8704DC}"/>
                </a:ext>
              </a:extLst>
            </p:cNvPr>
            <p:cNvSpPr/>
            <p:nvPr/>
          </p:nvSpPr>
          <p:spPr>
            <a:xfrm rot="6577563">
              <a:off x="5036908" y="2869476"/>
              <a:ext cx="117122" cy="100967"/>
            </a:xfrm>
            <a:prstGeom prst="triangle">
              <a:avLst/>
            </a:prstGeom>
            <a:solidFill>
              <a:srgbClr val="1E3A5F"/>
            </a:solidFill>
            <a:ln>
              <a:noFill/>
            </a:ln>
          </p:spPr>
          <p:style>
            <a:lnRef idx="2">
              <a:srgbClr val="1E3A5F">
                <a:shade val="15000"/>
              </a:srgbClr>
            </a:lnRef>
            <a:fillRef idx="1">
              <a:srgbClr val="1E3A5F"/>
            </a:fillRef>
            <a:effectRef idx="0">
              <a:srgbClr val="1E3A5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文本框 81">
              <a:extLst>
                <a:ext uri="{FF2B5EF4-FFF2-40B4-BE49-F238E27FC236}">
                  <a16:creationId xmlns:a16="http://schemas.microsoft.com/office/drawing/2014/main" id="{618494AB-5D9C-937C-A4D6-5719E12AEE6E}"/>
                </a:ext>
              </a:extLst>
            </p:cNvPr>
            <p:cNvSpPr txBox="1"/>
            <p:nvPr/>
          </p:nvSpPr>
          <p:spPr>
            <a:xfrm>
              <a:off x="4964921" y="4966761"/>
              <a:ext cx="2262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D4AF37"/>
                  </a:solidFill>
                </a:rPr>
                <a:t>L1 基础数字化</a:t>
              </a:r>
            </a:p>
          </p:txBody>
        </p:sp>
        <p:sp>
          <p:nvSpPr>
            <p:cNvPr id="38" name="文本框 82">
              <a:extLst>
                <a:ext uri="{FF2B5EF4-FFF2-40B4-BE49-F238E27FC236}">
                  <a16:creationId xmlns:a16="http://schemas.microsoft.com/office/drawing/2014/main" id="{953B6EE9-E254-12A7-8358-016BE24B22AB}"/>
                </a:ext>
              </a:extLst>
            </p:cNvPr>
            <p:cNvSpPr txBox="1"/>
            <p:nvPr/>
          </p:nvSpPr>
          <p:spPr>
            <a:xfrm>
              <a:off x="4964920" y="2224420"/>
              <a:ext cx="2262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1E3A5F"/>
                  </a:solidFill>
                </a:rPr>
                <a:t>L3 智能化跃迁</a:t>
              </a:r>
            </a:p>
          </p:txBody>
        </p:sp>
        <p:sp>
          <p:nvSpPr>
            <p:cNvPr id="39" name="文本框 83">
              <a:extLst>
                <a:ext uri="{FF2B5EF4-FFF2-40B4-BE49-F238E27FC236}">
                  <a16:creationId xmlns:a16="http://schemas.microsoft.com/office/drawing/2014/main" id="{12477646-E7A1-FF5B-E9DC-6F44E02C5E4B}"/>
                </a:ext>
              </a:extLst>
            </p:cNvPr>
            <p:cNvSpPr txBox="1"/>
            <p:nvPr/>
          </p:nvSpPr>
          <p:spPr>
            <a:xfrm>
              <a:off x="4964920" y="3554106"/>
              <a:ext cx="22621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1E3A5F"/>
                  </a:solidFill>
                </a:rPr>
                <a:t>L2 平台化整合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4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