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8EEF5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-381000" y="-381000"/>
            <a:ext cx="2286000" cy="2286000"/>
          </a:xfrm>
          <a:prstGeom prst="ellipse">
            <a:avLst/>
          </a:prstGeom>
          <a:solidFill>
            <a:srgbClr val="1A5F9E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571500" y="0"/>
            <a:ext cx="1143000" cy="1143000"/>
          </a:xfrm>
          <a:prstGeom prst="ellipse">
            <a:avLst/>
          </a:prstGeom>
          <a:solidFill>
            <a:srgbClr val="1A5F9E">
              <a:alpha val="12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001250" y="4667250"/>
            <a:ext cx="2857500" cy="2857500"/>
          </a:xfrm>
          <a:prstGeom prst="ellipse">
            <a:avLst/>
          </a:prstGeom>
          <a:solidFill>
            <a:srgbClr val="1A5F9E">
              <a:alpha val="8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191750" y="5715000"/>
            <a:ext cx="1524000" cy="1524000"/>
          </a:xfrm>
          <a:prstGeom prst="ellipse">
            <a:avLst/>
          </a:prstGeom>
          <a:solidFill>
            <a:srgbClr val="1A5F9E">
              <a:alpha val="12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1A5F9E"/>
              </a:gs>
              <a:gs pos="100000">
                <a:srgbClr val="2B7BC4"/>
              </a:gs>
            </a:gsLst>
            <a:lin ang="0" scaled="1"/>
          </a:gradFill>
          <a:ln>
            <a:noFill/>
          </a:ln>
        </p:spPr>
      </p:sp>
      <p:grpSp>
        <p:nvGrpSpPr>
          <p:cNvPr id="18" name="Group 18"/>
          <p:cNvGrpSpPr/>
          <p:nvPr/>
        </p:nvGrpSpPr>
        <p:grpSpPr>
          <a:xfrm>
            <a:off x="5524500" y="1333500"/>
            <a:ext cx="1143000" cy="762000"/>
            <a:chOff x="5524500" y="1333500"/>
            <a:chExt cx="1143000" cy="762000"/>
          </a:xfrm>
        </p:grpSpPr>
        <p:sp>
          <p:nvSpPr>
            <p:cNvPr id="8" name="Freeform 8"/>
            <p:cNvSpPr/>
            <p:nvPr/>
          </p:nvSpPr>
          <p:spPr>
            <a:xfrm>
              <a:off x="5524500" y="1333500"/>
              <a:ext cx="1143000" cy="762000"/>
            </a:xfrm>
            <a:custGeom>
              <a:avLst/>
              <a:gdLst/>
              <a:ahLst/>
              <a:cxnLst/>
              <a:rect l="l" t="t" r="r" b="b"/>
              <a:pathLst>
                <a:path w="1143000" h="762000">
                  <a:moveTo>
                    <a:pt x="38100" y="0"/>
                  </a:moveTo>
                  <a:lnTo>
                    <a:pt x="1104900" y="0"/>
                  </a:lnTo>
                  <a:cubicBezTo>
                    <a:pt x="1125942" y="0"/>
                    <a:pt x="1143000" y="17058"/>
                    <a:pt x="1143000" y="38100"/>
                  </a:cubicBezTo>
                  <a:lnTo>
                    <a:pt x="1143000" y="723900"/>
                  </a:lnTo>
                  <a:cubicBezTo>
                    <a:pt x="1143000" y="744942"/>
                    <a:pt x="1125942" y="762000"/>
                    <a:pt x="1104900" y="762000"/>
                  </a:cubicBezTo>
                  <a:lnTo>
                    <a:pt x="38100" y="762000"/>
                  </a:lnTo>
                  <a:cubicBezTo>
                    <a:pt x="17058" y="762000"/>
                    <a:pt x="0" y="744942"/>
                    <a:pt x="0" y="72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1A5F9E">
                <a:alpha val="15000"/>
              </a:srgbClr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5619750" y="1428750"/>
              <a:ext cx="952500" cy="571500"/>
            </a:xfrm>
            <a:custGeom>
              <a:avLst/>
              <a:gdLst/>
              <a:ahLst/>
              <a:cxnLst/>
              <a:rect l="l" t="t" r="r" b="b"/>
              <a:pathLst>
                <a:path w="952500" h="571500">
                  <a:moveTo>
                    <a:pt x="19050" y="0"/>
                  </a:moveTo>
                  <a:lnTo>
                    <a:pt x="933450" y="0"/>
                  </a:lnTo>
                  <a:cubicBezTo>
                    <a:pt x="943971" y="0"/>
                    <a:pt x="952500" y="8529"/>
                    <a:pt x="952500" y="19050"/>
                  </a:cubicBezTo>
                  <a:lnTo>
                    <a:pt x="952500" y="552450"/>
                  </a:lnTo>
                  <a:cubicBezTo>
                    <a:pt x="952500" y="562971"/>
                    <a:pt x="943971" y="571500"/>
                    <a:pt x="933450" y="571500"/>
                  </a:cubicBezTo>
                  <a:lnTo>
                    <a:pt x="19050" y="571500"/>
                  </a:lnTo>
                  <a:cubicBezTo>
                    <a:pt x="8529" y="571500"/>
                    <a:pt x="0" y="562971"/>
                    <a:pt x="0" y="552450"/>
                  </a:cubicBezTo>
                  <a:lnTo>
                    <a:pt x="0" y="19050"/>
                  </a:lnTo>
                  <a:cubicBezTo>
                    <a:pt x="0" y="8529"/>
                    <a:pt x="8529" y="0"/>
                    <a:pt x="19050" y="0"/>
                  </a:cubicBez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1A5F9E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5619750" y="171450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9525">
              <a:solidFill>
                <a:srgbClr val="1A5F9E">
                  <a:alpha val="30000"/>
                </a:srgbClr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0" y="1428750"/>
              <a:ext cx="9525" cy="571500"/>
            </a:xfrm>
            <a:custGeom>
              <a:avLst/>
              <a:gdLst/>
              <a:ahLst/>
              <a:cxnLst/>
              <a:rect l="l" t="t" r="r" b="b"/>
              <a:pathLst>
                <a:path w="9525" h="571500">
                  <a:moveTo>
                    <a:pt x="0" y="0"/>
                  </a:moveTo>
                  <a:lnTo>
                    <a:pt x="0" y="571500"/>
                  </a:lnTo>
                </a:path>
              </a:pathLst>
            </a:custGeom>
            <a:noFill/>
            <a:ln w="19050">
              <a:solidFill>
                <a:srgbClr val="1A5F9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715000" y="1524000"/>
              <a:ext cx="285750" cy="28575"/>
            </a:xfrm>
            <a:prstGeom prst="rect">
              <a:avLst/>
            </a:prstGeom>
            <a:solidFill>
              <a:srgbClr val="1A5F9E">
                <a:alpha val="40000"/>
              </a:srgbClr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715000" y="1600200"/>
              <a:ext cx="238125" cy="28575"/>
            </a:xfrm>
            <a:prstGeom prst="rect">
              <a:avLst/>
            </a:prstGeom>
            <a:solidFill>
              <a:srgbClr val="1A5F9E">
                <a:alpha val="30000"/>
              </a:srgbClr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715000" y="1676400"/>
              <a:ext cx="266700" cy="28575"/>
            </a:xfrm>
            <a:prstGeom prst="rect">
              <a:avLst/>
            </a:prstGeom>
            <a:solidFill>
              <a:srgbClr val="1A5F9E">
                <a:alpha val="40000"/>
              </a:srgbClr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191250" y="1524000"/>
              <a:ext cx="285750" cy="28575"/>
            </a:xfrm>
            <a:prstGeom prst="rect">
              <a:avLst/>
            </a:prstGeom>
            <a:solidFill>
              <a:srgbClr val="1A5F9E">
                <a:alpha val="40000"/>
              </a:srgbClr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191250" y="1600200"/>
              <a:ext cx="238125" cy="28575"/>
            </a:xfrm>
            <a:prstGeom prst="rect">
              <a:avLst/>
            </a:prstGeom>
            <a:solidFill>
              <a:srgbClr val="1A5F9E">
                <a:alpha val="30000"/>
              </a:srgbClr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191250" y="1676400"/>
              <a:ext cx="266700" cy="28575"/>
            </a:xfrm>
            <a:prstGeom prst="rect">
              <a:avLst/>
            </a:prstGeom>
            <a:solidFill>
              <a:srgbClr val="1A5F9E">
                <a:alpha val="40000"/>
              </a:srgbClr>
            </a:solidFill>
            <a:ln>
              <a:noFill/>
            </a:ln>
          </p:spPr>
        </p:sp>
      </p:grpSp>
      <p:sp>
        <p:nvSpPr>
          <p:cNvPr id="19" name="TextBox 19"/>
          <p:cNvSpPr txBox="1"/>
          <p:nvPr/>
        </p:nvSpPr>
        <p:spPr>
          <a:xfrm>
            <a:off x="3056096" y="2626995"/>
            <a:ext cx="6079808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重庆大学硕士学位论文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88180" y="3455670"/>
            <a:ext cx="321564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撰写格式标准及要求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206127" y="4029075"/>
            <a:ext cx="177974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（2019年修订版）</a:t>
            </a:r>
          </a:p>
        </p:txBody>
      </p:sp>
      <p:sp>
        <p:nvSpPr>
          <p:cNvPr id="22" name="Freeform 22"/>
          <p:cNvSpPr/>
          <p:nvPr/>
        </p:nvSpPr>
        <p:spPr>
          <a:xfrm>
            <a:off x="4191000" y="4572000"/>
            <a:ext cx="3810000" cy="28575"/>
          </a:xfrm>
          <a:custGeom>
            <a:avLst/>
            <a:gdLst/>
            <a:ahLst/>
            <a:cxnLst/>
            <a:rect l="l" t="t" r="r" b="b"/>
            <a:pathLst>
              <a:path w="3810000" h="28575">
                <a:moveTo>
                  <a:pt x="14288" y="0"/>
                </a:moveTo>
                <a:lnTo>
                  <a:pt x="3795712" y="0"/>
                </a:lnTo>
                <a:cubicBezTo>
                  <a:pt x="3803603" y="0"/>
                  <a:pt x="3810000" y="6397"/>
                  <a:pt x="3810000" y="14288"/>
                </a:cubicBezTo>
                <a:lnTo>
                  <a:pt x="3810000" y="14288"/>
                </a:lnTo>
                <a:cubicBezTo>
                  <a:pt x="3810000" y="22178"/>
                  <a:pt x="3803603" y="28575"/>
                  <a:pt x="3795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gradFill>
            <a:gsLst>
              <a:gs pos="0">
                <a:srgbClr val="1A5F9E"/>
              </a:gs>
              <a:gs pos="100000">
                <a:srgbClr val="2B7BC4"/>
              </a:gs>
            </a:gsLst>
            <a:lin ang="0" scaled="1"/>
          </a:gra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600099" y="4997768"/>
            <a:ext cx="299180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适用于学术学位与专业学位研究生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223266" y="5411152"/>
            <a:ext cx="374546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依据 GB/T 7713.1-2006 · GB/T 7714-2015 · APA · MLA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49839" y="6475095"/>
            <a:ext cx="29232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1 / 11</a:t>
            </a:r>
          </a:p>
        </p:txBody>
      </p:sp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F9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585550" y="375285"/>
            <a:ext cx="102089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700" b="1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目 录</a:t>
            </a:r>
          </a:p>
        </p:txBody>
      </p:sp>
      <p:sp>
        <p:nvSpPr>
          <p:cNvPr id="5" name="Freeform 5"/>
          <p:cNvSpPr/>
          <p:nvPr/>
        </p:nvSpPr>
        <p:spPr>
          <a:xfrm>
            <a:off x="5524500" y="809625"/>
            <a:ext cx="1143000" cy="28575"/>
          </a:xfrm>
          <a:custGeom>
            <a:avLst/>
            <a:gdLst/>
            <a:ahLst/>
            <a:cxnLst/>
            <a:rect l="l" t="t" r="r" b="b"/>
            <a:pathLst>
              <a:path w="1143000" h="28575">
                <a:moveTo>
                  <a:pt x="14288" y="0"/>
                </a:moveTo>
                <a:lnTo>
                  <a:pt x="1128712" y="0"/>
                </a:lnTo>
                <a:cubicBezTo>
                  <a:pt x="1136603" y="0"/>
                  <a:pt x="1143000" y="6397"/>
                  <a:pt x="1143000" y="14288"/>
                </a:cubicBezTo>
                <a:lnTo>
                  <a:pt x="1143000" y="14288"/>
                </a:lnTo>
                <a:cubicBezTo>
                  <a:pt x="1143000" y="22178"/>
                  <a:pt x="1136603" y="28575"/>
                  <a:pt x="1128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E07C24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952500" y="1333500"/>
            <a:ext cx="4762500" cy="666750"/>
            <a:chOff x="952500" y="1333500"/>
            <a:chExt cx="4762500" cy="666750"/>
          </a:xfrm>
        </p:grpSpPr>
        <p:sp>
          <p:nvSpPr>
            <p:cNvPr id="6" name="Freeform 6"/>
            <p:cNvSpPr/>
            <p:nvPr/>
          </p:nvSpPr>
          <p:spPr>
            <a:xfrm>
              <a:off x="952500" y="1333500"/>
              <a:ext cx="4762500" cy="666750"/>
            </a:xfrm>
            <a:custGeom>
              <a:avLst/>
              <a:gdLst/>
              <a:ahLst/>
              <a:cxnLst/>
              <a:rect l="l" t="t" r="r" b="b"/>
              <a:pathLst>
                <a:path w="4762500" h="66675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590550"/>
                  </a:lnTo>
                  <a:cubicBezTo>
                    <a:pt x="4762500" y="632634"/>
                    <a:pt x="4728384" y="666750"/>
                    <a:pt x="4686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1143000" y="1476375"/>
              <a:ext cx="381000" cy="381000"/>
            </a:xfrm>
            <a:prstGeom prst="ellipse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28369" y="1587818"/>
              <a:ext cx="210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97355" y="1473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论文基本结构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01165" y="17154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五大组成部分概览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2500" y="2143125"/>
            <a:ext cx="4762500" cy="666750"/>
            <a:chOff x="952500" y="2143125"/>
            <a:chExt cx="4762500" cy="666750"/>
          </a:xfrm>
        </p:grpSpPr>
        <p:sp>
          <p:nvSpPr>
            <p:cNvPr id="12" name="Freeform 12"/>
            <p:cNvSpPr/>
            <p:nvPr/>
          </p:nvSpPr>
          <p:spPr>
            <a:xfrm>
              <a:off x="952500" y="2143125"/>
              <a:ext cx="4762500" cy="666750"/>
            </a:xfrm>
            <a:custGeom>
              <a:avLst/>
              <a:gdLst/>
              <a:ahLst/>
              <a:cxnLst/>
              <a:rect l="l" t="t" r="r" b="b"/>
              <a:pathLst>
                <a:path w="4762500" h="66675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590550"/>
                  </a:lnTo>
                  <a:cubicBezTo>
                    <a:pt x="4762500" y="632634"/>
                    <a:pt x="4728384" y="666750"/>
                    <a:pt x="4686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1143000" y="2286000"/>
              <a:ext cx="381000" cy="381000"/>
            </a:xfrm>
            <a:prstGeom prst="ellipse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02491" y="23974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97355" y="228314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前置部分要求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701165" y="252507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封面、题名页、摘要、目录等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2500" y="2952750"/>
            <a:ext cx="4762500" cy="666750"/>
            <a:chOff x="952500" y="2952750"/>
            <a:chExt cx="4762500" cy="666750"/>
          </a:xfrm>
        </p:grpSpPr>
        <p:sp>
          <p:nvSpPr>
            <p:cNvPr id="18" name="Freeform 18"/>
            <p:cNvSpPr/>
            <p:nvPr/>
          </p:nvSpPr>
          <p:spPr>
            <a:xfrm>
              <a:off x="952500" y="2952750"/>
              <a:ext cx="4762500" cy="666750"/>
            </a:xfrm>
            <a:custGeom>
              <a:avLst/>
              <a:gdLst/>
              <a:ahLst/>
              <a:cxnLst/>
              <a:rect l="l" t="t" r="r" b="b"/>
              <a:pathLst>
                <a:path w="4762500" h="66675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590550"/>
                  </a:lnTo>
                  <a:cubicBezTo>
                    <a:pt x="4762500" y="632634"/>
                    <a:pt x="4728384" y="666750"/>
                    <a:pt x="4686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1143000" y="3095625"/>
              <a:ext cx="381000" cy="381000"/>
            </a:xfrm>
            <a:prstGeom prst="ellipse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02491" y="3207068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97355" y="30927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摘要与关键词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01165" y="33347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中英文摘要撰写规范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2500" y="3762375"/>
            <a:ext cx="4762500" cy="666750"/>
            <a:chOff x="952500" y="3762375"/>
            <a:chExt cx="4762500" cy="666750"/>
          </a:xfrm>
        </p:grpSpPr>
        <p:sp>
          <p:nvSpPr>
            <p:cNvPr id="24" name="Freeform 24"/>
            <p:cNvSpPr/>
            <p:nvPr/>
          </p:nvSpPr>
          <p:spPr>
            <a:xfrm>
              <a:off x="952500" y="3762375"/>
              <a:ext cx="4762500" cy="666750"/>
            </a:xfrm>
            <a:custGeom>
              <a:avLst/>
              <a:gdLst/>
              <a:ahLst/>
              <a:cxnLst/>
              <a:rect l="l" t="t" r="r" b="b"/>
              <a:pathLst>
                <a:path w="4762500" h="66675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590550"/>
                  </a:lnTo>
                  <a:cubicBezTo>
                    <a:pt x="4762500" y="632634"/>
                    <a:pt x="4728384" y="666750"/>
                    <a:pt x="4686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1143000" y="3905250"/>
              <a:ext cx="381000" cy="381000"/>
            </a:xfrm>
            <a:prstGeom prst="ellipse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02491" y="40166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97355" y="39023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主体部分规范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01165" y="4144328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引言、正文、结论撰写要求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2500" y="4572000"/>
            <a:ext cx="4762500" cy="666750"/>
            <a:chOff x="952500" y="4572000"/>
            <a:chExt cx="4762500" cy="666750"/>
          </a:xfrm>
        </p:grpSpPr>
        <p:sp>
          <p:nvSpPr>
            <p:cNvPr id="30" name="Freeform 30"/>
            <p:cNvSpPr/>
            <p:nvPr/>
          </p:nvSpPr>
          <p:spPr>
            <a:xfrm>
              <a:off x="952500" y="4572000"/>
              <a:ext cx="4762500" cy="666750"/>
            </a:xfrm>
            <a:custGeom>
              <a:avLst/>
              <a:gdLst/>
              <a:ahLst/>
              <a:cxnLst/>
              <a:rect l="l" t="t" r="r" b="b"/>
              <a:pathLst>
                <a:path w="4762500" h="66675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590550"/>
                  </a:lnTo>
                  <a:cubicBezTo>
                    <a:pt x="4762500" y="632634"/>
                    <a:pt x="4728384" y="666750"/>
                    <a:pt x="4686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143000" y="4714875"/>
              <a:ext cx="381000" cy="381000"/>
            </a:xfrm>
            <a:prstGeom prst="ellipse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202491" y="4826318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97355" y="47120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图表公式规范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01165" y="49539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图、表、公式的格式要求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477000" y="1333500"/>
            <a:ext cx="4762500" cy="666750"/>
            <a:chOff x="6477000" y="1333500"/>
            <a:chExt cx="4762500" cy="666750"/>
          </a:xfrm>
        </p:grpSpPr>
        <p:sp>
          <p:nvSpPr>
            <p:cNvPr id="36" name="Freeform 36"/>
            <p:cNvSpPr/>
            <p:nvPr/>
          </p:nvSpPr>
          <p:spPr>
            <a:xfrm>
              <a:off x="6477000" y="1333500"/>
              <a:ext cx="4762500" cy="666750"/>
            </a:xfrm>
            <a:custGeom>
              <a:avLst/>
              <a:gdLst/>
              <a:ahLst/>
              <a:cxnLst/>
              <a:rect l="l" t="t" r="r" b="b"/>
              <a:pathLst>
                <a:path w="4762500" h="66675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590550"/>
                  </a:lnTo>
                  <a:cubicBezTo>
                    <a:pt x="4762500" y="632634"/>
                    <a:pt x="4728384" y="666750"/>
                    <a:pt x="4686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7" name="Ellipse 37"/>
            <p:cNvSpPr/>
            <p:nvPr/>
          </p:nvSpPr>
          <p:spPr>
            <a:xfrm>
              <a:off x="6667500" y="1476375"/>
              <a:ext cx="381000" cy="381000"/>
            </a:xfrm>
            <a:prstGeom prst="ellipse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26991" y="1587818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21855" y="1473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参考文献格式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225665" y="17154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四种著录格式选择与要求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477000" y="2143125"/>
            <a:ext cx="4762500" cy="666750"/>
            <a:chOff x="6477000" y="2143125"/>
            <a:chExt cx="4762500" cy="666750"/>
          </a:xfrm>
        </p:grpSpPr>
        <p:sp>
          <p:nvSpPr>
            <p:cNvPr id="42" name="Freeform 42"/>
            <p:cNvSpPr/>
            <p:nvPr/>
          </p:nvSpPr>
          <p:spPr>
            <a:xfrm>
              <a:off x="6477000" y="2143125"/>
              <a:ext cx="4762500" cy="666750"/>
            </a:xfrm>
            <a:custGeom>
              <a:avLst/>
              <a:gdLst/>
              <a:ahLst/>
              <a:cxnLst/>
              <a:rect l="l" t="t" r="r" b="b"/>
              <a:pathLst>
                <a:path w="4762500" h="66675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590550"/>
                  </a:lnTo>
                  <a:cubicBezTo>
                    <a:pt x="4762500" y="632634"/>
                    <a:pt x="4728384" y="666750"/>
                    <a:pt x="4686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6667500" y="2286000"/>
              <a:ext cx="381000" cy="381000"/>
            </a:xfrm>
            <a:prstGeom prst="ellipse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26991" y="239744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221855" y="228314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附录与致谢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225665" y="252507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附录内容与致谢撰写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477000" y="2952750"/>
            <a:ext cx="4762500" cy="666750"/>
            <a:chOff x="6477000" y="2952750"/>
            <a:chExt cx="4762500" cy="666750"/>
          </a:xfrm>
        </p:grpSpPr>
        <p:sp>
          <p:nvSpPr>
            <p:cNvPr id="48" name="Freeform 48"/>
            <p:cNvSpPr/>
            <p:nvPr/>
          </p:nvSpPr>
          <p:spPr>
            <a:xfrm>
              <a:off x="6477000" y="2952750"/>
              <a:ext cx="4762500" cy="666750"/>
            </a:xfrm>
            <a:custGeom>
              <a:avLst/>
              <a:gdLst/>
              <a:ahLst/>
              <a:cxnLst/>
              <a:rect l="l" t="t" r="r" b="b"/>
              <a:pathLst>
                <a:path w="4762500" h="66675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590550"/>
                  </a:lnTo>
                  <a:cubicBezTo>
                    <a:pt x="4762500" y="632634"/>
                    <a:pt x="4728384" y="666750"/>
                    <a:pt x="4686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6667500" y="3095625"/>
              <a:ext cx="381000" cy="381000"/>
            </a:xfrm>
            <a:prstGeom prst="ellipse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26991" y="3207068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08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221855" y="309276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排版格式要点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25665" y="33347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页面设置与排版参数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477000" y="3762375"/>
            <a:ext cx="4762500" cy="666750"/>
            <a:chOff x="6477000" y="3762375"/>
            <a:chExt cx="4762500" cy="666750"/>
          </a:xfrm>
        </p:grpSpPr>
        <p:sp>
          <p:nvSpPr>
            <p:cNvPr id="54" name="Freeform 54"/>
            <p:cNvSpPr/>
            <p:nvPr/>
          </p:nvSpPr>
          <p:spPr>
            <a:xfrm>
              <a:off x="6477000" y="3762375"/>
              <a:ext cx="4762500" cy="666750"/>
            </a:xfrm>
            <a:custGeom>
              <a:avLst/>
              <a:gdLst/>
              <a:ahLst/>
              <a:cxnLst/>
              <a:rect l="l" t="t" r="r" b="b"/>
              <a:pathLst>
                <a:path w="4762500" h="66675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590550"/>
                  </a:lnTo>
                  <a:cubicBezTo>
                    <a:pt x="4762500" y="632634"/>
                    <a:pt x="4728384" y="666750"/>
                    <a:pt x="4686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Ellipse 55"/>
            <p:cNvSpPr/>
            <p:nvPr/>
          </p:nvSpPr>
          <p:spPr>
            <a:xfrm>
              <a:off x="6667500" y="3905250"/>
              <a:ext cx="381000" cy="381000"/>
            </a:xfrm>
            <a:prstGeom prst="ellipse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26991" y="4016692"/>
              <a:ext cx="262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09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221855" y="3902392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格式检查清单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25665" y="4144328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论文提交前自检要点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477000" y="4572000"/>
            <a:ext cx="4762500" cy="666750"/>
            <a:chOff x="6477000" y="4572000"/>
            <a:chExt cx="4762500" cy="666750"/>
          </a:xfrm>
        </p:grpSpPr>
        <p:sp>
          <p:nvSpPr>
            <p:cNvPr id="60" name="Freeform 60"/>
            <p:cNvSpPr/>
            <p:nvPr/>
          </p:nvSpPr>
          <p:spPr>
            <a:xfrm>
              <a:off x="6477000" y="4572000"/>
              <a:ext cx="4762500" cy="666750"/>
            </a:xfrm>
            <a:custGeom>
              <a:avLst/>
              <a:gdLst/>
              <a:ahLst/>
              <a:cxnLst/>
              <a:rect l="l" t="t" r="r" b="b"/>
              <a:pathLst>
                <a:path w="4762500" h="666750">
                  <a:moveTo>
                    <a:pt x="76200" y="0"/>
                  </a:moveTo>
                  <a:lnTo>
                    <a:pt x="4686300" y="0"/>
                  </a:lnTo>
                  <a:cubicBezTo>
                    <a:pt x="4728384" y="0"/>
                    <a:pt x="4762500" y="34116"/>
                    <a:pt x="4762500" y="76200"/>
                  </a:cubicBezTo>
                  <a:lnTo>
                    <a:pt x="4762500" y="590550"/>
                  </a:lnTo>
                  <a:cubicBezTo>
                    <a:pt x="4762500" y="632634"/>
                    <a:pt x="4728384" y="666750"/>
                    <a:pt x="468630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A5F9E">
                <a:alpha val="10000"/>
              </a:srgbClr>
            </a:solidFill>
            <a:ln w="9525">
              <a:solidFill>
                <a:srgbClr val="1A5F9E">
                  <a:alpha val="10000"/>
                </a:srgbClr>
              </a:solidFill>
              <a:custDash>
                <a:ds d="400000" sp="200000"/>
              </a:custDash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593264" y="4728210"/>
              <a:ext cx="5299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💡 提示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924800" y="4953952"/>
              <a:ext cx="18669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建议结合学校最新文件使用</a:t>
              </a:r>
            </a:p>
          </p:txBody>
        </p:sp>
      </p:grpSp>
      <p:sp>
        <p:nvSpPr>
          <p:cNvPr id="64" name="Rectangle 64"/>
          <p:cNvSpPr/>
          <p:nvPr/>
        </p:nvSpPr>
        <p:spPr>
          <a:xfrm>
            <a:off x="571500" y="57150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941070" y="63798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重庆大学硕士学位论文撰写格式标准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5933408" y="647509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2 / 11</a:t>
            </a:r>
          </a:p>
        </p:txBody>
      </p:sp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F9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593336" y="31242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学位论文基本结构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53166" y="727710"/>
            <a:ext cx="268566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五大组成部分 · 构成完整学术论文</a:t>
            </a:r>
          </a:p>
        </p:txBody>
      </p:sp>
      <p:sp>
        <p:nvSpPr>
          <p:cNvPr id="6" name="Freeform 6"/>
          <p:cNvSpPr/>
          <p:nvPr/>
        </p:nvSpPr>
        <p:spPr>
          <a:xfrm>
            <a:off x="1857375" y="38100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CBD5E0"/>
            </a:solidFill>
          </a:ln>
        </p:spPr>
      </p:sp>
      <p:sp>
        <p:nvSpPr>
          <p:cNvPr id="7" name="Polygon 7"/>
          <p:cNvSpPr/>
          <p:nvPr/>
        </p:nvSpPr>
        <p:spPr>
          <a:xfrm>
            <a:off x="2809875" y="3771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CBD5E0"/>
          </a:solidFill>
          <a:ln>
            <a:noFill/>
          </a:ln>
        </p:spPr>
      </p:sp>
      <p:sp>
        <p:nvSpPr>
          <p:cNvPr id="8" name="Polygon 8"/>
          <p:cNvSpPr/>
          <p:nvPr/>
        </p:nvSpPr>
        <p:spPr>
          <a:xfrm>
            <a:off x="2809875" y="3771900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  <a:close/>
              </a:path>
            </a:pathLst>
          </a:custGeom>
          <a:solidFill>
            <a:srgbClr val="CBD5E0"/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3952875" y="38100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CBD5E0"/>
            </a:solidFill>
          </a:ln>
        </p:spPr>
      </p:sp>
      <p:sp>
        <p:nvSpPr>
          <p:cNvPr id="10" name="Freeform 10"/>
          <p:cNvSpPr/>
          <p:nvPr/>
        </p:nvSpPr>
        <p:spPr>
          <a:xfrm>
            <a:off x="6048375" y="38100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CBD5E0"/>
            </a:solidFill>
          </a:ln>
        </p:spPr>
      </p:sp>
      <p:sp>
        <p:nvSpPr>
          <p:cNvPr id="11" name="Freeform 11"/>
          <p:cNvSpPr/>
          <p:nvPr/>
        </p:nvSpPr>
        <p:spPr>
          <a:xfrm>
            <a:off x="8143875" y="38100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CBD5E0"/>
            </a:solidFill>
          </a:ln>
        </p:spPr>
      </p:sp>
      <p:sp>
        <p:nvSpPr>
          <p:cNvPr id="12" name="Freeform 12"/>
          <p:cNvSpPr/>
          <p:nvPr/>
        </p:nvSpPr>
        <p:spPr>
          <a:xfrm>
            <a:off x="10239375" y="3810000"/>
            <a:ext cx="952500" cy="9525"/>
          </a:xfrm>
          <a:custGeom>
            <a:avLst/>
            <a:gdLst/>
            <a:ahLst/>
            <a:cxnLst/>
            <a:rect l="l" t="t" r="r" b="b"/>
            <a:pathLst>
              <a:path w="952500" h="9525">
                <a:moveTo>
                  <a:pt x="0" y="0"/>
                </a:moveTo>
                <a:lnTo>
                  <a:pt x="952500" y="0"/>
                </a:lnTo>
              </a:path>
            </a:pathLst>
          </a:custGeom>
          <a:noFill/>
          <a:ln w="28575">
            <a:solidFill>
              <a:srgbClr val="CBD5E0"/>
            </a:solidFill>
          </a:ln>
        </p:spPr>
      </p:sp>
      <p:grpSp>
        <p:nvGrpSpPr>
          <p:cNvPr id="25" name="Group 25"/>
          <p:cNvGrpSpPr/>
          <p:nvPr/>
        </p:nvGrpSpPr>
        <p:grpSpPr>
          <a:xfrm>
            <a:off x="571500" y="1325880"/>
            <a:ext cx="1905000" cy="3627120"/>
            <a:chOff x="571500" y="1325880"/>
            <a:chExt cx="1905000" cy="3627120"/>
          </a:xfrm>
        </p:grpSpPr>
        <p:sp>
          <p:nvSpPr>
            <p:cNvPr id="13" name="Freeform 13"/>
            <p:cNvSpPr/>
            <p:nvPr/>
          </p:nvSpPr>
          <p:spPr>
            <a:xfrm>
              <a:off x="571500" y="1333500"/>
              <a:ext cx="1905000" cy="3619500"/>
            </a:xfrm>
            <a:custGeom>
              <a:avLst/>
              <a:gdLst/>
              <a:ahLst/>
              <a:cxnLst/>
              <a:rect l="l" t="t" r="r" b="b"/>
              <a:pathLst>
                <a:path w="1905000" h="361950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3505200"/>
                  </a:lnTo>
                  <a:cubicBezTo>
                    <a:pt x="1905000" y="3568326"/>
                    <a:pt x="1853826" y="3619500"/>
                    <a:pt x="1790700" y="3619500"/>
                  </a:cubicBezTo>
                  <a:lnTo>
                    <a:pt x="114300" y="3619500"/>
                  </a:lnTo>
                  <a:cubicBezTo>
                    <a:pt x="51174" y="3619500"/>
                    <a:pt x="0" y="3568326"/>
                    <a:pt x="0" y="3505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1A5F9E"/>
                </a:gs>
                <a:gs pos="100000">
                  <a:srgbClr val="14507F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43651" y="1325880"/>
              <a:ext cx="56069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>
                      <a:alpha val="20000"/>
                    </a:srgbClr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96982" y="20126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前置部分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952500" y="2381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48665" y="2601278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封面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8665" y="2887028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中文题名页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8665" y="3172778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英文题名页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8665" y="3458528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中文摘要+关键词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8665" y="3744278"/>
              <a:ext cx="13148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英文摘要+关键词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8665" y="4030028"/>
              <a:ext cx="6170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目次页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48665" y="431577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插图附表清单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8665" y="460152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符号缩略词表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667000" y="1325880"/>
            <a:ext cx="1905000" cy="3627120"/>
            <a:chOff x="2667000" y="1325880"/>
            <a:chExt cx="1905000" cy="3627120"/>
          </a:xfrm>
        </p:grpSpPr>
        <p:sp>
          <p:nvSpPr>
            <p:cNvPr id="26" name="Freeform 26"/>
            <p:cNvSpPr/>
            <p:nvPr/>
          </p:nvSpPr>
          <p:spPr>
            <a:xfrm>
              <a:off x="2667000" y="1333500"/>
              <a:ext cx="1905000" cy="3619500"/>
            </a:xfrm>
            <a:custGeom>
              <a:avLst/>
              <a:gdLst/>
              <a:ahLst/>
              <a:cxnLst/>
              <a:rect l="l" t="t" r="r" b="b"/>
              <a:pathLst>
                <a:path w="1905000" h="361950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3505200"/>
                  </a:lnTo>
                  <a:cubicBezTo>
                    <a:pt x="1905000" y="3568326"/>
                    <a:pt x="1853826" y="3619500"/>
                    <a:pt x="1790700" y="3619500"/>
                  </a:cubicBezTo>
                  <a:lnTo>
                    <a:pt x="114300" y="3619500"/>
                  </a:lnTo>
                  <a:cubicBezTo>
                    <a:pt x="51174" y="3619500"/>
                    <a:pt x="0" y="3568326"/>
                    <a:pt x="0" y="3505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2B7BC4"/>
                </a:gs>
                <a:gs pos="100000">
                  <a:srgbClr val="1A5F9E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270142" y="132588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>
                      <a:alpha val="20000"/>
                    </a:srgbClr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92482" y="20126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主体部分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3048000" y="2381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2844165" y="2648902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引言（绪论）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41320" y="2950845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 val="70000"/>
                    </a:srgbClr>
                  </a:solidFill>
                  <a:latin typeface="Segoe UI"/>
                  <a:ea typeface="Microsoft YaHei"/>
                  <a:cs typeface="Segoe UI"/>
                </a:rPr>
                <a:t>研究目的、范围、方法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844165" y="3315652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正文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41320" y="3617595"/>
              <a:ext cx="81153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 val="70000"/>
                    </a:srgbClr>
                  </a:solidFill>
                  <a:latin typeface="Segoe UI"/>
                  <a:ea typeface="Microsoft YaHei"/>
                  <a:cs typeface="Segoe UI"/>
                </a:rPr>
                <a:t>核心研究内容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41320" y="3855720"/>
              <a:ext cx="1350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 val="70000"/>
                    </a:srgbClr>
                  </a:solidFill>
                  <a:latin typeface="Segoe UI"/>
                  <a:ea typeface="Microsoft YaHei"/>
                  <a:cs typeface="Segoe UI"/>
                </a:rPr>
                <a:t>各章后需有"本章小结"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844165" y="4220528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结论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41320" y="4522470"/>
              <a:ext cx="13373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 val="70000"/>
                    </a:srgbClr>
                  </a:solidFill>
                  <a:latin typeface="Segoe UI"/>
                  <a:ea typeface="Microsoft YaHei"/>
                  <a:cs typeface="Segoe UI"/>
                </a:rPr>
                <a:t>总体结论，非小结重复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4762500" y="1325880"/>
            <a:ext cx="1905000" cy="3627120"/>
            <a:chOff x="4762500" y="1325880"/>
            <a:chExt cx="1905000" cy="3627120"/>
          </a:xfrm>
        </p:grpSpPr>
        <p:sp>
          <p:nvSpPr>
            <p:cNvPr id="38" name="Freeform 38"/>
            <p:cNvSpPr/>
            <p:nvPr/>
          </p:nvSpPr>
          <p:spPr>
            <a:xfrm>
              <a:off x="4762500" y="1333500"/>
              <a:ext cx="1905000" cy="3619500"/>
            </a:xfrm>
            <a:custGeom>
              <a:avLst/>
              <a:gdLst/>
              <a:ahLst/>
              <a:cxnLst/>
              <a:rect l="l" t="t" r="r" b="b"/>
              <a:pathLst>
                <a:path w="1905000" h="361950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3505200"/>
                  </a:lnTo>
                  <a:cubicBezTo>
                    <a:pt x="1905000" y="3568326"/>
                    <a:pt x="1853826" y="3619500"/>
                    <a:pt x="1790700" y="3619500"/>
                  </a:cubicBezTo>
                  <a:lnTo>
                    <a:pt x="114300" y="3619500"/>
                  </a:lnTo>
                  <a:cubicBezTo>
                    <a:pt x="51174" y="3619500"/>
                    <a:pt x="0" y="3568326"/>
                    <a:pt x="0" y="3505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38A169"/>
                </a:gs>
                <a:gs pos="100000">
                  <a:srgbClr val="2F855A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5365642" y="132588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>
                      <a:alpha val="20000"/>
                    </a:srgbClr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187982" y="201263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参考文献</a:t>
              </a:r>
            </a:p>
          </p:txBody>
        </p:sp>
        <p:sp>
          <p:nvSpPr>
            <p:cNvPr id="41" name="Line 41"/>
            <p:cNvSpPr/>
            <p:nvPr/>
          </p:nvSpPr>
          <p:spPr>
            <a:xfrm>
              <a:off x="5143500" y="2381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39665" y="2648902"/>
              <a:ext cx="11001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著录格式选择：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939665" y="2982278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顺序编码制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39665" y="3268028"/>
              <a:ext cx="11614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著者-出版年制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39665" y="3553778"/>
              <a:ext cx="7167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APA格式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39665" y="3839528"/>
              <a:ext cx="747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MLA格式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4953000" y="4191000"/>
              <a:ext cx="1524000" cy="476250"/>
            </a:xfrm>
            <a:custGeom>
              <a:avLst/>
              <a:gdLst/>
              <a:ahLst/>
              <a:cxnLst/>
              <a:rect l="l" t="t" r="r" b="b"/>
              <a:pathLst>
                <a:path w="1524000" h="476250">
                  <a:moveTo>
                    <a:pt x="57150" y="0"/>
                  </a:moveTo>
                  <a:lnTo>
                    <a:pt x="1466850" y="0"/>
                  </a:lnTo>
                  <a:cubicBezTo>
                    <a:pt x="1498413" y="0"/>
                    <a:pt x="1524000" y="25587"/>
                    <a:pt x="1524000" y="57150"/>
                  </a:cubicBezTo>
                  <a:lnTo>
                    <a:pt x="1524000" y="419100"/>
                  </a:lnTo>
                  <a:cubicBezTo>
                    <a:pt x="1524000" y="450663"/>
                    <a:pt x="1498413" y="476250"/>
                    <a:pt x="1466850" y="476250"/>
                  </a:cubicBezTo>
                  <a:lnTo>
                    <a:pt x="57150" y="476250"/>
                  </a:lnTo>
                  <a:cubicBezTo>
                    <a:pt x="25587" y="476250"/>
                    <a:pt x="0" y="450663"/>
                    <a:pt x="0" y="41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085778" y="4284345"/>
              <a:ext cx="1258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⚠️ 全文格式必须统一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440680" y="4474845"/>
              <a:ext cx="5486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不得混用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6858000" y="1325880"/>
            <a:ext cx="1905000" cy="3627120"/>
            <a:chOff x="6858000" y="1325880"/>
            <a:chExt cx="1905000" cy="3627120"/>
          </a:xfrm>
        </p:grpSpPr>
        <p:sp>
          <p:nvSpPr>
            <p:cNvPr id="51" name="Freeform 51"/>
            <p:cNvSpPr/>
            <p:nvPr/>
          </p:nvSpPr>
          <p:spPr>
            <a:xfrm>
              <a:off x="6858000" y="1333500"/>
              <a:ext cx="1905000" cy="3619500"/>
            </a:xfrm>
            <a:custGeom>
              <a:avLst/>
              <a:gdLst/>
              <a:ahLst/>
              <a:cxnLst/>
              <a:rect l="l" t="t" r="r" b="b"/>
              <a:pathLst>
                <a:path w="1905000" h="361950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3505200"/>
                  </a:lnTo>
                  <a:cubicBezTo>
                    <a:pt x="1905000" y="3568326"/>
                    <a:pt x="1853826" y="3619500"/>
                    <a:pt x="1790700" y="3619500"/>
                  </a:cubicBezTo>
                  <a:lnTo>
                    <a:pt x="114300" y="3619500"/>
                  </a:lnTo>
                  <a:cubicBezTo>
                    <a:pt x="51174" y="3619500"/>
                    <a:pt x="0" y="3568326"/>
                    <a:pt x="0" y="3505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E07C24"/>
                </a:gs>
                <a:gs pos="100000">
                  <a:srgbClr val="C56A1C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461142" y="132588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>
                      <a:alpha val="20000"/>
                    </a:srgbClr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36513" y="201263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附录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7239000" y="2381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35165" y="260127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公式推导过程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035165" y="2887028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实验数据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035165" y="3172778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程序代码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035165" y="345852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发表论著目录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035165" y="3744278"/>
              <a:ext cx="7704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科研成果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035165" y="4030028"/>
              <a:ext cx="12304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阅读型参考文献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035165" y="4315778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论文数据集</a:t>
              </a:r>
            </a:p>
          </p:txBody>
        </p:sp>
        <p:sp>
          <p:nvSpPr>
            <p:cNvPr id="62" name="Freeform 62"/>
            <p:cNvSpPr/>
            <p:nvPr/>
          </p:nvSpPr>
          <p:spPr>
            <a:xfrm>
              <a:off x="7048500" y="4619625"/>
              <a:ext cx="1524000" cy="238125"/>
            </a:xfrm>
            <a:custGeom>
              <a:avLst/>
              <a:gdLst/>
              <a:ahLst/>
              <a:cxnLst/>
              <a:rect l="l" t="t" r="r" b="b"/>
              <a:pathLst>
                <a:path w="1524000" h="238125">
                  <a:moveTo>
                    <a:pt x="38100" y="0"/>
                  </a:moveTo>
                  <a:lnTo>
                    <a:pt x="1485900" y="0"/>
                  </a:lnTo>
                  <a:cubicBezTo>
                    <a:pt x="1506942" y="0"/>
                    <a:pt x="1524000" y="17058"/>
                    <a:pt x="1524000" y="38100"/>
                  </a:cubicBezTo>
                  <a:lnTo>
                    <a:pt x="1524000" y="200025"/>
                  </a:lnTo>
                  <a:cubicBezTo>
                    <a:pt x="1524000" y="221067"/>
                    <a:pt x="1506942" y="238125"/>
                    <a:pt x="1485900" y="238125"/>
                  </a:cubicBezTo>
                  <a:lnTo>
                    <a:pt x="38100" y="238125"/>
                  </a:lnTo>
                  <a:cubicBezTo>
                    <a:pt x="17058" y="238125"/>
                    <a:pt x="0" y="221067"/>
                    <a:pt x="0" y="2000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53573" y="4693920"/>
              <a:ext cx="11138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编号：A、B、C...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953500" y="1325880"/>
            <a:ext cx="1905000" cy="3627120"/>
            <a:chOff x="8953500" y="1325880"/>
            <a:chExt cx="1905000" cy="3627120"/>
          </a:xfrm>
        </p:grpSpPr>
        <p:sp>
          <p:nvSpPr>
            <p:cNvPr id="65" name="Freeform 65"/>
            <p:cNvSpPr/>
            <p:nvPr/>
          </p:nvSpPr>
          <p:spPr>
            <a:xfrm>
              <a:off x="8953500" y="1333500"/>
              <a:ext cx="1905000" cy="3619500"/>
            </a:xfrm>
            <a:custGeom>
              <a:avLst/>
              <a:gdLst/>
              <a:ahLst/>
              <a:cxnLst/>
              <a:rect l="l" t="t" r="r" b="b"/>
              <a:pathLst>
                <a:path w="1905000" h="3619500">
                  <a:moveTo>
                    <a:pt x="114300" y="0"/>
                  </a:moveTo>
                  <a:lnTo>
                    <a:pt x="1790700" y="0"/>
                  </a:lnTo>
                  <a:cubicBezTo>
                    <a:pt x="1853826" y="0"/>
                    <a:pt x="1905000" y="51174"/>
                    <a:pt x="1905000" y="114300"/>
                  </a:cubicBezTo>
                  <a:lnTo>
                    <a:pt x="1905000" y="3505200"/>
                  </a:lnTo>
                  <a:cubicBezTo>
                    <a:pt x="1905000" y="3568326"/>
                    <a:pt x="1853826" y="3619500"/>
                    <a:pt x="1790700" y="3619500"/>
                  </a:cubicBezTo>
                  <a:lnTo>
                    <a:pt x="114300" y="3619500"/>
                  </a:lnTo>
                  <a:cubicBezTo>
                    <a:pt x="51174" y="3619500"/>
                    <a:pt x="0" y="3568326"/>
                    <a:pt x="0" y="3505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gradFill>
              <a:gsLst>
                <a:gs pos="0">
                  <a:srgbClr val="805AD5"/>
                </a:gs>
                <a:gs pos="100000">
                  <a:srgbClr val="6B46C1"/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556642" y="1325880"/>
              <a:ext cx="698716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FFFF">
                      <a:alpha val="20000"/>
                    </a:srgbClr>
                  </a:solidFill>
                  <a:latin typeface="Arial"/>
                  <a:ea typeface="Microsoft YaHei"/>
                  <a:cs typeface="Arial"/>
                </a:rPr>
                <a:t>05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632013" y="201263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致谢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334500" y="2381250"/>
              <a:ext cx="1143000" cy="9525"/>
            </a:xfrm>
            <a:custGeom>
              <a:avLst/>
              <a:gdLst/>
              <a:ahLst/>
              <a:cxnLst/>
              <a:rect l="l" t="t" r="r" b="b"/>
              <a:pathLst>
                <a:path w="1143000" h="9525">
                  <a:moveTo>
                    <a:pt x="0" y="0"/>
                  </a:moveTo>
                  <a:lnTo>
                    <a:pt x="1143000" y="0"/>
                  </a:lnTo>
                </a:path>
              </a:pathLst>
            </a:custGeom>
            <a:noFill/>
            <a:ln w="9525">
              <a:solidFill>
                <a:srgbClr val="FFFFFF">
                  <a:alpha val="30000"/>
                </a:srgbClr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9130665" y="2648902"/>
              <a:ext cx="7934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感谢对象：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130665" y="2982278"/>
              <a:ext cx="463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导师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130665" y="3268028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直接贡献者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130665" y="3553778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资助基金会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130665" y="3839528"/>
              <a:ext cx="10771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提供资料单位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9130665" y="4125278"/>
              <a:ext cx="923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>
                      <a:alpha val="90000"/>
                    </a:srgbClr>
                  </a:solidFill>
                  <a:latin typeface="Segoe UI"/>
                  <a:ea typeface="Microsoft YaHei"/>
                  <a:cs typeface="Segoe UI"/>
                </a:rPr>
                <a:t>• 调研支持者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9144000" y="4476750"/>
              <a:ext cx="1524000" cy="381000"/>
            </a:xfrm>
            <a:custGeom>
              <a:avLst/>
              <a:gdLst/>
              <a:ahLst/>
              <a:cxnLst/>
              <a:rect l="l" t="t" r="r" b="b"/>
              <a:pathLst>
                <a:path w="1524000" h="381000">
                  <a:moveTo>
                    <a:pt x="57150" y="0"/>
                  </a:moveTo>
                  <a:lnTo>
                    <a:pt x="1466850" y="0"/>
                  </a:lnTo>
                  <a:cubicBezTo>
                    <a:pt x="1498413" y="0"/>
                    <a:pt x="1524000" y="25587"/>
                    <a:pt x="1524000" y="57150"/>
                  </a:cubicBezTo>
                  <a:lnTo>
                    <a:pt x="1524000" y="323850"/>
                  </a:lnTo>
                  <a:cubicBezTo>
                    <a:pt x="1524000" y="355413"/>
                    <a:pt x="1498413" y="381000"/>
                    <a:pt x="1466850" y="381000"/>
                  </a:cubicBezTo>
                  <a:lnTo>
                    <a:pt x="57150" y="381000"/>
                  </a:lnTo>
                  <a:cubicBezTo>
                    <a:pt x="25587" y="381000"/>
                    <a:pt x="0" y="355413"/>
                    <a:pt x="0" y="32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707261" y="4570095"/>
              <a:ext cx="39747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📍 位置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534049" y="4721066"/>
              <a:ext cx="74390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FFFFFF">
                      <a:alpha val="80000"/>
                    </a:srgbClr>
                  </a:solidFill>
                  <a:latin typeface="Segoe UI"/>
                  <a:ea typeface="Microsoft YaHei"/>
                  <a:cs typeface="Segoe UI"/>
                </a:rPr>
                <a:t>附录页面之后</a:t>
              </a:r>
            </a:p>
          </p:txBody>
        </p:sp>
      </p:grpSp>
      <p:sp>
        <p:nvSpPr>
          <p:cNvPr id="79" name="Freeform 79"/>
          <p:cNvSpPr/>
          <p:nvPr/>
        </p:nvSpPr>
        <p:spPr>
          <a:xfrm>
            <a:off x="571500" y="5191125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00050"/>
                </a:lnTo>
                <a:cubicBezTo>
                  <a:pt x="11049000" y="442134"/>
                  <a:pt x="11014884" y="476250"/>
                  <a:pt x="10972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0" name="TextBox 80"/>
          <p:cNvSpPr txBox="1"/>
          <p:nvPr/>
        </p:nvSpPr>
        <p:spPr>
          <a:xfrm>
            <a:off x="2531745" y="5366385"/>
            <a:ext cx="712851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💡 硕士论文主体部分字数一般不少于</a:t>
            </a:r>
            <a:r>
              <a:rPr lang="zh-CN" sz="1200" b="1" dirty="0">
                <a:solidFill>
                  <a:srgbClr val="E07C24"/>
                </a:solidFill>
                <a:latin typeface="Segoe UI"/>
                <a:ea typeface="Microsoft YaHei"/>
                <a:cs typeface="Segoe UI"/>
              </a:rPr>
              <a:t>3万字</a:t>
            </a:r>
            <a:r>
              <a:rPr lang="zh-CN" sz="1200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（专业学位不少于2万字），博士论文不少于</a:t>
            </a:r>
            <a:r>
              <a:rPr lang="zh-CN" sz="1200" b="1" dirty="0">
                <a:solidFill>
                  <a:srgbClr val="E07C24"/>
                </a:solidFill>
                <a:latin typeface="Segoe UI"/>
                <a:ea typeface="Microsoft YaHei"/>
                <a:cs typeface="Segoe UI"/>
              </a:rPr>
              <a:t>5万字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941070" y="63798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重庆大学硕士学位论文撰写格式标准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933408" y="647509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3 / 11</a:t>
            </a:r>
          </a:p>
        </p:txBody>
      </p:sp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F9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61382" y="264795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前置部分详解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56215" y="659606"/>
            <a:ext cx="22795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论文开篇必备要素 · 共8项内容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571500" y="1047750"/>
            <a:ext cx="2571750" cy="2286000"/>
            <a:chOff x="571500" y="1047750"/>
            <a:chExt cx="2571750" cy="2286000"/>
          </a:xfrm>
        </p:grpSpPr>
        <p:sp>
          <p:nvSpPr>
            <p:cNvPr id="6" name="Freeform 6"/>
            <p:cNvSpPr/>
            <p:nvPr/>
          </p:nvSpPr>
          <p:spPr>
            <a:xfrm>
              <a:off x="571500" y="1047750"/>
              <a:ext cx="2571750" cy="2286000"/>
            </a:xfrm>
            <a:custGeom>
              <a:avLst/>
              <a:gdLst/>
              <a:ahLst/>
              <a:cxnLst/>
              <a:rect l="l" t="t" r="r" b="b"/>
              <a:pathLst>
                <a:path w="2571750" h="22860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190750"/>
                  </a:lnTo>
                  <a:cubicBezTo>
                    <a:pt x="2571750" y="2243355"/>
                    <a:pt x="2529105" y="2286000"/>
                    <a:pt x="2476500" y="2286000"/>
                  </a:cubicBezTo>
                  <a:lnTo>
                    <a:pt x="95250" y="2286000"/>
                  </a:lnTo>
                  <a:cubicBezTo>
                    <a:pt x="42645" y="2286000"/>
                    <a:pt x="0" y="2243355"/>
                    <a:pt x="0" y="2190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047750"/>
              <a:ext cx="2571750" cy="57150"/>
            </a:xfrm>
            <a:custGeom>
              <a:avLst/>
              <a:gdLst/>
              <a:ahLst/>
              <a:cxnLst/>
              <a:rect l="l" t="t" r="r" b="b"/>
              <a:pathLst>
                <a:path w="2571750" h="57150">
                  <a:moveTo>
                    <a:pt x="28575" y="0"/>
                  </a:moveTo>
                  <a:lnTo>
                    <a:pt x="2543175" y="0"/>
                  </a:lnTo>
                  <a:cubicBezTo>
                    <a:pt x="2558957" y="0"/>
                    <a:pt x="2571750" y="12793"/>
                    <a:pt x="2571750" y="28575"/>
                  </a:cubicBezTo>
                  <a:lnTo>
                    <a:pt x="2571750" y="28575"/>
                  </a:lnTo>
                  <a:cubicBezTo>
                    <a:pt x="2571750" y="44357"/>
                    <a:pt x="2558957" y="57150"/>
                    <a:pt x="25431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1A5F9E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66750" y="1247775"/>
              <a:ext cx="266700" cy="266700"/>
            </a:xfrm>
            <a:prstGeom prst="ellipse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67967" y="1331595"/>
              <a:ext cx="642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1555" y="128301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封面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14375" y="16002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49618" y="17521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必填信息：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0570" y="1998345"/>
              <a:ext cx="15213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分类号（中图法第4版）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2207895"/>
              <a:ext cx="15804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学校代码（教育部批准）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0570" y="2417445"/>
              <a:ext cx="140303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UDC（国际十进分类）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0570" y="2626995"/>
              <a:ext cx="19288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密级（公开/内部/秘密/机密）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570" y="28365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论文作者、指导教师等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762000" y="3048000"/>
              <a:ext cx="2190750" cy="190500"/>
            </a:xfrm>
            <a:custGeom>
              <a:avLst/>
              <a:gdLst/>
              <a:ahLst/>
              <a:cxnLst/>
              <a:rect l="l" t="t" r="r" b="b"/>
              <a:pathLst>
                <a:path w="2190750" h="190500">
                  <a:moveTo>
                    <a:pt x="38100" y="0"/>
                  </a:moveTo>
                  <a:lnTo>
                    <a:pt x="2152650" y="0"/>
                  </a:lnTo>
                  <a:cubicBezTo>
                    <a:pt x="2173692" y="0"/>
                    <a:pt x="2190750" y="17058"/>
                    <a:pt x="2190750" y="38100"/>
                  </a:cubicBezTo>
                  <a:lnTo>
                    <a:pt x="2190750" y="152400"/>
                  </a:lnTo>
                  <a:cubicBezTo>
                    <a:pt x="2190750" y="173442"/>
                    <a:pt x="2173692" y="190500"/>
                    <a:pt x="2152650" y="190500"/>
                  </a:cubicBezTo>
                  <a:lnTo>
                    <a:pt x="38100" y="190500"/>
                  </a:lnTo>
                  <a:cubicBezTo>
                    <a:pt x="17058" y="190500"/>
                    <a:pt x="0" y="173442"/>
                    <a:pt x="0" y="1524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5F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60097" y="3092291"/>
              <a:ext cx="13945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53E3E"/>
                  </a:solidFill>
                  <a:latin typeface="Segoe UI"/>
                  <a:ea typeface="Microsoft YaHei"/>
                  <a:cs typeface="Segoe UI"/>
                </a:rPr>
                <a:t>⚠️ 各项必须如实完整填写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333750" y="1047750"/>
            <a:ext cx="2571750" cy="2286000"/>
            <a:chOff x="3333750" y="1047750"/>
            <a:chExt cx="2571750" cy="2286000"/>
          </a:xfrm>
        </p:grpSpPr>
        <p:sp>
          <p:nvSpPr>
            <p:cNvPr id="21" name="Freeform 21"/>
            <p:cNvSpPr/>
            <p:nvPr/>
          </p:nvSpPr>
          <p:spPr>
            <a:xfrm>
              <a:off x="3333750" y="1047750"/>
              <a:ext cx="2571750" cy="2286000"/>
            </a:xfrm>
            <a:custGeom>
              <a:avLst/>
              <a:gdLst/>
              <a:ahLst/>
              <a:cxnLst/>
              <a:rect l="l" t="t" r="r" b="b"/>
              <a:pathLst>
                <a:path w="2571750" h="22860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190750"/>
                  </a:lnTo>
                  <a:cubicBezTo>
                    <a:pt x="2571750" y="2243355"/>
                    <a:pt x="2529105" y="2286000"/>
                    <a:pt x="2476500" y="2286000"/>
                  </a:cubicBezTo>
                  <a:lnTo>
                    <a:pt x="95250" y="2286000"/>
                  </a:lnTo>
                  <a:cubicBezTo>
                    <a:pt x="42645" y="2286000"/>
                    <a:pt x="0" y="2243355"/>
                    <a:pt x="0" y="2190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3333750" y="1047750"/>
              <a:ext cx="2571750" cy="57150"/>
            </a:xfrm>
            <a:custGeom>
              <a:avLst/>
              <a:gdLst/>
              <a:ahLst/>
              <a:cxnLst/>
              <a:rect l="l" t="t" r="r" b="b"/>
              <a:pathLst>
                <a:path w="2571750" h="57150">
                  <a:moveTo>
                    <a:pt x="28575" y="0"/>
                  </a:moveTo>
                  <a:lnTo>
                    <a:pt x="2543175" y="0"/>
                  </a:lnTo>
                  <a:cubicBezTo>
                    <a:pt x="2558957" y="0"/>
                    <a:pt x="2571750" y="12793"/>
                    <a:pt x="2571750" y="28575"/>
                  </a:cubicBezTo>
                  <a:lnTo>
                    <a:pt x="2571750" y="28575"/>
                  </a:lnTo>
                  <a:cubicBezTo>
                    <a:pt x="2571750" y="44357"/>
                    <a:pt x="2558957" y="57150"/>
                    <a:pt x="25431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2B7BC4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3429000" y="1247775"/>
              <a:ext cx="266700" cy="266700"/>
            </a:xfrm>
            <a:prstGeom prst="ellipse">
              <a:avLst/>
            </a:prstGeom>
            <a:solidFill>
              <a:srgbClr val="2B7BC4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12965" y="13315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773805" y="12830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中文题名页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3476625" y="16002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511868" y="175212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置于封面后，包含：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2820" y="1998345"/>
              <a:ext cx="1711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学位授予单位（规范全称）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12820" y="2207895"/>
              <a:ext cx="127158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题名（一般≤25字）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512820" y="2417445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副题名（如有）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512820" y="2626995"/>
              <a:ext cx="15804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责任者（作者、导师等）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12820" y="2836545"/>
              <a:ext cx="1258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申请学位/研究方向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12820" y="3046095"/>
              <a:ext cx="12584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授位日期/培养单位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096000" y="1047750"/>
            <a:ext cx="2571750" cy="2286000"/>
            <a:chOff x="6096000" y="1047750"/>
            <a:chExt cx="2571750" cy="2286000"/>
          </a:xfrm>
        </p:grpSpPr>
        <p:sp>
          <p:nvSpPr>
            <p:cNvPr id="35" name="Freeform 35"/>
            <p:cNvSpPr/>
            <p:nvPr/>
          </p:nvSpPr>
          <p:spPr>
            <a:xfrm>
              <a:off x="6096000" y="1047750"/>
              <a:ext cx="2571750" cy="2286000"/>
            </a:xfrm>
            <a:custGeom>
              <a:avLst/>
              <a:gdLst/>
              <a:ahLst/>
              <a:cxnLst/>
              <a:rect l="l" t="t" r="r" b="b"/>
              <a:pathLst>
                <a:path w="2571750" h="22860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190750"/>
                  </a:lnTo>
                  <a:cubicBezTo>
                    <a:pt x="2571750" y="2243355"/>
                    <a:pt x="2529105" y="2286000"/>
                    <a:pt x="2476500" y="2286000"/>
                  </a:cubicBezTo>
                  <a:lnTo>
                    <a:pt x="95250" y="2286000"/>
                  </a:lnTo>
                  <a:cubicBezTo>
                    <a:pt x="42645" y="2286000"/>
                    <a:pt x="0" y="2243355"/>
                    <a:pt x="0" y="2190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Freeform 36"/>
            <p:cNvSpPr/>
            <p:nvPr/>
          </p:nvSpPr>
          <p:spPr>
            <a:xfrm>
              <a:off x="6096000" y="1047750"/>
              <a:ext cx="2571750" cy="57150"/>
            </a:xfrm>
            <a:custGeom>
              <a:avLst/>
              <a:gdLst/>
              <a:ahLst/>
              <a:cxnLst/>
              <a:rect l="l" t="t" r="r" b="b"/>
              <a:pathLst>
                <a:path w="2571750" h="57150">
                  <a:moveTo>
                    <a:pt x="28575" y="0"/>
                  </a:moveTo>
                  <a:lnTo>
                    <a:pt x="2543175" y="0"/>
                  </a:lnTo>
                  <a:cubicBezTo>
                    <a:pt x="2558957" y="0"/>
                    <a:pt x="2571750" y="12793"/>
                    <a:pt x="2571750" y="28575"/>
                  </a:cubicBezTo>
                  <a:lnTo>
                    <a:pt x="2571750" y="28575"/>
                  </a:lnTo>
                  <a:cubicBezTo>
                    <a:pt x="2571750" y="44357"/>
                    <a:pt x="2558957" y="57150"/>
                    <a:pt x="25431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38A169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6191250" y="1247775"/>
              <a:ext cx="266700" cy="266700"/>
            </a:xfrm>
            <a:prstGeom prst="ellipse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275215" y="13315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36055" y="12830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英文题名页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6238875" y="16002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274118" y="175212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置于中文题名页后：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5070" y="2045970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与中文题名页对应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5070" y="2284095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采用中英文对照方式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75070" y="2522220"/>
              <a:ext cx="12387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外文题名≤10个实词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6286500" y="2809875"/>
              <a:ext cx="2190750" cy="428625"/>
            </a:xfrm>
            <a:custGeom>
              <a:avLst/>
              <a:gdLst/>
              <a:ahLst/>
              <a:cxnLst/>
              <a:rect l="l" t="t" r="r" b="b"/>
              <a:pathLst>
                <a:path w="2190750" h="428625">
                  <a:moveTo>
                    <a:pt x="57150" y="0"/>
                  </a:moveTo>
                  <a:lnTo>
                    <a:pt x="2133600" y="0"/>
                  </a:lnTo>
                  <a:cubicBezTo>
                    <a:pt x="2165163" y="0"/>
                    <a:pt x="2190750" y="25587"/>
                    <a:pt x="2190750" y="57150"/>
                  </a:cubicBezTo>
                  <a:lnTo>
                    <a:pt x="2190750" y="371475"/>
                  </a:lnTo>
                  <a:cubicBezTo>
                    <a:pt x="2190750" y="403038"/>
                    <a:pt x="2165163" y="428625"/>
                    <a:pt x="2133600" y="428625"/>
                  </a:cubicBezTo>
                  <a:lnTo>
                    <a:pt x="57150" y="428625"/>
                  </a:lnTo>
                  <a:cubicBezTo>
                    <a:pt x="25587" y="428625"/>
                    <a:pt x="0" y="403038"/>
                    <a:pt x="0" y="3714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0FFF4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717732" y="2911316"/>
              <a:ext cx="13282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38A169"/>
                  </a:solidFill>
                  <a:latin typeface="Segoe UI"/>
                  <a:ea typeface="Microsoft YaHei"/>
                  <a:cs typeface="Segoe UI"/>
                </a:rPr>
                <a:t>💡 题名在论文中不同位置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889432" y="3073241"/>
              <a:ext cx="9848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38A169"/>
                  </a:solidFill>
                  <a:latin typeface="Segoe UI"/>
                  <a:ea typeface="Microsoft YaHei"/>
                  <a:cs typeface="Segoe UI"/>
                </a:rPr>
                <a:t>出现时应保持一致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048750" y="1047750"/>
            <a:ext cx="2571750" cy="2286000"/>
            <a:chOff x="9048750" y="1047750"/>
            <a:chExt cx="2571750" cy="2286000"/>
          </a:xfrm>
        </p:grpSpPr>
        <p:sp>
          <p:nvSpPr>
            <p:cNvPr id="49" name="Freeform 49"/>
            <p:cNvSpPr/>
            <p:nvPr/>
          </p:nvSpPr>
          <p:spPr>
            <a:xfrm>
              <a:off x="9048750" y="1047750"/>
              <a:ext cx="2571750" cy="2286000"/>
            </a:xfrm>
            <a:custGeom>
              <a:avLst/>
              <a:gdLst/>
              <a:ahLst/>
              <a:cxnLst/>
              <a:rect l="l" t="t" r="r" b="b"/>
              <a:pathLst>
                <a:path w="2571750" h="22860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190750"/>
                  </a:lnTo>
                  <a:cubicBezTo>
                    <a:pt x="2571750" y="2243355"/>
                    <a:pt x="2529105" y="2286000"/>
                    <a:pt x="2476500" y="2286000"/>
                  </a:cubicBezTo>
                  <a:lnTo>
                    <a:pt x="95250" y="2286000"/>
                  </a:lnTo>
                  <a:cubicBezTo>
                    <a:pt x="42645" y="2286000"/>
                    <a:pt x="0" y="2243355"/>
                    <a:pt x="0" y="21907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0" name="Freeform 50"/>
            <p:cNvSpPr/>
            <p:nvPr/>
          </p:nvSpPr>
          <p:spPr>
            <a:xfrm>
              <a:off x="9048750" y="1047750"/>
              <a:ext cx="2571750" cy="57150"/>
            </a:xfrm>
            <a:custGeom>
              <a:avLst/>
              <a:gdLst/>
              <a:ahLst/>
              <a:cxnLst/>
              <a:rect l="l" t="t" r="r" b="b"/>
              <a:pathLst>
                <a:path w="2571750" h="57150">
                  <a:moveTo>
                    <a:pt x="28575" y="0"/>
                  </a:moveTo>
                  <a:lnTo>
                    <a:pt x="2543175" y="0"/>
                  </a:lnTo>
                  <a:cubicBezTo>
                    <a:pt x="2558957" y="0"/>
                    <a:pt x="2571750" y="12793"/>
                    <a:pt x="2571750" y="28575"/>
                  </a:cubicBezTo>
                  <a:lnTo>
                    <a:pt x="2571750" y="28575"/>
                  </a:lnTo>
                  <a:cubicBezTo>
                    <a:pt x="2571750" y="44357"/>
                    <a:pt x="2558957" y="57150"/>
                    <a:pt x="25431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E07C24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9144000" y="1247775"/>
              <a:ext cx="266700" cy="266700"/>
            </a:xfrm>
            <a:prstGeom prst="ellipse">
              <a:avLst/>
            </a:prstGeom>
            <a:solidFill>
              <a:srgbClr val="E07C24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27965" y="13315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488805" y="12830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中文摘要</a:t>
              </a:r>
            </a:p>
          </p:txBody>
        </p:sp>
        <p:sp>
          <p:nvSpPr>
            <p:cNvPr id="54" name="Line 54"/>
            <p:cNvSpPr/>
            <p:nvPr/>
          </p:nvSpPr>
          <p:spPr>
            <a:xfrm>
              <a:off x="9191625" y="16002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9226868" y="1752124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字数要求：</a:t>
              </a:r>
            </a:p>
          </p:txBody>
        </p:sp>
        <p:sp>
          <p:nvSpPr>
            <p:cNvPr id="56" name="Freeform 56"/>
            <p:cNvSpPr/>
            <p:nvPr/>
          </p:nvSpPr>
          <p:spPr>
            <a:xfrm>
              <a:off x="9239250" y="1952625"/>
              <a:ext cx="2190750" cy="476250"/>
            </a:xfrm>
            <a:custGeom>
              <a:avLst/>
              <a:gdLst/>
              <a:ahLst/>
              <a:cxnLst/>
              <a:rect l="l" t="t" r="r" b="b"/>
              <a:pathLst>
                <a:path w="2190750" h="476250">
                  <a:moveTo>
                    <a:pt x="57150" y="0"/>
                  </a:moveTo>
                  <a:lnTo>
                    <a:pt x="2133600" y="0"/>
                  </a:lnTo>
                  <a:cubicBezTo>
                    <a:pt x="2165163" y="0"/>
                    <a:pt x="2190750" y="25587"/>
                    <a:pt x="2190750" y="57150"/>
                  </a:cubicBezTo>
                  <a:lnTo>
                    <a:pt x="2190750" y="419100"/>
                  </a:lnTo>
                  <a:cubicBezTo>
                    <a:pt x="2190750" y="450663"/>
                    <a:pt x="2165163" y="476250"/>
                    <a:pt x="2133600" y="476250"/>
                  </a:cubicBezTo>
                  <a:lnTo>
                    <a:pt x="57150" y="476250"/>
                  </a:lnTo>
                  <a:cubicBezTo>
                    <a:pt x="25587" y="476250"/>
                    <a:pt x="0" y="450663"/>
                    <a:pt x="0" y="41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AF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323070" y="2045970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硕士：</a:t>
              </a:r>
              <a:r>
                <a:rPr lang="zh-CN" sz="900" b="1" dirty="0">
                  <a:solidFill>
                    <a:srgbClr val="E07C24"/>
                  </a:solidFill>
                  <a:latin typeface="Segoe UI"/>
                  <a:ea typeface="Microsoft YaHei"/>
                  <a:cs typeface="Segoe UI"/>
                </a:rPr>
                <a:t>600-800</a:t>
              </a:r>
              <a:r>
                <a:rPr lang="zh-CN" sz="900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汉字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323070" y="2236470"/>
              <a:ext cx="12650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博士：</a:t>
              </a:r>
              <a:r>
                <a:rPr lang="zh-CN" sz="900" b="1" dirty="0">
                  <a:solidFill>
                    <a:srgbClr val="E07C24"/>
                  </a:solidFill>
                  <a:latin typeface="Segoe UI"/>
                  <a:ea typeface="Microsoft YaHei"/>
                  <a:cs typeface="Segoe UI"/>
                </a:rPr>
                <a:t>1200-1500</a:t>
              </a:r>
              <a:r>
                <a:rPr lang="zh-CN" sz="900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汉字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227820" y="2522220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标题：三号黑体，居中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27820" y="2731770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正文：小四号宋体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27820" y="2941320"/>
              <a:ext cx="11992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行距：固定值20磅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227820" y="3150870"/>
              <a:ext cx="13898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段落：首行缩进2字符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571500" y="3524250"/>
            <a:ext cx="2571750" cy="2095500"/>
            <a:chOff x="571500" y="3524250"/>
            <a:chExt cx="2571750" cy="2095500"/>
          </a:xfrm>
        </p:grpSpPr>
        <p:sp>
          <p:nvSpPr>
            <p:cNvPr id="64" name="Freeform 64"/>
            <p:cNvSpPr/>
            <p:nvPr/>
          </p:nvSpPr>
          <p:spPr>
            <a:xfrm>
              <a:off x="571500" y="3524250"/>
              <a:ext cx="2571750" cy="2095500"/>
            </a:xfrm>
            <a:custGeom>
              <a:avLst/>
              <a:gdLst/>
              <a:ahLst/>
              <a:cxnLst/>
              <a:rect l="l" t="t" r="r" b="b"/>
              <a:pathLst>
                <a:path w="2571750" h="20955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000250"/>
                  </a:lnTo>
                  <a:cubicBezTo>
                    <a:pt x="2571750" y="2052855"/>
                    <a:pt x="2529105" y="2095500"/>
                    <a:pt x="2476500" y="2095500"/>
                  </a:cubicBezTo>
                  <a:lnTo>
                    <a:pt x="95250" y="2095500"/>
                  </a:lnTo>
                  <a:cubicBezTo>
                    <a:pt x="42645" y="2095500"/>
                    <a:pt x="0" y="2052855"/>
                    <a:pt x="0" y="2000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571500" y="3524250"/>
              <a:ext cx="2571750" cy="57150"/>
            </a:xfrm>
            <a:custGeom>
              <a:avLst/>
              <a:gdLst/>
              <a:ahLst/>
              <a:cxnLst/>
              <a:rect l="l" t="t" r="r" b="b"/>
              <a:pathLst>
                <a:path w="2571750" h="57150">
                  <a:moveTo>
                    <a:pt x="28575" y="0"/>
                  </a:moveTo>
                  <a:lnTo>
                    <a:pt x="2543175" y="0"/>
                  </a:lnTo>
                  <a:cubicBezTo>
                    <a:pt x="2558957" y="0"/>
                    <a:pt x="2571750" y="12793"/>
                    <a:pt x="2571750" y="28575"/>
                  </a:cubicBezTo>
                  <a:lnTo>
                    <a:pt x="2571750" y="28575"/>
                  </a:lnTo>
                  <a:cubicBezTo>
                    <a:pt x="2571750" y="44357"/>
                    <a:pt x="2558957" y="57150"/>
                    <a:pt x="25431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805AD5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666750" y="3724275"/>
              <a:ext cx="266700" cy="266700"/>
            </a:xfrm>
            <a:prstGeom prst="ellipse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50715" y="38080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011555" y="37595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英文摘要</a:t>
              </a:r>
            </a:p>
          </p:txBody>
        </p:sp>
        <p:sp>
          <p:nvSpPr>
            <p:cNvPr id="69" name="Line 69"/>
            <p:cNvSpPr/>
            <p:nvPr/>
          </p:nvSpPr>
          <p:spPr>
            <a:xfrm>
              <a:off x="714375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49618" y="4228624"/>
              <a:ext cx="150571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Abstract（不可省略）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0570" y="4522470"/>
              <a:ext cx="18959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标题：三号 Times New Roman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50570" y="4760595"/>
              <a:ext cx="20273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正文：小四号 Times New Roman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50570" y="4998720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是中文摘要的英文译文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50570" y="5236845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置于中文摘要页之后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3333750" y="3524250"/>
            <a:ext cx="2571750" cy="2095500"/>
            <a:chOff x="3333750" y="3524250"/>
            <a:chExt cx="2571750" cy="2095500"/>
          </a:xfrm>
        </p:grpSpPr>
        <p:sp>
          <p:nvSpPr>
            <p:cNvPr id="76" name="Freeform 76"/>
            <p:cNvSpPr/>
            <p:nvPr/>
          </p:nvSpPr>
          <p:spPr>
            <a:xfrm>
              <a:off x="3333750" y="3524250"/>
              <a:ext cx="2571750" cy="2095500"/>
            </a:xfrm>
            <a:custGeom>
              <a:avLst/>
              <a:gdLst/>
              <a:ahLst/>
              <a:cxnLst/>
              <a:rect l="l" t="t" r="r" b="b"/>
              <a:pathLst>
                <a:path w="2571750" h="20955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000250"/>
                  </a:lnTo>
                  <a:cubicBezTo>
                    <a:pt x="2571750" y="2052855"/>
                    <a:pt x="2529105" y="2095500"/>
                    <a:pt x="2476500" y="2095500"/>
                  </a:cubicBezTo>
                  <a:lnTo>
                    <a:pt x="95250" y="2095500"/>
                  </a:lnTo>
                  <a:cubicBezTo>
                    <a:pt x="42645" y="2095500"/>
                    <a:pt x="0" y="2052855"/>
                    <a:pt x="0" y="2000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7" name="Freeform 77"/>
            <p:cNvSpPr/>
            <p:nvPr/>
          </p:nvSpPr>
          <p:spPr>
            <a:xfrm>
              <a:off x="3333750" y="3524250"/>
              <a:ext cx="2571750" cy="57150"/>
            </a:xfrm>
            <a:custGeom>
              <a:avLst/>
              <a:gdLst/>
              <a:ahLst/>
              <a:cxnLst/>
              <a:rect l="l" t="t" r="r" b="b"/>
              <a:pathLst>
                <a:path w="2571750" h="57150">
                  <a:moveTo>
                    <a:pt x="28575" y="0"/>
                  </a:moveTo>
                  <a:lnTo>
                    <a:pt x="2543175" y="0"/>
                  </a:lnTo>
                  <a:cubicBezTo>
                    <a:pt x="2558957" y="0"/>
                    <a:pt x="2571750" y="12793"/>
                    <a:pt x="2571750" y="28575"/>
                  </a:cubicBezTo>
                  <a:lnTo>
                    <a:pt x="2571750" y="28575"/>
                  </a:lnTo>
                  <a:cubicBezTo>
                    <a:pt x="2571750" y="44357"/>
                    <a:pt x="2558957" y="57150"/>
                    <a:pt x="25431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D6B20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3429000" y="3724275"/>
              <a:ext cx="266700" cy="266700"/>
            </a:xfrm>
            <a:prstGeom prst="ellipse">
              <a:avLst/>
            </a:prstGeom>
            <a:solidFill>
              <a:srgbClr val="DD6B20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512965" y="38080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3773805" y="37595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目次页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3476625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3511868" y="42286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另起一页，置于摘要后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3512820" y="4522470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标题：三号黑体，居中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3512820" y="4760595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章节序号格式：</a:t>
              </a:r>
            </a:p>
          </p:txBody>
        </p:sp>
        <p:sp>
          <p:nvSpPr>
            <p:cNvPr id="85" name="Freeform 85"/>
            <p:cNvSpPr/>
            <p:nvPr/>
          </p:nvSpPr>
          <p:spPr>
            <a:xfrm>
              <a:off x="3619500" y="4953000"/>
              <a:ext cx="2000250" cy="523875"/>
            </a:xfrm>
            <a:custGeom>
              <a:avLst/>
              <a:gdLst/>
              <a:ahLst/>
              <a:cxnLst/>
              <a:rect l="l" t="t" r="r" b="b"/>
              <a:pathLst>
                <a:path w="2000250" h="523875">
                  <a:moveTo>
                    <a:pt x="38100" y="0"/>
                  </a:moveTo>
                  <a:lnTo>
                    <a:pt x="1962150" y="0"/>
                  </a:lnTo>
                  <a:cubicBezTo>
                    <a:pt x="1983192" y="0"/>
                    <a:pt x="2000250" y="17058"/>
                    <a:pt x="2000250" y="38100"/>
                  </a:cubicBezTo>
                  <a:lnTo>
                    <a:pt x="2000250" y="485775"/>
                  </a:lnTo>
                  <a:cubicBezTo>
                    <a:pt x="2000250" y="506817"/>
                    <a:pt x="1983192" y="523875"/>
                    <a:pt x="1962150" y="523875"/>
                  </a:cubicBezTo>
                  <a:lnTo>
                    <a:pt x="38100" y="523875"/>
                  </a:lnTo>
                  <a:cubicBezTo>
                    <a:pt x="17058" y="523875"/>
                    <a:pt x="0" y="506817"/>
                    <a:pt x="0" y="48577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3704272" y="5054441"/>
              <a:ext cx="94271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A5568"/>
                  </a:solidFill>
                  <a:latin typeface="Arial"/>
                  <a:ea typeface="Microsoft YaHei"/>
                  <a:cs typeface="Arial"/>
                </a:rPr>
                <a:t>1、1.1、1.1.2 ...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3704272" y="5244941"/>
              <a:ext cx="110537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阿拉伯数字依次标出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6096000" y="3524250"/>
            <a:ext cx="2571750" cy="2095500"/>
            <a:chOff x="6096000" y="3524250"/>
            <a:chExt cx="2571750" cy="2095500"/>
          </a:xfrm>
        </p:grpSpPr>
        <p:sp>
          <p:nvSpPr>
            <p:cNvPr id="89" name="Freeform 89"/>
            <p:cNvSpPr/>
            <p:nvPr/>
          </p:nvSpPr>
          <p:spPr>
            <a:xfrm>
              <a:off x="6096000" y="3524250"/>
              <a:ext cx="2571750" cy="2095500"/>
            </a:xfrm>
            <a:custGeom>
              <a:avLst/>
              <a:gdLst/>
              <a:ahLst/>
              <a:cxnLst/>
              <a:rect l="l" t="t" r="r" b="b"/>
              <a:pathLst>
                <a:path w="2571750" h="20955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000250"/>
                  </a:lnTo>
                  <a:cubicBezTo>
                    <a:pt x="2571750" y="2052855"/>
                    <a:pt x="2529105" y="2095500"/>
                    <a:pt x="2476500" y="2095500"/>
                  </a:cubicBezTo>
                  <a:lnTo>
                    <a:pt x="95250" y="2095500"/>
                  </a:lnTo>
                  <a:cubicBezTo>
                    <a:pt x="42645" y="2095500"/>
                    <a:pt x="0" y="2052855"/>
                    <a:pt x="0" y="2000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0" name="Freeform 90"/>
            <p:cNvSpPr/>
            <p:nvPr/>
          </p:nvSpPr>
          <p:spPr>
            <a:xfrm>
              <a:off x="6096000" y="3524250"/>
              <a:ext cx="2571750" cy="57150"/>
            </a:xfrm>
            <a:custGeom>
              <a:avLst/>
              <a:gdLst/>
              <a:ahLst/>
              <a:cxnLst/>
              <a:rect l="l" t="t" r="r" b="b"/>
              <a:pathLst>
                <a:path w="2571750" h="57150">
                  <a:moveTo>
                    <a:pt x="28575" y="0"/>
                  </a:moveTo>
                  <a:lnTo>
                    <a:pt x="2543175" y="0"/>
                  </a:lnTo>
                  <a:cubicBezTo>
                    <a:pt x="2558957" y="0"/>
                    <a:pt x="2571750" y="12793"/>
                    <a:pt x="2571750" y="28575"/>
                  </a:cubicBezTo>
                  <a:lnTo>
                    <a:pt x="2571750" y="28575"/>
                  </a:lnTo>
                  <a:cubicBezTo>
                    <a:pt x="2571750" y="44357"/>
                    <a:pt x="2558957" y="57150"/>
                    <a:pt x="25431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319795"/>
            </a:solidFill>
            <a:ln>
              <a:noFill/>
            </a:ln>
          </p:spPr>
        </p:sp>
        <p:sp>
          <p:nvSpPr>
            <p:cNvPr id="91" name="Ellipse 91"/>
            <p:cNvSpPr/>
            <p:nvPr/>
          </p:nvSpPr>
          <p:spPr>
            <a:xfrm>
              <a:off x="6191250" y="3724275"/>
              <a:ext cx="266700" cy="266700"/>
            </a:xfrm>
            <a:prstGeom prst="ellipse">
              <a:avLst/>
            </a:prstGeom>
            <a:solidFill>
              <a:srgbClr val="319795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275215" y="38080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7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536055" y="3759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插图附表清单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8180070" y="380809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可选</a:t>
              </a:r>
            </a:p>
          </p:txBody>
        </p:sp>
        <p:sp>
          <p:nvSpPr>
            <p:cNvPr id="95" name="Line 95"/>
            <p:cNvSpPr/>
            <p:nvPr/>
          </p:nvSpPr>
          <p:spPr>
            <a:xfrm>
              <a:off x="6238875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274118" y="4228624"/>
              <a:ext cx="159115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如图表较多，可分别列出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6275070" y="4522470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图清单：序号+图题+页码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275070" y="4760595"/>
              <a:ext cx="15936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表清单：序号+表题+页码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275070" y="5046345"/>
              <a:ext cx="10547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置于目次页之后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6275070" y="5284470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标题三号黑体，居中</a:t>
              </a:r>
            </a:p>
          </p:txBody>
        </p:sp>
      </p:grpSp>
      <p:grpSp>
        <p:nvGrpSpPr>
          <p:cNvPr id="114" name="Group 114"/>
          <p:cNvGrpSpPr/>
          <p:nvPr/>
        </p:nvGrpSpPr>
        <p:grpSpPr>
          <a:xfrm>
            <a:off x="9048750" y="3524250"/>
            <a:ext cx="2571750" cy="2095500"/>
            <a:chOff x="9048750" y="3524250"/>
            <a:chExt cx="2571750" cy="2095500"/>
          </a:xfrm>
        </p:grpSpPr>
        <p:sp>
          <p:nvSpPr>
            <p:cNvPr id="102" name="Freeform 102"/>
            <p:cNvSpPr/>
            <p:nvPr/>
          </p:nvSpPr>
          <p:spPr>
            <a:xfrm>
              <a:off x="9048750" y="3524250"/>
              <a:ext cx="2571750" cy="2095500"/>
            </a:xfrm>
            <a:custGeom>
              <a:avLst/>
              <a:gdLst/>
              <a:ahLst/>
              <a:cxnLst/>
              <a:rect l="l" t="t" r="r" b="b"/>
              <a:pathLst>
                <a:path w="2571750" h="2095500">
                  <a:moveTo>
                    <a:pt x="95250" y="0"/>
                  </a:moveTo>
                  <a:lnTo>
                    <a:pt x="2476500" y="0"/>
                  </a:lnTo>
                  <a:cubicBezTo>
                    <a:pt x="2529105" y="0"/>
                    <a:pt x="2571750" y="42645"/>
                    <a:pt x="2571750" y="95250"/>
                  </a:cubicBezTo>
                  <a:lnTo>
                    <a:pt x="2571750" y="2000250"/>
                  </a:lnTo>
                  <a:cubicBezTo>
                    <a:pt x="2571750" y="2052855"/>
                    <a:pt x="2529105" y="2095500"/>
                    <a:pt x="2476500" y="2095500"/>
                  </a:cubicBezTo>
                  <a:lnTo>
                    <a:pt x="95250" y="2095500"/>
                  </a:lnTo>
                  <a:cubicBezTo>
                    <a:pt x="42645" y="2095500"/>
                    <a:pt x="0" y="2052855"/>
                    <a:pt x="0" y="2000250"/>
                  </a:cubicBezTo>
                  <a:lnTo>
                    <a:pt x="0" y="95250"/>
                  </a:lnTo>
                  <a:cubicBezTo>
                    <a:pt x="0" y="42645"/>
                    <a:pt x="42645" y="0"/>
                    <a:pt x="9525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03" name="Freeform 103"/>
            <p:cNvSpPr/>
            <p:nvPr/>
          </p:nvSpPr>
          <p:spPr>
            <a:xfrm>
              <a:off x="9048750" y="3524250"/>
              <a:ext cx="2571750" cy="57150"/>
            </a:xfrm>
            <a:custGeom>
              <a:avLst/>
              <a:gdLst/>
              <a:ahLst/>
              <a:cxnLst/>
              <a:rect l="l" t="t" r="r" b="b"/>
              <a:pathLst>
                <a:path w="2571750" h="57150">
                  <a:moveTo>
                    <a:pt x="28575" y="0"/>
                  </a:moveTo>
                  <a:lnTo>
                    <a:pt x="2543175" y="0"/>
                  </a:lnTo>
                  <a:cubicBezTo>
                    <a:pt x="2558957" y="0"/>
                    <a:pt x="2571750" y="12793"/>
                    <a:pt x="2571750" y="28575"/>
                  </a:cubicBezTo>
                  <a:lnTo>
                    <a:pt x="2571750" y="28575"/>
                  </a:lnTo>
                  <a:cubicBezTo>
                    <a:pt x="2571750" y="44357"/>
                    <a:pt x="2558957" y="57150"/>
                    <a:pt x="2543175" y="57150"/>
                  </a:cubicBezTo>
                  <a:lnTo>
                    <a:pt x="28575" y="57150"/>
                  </a:lnTo>
                  <a:cubicBezTo>
                    <a:pt x="12793" y="57150"/>
                    <a:pt x="0" y="44357"/>
                    <a:pt x="0" y="28575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close/>
                </a:path>
              </a:pathLst>
            </a:custGeom>
            <a:solidFill>
              <a:srgbClr val="D53F8C"/>
            </a:solidFill>
            <a:ln>
              <a:noFill/>
            </a:ln>
          </p:spPr>
        </p:sp>
        <p:sp>
          <p:nvSpPr>
            <p:cNvPr id="104" name="Ellipse 104"/>
            <p:cNvSpPr/>
            <p:nvPr/>
          </p:nvSpPr>
          <p:spPr>
            <a:xfrm>
              <a:off x="9144000" y="3724275"/>
              <a:ext cx="266700" cy="266700"/>
            </a:xfrm>
            <a:prstGeom prst="ellipse">
              <a:avLst/>
            </a:prstGeom>
            <a:solidFill>
              <a:srgbClr val="D53F8C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9227965" y="3808095"/>
              <a:ext cx="987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8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9488805" y="3759518"/>
              <a:ext cx="1276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符号缩略词表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132820" y="3808095"/>
              <a:ext cx="2857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可选</a:t>
              </a:r>
            </a:p>
          </p:txBody>
        </p:sp>
        <p:sp>
          <p:nvSpPr>
            <p:cNvPr id="108" name="Line 108"/>
            <p:cNvSpPr/>
            <p:nvPr/>
          </p:nvSpPr>
          <p:spPr>
            <a:xfrm>
              <a:off x="9191625" y="40767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226868" y="4228624"/>
              <a:ext cx="14487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汇集注释说明，包括：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9227820" y="4522470"/>
              <a:ext cx="79181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符号、标志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9227820" y="4760595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缩略词、首字母缩写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227820" y="4998720"/>
              <a:ext cx="660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计量单位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227820" y="5236845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名词、术语等</a:t>
              </a:r>
            </a:p>
          </p:txBody>
        </p:sp>
      </p:grpSp>
      <p:sp>
        <p:nvSpPr>
          <p:cNvPr id="115" name="Rectangle 115"/>
          <p:cNvSpPr/>
          <p:nvPr/>
        </p:nvSpPr>
        <p:spPr>
          <a:xfrm>
            <a:off x="571500" y="5810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6" name="TextBox 116"/>
          <p:cNvSpPr txBox="1"/>
          <p:nvPr/>
        </p:nvSpPr>
        <p:spPr>
          <a:xfrm>
            <a:off x="941070" y="63798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重庆大学硕士学位论文撰写格式标准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5933408" y="647509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4 / 11</a:t>
            </a:r>
          </a:p>
        </p:txBody>
      </p:sp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F9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593336" y="264795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摘要与关键词规范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54940" y="659606"/>
            <a:ext cx="26821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论文核心内容的高度凝练 · 检索利器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571500" y="1047750"/>
            <a:ext cx="5334000" cy="4286250"/>
            <a:chOff x="571500" y="1047750"/>
            <a:chExt cx="5334000" cy="4286250"/>
          </a:xfrm>
        </p:grpSpPr>
        <p:sp>
          <p:nvSpPr>
            <p:cNvPr id="6" name="Freeform 6"/>
            <p:cNvSpPr/>
            <p:nvPr/>
          </p:nvSpPr>
          <p:spPr>
            <a:xfrm>
              <a:off x="571500" y="1047750"/>
              <a:ext cx="5334000" cy="4286250"/>
            </a:xfrm>
            <a:custGeom>
              <a:avLst/>
              <a:gdLst/>
              <a:ahLst/>
              <a:cxnLst/>
              <a:rect l="l" t="t" r="r" b="b"/>
              <a:pathLst>
                <a:path w="5334000" h="4286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171950"/>
                  </a:lnTo>
                  <a:cubicBezTo>
                    <a:pt x="5334000" y="4235076"/>
                    <a:pt x="5282826" y="4286250"/>
                    <a:pt x="5219700" y="4286250"/>
                  </a:cubicBezTo>
                  <a:lnTo>
                    <a:pt x="114300" y="4286250"/>
                  </a:lnTo>
                  <a:cubicBezTo>
                    <a:pt x="51174" y="4286250"/>
                    <a:pt x="0" y="4235076"/>
                    <a:pt x="0" y="4171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1047750"/>
              <a:ext cx="5334000" cy="476250"/>
            </a:xfrm>
            <a:custGeom>
              <a:avLst/>
              <a:gdLst/>
              <a:ahLst/>
              <a:cxnLst/>
              <a:rect l="l" t="t" r="r" b="b"/>
              <a:pathLst>
                <a:path w="5334000" h="476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61950"/>
                  </a:lnTo>
                  <a:cubicBezTo>
                    <a:pt x="5334000" y="425076"/>
                    <a:pt x="5282826" y="476250"/>
                    <a:pt x="5219700" y="476250"/>
                  </a:cubicBezTo>
                  <a:lnTo>
                    <a:pt x="114300" y="476250"/>
                  </a:lnTo>
                  <a:cubicBezTo>
                    <a:pt x="51174" y="476250"/>
                    <a:pt x="0" y="425076"/>
                    <a:pt x="0" y="361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A5F9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428750"/>
              <a:ext cx="5334000" cy="9525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59392" y="1200150"/>
              <a:ext cx="95821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中文摘要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2010" y="1727835"/>
              <a:ext cx="9229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📝 内容要求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57250" y="195262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43915" y="2077402"/>
              <a:ext cx="33774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• 独立性和自含性：不阅读全文即可获得必要信息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3915" y="2315528"/>
              <a:ext cx="41441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• 包含：研究目的、过程、结果、结论（重点是结果和结论）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915" y="2553652"/>
              <a:ext cx="23039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• 使用第三人称，避免主观性评价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2791778"/>
              <a:ext cx="33774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• 采用规范名词术语，避免使用图表和非公知符号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2010" y="3156585"/>
              <a:ext cx="9229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📏 字数要求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857250" y="338137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57250" y="3524250"/>
              <a:ext cx="2286000" cy="571500"/>
            </a:xfrm>
            <a:custGeom>
              <a:avLst/>
              <a:gdLst/>
              <a:ahLst/>
              <a:cxnLst/>
              <a:rect l="l" t="t" r="r" b="b"/>
              <a:pathLst>
                <a:path w="2286000" h="571500">
                  <a:moveTo>
                    <a:pt x="76200" y="0"/>
                  </a:move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495300"/>
                  </a:lnTo>
                  <a:cubicBezTo>
                    <a:pt x="2286000" y="537384"/>
                    <a:pt x="2251884" y="571500"/>
                    <a:pt x="22098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BF8FF"/>
            </a:solidFill>
            <a:ln w="9525">
              <a:solidFill>
                <a:srgbClr val="1A5F9E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526857" y="364902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硕士学位论文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88876" y="3819525"/>
              <a:ext cx="122274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A5F9E"/>
                  </a:solidFill>
                  <a:latin typeface="Arial"/>
                  <a:ea typeface="Microsoft YaHei"/>
                  <a:cs typeface="Arial"/>
                </a:rPr>
                <a:t>600-800 字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3333750" y="3524250"/>
              <a:ext cx="2286000" cy="571500"/>
            </a:xfrm>
            <a:custGeom>
              <a:avLst/>
              <a:gdLst/>
              <a:ahLst/>
              <a:cxnLst/>
              <a:rect l="l" t="t" r="r" b="b"/>
              <a:pathLst>
                <a:path w="2286000" h="571500">
                  <a:moveTo>
                    <a:pt x="76200" y="0"/>
                  </a:move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495300"/>
                  </a:lnTo>
                  <a:cubicBezTo>
                    <a:pt x="2286000" y="537384"/>
                    <a:pt x="2251884" y="571500"/>
                    <a:pt x="2209800" y="571500"/>
                  </a:cubicBezTo>
                  <a:lnTo>
                    <a:pt x="76200" y="571500"/>
                  </a:lnTo>
                  <a:cubicBezTo>
                    <a:pt x="34116" y="571500"/>
                    <a:pt x="0" y="537384"/>
                    <a:pt x="0" y="4953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5F5"/>
            </a:solidFill>
            <a:ln w="9525">
              <a:solidFill>
                <a:srgbClr val="E53E3E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03358" y="3649028"/>
              <a:ext cx="946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博士学位论文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796367" y="3819525"/>
              <a:ext cx="136076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E53E3E"/>
                  </a:solidFill>
                  <a:latin typeface="Arial"/>
                  <a:ea typeface="Microsoft YaHei"/>
                  <a:cs typeface="Arial"/>
                </a:rPr>
                <a:t>1200-1500 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2010" y="4299585"/>
              <a:ext cx="9229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🎨 格式规范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857250" y="4524375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6" name="Freeform 26"/>
            <p:cNvSpPr/>
            <p:nvPr/>
          </p:nvSpPr>
          <p:spPr>
            <a:xfrm>
              <a:off x="857250" y="4667250"/>
              <a:ext cx="4762500" cy="666750"/>
            </a:xfrm>
            <a:custGeom>
              <a:avLst/>
              <a:gdLst/>
              <a:ahLst/>
              <a:cxnLst/>
              <a:rect l="l" t="t" r="r" b="b"/>
              <a:pathLst>
                <a:path w="4762500" h="666750">
                  <a:moveTo>
                    <a:pt x="57150" y="0"/>
                  </a:moveTo>
                  <a:lnTo>
                    <a:pt x="4705350" y="0"/>
                  </a:lnTo>
                  <a:cubicBezTo>
                    <a:pt x="4736913" y="0"/>
                    <a:pt x="4762500" y="25587"/>
                    <a:pt x="4762500" y="57150"/>
                  </a:cubicBezTo>
                  <a:lnTo>
                    <a:pt x="4762500" y="609600"/>
                  </a:lnTo>
                  <a:cubicBezTo>
                    <a:pt x="4762500" y="641163"/>
                    <a:pt x="4736913" y="666750"/>
                    <a:pt x="4705350" y="666750"/>
                  </a:cubicBezTo>
                  <a:lnTo>
                    <a:pt x="57150" y="666750"/>
                  </a:lnTo>
                  <a:cubicBezTo>
                    <a:pt x="25587" y="666750"/>
                    <a:pt x="0" y="641163"/>
                    <a:pt x="0" y="6096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87742" y="4800124"/>
              <a:ext cx="374137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标题：</a:t>
              </a:r>
              <a:r>
                <a:rPr lang="zh-CN" sz="975" b="1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三号黑体</a:t>
              </a:r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，居中，行距固定值20磅，段前段后空一行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87742" y="5038249"/>
              <a:ext cx="33924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正文：</a:t>
              </a:r>
              <a:r>
                <a:rPr lang="zh-CN" sz="975" b="1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小四号宋体</a:t>
              </a:r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，首行缩进2字符，行距固定值20磅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286500" y="1047750"/>
            <a:ext cx="5395532" cy="4286250"/>
            <a:chOff x="6286500" y="1047750"/>
            <a:chExt cx="5395532" cy="4286250"/>
          </a:xfrm>
        </p:grpSpPr>
        <p:sp>
          <p:nvSpPr>
            <p:cNvPr id="30" name="Freeform 30"/>
            <p:cNvSpPr/>
            <p:nvPr/>
          </p:nvSpPr>
          <p:spPr>
            <a:xfrm>
              <a:off x="6286500" y="1047750"/>
              <a:ext cx="5334000" cy="2286000"/>
            </a:xfrm>
            <a:custGeom>
              <a:avLst/>
              <a:gdLst/>
              <a:ahLst/>
              <a:cxnLst/>
              <a:rect l="l" t="t" r="r" b="b"/>
              <a:pathLst>
                <a:path w="5334000" h="22860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2171700"/>
                  </a:lnTo>
                  <a:cubicBezTo>
                    <a:pt x="5334000" y="2234826"/>
                    <a:pt x="5282826" y="2286000"/>
                    <a:pt x="5219700" y="2286000"/>
                  </a:cubicBezTo>
                  <a:lnTo>
                    <a:pt x="114300" y="2286000"/>
                  </a:lnTo>
                  <a:cubicBezTo>
                    <a:pt x="51174" y="2286000"/>
                    <a:pt x="0" y="2234826"/>
                    <a:pt x="0" y="2171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6286500" y="1047750"/>
              <a:ext cx="5334000" cy="476250"/>
            </a:xfrm>
            <a:custGeom>
              <a:avLst/>
              <a:gdLst/>
              <a:ahLst/>
              <a:cxnLst/>
              <a:rect l="l" t="t" r="r" b="b"/>
              <a:pathLst>
                <a:path w="5334000" h="476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61950"/>
                  </a:lnTo>
                  <a:cubicBezTo>
                    <a:pt x="5334000" y="425076"/>
                    <a:pt x="5282826" y="476250"/>
                    <a:pt x="5219700" y="476250"/>
                  </a:cubicBezTo>
                  <a:lnTo>
                    <a:pt x="114300" y="476250"/>
                  </a:lnTo>
                  <a:cubicBezTo>
                    <a:pt x="51174" y="476250"/>
                    <a:pt x="0" y="425076"/>
                    <a:pt x="0" y="361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2B7BC4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86500" y="1428750"/>
              <a:ext cx="5334000" cy="95250"/>
            </a:xfrm>
            <a:prstGeom prst="rect">
              <a:avLst/>
            </a:prstGeom>
            <a:solidFill>
              <a:srgbClr val="2B7BC4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08584" y="1200150"/>
              <a:ext cx="18898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English Abstract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58915" y="1744028"/>
              <a:ext cx="19665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• 标题 "Abstract"</a:t>
              </a:r>
              <a:r>
                <a:rPr lang="zh-CN" sz="1050" b="1" dirty="0">
                  <a:solidFill>
                    <a:srgbClr val="E53E3E"/>
                  </a:solidFill>
                  <a:latin typeface="Segoe UI"/>
                  <a:ea typeface="Microsoft YaHei"/>
                  <a:cs typeface="Segoe UI"/>
                </a:rPr>
                <a:t>不可省略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58915" y="2029778"/>
              <a:ext cx="32240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• 是中文摘要的英文译文，置于中文摘要页之后</a:t>
              </a:r>
            </a:p>
          </p:txBody>
        </p:sp>
        <p:sp>
          <p:nvSpPr>
            <p:cNvPr id="36" name="Freeform 36"/>
            <p:cNvSpPr/>
            <p:nvPr/>
          </p:nvSpPr>
          <p:spPr>
            <a:xfrm>
              <a:off x="6572250" y="2333625"/>
              <a:ext cx="4762500" cy="857250"/>
            </a:xfrm>
            <a:custGeom>
              <a:avLst/>
              <a:gdLst/>
              <a:ahLst/>
              <a:cxnLst/>
              <a:rect l="l" t="t" r="r" b="b"/>
              <a:pathLst>
                <a:path w="4762500" h="857250">
                  <a:moveTo>
                    <a:pt x="57150" y="0"/>
                  </a:moveTo>
                  <a:lnTo>
                    <a:pt x="4705350" y="0"/>
                  </a:lnTo>
                  <a:cubicBezTo>
                    <a:pt x="4736913" y="0"/>
                    <a:pt x="4762500" y="25587"/>
                    <a:pt x="4762500" y="57150"/>
                  </a:cubicBezTo>
                  <a:lnTo>
                    <a:pt x="4762500" y="800100"/>
                  </a:lnTo>
                  <a:cubicBezTo>
                    <a:pt x="4762500" y="831663"/>
                    <a:pt x="4736913" y="857250"/>
                    <a:pt x="4705350" y="857250"/>
                  </a:cubicBezTo>
                  <a:lnTo>
                    <a:pt x="57150" y="857250"/>
                  </a:lnTo>
                  <a:cubicBezTo>
                    <a:pt x="25587" y="857250"/>
                    <a:pt x="0" y="831663"/>
                    <a:pt x="0" y="800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02742" y="2466499"/>
              <a:ext cx="23601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标题：</a:t>
              </a:r>
              <a:r>
                <a:rPr lang="zh-CN" sz="975" b="1" dirty="0">
                  <a:solidFill>
                    <a:srgbClr val="2B7BC4"/>
                  </a:solidFill>
                  <a:latin typeface="Segoe UI"/>
                  <a:ea typeface="Microsoft YaHei"/>
                  <a:cs typeface="Segoe UI"/>
                </a:rPr>
                <a:t>三号 Times New Roman</a:t>
              </a:r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，居中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02742" y="2704624"/>
              <a:ext cx="207530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正文：</a:t>
              </a:r>
              <a:r>
                <a:rPr lang="zh-CN" sz="975" b="1" dirty="0">
                  <a:solidFill>
                    <a:srgbClr val="2B7BC4"/>
                  </a:solidFill>
                  <a:latin typeface="Segoe UI"/>
                  <a:ea typeface="Microsoft YaHei"/>
                  <a:cs typeface="Segoe UI"/>
                </a:rPr>
                <a:t>小四号 Times New Roman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702742" y="2942749"/>
              <a:ext cx="225330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行距：固定值20磅，首行缩进2字符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6286500" y="3524250"/>
              <a:ext cx="5395532" cy="1809750"/>
              <a:chOff x="6286500" y="3524250"/>
              <a:chExt cx="5395532" cy="180975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286500" y="3524250"/>
                <a:ext cx="5334000" cy="180975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1809750">
                    <a:moveTo>
                      <a:pt x="114300" y="0"/>
                    </a:moveTo>
                    <a:lnTo>
                      <a:pt x="5219700" y="0"/>
                    </a:lnTo>
                    <a:cubicBezTo>
                      <a:pt x="5282826" y="0"/>
                      <a:pt x="5334000" y="51174"/>
                      <a:pt x="5334000" y="114300"/>
                    </a:cubicBezTo>
                    <a:lnTo>
                      <a:pt x="5334000" y="1695450"/>
                    </a:lnTo>
                    <a:cubicBezTo>
                      <a:pt x="5334000" y="1758576"/>
                      <a:pt x="5282826" y="1809750"/>
                      <a:pt x="5219700" y="1809750"/>
                    </a:cubicBezTo>
                    <a:lnTo>
                      <a:pt x="114300" y="1809750"/>
                    </a:lnTo>
                    <a:cubicBezTo>
                      <a:pt x="51174" y="1809750"/>
                      <a:pt x="0" y="1758576"/>
                      <a:pt x="0" y="169545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286500" y="3524250"/>
                <a:ext cx="5334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5334000" h="476250">
                    <a:moveTo>
                      <a:pt x="114300" y="0"/>
                    </a:moveTo>
                    <a:lnTo>
                      <a:pt x="5219700" y="0"/>
                    </a:lnTo>
                    <a:cubicBezTo>
                      <a:pt x="5282826" y="0"/>
                      <a:pt x="5334000" y="51174"/>
                      <a:pt x="5334000" y="114300"/>
                    </a:cubicBezTo>
                    <a:lnTo>
                      <a:pt x="5334000" y="361950"/>
                    </a:lnTo>
                    <a:cubicBezTo>
                      <a:pt x="5334000" y="425076"/>
                      <a:pt x="5282826" y="476250"/>
                      <a:pt x="5219700" y="476250"/>
                    </a:cubicBezTo>
                    <a:lnTo>
                      <a:pt x="114300" y="476250"/>
                    </a:lnTo>
                    <a:cubicBezTo>
                      <a:pt x="51174" y="476250"/>
                      <a:pt x="0" y="425076"/>
                      <a:pt x="0" y="36195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rgbClr val="38A169"/>
              </a:solidFill>
              <a:ln>
                <a:noFill/>
              </a:ln>
            </p:spPr>
          </p:sp>
          <p:sp>
            <p:nvSpPr>
              <p:cNvPr id="42" name="Rectangle 42"/>
              <p:cNvSpPr/>
              <p:nvPr/>
            </p:nvSpPr>
            <p:spPr>
              <a:xfrm>
                <a:off x="6286500" y="3905250"/>
                <a:ext cx="5334000" cy="95250"/>
              </a:xfrm>
              <a:prstGeom prst="rect">
                <a:avLst/>
              </a:prstGeom>
              <a:solidFill>
                <a:srgbClr val="38A169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991332" y="3676650"/>
                <a:ext cx="1924336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关键词 Key Words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558915" y="4220528"/>
                <a:ext cx="33774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egoe UI"/>
                    <a:ea typeface="Microsoft YaHei"/>
                    <a:cs typeface="Segoe UI"/>
                  </a:rPr>
                  <a:t>• 从论文中选取，表示全文主题内容的单词或术语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558915" y="4458652"/>
                <a:ext cx="209692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egoe UI"/>
                    <a:ea typeface="Microsoft YaHei"/>
                    <a:cs typeface="Segoe UI"/>
                  </a:rPr>
                  <a:t>• 一般选取</a:t>
                </a:r>
                <a:r>
                  <a:rPr lang="zh-CN" sz="1050" b="1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3-5个</a:t>
                </a:r>
                <a:r>
                  <a:rPr lang="zh-CN" sz="1050" dirty="0">
                    <a:solidFill>
                      <a:srgbClr val="4A5568"/>
                    </a:solidFill>
                    <a:latin typeface="Segoe UI"/>
                    <a:ea typeface="Microsoft YaHei"/>
                    <a:cs typeface="Segoe UI"/>
                  </a:rPr>
                  <a:t>词作为关键词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558915" y="4696778"/>
                <a:ext cx="23039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A5568"/>
                    </a:solidFill>
                    <a:latin typeface="Segoe UI"/>
                    <a:ea typeface="Microsoft YaHei"/>
                    <a:cs typeface="Segoe UI"/>
                  </a:rPr>
                  <a:t>• 词间用</a:t>
                </a:r>
                <a:r>
                  <a:rPr lang="zh-CN" sz="1050" b="1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分号</a:t>
                </a:r>
                <a:r>
                  <a:rPr lang="zh-CN" sz="1050" dirty="0">
                    <a:solidFill>
                      <a:srgbClr val="4A5568"/>
                    </a:solidFill>
                    <a:latin typeface="Segoe UI"/>
                    <a:ea typeface="Microsoft YaHei"/>
                    <a:cs typeface="Segoe UI"/>
                  </a:rPr>
                  <a:t>间隔，末尾不加标点</a:t>
                </a:r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6572250" y="4953000"/>
                <a:ext cx="4762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285750">
                    <a:moveTo>
                      <a:pt x="38100" y="0"/>
                    </a:moveTo>
                    <a:lnTo>
                      <a:pt x="4724400" y="0"/>
                    </a:lnTo>
                    <a:cubicBezTo>
                      <a:pt x="4745442" y="0"/>
                      <a:pt x="4762500" y="17058"/>
                      <a:pt x="4762500" y="38100"/>
                    </a:cubicBezTo>
                    <a:lnTo>
                      <a:pt x="4762500" y="247650"/>
                    </a:lnTo>
                    <a:cubicBezTo>
                      <a:pt x="4762500" y="268692"/>
                      <a:pt x="4745442" y="285750"/>
                      <a:pt x="4724400" y="285750"/>
                    </a:cubicBezTo>
                    <a:lnTo>
                      <a:pt x="38100" y="285750"/>
                    </a:lnTo>
                    <a:cubicBezTo>
                      <a:pt x="17058" y="285750"/>
                      <a:pt x="0" y="268692"/>
                      <a:pt x="0" y="24765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703695" y="5046345"/>
                <a:ext cx="49783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引导词格式："关键词："小四号黑体 | "Key words："小四号 Times New Roman 加粗</a:t>
                </a:r>
              </a:p>
            </p:txBody>
          </p:sp>
        </p:grpSp>
      </p:grpSp>
      <p:sp>
        <p:nvSpPr>
          <p:cNvPr id="51" name="Freeform 51"/>
          <p:cNvSpPr/>
          <p:nvPr/>
        </p:nvSpPr>
        <p:spPr>
          <a:xfrm>
            <a:off x="571500" y="5524500"/>
            <a:ext cx="11049000" cy="476250"/>
          </a:xfrm>
          <a:custGeom>
            <a:avLst/>
            <a:gdLst/>
            <a:ahLst/>
            <a:cxnLst/>
            <a:rect l="l" t="t" r="r" b="b"/>
            <a:pathLst>
              <a:path w="11049000" h="476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400050"/>
                </a:lnTo>
                <a:cubicBezTo>
                  <a:pt x="11049000" y="442134"/>
                  <a:pt x="11014884" y="476250"/>
                  <a:pt x="10972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AF0"/>
          </a:solidFill>
          <a:ln w="9525">
            <a:solidFill>
              <a:srgbClr val="E07C24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2561451" y="5707856"/>
            <a:ext cx="70690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C05621"/>
                </a:solidFill>
                <a:latin typeface="Segoe UI"/>
                <a:ea typeface="Microsoft YaHei"/>
                <a:cs typeface="Segoe UI"/>
              </a:rPr>
              <a:t>💡 提示：关键词与摘要内容之间空一行，尽量使用《汉语主题词表》或专业主题词表提供的规范词</a:t>
            </a:r>
          </a:p>
        </p:txBody>
      </p:sp>
      <p:sp>
        <p:nvSpPr>
          <p:cNvPr id="53" name="Rectangle 53"/>
          <p:cNvSpPr/>
          <p:nvPr/>
        </p:nvSpPr>
        <p:spPr>
          <a:xfrm>
            <a:off x="571500" y="6191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941070" y="63798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重庆大学硕士学位论文撰写格式标准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933408" y="647509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5 / 11</a:t>
            </a:r>
          </a:p>
        </p:txBody>
      </p:sp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F9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593336" y="264795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主体部分撰写规范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976753" y="659606"/>
            <a:ext cx="223849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引言 + 正文 + 结论 = 论文核心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571500" y="952500"/>
            <a:ext cx="3429000" cy="4762500"/>
            <a:chOff x="571500" y="952500"/>
            <a:chExt cx="3429000" cy="4762500"/>
          </a:xfrm>
        </p:grpSpPr>
        <p:sp>
          <p:nvSpPr>
            <p:cNvPr id="6" name="Freeform 6"/>
            <p:cNvSpPr/>
            <p:nvPr/>
          </p:nvSpPr>
          <p:spPr>
            <a:xfrm>
              <a:off x="571500" y="952500"/>
              <a:ext cx="3429000" cy="4762500"/>
            </a:xfrm>
            <a:custGeom>
              <a:avLst/>
              <a:gdLst/>
              <a:ahLst/>
              <a:cxnLst/>
              <a:rect l="l" t="t" r="r" b="b"/>
              <a:pathLst>
                <a:path w="3429000" h="4762500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648200"/>
                  </a:lnTo>
                  <a:cubicBezTo>
                    <a:pt x="3429000" y="4711326"/>
                    <a:pt x="3377826" y="4762500"/>
                    <a:pt x="3314700" y="4762500"/>
                  </a:cubicBezTo>
                  <a:lnTo>
                    <a:pt x="114300" y="4762500"/>
                  </a:lnTo>
                  <a:cubicBezTo>
                    <a:pt x="51174" y="4762500"/>
                    <a:pt x="0" y="4711326"/>
                    <a:pt x="0" y="464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952500"/>
              <a:ext cx="3429000" cy="523875"/>
            </a:xfrm>
            <a:custGeom>
              <a:avLst/>
              <a:gdLst/>
              <a:ahLst/>
              <a:cxnLst/>
              <a:rect l="l" t="t" r="r" b="b"/>
              <a:pathLst>
                <a:path w="3429000" h="523875">
                  <a:moveTo>
                    <a:pt x="114300" y="0"/>
                  </a:moveTo>
                  <a:lnTo>
                    <a:pt x="3314700" y="0"/>
                  </a:lnTo>
                  <a:cubicBezTo>
                    <a:pt x="3377826" y="0"/>
                    <a:pt x="3429000" y="51174"/>
                    <a:pt x="3429000" y="114300"/>
                  </a:cubicBezTo>
                  <a:lnTo>
                    <a:pt x="3429000" y="409575"/>
                  </a:lnTo>
                  <a:cubicBezTo>
                    <a:pt x="3429000" y="472701"/>
                    <a:pt x="3377826" y="523875"/>
                    <a:pt x="3314700" y="523875"/>
                  </a:cubicBezTo>
                  <a:lnTo>
                    <a:pt x="114300" y="523875"/>
                  </a:lnTo>
                  <a:cubicBezTo>
                    <a:pt x="51174" y="523875"/>
                    <a:pt x="0" y="472701"/>
                    <a:pt x="0" y="4095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A5F9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81125"/>
              <a:ext cx="3429000" cy="9525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05950" y="1136332"/>
              <a:ext cx="156010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引言（绪论）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6290" y="1696402"/>
              <a:ext cx="18461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作为第1章，论文主体开端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09625" y="1952625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97242" y="2085499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应简要说明：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7242" y="2323624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研究工作的目的、范围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7242" y="2561749"/>
              <a:ext cx="199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相关领域前人工作和知识空白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7242" y="2799874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理论基础、研究设想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7242" y="303799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研究方法和研究设计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7242" y="3276124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预期结果和意义</a:t>
              </a:r>
            </a:p>
          </p:txBody>
        </p:sp>
        <p:sp>
          <p:nvSpPr>
            <p:cNvPr id="18" name="Freeform 18"/>
            <p:cNvSpPr/>
            <p:nvPr/>
          </p:nvSpPr>
          <p:spPr>
            <a:xfrm>
              <a:off x="809625" y="3571875"/>
              <a:ext cx="2952750" cy="571500"/>
            </a:xfrm>
            <a:custGeom>
              <a:avLst/>
              <a:gdLst/>
              <a:ahLst/>
              <a:cxnLst/>
              <a:rect l="l" t="t" r="r" b="b"/>
              <a:pathLst>
                <a:path w="2952750" h="571500">
                  <a:moveTo>
                    <a:pt x="57150" y="0"/>
                  </a:moveTo>
                  <a:lnTo>
                    <a:pt x="2895600" y="0"/>
                  </a:lnTo>
                  <a:cubicBezTo>
                    <a:pt x="2927163" y="0"/>
                    <a:pt x="2952750" y="25587"/>
                    <a:pt x="2952750" y="57150"/>
                  </a:cubicBezTo>
                  <a:lnTo>
                    <a:pt x="2952750" y="514350"/>
                  </a:lnTo>
                  <a:cubicBezTo>
                    <a:pt x="2952750" y="545913"/>
                    <a:pt x="2927163" y="571500"/>
                    <a:pt x="2895600" y="571500"/>
                  </a:cubicBezTo>
                  <a:lnTo>
                    <a:pt x="57150" y="571500"/>
                  </a:lnTo>
                  <a:cubicBezTo>
                    <a:pt x="25587" y="571500"/>
                    <a:pt x="0" y="545913"/>
                    <a:pt x="0" y="5143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BF8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298591" y="3712845"/>
              <a:ext cx="197481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💡 文献综述和理论分析可单独成章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14512" y="3903345"/>
              <a:ext cx="942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用足够文字叙述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809625" y="42862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97242" y="44191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格式要求：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8195" y="46653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标题：三号黑体，居中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8195" y="4903470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正文：小四号宋体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98195" y="5141595"/>
              <a:ext cx="11992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行距：固定值20磅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809625" y="5381625"/>
              <a:ext cx="2952750" cy="238125"/>
            </a:xfrm>
            <a:custGeom>
              <a:avLst/>
              <a:gdLst/>
              <a:ahLst/>
              <a:cxnLst/>
              <a:rect l="l" t="t" r="r" b="b"/>
              <a:pathLst>
                <a:path w="2952750" h="238125">
                  <a:moveTo>
                    <a:pt x="38100" y="0"/>
                  </a:moveTo>
                  <a:lnTo>
                    <a:pt x="2914650" y="0"/>
                  </a:lnTo>
                  <a:cubicBezTo>
                    <a:pt x="2935692" y="0"/>
                    <a:pt x="2952750" y="17058"/>
                    <a:pt x="2952750" y="38100"/>
                  </a:cubicBezTo>
                  <a:lnTo>
                    <a:pt x="2952750" y="200025"/>
                  </a:lnTo>
                  <a:cubicBezTo>
                    <a:pt x="2952750" y="221067"/>
                    <a:pt x="2935692" y="238125"/>
                    <a:pt x="2914650" y="238125"/>
                  </a:cubicBezTo>
                  <a:lnTo>
                    <a:pt x="38100" y="238125"/>
                  </a:lnTo>
                  <a:cubicBezTo>
                    <a:pt x="17058" y="238125"/>
                    <a:pt x="0" y="221067"/>
                    <a:pt x="0" y="200025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5F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68231" y="5454491"/>
              <a:ext cx="163553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E53E3E"/>
                  </a:solidFill>
                  <a:latin typeface="Segoe UI"/>
                  <a:ea typeface="Microsoft YaHei"/>
                  <a:cs typeface="Segoe UI"/>
                </a:rPr>
                <a:t>⚠️ 言简意赅，不要与摘要雷同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191000" y="952500"/>
            <a:ext cx="3810000" cy="4762500"/>
            <a:chOff x="4191000" y="952500"/>
            <a:chExt cx="3810000" cy="4762500"/>
          </a:xfrm>
        </p:grpSpPr>
        <p:sp>
          <p:nvSpPr>
            <p:cNvPr id="29" name="Freeform 29"/>
            <p:cNvSpPr/>
            <p:nvPr/>
          </p:nvSpPr>
          <p:spPr>
            <a:xfrm>
              <a:off x="4191000" y="952500"/>
              <a:ext cx="3810000" cy="4762500"/>
            </a:xfrm>
            <a:custGeom>
              <a:avLst/>
              <a:gdLst/>
              <a:ahLst/>
              <a:cxnLst/>
              <a:rect l="l" t="t" r="r" b="b"/>
              <a:pathLst>
                <a:path w="3810000" h="4762500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4648200"/>
                  </a:lnTo>
                  <a:cubicBezTo>
                    <a:pt x="3810000" y="4711326"/>
                    <a:pt x="3758826" y="4762500"/>
                    <a:pt x="3695700" y="4762500"/>
                  </a:cubicBezTo>
                  <a:lnTo>
                    <a:pt x="114300" y="4762500"/>
                  </a:lnTo>
                  <a:cubicBezTo>
                    <a:pt x="51174" y="4762500"/>
                    <a:pt x="0" y="4711326"/>
                    <a:pt x="0" y="464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0" name="Freeform 30"/>
            <p:cNvSpPr/>
            <p:nvPr/>
          </p:nvSpPr>
          <p:spPr>
            <a:xfrm>
              <a:off x="4191000" y="952500"/>
              <a:ext cx="3810000" cy="523875"/>
            </a:xfrm>
            <a:custGeom>
              <a:avLst/>
              <a:gdLst/>
              <a:ahLst/>
              <a:cxnLst/>
              <a:rect l="l" t="t" r="r" b="b"/>
              <a:pathLst>
                <a:path w="3810000" h="523875">
                  <a:moveTo>
                    <a:pt x="114300" y="0"/>
                  </a:moveTo>
                  <a:lnTo>
                    <a:pt x="3695700" y="0"/>
                  </a:lnTo>
                  <a:cubicBezTo>
                    <a:pt x="3758826" y="0"/>
                    <a:pt x="3810000" y="51174"/>
                    <a:pt x="3810000" y="114300"/>
                  </a:cubicBezTo>
                  <a:lnTo>
                    <a:pt x="3810000" y="409575"/>
                  </a:lnTo>
                  <a:cubicBezTo>
                    <a:pt x="3810000" y="472701"/>
                    <a:pt x="3758826" y="523875"/>
                    <a:pt x="3695700" y="523875"/>
                  </a:cubicBezTo>
                  <a:lnTo>
                    <a:pt x="114300" y="523875"/>
                  </a:lnTo>
                  <a:cubicBezTo>
                    <a:pt x="51174" y="523875"/>
                    <a:pt x="0" y="472701"/>
                    <a:pt x="0" y="4095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7C24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191000" y="1381125"/>
              <a:ext cx="3810000" cy="95250"/>
            </a:xfrm>
            <a:prstGeom prst="rect">
              <a:avLst/>
            </a:prstGeom>
            <a:solidFill>
              <a:srgbClr val="E07C24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062918" y="1136332"/>
              <a:ext cx="206616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正文（核心部分）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415790" y="1696402"/>
              <a:ext cx="163687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论文核心，占主要篇幅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429125" y="1952625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416742" y="20854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可包括：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416742" y="2323624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研究对象、研究方法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416742" y="25617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仪器设备、材料原料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16742" y="2799874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研究结果、统计方法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416742" y="3037999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数据资料、图表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16742" y="3276124"/>
              <a:ext cx="12849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论点和导出的结论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4429125" y="3571875"/>
              <a:ext cx="3333750" cy="666750"/>
            </a:xfrm>
            <a:custGeom>
              <a:avLst/>
              <a:gdLst/>
              <a:ahLst/>
              <a:cxnLst/>
              <a:rect l="l" t="t" r="r" b="b"/>
              <a:pathLst>
                <a:path w="3333750" h="666750">
                  <a:moveTo>
                    <a:pt x="76200" y="0"/>
                  </a:moveTo>
                  <a:lnTo>
                    <a:pt x="3257550" y="0"/>
                  </a:lnTo>
                  <a:cubicBezTo>
                    <a:pt x="3299634" y="0"/>
                    <a:pt x="3333750" y="34116"/>
                    <a:pt x="3333750" y="76200"/>
                  </a:cubicBezTo>
                  <a:lnTo>
                    <a:pt x="3333750" y="590550"/>
                  </a:lnTo>
                  <a:cubicBezTo>
                    <a:pt x="3333750" y="632634"/>
                    <a:pt x="3299634" y="666750"/>
                    <a:pt x="3257550" y="666750"/>
                  </a:cubicBezTo>
                  <a:lnTo>
                    <a:pt x="76200" y="666750"/>
                  </a:lnTo>
                  <a:cubicBezTo>
                    <a:pt x="34116" y="666750"/>
                    <a:pt x="0" y="632634"/>
                    <a:pt x="0" y="5905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AF0"/>
            </a:solidFill>
            <a:ln w="9525">
              <a:solidFill>
                <a:srgbClr val="E07C24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887468" y="3704749"/>
              <a:ext cx="2417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C05621"/>
                  </a:solidFill>
                  <a:latin typeface="Segoe UI"/>
                  <a:ea typeface="Microsoft YaHei"/>
                  <a:cs typeface="Segoe UI"/>
                </a:rPr>
                <a:t>字数要求（不含摘要、参考文献等）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52702" y="3950970"/>
              <a:ext cx="772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硕士 ≥ 3万字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67202" y="3950970"/>
              <a:ext cx="772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博士 ≥ 5万字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4429125" y="4381500"/>
              <a:ext cx="3333750" cy="9525"/>
            </a:xfrm>
            <a:custGeom>
              <a:avLst/>
              <a:gdLst/>
              <a:ahLst/>
              <a:cxnLst/>
              <a:rect l="l" t="t" r="r" b="b"/>
              <a:pathLst>
                <a:path w="3333750" h="9525">
                  <a:moveTo>
                    <a:pt x="0" y="0"/>
                  </a:moveTo>
                  <a:lnTo>
                    <a:pt x="33337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416742" y="451437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重要要求：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4429125" y="4714875"/>
              <a:ext cx="3333750" cy="381000"/>
            </a:xfrm>
            <a:custGeom>
              <a:avLst/>
              <a:gdLst/>
              <a:ahLst/>
              <a:cxnLst/>
              <a:rect l="l" t="t" r="r" b="b"/>
              <a:pathLst>
                <a:path w="3333750" h="381000">
                  <a:moveTo>
                    <a:pt x="57150" y="0"/>
                  </a:moveTo>
                  <a:lnTo>
                    <a:pt x="3276600" y="0"/>
                  </a:lnTo>
                  <a:cubicBezTo>
                    <a:pt x="3308163" y="0"/>
                    <a:pt x="3333750" y="25587"/>
                    <a:pt x="3333750" y="57150"/>
                  </a:cubicBezTo>
                  <a:lnTo>
                    <a:pt x="3333750" y="323850"/>
                  </a:lnTo>
                  <a:cubicBezTo>
                    <a:pt x="3333750" y="355413"/>
                    <a:pt x="3308163" y="381000"/>
                    <a:pt x="3276600" y="381000"/>
                  </a:cubicBezTo>
                  <a:lnTo>
                    <a:pt x="57150" y="381000"/>
                  </a:lnTo>
                  <a:cubicBezTo>
                    <a:pt x="25587" y="381000"/>
                    <a:pt x="0" y="355413"/>
                    <a:pt x="0" y="32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0FFF4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303984" y="4847749"/>
              <a:ext cx="15840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38A169"/>
                  </a:solidFill>
                  <a:latin typeface="Segoe UI"/>
                  <a:ea typeface="Microsoft YaHei"/>
                  <a:cs typeface="Segoe UI"/>
                </a:rPr>
                <a:t>✓ 各章后应有"本章小结"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417695" y="5189220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实事求是，客观真切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084570" y="5189220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数据真实可靠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17695" y="5427345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推理正确，结论明确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8382000" y="952500"/>
            <a:ext cx="3238500" cy="4762500"/>
            <a:chOff x="8382000" y="952500"/>
            <a:chExt cx="3238500" cy="4762500"/>
          </a:xfrm>
        </p:grpSpPr>
        <p:sp>
          <p:nvSpPr>
            <p:cNvPr id="53" name="Freeform 53"/>
            <p:cNvSpPr/>
            <p:nvPr/>
          </p:nvSpPr>
          <p:spPr>
            <a:xfrm>
              <a:off x="8382000" y="952500"/>
              <a:ext cx="3238500" cy="4762500"/>
            </a:xfrm>
            <a:custGeom>
              <a:avLst/>
              <a:gdLst/>
              <a:ahLst/>
              <a:cxnLst/>
              <a:rect l="l" t="t" r="r" b="b"/>
              <a:pathLst>
                <a:path w="3238500" h="4762500">
                  <a:moveTo>
                    <a:pt x="114300" y="0"/>
                  </a:moveTo>
                  <a:lnTo>
                    <a:pt x="3124200" y="0"/>
                  </a:lnTo>
                  <a:cubicBezTo>
                    <a:pt x="3187326" y="0"/>
                    <a:pt x="3238500" y="51174"/>
                    <a:pt x="3238500" y="114300"/>
                  </a:cubicBezTo>
                  <a:lnTo>
                    <a:pt x="3238500" y="4648200"/>
                  </a:lnTo>
                  <a:cubicBezTo>
                    <a:pt x="3238500" y="4711326"/>
                    <a:pt x="3187326" y="4762500"/>
                    <a:pt x="3124200" y="4762500"/>
                  </a:cubicBezTo>
                  <a:lnTo>
                    <a:pt x="114300" y="4762500"/>
                  </a:lnTo>
                  <a:cubicBezTo>
                    <a:pt x="51174" y="4762500"/>
                    <a:pt x="0" y="4711326"/>
                    <a:pt x="0" y="4648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8382000" y="952500"/>
              <a:ext cx="3238500" cy="523875"/>
            </a:xfrm>
            <a:custGeom>
              <a:avLst/>
              <a:gdLst/>
              <a:ahLst/>
              <a:cxnLst/>
              <a:rect l="l" t="t" r="r" b="b"/>
              <a:pathLst>
                <a:path w="3238500" h="523875">
                  <a:moveTo>
                    <a:pt x="114300" y="0"/>
                  </a:moveTo>
                  <a:lnTo>
                    <a:pt x="3124200" y="0"/>
                  </a:lnTo>
                  <a:cubicBezTo>
                    <a:pt x="3187326" y="0"/>
                    <a:pt x="3238500" y="51174"/>
                    <a:pt x="3238500" y="114300"/>
                  </a:cubicBezTo>
                  <a:lnTo>
                    <a:pt x="3238500" y="409575"/>
                  </a:lnTo>
                  <a:cubicBezTo>
                    <a:pt x="3238500" y="472701"/>
                    <a:pt x="3187326" y="523875"/>
                    <a:pt x="3124200" y="523875"/>
                  </a:cubicBezTo>
                  <a:lnTo>
                    <a:pt x="114300" y="523875"/>
                  </a:lnTo>
                  <a:cubicBezTo>
                    <a:pt x="51174" y="523875"/>
                    <a:pt x="0" y="472701"/>
                    <a:pt x="0" y="40957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38A169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382000" y="1381125"/>
              <a:ext cx="3238500" cy="9525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9727263" y="113633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结论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606790" y="169640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最终的、总体的结论</a:t>
              </a:r>
            </a:p>
          </p:txBody>
        </p:sp>
        <p:sp>
          <p:nvSpPr>
            <p:cNvPr id="58" name="Line 58"/>
            <p:cNvSpPr/>
            <p:nvPr/>
          </p:nvSpPr>
          <p:spPr>
            <a:xfrm>
              <a:off x="8620125" y="1952625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8620125" y="2047875"/>
              <a:ext cx="2762250" cy="476250"/>
            </a:xfrm>
            <a:custGeom>
              <a:avLst/>
              <a:gdLst/>
              <a:ahLst/>
              <a:cxnLst/>
              <a:rect l="l" t="t" r="r" b="b"/>
              <a:pathLst>
                <a:path w="2762250" h="476250">
                  <a:moveTo>
                    <a:pt x="57150" y="0"/>
                  </a:moveTo>
                  <a:lnTo>
                    <a:pt x="2705100" y="0"/>
                  </a:lnTo>
                  <a:cubicBezTo>
                    <a:pt x="2736663" y="0"/>
                    <a:pt x="2762250" y="25587"/>
                    <a:pt x="2762250" y="57150"/>
                  </a:cubicBezTo>
                  <a:lnTo>
                    <a:pt x="2762250" y="419100"/>
                  </a:lnTo>
                  <a:cubicBezTo>
                    <a:pt x="2762250" y="450663"/>
                    <a:pt x="2736663" y="476250"/>
                    <a:pt x="2705100" y="476250"/>
                  </a:cubicBezTo>
                  <a:lnTo>
                    <a:pt x="57150" y="476250"/>
                  </a:lnTo>
                  <a:cubicBezTo>
                    <a:pt x="25587" y="476250"/>
                    <a:pt x="0" y="450663"/>
                    <a:pt x="0" y="41910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5F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9105995" y="2180749"/>
              <a:ext cx="17905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E53E3E"/>
                  </a:solidFill>
                  <a:latin typeface="Segoe UI"/>
                  <a:ea typeface="Microsoft YaHei"/>
                  <a:cs typeface="Segoe UI"/>
                </a:rPr>
                <a:t>⚠️ 不是各章小结的简单重复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201150" y="236029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单独成章，不标注引用文献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607742" y="2704624"/>
              <a:ext cx="87915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结论应包括：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8607742" y="2990374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论文的核心观点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607742" y="3276124"/>
              <a:ext cx="11425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研究工作的局限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607742" y="3561874"/>
              <a:ext cx="15697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未来工作的意见或建议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07742" y="3847624"/>
              <a:ext cx="71539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研究展望</a:t>
              </a:r>
            </a:p>
          </p:txBody>
        </p:sp>
        <p:sp>
          <p:nvSpPr>
            <p:cNvPr id="67" name="Line 67"/>
            <p:cNvSpPr/>
            <p:nvPr/>
          </p:nvSpPr>
          <p:spPr>
            <a:xfrm>
              <a:off x="8620125" y="419100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8607742" y="432387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结论的特点：</a:t>
              </a:r>
            </a:p>
          </p:txBody>
        </p:sp>
        <p:sp>
          <p:nvSpPr>
            <p:cNvPr id="69" name="Freeform 69"/>
            <p:cNvSpPr/>
            <p:nvPr/>
          </p:nvSpPr>
          <p:spPr>
            <a:xfrm>
              <a:off x="8620125" y="4572000"/>
              <a:ext cx="1285875" cy="333375"/>
            </a:xfrm>
            <a:custGeom>
              <a:avLst/>
              <a:gdLst/>
              <a:ahLst/>
              <a:cxnLst/>
              <a:rect l="l" t="t" r="r" b="b"/>
              <a:pathLst>
                <a:path w="1285875" h="333375">
                  <a:moveTo>
                    <a:pt x="57150" y="0"/>
                  </a:moveTo>
                  <a:lnTo>
                    <a:pt x="1228725" y="0"/>
                  </a:lnTo>
                  <a:cubicBezTo>
                    <a:pt x="1260288" y="0"/>
                    <a:pt x="1285875" y="25587"/>
                    <a:pt x="1285875" y="57150"/>
                  </a:cubicBezTo>
                  <a:lnTo>
                    <a:pt x="1285875" y="276225"/>
                  </a:lnTo>
                  <a:cubicBezTo>
                    <a:pt x="1285875" y="307788"/>
                    <a:pt x="1260288" y="333375"/>
                    <a:pt x="1228725" y="333375"/>
                  </a:cubicBezTo>
                  <a:lnTo>
                    <a:pt x="57150" y="333375"/>
                  </a:lnTo>
                  <a:cubicBezTo>
                    <a:pt x="25587" y="333375"/>
                    <a:pt x="0" y="307788"/>
                    <a:pt x="0" y="276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BF8FF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103519" y="468582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准确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10001250" y="4572000"/>
              <a:ext cx="1285875" cy="333375"/>
            </a:xfrm>
            <a:custGeom>
              <a:avLst/>
              <a:gdLst/>
              <a:ahLst/>
              <a:cxnLst/>
              <a:rect l="l" t="t" r="r" b="b"/>
              <a:pathLst>
                <a:path w="1285875" h="333375">
                  <a:moveTo>
                    <a:pt x="57150" y="0"/>
                  </a:moveTo>
                  <a:lnTo>
                    <a:pt x="1228725" y="0"/>
                  </a:lnTo>
                  <a:cubicBezTo>
                    <a:pt x="1260288" y="0"/>
                    <a:pt x="1285875" y="25587"/>
                    <a:pt x="1285875" y="57150"/>
                  </a:cubicBezTo>
                  <a:lnTo>
                    <a:pt x="1285875" y="276225"/>
                  </a:lnTo>
                  <a:cubicBezTo>
                    <a:pt x="1285875" y="307788"/>
                    <a:pt x="1260288" y="333375"/>
                    <a:pt x="1228725" y="333375"/>
                  </a:cubicBezTo>
                  <a:lnTo>
                    <a:pt x="57150" y="333375"/>
                  </a:lnTo>
                  <a:cubicBezTo>
                    <a:pt x="25587" y="333375"/>
                    <a:pt x="0" y="307788"/>
                    <a:pt x="0" y="276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BF8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484644" y="468582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完整</a:t>
              </a:r>
            </a:p>
          </p:txBody>
        </p:sp>
        <p:sp>
          <p:nvSpPr>
            <p:cNvPr id="73" name="Freeform 73"/>
            <p:cNvSpPr/>
            <p:nvPr/>
          </p:nvSpPr>
          <p:spPr>
            <a:xfrm>
              <a:off x="8620125" y="5048250"/>
              <a:ext cx="1285875" cy="333375"/>
            </a:xfrm>
            <a:custGeom>
              <a:avLst/>
              <a:gdLst/>
              <a:ahLst/>
              <a:cxnLst/>
              <a:rect l="l" t="t" r="r" b="b"/>
              <a:pathLst>
                <a:path w="1285875" h="333375">
                  <a:moveTo>
                    <a:pt x="57150" y="0"/>
                  </a:moveTo>
                  <a:lnTo>
                    <a:pt x="1228725" y="0"/>
                  </a:lnTo>
                  <a:cubicBezTo>
                    <a:pt x="1260288" y="0"/>
                    <a:pt x="1285875" y="25587"/>
                    <a:pt x="1285875" y="57150"/>
                  </a:cubicBezTo>
                  <a:lnTo>
                    <a:pt x="1285875" y="276225"/>
                  </a:lnTo>
                  <a:cubicBezTo>
                    <a:pt x="1285875" y="307788"/>
                    <a:pt x="1260288" y="333375"/>
                    <a:pt x="1228725" y="333375"/>
                  </a:cubicBezTo>
                  <a:lnTo>
                    <a:pt x="57150" y="333375"/>
                  </a:lnTo>
                  <a:cubicBezTo>
                    <a:pt x="25587" y="333375"/>
                    <a:pt x="0" y="307788"/>
                    <a:pt x="0" y="276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BF8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103519" y="51620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明确</a:t>
              </a:r>
            </a:p>
          </p:txBody>
        </p:sp>
        <p:sp>
          <p:nvSpPr>
            <p:cNvPr id="75" name="Freeform 75"/>
            <p:cNvSpPr/>
            <p:nvPr/>
          </p:nvSpPr>
          <p:spPr>
            <a:xfrm>
              <a:off x="10001250" y="5048250"/>
              <a:ext cx="1285875" cy="333375"/>
            </a:xfrm>
            <a:custGeom>
              <a:avLst/>
              <a:gdLst/>
              <a:ahLst/>
              <a:cxnLst/>
              <a:rect l="l" t="t" r="r" b="b"/>
              <a:pathLst>
                <a:path w="1285875" h="333375">
                  <a:moveTo>
                    <a:pt x="57150" y="0"/>
                  </a:moveTo>
                  <a:lnTo>
                    <a:pt x="1228725" y="0"/>
                  </a:lnTo>
                  <a:cubicBezTo>
                    <a:pt x="1260288" y="0"/>
                    <a:pt x="1285875" y="25587"/>
                    <a:pt x="1285875" y="57150"/>
                  </a:cubicBezTo>
                  <a:lnTo>
                    <a:pt x="1285875" y="276225"/>
                  </a:lnTo>
                  <a:cubicBezTo>
                    <a:pt x="1285875" y="307788"/>
                    <a:pt x="1260288" y="333375"/>
                    <a:pt x="1228725" y="333375"/>
                  </a:cubicBezTo>
                  <a:lnTo>
                    <a:pt x="57150" y="333375"/>
                  </a:lnTo>
                  <a:cubicBezTo>
                    <a:pt x="25587" y="333375"/>
                    <a:pt x="0" y="307788"/>
                    <a:pt x="0" y="276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BF8FF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0484644" y="5162074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精练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610600" y="5491162"/>
              <a:ext cx="1771650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如不能导出结论，可进行必要的讨论</a:t>
              </a:r>
            </a:p>
          </p:txBody>
        </p:sp>
      </p:grpSp>
      <p:sp>
        <p:nvSpPr>
          <p:cNvPr id="79" name="Rectangle 79"/>
          <p:cNvSpPr/>
          <p:nvPr/>
        </p:nvSpPr>
        <p:spPr>
          <a:xfrm>
            <a:off x="571500" y="581025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0" name="TextBox 80"/>
          <p:cNvSpPr txBox="1"/>
          <p:nvPr/>
        </p:nvSpPr>
        <p:spPr>
          <a:xfrm>
            <a:off x="941070" y="63798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重庆大学硕士学位论文撰写格式标准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933408" y="647509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6 / 11</a:t>
            </a:r>
          </a:p>
        </p:txBody>
      </p:sp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F9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593336" y="217170"/>
            <a:ext cx="30053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图、表、公式规范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0" y="6010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学术论文的可视化表达标准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23875" y="904875"/>
            <a:ext cx="3524250" cy="5048250"/>
            <a:chOff x="523875" y="904875"/>
            <a:chExt cx="3524250" cy="5048250"/>
          </a:xfrm>
        </p:grpSpPr>
        <p:sp>
          <p:nvSpPr>
            <p:cNvPr id="6" name="Freeform 6"/>
            <p:cNvSpPr/>
            <p:nvPr/>
          </p:nvSpPr>
          <p:spPr>
            <a:xfrm>
              <a:off x="523875" y="904875"/>
              <a:ext cx="3524250" cy="5048250"/>
            </a:xfrm>
            <a:custGeom>
              <a:avLst/>
              <a:gdLst/>
              <a:ahLst/>
              <a:cxnLst/>
              <a:rect l="l" t="t" r="r" b="b"/>
              <a:pathLst>
                <a:path w="3524250" h="504825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4933950"/>
                  </a:lnTo>
                  <a:cubicBezTo>
                    <a:pt x="3524250" y="4997076"/>
                    <a:pt x="3473076" y="5048250"/>
                    <a:pt x="3409950" y="5048250"/>
                  </a:cubicBezTo>
                  <a:lnTo>
                    <a:pt x="114300" y="5048250"/>
                  </a:lnTo>
                  <a:cubicBezTo>
                    <a:pt x="51174" y="5048250"/>
                    <a:pt x="0" y="4997076"/>
                    <a:pt x="0" y="4933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23875" y="904875"/>
              <a:ext cx="3524250" cy="476250"/>
            </a:xfrm>
            <a:custGeom>
              <a:avLst/>
              <a:gdLst/>
              <a:ahLst/>
              <a:cxnLst/>
              <a:rect l="l" t="t" r="r" b="b"/>
              <a:pathLst>
                <a:path w="3524250" h="47625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361950"/>
                  </a:lnTo>
                  <a:cubicBezTo>
                    <a:pt x="3524250" y="425076"/>
                    <a:pt x="3473076" y="476250"/>
                    <a:pt x="3409950" y="476250"/>
                  </a:cubicBezTo>
                  <a:lnTo>
                    <a:pt x="114300" y="476250"/>
                  </a:lnTo>
                  <a:cubicBezTo>
                    <a:pt x="51174" y="476250"/>
                    <a:pt x="0" y="425076"/>
                    <a:pt x="0" y="361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A5F9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23875" y="1285875"/>
              <a:ext cx="3524250" cy="9525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714701" y="1060132"/>
              <a:ext cx="114259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图 Figure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01992" y="15616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图的类型：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2945" y="1779270"/>
              <a:ext cx="25203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曲线图、构造图、示意图、框图、流程图、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2945" y="1950720"/>
              <a:ext cx="22574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记录图、布置图、地图、照片、图版等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14375" y="21907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01992" y="23236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基本要求：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02945" y="2569845"/>
              <a:ext cx="238229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具有"自明性"（只看图即可理解图意）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2945" y="2788920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应有编排序号和图题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714375" y="3048000"/>
              <a:ext cx="3143250" cy="523875"/>
            </a:xfrm>
            <a:custGeom>
              <a:avLst/>
              <a:gdLst/>
              <a:ahLst/>
              <a:cxnLst/>
              <a:rect l="l" t="t" r="r" b="b"/>
              <a:pathLst>
                <a:path w="3143250" h="523875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466725"/>
                  </a:lnTo>
                  <a:cubicBezTo>
                    <a:pt x="3143250" y="498288"/>
                    <a:pt x="3117663" y="523875"/>
                    <a:pt x="3086100" y="523875"/>
                  </a:cubicBezTo>
                  <a:lnTo>
                    <a:pt x="57150" y="523875"/>
                  </a:lnTo>
                  <a:cubicBezTo>
                    <a:pt x="25587" y="523875"/>
                    <a:pt x="0" y="498288"/>
                    <a:pt x="0" y="4667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BF8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820" y="3169920"/>
              <a:ext cx="17842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编号格式：图2.1（分章编号）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5820" y="3360420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图题：中英文对照，五号字体，置于图下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14375" y="37147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01992" y="3847624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曲线图要求：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2945" y="4093845"/>
              <a:ext cx="13175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纵横坐标必须标注：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98195" y="4284345"/>
              <a:ext cx="15081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量 + 标准规定符号 + 单位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2945" y="4522470"/>
              <a:ext cx="1711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符号和缩略词须与正文一致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14375" y="4810125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01992" y="4942999"/>
              <a:ext cx="9218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照片图要求：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2945" y="5189220"/>
              <a:ext cx="1711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主题和轮廓清晰，便于制版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2945" y="5408295"/>
              <a:ext cx="171192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应有表示目的物尺寸的标度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714375" y="5667375"/>
              <a:ext cx="3143250" cy="209550"/>
            </a:xfrm>
            <a:custGeom>
              <a:avLst/>
              <a:gdLst/>
              <a:ahLst/>
              <a:cxnLst/>
              <a:rect l="l" t="t" r="r" b="b"/>
              <a:pathLst>
                <a:path w="3143250" h="209550">
                  <a:moveTo>
                    <a:pt x="38100" y="0"/>
                  </a:moveTo>
                  <a:lnTo>
                    <a:pt x="3105150" y="0"/>
                  </a:lnTo>
                  <a:cubicBezTo>
                    <a:pt x="3126192" y="0"/>
                    <a:pt x="3143250" y="17058"/>
                    <a:pt x="3143250" y="38100"/>
                  </a:cubicBezTo>
                  <a:lnTo>
                    <a:pt x="3143250" y="171450"/>
                  </a:lnTo>
                  <a:cubicBezTo>
                    <a:pt x="3143250" y="192492"/>
                    <a:pt x="3126192" y="209550"/>
                    <a:pt x="3105150" y="209550"/>
                  </a:cubicBezTo>
                  <a:lnTo>
                    <a:pt x="38100" y="209550"/>
                  </a:lnTo>
                  <a:cubicBezTo>
                    <a:pt x="17058" y="209550"/>
                    <a:pt x="0" y="192492"/>
                    <a:pt x="0" y="17145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AF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432084" y="5730716"/>
              <a:ext cx="170783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C05621"/>
                  </a:solidFill>
                  <a:latin typeface="Segoe UI"/>
                  <a:ea typeface="Microsoft YaHei"/>
                  <a:cs typeface="Segoe UI"/>
                </a:rPr>
                <a:t>引用图需在图题下注明资料来源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333875" y="904875"/>
            <a:ext cx="3524250" cy="5048250"/>
            <a:chOff x="4333875" y="904875"/>
            <a:chExt cx="3524250" cy="5048250"/>
          </a:xfrm>
        </p:grpSpPr>
        <p:sp>
          <p:nvSpPr>
            <p:cNvPr id="32" name="Freeform 32"/>
            <p:cNvSpPr/>
            <p:nvPr/>
          </p:nvSpPr>
          <p:spPr>
            <a:xfrm>
              <a:off x="4333875" y="904875"/>
              <a:ext cx="3524250" cy="5048250"/>
            </a:xfrm>
            <a:custGeom>
              <a:avLst/>
              <a:gdLst/>
              <a:ahLst/>
              <a:cxnLst/>
              <a:rect l="l" t="t" r="r" b="b"/>
              <a:pathLst>
                <a:path w="3524250" h="504825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4933950"/>
                  </a:lnTo>
                  <a:cubicBezTo>
                    <a:pt x="3524250" y="4997076"/>
                    <a:pt x="3473076" y="5048250"/>
                    <a:pt x="3409950" y="5048250"/>
                  </a:cubicBezTo>
                  <a:lnTo>
                    <a:pt x="114300" y="5048250"/>
                  </a:lnTo>
                  <a:cubicBezTo>
                    <a:pt x="51174" y="5048250"/>
                    <a:pt x="0" y="4997076"/>
                    <a:pt x="0" y="4933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4333875" y="904875"/>
              <a:ext cx="3524250" cy="476250"/>
            </a:xfrm>
            <a:custGeom>
              <a:avLst/>
              <a:gdLst/>
              <a:ahLst/>
              <a:cxnLst/>
              <a:rect l="l" t="t" r="r" b="b"/>
              <a:pathLst>
                <a:path w="3524250" h="47625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361950"/>
                  </a:lnTo>
                  <a:cubicBezTo>
                    <a:pt x="3524250" y="425076"/>
                    <a:pt x="3473076" y="476250"/>
                    <a:pt x="3409950" y="476250"/>
                  </a:cubicBezTo>
                  <a:lnTo>
                    <a:pt x="114300" y="476250"/>
                  </a:lnTo>
                  <a:cubicBezTo>
                    <a:pt x="51174" y="476250"/>
                    <a:pt x="0" y="425076"/>
                    <a:pt x="0" y="361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38A169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333875" y="1285875"/>
              <a:ext cx="3524250" cy="9525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594285" y="1060132"/>
              <a:ext cx="100343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表 Table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511992" y="15616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基本要求：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512945" y="1807845"/>
              <a:ext cx="93640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具有"自明性"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12945" y="2026920"/>
              <a:ext cx="15804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采用国际通用的三线表格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4524375" y="2286000"/>
              <a:ext cx="3143250" cy="523875"/>
            </a:xfrm>
            <a:custGeom>
              <a:avLst/>
              <a:gdLst/>
              <a:ahLst/>
              <a:cxnLst/>
              <a:rect l="l" t="t" r="r" b="b"/>
              <a:pathLst>
                <a:path w="3143250" h="523875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466725"/>
                  </a:lnTo>
                  <a:cubicBezTo>
                    <a:pt x="3143250" y="498288"/>
                    <a:pt x="3117663" y="523875"/>
                    <a:pt x="3086100" y="523875"/>
                  </a:cubicBezTo>
                  <a:lnTo>
                    <a:pt x="57150" y="523875"/>
                  </a:lnTo>
                  <a:cubicBezTo>
                    <a:pt x="25587" y="523875"/>
                    <a:pt x="0" y="498288"/>
                    <a:pt x="0" y="4667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0FFF4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4655820" y="2407920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8A169"/>
                  </a:solidFill>
                  <a:latin typeface="Segoe UI"/>
                  <a:ea typeface="Microsoft YaHei"/>
                  <a:cs typeface="Segoe UI"/>
                </a:rPr>
                <a:t>编号格式：表3.2（分章编号）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55820" y="2598420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8A169"/>
                  </a:solidFill>
                  <a:latin typeface="Segoe UI"/>
                  <a:ea typeface="Microsoft YaHei"/>
                  <a:cs typeface="Segoe UI"/>
                </a:rPr>
                <a:t>表题：中英文对照，五号字体，置于表上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4524375" y="29527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511992" y="308562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表格编排规则：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512945" y="333184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内容和测试项目由左至右横读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12945" y="3550920"/>
              <a:ext cx="92325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数据依序竖排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12945" y="3769995"/>
              <a:ext cx="234943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各栏标明：量/测试项目 + 符号 + 单位</a:t>
              </a:r>
            </a:p>
          </p:txBody>
        </p:sp>
        <p:sp>
          <p:nvSpPr>
            <p:cNvPr id="47" name="Line 47"/>
            <p:cNvSpPr/>
            <p:nvPr/>
          </p:nvSpPr>
          <p:spPr>
            <a:xfrm>
              <a:off x="4524375" y="4048125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511992" y="4180999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续表处理：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512945" y="4427220"/>
              <a:ext cx="187623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各页重复表的编号 + "（续）"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512945" y="4646295"/>
              <a:ext cx="118614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续表均应重复表头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4524375" y="4905375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511992" y="5038249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表内数据规范：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512945" y="5284470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同栏数字必须上下对齐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12945" y="5503545"/>
              <a:ext cx="21325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不用"同上"、"同左"，填具体内容</a:t>
              </a:r>
            </a:p>
          </p:txBody>
        </p:sp>
        <p:sp>
          <p:nvSpPr>
            <p:cNvPr id="55" name="Freeform 55"/>
            <p:cNvSpPr/>
            <p:nvPr/>
          </p:nvSpPr>
          <p:spPr>
            <a:xfrm>
              <a:off x="4524375" y="5715000"/>
              <a:ext cx="3143250" cy="190500"/>
            </a:xfrm>
            <a:custGeom>
              <a:avLst/>
              <a:gdLst/>
              <a:ahLst/>
              <a:cxnLst/>
              <a:rect l="l" t="t" r="r" b="b"/>
              <a:pathLst>
                <a:path w="3143250" h="190500">
                  <a:moveTo>
                    <a:pt x="38100" y="0"/>
                  </a:moveTo>
                  <a:lnTo>
                    <a:pt x="3105150" y="0"/>
                  </a:lnTo>
                  <a:cubicBezTo>
                    <a:pt x="3126192" y="0"/>
                    <a:pt x="3143250" y="17058"/>
                    <a:pt x="3143250" y="38100"/>
                  </a:cubicBezTo>
                  <a:lnTo>
                    <a:pt x="3143250" y="152400"/>
                  </a:lnTo>
                  <a:cubicBezTo>
                    <a:pt x="3143250" y="173442"/>
                    <a:pt x="3126192" y="190500"/>
                    <a:pt x="3105150" y="190500"/>
                  </a:cubicBezTo>
                  <a:lnTo>
                    <a:pt x="38100" y="190500"/>
                  </a:lnTo>
                  <a:cubicBezTo>
                    <a:pt x="17058" y="190500"/>
                    <a:pt x="0" y="173442"/>
                    <a:pt x="0" y="1524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4949892" y="5759291"/>
              <a:ext cx="22922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"空白"=未测 | "…"=未发现 | "0"=实测为零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143875" y="904875"/>
            <a:ext cx="3524250" cy="5048250"/>
            <a:chOff x="8143875" y="904875"/>
            <a:chExt cx="3524250" cy="5048250"/>
          </a:xfrm>
        </p:grpSpPr>
        <p:sp>
          <p:nvSpPr>
            <p:cNvPr id="58" name="Freeform 58"/>
            <p:cNvSpPr/>
            <p:nvPr/>
          </p:nvSpPr>
          <p:spPr>
            <a:xfrm>
              <a:off x="8143875" y="904875"/>
              <a:ext cx="3524250" cy="5048250"/>
            </a:xfrm>
            <a:custGeom>
              <a:avLst/>
              <a:gdLst/>
              <a:ahLst/>
              <a:cxnLst/>
              <a:rect l="l" t="t" r="r" b="b"/>
              <a:pathLst>
                <a:path w="3524250" h="504825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4933950"/>
                  </a:lnTo>
                  <a:cubicBezTo>
                    <a:pt x="3524250" y="4997076"/>
                    <a:pt x="3473076" y="5048250"/>
                    <a:pt x="3409950" y="5048250"/>
                  </a:cubicBezTo>
                  <a:lnTo>
                    <a:pt x="114300" y="5048250"/>
                  </a:lnTo>
                  <a:cubicBezTo>
                    <a:pt x="51174" y="5048250"/>
                    <a:pt x="0" y="4997076"/>
                    <a:pt x="0" y="4933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9" name="Freeform 59"/>
            <p:cNvSpPr/>
            <p:nvPr/>
          </p:nvSpPr>
          <p:spPr>
            <a:xfrm>
              <a:off x="8143875" y="904875"/>
              <a:ext cx="3524250" cy="476250"/>
            </a:xfrm>
            <a:custGeom>
              <a:avLst/>
              <a:gdLst/>
              <a:ahLst/>
              <a:cxnLst/>
              <a:rect l="l" t="t" r="r" b="b"/>
              <a:pathLst>
                <a:path w="3524250" h="476250">
                  <a:moveTo>
                    <a:pt x="114300" y="0"/>
                  </a:moveTo>
                  <a:lnTo>
                    <a:pt x="3409950" y="0"/>
                  </a:lnTo>
                  <a:cubicBezTo>
                    <a:pt x="3473076" y="0"/>
                    <a:pt x="3524250" y="51174"/>
                    <a:pt x="3524250" y="114300"/>
                  </a:cubicBezTo>
                  <a:lnTo>
                    <a:pt x="3524250" y="361950"/>
                  </a:lnTo>
                  <a:cubicBezTo>
                    <a:pt x="3524250" y="425076"/>
                    <a:pt x="3473076" y="476250"/>
                    <a:pt x="3409950" y="476250"/>
                  </a:cubicBezTo>
                  <a:lnTo>
                    <a:pt x="114300" y="476250"/>
                  </a:lnTo>
                  <a:cubicBezTo>
                    <a:pt x="51174" y="476250"/>
                    <a:pt x="0" y="425076"/>
                    <a:pt x="0" y="361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7C24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143875" y="1285875"/>
              <a:ext cx="3524250" cy="95250"/>
            </a:xfrm>
            <a:prstGeom prst="rect">
              <a:avLst/>
            </a:prstGeom>
            <a:solidFill>
              <a:srgbClr val="E07C24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9113299" y="1060132"/>
              <a:ext cx="158540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公式 Formula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321992" y="15616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编号规则：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8334375" y="1809750"/>
              <a:ext cx="3143250" cy="428625"/>
            </a:xfrm>
            <a:custGeom>
              <a:avLst/>
              <a:gdLst/>
              <a:ahLst/>
              <a:cxnLst/>
              <a:rect l="l" t="t" r="r" b="b"/>
              <a:pathLst>
                <a:path w="3143250" h="428625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371475"/>
                  </a:lnTo>
                  <a:cubicBezTo>
                    <a:pt x="3143250" y="403038"/>
                    <a:pt x="3117663" y="428625"/>
                    <a:pt x="3086100" y="428625"/>
                  </a:cubicBezTo>
                  <a:lnTo>
                    <a:pt x="57150" y="428625"/>
                  </a:lnTo>
                  <a:cubicBezTo>
                    <a:pt x="25587" y="428625"/>
                    <a:pt x="0" y="403038"/>
                    <a:pt x="0" y="37147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FFAF0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8465820" y="1903095"/>
              <a:ext cx="181708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05621"/>
                  </a:solidFill>
                  <a:latin typeface="Segoe UI"/>
                  <a:ea typeface="Microsoft YaHei"/>
                  <a:cs typeface="Segoe UI"/>
                </a:rPr>
                <a:t>序号格式：式（3.5）分章编码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465820" y="207454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C05621"/>
                  </a:solidFill>
                  <a:latin typeface="Segoe UI"/>
                  <a:ea typeface="Microsoft YaHei"/>
                  <a:cs typeface="Segoe UI"/>
                </a:rPr>
                <a:t>位置：该式所在行的最右边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8334375" y="23812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8321992" y="2514124"/>
              <a:ext cx="7723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排版要求：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8322945" y="2760345"/>
              <a:ext cx="14490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较长公式另行居中横排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322945" y="2979420"/>
              <a:ext cx="188280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转行位置：+、-、×、÷、&lt;、&gt;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322945" y="3198495"/>
              <a:ext cx="17973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上下式尽量在等号"="处对齐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8334375" y="3476625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321992" y="3609499"/>
              <a:ext cx="122091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分数与小数规范：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322945" y="3855720"/>
              <a:ext cx="19353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分数线长度 ≥ 分子/分母较长者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322945" y="4074795"/>
              <a:ext cx="184337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正文中分数尽量改为单行形式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322945" y="4293870"/>
              <a:ext cx="1140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小数点用"."表示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8322945" y="4512945"/>
              <a:ext cx="16922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小于1的数，0列于小数点前</a:t>
              </a:r>
            </a:p>
          </p:txBody>
        </p:sp>
        <p:sp>
          <p:nvSpPr>
            <p:cNvPr id="77" name="Line 77"/>
            <p:cNvSpPr/>
            <p:nvPr/>
          </p:nvSpPr>
          <p:spPr>
            <a:xfrm>
              <a:off x="8334375" y="476250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21992" y="4895374"/>
              <a:ext cx="107139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数字书写规范：</a:t>
              </a:r>
            </a:p>
          </p:txBody>
        </p:sp>
        <p:sp>
          <p:nvSpPr>
            <p:cNvPr id="79" name="Freeform 79"/>
            <p:cNvSpPr/>
            <p:nvPr/>
          </p:nvSpPr>
          <p:spPr>
            <a:xfrm>
              <a:off x="8334375" y="5143500"/>
              <a:ext cx="3143250" cy="714375"/>
            </a:xfrm>
            <a:custGeom>
              <a:avLst/>
              <a:gdLst/>
              <a:ahLst/>
              <a:cxnLst/>
              <a:rect l="l" t="t" r="r" b="b"/>
              <a:pathLst>
                <a:path w="3143250" h="714375">
                  <a:moveTo>
                    <a:pt x="57150" y="0"/>
                  </a:moveTo>
                  <a:lnTo>
                    <a:pt x="3086100" y="0"/>
                  </a:lnTo>
                  <a:cubicBezTo>
                    <a:pt x="3117663" y="0"/>
                    <a:pt x="3143250" y="25587"/>
                    <a:pt x="3143250" y="57150"/>
                  </a:cubicBezTo>
                  <a:lnTo>
                    <a:pt x="3143250" y="657225"/>
                  </a:lnTo>
                  <a:cubicBezTo>
                    <a:pt x="3143250" y="688788"/>
                    <a:pt x="3117663" y="714375"/>
                    <a:pt x="3086100" y="714375"/>
                  </a:cubicBezTo>
                  <a:lnTo>
                    <a:pt x="57150" y="714375"/>
                  </a:lnTo>
                  <a:cubicBezTo>
                    <a:pt x="25587" y="714375"/>
                    <a:pt x="0" y="688788"/>
                    <a:pt x="0" y="6572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8465820" y="5265420"/>
              <a:ext cx="19485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大于999的整数和多于三位小数：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8465820" y="5455920"/>
              <a:ext cx="226399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38A169"/>
                  </a:solidFill>
                  <a:latin typeface="Segoe UI"/>
                  <a:ea typeface="Microsoft YaHei"/>
                  <a:cs typeface="Segoe UI"/>
                </a:rPr>
                <a:t>✓ 94 652.023 675（用半角空格分隔）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465820" y="5646420"/>
              <a:ext cx="19945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E53E3E"/>
                  </a:solidFill>
                  <a:latin typeface="Segoe UI"/>
                  <a:ea typeface="Microsoft YaHei"/>
                  <a:cs typeface="Segoe UI"/>
                </a:rPr>
                <a:t>✗ 94,652.023675（不用千位撇）</a:t>
              </a:r>
            </a:p>
          </p:txBody>
        </p:sp>
      </p:grpSp>
      <p:sp>
        <p:nvSpPr>
          <p:cNvPr id="84" name="Rectangle 84"/>
          <p:cNvSpPr/>
          <p:nvPr/>
        </p:nvSpPr>
        <p:spPr>
          <a:xfrm>
            <a:off x="523875" y="6143625"/>
            <a:ext cx="111442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941070" y="63798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重庆大学硕士学位论文撰写格式标准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933408" y="647509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7 / 11</a:t>
            </a:r>
          </a:p>
        </p:txBody>
      </p:sp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F9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61382" y="21717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参考文献格式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79490" y="601028"/>
            <a:ext cx="283302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四种著录格式 · 全文必须统一 · 不得混用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71500" y="952500"/>
            <a:ext cx="5334000" cy="2095500"/>
            <a:chOff x="571500" y="952500"/>
            <a:chExt cx="5334000" cy="2095500"/>
          </a:xfrm>
        </p:grpSpPr>
        <p:sp>
          <p:nvSpPr>
            <p:cNvPr id="6" name="Freeform 6"/>
            <p:cNvSpPr/>
            <p:nvPr/>
          </p:nvSpPr>
          <p:spPr>
            <a:xfrm>
              <a:off x="571500" y="952500"/>
              <a:ext cx="5334000" cy="2095500"/>
            </a:xfrm>
            <a:custGeom>
              <a:avLst/>
              <a:gdLst/>
              <a:ahLst/>
              <a:cxnLst/>
              <a:rect l="l" t="t" r="r" b="b"/>
              <a:pathLst>
                <a:path w="5334000" h="2095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981200"/>
                  </a:lnTo>
                  <a:cubicBezTo>
                    <a:pt x="5334000" y="2044326"/>
                    <a:pt x="5282826" y="2095500"/>
                    <a:pt x="52197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952500"/>
              <a:ext cx="5334000" cy="428625"/>
            </a:xfrm>
            <a:custGeom>
              <a:avLst/>
              <a:gdLst/>
              <a:ahLst/>
              <a:cxnLst/>
              <a:rect l="l" t="t" r="r" b="b"/>
              <a:pathLst>
                <a:path w="5334000" h="428625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14325"/>
                  </a:lnTo>
                  <a:cubicBezTo>
                    <a:pt x="5334000" y="377451"/>
                    <a:pt x="5282826" y="428625"/>
                    <a:pt x="5219700" y="428625"/>
                  </a:cubicBezTo>
                  <a:lnTo>
                    <a:pt x="114300" y="428625"/>
                  </a:lnTo>
                  <a:cubicBezTo>
                    <a:pt x="51174" y="428625"/>
                    <a:pt x="0" y="377451"/>
                    <a:pt x="0" y="3143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A5F9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34000" cy="9525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704850" y="1019175"/>
              <a:ext cx="304800" cy="30480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19762" y="1105852"/>
              <a:ext cx="74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5855" y="1092518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顺序编码制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6290" y="1553528"/>
              <a:ext cx="304004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按引用顺序编号，正文中标注 [1][2][3]...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809625" y="1857375"/>
              <a:ext cx="4857750" cy="523875"/>
            </a:xfrm>
            <a:custGeom>
              <a:avLst/>
              <a:gdLst/>
              <a:ahLst/>
              <a:cxnLst/>
              <a:rect l="l" t="t" r="r" b="b"/>
              <a:pathLst>
                <a:path w="4857750" h="523875">
                  <a:moveTo>
                    <a:pt x="57150" y="0"/>
                  </a:moveTo>
                  <a:lnTo>
                    <a:pt x="4800600" y="0"/>
                  </a:lnTo>
                  <a:cubicBezTo>
                    <a:pt x="4832163" y="0"/>
                    <a:pt x="4857750" y="25587"/>
                    <a:pt x="4857750" y="57150"/>
                  </a:cubicBezTo>
                  <a:lnTo>
                    <a:pt x="4857750" y="466725"/>
                  </a:lnTo>
                  <a:cubicBezTo>
                    <a:pt x="4857750" y="498288"/>
                    <a:pt x="4832163" y="523875"/>
                    <a:pt x="4800600" y="523875"/>
                  </a:cubicBezTo>
                  <a:lnTo>
                    <a:pt x="57150" y="523875"/>
                  </a:lnTo>
                  <a:cubicBezTo>
                    <a:pt x="25587" y="523875"/>
                    <a:pt x="0" y="498288"/>
                    <a:pt x="0" y="4667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1070" y="1979295"/>
              <a:ext cx="35127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示例：[1] 张三. 论文标题[J]. 期刊名, 2020, 10(2): 1-10.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1070" y="2188845"/>
              <a:ext cx="29540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[2] 李四. 书名[M]. 北京: 出版社, 2019: 50-60.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7242" y="2514124"/>
              <a:ext cx="187594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特点：简洁直观，理工科常用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8195" y="2760345"/>
              <a:ext cx="16002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参考文献表按编码顺序排列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952500"/>
            <a:ext cx="5334000" cy="2095500"/>
            <a:chOff x="6286500" y="952500"/>
            <a:chExt cx="5334000" cy="2095500"/>
          </a:xfrm>
        </p:grpSpPr>
        <p:sp>
          <p:nvSpPr>
            <p:cNvPr id="19" name="Freeform 19"/>
            <p:cNvSpPr/>
            <p:nvPr/>
          </p:nvSpPr>
          <p:spPr>
            <a:xfrm>
              <a:off x="6286500" y="952500"/>
              <a:ext cx="5334000" cy="2095500"/>
            </a:xfrm>
            <a:custGeom>
              <a:avLst/>
              <a:gdLst/>
              <a:ahLst/>
              <a:cxnLst/>
              <a:rect l="l" t="t" r="r" b="b"/>
              <a:pathLst>
                <a:path w="5334000" h="2095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981200"/>
                  </a:lnTo>
                  <a:cubicBezTo>
                    <a:pt x="5334000" y="2044326"/>
                    <a:pt x="5282826" y="2095500"/>
                    <a:pt x="52197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6286500" y="952500"/>
              <a:ext cx="5334000" cy="428625"/>
            </a:xfrm>
            <a:custGeom>
              <a:avLst/>
              <a:gdLst/>
              <a:ahLst/>
              <a:cxnLst/>
              <a:rect l="l" t="t" r="r" b="b"/>
              <a:pathLst>
                <a:path w="5334000" h="428625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14325"/>
                  </a:lnTo>
                  <a:cubicBezTo>
                    <a:pt x="5334000" y="377451"/>
                    <a:pt x="5282826" y="428625"/>
                    <a:pt x="5219700" y="428625"/>
                  </a:cubicBezTo>
                  <a:lnTo>
                    <a:pt x="114300" y="428625"/>
                  </a:lnTo>
                  <a:cubicBezTo>
                    <a:pt x="51174" y="428625"/>
                    <a:pt x="0" y="377451"/>
                    <a:pt x="0" y="3143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38A169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1285875"/>
              <a:ext cx="5334000" cy="9525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6419850" y="1019175"/>
              <a:ext cx="304800" cy="30480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514634" y="11058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40855" y="1092518"/>
              <a:ext cx="13903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著者-出版年制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11290" y="1553528"/>
              <a:ext cx="1997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正文中标注（著者, 出版年）</a:t>
              </a:r>
            </a:p>
          </p:txBody>
        </p:sp>
        <p:sp>
          <p:nvSpPr>
            <p:cNvPr id="26" name="Freeform 26"/>
            <p:cNvSpPr/>
            <p:nvPr/>
          </p:nvSpPr>
          <p:spPr>
            <a:xfrm>
              <a:off x="6524625" y="1857375"/>
              <a:ext cx="4857750" cy="523875"/>
            </a:xfrm>
            <a:custGeom>
              <a:avLst/>
              <a:gdLst/>
              <a:ahLst/>
              <a:cxnLst/>
              <a:rect l="l" t="t" r="r" b="b"/>
              <a:pathLst>
                <a:path w="4857750" h="523875">
                  <a:moveTo>
                    <a:pt x="57150" y="0"/>
                  </a:moveTo>
                  <a:lnTo>
                    <a:pt x="4800600" y="0"/>
                  </a:lnTo>
                  <a:cubicBezTo>
                    <a:pt x="4832163" y="0"/>
                    <a:pt x="4857750" y="25587"/>
                    <a:pt x="4857750" y="57150"/>
                  </a:cubicBezTo>
                  <a:lnTo>
                    <a:pt x="4857750" y="466725"/>
                  </a:lnTo>
                  <a:cubicBezTo>
                    <a:pt x="4857750" y="498288"/>
                    <a:pt x="4832163" y="523875"/>
                    <a:pt x="4800600" y="523875"/>
                  </a:cubicBezTo>
                  <a:lnTo>
                    <a:pt x="57150" y="523875"/>
                  </a:lnTo>
                  <a:cubicBezTo>
                    <a:pt x="25587" y="523875"/>
                    <a:pt x="0" y="498288"/>
                    <a:pt x="0" y="4667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656070" y="1979295"/>
              <a:ext cx="27437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示例：研究表明（张三, 2020）该方法有效...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656070" y="2188845"/>
              <a:ext cx="15804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或：张三（2020）指出...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12242" y="251412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38A169"/>
                  </a:solidFill>
                  <a:latin typeface="Segoe UI"/>
                  <a:ea typeface="Microsoft YaHei"/>
                  <a:cs typeface="Segoe UI"/>
                </a:rPr>
                <a:t>特点：便于读者识别文献年代和作者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13195" y="2760345"/>
              <a:ext cx="23888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参考文献表按著者字母顺序和出版年排序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71500" y="3238500"/>
            <a:ext cx="5334000" cy="2095500"/>
            <a:chOff x="571500" y="3238500"/>
            <a:chExt cx="5334000" cy="2095500"/>
          </a:xfrm>
        </p:grpSpPr>
        <p:sp>
          <p:nvSpPr>
            <p:cNvPr id="32" name="Freeform 32"/>
            <p:cNvSpPr/>
            <p:nvPr/>
          </p:nvSpPr>
          <p:spPr>
            <a:xfrm>
              <a:off x="571500" y="3238500"/>
              <a:ext cx="5334000" cy="2095500"/>
            </a:xfrm>
            <a:custGeom>
              <a:avLst/>
              <a:gdLst/>
              <a:ahLst/>
              <a:cxnLst/>
              <a:rect l="l" t="t" r="r" b="b"/>
              <a:pathLst>
                <a:path w="5334000" h="2095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981200"/>
                  </a:lnTo>
                  <a:cubicBezTo>
                    <a:pt x="5334000" y="2044326"/>
                    <a:pt x="5282826" y="2095500"/>
                    <a:pt x="52197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571500" y="3238500"/>
              <a:ext cx="5334000" cy="428625"/>
            </a:xfrm>
            <a:custGeom>
              <a:avLst/>
              <a:gdLst/>
              <a:ahLst/>
              <a:cxnLst/>
              <a:rect l="l" t="t" r="r" b="b"/>
              <a:pathLst>
                <a:path w="5334000" h="428625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14325"/>
                  </a:lnTo>
                  <a:cubicBezTo>
                    <a:pt x="5334000" y="377451"/>
                    <a:pt x="5282826" y="428625"/>
                    <a:pt x="5219700" y="428625"/>
                  </a:cubicBezTo>
                  <a:lnTo>
                    <a:pt x="114300" y="428625"/>
                  </a:lnTo>
                  <a:cubicBezTo>
                    <a:pt x="51174" y="428625"/>
                    <a:pt x="0" y="377451"/>
                    <a:pt x="0" y="3143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7C24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1500" y="3571875"/>
              <a:ext cx="5334000" cy="95250"/>
            </a:xfrm>
            <a:prstGeom prst="rect">
              <a:avLst/>
            </a:prstGeom>
            <a:solidFill>
              <a:srgbClr val="E07C24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704850" y="3305175"/>
              <a:ext cx="304800" cy="30480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99634" y="33918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5855" y="3378518"/>
              <a:ext cx="7899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APA格式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65070" y="3427095"/>
              <a:ext cx="22442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 val="80000"/>
                    </a:srgbClr>
                  </a:solidFill>
                  <a:latin typeface="Arial"/>
                  <a:ea typeface="Microsoft YaHei"/>
                  <a:cs typeface="Arial"/>
                </a:rPr>
                <a:t>American Psychological Association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6290" y="3839528"/>
              <a:ext cx="2020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美国心理学会制定的论文格式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09625" y="4143375"/>
              <a:ext cx="4857750" cy="523875"/>
            </a:xfrm>
            <a:custGeom>
              <a:avLst/>
              <a:gdLst/>
              <a:ahLst/>
              <a:cxnLst/>
              <a:rect l="l" t="t" r="r" b="b"/>
              <a:pathLst>
                <a:path w="4857750" h="523875">
                  <a:moveTo>
                    <a:pt x="57150" y="0"/>
                  </a:moveTo>
                  <a:lnTo>
                    <a:pt x="4800600" y="0"/>
                  </a:lnTo>
                  <a:cubicBezTo>
                    <a:pt x="4832163" y="0"/>
                    <a:pt x="4857750" y="25587"/>
                    <a:pt x="4857750" y="57150"/>
                  </a:cubicBezTo>
                  <a:lnTo>
                    <a:pt x="4857750" y="466725"/>
                  </a:lnTo>
                  <a:cubicBezTo>
                    <a:pt x="4857750" y="498288"/>
                    <a:pt x="4832163" y="523875"/>
                    <a:pt x="4800600" y="523875"/>
                  </a:cubicBezTo>
                  <a:lnTo>
                    <a:pt x="57150" y="523875"/>
                  </a:lnTo>
                  <a:cubicBezTo>
                    <a:pt x="25587" y="523875"/>
                    <a:pt x="0" y="498288"/>
                    <a:pt x="0" y="4667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1070" y="4265295"/>
              <a:ext cx="418309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示例：Zhang, S. (2020). Article title. Journal Name, 10(2), 1-10.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41070" y="4474845"/>
              <a:ext cx="24940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https://doi.org/xxx（如有DOI需标注）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97242" y="4800124"/>
              <a:ext cx="2587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E07C24"/>
                  </a:solidFill>
                  <a:latin typeface="Segoe UI"/>
                  <a:ea typeface="Microsoft YaHei"/>
                  <a:cs typeface="Segoe UI"/>
                </a:rPr>
                <a:t>适用学科：心理学、教育学、社会科学等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8195" y="5046345"/>
              <a:ext cx="2125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强调出版年份，便于追踪研究时效性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286500" y="3238500"/>
            <a:ext cx="5334000" cy="2095500"/>
            <a:chOff x="6286500" y="3238500"/>
            <a:chExt cx="5334000" cy="2095500"/>
          </a:xfrm>
        </p:grpSpPr>
        <p:sp>
          <p:nvSpPr>
            <p:cNvPr id="46" name="Freeform 46"/>
            <p:cNvSpPr/>
            <p:nvPr/>
          </p:nvSpPr>
          <p:spPr>
            <a:xfrm>
              <a:off x="6286500" y="3238500"/>
              <a:ext cx="5334000" cy="2095500"/>
            </a:xfrm>
            <a:custGeom>
              <a:avLst/>
              <a:gdLst/>
              <a:ahLst/>
              <a:cxnLst/>
              <a:rect l="l" t="t" r="r" b="b"/>
              <a:pathLst>
                <a:path w="5334000" h="20955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1981200"/>
                  </a:lnTo>
                  <a:cubicBezTo>
                    <a:pt x="5334000" y="2044326"/>
                    <a:pt x="5282826" y="2095500"/>
                    <a:pt x="5219700" y="2095500"/>
                  </a:cubicBezTo>
                  <a:lnTo>
                    <a:pt x="114300" y="2095500"/>
                  </a:lnTo>
                  <a:cubicBezTo>
                    <a:pt x="51174" y="2095500"/>
                    <a:pt x="0" y="2044326"/>
                    <a:pt x="0" y="1981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7" name="Freeform 47"/>
            <p:cNvSpPr/>
            <p:nvPr/>
          </p:nvSpPr>
          <p:spPr>
            <a:xfrm>
              <a:off x="6286500" y="3238500"/>
              <a:ext cx="5334000" cy="428625"/>
            </a:xfrm>
            <a:custGeom>
              <a:avLst/>
              <a:gdLst/>
              <a:ahLst/>
              <a:cxnLst/>
              <a:rect l="l" t="t" r="r" b="b"/>
              <a:pathLst>
                <a:path w="5334000" h="428625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14325"/>
                  </a:lnTo>
                  <a:cubicBezTo>
                    <a:pt x="5334000" y="377451"/>
                    <a:pt x="5282826" y="428625"/>
                    <a:pt x="5219700" y="428625"/>
                  </a:cubicBezTo>
                  <a:lnTo>
                    <a:pt x="114300" y="428625"/>
                  </a:lnTo>
                  <a:cubicBezTo>
                    <a:pt x="51174" y="428625"/>
                    <a:pt x="0" y="377451"/>
                    <a:pt x="0" y="3143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805AD5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86500" y="3571875"/>
              <a:ext cx="5334000" cy="9525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419850" y="3305175"/>
              <a:ext cx="304800" cy="304800"/>
            </a:xfrm>
            <a:prstGeom prst="ellipse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14634" y="3391852"/>
              <a:ext cx="1152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40855" y="3378518"/>
              <a:ext cx="8313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MLA格式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180070" y="3427095"/>
              <a:ext cx="186966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 val="80000"/>
                    </a:srgbClr>
                  </a:solidFill>
                  <a:latin typeface="Arial"/>
                  <a:ea typeface="Microsoft YaHei"/>
                  <a:cs typeface="Arial"/>
                </a:rPr>
                <a:t>Modern Language Association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511290" y="3839528"/>
              <a:ext cx="23269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美国现代语言协会制定的论文格式</a:t>
              </a:r>
            </a:p>
          </p:txBody>
        </p:sp>
        <p:sp>
          <p:nvSpPr>
            <p:cNvPr id="54" name="Freeform 54"/>
            <p:cNvSpPr/>
            <p:nvPr/>
          </p:nvSpPr>
          <p:spPr>
            <a:xfrm>
              <a:off x="6524625" y="4143375"/>
              <a:ext cx="4857750" cy="523875"/>
            </a:xfrm>
            <a:custGeom>
              <a:avLst/>
              <a:gdLst/>
              <a:ahLst/>
              <a:cxnLst/>
              <a:rect l="l" t="t" r="r" b="b"/>
              <a:pathLst>
                <a:path w="4857750" h="523875">
                  <a:moveTo>
                    <a:pt x="57150" y="0"/>
                  </a:moveTo>
                  <a:lnTo>
                    <a:pt x="4800600" y="0"/>
                  </a:lnTo>
                  <a:cubicBezTo>
                    <a:pt x="4832163" y="0"/>
                    <a:pt x="4857750" y="25587"/>
                    <a:pt x="4857750" y="57150"/>
                  </a:cubicBezTo>
                  <a:lnTo>
                    <a:pt x="4857750" y="466725"/>
                  </a:lnTo>
                  <a:cubicBezTo>
                    <a:pt x="4857750" y="498288"/>
                    <a:pt x="4832163" y="523875"/>
                    <a:pt x="4800600" y="523875"/>
                  </a:cubicBezTo>
                  <a:lnTo>
                    <a:pt x="57150" y="523875"/>
                  </a:lnTo>
                  <a:cubicBezTo>
                    <a:pt x="25587" y="523875"/>
                    <a:pt x="0" y="498288"/>
                    <a:pt x="0" y="466725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F7FAFC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656070" y="4265295"/>
              <a:ext cx="36704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示例：Zhang, San. "Article Title." Journal Name, vol. 10,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56070" y="4474845"/>
              <a:ext cx="141617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no. 2, 2020, pp. 1-10.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12242" y="480012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05AD5"/>
                  </a:solidFill>
                  <a:latin typeface="Segoe UI"/>
                  <a:ea typeface="Microsoft YaHei"/>
                  <a:cs typeface="Segoe UI"/>
                </a:rPr>
                <a:t>适用学科：外国语言文学、人文学科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13195" y="5046345"/>
              <a:ext cx="235600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外国语学院可使用尾注形式（Notes页）</a:t>
              </a:r>
            </a:p>
          </p:txBody>
        </p:sp>
      </p:grpSp>
      <p:sp>
        <p:nvSpPr>
          <p:cNvPr id="60" name="Freeform 60"/>
          <p:cNvSpPr/>
          <p:nvPr/>
        </p:nvSpPr>
        <p:spPr>
          <a:xfrm>
            <a:off x="571500" y="5524500"/>
            <a:ext cx="11049000" cy="571500"/>
          </a:xfrm>
          <a:custGeom>
            <a:avLst/>
            <a:gdLst/>
            <a:ahLst/>
            <a:cxnLst/>
            <a:rect l="l" t="t" r="r" b="b"/>
            <a:pathLst>
              <a:path w="11049000" h="571500">
                <a:moveTo>
                  <a:pt x="95250" y="0"/>
                </a:moveTo>
                <a:lnTo>
                  <a:pt x="10953750" y="0"/>
                </a:lnTo>
                <a:cubicBezTo>
                  <a:pt x="11006355" y="0"/>
                  <a:pt x="11049000" y="42645"/>
                  <a:pt x="11049000" y="95250"/>
                </a:cubicBezTo>
                <a:lnTo>
                  <a:pt x="11049000" y="476250"/>
                </a:lnTo>
                <a:cubicBezTo>
                  <a:pt x="11049000" y="528855"/>
                  <a:pt x="11006355" y="571500"/>
                  <a:pt x="10953750" y="571500"/>
                </a:cubicBezTo>
                <a:lnTo>
                  <a:pt x="95250" y="571500"/>
                </a:lnTo>
                <a:cubicBezTo>
                  <a:pt x="42645" y="571500"/>
                  <a:pt x="0" y="528855"/>
                  <a:pt x="0" y="47625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1A5F9E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5344668" y="5633085"/>
            <a:ext cx="150266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参考文献数量要求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076212" y="5868352"/>
            <a:ext cx="19435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硕士：≥ 20篇（外文 ≥ 1/3）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059662" y="5868352"/>
            <a:ext cx="726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|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172212" y="5868352"/>
            <a:ext cx="19435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博士：≥ 80篇（外文 ≥ 1/3）</a:t>
            </a:r>
          </a:p>
        </p:txBody>
      </p:sp>
      <p:sp>
        <p:nvSpPr>
          <p:cNvPr id="65" name="Rectangle 65"/>
          <p:cNvSpPr/>
          <p:nvPr/>
        </p:nvSpPr>
        <p:spPr>
          <a:xfrm>
            <a:off x="571500" y="62865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941070" y="647509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重庆大学硕士学位论文撰写格式标准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933408" y="657034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8 / 11</a:t>
            </a:r>
          </a:p>
        </p:txBody>
      </p:sp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F9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145405" y="217170"/>
            <a:ext cx="190119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附录与致谢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162550" y="601028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论文的补充材料与感谢表达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71500" y="952500"/>
            <a:ext cx="6667500" cy="4953000"/>
            <a:chOff x="571500" y="952500"/>
            <a:chExt cx="6667500" cy="4953000"/>
          </a:xfrm>
        </p:grpSpPr>
        <p:sp>
          <p:nvSpPr>
            <p:cNvPr id="6" name="Freeform 6"/>
            <p:cNvSpPr/>
            <p:nvPr/>
          </p:nvSpPr>
          <p:spPr>
            <a:xfrm>
              <a:off x="571500" y="952500"/>
              <a:ext cx="6667500" cy="4953000"/>
            </a:xfrm>
            <a:custGeom>
              <a:avLst/>
              <a:gdLst/>
              <a:ahLst/>
              <a:cxnLst/>
              <a:rect l="l" t="t" r="r" b="b"/>
              <a:pathLst>
                <a:path w="6667500" h="495300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4838700"/>
                  </a:lnTo>
                  <a:cubicBezTo>
                    <a:pt x="6667500" y="4901826"/>
                    <a:pt x="6616326" y="4953000"/>
                    <a:pt x="6553200" y="4953000"/>
                  </a:cubicBezTo>
                  <a:lnTo>
                    <a:pt x="114300" y="4953000"/>
                  </a:lnTo>
                  <a:cubicBezTo>
                    <a:pt x="51174" y="4953000"/>
                    <a:pt x="0" y="4901826"/>
                    <a:pt x="0" y="483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952500"/>
              <a:ext cx="6667500" cy="476250"/>
            </a:xfrm>
            <a:custGeom>
              <a:avLst/>
              <a:gdLst/>
              <a:ahLst/>
              <a:cxnLst/>
              <a:rect l="l" t="t" r="r" b="b"/>
              <a:pathLst>
                <a:path w="6667500" h="476250">
                  <a:moveTo>
                    <a:pt x="114300" y="0"/>
                  </a:moveTo>
                  <a:lnTo>
                    <a:pt x="6553200" y="0"/>
                  </a:lnTo>
                  <a:cubicBezTo>
                    <a:pt x="6616326" y="0"/>
                    <a:pt x="6667500" y="51174"/>
                    <a:pt x="6667500" y="114300"/>
                  </a:cubicBezTo>
                  <a:lnTo>
                    <a:pt x="6667500" y="361950"/>
                  </a:lnTo>
                  <a:cubicBezTo>
                    <a:pt x="6667500" y="425076"/>
                    <a:pt x="6616326" y="476250"/>
                    <a:pt x="6553200" y="476250"/>
                  </a:cubicBezTo>
                  <a:lnTo>
                    <a:pt x="114300" y="476250"/>
                  </a:lnTo>
                  <a:cubicBezTo>
                    <a:pt x="51174" y="476250"/>
                    <a:pt x="0" y="425076"/>
                    <a:pt x="0" y="361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A5F9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6667500" cy="9525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068268" y="1107758"/>
              <a:ext cx="16739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附录 Appendix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2962" y="1640681"/>
              <a:ext cx="15812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附录可包含的内容：</a:t>
              </a: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57250" y="1952625"/>
              <a:ext cx="2952750" cy="666750"/>
              <a:chOff x="857250" y="1952625"/>
              <a:chExt cx="2952750" cy="66675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57250" y="1952625"/>
                <a:ext cx="2952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666750">
                    <a:moveTo>
                      <a:pt x="76200" y="0"/>
                    </a:moveTo>
                    <a:lnTo>
                      <a:pt x="2876550" y="0"/>
                    </a:lnTo>
                    <a:cubicBezTo>
                      <a:pt x="2918634" y="0"/>
                      <a:pt x="2952750" y="34116"/>
                      <a:pt x="2952750" y="76200"/>
                    </a:cubicBezTo>
                    <a:lnTo>
                      <a:pt x="2952750" y="590550"/>
                    </a:lnTo>
                    <a:cubicBezTo>
                      <a:pt x="2952750" y="632634"/>
                      <a:pt x="2918634" y="666750"/>
                      <a:pt x="287655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EBF8FF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987742" y="2085499"/>
                <a:ext cx="124334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A5F9E"/>
                    </a:solidFill>
                    <a:latin typeface="Segoe UI"/>
                    <a:ea typeface="Microsoft YaHei"/>
                    <a:cs typeface="Segoe UI"/>
                  </a:rPr>
                  <a:t>1. 公式推导与证明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988695" y="2312670"/>
                <a:ext cx="16002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egoe UI"/>
                    <a:ea typeface="Microsoft YaHei"/>
                    <a:cs typeface="Segoe UI"/>
                  </a:rPr>
                  <a:t>正文中过长的公式推导过程</a:t>
                </a: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4000500" y="1952625"/>
              <a:ext cx="2952750" cy="666750"/>
              <a:chOff x="4000500" y="1952625"/>
              <a:chExt cx="2952750" cy="66675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4000500" y="1952625"/>
                <a:ext cx="2952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666750">
                    <a:moveTo>
                      <a:pt x="76200" y="0"/>
                    </a:moveTo>
                    <a:lnTo>
                      <a:pt x="2876550" y="0"/>
                    </a:lnTo>
                    <a:cubicBezTo>
                      <a:pt x="2918634" y="0"/>
                      <a:pt x="2952750" y="34116"/>
                      <a:pt x="2952750" y="76200"/>
                    </a:cubicBezTo>
                    <a:lnTo>
                      <a:pt x="2952750" y="590550"/>
                    </a:lnTo>
                    <a:cubicBezTo>
                      <a:pt x="2952750" y="632634"/>
                      <a:pt x="2918634" y="666750"/>
                      <a:pt x="287655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4130992" y="2085499"/>
                <a:ext cx="11312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2. 分析证明材料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131945" y="2312670"/>
                <a:ext cx="2125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egoe UI"/>
                    <a:ea typeface="Microsoft YaHei"/>
                    <a:cs typeface="Segoe UI"/>
                  </a:rPr>
                  <a:t>非作者本人的分析、证明、工具表格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857250" y="2762250"/>
              <a:ext cx="2952750" cy="666750"/>
              <a:chOff x="857250" y="2762250"/>
              <a:chExt cx="2952750" cy="66675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857250" y="2762250"/>
                <a:ext cx="2952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666750">
                    <a:moveTo>
                      <a:pt x="76200" y="0"/>
                    </a:moveTo>
                    <a:lnTo>
                      <a:pt x="2876550" y="0"/>
                    </a:lnTo>
                    <a:cubicBezTo>
                      <a:pt x="2918634" y="0"/>
                      <a:pt x="2952750" y="34116"/>
                      <a:pt x="2952750" y="76200"/>
                    </a:cubicBezTo>
                    <a:lnTo>
                      <a:pt x="2952750" y="590550"/>
                    </a:lnTo>
                    <a:cubicBezTo>
                      <a:pt x="2952750" y="632634"/>
                      <a:pt x="2918634" y="666750"/>
                      <a:pt x="287655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AF0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987742" y="2895124"/>
                <a:ext cx="128072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C05621"/>
                    </a:solidFill>
                    <a:latin typeface="Segoe UI"/>
                    <a:ea typeface="Microsoft YaHei"/>
                    <a:cs typeface="Segoe UI"/>
                  </a:rPr>
                  <a:t>3. 实验数据与程序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988695" y="3122295"/>
                <a:ext cx="19945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egoe UI"/>
                    <a:ea typeface="Microsoft YaHei"/>
                    <a:cs typeface="Segoe UI"/>
                  </a:rPr>
                  <a:t>正文中无法列出的数据、程序代码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4000500" y="2762250"/>
              <a:ext cx="2952750" cy="666750"/>
              <a:chOff x="4000500" y="2762250"/>
              <a:chExt cx="2952750" cy="6667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000500" y="2762250"/>
                <a:ext cx="2952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666750">
                    <a:moveTo>
                      <a:pt x="76200" y="0"/>
                    </a:moveTo>
                    <a:lnTo>
                      <a:pt x="2876550" y="0"/>
                    </a:lnTo>
                    <a:cubicBezTo>
                      <a:pt x="2918634" y="0"/>
                      <a:pt x="2952750" y="34116"/>
                      <a:pt x="2952750" y="76200"/>
                    </a:cubicBezTo>
                    <a:lnTo>
                      <a:pt x="2952750" y="590550"/>
                    </a:lnTo>
                    <a:cubicBezTo>
                      <a:pt x="2952750" y="632634"/>
                      <a:pt x="2918634" y="666750"/>
                      <a:pt x="287655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FF5F5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130992" y="2895124"/>
                <a:ext cx="128072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E53E3E"/>
                    </a:solidFill>
                    <a:latin typeface="Segoe UI"/>
                    <a:ea typeface="Microsoft YaHei"/>
                    <a:cs typeface="Segoe UI"/>
                  </a:rPr>
                  <a:t>4. 缩写及程序说明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131945" y="3122295"/>
                <a:ext cx="17316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egoe UI"/>
                    <a:ea typeface="Microsoft YaHei"/>
                    <a:cs typeface="Segoe UI"/>
                  </a:rPr>
                  <a:t>论文使用的缩写及程序说明等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57250" y="3571875"/>
              <a:ext cx="2952750" cy="666750"/>
              <a:chOff x="857250" y="3571875"/>
              <a:chExt cx="2952750" cy="6667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57250" y="3571875"/>
                <a:ext cx="2952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666750">
                    <a:moveTo>
                      <a:pt x="76200" y="0"/>
                    </a:moveTo>
                    <a:lnTo>
                      <a:pt x="2876550" y="0"/>
                    </a:lnTo>
                    <a:cubicBezTo>
                      <a:pt x="2918634" y="0"/>
                      <a:pt x="2952750" y="34116"/>
                      <a:pt x="2952750" y="76200"/>
                    </a:cubicBezTo>
                    <a:lnTo>
                      <a:pt x="2952750" y="590550"/>
                    </a:lnTo>
                    <a:cubicBezTo>
                      <a:pt x="2952750" y="632634"/>
                      <a:pt x="2918634" y="666750"/>
                      <a:pt x="287655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AF5FF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987742" y="3704749"/>
                <a:ext cx="128072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805AD5"/>
                    </a:solidFill>
                    <a:latin typeface="Segoe UI"/>
                    <a:ea typeface="Microsoft YaHei"/>
                    <a:cs typeface="Segoe UI"/>
                  </a:rPr>
                  <a:t>5. 发表论著与成果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88695" y="3931920"/>
                <a:ext cx="212598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egoe UI"/>
                    <a:ea typeface="Microsoft YaHei"/>
                    <a:cs typeface="Segoe UI"/>
                  </a:rPr>
                  <a:t>攻读学位期间的论文、专利、获奖等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4000500" y="3571875"/>
              <a:ext cx="2952750" cy="666750"/>
              <a:chOff x="4000500" y="3571875"/>
              <a:chExt cx="2952750" cy="66675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4000500" y="3571875"/>
                <a:ext cx="2952750" cy="666750"/>
              </a:xfrm>
              <a:custGeom>
                <a:avLst/>
                <a:gdLst/>
                <a:ahLst/>
                <a:cxnLst/>
                <a:rect l="l" t="t" r="r" b="b"/>
                <a:pathLst>
                  <a:path w="2952750" h="666750">
                    <a:moveTo>
                      <a:pt x="76200" y="0"/>
                    </a:moveTo>
                    <a:lnTo>
                      <a:pt x="2876550" y="0"/>
                    </a:lnTo>
                    <a:cubicBezTo>
                      <a:pt x="2918634" y="0"/>
                      <a:pt x="2952750" y="34116"/>
                      <a:pt x="2952750" y="76200"/>
                    </a:cubicBezTo>
                    <a:lnTo>
                      <a:pt x="2952750" y="590550"/>
                    </a:lnTo>
                    <a:cubicBezTo>
                      <a:pt x="2952750" y="632634"/>
                      <a:pt x="2918634" y="666750"/>
                      <a:pt x="2876550" y="666750"/>
                    </a:cubicBezTo>
                    <a:lnTo>
                      <a:pt x="76200" y="666750"/>
                    </a:lnTo>
                    <a:cubicBezTo>
                      <a:pt x="34116" y="666750"/>
                      <a:pt x="0" y="632634"/>
                      <a:pt x="0" y="5905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E6FFFA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130992" y="3704749"/>
                <a:ext cx="128072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319795"/>
                    </a:solidFill>
                    <a:latin typeface="Segoe UI"/>
                    <a:ea typeface="Microsoft YaHei"/>
                    <a:cs typeface="Segoe UI"/>
                  </a:rPr>
                  <a:t>6. 阅读型参考文献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131945" y="3931920"/>
                <a:ext cx="18630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egoe UI"/>
                    <a:ea typeface="Microsoft YaHei"/>
                    <a:cs typeface="Segoe UI"/>
                  </a:rPr>
                  <a:t>正文未引用但阅读过的补充文献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857250" y="4381500"/>
              <a:ext cx="6096000" cy="476250"/>
              <a:chOff x="857250" y="4381500"/>
              <a:chExt cx="6096000" cy="47625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57250" y="4381500"/>
                <a:ext cx="60960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6096000" h="476250">
                    <a:moveTo>
                      <a:pt x="76200" y="0"/>
                    </a:moveTo>
                    <a:lnTo>
                      <a:pt x="6019800" y="0"/>
                    </a:lnTo>
                    <a:cubicBezTo>
                      <a:pt x="6061884" y="0"/>
                      <a:pt x="6096000" y="34116"/>
                      <a:pt x="6096000" y="76200"/>
                    </a:cubicBezTo>
                    <a:lnTo>
                      <a:pt x="6096000" y="400050"/>
                    </a:lnTo>
                    <a:cubicBezTo>
                      <a:pt x="6096000" y="442134"/>
                      <a:pt x="6061884" y="476250"/>
                      <a:pt x="6019800" y="476250"/>
                    </a:cubicBezTo>
                    <a:lnTo>
                      <a:pt x="76200" y="476250"/>
                    </a:lnTo>
                    <a:cubicBezTo>
                      <a:pt x="34116" y="476250"/>
                      <a:pt x="0" y="442134"/>
                      <a:pt x="0" y="40005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rgbClr val="F7FAFC"/>
              </a:solidFill>
              <a:ln w="9525">
                <a:solidFill>
                  <a:srgbClr val="E2E8F0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35368" y="4561999"/>
                <a:ext cx="128072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7. 学位论文数据集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227070" y="4570095"/>
                <a:ext cx="199453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Segoe UI"/>
                    <a:ea typeface="Microsoft YaHei"/>
                    <a:cs typeface="Segoe UI"/>
                  </a:rPr>
                  <a:t>反映学位论文主要特征的数据组成</a:t>
                </a:r>
              </a:p>
            </p:txBody>
          </p:sp>
        </p:grpSp>
        <p:sp>
          <p:nvSpPr>
            <p:cNvPr id="39" name="Line 39"/>
            <p:cNvSpPr/>
            <p:nvPr/>
          </p:nvSpPr>
          <p:spPr>
            <a:xfrm>
              <a:off x="857250" y="50482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42962" y="5164931"/>
              <a:ext cx="123622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附录编写格式：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857250" y="5429250"/>
              <a:ext cx="6096000" cy="381000"/>
            </a:xfrm>
            <a:custGeom>
              <a:avLst/>
              <a:gdLst/>
              <a:ahLst/>
              <a:cxnLst/>
              <a:rect l="l" t="t" r="r" b="b"/>
              <a:pathLst>
                <a:path w="6096000" h="381000">
                  <a:moveTo>
                    <a:pt x="57150" y="0"/>
                  </a:moveTo>
                  <a:lnTo>
                    <a:pt x="6038850" y="0"/>
                  </a:lnTo>
                  <a:cubicBezTo>
                    <a:pt x="6070413" y="0"/>
                    <a:pt x="6096000" y="25587"/>
                    <a:pt x="6096000" y="57150"/>
                  </a:cubicBezTo>
                  <a:lnTo>
                    <a:pt x="6096000" y="323850"/>
                  </a:lnTo>
                  <a:cubicBezTo>
                    <a:pt x="6096000" y="355413"/>
                    <a:pt x="6070413" y="381000"/>
                    <a:pt x="6038850" y="381000"/>
                  </a:cubicBezTo>
                  <a:lnTo>
                    <a:pt x="57150" y="381000"/>
                  </a:lnTo>
                  <a:cubicBezTo>
                    <a:pt x="25587" y="381000"/>
                    <a:pt x="0" y="355413"/>
                    <a:pt x="0" y="323850"/>
                  </a:cubicBezTo>
                  <a:lnTo>
                    <a:pt x="0" y="57150"/>
                  </a:lnTo>
                  <a:cubicBezTo>
                    <a:pt x="0" y="25587"/>
                    <a:pt x="25587" y="0"/>
                    <a:pt x="57150" y="0"/>
                  </a:cubicBezTo>
                  <a:close/>
                </a:path>
              </a:pathLst>
            </a:custGeom>
            <a:solidFill>
              <a:srgbClr val="EBF8F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35368" y="5562124"/>
              <a:ext cx="46598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编号：附录A、附录B、附录C... | 图表：图A1、表B2、式(B3)、文献[A5]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620000" y="952500"/>
            <a:ext cx="4000500" cy="4953000"/>
            <a:chOff x="7620000" y="952500"/>
            <a:chExt cx="4000500" cy="4953000"/>
          </a:xfrm>
        </p:grpSpPr>
        <p:sp>
          <p:nvSpPr>
            <p:cNvPr id="44" name="Freeform 44"/>
            <p:cNvSpPr/>
            <p:nvPr/>
          </p:nvSpPr>
          <p:spPr>
            <a:xfrm>
              <a:off x="7620000" y="952500"/>
              <a:ext cx="4000500" cy="4953000"/>
            </a:xfrm>
            <a:custGeom>
              <a:avLst/>
              <a:gdLst/>
              <a:ahLst/>
              <a:cxnLst/>
              <a:rect l="l" t="t" r="r" b="b"/>
              <a:pathLst>
                <a:path w="4000500" h="4953000">
                  <a:moveTo>
                    <a:pt x="114300" y="0"/>
                  </a:moveTo>
                  <a:lnTo>
                    <a:pt x="3886200" y="0"/>
                  </a:lnTo>
                  <a:cubicBezTo>
                    <a:pt x="3949326" y="0"/>
                    <a:pt x="4000500" y="51174"/>
                    <a:pt x="4000500" y="114300"/>
                  </a:cubicBezTo>
                  <a:lnTo>
                    <a:pt x="4000500" y="4838700"/>
                  </a:lnTo>
                  <a:cubicBezTo>
                    <a:pt x="4000500" y="4901826"/>
                    <a:pt x="3949326" y="4953000"/>
                    <a:pt x="3886200" y="4953000"/>
                  </a:cubicBezTo>
                  <a:lnTo>
                    <a:pt x="114300" y="4953000"/>
                  </a:lnTo>
                  <a:cubicBezTo>
                    <a:pt x="51174" y="4953000"/>
                    <a:pt x="0" y="4901826"/>
                    <a:pt x="0" y="483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Freeform 45"/>
            <p:cNvSpPr/>
            <p:nvPr/>
          </p:nvSpPr>
          <p:spPr>
            <a:xfrm>
              <a:off x="7620000" y="952500"/>
              <a:ext cx="4000500" cy="476250"/>
            </a:xfrm>
            <a:custGeom>
              <a:avLst/>
              <a:gdLst/>
              <a:ahLst/>
              <a:cxnLst/>
              <a:rect l="l" t="t" r="r" b="b"/>
              <a:pathLst>
                <a:path w="4000500" h="476250">
                  <a:moveTo>
                    <a:pt x="114300" y="0"/>
                  </a:moveTo>
                  <a:lnTo>
                    <a:pt x="3886200" y="0"/>
                  </a:lnTo>
                  <a:cubicBezTo>
                    <a:pt x="3949326" y="0"/>
                    <a:pt x="4000500" y="51174"/>
                    <a:pt x="4000500" y="114300"/>
                  </a:cubicBezTo>
                  <a:lnTo>
                    <a:pt x="4000500" y="361950"/>
                  </a:lnTo>
                  <a:cubicBezTo>
                    <a:pt x="4000500" y="425076"/>
                    <a:pt x="3949326" y="476250"/>
                    <a:pt x="3886200" y="476250"/>
                  </a:cubicBezTo>
                  <a:lnTo>
                    <a:pt x="114300" y="476250"/>
                  </a:lnTo>
                  <a:cubicBezTo>
                    <a:pt x="51174" y="476250"/>
                    <a:pt x="0" y="425076"/>
                    <a:pt x="0" y="361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38A169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620000" y="1333500"/>
              <a:ext cx="4000500" cy="95250"/>
            </a:xfrm>
            <a:prstGeom prst="rect">
              <a:avLst/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175992" y="1107758"/>
              <a:ext cx="28885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致谢 Acknowledgements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43838" y="1640681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感谢对象：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7858125" y="1905000"/>
              <a:ext cx="3524250" cy="428625"/>
              <a:chOff x="7858125" y="1905000"/>
              <a:chExt cx="3524250" cy="4286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858125" y="1905000"/>
                <a:ext cx="352425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428625">
                    <a:moveTo>
                      <a:pt x="57150" y="0"/>
                    </a:moveTo>
                    <a:lnTo>
                      <a:pt x="3467100" y="0"/>
                    </a:lnTo>
                    <a:cubicBezTo>
                      <a:pt x="3498663" y="0"/>
                      <a:pt x="3524250" y="25587"/>
                      <a:pt x="3524250" y="57150"/>
                    </a:cubicBezTo>
                    <a:lnTo>
                      <a:pt x="3524250" y="371475"/>
                    </a:lnTo>
                    <a:cubicBezTo>
                      <a:pt x="3524250" y="403038"/>
                      <a:pt x="3498663" y="428625"/>
                      <a:pt x="3467100" y="428625"/>
                    </a:cubicBezTo>
                    <a:lnTo>
                      <a:pt x="57150" y="428625"/>
                    </a:lnTo>
                    <a:cubicBezTo>
                      <a:pt x="25587" y="428625"/>
                      <a:pt x="0" y="403038"/>
                      <a:pt x="0" y="371475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50" name="Ellipse 50"/>
              <p:cNvSpPr/>
              <p:nvPr/>
            </p:nvSpPr>
            <p:spPr>
              <a:xfrm>
                <a:off x="7991475" y="2066925"/>
                <a:ext cx="114300" cy="114300"/>
              </a:xfrm>
              <a:prstGeom prst="ellipse">
                <a:avLst/>
              </a:prstGeom>
              <a:solidFill>
                <a:srgbClr val="38A169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8178165" y="2058352"/>
                <a:ext cx="3333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导师</a:t>
                </a: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7858125" y="2428875"/>
              <a:ext cx="3524250" cy="428625"/>
              <a:chOff x="7858125" y="2428875"/>
              <a:chExt cx="3524250" cy="428625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858125" y="2428875"/>
                <a:ext cx="352425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428625">
                    <a:moveTo>
                      <a:pt x="57150" y="0"/>
                    </a:moveTo>
                    <a:lnTo>
                      <a:pt x="3467100" y="0"/>
                    </a:lnTo>
                    <a:cubicBezTo>
                      <a:pt x="3498663" y="0"/>
                      <a:pt x="3524250" y="25587"/>
                      <a:pt x="3524250" y="57150"/>
                    </a:cubicBezTo>
                    <a:lnTo>
                      <a:pt x="3524250" y="371475"/>
                    </a:lnTo>
                    <a:cubicBezTo>
                      <a:pt x="3524250" y="403038"/>
                      <a:pt x="3498663" y="428625"/>
                      <a:pt x="3467100" y="428625"/>
                    </a:cubicBezTo>
                    <a:lnTo>
                      <a:pt x="57150" y="428625"/>
                    </a:lnTo>
                    <a:cubicBezTo>
                      <a:pt x="25587" y="428625"/>
                      <a:pt x="0" y="403038"/>
                      <a:pt x="0" y="371475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54" name="Ellipse 54"/>
              <p:cNvSpPr/>
              <p:nvPr/>
            </p:nvSpPr>
            <p:spPr>
              <a:xfrm>
                <a:off x="7991475" y="2590800"/>
                <a:ext cx="114300" cy="114300"/>
              </a:xfrm>
              <a:prstGeom prst="ellipse">
                <a:avLst/>
              </a:prstGeom>
              <a:solidFill>
                <a:srgbClr val="38A169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8178165" y="2582228"/>
                <a:ext cx="26336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对论文有直接贡献及帮助的人士和单位</a:t>
                </a: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7858125" y="2952750"/>
              <a:ext cx="3524250" cy="428625"/>
              <a:chOff x="7858125" y="2952750"/>
              <a:chExt cx="3524250" cy="42862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7858125" y="2952750"/>
                <a:ext cx="352425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428625">
                    <a:moveTo>
                      <a:pt x="57150" y="0"/>
                    </a:moveTo>
                    <a:lnTo>
                      <a:pt x="3467100" y="0"/>
                    </a:lnTo>
                    <a:cubicBezTo>
                      <a:pt x="3498663" y="0"/>
                      <a:pt x="3524250" y="25587"/>
                      <a:pt x="3524250" y="57150"/>
                    </a:cubicBezTo>
                    <a:lnTo>
                      <a:pt x="3524250" y="371475"/>
                    </a:lnTo>
                    <a:cubicBezTo>
                      <a:pt x="3524250" y="403038"/>
                      <a:pt x="3498663" y="428625"/>
                      <a:pt x="3467100" y="428625"/>
                    </a:cubicBezTo>
                    <a:lnTo>
                      <a:pt x="57150" y="428625"/>
                    </a:lnTo>
                    <a:cubicBezTo>
                      <a:pt x="25587" y="428625"/>
                      <a:pt x="0" y="403038"/>
                      <a:pt x="0" y="371475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58" name="Ellipse 58"/>
              <p:cNvSpPr/>
              <p:nvPr/>
            </p:nvSpPr>
            <p:spPr>
              <a:xfrm>
                <a:off x="7991475" y="3114675"/>
                <a:ext cx="114300" cy="114300"/>
              </a:xfrm>
              <a:prstGeom prst="ellipse">
                <a:avLst/>
              </a:prstGeom>
              <a:solidFill>
                <a:srgbClr val="38A169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8178165" y="3106102"/>
                <a:ext cx="171354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提供资助的基金会或企业</a:t>
                </a: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7858125" y="3476625"/>
              <a:ext cx="3524250" cy="428625"/>
              <a:chOff x="7858125" y="3476625"/>
              <a:chExt cx="3524250" cy="428625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858125" y="3476625"/>
                <a:ext cx="352425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428625">
                    <a:moveTo>
                      <a:pt x="57150" y="0"/>
                    </a:moveTo>
                    <a:lnTo>
                      <a:pt x="3467100" y="0"/>
                    </a:lnTo>
                    <a:cubicBezTo>
                      <a:pt x="3498663" y="0"/>
                      <a:pt x="3524250" y="25587"/>
                      <a:pt x="3524250" y="57150"/>
                    </a:cubicBezTo>
                    <a:lnTo>
                      <a:pt x="3524250" y="371475"/>
                    </a:lnTo>
                    <a:cubicBezTo>
                      <a:pt x="3524250" y="403038"/>
                      <a:pt x="3498663" y="428625"/>
                      <a:pt x="3467100" y="428625"/>
                    </a:cubicBezTo>
                    <a:lnTo>
                      <a:pt x="57150" y="428625"/>
                    </a:lnTo>
                    <a:cubicBezTo>
                      <a:pt x="25587" y="428625"/>
                      <a:pt x="0" y="403038"/>
                      <a:pt x="0" y="371475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62" name="Ellipse 62"/>
              <p:cNvSpPr/>
              <p:nvPr/>
            </p:nvSpPr>
            <p:spPr>
              <a:xfrm>
                <a:off x="7991475" y="3638550"/>
                <a:ext cx="114300" cy="114300"/>
              </a:xfrm>
              <a:prstGeom prst="ellipse">
                <a:avLst/>
              </a:prstGeom>
              <a:solidFill>
                <a:srgbClr val="38A169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8178165" y="3629978"/>
                <a:ext cx="14068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提供调研条件的组织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7858125" y="4000500"/>
              <a:ext cx="3524250" cy="428625"/>
              <a:chOff x="7858125" y="4000500"/>
              <a:chExt cx="3524250" cy="42862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858125" y="4000500"/>
                <a:ext cx="3524250" cy="428625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428625">
                    <a:moveTo>
                      <a:pt x="57150" y="0"/>
                    </a:moveTo>
                    <a:lnTo>
                      <a:pt x="3467100" y="0"/>
                    </a:lnTo>
                    <a:cubicBezTo>
                      <a:pt x="3498663" y="0"/>
                      <a:pt x="3524250" y="25587"/>
                      <a:pt x="3524250" y="57150"/>
                    </a:cubicBezTo>
                    <a:lnTo>
                      <a:pt x="3524250" y="371475"/>
                    </a:lnTo>
                    <a:cubicBezTo>
                      <a:pt x="3524250" y="403038"/>
                      <a:pt x="3498663" y="428625"/>
                      <a:pt x="3467100" y="428625"/>
                    </a:cubicBezTo>
                    <a:lnTo>
                      <a:pt x="57150" y="428625"/>
                    </a:lnTo>
                    <a:cubicBezTo>
                      <a:pt x="25587" y="428625"/>
                      <a:pt x="0" y="403038"/>
                      <a:pt x="0" y="371475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66" name="Ellipse 66"/>
              <p:cNvSpPr/>
              <p:nvPr/>
            </p:nvSpPr>
            <p:spPr>
              <a:xfrm>
                <a:off x="7991475" y="4162425"/>
                <a:ext cx="114300" cy="114300"/>
              </a:xfrm>
              <a:prstGeom prst="ellipse">
                <a:avLst/>
              </a:prstGeom>
              <a:solidFill>
                <a:srgbClr val="38A169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8178165" y="4153852"/>
                <a:ext cx="11001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提供资料的个人</a:t>
                </a:r>
              </a:p>
            </p:txBody>
          </p:sp>
        </p:grpSp>
        <p:sp>
          <p:nvSpPr>
            <p:cNvPr id="69" name="Line 69"/>
            <p:cNvSpPr/>
            <p:nvPr/>
          </p:nvSpPr>
          <p:spPr>
            <a:xfrm>
              <a:off x="7858125" y="4619625"/>
              <a:ext cx="3524250" cy="9525"/>
            </a:xfrm>
            <a:custGeom>
              <a:avLst/>
              <a:gdLst/>
              <a:ahLst/>
              <a:cxnLst/>
              <a:rect l="l" t="t" r="r" b="b"/>
              <a:pathLst>
                <a:path w="3524250" h="9525">
                  <a:moveTo>
                    <a:pt x="0" y="0"/>
                  </a:moveTo>
                  <a:lnTo>
                    <a:pt x="35242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843838" y="4783931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格式要求：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7858125" y="5048250"/>
              <a:ext cx="3524250" cy="714375"/>
            </a:xfrm>
            <a:custGeom>
              <a:avLst/>
              <a:gdLst/>
              <a:ahLst/>
              <a:cxnLst/>
              <a:rect l="l" t="t" r="r" b="b"/>
              <a:pathLst>
                <a:path w="3524250" h="714375">
                  <a:moveTo>
                    <a:pt x="76200" y="0"/>
                  </a:moveTo>
                  <a:lnTo>
                    <a:pt x="3448050" y="0"/>
                  </a:lnTo>
                  <a:cubicBezTo>
                    <a:pt x="3490134" y="0"/>
                    <a:pt x="3524250" y="34116"/>
                    <a:pt x="3524250" y="76200"/>
                  </a:cubicBezTo>
                  <a:lnTo>
                    <a:pt x="3524250" y="638175"/>
                  </a:lnTo>
                  <a:cubicBezTo>
                    <a:pt x="3524250" y="680259"/>
                    <a:pt x="3490134" y="714375"/>
                    <a:pt x="3448050" y="714375"/>
                  </a:cubicBezTo>
                  <a:lnTo>
                    <a:pt x="76200" y="714375"/>
                  </a:lnTo>
                  <a:cubicBezTo>
                    <a:pt x="34116" y="714375"/>
                    <a:pt x="0" y="680259"/>
                    <a:pt x="0" y="6381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AF0"/>
            </a:solidFill>
            <a:ln w="9525">
              <a:solidFill>
                <a:srgbClr val="E07C24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036242" y="5181124"/>
              <a:ext cx="857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05621"/>
                  </a:solidFill>
                  <a:latin typeface="Segoe UI"/>
                  <a:ea typeface="Microsoft YaHei"/>
                  <a:cs typeface="Segoe UI"/>
                </a:rPr>
                <a:t>• 致谢另起页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036242" y="5419249"/>
              <a:ext cx="142739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C05621"/>
                  </a:solidFill>
                  <a:latin typeface="Segoe UI"/>
                  <a:ea typeface="Microsoft YaHei"/>
                  <a:cs typeface="Segoe UI"/>
                </a:rPr>
                <a:t>• 放置在附录页面之后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037195" y="5617845"/>
              <a:ext cx="173164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（论文终版格式最后一部分）</a:t>
              </a:r>
            </a:p>
          </p:txBody>
        </p:sp>
      </p:grpSp>
      <p:sp>
        <p:nvSpPr>
          <p:cNvPr id="76" name="Rectangle 76"/>
          <p:cNvSpPr/>
          <p:nvPr/>
        </p:nvSpPr>
        <p:spPr>
          <a:xfrm>
            <a:off x="571500" y="60960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941070" y="63798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重庆大学硕士学位论文撰写格式标准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5933408" y="6475095"/>
            <a:ext cx="3251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9 / 11</a:t>
            </a:r>
          </a:p>
        </p:txBody>
      </p:sp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F9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61382" y="21717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排版格式要点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55203" y="601028"/>
            <a:ext cx="208159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A4纸张 · 页面设置 · 字体规范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571500" y="952500"/>
            <a:ext cx="5334000" cy="4953000"/>
            <a:chOff x="571500" y="952500"/>
            <a:chExt cx="5334000" cy="4953000"/>
          </a:xfrm>
        </p:grpSpPr>
        <p:sp>
          <p:nvSpPr>
            <p:cNvPr id="6" name="Freeform 6"/>
            <p:cNvSpPr/>
            <p:nvPr/>
          </p:nvSpPr>
          <p:spPr>
            <a:xfrm>
              <a:off x="571500" y="952500"/>
              <a:ext cx="5334000" cy="4953000"/>
            </a:xfrm>
            <a:custGeom>
              <a:avLst/>
              <a:gdLst/>
              <a:ahLst/>
              <a:cxnLst/>
              <a:rect l="l" t="t" r="r" b="b"/>
              <a:pathLst>
                <a:path w="5334000" h="49530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838700"/>
                  </a:lnTo>
                  <a:cubicBezTo>
                    <a:pt x="5334000" y="4901826"/>
                    <a:pt x="5282826" y="4953000"/>
                    <a:pt x="5219700" y="4953000"/>
                  </a:cubicBezTo>
                  <a:lnTo>
                    <a:pt x="114300" y="4953000"/>
                  </a:lnTo>
                  <a:cubicBezTo>
                    <a:pt x="51174" y="4953000"/>
                    <a:pt x="0" y="4901826"/>
                    <a:pt x="0" y="483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952500"/>
              <a:ext cx="5334000" cy="476250"/>
            </a:xfrm>
            <a:custGeom>
              <a:avLst/>
              <a:gdLst/>
              <a:ahLst/>
              <a:cxnLst/>
              <a:rect l="l" t="t" r="r" b="b"/>
              <a:pathLst>
                <a:path w="5334000" h="476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61950"/>
                  </a:lnTo>
                  <a:cubicBezTo>
                    <a:pt x="5334000" y="425076"/>
                    <a:pt x="5282826" y="476250"/>
                    <a:pt x="5219700" y="476250"/>
                  </a:cubicBezTo>
                  <a:lnTo>
                    <a:pt x="114300" y="476250"/>
                  </a:lnTo>
                  <a:cubicBezTo>
                    <a:pt x="51174" y="476250"/>
                    <a:pt x="0" y="425076"/>
                    <a:pt x="0" y="361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A5F9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333500"/>
              <a:ext cx="5334000" cy="9525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529364" y="11239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页面设置参数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809625" y="1619250"/>
              <a:ext cx="4857750" cy="428625"/>
            </a:xfrm>
            <a:custGeom>
              <a:avLst/>
              <a:gdLst/>
              <a:ahLst/>
              <a:cxnLst/>
              <a:rect l="l" t="t" r="r" b="b"/>
              <a:pathLst>
                <a:path w="4857750" h="428625">
                  <a:moveTo>
                    <a:pt x="76200" y="0"/>
                  </a:moveTo>
                  <a:lnTo>
                    <a:pt x="4781550" y="0"/>
                  </a:lnTo>
                  <a:cubicBezTo>
                    <a:pt x="4823634" y="0"/>
                    <a:pt x="4857750" y="34116"/>
                    <a:pt x="4857750" y="76200"/>
                  </a:cubicBezTo>
                  <a:lnTo>
                    <a:pt x="4857750" y="352425"/>
                  </a:lnTo>
                  <a:cubicBezTo>
                    <a:pt x="4857750" y="394509"/>
                    <a:pt x="4823634" y="428625"/>
                    <a:pt x="4781550" y="428625"/>
                  </a:cubicBezTo>
                  <a:lnTo>
                    <a:pt x="76200" y="428625"/>
                  </a:lnTo>
                  <a:cubicBezTo>
                    <a:pt x="34116" y="428625"/>
                    <a:pt x="0" y="394509"/>
                    <a:pt x="0" y="35242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BF8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85838" y="1764506"/>
              <a:ext cx="22023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纸张规格：A4 (210×297mm)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179570" y="1788795"/>
              <a:ext cx="135045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成品尺寸：207×291mm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5338" y="2212181"/>
              <a:ext cx="8911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页边距设置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09625" y="2476500"/>
              <a:ext cx="2381250" cy="333375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3190875" y="2476500"/>
              <a:ext cx="1238250" cy="333375"/>
            </a:xfrm>
            <a:prstGeom prst="rect">
              <a:avLst/>
            </a:prstGeom>
            <a:solidFill>
              <a:srgbClr val="F7FAFC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63589" y="2590324"/>
              <a:ext cx="4733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参数项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48099" y="2590324"/>
              <a:ext cx="3238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数值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9625" y="2809875"/>
              <a:ext cx="2381250" cy="30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3190875" y="2809875"/>
              <a:ext cx="1238250" cy="30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87742" y="29046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上边距（天头）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63186" y="2896552"/>
              <a:ext cx="4936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5F9E"/>
                  </a:solidFill>
                  <a:latin typeface="Arial"/>
                  <a:ea typeface="Microsoft YaHei"/>
                  <a:cs typeface="Arial"/>
                </a:rPr>
                <a:t>30 mm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9625" y="3114675"/>
              <a:ext cx="2381250" cy="30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190875" y="3114675"/>
              <a:ext cx="1238250" cy="30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87742" y="3209449"/>
              <a:ext cx="102155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下边距（地脚）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563186" y="3201352"/>
              <a:ext cx="4936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5F9E"/>
                  </a:solidFill>
                  <a:latin typeface="Arial"/>
                  <a:ea typeface="Microsoft YaHei"/>
                  <a:cs typeface="Arial"/>
                </a:rPr>
                <a:t>25 mm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09625" y="3419475"/>
              <a:ext cx="2381250" cy="30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3190875" y="3419475"/>
              <a:ext cx="1238250" cy="30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87742" y="3514249"/>
              <a:ext cx="10429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左边距 / 右边距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63186" y="3506152"/>
              <a:ext cx="4936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5F9E"/>
                  </a:solidFill>
                  <a:latin typeface="Arial"/>
                  <a:ea typeface="Microsoft YaHei"/>
                  <a:cs typeface="Arial"/>
                </a:rPr>
                <a:t>25 mm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09625" y="3724275"/>
              <a:ext cx="2381250" cy="30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190875" y="3724275"/>
              <a:ext cx="1238250" cy="30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87742" y="3819049"/>
              <a:ext cx="4519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装订线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83313" y="3810952"/>
              <a:ext cx="4533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5F9E"/>
                  </a:solidFill>
                  <a:latin typeface="Arial"/>
                  <a:ea typeface="Microsoft YaHei"/>
                  <a:cs typeface="Arial"/>
                </a:rPr>
                <a:t>10 mm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09625" y="4029075"/>
              <a:ext cx="2381250" cy="30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3190875" y="4029075"/>
              <a:ext cx="1238250" cy="30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7742" y="41238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页眉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83313" y="4115752"/>
              <a:ext cx="4533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5F9E"/>
                  </a:solidFill>
                  <a:latin typeface="Arial"/>
                  <a:ea typeface="Microsoft YaHei"/>
                  <a:cs typeface="Arial"/>
                </a:rPr>
                <a:t>16 mm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09625" y="4333875"/>
              <a:ext cx="2381250" cy="30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3190875" y="4333875"/>
              <a:ext cx="1238250" cy="30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87742" y="4428649"/>
              <a:ext cx="3095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页脚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583313" y="4420552"/>
              <a:ext cx="4533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A5F9E"/>
                  </a:solidFill>
                  <a:latin typeface="Arial"/>
                  <a:ea typeface="Microsoft YaHei"/>
                  <a:cs typeface="Arial"/>
                </a:rPr>
                <a:t>15 mm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809625" y="48101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95338" y="4974431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打印要求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809625" y="5238750"/>
              <a:ext cx="2286000" cy="523875"/>
            </a:xfrm>
            <a:custGeom>
              <a:avLst/>
              <a:gdLst/>
              <a:ahLst/>
              <a:cxnLst/>
              <a:rect l="l" t="t" r="r" b="b"/>
              <a:pathLst>
                <a:path w="2286000" h="523875">
                  <a:moveTo>
                    <a:pt x="76200" y="0"/>
                  </a:move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447675"/>
                  </a:lnTo>
                  <a:cubicBezTo>
                    <a:pt x="2286000" y="489759"/>
                    <a:pt x="2251884" y="523875"/>
                    <a:pt x="2209800" y="523875"/>
                  </a:cubicBezTo>
                  <a:lnTo>
                    <a:pt x="76200" y="523875"/>
                  </a:lnTo>
                  <a:cubicBezTo>
                    <a:pt x="34116" y="523875"/>
                    <a:pt x="0" y="489759"/>
                    <a:pt x="0" y="4476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0FFF4"/>
            </a:solidFill>
            <a:ln w="9525">
              <a:solidFill>
                <a:srgbClr val="38A169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730204" y="5400199"/>
              <a:ext cx="4448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38A169"/>
                  </a:solidFill>
                  <a:latin typeface="Segoe UI"/>
                  <a:ea typeface="Microsoft YaHei"/>
                  <a:cs typeface="Segoe UI"/>
                </a:rPr>
                <a:t>≥ 70页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617250" y="5582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双面打印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3286125" y="5238750"/>
              <a:ext cx="2286000" cy="523875"/>
            </a:xfrm>
            <a:custGeom>
              <a:avLst/>
              <a:gdLst/>
              <a:ahLst/>
              <a:cxnLst/>
              <a:rect l="l" t="t" r="r" b="b"/>
              <a:pathLst>
                <a:path w="2286000" h="523875">
                  <a:moveTo>
                    <a:pt x="76200" y="0"/>
                  </a:moveTo>
                  <a:lnTo>
                    <a:pt x="2209800" y="0"/>
                  </a:lnTo>
                  <a:cubicBezTo>
                    <a:pt x="2251884" y="0"/>
                    <a:pt x="2286000" y="34116"/>
                    <a:pt x="2286000" y="76200"/>
                  </a:cubicBezTo>
                  <a:lnTo>
                    <a:pt x="2286000" y="447675"/>
                  </a:lnTo>
                  <a:cubicBezTo>
                    <a:pt x="2286000" y="489759"/>
                    <a:pt x="2251884" y="523875"/>
                    <a:pt x="2209800" y="523875"/>
                  </a:cubicBezTo>
                  <a:lnTo>
                    <a:pt x="76200" y="523875"/>
                  </a:lnTo>
                  <a:cubicBezTo>
                    <a:pt x="34116" y="523875"/>
                    <a:pt x="0" y="489759"/>
                    <a:pt x="0" y="447675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EBF8FF"/>
            </a:solidFill>
            <a:ln w="9525">
              <a:solidFill>
                <a:srgbClr val="1A5F9E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206704" y="5400199"/>
              <a:ext cx="4448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1A5F9E"/>
                  </a:solidFill>
                  <a:latin typeface="Segoe UI"/>
                  <a:ea typeface="Microsoft YaHei"/>
                  <a:cs typeface="Segoe UI"/>
                </a:rPr>
                <a:t>&lt; 70页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093750" y="5582602"/>
              <a:ext cx="6707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单面打印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952500"/>
            <a:ext cx="5334000" cy="2381250"/>
            <a:chOff x="6286500" y="952500"/>
            <a:chExt cx="5334000" cy="2381250"/>
          </a:xfrm>
        </p:grpSpPr>
        <p:sp>
          <p:nvSpPr>
            <p:cNvPr id="51" name="Freeform 51"/>
            <p:cNvSpPr/>
            <p:nvPr/>
          </p:nvSpPr>
          <p:spPr>
            <a:xfrm>
              <a:off x="6286500" y="952500"/>
              <a:ext cx="5334000" cy="2381250"/>
            </a:xfrm>
            <a:custGeom>
              <a:avLst/>
              <a:gdLst/>
              <a:ahLst/>
              <a:cxnLst/>
              <a:rect l="l" t="t" r="r" b="b"/>
              <a:pathLst>
                <a:path w="5334000" h="2381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2266950"/>
                  </a:lnTo>
                  <a:cubicBezTo>
                    <a:pt x="5334000" y="2330076"/>
                    <a:pt x="5282826" y="2381250"/>
                    <a:pt x="52197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286500" y="952500"/>
              <a:ext cx="5334000" cy="476250"/>
            </a:xfrm>
            <a:custGeom>
              <a:avLst/>
              <a:gdLst/>
              <a:ahLst/>
              <a:cxnLst/>
              <a:rect l="l" t="t" r="r" b="b"/>
              <a:pathLst>
                <a:path w="5334000" h="476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61950"/>
                  </a:lnTo>
                  <a:cubicBezTo>
                    <a:pt x="5334000" y="425076"/>
                    <a:pt x="5282826" y="476250"/>
                    <a:pt x="5219700" y="476250"/>
                  </a:cubicBezTo>
                  <a:lnTo>
                    <a:pt x="114300" y="476250"/>
                  </a:lnTo>
                  <a:cubicBezTo>
                    <a:pt x="51174" y="476250"/>
                    <a:pt x="0" y="425076"/>
                    <a:pt x="0" y="361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7C24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86500" y="1333500"/>
              <a:ext cx="5334000" cy="95250"/>
            </a:xfrm>
            <a:prstGeom prst="rect">
              <a:avLst/>
            </a:prstGeom>
            <a:solidFill>
              <a:srgbClr val="E07C24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244364" y="112395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正文字体规范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11290" y="1648778"/>
              <a:ext cx="16905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• 中文正文：</a:t>
              </a:r>
              <a:r>
                <a:rPr lang="zh-CN" sz="1050" b="1" dirty="0">
                  <a:solidFill>
                    <a:srgbClr val="E07C24"/>
                  </a:solidFill>
                  <a:latin typeface="Segoe UI"/>
                  <a:ea typeface="Microsoft YaHei"/>
                  <a:cs typeface="Segoe UI"/>
                </a:rPr>
                <a:t>小四号宋体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511290" y="1934528"/>
              <a:ext cx="22502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• 英文/数字：</a:t>
              </a:r>
              <a:r>
                <a:rPr lang="zh-CN" sz="1050" b="1" dirty="0">
                  <a:solidFill>
                    <a:srgbClr val="E07C24"/>
                  </a:solidFill>
                  <a:latin typeface="Segoe UI"/>
                  <a:ea typeface="Microsoft YaHei"/>
                  <a:cs typeface="Segoe UI"/>
                </a:rPr>
                <a:t>Times New Roman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511290" y="2220278"/>
              <a:ext cx="15371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• 字间距：</a:t>
              </a:r>
              <a:r>
                <a:rPr lang="zh-CN" sz="1050" b="1" dirty="0">
                  <a:solidFill>
                    <a:srgbClr val="E07C24"/>
                  </a:solidFill>
                  <a:latin typeface="Segoe UI"/>
                  <a:ea typeface="Microsoft YaHei"/>
                  <a:cs typeface="Segoe UI"/>
                </a:rPr>
                <a:t>标准字间距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511290" y="2506028"/>
              <a:ext cx="16445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• 行间距：</a:t>
              </a:r>
              <a:r>
                <a:rPr lang="zh-CN" sz="1050" b="1" dirty="0">
                  <a:solidFill>
                    <a:srgbClr val="E07C24"/>
                  </a:solidFill>
                  <a:latin typeface="Segoe UI"/>
                  <a:ea typeface="Microsoft YaHei"/>
                  <a:cs typeface="Segoe UI"/>
                </a:rPr>
                <a:t>固定值 20 磅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511290" y="2791778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• 段落：</a:t>
              </a:r>
              <a:r>
                <a:rPr lang="zh-CN" sz="1050" b="1" dirty="0">
                  <a:solidFill>
                    <a:srgbClr val="E07C24"/>
                  </a:solidFill>
                  <a:latin typeface="Segoe UI"/>
                  <a:ea typeface="Microsoft YaHei"/>
                  <a:cs typeface="Segoe UI"/>
                </a:rPr>
                <a:t>首行缩进 2 字符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511290" y="3077528"/>
              <a:ext cx="28713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• 章节序号：</a:t>
              </a:r>
              <a:r>
                <a:rPr lang="zh-CN" sz="1050" b="1" dirty="0">
                  <a:solidFill>
                    <a:srgbClr val="E07C24"/>
                  </a:solidFill>
                  <a:latin typeface="Segoe UI"/>
                  <a:ea typeface="Microsoft YaHei"/>
                  <a:cs typeface="Segoe UI"/>
                </a:rPr>
                <a:t>阿拉伯数字</a:t>
              </a:r>
              <a:r>
                <a:rPr lang="zh-CN" sz="1050" dirty="0">
                  <a:solidFill>
                    <a:srgbClr val="4A5568"/>
                  </a:solidFill>
                  <a:latin typeface="Segoe UI"/>
                  <a:ea typeface="Microsoft YaHei"/>
                  <a:cs typeface="Segoe UI"/>
                </a:rPr>
                <a:t>（1、1.1、1.1.2）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286500" y="3524250"/>
            <a:ext cx="5334000" cy="2381250"/>
            <a:chOff x="6286500" y="3524250"/>
            <a:chExt cx="5334000" cy="2381250"/>
          </a:xfrm>
        </p:grpSpPr>
        <p:sp>
          <p:nvSpPr>
            <p:cNvPr id="62" name="Freeform 62"/>
            <p:cNvSpPr/>
            <p:nvPr/>
          </p:nvSpPr>
          <p:spPr>
            <a:xfrm>
              <a:off x="6286500" y="3524250"/>
              <a:ext cx="5334000" cy="2381250"/>
            </a:xfrm>
            <a:custGeom>
              <a:avLst/>
              <a:gdLst/>
              <a:ahLst/>
              <a:cxnLst/>
              <a:rect l="l" t="t" r="r" b="b"/>
              <a:pathLst>
                <a:path w="5334000" h="2381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2266950"/>
                  </a:lnTo>
                  <a:cubicBezTo>
                    <a:pt x="5334000" y="2330076"/>
                    <a:pt x="5282826" y="2381250"/>
                    <a:pt x="5219700" y="2381250"/>
                  </a:cubicBezTo>
                  <a:lnTo>
                    <a:pt x="114300" y="2381250"/>
                  </a:lnTo>
                  <a:cubicBezTo>
                    <a:pt x="51174" y="2381250"/>
                    <a:pt x="0" y="2330076"/>
                    <a:pt x="0" y="2266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3" name="Freeform 63"/>
            <p:cNvSpPr/>
            <p:nvPr/>
          </p:nvSpPr>
          <p:spPr>
            <a:xfrm>
              <a:off x="6286500" y="3524250"/>
              <a:ext cx="5334000" cy="476250"/>
            </a:xfrm>
            <a:custGeom>
              <a:avLst/>
              <a:gdLst/>
              <a:ahLst/>
              <a:cxnLst/>
              <a:rect l="l" t="t" r="r" b="b"/>
              <a:pathLst>
                <a:path w="5334000" h="47625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61950"/>
                  </a:lnTo>
                  <a:cubicBezTo>
                    <a:pt x="5334000" y="425076"/>
                    <a:pt x="5282826" y="476250"/>
                    <a:pt x="5219700" y="476250"/>
                  </a:cubicBezTo>
                  <a:lnTo>
                    <a:pt x="114300" y="476250"/>
                  </a:lnTo>
                  <a:cubicBezTo>
                    <a:pt x="51174" y="476250"/>
                    <a:pt x="0" y="425076"/>
                    <a:pt x="0" y="36195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805AD5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286500" y="3905250"/>
              <a:ext cx="5334000" cy="95250"/>
            </a:xfrm>
            <a:prstGeom prst="rect">
              <a:avLst/>
            </a:prstGeom>
            <a:solidFill>
              <a:srgbClr val="805AD5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8244364" y="3695700"/>
              <a:ext cx="141827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页眉页脚规范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11290" y="4220528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页眉：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12242" y="4466749"/>
              <a:ext cx="19969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从摘要页开始到论文最后一页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512242" y="4704874"/>
              <a:ext cx="31504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单面：左对齐"重庆大学硕士论文"，右对齐章名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12242" y="4942999"/>
              <a:ext cx="343521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双面：左页居中"重庆大学硕士论文"，右页居中章名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512242" y="5181124"/>
              <a:ext cx="22817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• 字号：五号宋体，页眉下有下划线</a:t>
              </a:r>
            </a:p>
          </p:txBody>
        </p:sp>
        <p:sp>
          <p:nvSpPr>
            <p:cNvPr id="71" name="Line 71"/>
            <p:cNvSpPr/>
            <p:nvPr/>
          </p:nvSpPr>
          <p:spPr>
            <a:xfrm>
              <a:off x="6524625" y="54292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511290" y="5554028"/>
              <a:ext cx="5097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Segoe UI"/>
                  <a:ea typeface="Microsoft YaHei"/>
                  <a:cs typeface="Segoe UI"/>
                </a:rPr>
                <a:t>页码：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131368" y="5562124"/>
              <a:ext cx="23031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阿拉伯数字连续编码，位于页脚中部</a:t>
              </a:r>
            </a:p>
          </p:txBody>
        </p:sp>
      </p:grpSp>
      <p:sp>
        <p:nvSpPr>
          <p:cNvPr id="75" name="Rectangle 75"/>
          <p:cNvSpPr/>
          <p:nvPr/>
        </p:nvSpPr>
        <p:spPr>
          <a:xfrm>
            <a:off x="571500" y="60960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941070" y="63798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重庆大学硕士学位论文撰写格式标准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5913691" y="6475095"/>
            <a:ext cx="3646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10 / 11</a:t>
            </a:r>
          </a:p>
        </p:txBody>
      </p:sp>
    </p:spTree>
  </p:cSld>
  <p:clrMapOvr>
    <a:masterClrMapping/>
  </p:clrMapOvr>
  <p:transition 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F9FC"/>
              </a:gs>
              <a:gs pos="100000">
                <a:srgbClr val="EDF2F7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5F9E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961382" y="217170"/>
            <a:ext cx="226923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格式检查清单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7667" y="601028"/>
            <a:ext cx="26566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论文提交前的自检要点 · 确保格式规范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571500" y="952500"/>
            <a:ext cx="5334000" cy="4953000"/>
            <a:chOff x="571500" y="952500"/>
            <a:chExt cx="5334000" cy="4953000"/>
          </a:xfrm>
        </p:grpSpPr>
        <p:sp>
          <p:nvSpPr>
            <p:cNvPr id="6" name="Freeform 6"/>
            <p:cNvSpPr/>
            <p:nvPr/>
          </p:nvSpPr>
          <p:spPr>
            <a:xfrm>
              <a:off x="571500" y="952500"/>
              <a:ext cx="5334000" cy="4953000"/>
            </a:xfrm>
            <a:custGeom>
              <a:avLst/>
              <a:gdLst/>
              <a:ahLst/>
              <a:cxnLst/>
              <a:rect l="l" t="t" r="r" b="b"/>
              <a:pathLst>
                <a:path w="5334000" h="49530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838700"/>
                  </a:lnTo>
                  <a:cubicBezTo>
                    <a:pt x="5334000" y="4901826"/>
                    <a:pt x="5282826" y="4953000"/>
                    <a:pt x="5219700" y="4953000"/>
                  </a:cubicBezTo>
                  <a:lnTo>
                    <a:pt x="114300" y="4953000"/>
                  </a:lnTo>
                  <a:cubicBezTo>
                    <a:pt x="51174" y="4953000"/>
                    <a:pt x="0" y="4901826"/>
                    <a:pt x="0" y="483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571500" y="952500"/>
              <a:ext cx="5334000" cy="428625"/>
            </a:xfrm>
            <a:custGeom>
              <a:avLst/>
              <a:gdLst/>
              <a:ahLst/>
              <a:cxnLst/>
              <a:rect l="l" t="t" r="r" b="b"/>
              <a:pathLst>
                <a:path w="5334000" h="428625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14325"/>
                  </a:lnTo>
                  <a:cubicBezTo>
                    <a:pt x="5334000" y="377451"/>
                    <a:pt x="5282826" y="428625"/>
                    <a:pt x="5219700" y="428625"/>
                  </a:cubicBezTo>
                  <a:lnTo>
                    <a:pt x="114300" y="428625"/>
                  </a:lnTo>
                  <a:cubicBezTo>
                    <a:pt x="51174" y="428625"/>
                    <a:pt x="0" y="377451"/>
                    <a:pt x="0" y="3143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1A5F9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285875"/>
              <a:ext cx="5334000" cy="95250"/>
            </a:xfrm>
            <a:prstGeom prst="rect">
              <a:avLst/>
            </a:prstGeom>
            <a:solidFill>
              <a:srgbClr val="1A5F9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274212" y="1092518"/>
              <a:ext cx="1928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前置部分 &amp; 结构检查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809625" y="1571625"/>
              <a:ext cx="4857750" cy="366713"/>
              <a:chOff x="809625" y="1571625"/>
              <a:chExt cx="4857750" cy="36671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09625" y="1571625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935355" y="1664018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77290" y="1696402"/>
                <a:ext cx="273334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封面信息完整（分类号、UDC、密级等）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809625" y="2000250"/>
              <a:ext cx="4857750" cy="366712"/>
              <a:chOff x="809625" y="2000250"/>
              <a:chExt cx="4857750" cy="36671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809625" y="2000250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935355" y="20926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77290" y="2125028"/>
                <a:ext cx="15601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中英文题名页对照一致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09625" y="2428875"/>
              <a:ext cx="4857750" cy="366713"/>
              <a:chOff x="809625" y="2428875"/>
              <a:chExt cx="4857750" cy="36671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09625" y="2428875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935355" y="2521268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77290" y="2553652"/>
                <a:ext cx="261066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摘要字数符合要求（硕士600-800字）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09625" y="2857500"/>
              <a:ext cx="4857750" cy="366712"/>
              <a:chOff x="809625" y="2857500"/>
              <a:chExt cx="4857750" cy="366712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809625" y="2857500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35355" y="29498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77290" y="2982278"/>
                <a:ext cx="257998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关键词3-5个，分号间隔，末尾无标点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09625" y="3286125"/>
              <a:ext cx="4857750" cy="366713"/>
              <a:chOff x="809625" y="3286125"/>
              <a:chExt cx="4857750" cy="366713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809625" y="3286125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35355" y="3378518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177290" y="3410902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目次页章节序号使用阿拉伯数字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809625" y="3714750"/>
              <a:ext cx="4857750" cy="366712"/>
              <a:chOff x="809625" y="3714750"/>
              <a:chExt cx="4857750" cy="366712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809625" y="3714750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35355" y="38071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177290" y="3839528"/>
                <a:ext cx="14221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各章后有"本章小结"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09625" y="4143375"/>
              <a:ext cx="4857750" cy="366713"/>
              <a:chOff x="809625" y="4143375"/>
              <a:chExt cx="4857750" cy="366713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09625" y="4143375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35355" y="4235768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177290" y="4268152"/>
                <a:ext cx="21736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结论单独成章，不标注引用文献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09625" y="4572000"/>
              <a:ext cx="4857750" cy="366712"/>
              <a:chOff x="809625" y="4572000"/>
              <a:chExt cx="4857750" cy="366712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09625" y="4572000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35355" y="46643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177290" y="4696778"/>
                <a:ext cx="23422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论文主体字数达标（硕士≥3万字）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809625" y="5000625"/>
              <a:ext cx="4857750" cy="366713"/>
              <a:chOff x="809625" y="5000625"/>
              <a:chExt cx="4857750" cy="366713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809625" y="5000625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935355" y="5093018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177290" y="5125402"/>
                <a:ext cx="30323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参考文献数量达标（硕士≥20篇，外文≥1/3）</a:t>
                </a: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809625" y="5429250"/>
              <a:ext cx="4857750" cy="366712"/>
              <a:chOff x="809625" y="5429250"/>
              <a:chExt cx="4857750" cy="36671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09625" y="5429250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0FFF4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35355" y="55216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38A169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1177290" y="5554028"/>
                <a:ext cx="17595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附录编号使用A、B、C...</a:t>
                </a:r>
              </a:p>
            </p:txBody>
          </p:sp>
        </p:grpSp>
      </p:grpSp>
      <p:grpSp>
        <p:nvGrpSpPr>
          <p:cNvPr id="95" name="Group 95"/>
          <p:cNvGrpSpPr/>
          <p:nvPr/>
        </p:nvGrpSpPr>
        <p:grpSpPr>
          <a:xfrm>
            <a:off x="6286500" y="952500"/>
            <a:ext cx="5334000" cy="4953000"/>
            <a:chOff x="6286500" y="952500"/>
            <a:chExt cx="5334000" cy="4953000"/>
          </a:xfrm>
        </p:grpSpPr>
        <p:sp>
          <p:nvSpPr>
            <p:cNvPr id="51" name="Freeform 51"/>
            <p:cNvSpPr/>
            <p:nvPr/>
          </p:nvSpPr>
          <p:spPr>
            <a:xfrm>
              <a:off x="6286500" y="952500"/>
              <a:ext cx="5334000" cy="4953000"/>
            </a:xfrm>
            <a:custGeom>
              <a:avLst/>
              <a:gdLst/>
              <a:ahLst/>
              <a:cxnLst/>
              <a:rect l="l" t="t" r="r" b="b"/>
              <a:pathLst>
                <a:path w="5334000" h="4953000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4838700"/>
                  </a:lnTo>
                  <a:cubicBezTo>
                    <a:pt x="5334000" y="4901826"/>
                    <a:pt x="5282826" y="4953000"/>
                    <a:pt x="5219700" y="4953000"/>
                  </a:cubicBezTo>
                  <a:lnTo>
                    <a:pt x="114300" y="4953000"/>
                  </a:lnTo>
                  <a:cubicBezTo>
                    <a:pt x="51174" y="4953000"/>
                    <a:pt x="0" y="4901826"/>
                    <a:pt x="0" y="48387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6286500" y="952500"/>
              <a:ext cx="5334000" cy="428625"/>
            </a:xfrm>
            <a:custGeom>
              <a:avLst/>
              <a:gdLst/>
              <a:ahLst/>
              <a:cxnLst/>
              <a:rect l="l" t="t" r="r" b="b"/>
              <a:pathLst>
                <a:path w="5334000" h="428625">
                  <a:moveTo>
                    <a:pt x="114300" y="0"/>
                  </a:moveTo>
                  <a:lnTo>
                    <a:pt x="5219700" y="0"/>
                  </a:lnTo>
                  <a:cubicBezTo>
                    <a:pt x="5282826" y="0"/>
                    <a:pt x="5334000" y="51174"/>
                    <a:pt x="5334000" y="114300"/>
                  </a:cubicBezTo>
                  <a:lnTo>
                    <a:pt x="5334000" y="314325"/>
                  </a:lnTo>
                  <a:cubicBezTo>
                    <a:pt x="5334000" y="377451"/>
                    <a:pt x="5282826" y="428625"/>
                    <a:pt x="5219700" y="428625"/>
                  </a:cubicBezTo>
                  <a:lnTo>
                    <a:pt x="114300" y="428625"/>
                  </a:lnTo>
                  <a:cubicBezTo>
                    <a:pt x="51174" y="428625"/>
                    <a:pt x="0" y="377451"/>
                    <a:pt x="0" y="3143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07C24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86500" y="1285875"/>
              <a:ext cx="5334000" cy="95250"/>
            </a:xfrm>
            <a:prstGeom prst="rect">
              <a:avLst/>
            </a:prstGeom>
            <a:solidFill>
              <a:srgbClr val="E07C24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196237" y="1092518"/>
              <a:ext cx="15145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格式 &amp; 排版检查</a:t>
              </a:r>
            </a:p>
          </p:txBody>
        </p:sp>
        <p:grpSp>
          <p:nvGrpSpPr>
            <p:cNvPr id="58" name="Group 58"/>
            <p:cNvGrpSpPr/>
            <p:nvPr/>
          </p:nvGrpSpPr>
          <p:grpSpPr>
            <a:xfrm>
              <a:off x="6524625" y="1571625"/>
              <a:ext cx="4857750" cy="366713"/>
              <a:chOff x="6524625" y="1571625"/>
              <a:chExt cx="4857750" cy="36671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524625" y="1571625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AF0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6650355" y="1664018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7C24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6892290" y="1696402"/>
                <a:ext cx="29250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页边距设置正确（上30/下25/左右25mm）</a:t>
                </a: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6524625" y="2000250"/>
              <a:ext cx="4857750" cy="366712"/>
              <a:chOff x="6524625" y="2000250"/>
              <a:chExt cx="4857750" cy="366712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524625" y="2000250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AF0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6650355" y="20926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7C24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6892290" y="2125028"/>
                <a:ext cx="23422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正文小四号宋体，行距固定值20磅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6524625" y="2428875"/>
              <a:ext cx="4857750" cy="366713"/>
              <a:chOff x="6524625" y="2428875"/>
              <a:chExt cx="4857750" cy="36671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6524625" y="2428875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AF0"/>
              </a:solidFill>
              <a:ln>
                <a:noFill/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6650355" y="2521268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7C24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6892290" y="2553652"/>
                <a:ext cx="23422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英文和数字使用Times New Roman</a:t>
                </a:r>
              </a:p>
            </p:txBody>
          </p:sp>
        </p:grpSp>
        <p:grpSp>
          <p:nvGrpSpPr>
            <p:cNvPr id="70" name="Group 70"/>
            <p:cNvGrpSpPr/>
            <p:nvPr/>
          </p:nvGrpSpPr>
          <p:grpSpPr>
            <a:xfrm>
              <a:off x="6524625" y="2857500"/>
              <a:ext cx="4857750" cy="366712"/>
              <a:chOff x="6524625" y="2857500"/>
              <a:chExt cx="4857750" cy="366712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524625" y="2857500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AF0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6650355" y="29498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7C24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6892290" y="2982278"/>
                <a:ext cx="271800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页眉页脚格式正确（五号宋体+下划线）</a:t>
                </a: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6524625" y="3286125"/>
              <a:ext cx="4857750" cy="366713"/>
              <a:chOff x="6524625" y="3286125"/>
              <a:chExt cx="4857750" cy="366713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524625" y="3286125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AF0"/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6650355" y="3378518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7C24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6892290" y="3410902"/>
                <a:ext cx="248797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图表编号格式统一（图2.1、表3.2）</a:t>
                </a: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6524625" y="3714750"/>
              <a:ext cx="4857750" cy="366712"/>
              <a:chOff x="6524625" y="3714750"/>
              <a:chExt cx="4857750" cy="366712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524625" y="3714750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AF0"/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6650355" y="38071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7C24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6892290" y="3839528"/>
                <a:ext cx="20202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图题置于图下，表题置于表上</a:t>
                </a: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6524625" y="4143375"/>
              <a:ext cx="4857750" cy="366713"/>
              <a:chOff x="6524625" y="4143375"/>
              <a:chExt cx="4857750" cy="366713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6524625" y="4143375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AF0"/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6650355" y="4235768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7C24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6892290" y="4268152"/>
                <a:ext cx="23269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参考文献格式全文一致（不混用）</a:t>
                </a:r>
              </a:p>
            </p:txBody>
          </p:sp>
        </p:grpSp>
        <p:grpSp>
          <p:nvGrpSpPr>
            <p:cNvPr id="86" name="Group 86"/>
            <p:cNvGrpSpPr/>
            <p:nvPr/>
          </p:nvGrpSpPr>
          <p:grpSpPr>
            <a:xfrm>
              <a:off x="6524625" y="4572000"/>
              <a:ext cx="4857750" cy="366712"/>
              <a:chOff x="6524625" y="4572000"/>
              <a:chExt cx="4857750" cy="366712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6524625" y="4572000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AF0"/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6650355" y="466439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07C24"/>
                    </a:solidFill>
                    <a:latin typeface="Segoe UI"/>
                    <a:ea typeface="Microsoft YaHei"/>
                    <a:cs typeface="Segoe UI"/>
                  </a:rPr>
                  <a:t>✓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6892290" y="4696778"/>
                <a:ext cx="156019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公式序号标注于最右边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6524625" y="5000625"/>
              <a:ext cx="4857750" cy="366713"/>
              <a:chOff x="6524625" y="5000625"/>
              <a:chExt cx="4857750" cy="366713"/>
            </a:xfrm>
          </p:grpSpPr>
          <p:sp>
            <p:nvSpPr>
              <p:cNvPr id="87" name="Freeform 87"/>
              <p:cNvSpPr/>
              <p:nvPr/>
            </p:nvSpPr>
            <p:spPr>
              <a:xfrm>
                <a:off x="6524625" y="5000625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FFF5F5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6650355" y="5093018"/>
                <a:ext cx="934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E53E3E"/>
                    </a:solidFill>
                    <a:latin typeface="Segoe UI"/>
                    <a:ea typeface="Microsoft YaHei"/>
                    <a:cs typeface="Segoe UI"/>
                  </a:rPr>
                  <a:t>!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6892290" y="5125402"/>
                <a:ext cx="26336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双盲格式：隐去作者、导师等个人信息</a:t>
                </a: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6524625" y="5429250"/>
              <a:ext cx="4857750" cy="366712"/>
              <a:chOff x="6524625" y="5429250"/>
              <a:chExt cx="4857750" cy="366712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6524625" y="5429250"/>
                <a:ext cx="4857750" cy="361950"/>
              </a:xfrm>
              <a:custGeom>
                <a:avLst/>
                <a:gdLst/>
                <a:ahLst/>
                <a:cxnLst/>
                <a:rect l="l" t="t" r="r" b="b"/>
                <a:pathLst>
                  <a:path w="4857750" h="361950">
                    <a:moveTo>
                      <a:pt x="57150" y="0"/>
                    </a:moveTo>
                    <a:lnTo>
                      <a:pt x="4800600" y="0"/>
                    </a:lnTo>
                    <a:cubicBezTo>
                      <a:pt x="4832163" y="0"/>
                      <a:pt x="4857750" y="25587"/>
                      <a:pt x="4857750" y="57150"/>
                    </a:cubicBezTo>
                    <a:lnTo>
                      <a:pt x="4857750" y="304800"/>
                    </a:lnTo>
                    <a:cubicBezTo>
                      <a:pt x="4857750" y="336363"/>
                      <a:pt x="4832163" y="361950"/>
                      <a:pt x="4800600" y="361950"/>
                    </a:cubicBezTo>
                    <a:lnTo>
                      <a:pt x="57150" y="361950"/>
                    </a:lnTo>
                    <a:cubicBezTo>
                      <a:pt x="25587" y="361950"/>
                      <a:pt x="0" y="336363"/>
                      <a:pt x="0" y="3048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EBF8FF"/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6650355" y="5521642"/>
                <a:ext cx="1427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A5F9E"/>
                    </a:solidFill>
                    <a:latin typeface="Segoe UI"/>
                    <a:ea typeface="Microsoft YaHei"/>
                    <a:cs typeface="Segoe UI"/>
                  </a:rPr>
                  <a:t>★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6892290" y="5554028"/>
                <a:ext cx="206625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2D3748"/>
                    </a:solidFill>
                    <a:latin typeface="Segoe UI"/>
                    <a:ea typeface="Microsoft YaHei"/>
                    <a:cs typeface="Segoe UI"/>
                  </a:rPr>
                  <a:t>打印：≥70页双面，&lt;70页单面</a:t>
                </a:r>
              </a:p>
            </p:txBody>
          </p:sp>
        </p:grpSp>
      </p:grpSp>
      <p:sp>
        <p:nvSpPr>
          <p:cNvPr id="96" name="Freeform 96"/>
          <p:cNvSpPr/>
          <p:nvPr/>
        </p:nvSpPr>
        <p:spPr>
          <a:xfrm>
            <a:off x="571500" y="6048375"/>
            <a:ext cx="11049000" cy="285750"/>
          </a:xfrm>
          <a:custGeom>
            <a:avLst/>
            <a:gdLst/>
            <a:ahLst/>
            <a:cxnLst/>
            <a:rect l="l" t="t" r="r" b="b"/>
            <a:pathLst>
              <a:path w="11049000" h="285750">
                <a:moveTo>
                  <a:pt x="57150" y="0"/>
                </a:moveTo>
                <a:lnTo>
                  <a:pt x="10991850" y="0"/>
                </a:lnTo>
                <a:cubicBezTo>
                  <a:pt x="11023413" y="0"/>
                  <a:pt x="11049000" y="25587"/>
                  <a:pt x="11049000" y="57150"/>
                </a:cubicBezTo>
                <a:lnTo>
                  <a:pt x="11049000" y="228600"/>
                </a:lnTo>
                <a:cubicBezTo>
                  <a:pt x="11049000" y="260163"/>
                  <a:pt x="11023413" y="285750"/>
                  <a:pt x="10991850" y="285750"/>
                </a:cubicBezTo>
                <a:lnTo>
                  <a:pt x="57150" y="285750"/>
                </a:lnTo>
                <a:cubicBezTo>
                  <a:pt x="25587" y="285750"/>
                  <a:pt x="0" y="260163"/>
                  <a:pt x="0" y="228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A5F9E">
              <a:alpha val="10000"/>
            </a:srgbClr>
          </a:solidFill>
          <a:ln>
            <a:noFill/>
          </a:ln>
        </p:spPr>
      </p:sp>
      <p:sp>
        <p:nvSpPr>
          <p:cNvPr id="97" name="TextBox 97"/>
          <p:cNvSpPr txBox="1"/>
          <p:nvPr/>
        </p:nvSpPr>
        <p:spPr>
          <a:xfrm>
            <a:off x="3859054" y="6135052"/>
            <a:ext cx="44738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1A5F9E"/>
                </a:solidFill>
                <a:latin typeface="Segoe UI"/>
                <a:ea typeface="Microsoft YaHei"/>
                <a:cs typeface="Segoe UI"/>
              </a:rPr>
              <a:t>祝论文撰写顺利！如有疑问请参阅学校最新发布的格式规范文件。</a:t>
            </a:r>
          </a:p>
        </p:txBody>
      </p:sp>
      <p:sp>
        <p:nvSpPr>
          <p:cNvPr id="98" name="Rectangle 98"/>
          <p:cNvSpPr/>
          <p:nvPr/>
        </p:nvSpPr>
        <p:spPr>
          <a:xfrm>
            <a:off x="571500" y="6477000"/>
            <a:ext cx="110490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941070" y="6617970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Segoe UI"/>
                <a:ea typeface="Microsoft YaHei"/>
                <a:cs typeface="Segoe UI"/>
              </a:rPr>
              <a:t>重庆大学硕士学位论文撰写格式标准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930122" y="6617970"/>
            <a:ext cx="3317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11 / 11</a:t>
            </a:r>
          </a:p>
        </p:txBody>
      </p:sp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