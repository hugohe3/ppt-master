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92"/>
  </p:normalViewPr>
  <p:slideViewPr>
    <p:cSldViewPr snapToGrid="0" snapToObjects="1">
      <p:cViewPr varScale="1">
        <p:scale>
          <a:sx n="91" d="100"/>
          <a:sy n="91" d="100"/>
        </p:scale>
        <p:origin x="192" y="6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E2B1F29-50E6-3187-6ACD-82A296266439}"/>
              </a:ext>
            </a:extLst>
          </p:cNvPr>
          <p:cNvPicPr>
            <a:picLocks noChangeAspect="1"/>
          </p:cNvPicPr>
          <p:nvPr/>
        </p:nvPicPr>
        <p:blipFill>
          <a:blip r:embed="rId2"/>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sp>
        <p:nvSpPr>
          <p:cNvPr id="5" name="矩形 4">
            <a:extLst>
              <a:ext uri="{FF2B5EF4-FFF2-40B4-BE49-F238E27FC236}">
                <a16:creationId xmlns:a16="http://schemas.microsoft.com/office/drawing/2014/main" id="{A780FB7C-86FA-9360-CC38-AF256BDD4D9F}"/>
              </a:ext>
            </a:extLst>
          </p:cNvPr>
          <p:cNvSpPr/>
          <p:nvPr/>
        </p:nvSpPr>
        <p:spPr>
          <a:xfrm>
            <a:off x="0" y="0"/>
            <a:ext cx="12192000" cy="6858000"/>
          </a:xfrm>
          <a:prstGeom prst="rect">
            <a:avLst/>
          </a:prstGeom>
          <a:gradFill>
            <a:gsLst>
              <a:gs pos="0">
                <a:srgbClr val="1E3A5F">
                  <a:alpha val="91765"/>
                </a:srgbClr>
              </a:gs>
              <a:gs pos="50000">
                <a:srgbClr val="162B46">
                  <a:alpha val="93333"/>
                </a:srgbClr>
              </a:gs>
              <a:gs pos="100000">
                <a:srgbClr val="0F1C2E">
                  <a:alpha val="94902"/>
                </a:srgbClr>
              </a:gs>
            </a:gsLst>
            <a:lin ang="2700000" scaled="1"/>
          </a:gra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A7267714-9E0A-AA00-8249-19B77523E6B6}"/>
              </a:ext>
            </a:extLst>
          </p:cNvPr>
          <p:cNvSpPr/>
          <p:nvPr/>
        </p:nvSpPr>
        <p:spPr>
          <a:xfrm>
            <a:off x="0" y="0"/>
            <a:ext cx="12192000" cy="38100"/>
          </a:xfrm>
          <a:prstGeom prst="rect">
            <a:avLst/>
          </a:prstGeom>
          <a:solidFill>
            <a:srgbClr val="4A90D9"/>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5BA168A0-4B8E-15EC-5CC2-D584A90DF543}"/>
              </a:ext>
            </a:extLst>
          </p:cNvPr>
          <p:cNvSpPr txBox="1"/>
          <p:nvPr/>
        </p:nvSpPr>
        <p:spPr>
          <a:xfrm>
            <a:off x="480060" y="289431"/>
            <a:ext cx="982980" cy="267438"/>
          </a:xfrm>
          <a:prstGeom prst="rect">
            <a:avLst/>
          </a:prstGeom>
          <a:noFill/>
        </p:spPr>
        <p:txBody>
          <a:bodyPr wrap="none" rtlCol="0">
            <a:spAutoFit/>
          </a:bodyPr>
          <a:lstStyle/>
          <a:p>
            <a:pPr algn="l"/>
            <a:r>
              <a:rPr lang="zh-CN" altLang="en-US" sz="1050" spc="0" baseline="0">
                <a:ln/>
                <a:solidFill>
                  <a:srgbClr val="FFFFFF">
                    <a:alpha val="70000"/>
                  </a:srgbClr>
                </a:solidFill>
                <a:latin typeface="微软雅黑"/>
                <a:ea typeface="微软雅黑"/>
                <a:sym typeface="微软雅黑"/>
                <a:rtl val="0"/>
              </a:rPr>
              <a:t>区域研究报告</a:t>
            </a:r>
          </a:p>
        </p:txBody>
      </p:sp>
      <p:sp>
        <p:nvSpPr>
          <p:cNvPr id="8" name="文本框 7">
            <a:extLst>
              <a:ext uri="{FF2B5EF4-FFF2-40B4-BE49-F238E27FC236}">
                <a16:creationId xmlns:a16="http://schemas.microsoft.com/office/drawing/2014/main" id="{86B7ECE9-E834-A5EA-CD22-B5B6C3CE6DEF}"/>
              </a:ext>
            </a:extLst>
          </p:cNvPr>
          <p:cNvSpPr txBox="1"/>
          <p:nvPr/>
        </p:nvSpPr>
        <p:spPr>
          <a:xfrm>
            <a:off x="4975860" y="1133631"/>
            <a:ext cx="2240280" cy="996575"/>
          </a:xfrm>
          <a:prstGeom prst="rect">
            <a:avLst/>
          </a:prstGeom>
          <a:noFill/>
        </p:spPr>
        <p:txBody>
          <a:bodyPr wrap="none" rtlCol="0">
            <a:spAutoFit/>
          </a:bodyPr>
          <a:lstStyle/>
          <a:p>
            <a:pPr algn="l"/>
            <a:r>
              <a:rPr lang="zh-CN" altLang="en-US" sz="5400" b="1" spc="0" baseline="0">
                <a:ln/>
                <a:solidFill>
                  <a:srgbClr val="FFFFFF"/>
                </a:solidFill>
                <a:latin typeface="微软雅黑"/>
                <a:ea typeface="微软雅黑"/>
                <a:sym typeface="微软雅黑"/>
                <a:rtl val="0"/>
              </a:rPr>
              <a:t>重庆市</a:t>
            </a:r>
          </a:p>
        </p:txBody>
      </p:sp>
      <p:sp>
        <p:nvSpPr>
          <p:cNvPr id="9" name="文本框 8">
            <a:extLst>
              <a:ext uri="{FF2B5EF4-FFF2-40B4-BE49-F238E27FC236}">
                <a16:creationId xmlns:a16="http://schemas.microsoft.com/office/drawing/2014/main" id="{8E55AD46-CC52-7438-C918-497194587449}"/>
              </a:ext>
            </a:extLst>
          </p:cNvPr>
          <p:cNvSpPr txBox="1"/>
          <p:nvPr/>
        </p:nvSpPr>
        <p:spPr>
          <a:xfrm>
            <a:off x="4992910" y="2148583"/>
            <a:ext cx="2206179" cy="443437"/>
          </a:xfrm>
          <a:prstGeom prst="rect">
            <a:avLst/>
          </a:prstGeom>
          <a:noFill/>
        </p:spPr>
        <p:txBody>
          <a:bodyPr wrap="none" rtlCol="0">
            <a:spAutoFit/>
          </a:bodyPr>
          <a:lstStyle/>
          <a:p>
            <a:pPr algn="l"/>
            <a:r>
              <a:rPr lang="zh-CN" altLang="en-US" sz="2100" spc="0" baseline="0">
                <a:ln/>
                <a:solidFill>
                  <a:srgbClr val="FFFFFF">
                    <a:alpha val="85000"/>
                  </a:srgbClr>
                </a:solidFill>
                <a:latin typeface="微软雅黑"/>
                <a:ea typeface="微软雅黑"/>
                <a:sym typeface="微软雅黑"/>
                <a:rtl val="0"/>
              </a:rPr>
              <a:t>2025年·区域报告</a:t>
            </a:r>
          </a:p>
        </p:txBody>
      </p:sp>
      <p:sp>
        <p:nvSpPr>
          <p:cNvPr id="10" name="矩形 9">
            <a:extLst>
              <a:ext uri="{FF2B5EF4-FFF2-40B4-BE49-F238E27FC236}">
                <a16:creationId xmlns:a16="http://schemas.microsoft.com/office/drawing/2014/main" id="{F3D29127-41E2-8B53-27C2-34F64676522E}"/>
              </a:ext>
            </a:extLst>
          </p:cNvPr>
          <p:cNvSpPr/>
          <p:nvPr/>
        </p:nvSpPr>
        <p:spPr>
          <a:xfrm>
            <a:off x="5524500" y="2762250"/>
            <a:ext cx="1143000" cy="28575"/>
          </a:xfrm>
          <a:prstGeom prst="rect">
            <a:avLst/>
          </a:prstGeom>
          <a:solidFill>
            <a:srgbClr val="4A90D9"/>
          </a:solidFill>
          <a:ln w="9525" cap="flat">
            <a:noFill/>
            <a:prstDash val="solid"/>
            <a:miter/>
          </a:ln>
        </p:spPr>
        <p:txBody>
          <a:bodyPr/>
          <a:lstStyle/>
          <a:p>
            <a:endParaRPr lang="zh-CN" altLang="en-US"/>
          </a:p>
        </p:txBody>
      </p:sp>
      <p:grpSp>
        <p:nvGrpSpPr>
          <p:cNvPr id="11" name="SVG Image 1">
            <a:extLst>
              <a:ext uri="{FF2B5EF4-FFF2-40B4-BE49-F238E27FC236}">
                <a16:creationId xmlns:a16="http://schemas.microsoft.com/office/drawing/2014/main" id="{2AFB49EE-AC87-045D-E922-647E89F59DE8}"/>
              </a:ext>
            </a:extLst>
          </p:cNvPr>
          <p:cNvGrpSpPr/>
          <p:nvPr/>
        </p:nvGrpSpPr>
        <p:grpSpPr>
          <a:xfrm>
            <a:off x="762000" y="3619500"/>
            <a:ext cx="2000250" cy="1047750"/>
            <a:chOff x="762000" y="3619500"/>
            <a:chExt cx="2000250" cy="1047750"/>
          </a:xfrm>
        </p:grpSpPr>
        <p:sp>
          <p:nvSpPr>
            <p:cNvPr id="12" name="任意形状 11">
              <a:extLst>
                <a:ext uri="{FF2B5EF4-FFF2-40B4-BE49-F238E27FC236}">
                  <a16:creationId xmlns:a16="http://schemas.microsoft.com/office/drawing/2014/main" id="{DC7D3599-7B15-DCBC-887D-EA1666539DEB}"/>
                </a:ext>
              </a:extLst>
            </p:cNvPr>
            <p:cNvSpPr/>
            <p:nvPr/>
          </p:nvSpPr>
          <p:spPr>
            <a:xfrm>
              <a:off x="76200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alpha val="12000"/>
              </a:srgbClr>
            </a:solidFill>
            <a:ln w="9525" cap="flat">
              <a:noFill/>
              <a:prstDash val="solid"/>
              <a:miter/>
            </a:ln>
          </p:spPr>
          <p:txBody>
            <a:bodyPr/>
            <a:lstStyle/>
            <a:p>
              <a:endParaRPr lang="zh-CN" altLang="en-US"/>
            </a:p>
          </p:txBody>
        </p:sp>
        <p:sp>
          <p:nvSpPr>
            <p:cNvPr id="13" name="任意形状 12">
              <a:extLst>
                <a:ext uri="{FF2B5EF4-FFF2-40B4-BE49-F238E27FC236}">
                  <a16:creationId xmlns:a16="http://schemas.microsoft.com/office/drawing/2014/main" id="{034793A4-C99C-728E-0D5D-51BE3C391082}"/>
                </a:ext>
              </a:extLst>
            </p:cNvPr>
            <p:cNvSpPr/>
            <p:nvPr/>
          </p:nvSpPr>
          <p:spPr>
            <a:xfrm>
              <a:off x="76200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noFill/>
            <a:ln w="9525" cap="flat">
              <a:solidFill>
                <a:srgbClr val="FFFFFF">
                  <a:alpha val="20000"/>
                </a:srgbClr>
              </a:solidFill>
              <a:prstDash val="solid"/>
              <a:miter/>
            </a:ln>
          </p:spPr>
          <p:txBody>
            <a:bodyPr/>
            <a:lstStyle/>
            <a:p>
              <a:endParaRPr lang="zh-CN" altLang="en-US"/>
            </a:p>
          </p:txBody>
        </p:sp>
        <p:sp>
          <p:nvSpPr>
            <p:cNvPr id="14" name="文本框 13">
              <a:extLst>
                <a:ext uri="{FF2B5EF4-FFF2-40B4-BE49-F238E27FC236}">
                  <a16:creationId xmlns:a16="http://schemas.microsoft.com/office/drawing/2014/main" id="{F2840AF2-DE6F-D2AF-F7E7-80D2FEE70553}"/>
                </a:ext>
              </a:extLst>
            </p:cNvPr>
            <p:cNvSpPr txBox="1"/>
            <p:nvPr/>
          </p:nvSpPr>
          <p:spPr>
            <a:xfrm>
              <a:off x="1332463" y="3823760"/>
              <a:ext cx="859322"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2024年GDP</a:t>
              </a:r>
            </a:p>
          </p:txBody>
        </p:sp>
        <p:sp>
          <p:nvSpPr>
            <p:cNvPr id="15" name="文本框 14">
              <a:extLst>
                <a:ext uri="{FF2B5EF4-FFF2-40B4-BE49-F238E27FC236}">
                  <a16:creationId xmlns:a16="http://schemas.microsoft.com/office/drawing/2014/main" id="{ABB8AC0C-8144-CB96-6B87-0F38BBFA30CC}"/>
                </a:ext>
              </a:extLst>
            </p:cNvPr>
            <p:cNvSpPr txBox="1"/>
            <p:nvPr/>
          </p:nvSpPr>
          <p:spPr>
            <a:xfrm>
              <a:off x="832605" y="4020580"/>
              <a:ext cx="1859038"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32,193.15</a:t>
              </a:r>
            </a:p>
          </p:txBody>
        </p:sp>
        <p:sp>
          <p:nvSpPr>
            <p:cNvPr id="16" name="文本框 15">
              <a:extLst>
                <a:ext uri="{FF2B5EF4-FFF2-40B4-BE49-F238E27FC236}">
                  <a16:creationId xmlns:a16="http://schemas.microsoft.com/office/drawing/2014/main" id="{338D5816-BD72-5C31-5ECB-96A99FCA723F}"/>
                </a:ext>
              </a:extLst>
            </p:cNvPr>
            <p:cNvSpPr txBox="1"/>
            <p:nvPr/>
          </p:nvSpPr>
          <p:spPr>
            <a:xfrm>
              <a:off x="1537335" y="4432806"/>
              <a:ext cx="449580"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亿元</a:t>
              </a:r>
            </a:p>
          </p:txBody>
        </p:sp>
      </p:grpSp>
      <p:grpSp>
        <p:nvGrpSpPr>
          <p:cNvPr id="17" name="SVG Image 1">
            <a:extLst>
              <a:ext uri="{FF2B5EF4-FFF2-40B4-BE49-F238E27FC236}">
                <a16:creationId xmlns:a16="http://schemas.microsoft.com/office/drawing/2014/main" id="{F57FD85F-97A5-7A5A-BC9E-5BC32B735AF8}"/>
              </a:ext>
            </a:extLst>
          </p:cNvPr>
          <p:cNvGrpSpPr/>
          <p:nvPr/>
        </p:nvGrpSpPr>
        <p:grpSpPr>
          <a:xfrm>
            <a:off x="2952750" y="3619500"/>
            <a:ext cx="2000250" cy="1047750"/>
            <a:chOff x="2952750" y="3619500"/>
            <a:chExt cx="2000250" cy="1047750"/>
          </a:xfrm>
        </p:grpSpPr>
        <p:sp>
          <p:nvSpPr>
            <p:cNvPr id="18" name="任意形状 17">
              <a:extLst>
                <a:ext uri="{FF2B5EF4-FFF2-40B4-BE49-F238E27FC236}">
                  <a16:creationId xmlns:a16="http://schemas.microsoft.com/office/drawing/2014/main" id="{E6519A8E-2173-75FA-1399-1BA821F77090}"/>
                </a:ext>
              </a:extLst>
            </p:cNvPr>
            <p:cNvSpPr/>
            <p:nvPr/>
          </p:nvSpPr>
          <p:spPr>
            <a:xfrm>
              <a:off x="295275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alpha val="12000"/>
              </a:srgbClr>
            </a:solidFill>
            <a:ln w="9525" cap="flat">
              <a:noFill/>
              <a:prstDash val="solid"/>
              <a:miter/>
            </a:ln>
          </p:spPr>
          <p:txBody>
            <a:bodyPr/>
            <a:lstStyle/>
            <a:p>
              <a:endParaRPr lang="zh-CN" altLang="en-US"/>
            </a:p>
          </p:txBody>
        </p:sp>
        <p:sp>
          <p:nvSpPr>
            <p:cNvPr id="19" name="任意形状 18">
              <a:extLst>
                <a:ext uri="{FF2B5EF4-FFF2-40B4-BE49-F238E27FC236}">
                  <a16:creationId xmlns:a16="http://schemas.microsoft.com/office/drawing/2014/main" id="{2B096FBE-2EA1-08B5-F67B-BAC2B9CE21E1}"/>
                </a:ext>
              </a:extLst>
            </p:cNvPr>
            <p:cNvSpPr/>
            <p:nvPr/>
          </p:nvSpPr>
          <p:spPr>
            <a:xfrm>
              <a:off x="295275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noFill/>
            <a:ln w="9525" cap="flat">
              <a:solidFill>
                <a:srgbClr val="FFFFFF">
                  <a:alpha val="20000"/>
                </a:srgbClr>
              </a:solidFill>
              <a:prstDash val="solid"/>
              <a:miter/>
            </a:ln>
          </p:spPr>
          <p:txBody>
            <a:bodyPr/>
            <a:lstStyle/>
            <a:p>
              <a:endParaRPr lang="zh-CN" altLang="en-US"/>
            </a:p>
          </p:txBody>
        </p:sp>
        <p:sp>
          <p:nvSpPr>
            <p:cNvPr id="20" name="文本框 19">
              <a:extLst>
                <a:ext uri="{FF2B5EF4-FFF2-40B4-BE49-F238E27FC236}">
                  <a16:creationId xmlns:a16="http://schemas.microsoft.com/office/drawing/2014/main" id="{57308CC2-6B91-3EEC-3863-DCBDDFD2107F}"/>
                </a:ext>
              </a:extLst>
            </p:cNvPr>
            <p:cNvSpPr txBox="1"/>
            <p:nvPr/>
          </p:nvSpPr>
          <p:spPr>
            <a:xfrm>
              <a:off x="3366135" y="3823760"/>
              <a:ext cx="11734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一般公共预算收入</a:t>
              </a:r>
            </a:p>
          </p:txBody>
        </p:sp>
        <p:sp>
          <p:nvSpPr>
            <p:cNvPr id="21" name="文本框 20">
              <a:extLst>
                <a:ext uri="{FF2B5EF4-FFF2-40B4-BE49-F238E27FC236}">
                  <a16:creationId xmlns:a16="http://schemas.microsoft.com/office/drawing/2014/main" id="{E540D33E-B586-1293-0663-B602C0C414BF}"/>
                </a:ext>
              </a:extLst>
            </p:cNvPr>
            <p:cNvSpPr txBox="1"/>
            <p:nvPr/>
          </p:nvSpPr>
          <p:spPr>
            <a:xfrm>
              <a:off x="3129089" y="4020580"/>
              <a:ext cx="1647571"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2,595.55</a:t>
              </a:r>
            </a:p>
          </p:txBody>
        </p:sp>
        <p:sp>
          <p:nvSpPr>
            <p:cNvPr id="22" name="文本框 21">
              <a:extLst>
                <a:ext uri="{FF2B5EF4-FFF2-40B4-BE49-F238E27FC236}">
                  <a16:creationId xmlns:a16="http://schemas.microsoft.com/office/drawing/2014/main" id="{0EEDFB2E-0790-2BCC-EB98-2A33B2514AE0}"/>
                </a:ext>
              </a:extLst>
            </p:cNvPr>
            <p:cNvSpPr txBox="1"/>
            <p:nvPr/>
          </p:nvSpPr>
          <p:spPr>
            <a:xfrm>
              <a:off x="3728085" y="4432806"/>
              <a:ext cx="449580"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亿元</a:t>
              </a:r>
            </a:p>
          </p:txBody>
        </p:sp>
      </p:grpSp>
      <p:grpSp>
        <p:nvGrpSpPr>
          <p:cNvPr id="23" name="SVG Image 1">
            <a:extLst>
              <a:ext uri="{FF2B5EF4-FFF2-40B4-BE49-F238E27FC236}">
                <a16:creationId xmlns:a16="http://schemas.microsoft.com/office/drawing/2014/main" id="{449DC021-058B-FDC0-338E-4169603100D8}"/>
              </a:ext>
            </a:extLst>
          </p:cNvPr>
          <p:cNvGrpSpPr/>
          <p:nvPr/>
        </p:nvGrpSpPr>
        <p:grpSpPr>
          <a:xfrm>
            <a:off x="5143500" y="3619500"/>
            <a:ext cx="2000250" cy="1047750"/>
            <a:chOff x="5143500" y="3619500"/>
            <a:chExt cx="2000250" cy="1047750"/>
          </a:xfrm>
        </p:grpSpPr>
        <p:sp>
          <p:nvSpPr>
            <p:cNvPr id="24" name="任意形状 23">
              <a:extLst>
                <a:ext uri="{FF2B5EF4-FFF2-40B4-BE49-F238E27FC236}">
                  <a16:creationId xmlns:a16="http://schemas.microsoft.com/office/drawing/2014/main" id="{A6379434-8B77-16E7-3FB5-73A05969E7D5}"/>
                </a:ext>
              </a:extLst>
            </p:cNvPr>
            <p:cNvSpPr/>
            <p:nvPr/>
          </p:nvSpPr>
          <p:spPr>
            <a:xfrm>
              <a:off x="514350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alpha val="12000"/>
              </a:srgbClr>
            </a:solidFill>
            <a:ln w="9525" cap="flat">
              <a:noFill/>
              <a:prstDash val="solid"/>
              <a:miter/>
            </a:ln>
          </p:spPr>
          <p:txBody>
            <a:bodyPr/>
            <a:lstStyle/>
            <a:p>
              <a:endParaRPr lang="zh-CN" altLang="en-US"/>
            </a:p>
          </p:txBody>
        </p:sp>
        <p:sp>
          <p:nvSpPr>
            <p:cNvPr id="25" name="任意形状 24">
              <a:extLst>
                <a:ext uri="{FF2B5EF4-FFF2-40B4-BE49-F238E27FC236}">
                  <a16:creationId xmlns:a16="http://schemas.microsoft.com/office/drawing/2014/main" id="{B6800123-148E-7241-7003-A000B5775C7A}"/>
                </a:ext>
              </a:extLst>
            </p:cNvPr>
            <p:cNvSpPr/>
            <p:nvPr/>
          </p:nvSpPr>
          <p:spPr>
            <a:xfrm>
              <a:off x="514350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noFill/>
            <a:ln w="9525" cap="flat">
              <a:solidFill>
                <a:srgbClr val="FFFFFF">
                  <a:alpha val="20000"/>
                </a:srgbClr>
              </a:solidFill>
              <a:prstDash val="solid"/>
              <a:miter/>
            </a:ln>
          </p:spPr>
          <p:txBody>
            <a:bodyPr/>
            <a:lstStyle/>
            <a:p>
              <a:endParaRPr lang="zh-CN" altLang="en-US"/>
            </a:p>
          </p:txBody>
        </p:sp>
        <p:sp>
          <p:nvSpPr>
            <p:cNvPr id="26" name="文本框 25">
              <a:extLst>
                <a:ext uri="{FF2B5EF4-FFF2-40B4-BE49-F238E27FC236}">
                  <a16:creationId xmlns:a16="http://schemas.microsoft.com/office/drawing/2014/main" id="{1AAF6EA3-D829-FD98-1529-2A849272A54C}"/>
                </a:ext>
              </a:extLst>
            </p:cNvPr>
            <p:cNvSpPr txBox="1"/>
            <p:nvPr/>
          </p:nvSpPr>
          <p:spPr>
            <a:xfrm>
              <a:off x="5556885" y="3823760"/>
              <a:ext cx="11734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地方政府债务余额</a:t>
              </a:r>
            </a:p>
          </p:txBody>
        </p:sp>
        <p:sp>
          <p:nvSpPr>
            <p:cNvPr id="27" name="文本框 26">
              <a:extLst>
                <a:ext uri="{FF2B5EF4-FFF2-40B4-BE49-F238E27FC236}">
                  <a16:creationId xmlns:a16="http://schemas.microsoft.com/office/drawing/2014/main" id="{85B2170B-60FD-3A00-9B60-F616465B07B3}"/>
                </a:ext>
              </a:extLst>
            </p:cNvPr>
            <p:cNvSpPr txBox="1"/>
            <p:nvPr/>
          </p:nvSpPr>
          <p:spPr>
            <a:xfrm>
              <a:off x="5214105" y="4020580"/>
              <a:ext cx="1859038"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14,425.36</a:t>
              </a:r>
            </a:p>
          </p:txBody>
        </p:sp>
        <p:sp>
          <p:nvSpPr>
            <p:cNvPr id="28" name="文本框 27">
              <a:extLst>
                <a:ext uri="{FF2B5EF4-FFF2-40B4-BE49-F238E27FC236}">
                  <a16:creationId xmlns:a16="http://schemas.microsoft.com/office/drawing/2014/main" id="{26DB4945-06EB-616A-4C82-06D99C5B151D}"/>
                </a:ext>
              </a:extLst>
            </p:cNvPr>
            <p:cNvSpPr txBox="1"/>
            <p:nvPr/>
          </p:nvSpPr>
          <p:spPr>
            <a:xfrm>
              <a:off x="5918835" y="4432806"/>
              <a:ext cx="449580"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亿元</a:t>
              </a:r>
            </a:p>
          </p:txBody>
        </p:sp>
      </p:grpSp>
      <p:grpSp>
        <p:nvGrpSpPr>
          <p:cNvPr id="29" name="SVG Image 1">
            <a:extLst>
              <a:ext uri="{FF2B5EF4-FFF2-40B4-BE49-F238E27FC236}">
                <a16:creationId xmlns:a16="http://schemas.microsoft.com/office/drawing/2014/main" id="{F9AE43BF-6B85-4D08-304D-9FBD421FFFA8}"/>
              </a:ext>
            </a:extLst>
          </p:cNvPr>
          <p:cNvGrpSpPr/>
          <p:nvPr/>
        </p:nvGrpSpPr>
        <p:grpSpPr>
          <a:xfrm>
            <a:off x="7334250" y="3619500"/>
            <a:ext cx="2000250" cy="1047750"/>
            <a:chOff x="7334250" y="3619500"/>
            <a:chExt cx="2000250" cy="1047750"/>
          </a:xfrm>
        </p:grpSpPr>
        <p:sp>
          <p:nvSpPr>
            <p:cNvPr id="30" name="任意形状 29">
              <a:extLst>
                <a:ext uri="{FF2B5EF4-FFF2-40B4-BE49-F238E27FC236}">
                  <a16:creationId xmlns:a16="http://schemas.microsoft.com/office/drawing/2014/main" id="{96843BDE-CC6C-449A-0BA5-CB3C52035421}"/>
                </a:ext>
              </a:extLst>
            </p:cNvPr>
            <p:cNvSpPr/>
            <p:nvPr/>
          </p:nvSpPr>
          <p:spPr>
            <a:xfrm>
              <a:off x="733425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alpha val="12000"/>
              </a:srgbClr>
            </a:solidFill>
            <a:ln w="9525" cap="flat">
              <a:noFill/>
              <a:prstDash val="solid"/>
              <a:miter/>
            </a:ln>
          </p:spPr>
          <p:txBody>
            <a:bodyPr/>
            <a:lstStyle/>
            <a:p>
              <a:endParaRPr lang="zh-CN" altLang="en-US"/>
            </a:p>
          </p:txBody>
        </p:sp>
        <p:sp>
          <p:nvSpPr>
            <p:cNvPr id="31" name="任意形状 30">
              <a:extLst>
                <a:ext uri="{FF2B5EF4-FFF2-40B4-BE49-F238E27FC236}">
                  <a16:creationId xmlns:a16="http://schemas.microsoft.com/office/drawing/2014/main" id="{413215DE-719D-265E-F09F-0F5EAB89B9DC}"/>
                </a:ext>
              </a:extLst>
            </p:cNvPr>
            <p:cNvSpPr/>
            <p:nvPr/>
          </p:nvSpPr>
          <p:spPr>
            <a:xfrm>
              <a:off x="733425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4" y="0"/>
                    <a:pt x="2000250" y="34116"/>
                    <a:pt x="2000250" y="76200"/>
                  </a:cubicBezTo>
                  <a:lnTo>
                    <a:pt x="2000250" y="971550"/>
                  </a:lnTo>
                  <a:cubicBezTo>
                    <a:pt x="2000250" y="1013634"/>
                    <a:pt x="1966134" y="1047750"/>
                    <a:pt x="1924050" y="1047750"/>
                  </a:cubicBezTo>
                  <a:lnTo>
                    <a:pt x="76200" y="1047750"/>
                  </a:lnTo>
                  <a:cubicBezTo>
                    <a:pt x="34116" y="1047750"/>
                    <a:pt x="0" y="1013634"/>
                    <a:pt x="0" y="971550"/>
                  </a:cubicBezTo>
                  <a:lnTo>
                    <a:pt x="0" y="76200"/>
                  </a:lnTo>
                  <a:cubicBezTo>
                    <a:pt x="0" y="34116"/>
                    <a:pt x="34116" y="0"/>
                    <a:pt x="76200" y="0"/>
                  </a:cubicBezTo>
                  <a:close/>
                </a:path>
              </a:pathLst>
            </a:custGeom>
            <a:noFill/>
            <a:ln w="9525" cap="flat">
              <a:solidFill>
                <a:srgbClr val="FFFFFF">
                  <a:alpha val="20000"/>
                </a:srgbClr>
              </a:solidFill>
              <a:prstDash val="solid"/>
              <a:miter/>
            </a:ln>
          </p:spPr>
          <p:txBody>
            <a:bodyPr/>
            <a:lstStyle/>
            <a:p>
              <a:endParaRPr lang="zh-CN" altLang="en-US"/>
            </a:p>
          </p:txBody>
        </p:sp>
        <p:sp>
          <p:nvSpPr>
            <p:cNvPr id="32" name="文本框 31">
              <a:extLst>
                <a:ext uri="{FF2B5EF4-FFF2-40B4-BE49-F238E27FC236}">
                  <a16:creationId xmlns:a16="http://schemas.microsoft.com/office/drawing/2014/main" id="{8625D424-42BE-611B-1CAA-8E2E6E73D233}"/>
                </a:ext>
              </a:extLst>
            </p:cNvPr>
            <p:cNvSpPr txBox="1"/>
            <p:nvPr/>
          </p:nvSpPr>
          <p:spPr>
            <a:xfrm>
              <a:off x="7995285" y="3823760"/>
              <a:ext cx="6781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常住人口</a:t>
              </a:r>
            </a:p>
          </p:txBody>
        </p:sp>
        <p:sp>
          <p:nvSpPr>
            <p:cNvPr id="33" name="文本框 32">
              <a:extLst>
                <a:ext uri="{FF2B5EF4-FFF2-40B4-BE49-F238E27FC236}">
                  <a16:creationId xmlns:a16="http://schemas.microsoft.com/office/drawing/2014/main" id="{600AFEF4-0819-65B3-A63E-C30E5DE351BC}"/>
                </a:ext>
              </a:extLst>
            </p:cNvPr>
            <p:cNvSpPr txBox="1"/>
            <p:nvPr/>
          </p:nvSpPr>
          <p:spPr>
            <a:xfrm>
              <a:off x="7510589" y="4020580"/>
              <a:ext cx="1647571"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3,190.47</a:t>
              </a:r>
            </a:p>
          </p:txBody>
        </p:sp>
        <p:sp>
          <p:nvSpPr>
            <p:cNvPr id="34" name="文本框 33">
              <a:extLst>
                <a:ext uri="{FF2B5EF4-FFF2-40B4-BE49-F238E27FC236}">
                  <a16:creationId xmlns:a16="http://schemas.microsoft.com/office/drawing/2014/main" id="{077E2B14-0055-23C0-9377-BF37282E1E9F}"/>
                </a:ext>
              </a:extLst>
            </p:cNvPr>
            <p:cNvSpPr txBox="1"/>
            <p:nvPr/>
          </p:nvSpPr>
          <p:spPr>
            <a:xfrm>
              <a:off x="8109585" y="4432806"/>
              <a:ext cx="449580"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万人</a:t>
              </a:r>
            </a:p>
          </p:txBody>
        </p:sp>
      </p:grpSp>
      <p:grpSp>
        <p:nvGrpSpPr>
          <p:cNvPr id="35" name="SVG Image 1">
            <a:extLst>
              <a:ext uri="{FF2B5EF4-FFF2-40B4-BE49-F238E27FC236}">
                <a16:creationId xmlns:a16="http://schemas.microsoft.com/office/drawing/2014/main" id="{793C9AB0-5322-B03B-6590-AF35213EDDCB}"/>
              </a:ext>
            </a:extLst>
          </p:cNvPr>
          <p:cNvGrpSpPr/>
          <p:nvPr/>
        </p:nvGrpSpPr>
        <p:grpSpPr>
          <a:xfrm>
            <a:off x="9525000" y="3619500"/>
            <a:ext cx="2000250" cy="1047750"/>
            <a:chOff x="9525000" y="3619500"/>
            <a:chExt cx="2000250" cy="1047750"/>
          </a:xfrm>
        </p:grpSpPr>
        <p:sp>
          <p:nvSpPr>
            <p:cNvPr id="36" name="任意形状 35">
              <a:extLst>
                <a:ext uri="{FF2B5EF4-FFF2-40B4-BE49-F238E27FC236}">
                  <a16:creationId xmlns:a16="http://schemas.microsoft.com/office/drawing/2014/main" id="{3B6B2FD2-AD38-4A83-D477-9DD489671FA3}"/>
                </a:ext>
              </a:extLst>
            </p:cNvPr>
            <p:cNvSpPr/>
            <p:nvPr/>
          </p:nvSpPr>
          <p:spPr>
            <a:xfrm>
              <a:off x="952500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5" y="0"/>
                    <a:pt x="2000250" y="34116"/>
                    <a:pt x="2000250" y="76200"/>
                  </a:cubicBezTo>
                  <a:lnTo>
                    <a:pt x="2000250" y="971550"/>
                  </a:lnTo>
                  <a:cubicBezTo>
                    <a:pt x="2000250" y="1013634"/>
                    <a:pt x="1966135" y="1047750"/>
                    <a:pt x="19240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alpha val="12000"/>
              </a:srgbClr>
            </a:solidFill>
            <a:ln w="9525" cap="flat">
              <a:noFill/>
              <a:prstDash val="solid"/>
              <a:miter/>
            </a:ln>
          </p:spPr>
          <p:txBody>
            <a:bodyPr/>
            <a:lstStyle/>
            <a:p>
              <a:endParaRPr lang="zh-CN" altLang="en-US"/>
            </a:p>
          </p:txBody>
        </p:sp>
        <p:sp>
          <p:nvSpPr>
            <p:cNvPr id="37" name="任意形状 36">
              <a:extLst>
                <a:ext uri="{FF2B5EF4-FFF2-40B4-BE49-F238E27FC236}">
                  <a16:creationId xmlns:a16="http://schemas.microsoft.com/office/drawing/2014/main" id="{730B4CF8-310D-3174-5C71-6C8CA4003FC2}"/>
                </a:ext>
              </a:extLst>
            </p:cNvPr>
            <p:cNvSpPr/>
            <p:nvPr/>
          </p:nvSpPr>
          <p:spPr>
            <a:xfrm>
              <a:off x="9525000" y="3619500"/>
              <a:ext cx="2000250" cy="1047750"/>
            </a:xfrm>
            <a:custGeom>
              <a:avLst/>
              <a:gdLst>
                <a:gd name="csX0" fmla="*/ 76200 w 2000250"/>
                <a:gd name="csY0" fmla="*/ 0 h 1047750"/>
                <a:gd name="csX1" fmla="*/ 1924050 w 2000250"/>
                <a:gd name="csY1" fmla="*/ 0 h 1047750"/>
                <a:gd name="csX2" fmla="*/ 2000250 w 2000250"/>
                <a:gd name="csY2" fmla="*/ 76200 h 1047750"/>
                <a:gd name="csX3" fmla="*/ 2000250 w 2000250"/>
                <a:gd name="csY3" fmla="*/ 971550 h 1047750"/>
                <a:gd name="csX4" fmla="*/ 1924050 w 2000250"/>
                <a:gd name="csY4" fmla="*/ 1047750 h 1047750"/>
                <a:gd name="csX5" fmla="*/ 76200 w 2000250"/>
                <a:gd name="csY5" fmla="*/ 1047750 h 1047750"/>
                <a:gd name="csX6" fmla="*/ 0 w 2000250"/>
                <a:gd name="csY6" fmla="*/ 971550 h 1047750"/>
                <a:gd name="csX7" fmla="*/ 0 w 2000250"/>
                <a:gd name="csY7" fmla="*/ 76200 h 1047750"/>
                <a:gd name="csX8" fmla="*/ 76200 w 20002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0250" h="1047750">
                  <a:moveTo>
                    <a:pt x="76200" y="0"/>
                  </a:moveTo>
                  <a:lnTo>
                    <a:pt x="1924050" y="0"/>
                  </a:lnTo>
                  <a:cubicBezTo>
                    <a:pt x="1966135" y="0"/>
                    <a:pt x="2000250" y="34116"/>
                    <a:pt x="2000250" y="76200"/>
                  </a:cubicBezTo>
                  <a:lnTo>
                    <a:pt x="2000250" y="971550"/>
                  </a:lnTo>
                  <a:cubicBezTo>
                    <a:pt x="2000250" y="1013634"/>
                    <a:pt x="1966135" y="1047750"/>
                    <a:pt x="1924050" y="1047750"/>
                  </a:cubicBezTo>
                  <a:lnTo>
                    <a:pt x="76200" y="1047750"/>
                  </a:lnTo>
                  <a:cubicBezTo>
                    <a:pt x="34116" y="1047750"/>
                    <a:pt x="0" y="1013634"/>
                    <a:pt x="0" y="971550"/>
                  </a:cubicBezTo>
                  <a:lnTo>
                    <a:pt x="0" y="76200"/>
                  </a:lnTo>
                  <a:cubicBezTo>
                    <a:pt x="0" y="34116"/>
                    <a:pt x="34116" y="0"/>
                    <a:pt x="76200" y="0"/>
                  </a:cubicBezTo>
                  <a:close/>
                </a:path>
              </a:pathLst>
            </a:custGeom>
            <a:noFill/>
            <a:ln w="9525" cap="flat">
              <a:solidFill>
                <a:srgbClr val="FFFFFF">
                  <a:alpha val="20000"/>
                </a:srgbClr>
              </a:solidFill>
              <a:prstDash val="solid"/>
              <a:miter/>
            </a:ln>
          </p:spPr>
          <p:txBody>
            <a:bodyPr/>
            <a:lstStyle/>
            <a:p>
              <a:endParaRPr lang="zh-CN" altLang="en-US"/>
            </a:p>
          </p:txBody>
        </p:sp>
        <p:sp>
          <p:nvSpPr>
            <p:cNvPr id="38" name="文本框 37">
              <a:extLst>
                <a:ext uri="{FF2B5EF4-FFF2-40B4-BE49-F238E27FC236}">
                  <a16:creationId xmlns:a16="http://schemas.microsoft.com/office/drawing/2014/main" id="{EF3CA5B4-806B-2202-DC58-728A99254138}"/>
                </a:ext>
              </a:extLst>
            </p:cNvPr>
            <p:cNvSpPr txBox="1"/>
            <p:nvPr/>
          </p:nvSpPr>
          <p:spPr>
            <a:xfrm>
              <a:off x="10186035" y="3823760"/>
              <a:ext cx="6781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城投平台</a:t>
              </a:r>
            </a:p>
          </p:txBody>
        </p:sp>
        <p:sp>
          <p:nvSpPr>
            <p:cNvPr id="39" name="文本框 38">
              <a:extLst>
                <a:ext uri="{FF2B5EF4-FFF2-40B4-BE49-F238E27FC236}">
                  <a16:creationId xmlns:a16="http://schemas.microsoft.com/office/drawing/2014/main" id="{45BA68DE-8B10-06C1-9121-4141883EE401}"/>
                </a:ext>
              </a:extLst>
            </p:cNvPr>
            <p:cNvSpPr txBox="1"/>
            <p:nvPr/>
          </p:nvSpPr>
          <p:spPr>
            <a:xfrm>
              <a:off x="10116485" y="4020580"/>
              <a:ext cx="817278"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375</a:t>
              </a:r>
            </a:p>
          </p:txBody>
        </p:sp>
        <p:sp>
          <p:nvSpPr>
            <p:cNvPr id="40" name="文本框 39">
              <a:extLst>
                <a:ext uri="{FF2B5EF4-FFF2-40B4-BE49-F238E27FC236}">
                  <a16:creationId xmlns:a16="http://schemas.microsoft.com/office/drawing/2014/main" id="{C92F0C3B-DFFA-AE45-D4C6-5A5B41A8A3C7}"/>
                </a:ext>
              </a:extLst>
            </p:cNvPr>
            <p:cNvSpPr txBox="1"/>
            <p:nvPr/>
          </p:nvSpPr>
          <p:spPr>
            <a:xfrm>
              <a:off x="10367010" y="4432806"/>
              <a:ext cx="316230"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家</a:t>
              </a:r>
            </a:p>
          </p:txBody>
        </p:sp>
      </p:grpSp>
      <p:sp>
        <p:nvSpPr>
          <p:cNvPr id="41" name="文本框 40">
            <a:extLst>
              <a:ext uri="{FF2B5EF4-FFF2-40B4-BE49-F238E27FC236}">
                <a16:creationId xmlns:a16="http://schemas.microsoft.com/office/drawing/2014/main" id="{F409A589-8FBF-D648-061F-B02CFC56062E}"/>
              </a:ext>
            </a:extLst>
          </p:cNvPr>
          <p:cNvSpPr txBox="1"/>
          <p:nvPr/>
        </p:nvSpPr>
        <p:spPr>
          <a:xfrm>
            <a:off x="4798126" y="5147181"/>
            <a:ext cx="2595746" cy="267438"/>
          </a:xfrm>
          <a:prstGeom prst="rect">
            <a:avLst/>
          </a:prstGeom>
          <a:noFill/>
        </p:spPr>
        <p:txBody>
          <a:bodyPr wrap="none" rtlCol="0">
            <a:spAutoFit/>
          </a:bodyPr>
          <a:lstStyle/>
          <a:p>
            <a:pPr algn="l"/>
            <a:r>
              <a:rPr lang="zh-CN" altLang="en-US" sz="1050" spc="0" baseline="0">
                <a:ln/>
                <a:solidFill>
                  <a:srgbClr val="FFFFFF">
                    <a:alpha val="60000"/>
                  </a:srgbClr>
                </a:solidFill>
                <a:latin typeface="微软雅黑"/>
                <a:ea typeface="微软雅黑"/>
                <a:sym typeface="微软雅黑"/>
                <a:rtl val="0"/>
              </a:rPr>
              <a:t>下属辖区 38个 | 总面积 82,400 平方千米</a:t>
            </a:r>
          </a:p>
        </p:txBody>
      </p:sp>
      <p:sp>
        <p:nvSpPr>
          <p:cNvPr id="42" name="文本框 41">
            <a:extLst>
              <a:ext uri="{FF2B5EF4-FFF2-40B4-BE49-F238E27FC236}">
                <a16:creationId xmlns:a16="http://schemas.microsoft.com/office/drawing/2014/main" id="{89728BF5-CC36-2759-49D4-4D0C221799EC}"/>
              </a:ext>
            </a:extLst>
          </p:cNvPr>
          <p:cNvSpPr txBox="1"/>
          <p:nvPr/>
        </p:nvSpPr>
        <p:spPr>
          <a:xfrm>
            <a:off x="4839877" y="6310338"/>
            <a:ext cx="2512244" cy="242295"/>
          </a:xfrm>
          <a:prstGeom prst="rect">
            <a:avLst/>
          </a:prstGeom>
          <a:noFill/>
        </p:spPr>
        <p:txBody>
          <a:bodyPr wrap="none" rtlCol="0">
            <a:spAutoFit/>
          </a:bodyPr>
          <a:lstStyle/>
          <a:p>
            <a:pPr algn="l"/>
            <a:r>
              <a:rPr lang="zh-CN" altLang="en-US" sz="900" spc="0" baseline="0">
                <a:ln/>
                <a:solidFill>
                  <a:srgbClr val="FFFFFF">
                    <a:alpha val="50000"/>
                  </a:srgbClr>
                </a:solidFill>
                <a:latin typeface="微软雅黑"/>
                <a:ea typeface="微软雅黑"/>
                <a:sym typeface="微软雅黑"/>
                <a:rtl val="0"/>
              </a:rPr>
              <a:t>数据来源：企业预警通 | 数据截至2024年12月</a:t>
            </a:r>
          </a:p>
        </p:txBody>
      </p:sp>
      <p:sp>
        <p:nvSpPr>
          <p:cNvPr id="43" name="矩形 42">
            <a:extLst>
              <a:ext uri="{FF2B5EF4-FFF2-40B4-BE49-F238E27FC236}">
                <a16:creationId xmlns:a16="http://schemas.microsoft.com/office/drawing/2014/main" id="{2A79F1BF-82BF-9DF4-43BC-BB126C8D37CF}"/>
              </a:ext>
            </a:extLst>
          </p:cNvPr>
          <p:cNvSpPr/>
          <p:nvPr/>
        </p:nvSpPr>
        <p:spPr>
          <a:xfrm>
            <a:off x="0" y="6819900"/>
            <a:ext cx="12192000" cy="38100"/>
          </a:xfrm>
          <a:prstGeom prst="rect">
            <a:avLst/>
          </a:prstGeom>
          <a:solidFill>
            <a:srgbClr val="4A90D9"/>
          </a:solidFill>
          <a:ln w="9525" cap="flat">
            <a:noFill/>
            <a:prstDash val="solid"/>
            <a:miter/>
          </a:ln>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9D29414-B754-72EA-7288-8E1A8EF87676}"/>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9ECCDA0E-EDFE-6951-66B2-8F5FF6FCB7ED}"/>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EC6DB931-9669-7ECB-4354-A1D50B67705D}"/>
              </a:ext>
            </a:extLst>
          </p:cNvPr>
          <p:cNvSpPr/>
          <p:nvPr/>
        </p:nvSpPr>
        <p:spPr>
          <a:xfrm>
            <a:off x="0" y="0"/>
            <a:ext cx="12192000" cy="5715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1F9184D6-AA5C-A401-D007-481EF2362A12}"/>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文本框 7">
            <a:extLst>
              <a:ext uri="{FF2B5EF4-FFF2-40B4-BE49-F238E27FC236}">
                <a16:creationId xmlns:a16="http://schemas.microsoft.com/office/drawing/2014/main" id="{D453F4A5-8CF9-4DD3-75AF-F5DD2ADE2A02}"/>
              </a:ext>
            </a:extLst>
          </p:cNvPr>
          <p:cNvSpPr txBox="1"/>
          <p:nvPr/>
        </p:nvSpPr>
        <p:spPr>
          <a:xfrm>
            <a:off x="11262360" y="175131"/>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目录</a:t>
            </a:r>
          </a:p>
        </p:txBody>
      </p:sp>
      <p:sp>
        <p:nvSpPr>
          <p:cNvPr id="9" name="矩形 8">
            <a:extLst>
              <a:ext uri="{FF2B5EF4-FFF2-40B4-BE49-F238E27FC236}">
                <a16:creationId xmlns:a16="http://schemas.microsoft.com/office/drawing/2014/main" id="{7A7A824B-384D-32C4-CFC8-909EA33537FC}"/>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0" name="文本框 9">
            <a:extLst>
              <a:ext uri="{FF2B5EF4-FFF2-40B4-BE49-F238E27FC236}">
                <a16:creationId xmlns:a16="http://schemas.microsoft.com/office/drawing/2014/main" id="{02952AD2-779D-9241-E2C1-408DB7356051}"/>
              </a:ext>
            </a:extLst>
          </p:cNvPr>
          <p:cNvSpPr txBox="1"/>
          <p:nvPr/>
        </p:nvSpPr>
        <p:spPr>
          <a:xfrm>
            <a:off x="5610593" y="734455"/>
            <a:ext cx="970813"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目 录</a:t>
            </a:r>
          </a:p>
        </p:txBody>
      </p:sp>
      <p:sp>
        <p:nvSpPr>
          <p:cNvPr id="11" name="矩形 10">
            <a:extLst>
              <a:ext uri="{FF2B5EF4-FFF2-40B4-BE49-F238E27FC236}">
                <a16:creationId xmlns:a16="http://schemas.microsoft.com/office/drawing/2014/main" id="{330AD817-746C-5CE0-94F6-594F57494A81}"/>
              </a:ext>
            </a:extLst>
          </p:cNvPr>
          <p:cNvSpPr/>
          <p:nvPr/>
        </p:nvSpPr>
        <p:spPr>
          <a:xfrm>
            <a:off x="5715000" y="1285875"/>
            <a:ext cx="762000" cy="28575"/>
          </a:xfrm>
          <a:prstGeom prst="rect">
            <a:avLst/>
          </a:prstGeom>
          <a:solidFill>
            <a:srgbClr val="4A90D9"/>
          </a:solidFill>
          <a:ln w="9525" cap="flat">
            <a:noFill/>
            <a:prstDash val="solid"/>
            <a:miter/>
          </a:ln>
        </p:spPr>
        <p:txBody>
          <a:bodyPr/>
          <a:lstStyle/>
          <a:p>
            <a:endParaRPr lang="zh-CN" altLang="en-US"/>
          </a:p>
        </p:txBody>
      </p:sp>
      <p:grpSp>
        <p:nvGrpSpPr>
          <p:cNvPr id="12" name="SVG Image 2">
            <a:extLst>
              <a:ext uri="{FF2B5EF4-FFF2-40B4-BE49-F238E27FC236}">
                <a16:creationId xmlns:a16="http://schemas.microsoft.com/office/drawing/2014/main" id="{A00B9BB0-CBA3-7E72-8924-93C7EB486BD1}"/>
              </a:ext>
            </a:extLst>
          </p:cNvPr>
          <p:cNvGrpSpPr/>
          <p:nvPr/>
        </p:nvGrpSpPr>
        <p:grpSpPr>
          <a:xfrm>
            <a:off x="762000" y="1714500"/>
            <a:ext cx="3333750" cy="1143000"/>
            <a:chOff x="762000" y="1714500"/>
            <a:chExt cx="3333750" cy="1143000"/>
          </a:xfrm>
        </p:grpSpPr>
        <p:sp>
          <p:nvSpPr>
            <p:cNvPr id="13" name="任意形状 12">
              <a:extLst>
                <a:ext uri="{FF2B5EF4-FFF2-40B4-BE49-F238E27FC236}">
                  <a16:creationId xmlns:a16="http://schemas.microsoft.com/office/drawing/2014/main" id="{16921D2D-CE77-EE00-817B-B0A389F0B4E4}"/>
                </a:ext>
              </a:extLst>
            </p:cNvPr>
            <p:cNvSpPr/>
            <p:nvPr/>
          </p:nvSpPr>
          <p:spPr>
            <a:xfrm>
              <a:off x="762000" y="171450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4" y="0"/>
                    <a:pt x="3333750" y="34116"/>
                    <a:pt x="3333750" y="76200"/>
                  </a:cubicBezTo>
                  <a:lnTo>
                    <a:pt x="3333750" y="1066800"/>
                  </a:lnTo>
                  <a:cubicBezTo>
                    <a:pt x="3333750" y="1108884"/>
                    <a:pt x="3299634"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4" name="任意形状 13">
              <a:extLst>
                <a:ext uri="{FF2B5EF4-FFF2-40B4-BE49-F238E27FC236}">
                  <a16:creationId xmlns:a16="http://schemas.microsoft.com/office/drawing/2014/main" id="{DFD7F2D4-E27C-5B9D-9BE3-94D1304C67A5}"/>
                </a:ext>
              </a:extLst>
            </p:cNvPr>
            <p:cNvSpPr/>
            <p:nvPr/>
          </p:nvSpPr>
          <p:spPr>
            <a:xfrm>
              <a:off x="762000" y="171450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4A90D9"/>
            </a:solidFill>
            <a:ln w="9525" cap="flat">
              <a:noFill/>
              <a:prstDash val="solid"/>
              <a:miter/>
            </a:ln>
          </p:spPr>
          <p:txBody>
            <a:bodyPr/>
            <a:lstStyle/>
            <a:p>
              <a:endParaRPr lang="zh-CN" altLang="en-US"/>
            </a:p>
          </p:txBody>
        </p:sp>
        <p:sp>
          <p:nvSpPr>
            <p:cNvPr id="15" name="文本框 14">
              <a:extLst>
                <a:ext uri="{FF2B5EF4-FFF2-40B4-BE49-F238E27FC236}">
                  <a16:creationId xmlns:a16="http://schemas.microsoft.com/office/drawing/2014/main" id="{5E698CBB-313F-B916-B44E-61A24488527A}"/>
                </a:ext>
              </a:extLst>
            </p:cNvPr>
            <p:cNvSpPr txBox="1"/>
            <p:nvPr/>
          </p:nvSpPr>
          <p:spPr>
            <a:xfrm>
              <a:off x="956310" y="1727269"/>
              <a:ext cx="558819" cy="493722"/>
            </a:xfrm>
            <a:prstGeom prst="rect">
              <a:avLst/>
            </a:prstGeom>
            <a:noFill/>
          </p:spPr>
          <p:txBody>
            <a:bodyPr wrap="none" rtlCol="0">
              <a:spAutoFit/>
            </a:bodyPr>
            <a:lstStyle/>
            <a:p>
              <a:pPr algn="l"/>
              <a:r>
                <a:rPr lang="zh-CN" altLang="en-US" sz="2400" b="1" spc="0" baseline="0">
                  <a:ln/>
                  <a:solidFill>
                    <a:srgbClr val="4A90D9"/>
                  </a:solidFill>
                  <a:latin typeface="微软雅黑"/>
                  <a:ea typeface="微软雅黑"/>
                  <a:sym typeface="微软雅黑"/>
                  <a:rtl val="0"/>
                </a:rPr>
                <a:t>01</a:t>
              </a:r>
            </a:p>
          </p:txBody>
        </p:sp>
        <p:sp>
          <p:nvSpPr>
            <p:cNvPr id="16" name="文本框 15">
              <a:extLst>
                <a:ext uri="{FF2B5EF4-FFF2-40B4-BE49-F238E27FC236}">
                  <a16:creationId xmlns:a16="http://schemas.microsoft.com/office/drawing/2014/main" id="{A8571DEE-A81A-02F7-BBDE-884AC1D60E01}"/>
                </a:ext>
              </a:extLst>
            </p:cNvPr>
            <p:cNvSpPr txBox="1"/>
            <p:nvPr/>
          </p:nvSpPr>
          <p:spPr>
            <a:xfrm>
              <a:off x="1527810" y="1848210"/>
              <a:ext cx="9448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经济情况</a:t>
              </a:r>
            </a:p>
          </p:txBody>
        </p:sp>
        <p:sp>
          <p:nvSpPr>
            <p:cNvPr id="17" name="文本框 16">
              <a:extLst>
                <a:ext uri="{FF2B5EF4-FFF2-40B4-BE49-F238E27FC236}">
                  <a16:creationId xmlns:a16="http://schemas.microsoft.com/office/drawing/2014/main" id="{E6F39839-A578-884E-9FA7-6D0C6271F31E}"/>
                </a:ext>
              </a:extLst>
            </p:cNvPr>
            <p:cNvSpPr txBox="1"/>
            <p:nvPr/>
          </p:nvSpPr>
          <p:spPr>
            <a:xfrm>
              <a:off x="956310" y="2252135"/>
              <a:ext cx="1710437"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GDP 32,193亿 | 增速5.70%</a:t>
              </a:r>
            </a:p>
          </p:txBody>
        </p:sp>
        <p:sp>
          <p:nvSpPr>
            <p:cNvPr id="18" name="文本框 17">
              <a:extLst>
                <a:ext uri="{FF2B5EF4-FFF2-40B4-BE49-F238E27FC236}">
                  <a16:creationId xmlns:a16="http://schemas.microsoft.com/office/drawing/2014/main" id="{BFFDE0AF-44C0-76AF-B82B-79F9583CFA83}"/>
                </a:ext>
              </a:extLst>
            </p:cNvPr>
            <p:cNvSpPr txBox="1"/>
            <p:nvPr/>
          </p:nvSpPr>
          <p:spPr>
            <a:xfrm>
              <a:off x="956310" y="2442635"/>
              <a:ext cx="82340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全国第17位</a:t>
              </a:r>
            </a:p>
          </p:txBody>
        </p:sp>
      </p:grpSp>
      <p:grpSp>
        <p:nvGrpSpPr>
          <p:cNvPr id="19" name="SVG Image 2">
            <a:extLst>
              <a:ext uri="{FF2B5EF4-FFF2-40B4-BE49-F238E27FC236}">
                <a16:creationId xmlns:a16="http://schemas.microsoft.com/office/drawing/2014/main" id="{97683CCE-CEA4-B423-3004-11EC9A536A4D}"/>
              </a:ext>
            </a:extLst>
          </p:cNvPr>
          <p:cNvGrpSpPr/>
          <p:nvPr/>
        </p:nvGrpSpPr>
        <p:grpSpPr>
          <a:xfrm>
            <a:off x="4429125" y="1714500"/>
            <a:ext cx="3333750" cy="1143000"/>
            <a:chOff x="4429125" y="1714500"/>
            <a:chExt cx="3333750" cy="1143000"/>
          </a:xfrm>
        </p:grpSpPr>
        <p:sp>
          <p:nvSpPr>
            <p:cNvPr id="20" name="任意形状 19">
              <a:extLst>
                <a:ext uri="{FF2B5EF4-FFF2-40B4-BE49-F238E27FC236}">
                  <a16:creationId xmlns:a16="http://schemas.microsoft.com/office/drawing/2014/main" id="{2F02EDCB-800E-C94C-2226-94556AA62912}"/>
                </a:ext>
              </a:extLst>
            </p:cNvPr>
            <p:cNvSpPr/>
            <p:nvPr/>
          </p:nvSpPr>
          <p:spPr>
            <a:xfrm>
              <a:off x="4429125" y="171450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4" y="0"/>
                    <a:pt x="3333750" y="34116"/>
                    <a:pt x="3333750" y="76200"/>
                  </a:cubicBezTo>
                  <a:lnTo>
                    <a:pt x="3333750" y="1066800"/>
                  </a:lnTo>
                  <a:cubicBezTo>
                    <a:pt x="3333750" y="1108884"/>
                    <a:pt x="3299634"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1" name="任意形状 20">
              <a:extLst>
                <a:ext uri="{FF2B5EF4-FFF2-40B4-BE49-F238E27FC236}">
                  <a16:creationId xmlns:a16="http://schemas.microsoft.com/office/drawing/2014/main" id="{A13F9728-6166-F45A-DCDC-D9F609B51A68}"/>
                </a:ext>
              </a:extLst>
            </p:cNvPr>
            <p:cNvSpPr/>
            <p:nvPr/>
          </p:nvSpPr>
          <p:spPr>
            <a:xfrm>
              <a:off x="4429125" y="171450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4A90D9"/>
            </a:solidFill>
            <a:ln w="9525" cap="flat">
              <a:noFill/>
              <a:prstDash val="solid"/>
              <a:miter/>
            </a:ln>
          </p:spPr>
          <p:txBody>
            <a:bodyPr/>
            <a:lstStyle/>
            <a:p>
              <a:endParaRPr lang="zh-CN" altLang="en-US"/>
            </a:p>
          </p:txBody>
        </p:sp>
        <p:sp>
          <p:nvSpPr>
            <p:cNvPr id="22" name="文本框 21">
              <a:extLst>
                <a:ext uri="{FF2B5EF4-FFF2-40B4-BE49-F238E27FC236}">
                  <a16:creationId xmlns:a16="http://schemas.microsoft.com/office/drawing/2014/main" id="{42655AE4-6937-ED82-D012-DE18A05880BA}"/>
                </a:ext>
              </a:extLst>
            </p:cNvPr>
            <p:cNvSpPr txBox="1"/>
            <p:nvPr/>
          </p:nvSpPr>
          <p:spPr>
            <a:xfrm>
              <a:off x="4623435" y="1727269"/>
              <a:ext cx="558819" cy="493722"/>
            </a:xfrm>
            <a:prstGeom prst="rect">
              <a:avLst/>
            </a:prstGeom>
            <a:noFill/>
          </p:spPr>
          <p:txBody>
            <a:bodyPr wrap="none" rtlCol="0">
              <a:spAutoFit/>
            </a:bodyPr>
            <a:lstStyle/>
            <a:p>
              <a:pPr algn="l"/>
              <a:r>
                <a:rPr lang="zh-CN" altLang="en-US" sz="2400" b="1" spc="0" baseline="0">
                  <a:ln/>
                  <a:solidFill>
                    <a:srgbClr val="4A90D9"/>
                  </a:solidFill>
                  <a:latin typeface="微软雅黑"/>
                  <a:ea typeface="微软雅黑"/>
                  <a:sym typeface="微软雅黑"/>
                  <a:rtl val="0"/>
                </a:rPr>
                <a:t>02</a:t>
              </a:r>
            </a:p>
          </p:txBody>
        </p:sp>
        <p:sp>
          <p:nvSpPr>
            <p:cNvPr id="23" name="文本框 22">
              <a:extLst>
                <a:ext uri="{FF2B5EF4-FFF2-40B4-BE49-F238E27FC236}">
                  <a16:creationId xmlns:a16="http://schemas.microsoft.com/office/drawing/2014/main" id="{5475BFB7-3499-16E1-D238-4EE000F78852}"/>
                </a:ext>
              </a:extLst>
            </p:cNvPr>
            <p:cNvSpPr txBox="1"/>
            <p:nvPr/>
          </p:nvSpPr>
          <p:spPr>
            <a:xfrm>
              <a:off x="5194935" y="1848210"/>
              <a:ext cx="11353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财政及债务</a:t>
              </a:r>
            </a:p>
          </p:txBody>
        </p:sp>
        <p:sp>
          <p:nvSpPr>
            <p:cNvPr id="24" name="文本框 23">
              <a:extLst>
                <a:ext uri="{FF2B5EF4-FFF2-40B4-BE49-F238E27FC236}">
                  <a16:creationId xmlns:a16="http://schemas.microsoft.com/office/drawing/2014/main" id="{54066125-ED85-F8EC-B9D5-6B4FE49B551C}"/>
                </a:ext>
              </a:extLst>
            </p:cNvPr>
            <p:cNvSpPr txBox="1"/>
            <p:nvPr/>
          </p:nvSpPr>
          <p:spPr>
            <a:xfrm>
              <a:off x="4623435" y="2252135"/>
              <a:ext cx="165420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一般公共预算收入 2,595亿</a:t>
              </a:r>
            </a:p>
          </p:txBody>
        </p:sp>
        <p:sp>
          <p:nvSpPr>
            <p:cNvPr id="25" name="文本框 24">
              <a:extLst>
                <a:ext uri="{FF2B5EF4-FFF2-40B4-BE49-F238E27FC236}">
                  <a16:creationId xmlns:a16="http://schemas.microsoft.com/office/drawing/2014/main" id="{B5560E8D-743D-EF6E-F05E-C558E1635130}"/>
                </a:ext>
              </a:extLst>
            </p:cNvPr>
            <p:cNvSpPr txBox="1"/>
            <p:nvPr/>
          </p:nvSpPr>
          <p:spPr>
            <a:xfrm>
              <a:off x="4623435" y="2442635"/>
              <a:ext cx="1269069"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财政自给率 46.17%</a:t>
              </a:r>
            </a:p>
          </p:txBody>
        </p:sp>
      </p:grpSp>
      <p:grpSp>
        <p:nvGrpSpPr>
          <p:cNvPr id="26" name="SVG Image 2">
            <a:extLst>
              <a:ext uri="{FF2B5EF4-FFF2-40B4-BE49-F238E27FC236}">
                <a16:creationId xmlns:a16="http://schemas.microsoft.com/office/drawing/2014/main" id="{0769AE45-4673-290F-22EF-09C1B7AF8852}"/>
              </a:ext>
            </a:extLst>
          </p:cNvPr>
          <p:cNvGrpSpPr/>
          <p:nvPr/>
        </p:nvGrpSpPr>
        <p:grpSpPr>
          <a:xfrm>
            <a:off x="8096250" y="1714500"/>
            <a:ext cx="3333750" cy="1143000"/>
            <a:chOff x="8096250" y="1714500"/>
            <a:chExt cx="3333750" cy="1143000"/>
          </a:xfrm>
        </p:grpSpPr>
        <p:sp>
          <p:nvSpPr>
            <p:cNvPr id="27" name="任意形状 26">
              <a:extLst>
                <a:ext uri="{FF2B5EF4-FFF2-40B4-BE49-F238E27FC236}">
                  <a16:creationId xmlns:a16="http://schemas.microsoft.com/office/drawing/2014/main" id="{CAB20BE7-3DA4-C4A2-7CA3-6A4F4DAB26FF}"/>
                </a:ext>
              </a:extLst>
            </p:cNvPr>
            <p:cNvSpPr/>
            <p:nvPr/>
          </p:nvSpPr>
          <p:spPr>
            <a:xfrm>
              <a:off x="8096250" y="171450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5" y="0"/>
                    <a:pt x="3333750" y="34116"/>
                    <a:pt x="3333750" y="76200"/>
                  </a:cubicBezTo>
                  <a:lnTo>
                    <a:pt x="3333750" y="1066800"/>
                  </a:lnTo>
                  <a:cubicBezTo>
                    <a:pt x="3333750" y="1108884"/>
                    <a:pt x="3299635"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8" name="任意形状 27">
              <a:extLst>
                <a:ext uri="{FF2B5EF4-FFF2-40B4-BE49-F238E27FC236}">
                  <a16:creationId xmlns:a16="http://schemas.microsoft.com/office/drawing/2014/main" id="{DEC12C8C-65F2-E979-998F-DC0F5E4BB270}"/>
                </a:ext>
              </a:extLst>
            </p:cNvPr>
            <p:cNvSpPr/>
            <p:nvPr/>
          </p:nvSpPr>
          <p:spPr>
            <a:xfrm>
              <a:off x="8096250" y="171450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4A90D9"/>
            </a:solidFill>
            <a:ln w="9525" cap="flat">
              <a:noFill/>
              <a:prstDash val="solid"/>
              <a:miter/>
            </a:ln>
          </p:spPr>
          <p:txBody>
            <a:bodyPr/>
            <a:lstStyle/>
            <a:p>
              <a:endParaRPr lang="zh-CN" altLang="en-US"/>
            </a:p>
          </p:txBody>
        </p:sp>
        <p:sp>
          <p:nvSpPr>
            <p:cNvPr id="29" name="文本框 28">
              <a:extLst>
                <a:ext uri="{FF2B5EF4-FFF2-40B4-BE49-F238E27FC236}">
                  <a16:creationId xmlns:a16="http://schemas.microsoft.com/office/drawing/2014/main" id="{5862E87D-879C-64D0-CCF6-19C6FC008236}"/>
                </a:ext>
              </a:extLst>
            </p:cNvPr>
            <p:cNvSpPr txBox="1"/>
            <p:nvPr/>
          </p:nvSpPr>
          <p:spPr>
            <a:xfrm>
              <a:off x="8290560" y="1727269"/>
              <a:ext cx="558819" cy="493722"/>
            </a:xfrm>
            <a:prstGeom prst="rect">
              <a:avLst/>
            </a:prstGeom>
            <a:noFill/>
          </p:spPr>
          <p:txBody>
            <a:bodyPr wrap="none" rtlCol="0">
              <a:spAutoFit/>
            </a:bodyPr>
            <a:lstStyle/>
            <a:p>
              <a:pPr algn="l"/>
              <a:r>
                <a:rPr lang="zh-CN" altLang="en-US" sz="2400" b="1" spc="0" baseline="0">
                  <a:ln/>
                  <a:solidFill>
                    <a:srgbClr val="4A90D9"/>
                  </a:solidFill>
                  <a:latin typeface="微软雅黑"/>
                  <a:ea typeface="微软雅黑"/>
                  <a:sym typeface="微软雅黑"/>
                  <a:rtl val="0"/>
                </a:rPr>
                <a:t>03</a:t>
              </a:r>
            </a:p>
          </p:txBody>
        </p:sp>
        <p:sp>
          <p:nvSpPr>
            <p:cNvPr id="30" name="文本框 29">
              <a:extLst>
                <a:ext uri="{FF2B5EF4-FFF2-40B4-BE49-F238E27FC236}">
                  <a16:creationId xmlns:a16="http://schemas.microsoft.com/office/drawing/2014/main" id="{3F7A9377-A631-8AD5-2507-E0FD28E013FA}"/>
                </a:ext>
              </a:extLst>
            </p:cNvPr>
            <p:cNvSpPr txBox="1"/>
            <p:nvPr/>
          </p:nvSpPr>
          <p:spPr>
            <a:xfrm>
              <a:off x="8862060" y="1848210"/>
              <a:ext cx="9448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区域城投</a:t>
              </a:r>
            </a:p>
          </p:txBody>
        </p:sp>
        <p:sp>
          <p:nvSpPr>
            <p:cNvPr id="31" name="文本框 30">
              <a:extLst>
                <a:ext uri="{FF2B5EF4-FFF2-40B4-BE49-F238E27FC236}">
                  <a16:creationId xmlns:a16="http://schemas.microsoft.com/office/drawing/2014/main" id="{55ECDD41-6ABB-973A-BE6E-FCF7F5090C5A}"/>
                </a:ext>
              </a:extLst>
            </p:cNvPr>
            <p:cNvSpPr txBox="1"/>
            <p:nvPr/>
          </p:nvSpPr>
          <p:spPr>
            <a:xfrm>
              <a:off x="8290560" y="2252135"/>
              <a:ext cx="1056487"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城投平台 375家</a:t>
              </a:r>
            </a:p>
          </p:txBody>
        </p:sp>
        <p:sp>
          <p:nvSpPr>
            <p:cNvPr id="32" name="文本框 31">
              <a:extLst>
                <a:ext uri="{FF2B5EF4-FFF2-40B4-BE49-F238E27FC236}">
                  <a16:creationId xmlns:a16="http://schemas.microsoft.com/office/drawing/2014/main" id="{FCC2594E-DAE5-276F-5F37-C3DE847ACC58}"/>
                </a:ext>
              </a:extLst>
            </p:cNvPr>
            <p:cNvSpPr txBox="1"/>
            <p:nvPr/>
          </p:nvSpPr>
          <p:spPr>
            <a:xfrm>
              <a:off x="8290560" y="2442635"/>
              <a:ext cx="1282733"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存量债余额 5,791亿</a:t>
              </a:r>
            </a:p>
          </p:txBody>
        </p:sp>
      </p:grpSp>
      <p:grpSp>
        <p:nvGrpSpPr>
          <p:cNvPr id="33" name="SVG Image 2">
            <a:extLst>
              <a:ext uri="{FF2B5EF4-FFF2-40B4-BE49-F238E27FC236}">
                <a16:creationId xmlns:a16="http://schemas.microsoft.com/office/drawing/2014/main" id="{97A9ABB1-65AE-4102-BC5C-C3F78A09FB7C}"/>
              </a:ext>
            </a:extLst>
          </p:cNvPr>
          <p:cNvGrpSpPr/>
          <p:nvPr/>
        </p:nvGrpSpPr>
        <p:grpSpPr>
          <a:xfrm>
            <a:off x="762000" y="3143250"/>
            <a:ext cx="3333750" cy="1143000"/>
            <a:chOff x="762000" y="3143250"/>
            <a:chExt cx="3333750" cy="1143000"/>
          </a:xfrm>
        </p:grpSpPr>
        <p:sp>
          <p:nvSpPr>
            <p:cNvPr id="34" name="任意形状 33">
              <a:extLst>
                <a:ext uri="{FF2B5EF4-FFF2-40B4-BE49-F238E27FC236}">
                  <a16:creationId xmlns:a16="http://schemas.microsoft.com/office/drawing/2014/main" id="{D7F2CD3E-FC41-0854-ED39-A4288AEDAD9D}"/>
                </a:ext>
              </a:extLst>
            </p:cNvPr>
            <p:cNvSpPr/>
            <p:nvPr/>
          </p:nvSpPr>
          <p:spPr>
            <a:xfrm>
              <a:off x="762000" y="314325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4" y="0"/>
                    <a:pt x="3333750" y="34116"/>
                    <a:pt x="3333750" y="76200"/>
                  </a:cubicBezTo>
                  <a:lnTo>
                    <a:pt x="3333750" y="1066800"/>
                  </a:lnTo>
                  <a:cubicBezTo>
                    <a:pt x="3333750" y="1108884"/>
                    <a:pt x="3299634"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5" name="任意形状 34">
              <a:extLst>
                <a:ext uri="{FF2B5EF4-FFF2-40B4-BE49-F238E27FC236}">
                  <a16:creationId xmlns:a16="http://schemas.microsoft.com/office/drawing/2014/main" id="{5DA9C8CF-6AE8-0C3F-3ACB-A775BD4BF88F}"/>
                </a:ext>
              </a:extLst>
            </p:cNvPr>
            <p:cNvSpPr/>
            <p:nvPr/>
          </p:nvSpPr>
          <p:spPr>
            <a:xfrm>
              <a:off x="762000" y="314325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2ECC71"/>
            </a:solidFill>
            <a:ln w="9525" cap="flat">
              <a:noFill/>
              <a:prstDash val="solid"/>
              <a:miter/>
            </a:ln>
          </p:spPr>
          <p:txBody>
            <a:bodyPr/>
            <a:lstStyle/>
            <a:p>
              <a:endParaRPr lang="zh-CN" altLang="en-US"/>
            </a:p>
          </p:txBody>
        </p:sp>
        <p:sp>
          <p:nvSpPr>
            <p:cNvPr id="36" name="文本框 35">
              <a:extLst>
                <a:ext uri="{FF2B5EF4-FFF2-40B4-BE49-F238E27FC236}">
                  <a16:creationId xmlns:a16="http://schemas.microsoft.com/office/drawing/2014/main" id="{528F59A3-9F81-EBA5-8EE9-B3CB6B479ACB}"/>
                </a:ext>
              </a:extLst>
            </p:cNvPr>
            <p:cNvSpPr txBox="1"/>
            <p:nvPr/>
          </p:nvSpPr>
          <p:spPr>
            <a:xfrm>
              <a:off x="956310" y="3156019"/>
              <a:ext cx="558819" cy="493722"/>
            </a:xfrm>
            <a:prstGeom prst="rect">
              <a:avLst/>
            </a:prstGeom>
            <a:noFill/>
          </p:spPr>
          <p:txBody>
            <a:bodyPr wrap="none" rtlCol="0">
              <a:spAutoFit/>
            </a:bodyPr>
            <a:lstStyle/>
            <a:p>
              <a:pPr algn="l"/>
              <a:r>
                <a:rPr lang="zh-CN" altLang="en-US" sz="2400" b="1" spc="0" baseline="0">
                  <a:ln/>
                  <a:solidFill>
                    <a:srgbClr val="2ECC71"/>
                  </a:solidFill>
                  <a:latin typeface="微软雅黑"/>
                  <a:ea typeface="微软雅黑"/>
                  <a:sym typeface="微软雅黑"/>
                  <a:rtl val="0"/>
                </a:rPr>
                <a:t>04</a:t>
              </a:r>
            </a:p>
          </p:txBody>
        </p:sp>
        <p:sp>
          <p:nvSpPr>
            <p:cNvPr id="37" name="文本框 36">
              <a:extLst>
                <a:ext uri="{FF2B5EF4-FFF2-40B4-BE49-F238E27FC236}">
                  <a16:creationId xmlns:a16="http://schemas.microsoft.com/office/drawing/2014/main" id="{BF1C8F0B-CB5C-EF4F-7064-EEE4AA8E63FA}"/>
                </a:ext>
              </a:extLst>
            </p:cNvPr>
            <p:cNvSpPr txBox="1"/>
            <p:nvPr/>
          </p:nvSpPr>
          <p:spPr>
            <a:xfrm>
              <a:off x="1527810" y="3276960"/>
              <a:ext cx="15163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银行业金融资源</a:t>
              </a:r>
            </a:p>
          </p:txBody>
        </p:sp>
        <p:sp>
          <p:nvSpPr>
            <p:cNvPr id="38" name="文本框 37">
              <a:extLst>
                <a:ext uri="{FF2B5EF4-FFF2-40B4-BE49-F238E27FC236}">
                  <a16:creationId xmlns:a16="http://schemas.microsoft.com/office/drawing/2014/main" id="{AFDC593A-B388-56B1-6DC4-8A6A7A40BA60}"/>
                </a:ext>
              </a:extLst>
            </p:cNvPr>
            <p:cNvSpPr txBox="1"/>
            <p:nvPr/>
          </p:nvSpPr>
          <p:spPr>
            <a:xfrm>
              <a:off x="956310" y="3680885"/>
              <a:ext cx="1457769"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银行业总资产 8.12万亿</a:t>
              </a:r>
            </a:p>
          </p:txBody>
        </p:sp>
        <p:sp>
          <p:nvSpPr>
            <p:cNvPr id="39" name="文本框 38">
              <a:extLst>
                <a:ext uri="{FF2B5EF4-FFF2-40B4-BE49-F238E27FC236}">
                  <a16:creationId xmlns:a16="http://schemas.microsoft.com/office/drawing/2014/main" id="{AF4090DF-8D91-E324-6B71-883FB99D0C6C}"/>
                </a:ext>
              </a:extLst>
            </p:cNvPr>
            <p:cNvSpPr txBox="1"/>
            <p:nvPr/>
          </p:nvSpPr>
          <p:spPr>
            <a:xfrm>
              <a:off x="956310" y="3871385"/>
              <a:ext cx="1196455"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不良贷款率 1.14%</a:t>
              </a:r>
            </a:p>
          </p:txBody>
        </p:sp>
      </p:grpSp>
      <p:grpSp>
        <p:nvGrpSpPr>
          <p:cNvPr id="40" name="SVG Image 2">
            <a:extLst>
              <a:ext uri="{FF2B5EF4-FFF2-40B4-BE49-F238E27FC236}">
                <a16:creationId xmlns:a16="http://schemas.microsoft.com/office/drawing/2014/main" id="{ED3D2774-F2FA-78FC-C4DF-F79B832E022D}"/>
              </a:ext>
            </a:extLst>
          </p:cNvPr>
          <p:cNvGrpSpPr/>
          <p:nvPr/>
        </p:nvGrpSpPr>
        <p:grpSpPr>
          <a:xfrm>
            <a:off x="4429125" y="3143250"/>
            <a:ext cx="3333750" cy="1143000"/>
            <a:chOff x="4429125" y="3143250"/>
            <a:chExt cx="3333750" cy="1143000"/>
          </a:xfrm>
        </p:grpSpPr>
        <p:sp>
          <p:nvSpPr>
            <p:cNvPr id="41" name="任意形状 40">
              <a:extLst>
                <a:ext uri="{FF2B5EF4-FFF2-40B4-BE49-F238E27FC236}">
                  <a16:creationId xmlns:a16="http://schemas.microsoft.com/office/drawing/2014/main" id="{2BE1A83E-6DA7-965F-FF9D-FEE5D147640E}"/>
                </a:ext>
              </a:extLst>
            </p:cNvPr>
            <p:cNvSpPr/>
            <p:nvPr/>
          </p:nvSpPr>
          <p:spPr>
            <a:xfrm>
              <a:off x="4429125" y="314325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4" y="0"/>
                    <a:pt x="3333750" y="34116"/>
                    <a:pt x="3333750" y="76200"/>
                  </a:cubicBezTo>
                  <a:lnTo>
                    <a:pt x="3333750" y="1066800"/>
                  </a:lnTo>
                  <a:cubicBezTo>
                    <a:pt x="3333750" y="1108884"/>
                    <a:pt x="3299634"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2" name="任意形状 41">
              <a:extLst>
                <a:ext uri="{FF2B5EF4-FFF2-40B4-BE49-F238E27FC236}">
                  <a16:creationId xmlns:a16="http://schemas.microsoft.com/office/drawing/2014/main" id="{B54652C9-F8EE-6CBC-3C99-4BAC8E97EE3B}"/>
                </a:ext>
              </a:extLst>
            </p:cNvPr>
            <p:cNvSpPr/>
            <p:nvPr/>
          </p:nvSpPr>
          <p:spPr>
            <a:xfrm>
              <a:off x="4429125" y="314325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2ECC71"/>
            </a:solidFill>
            <a:ln w="9525" cap="flat">
              <a:noFill/>
              <a:prstDash val="solid"/>
              <a:miter/>
            </a:ln>
          </p:spPr>
          <p:txBody>
            <a:bodyPr/>
            <a:lstStyle/>
            <a:p>
              <a:endParaRPr lang="zh-CN" altLang="en-US"/>
            </a:p>
          </p:txBody>
        </p:sp>
        <p:sp>
          <p:nvSpPr>
            <p:cNvPr id="43" name="文本框 42">
              <a:extLst>
                <a:ext uri="{FF2B5EF4-FFF2-40B4-BE49-F238E27FC236}">
                  <a16:creationId xmlns:a16="http://schemas.microsoft.com/office/drawing/2014/main" id="{7DD4C620-DE50-653C-DFAD-DB26D99B8A34}"/>
                </a:ext>
              </a:extLst>
            </p:cNvPr>
            <p:cNvSpPr txBox="1"/>
            <p:nvPr/>
          </p:nvSpPr>
          <p:spPr>
            <a:xfrm>
              <a:off x="4623435" y="3156019"/>
              <a:ext cx="558819" cy="493722"/>
            </a:xfrm>
            <a:prstGeom prst="rect">
              <a:avLst/>
            </a:prstGeom>
            <a:noFill/>
          </p:spPr>
          <p:txBody>
            <a:bodyPr wrap="none" rtlCol="0">
              <a:spAutoFit/>
            </a:bodyPr>
            <a:lstStyle/>
            <a:p>
              <a:pPr algn="l"/>
              <a:r>
                <a:rPr lang="zh-CN" altLang="en-US" sz="2400" b="1" spc="0" baseline="0">
                  <a:ln/>
                  <a:solidFill>
                    <a:srgbClr val="2ECC71"/>
                  </a:solidFill>
                  <a:latin typeface="微软雅黑"/>
                  <a:ea typeface="微软雅黑"/>
                  <a:sym typeface="微软雅黑"/>
                  <a:rtl val="0"/>
                </a:rPr>
                <a:t>05</a:t>
              </a:r>
            </a:p>
          </p:txBody>
        </p:sp>
        <p:sp>
          <p:nvSpPr>
            <p:cNvPr id="44" name="文本框 43">
              <a:extLst>
                <a:ext uri="{FF2B5EF4-FFF2-40B4-BE49-F238E27FC236}">
                  <a16:creationId xmlns:a16="http://schemas.microsoft.com/office/drawing/2014/main" id="{31A99E6A-75D6-2BED-3286-BE92F2753A26}"/>
                </a:ext>
              </a:extLst>
            </p:cNvPr>
            <p:cNvSpPr txBox="1"/>
            <p:nvPr/>
          </p:nvSpPr>
          <p:spPr>
            <a:xfrm>
              <a:off x="5194935" y="3276960"/>
              <a:ext cx="9448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区域融资</a:t>
              </a:r>
            </a:p>
          </p:txBody>
        </p:sp>
        <p:sp>
          <p:nvSpPr>
            <p:cNvPr id="45" name="文本框 44">
              <a:extLst>
                <a:ext uri="{FF2B5EF4-FFF2-40B4-BE49-F238E27FC236}">
                  <a16:creationId xmlns:a16="http://schemas.microsoft.com/office/drawing/2014/main" id="{4B7F0803-C174-F1BC-2D28-F2A4030B8E7C}"/>
                </a:ext>
              </a:extLst>
            </p:cNvPr>
            <p:cNvSpPr txBox="1"/>
            <p:nvPr/>
          </p:nvSpPr>
          <p:spPr>
            <a:xfrm>
              <a:off x="4623435" y="3680885"/>
              <a:ext cx="140655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社融规模增量 7,565亿</a:t>
              </a:r>
            </a:p>
          </p:txBody>
        </p:sp>
        <p:sp>
          <p:nvSpPr>
            <p:cNvPr id="46" name="文本框 45">
              <a:extLst>
                <a:ext uri="{FF2B5EF4-FFF2-40B4-BE49-F238E27FC236}">
                  <a16:creationId xmlns:a16="http://schemas.microsoft.com/office/drawing/2014/main" id="{D2393FEB-0E9E-ABDA-2088-610D0ACCBD7B}"/>
                </a:ext>
              </a:extLst>
            </p:cNvPr>
            <p:cNvSpPr txBox="1"/>
            <p:nvPr/>
          </p:nvSpPr>
          <p:spPr>
            <a:xfrm>
              <a:off x="4623435" y="3871385"/>
              <a:ext cx="140655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地方债净融资 2,169亿</a:t>
              </a:r>
            </a:p>
          </p:txBody>
        </p:sp>
      </p:grpSp>
      <p:grpSp>
        <p:nvGrpSpPr>
          <p:cNvPr id="47" name="SVG Image 2">
            <a:extLst>
              <a:ext uri="{FF2B5EF4-FFF2-40B4-BE49-F238E27FC236}">
                <a16:creationId xmlns:a16="http://schemas.microsoft.com/office/drawing/2014/main" id="{C6E30EF1-AA50-6C97-C164-E35F10CABAE7}"/>
              </a:ext>
            </a:extLst>
          </p:cNvPr>
          <p:cNvGrpSpPr/>
          <p:nvPr/>
        </p:nvGrpSpPr>
        <p:grpSpPr>
          <a:xfrm>
            <a:off x="8096250" y="3143250"/>
            <a:ext cx="3333750" cy="1143000"/>
            <a:chOff x="8096250" y="3143250"/>
            <a:chExt cx="3333750" cy="1143000"/>
          </a:xfrm>
        </p:grpSpPr>
        <p:sp>
          <p:nvSpPr>
            <p:cNvPr id="48" name="任意形状 47">
              <a:extLst>
                <a:ext uri="{FF2B5EF4-FFF2-40B4-BE49-F238E27FC236}">
                  <a16:creationId xmlns:a16="http://schemas.microsoft.com/office/drawing/2014/main" id="{FF6E9A34-6B3A-2E5A-FF94-15D39AFDE19B}"/>
                </a:ext>
              </a:extLst>
            </p:cNvPr>
            <p:cNvSpPr/>
            <p:nvPr/>
          </p:nvSpPr>
          <p:spPr>
            <a:xfrm>
              <a:off x="8096250" y="314325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5" y="0"/>
                    <a:pt x="3333750" y="34116"/>
                    <a:pt x="3333750" y="76200"/>
                  </a:cubicBezTo>
                  <a:lnTo>
                    <a:pt x="3333750" y="1066800"/>
                  </a:lnTo>
                  <a:cubicBezTo>
                    <a:pt x="3333750" y="1108884"/>
                    <a:pt x="3299635"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9" name="任意形状 48">
              <a:extLst>
                <a:ext uri="{FF2B5EF4-FFF2-40B4-BE49-F238E27FC236}">
                  <a16:creationId xmlns:a16="http://schemas.microsoft.com/office/drawing/2014/main" id="{1B199E40-FBCF-4361-6167-CE907A70E3D2}"/>
                </a:ext>
              </a:extLst>
            </p:cNvPr>
            <p:cNvSpPr/>
            <p:nvPr/>
          </p:nvSpPr>
          <p:spPr>
            <a:xfrm>
              <a:off x="8096250" y="314325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E63946"/>
            </a:solidFill>
            <a:ln w="9525" cap="flat">
              <a:noFill/>
              <a:prstDash val="solid"/>
              <a:miter/>
            </a:ln>
          </p:spPr>
          <p:txBody>
            <a:bodyPr/>
            <a:lstStyle/>
            <a:p>
              <a:endParaRPr lang="zh-CN" altLang="en-US"/>
            </a:p>
          </p:txBody>
        </p:sp>
        <p:sp>
          <p:nvSpPr>
            <p:cNvPr id="50" name="文本框 49">
              <a:extLst>
                <a:ext uri="{FF2B5EF4-FFF2-40B4-BE49-F238E27FC236}">
                  <a16:creationId xmlns:a16="http://schemas.microsoft.com/office/drawing/2014/main" id="{8DECD929-8996-7702-B0A1-21F316751D2F}"/>
                </a:ext>
              </a:extLst>
            </p:cNvPr>
            <p:cNvSpPr txBox="1"/>
            <p:nvPr/>
          </p:nvSpPr>
          <p:spPr>
            <a:xfrm>
              <a:off x="8290560" y="3156019"/>
              <a:ext cx="558819" cy="493722"/>
            </a:xfrm>
            <a:prstGeom prst="rect">
              <a:avLst/>
            </a:prstGeom>
            <a:noFill/>
          </p:spPr>
          <p:txBody>
            <a:bodyPr wrap="none" rtlCol="0">
              <a:spAutoFit/>
            </a:bodyPr>
            <a:lstStyle/>
            <a:p>
              <a:pPr algn="l"/>
              <a:r>
                <a:rPr lang="zh-CN" altLang="en-US" sz="2400" b="1" spc="0" baseline="0">
                  <a:ln/>
                  <a:solidFill>
                    <a:srgbClr val="E63946"/>
                  </a:solidFill>
                  <a:latin typeface="微软雅黑"/>
                  <a:ea typeface="微软雅黑"/>
                  <a:sym typeface="微软雅黑"/>
                  <a:rtl val="0"/>
                </a:rPr>
                <a:t>06</a:t>
              </a:r>
            </a:p>
          </p:txBody>
        </p:sp>
        <p:sp>
          <p:nvSpPr>
            <p:cNvPr id="51" name="文本框 50">
              <a:extLst>
                <a:ext uri="{FF2B5EF4-FFF2-40B4-BE49-F238E27FC236}">
                  <a16:creationId xmlns:a16="http://schemas.microsoft.com/office/drawing/2014/main" id="{A14DFB61-8D97-4AFC-1E6C-8271DC5C3F6B}"/>
                </a:ext>
              </a:extLst>
            </p:cNvPr>
            <p:cNvSpPr txBox="1"/>
            <p:nvPr/>
          </p:nvSpPr>
          <p:spPr>
            <a:xfrm>
              <a:off x="8862060" y="3276960"/>
              <a:ext cx="9448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区域风险</a:t>
              </a:r>
            </a:p>
          </p:txBody>
        </p:sp>
        <p:sp>
          <p:nvSpPr>
            <p:cNvPr id="52" name="文本框 51">
              <a:extLst>
                <a:ext uri="{FF2B5EF4-FFF2-40B4-BE49-F238E27FC236}">
                  <a16:creationId xmlns:a16="http://schemas.microsoft.com/office/drawing/2014/main" id="{6CB5834B-E9FB-8F28-2B08-501F59D73E33}"/>
                </a:ext>
              </a:extLst>
            </p:cNvPr>
            <p:cNvSpPr txBox="1"/>
            <p:nvPr/>
          </p:nvSpPr>
          <p:spPr>
            <a:xfrm>
              <a:off x="8290560" y="3680885"/>
              <a:ext cx="115890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非标风险事件 3次</a:t>
              </a:r>
            </a:p>
          </p:txBody>
        </p:sp>
        <p:sp>
          <p:nvSpPr>
            <p:cNvPr id="53" name="文本框 52">
              <a:extLst>
                <a:ext uri="{FF2B5EF4-FFF2-40B4-BE49-F238E27FC236}">
                  <a16:creationId xmlns:a16="http://schemas.microsoft.com/office/drawing/2014/main" id="{70C4B227-0F71-8874-7A10-CA0768B8B2BB}"/>
                </a:ext>
              </a:extLst>
            </p:cNvPr>
            <p:cNvSpPr txBox="1"/>
            <p:nvPr/>
          </p:nvSpPr>
          <p:spPr>
            <a:xfrm>
              <a:off x="8290560" y="3871385"/>
              <a:ext cx="83864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债券违约 无</a:t>
              </a:r>
            </a:p>
          </p:txBody>
        </p:sp>
      </p:grpSp>
      <p:grpSp>
        <p:nvGrpSpPr>
          <p:cNvPr id="54" name="SVG Image 2">
            <a:extLst>
              <a:ext uri="{FF2B5EF4-FFF2-40B4-BE49-F238E27FC236}">
                <a16:creationId xmlns:a16="http://schemas.microsoft.com/office/drawing/2014/main" id="{FE6A3640-7E5F-13A0-AAB8-9A3CBDE2F76F}"/>
              </a:ext>
            </a:extLst>
          </p:cNvPr>
          <p:cNvGrpSpPr/>
          <p:nvPr/>
        </p:nvGrpSpPr>
        <p:grpSpPr>
          <a:xfrm>
            <a:off x="762000" y="4572000"/>
            <a:ext cx="3333750" cy="1143000"/>
            <a:chOff x="762000" y="4572000"/>
            <a:chExt cx="3333750" cy="1143000"/>
          </a:xfrm>
        </p:grpSpPr>
        <p:sp>
          <p:nvSpPr>
            <p:cNvPr id="55" name="任意形状 54">
              <a:extLst>
                <a:ext uri="{FF2B5EF4-FFF2-40B4-BE49-F238E27FC236}">
                  <a16:creationId xmlns:a16="http://schemas.microsoft.com/office/drawing/2014/main" id="{ECB5F4EA-4A9F-B7E3-F9A0-A13E85107460}"/>
                </a:ext>
              </a:extLst>
            </p:cNvPr>
            <p:cNvSpPr/>
            <p:nvPr/>
          </p:nvSpPr>
          <p:spPr>
            <a:xfrm>
              <a:off x="762000" y="4572000"/>
              <a:ext cx="3333750" cy="1143000"/>
            </a:xfrm>
            <a:custGeom>
              <a:avLst/>
              <a:gdLst>
                <a:gd name="csX0" fmla="*/ 76200 w 3333750"/>
                <a:gd name="csY0" fmla="*/ 0 h 1143000"/>
                <a:gd name="csX1" fmla="*/ 3257550 w 3333750"/>
                <a:gd name="csY1" fmla="*/ 0 h 1143000"/>
                <a:gd name="csX2" fmla="*/ 3333750 w 3333750"/>
                <a:gd name="csY2" fmla="*/ 76200 h 1143000"/>
                <a:gd name="csX3" fmla="*/ 3333750 w 3333750"/>
                <a:gd name="csY3" fmla="*/ 1066800 h 1143000"/>
                <a:gd name="csX4" fmla="*/ 3257550 w 3333750"/>
                <a:gd name="csY4" fmla="*/ 1143000 h 1143000"/>
                <a:gd name="csX5" fmla="*/ 76200 w 3333750"/>
                <a:gd name="csY5" fmla="*/ 1143000 h 1143000"/>
                <a:gd name="csX6" fmla="*/ 0 w 3333750"/>
                <a:gd name="csY6" fmla="*/ 1066800 h 1143000"/>
                <a:gd name="csX7" fmla="*/ 0 w 3333750"/>
                <a:gd name="csY7" fmla="*/ 76200 h 1143000"/>
                <a:gd name="csX8" fmla="*/ 76200 w 33337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1143000">
                  <a:moveTo>
                    <a:pt x="76200" y="0"/>
                  </a:moveTo>
                  <a:lnTo>
                    <a:pt x="3257550" y="0"/>
                  </a:lnTo>
                  <a:cubicBezTo>
                    <a:pt x="3299634" y="0"/>
                    <a:pt x="3333750" y="34116"/>
                    <a:pt x="3333750" y="76200"/>
                  </a:cubicBezTo>
                  <a:lnTo>
                    <a:pt x="3333750" y="1066800"/>
                  </a:lnTo>
                  <a:cubicBezTo>
                    <a:pt x="3333750" y="1108884"/>
                    <a:pt x="3299634" y="1143000"/>
                    <a:pt x="3257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56" name="任意形状 55">
              <a:extLst>
                <a:ext uri="{FF2B5EF4-FFF2-40B4-BE49-F238E27FC236}">
                  <a16:creationId xmlns:a16="http://schemas.microsoft.com/office/drawing/2014/main" id="{8608852A-F59A-9B6D-B7D6-4C30659D2A07}"/>
                </a:ext>
              </a:extLst>
            </p:cNvPr>
            <p:cNvSpPr/>
            <p:nvPr/>
          </p:nvSpPr>
          <p:spPr>
            <a:xfrm>
              <a:off x="762000" y="4572000"/>
              <a:ext cx="57150" cy="1143000"/>
            </a:xfrm>
            <a:custGeom>
              <a:avLst/>
              <a:gdLst>
                <a:gd name="csX0" fmla="*/ 28575 w 57150"/>
                <a:gd name="csY0" fmla="*/ 0 h 1143000"/>
                <a:gd name="csX1" fmla="*/ 28575 w 57150"/>
                <a:gd name="csY1" fmla="*/ 0 h 1143000"/>
                <a:gd name="csX2" fmla="*/ 57150 w 57150"/>
                <a:gd name="csY2" fmla="*/ 28575 h 1143000"/>
                <a:gd name="csX3" fmla="*/ 57150 w 57150"/>
                <a:gd name="csY3" fmla="*/ 1114425 h 1143000"/>
                <a:gd name="csX4" fmla="*/ 28575 w 57150"/>
                <a:gd name="csY4" fmla="*/ 1143000 h 1143000"/>
                <a:gd name="csX5" fmla="*/ 28575 w 57150"/>
                <a:gd name="csY5" fmla="*/ 1143000 h 1143000"/>
                <a:gd name="csX6" fmla="*/ 0 w 57150"/>
                <a:gd name="csY6" fmla="*/ 1114425 h 1143000"/>
                <a:gd name="csX7" fmla="*/ 0 w 57150"/>
                <a:gd name="csY7" fmla="*/ 28575 h 1143000"/>
                <a:gd name="csX8" fmla="*/ 28575 w 5715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 h="1143000">
                  <a:moveTo>
                    <a:pt x="28575" y="0"/>
                  </a:moveTo>
                  <a:lnTo>
                    <a:pt x="28575" y="0"/>
                  </a:lnTo>
                  <a:cubicBezTo>
                    <a:pt x="44357" y="0"/>
                    <a:pt x="57150" y="12793"/>
                    <a:pt x="57150" y="28575"/>
                  </a:cubicBezTo>
                  <a:lnTo>
                    <a:pt x="57150" y="1114425"/>
                  </a:lnTo>
                  <a:cubicBezTo>
                    <a:pt x="57150" y="1130207"/>
                    <a:pt x="44357" y="1143000"/>
                    <a:pt x="28575" y="1143000"/>
                  </a:cubicBezTo>
                  <a:lnTo>
                    <a:pt x="28575" y="1143000"/>
                  </a:lnTo>
                  <a:cubicBezTo>
                    <a:pt x="12793" y="1143000"/>
                    <a:pt x="0" y="1130207"/>
                    <a:pt x="0" y="1114425"/>
                  </a:cubicBezTo>
                  <a:lnTo>
                    <a:pt x="0" y="28575"/>
                  </a:lnTo>
                  <a:cubicBezTo>
                    <a:pt x="0" y="12793"/>
                    <a:pt x="12793" y="0"/>
                    <a:pt x="28575" y="0"/>
                  </a:cubicBezTo>
                  <a:close/>
                </a:path>
              </a:pathLst>
            </a:custGeom>
            <a:solidFill>
              <a:srgbClr val="F59E0B"/>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DDF818B9-FA33-9510-FAFD-0836AD6438A6}"/>
                </a:ext>
              </a:extLst>
            </p:cNvPr>
            <p:cNvSpPr txBox="1"/>
            <p:nvPr/>
          </p:nvSpPr>
          <p:spPr>
            <a:xfrm>
              <a:off x="956310" y="4584769"/>
              <a:ext cx="558819" cy="493722"/>
            </a:xfrm>
            <a:prstGeom prst="rect">
              <a:avLst/>
            </a:prstGeom>
            <a:noFill/>
          </p:spPr>
          <p:txBody>
            <a:bodyPr wrap="none" rtlCol="0">
              <a:spAutoFit/>
            </a:bodyPr>
            <a:lstStyle/>
            <a:p>
              <a:pPr algn="l"/>
              <a:r>
                <a:rPr lang="zh-CN" altLang="en-US" sz="2400" b="1" spc="0" baseline="0">
                  <a:ln/>
                  <a:solidFill>
                    <a:srgbClr val="F59E0B"/>
                  </a:solidFill>
                  <a:latin typeface="微软雅黑"/>
                  <a:ea typeface="微软雅黑"/>
                  <a:sym typeface="微软雅黑"/>
                  <a:rtl val="0"/>
                </a:rPr>
                <a:t>07</a:t>
              </a:r>
            </a:p>
          </p:txBody>
        </p:sp>
        <p:sp>
          <p:nvSpPr>
            <p:cNvPr id="58" name="文本框 57">
              <a:extLst>
                <a:ext uri="{FF2B5EF4-FFF2-40B4-BE49-F238E27FC236}">
                  <a16:creationId xmlns:a16="http://schemas.microsoft.com/office/drawing/2014/main" id="{420DF31F-9BC2-97BD-6819-B47081CD4C89}"/>
                </a:ext>
              </a:extLst>
            </p:cNvPr>
            <p:cNvSpPr txBox="1"/>
            <p:nvPr/>
          </p:nvSpPr>
          <p:spPr>
            <a:xfrm>
              <a:off x="1527810" y="4705710"/>
              <a:ext cx="1325880"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区域重点企业</a:t>
              </a:r>
            </a:p>
          </p:txBody>
        </p:sp>
        <p:sp>
          <p:nvSpPr>
            <p:cNvPr id="59" name="文本框 58">
              <a:extLst>
                <a:ext uri="{FF2B5EF4-FFF2-40B4-BE49-F238E27FC236}">
                  <a16:creationId xmlns:a16="http://schemas.microsoft.com/office/drawing/2014/main" id="{C37C72EB-2D77-64A7-8658-1D1DED0300D7}"/>
                </a:ext>
              </a:extLst>
            </p:cNvPr>
            <p:cNvSpPr txBox="1"/>
            <p:nvPr/>
          </p:nvSpPr>
          <p:spPr>
            <a:xfrm>
              <a:off x="956310" y="5109635"/>
              <a:ext cx="140655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高新技术企业 9,109家</a:t>
              </a:r>
            </a:p>
          </p:txBody>
        </p:sp>
        <p:sp>
          <p:nvSpPr>
            <p:cNvPr id="60" name="文本框 59">
              <a:extLst>
                <a:ext uri="{FF2B5EF4-FFF2-40B4-BE49-F238E27FC236}">
                  <a16:creationId xmlns:a16="http://schemas.microsoft.com/office/drawing/2014/main" id="{8F4C4305-80C0-028A-BC11-5F26D94F31E4}"/>
                </a:ext>
              </a:extLst>
            </p:cNvPr>
            <p:cNvSpPr txBox="1"/>
            <p:nvPr/>
          </p:nvSpPr>
          <p:spPr>
            <a:xfrm>
              <a:off x="956310" y="5300135"/>
              <a:ext cx="115890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国有企业 8,094家</a:t>
              </a:r>
            </a:p>
          </p:txBody>
        </p:sp>
      </p:grpSp>
      <p:grpSp>
        <p:nvGrpSpPr>
          <p:cNvPr id="61" name="SVG Image 2">
            <a:extLst>
              <a:ext uri="{FF2B5EF4-FFF2-40B4-BE49-F238E27FC236}">
                <a16:creationId xmlns:a16="http://schemas.microsoft.com/office/drawing/2014/main" id="{189DFC07-26F3-C8FB-2042-A631D672DF2C}"/>
              </a:ext>
            </a:extLst>
          </p:cNvPr>
          <p:cNvGrpSpPr/>
          <p:nvPr/>
        </p:nvGrpSpPr>
        <p:grpSpPr>
          <a:xfrm>
            <a:off x="4429125" y="4572000"/>
            <a:ext cx="7000875" cy="1143000"/>
            <a:chOff x="4429125" y="4572000"/>
            <a:chExt cx="7000875" cy="1143000"/>
          </a:xfrm>
        </p:grpSpPr>
        <p:sp>
          <p:nvSpPr>
            <p:cNvPr id="62" name="任意形状 61">
              <a:extLst>
                <a:ext uri="{FF2B5EF4-FFF2-40B4-BE49-F238E27FC236}">
                  <a16:creationId xmlns:a16="http://schemas.microsoft.com/office/drawing/2014/main" id="{E6EFFA15-107E-B527-0B25-4BE0E34E4C29}"/>
                </a:ext>
              </a:extLst>
            </p:cNvPr>
            <p:cNvSpPr/>
            <p:nvPr/>
          </p:nvSpPr>
          <p:spPr>
            <a:xfrm>
              <a:off x="4429125" y="4572000"/>
              <a:ext cx="7000875" cy="1143000"/>
            </a:xfrm>
            <a:custGeom>
              <a:avLst/>
              <a:gdLst>
                <a:gd name="csX0" fmla="*/ 76200 w 7000875"/>
                <a:gd name="csY0" fmla="*/ 0 h 1143000"/>
                <a:gd name="csX1" fmla="*/ 6924675 w 7000875"/>
                <a:gd name="csY1" fmla="*/ 0 h 1143000"/>
                <a:gd name="csX2" fmla="*/ 7000875 w 7000875"/>
                <a:gd name="csY2" fmla="*/ 76200 h 1143000"/>
                <a:gd name="csX3" fmla="*/ 7000875 w 7000875"/>
                <a:gd name="csY3" fmla="*/ 1066800 h 1143000"/>
                <a:gd name="csX4" fmla="*/ 6924675 w 7000875"/>
                <a:gd name="csY4" fmla="*/ 1143000 h 1143000"/>
                <a:gd name="csX5" fmla="*/ 76200 w 7000875"/>
                <a:gd name="csY5" fmla="*/ 1143000 h 1143000"/>
                <a:gd name="csX6" fmla="*/ 0 w 7000875"/>
                <a:gd name="csY6" fmla="*/ 1066800 h 1143000"/>
                <a:gd name="csX7" fmla="*/ 0 w 7000875"/>
                <a:gd name="csY7" fmla="*/ 76200 h 1143000"/>
                <a:gd name="csX8" fmla="*/ 76200 w 7000875"/>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000875" h="1143000">
                  <a:moveTo>
                    <a:pt x="76200" y="0"/>
                  </a:moveTo>
                  <a:lnTo>
                    <a:pt x="6924675" y="0"/>
                  </a:lnTo>
                  <a:cubicBezTo>
                    <a:pt x="6966760" y="0"/>
                    <a:pt x="7000875" y="34116"/>
                    <a:pt x="7000875" y="76200"/>
                  </a:cubicBezTo>
                  <a:lnTo>
                    <a:pt x="7000875" y="1066800"/>
                  </a:lnTo>
                  <a:cubicBezTo>
                    <a:pt x="7000875" y="1108884"/>
                    <a:pt x="6966760" y="1143000"/>
                    <a:pt x="6924675" y="1143000"/>
                  </a:cubicBezTo>
                  <a:lnTo>
                    <a:pt x="76200" y="1143000"/>
                  </a:lnTo>
                  <a:cubicBezTo>
                    <a:pt x="34116" y="1143000"/>
                    <a:pt x="0" y="1108884"/>
                    <a:pt x="0" y="10668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63" name="文本框 62">
              <a:extLst>
                <a:ext uri="{FF2B5EF4-FFF2-40B4-BE49-F238E27FC236}">
                  <a16:creationId xmlns:a16="http://schemas.microsoft.com/office/drawing/2014/main" id="{15038903-08B0-1F2B-9AF6-E3925CB18A87}"/>
                </a:ext>
              </a:extLst>
            </p:cNvPr>
            <p:cNvSpPr txBox="1"/>
            <p:nvPr/>
          </p:nvSpPr>
          <p:spPr>
            <a:xfrm>
              <a:off x="4623435" y="4746024"/>
              <a:ext cx="792480" cy="292581"/>
            </a:xfrm>
            <a:prstGeom prst="rect">
              <a:avLst/>
            </a:prstGeom>
            <a:noFill/>
          </p:spPr>
          <p:txBody>
            <a:bodyPr wrap="none" rtlCol="0">
              <a:spAutoFit/>
            </a:bodyPr>
            <a:lstStyle/>
            <a:p>
              <a:pPr algn="l"/>
              <a:r>
                <a:rPr lang="zh-CN" altLang="en-US" sz="1200" b="1" spc="0" baseline="0">
                  <a:ln/>
                  <a:solidFill>
                    <a:srgbClr val="FFFFFF"/>
                  </a:solidFill>
                  <a:latin typeface="微软雅黑"/>
                  <a:ea typeface="微软雅黑"/>
                  <a:sym typeface="微软雅黑"/>
                  <a:rtl val="0"/>
                </a:rPr>
                <a:t>报告亮点</a:t>
              </a:r>
            </a:p>
          </p:txBody>
        </p:sp>
        <p:sp>
          <p:nvSpPr>
            <p:cNvPr id="64" name="文本框 63">
              <a:extLst>
                <a:ext uri="{FF2B5EF4-FFF2-40B4-BE49-F238E27FC236}">
                  <a16:creationId xmlns:a16="http://schemas.microsoft.com/office/drawing/2014/main" id="{3E5BABA6-F15C-638E-5347-220CD6267226}"/>
                </a:ext>
              </a:extLst>
            </p:cNvPr>
            <p:cNvSpPr txBox="1"/>
            <p:nvPr/>
          </p:nvSpPr>
          <p:spPr>
            <a:xfrm>
              <a:off x="4623435" y="5062010"/>
              <a:ext cx="3246581" cy="254867"/>
            </a:xfrm>
            <a:prstGeom prst="rect">
              <a:avLst/>
            </a:prstGeom>
            <a:noFill/>
          </p:spPr>
          <p:txBody>
            <a:bodyPr wrap="none" rtlCol="0">
              <a:spAutoFit/>
            </a:bodyPr>
            <a:lstStyle/>
            <a:p>
              <a:pPr algn="l"/>
              <a:r>
                <a:rPr lang="zh-CN" altLang="en-US" sz="975" spc="0" baseline="0">
                  <a:ln/>
                  <a:solidFill>
                    <a:srgbClr val="FFFFFF">
                      <a:alpha val="85000"/>
                    </a:srgbClr>
                  </a:solidFill>
                  <a:latin typeface="微软雅黑"/>
                  <a:ea typeface="微软雅黑"/>
                  <a:sym typeface="微软雅黑"/>
                  <a:rtl val="0"/>
                </a:rPr>
                <a:t>• 经济总量稳居全国前列，GDP增速5.70%高于全国平均</a:t>
              </a:r>
            </a:p>
          </p:txBody>
        </p:sp>
        <p:sp>
          <p:nvSpPr>
            <p:cNvPr id="65" name="文本框 64">
              <a:extLst>
                <a:ext uri="{FF2B5EF4-FFF2-40B4-BE49-F238E27FC236}">
                  <a16:creationId xmlns:a16="http://schemas.microsoft.com/office/drawing/2014/main" id="{7A8EF7F5-2706-5171-D2CA-F98ACCCE74F9}"/>
                </a:ext>
              </a:extLst>
            </p:cNvPr>
            <p:cNvSpPr txBox="1"/>
            <p:nvPr/>
          </p:nvSpPr>
          <p:spPr>
            <a:xfrm>
              <a:off x="4623435" y="5252510"/>
              <a:ext cx="2984420" cy="254867"/>
            </a:xfrm>
            <a:prstGeom prst="rect">
              <a:avLst/>
            </a:prstGeom>
            <a:noFill/>
          </p:spPr>
          <p:txBody>
            <a:bodyPr wrap="none" rtlCol="0">
              <a:spAutoFit/>
            </a:bodyPr>
            <a:lstStyle/>
            <a:p>
              <a:pPr algn="l"/>
              <a:r>
                <a:rPr lang="zh-CN" altLang="en-US" sz="975" spc="0" baseline="0">
                  <a:ln/>
                  <a:solidFill>
                    <a:srgbClr val="FFFFFF">
                      <a:alpha val="85000"/>
                    </a:srgbClr>
                  </a:solidFill>
                  <a:latin typeface="微软雅黑"/>
                  <a:ea typeface="微软雅黑"/>
                  <a:sym typeface="微软雅黑"/>
                  <a:rtl val="0"/>
                </a:rPr>
                <a:t>• 城投利差处于历史2.95%分位，信用环境持续改善</a:t>
              </a:r>
            </a:p>
          </p:txBody>
        </p:sp>
        <p:sp>
          <p:nvSpPr>
            <p:cNvPr id="66" name="文本框 65">
              <a:extLst>
                <a:ext uri="{FF2B5EF4-FFF2-40B4-BE49-F238E27FC236}">
                  <a16:creationId xmlns:a16="http://schemas.microsoft.com/office/drawing/2014/main" id="{FA370ABD-4F90-67A4-5EF5-1CCBDF0A9CFC}"/>
                </a:ext>
              </a:extLst>
            </p:cNvPr>
            <p:cNvSpPr txBox="1"/>
            <p:nvPr/>
          </p:nvSpPr>
          <p:spPr>
            <a:xfrm>
              <a:off x="8004810" y="5062010"/>
              <a:ext cx="2335488" cy="254867"/>
            </a:xfrm>
            <a:prstGeom prst="rect">
              <a:avLst/>
            </a:prstGeom>
            <a:noFill/>
          </p:spPr>
          <p:txBody>
            <a:bodyPr wrap="none" rtlCol="0">
              <a:spAutoFit/>
            </a:bodyPr>
            <a:lstStyle/>
            <a:p>
              <a:pPr algn="l"/>
              <a:r>
                <a:rPr lang="zh-CN" altLang="en-US" sz="975" spc="0" baseline="0">
                  <a:ln/>
                  <a:solidFill>
                    <a:srgbClr val="FFFFFF">
                      <a:alpha val="85000"/>
                    </a:srgbClr>
                  </a:solidFill>
                  <a:latin typeface="微软雅黑"/>
                  <a:ea typeface="微软雅黑"/>
                  <a:sym typeface="微软雅黑"/>
                  <a:rtl val="0"/>
                </a:rPr>
                <a:t>• 财政自给率46.17%，位列全国第11位</a:t>
              </a:r>
            </a:p>
          </p:txBody>
        </p:sp>
        <p:sp>
          <p:nvSpPr>
            <p:cNvPr id="67" name="文本框 66">
              <a:extLst>
                <a:ext uri="{FF2B5EF4-FFF2-40B4-BE49-F238E27FC236}">
                  <a16:creationId xmlns:a16="http://schemas.microsoft.com/office/drawing/2014/main" id="{EC9E5BB9-BD81-51EF-83AC-3BBA6962B35C}"/>
                </a:ext>
              </a:extLst>
            </p:cNvPr>
            <p:cNvSpPr txBox="1"/>
            <p:nvPr/>
          </p:nvSpPr>
          <p:spPr>
            <a:xfrm>
              <a:off x="8004810" y="5252510"/>
              <a:ext cx="2203924" cy="254867"/>
            </a:xfrm>
            <a:prstGeom prst="rect">
              <a:avLst/>
            </a:prstGeom>
            <a:noFill/>
          </p:spPr>
          <p:txBody>
            <a:bodyPr wrap="none" rtlCol="0">
              <a:spAutoFit/>
            </a:bodyPr>
            <a:lstStyle/>
            <a:p>
              <a:pPr algn="l"/>
              <a:r>
                <a:rPr lang="zh-CN" altLang="en-US" sz="975" spc="0" baseline="0">
                  <a:ln/>
                  <a:solidFill>
                    <a:srgbClr val="FFFFFF">
                      <a:alpha val="85000"/>
                    </a:srgbClr>
                  </a:solidFill>
                  <a:latin typeface="微软雅黑"/>
                  <a:ea typeface="微软雅黑"/>
                  <a:sym typeface="微软雅黑"/>
                  <a:rtl val="0"/>
                </a:rPr>
                <a:t>• 科创企业集聚，专精特新超5,500家</a:t>
              </a:r>
            </a:p>
          </p:txBody>
        </p:sp>
      </p:grpSp>
      <p:sp>
        <p:nvSpPr>
          <p:cNvPr id="68" name="文本框 67">
            <a:extLst>
              <a:ext uri="{FF2B5EF4-FFF2-40B4-BE49-F238E27FC236}">
                <a16:creationId xmlns:a16="http://schemas.microsoft.com/office/drawing/2014/main" id="{35293CC8-0996-81D6-E602-8677EFBEBAA8}"/>
              </a:ext>
            </a:extLst>
          </p:cNvPr>
          <p:cNvSpPr txBox="1"/>
          <p:nvPr/>
        </p:nvSpPr>
        <p:spPr>
          <a:xfrm>
            <a:off x="5971045" y="6310338"/>
            <a:ext cx="249908"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4AC53E4-F156-0997-9BEF-DF08F7D5B23F}"/>
              </a:ext>
            </a:extLst>
          </p:cNvPr>
          <p:cNvSpPr/>
          <p:nvPr/>
        </p:nvSpPr>
        <p:spPr>
          <a:xfrm>
            <a:off x="0" y="0"/>
            <a:ext cx="12192000" cy="6858000"/>
          </a:xfrm>
          <a:prstGeom prst="rect">
            <a:avLst/>
          </a:prstGeom>
          <a:gradFill>
            <a:gsLst>
              <a:gs pos="0">
                <a:srgbClr val="1E3A5F"/>
              </a:gs>
              <a:gs pos="50000">
                <a:srgbClr val="264A75"/>
              </a:gs>
              <a:gs pos="100000">
                <a:srgbClr val="2E5A8B"/>
              </a:gs>
            </a:gsLst>
            <a:lin ang="2700000" scaled="1"/>
          </a:gradFill>
          <a:ln w="9525" cap="flat">
            <a:noFill/>
            <a:prstDash val="solid"/>
            <a:miter/>
          </a:ln>
        </p:spPr>
        <p:txBody>
          <a:bodyPr/>
          <a:lstStyle/>
          <a:p>
            <a:endParaRPr lang="zh-CN" altLang="en-US"/>
          </a:p>
        </p:txBody>
      </p:sp>
      <p:sp>
        <p:nvSpPr>
          <p:cNvPr id="5" name="文本框 4">
            <a:extLst>
              <a:ext uri="{FF2B5EF4-FFF2-40B4-BE49-F238E27FC236}">
                <a16:creationId xmlns:a16="http://schemas.microsoft.com/office/drawing/2014/main" id="{9CE0915A-0133-0286-71E4-84E015466AB5}"/>
              </a:ext>
            </a:extLst>
          </p:cNvPr>
          <p:cNvSpPr txBox="1"/>
          <p:nvPr/>
        </p:nvSpPr>
        <p:spPr>
          <a:xfrm>
            <a:off x="8036435" y="685398"/>
            <a:ext cx="4882128" cy="5119970"/>
          </a:xfrm>
          <a:prstGeom prst="rect">
            <a:avLst/>
          </a:prstGeom>
          <a:noFill/>
        </p:spPr>
        <p:txBody>
          <a:bodyPr wrap="none" rtlCol="0">
            <a:spAutoFit/>
          </a:bodyPr>
          <a:lstStyle/>
          <a:p>
            <a:pPr algn="l"/>
            <a:r>
              <a:rPr lang="zh-CN" altLang="en-US" sz="30000" b="1" spc="0" baseline="0">
                <a:ln/>
                <a:solidFill>
                  <a:srgbClr val="FFFFFF">
                    <a:alpha val="5000"/>
                  </a:srgbClr>
                </a:solidFill>
                <a:latin typeface="微软雅黑"/>
                <a:ea typeface="微软雅黑"/>
                <a:sym typeface="微软雅黑"/>
                <a:rtl val="0"/>
              </a:rPr>
              <a:t>01</a:t>
            </a:r>
          </a:p>
        </p:txBody>
      </p:sp>
      <p:sp>
        <p:nvSpPr>
          <p:cNvPr id="6" name="矩形 5">
            <a:extLst>
              <a:ext uri="{FF2B5EF4-FFF2-40B4-BE49-F238E27FC236}">
                <a16:creationId xmlns:a16="http://schemas.microsoft.com/office/drawing/2014/main" id="{AC99908E-4E5C-D3D5-42DE-5B49ED1B7A6C}"/>
              </a:ext>
            </a:extLst>
          </p:cNvPr>
          <p:cNvSpPr/>
          <p:nvPr/>
        </p:nvSpPr>
        <p:spPr>
          <a:xfrm>
            <a:off x="762000" y="2857500"/>
            <a:ext cx="57150" cy="1143000"/>
          </a:xfrm>
          <a:prstGeom prst="rect">
            <a:avLst/>
          </a:prstGeom>
          <a:solidFill>
            <a:srgbClr val="4A90D9"/>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31BAC355-0C71-F0CE-6A34-01CA5BC2A050}"/>
              </a:ext>
            </a:extLst>
          </p:cNvPr>
          <p:cNvSpPr txBox="1"/>
          <p:nvPr/>
        </p:nvSpPr>
        <p:spPr>
          <a:xfrm>
            <a:off x="1051560" y="2562381"/>
            <a:ext cx="1028744" cy="996575"/>
          </a:xfrm>
          <a:prstGeom prst="rect">
            <a:avLst/>
          </a:prstGeom>
          <a:noFill/>
        </p:spPr>
        <p:txBody>
          <a:bodyPr wrap="none" rtlCol="0">
            <a:spAutoFit/>
          </a:bodyPr>
          <a:lstStyle/>
          <a:p>
            <a:pPr algn="l"/>
            <a:r>
              <a:rPr lang="zh-CN" altLang="en-US" sz="5400" b="1" spc="0" baseline="0">
                <a:ln/>
                <a:solidFill>
                  <a:srgbClr val="FFFFFF"/>
                </a:solidFill>
                <a:latin typeface="微软雅黑"/>
                <a:ea typeface="微软雅黑"/>
                <a:sym typeface="微软雅黑"/>
                <a:rtl val="0"/>
              </a:rPr>
              <a:t>01</a:t>
            </a:r>
          </a:p>
        </p:txBody>
      </p:sp>
      <p:sp>
        <p:nvSpPr>
          <p:cNvPr id="8" name="文本框 7">
            <a:extLst>
              <a:ext uri="{FF2B5EF4-FFF2-40B4-BE49-F238E27FC236}">
                <a16:creationId xmlns:a16="http://schemas.microsoft.com/office/drawing/2014/main" id="{F1487F59-3B24-F538-A213-FBA25288DBB3}"/>
              </a:ext>
            </a:extLst>
          </p:cNvPr>
          <p:cNvSpPr txBox="1"/>
          <p:nvPr/>
        </p:nvSpPr>
        <p:spPr>
          <a:xfrm>
            <a:off x="2575560" y="2804264"/>
            <a:ext cx="2011680" cy="694863"/>
          </a:xfrm>
          <a:prstGeom prst="rect">
            <a:avLst/>
          </a:prstGeom>
          <a:noFill/>
        </p:spPr>
        <p:txBody>
          <a:bodyPr wrap="none" rtlCol="0">
            <a:spAutoFit/>
          </a:bodyPr>
          <a:lstStyle/>
          <a:p>
            <a:pPr algn="l"/>
            <a:r>
              <a:rPr lang="zh-CN" altLang="en-US" sz="3600" b="1" spc="0" baseline="0">
                <a:ln/>
                <a:solidFill>
                  <a:srgbClr val="FFFFFF"/>
                </a:solidFill>
                <a:latin typeface="微软雅黑"/>
                <a:ea typeface="微软雅黑"/>
                <a:sym typeface="微软雅黑"/>
                <a:rtl val="0"/>
              </a:rPr>
              <a:t>经济情况</a:t>
            </a:r>
          </a:p>
        </p:txBody>
      </p:sp>
      <p:sp>
        <p:nvSpPr>
          <p:cNvPr id="9" name="文本框 8">
            <a:extLst>
              <a:ext uri="{FF2B5EF4-FFF2-40B4-BE49-F238E27FC236}">
                <a16:creationId xmlns:a16="http://schemas.microsoft.com/office/drawing/2014/main" id="{DB461D46-3D49-2239-BB46-CEAC794A980C}"/>
              </a:ext>
            </a:extLst>
          </p:cNvPr>
          <p:cNvSpPr txBox="1"/>
          <p:nvPr/>
        </p:nvSpPr>
        <p:spPr>
          <a:xfrm>
            <a:off x="1051560" y="3773367"/>
            <a:ext cx="4539032"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2024年GDP 32,193.15亿元，排全国第17位，增速5.70%</a:t>
            </a:r>
          </a:p>
        </p:txBody>
      </p:sp>
      <p:sp>
        <p:nvSpPr>
          <p:cNvPr id="10" name="文本框 9">
            <a:extLst>
              <a:ext uri="{FF2B5EF4-FFF2-40B4-BE49-F238E27FC236}">
                <a16:creationId xmlns:a16="http://schemas.microsoft.com/office/drawing/2014/main" id="{8D9509FB-2A7E-391C-CA80-9DD295D7D0CC}"/>
              </a:ext>
            </a:extLst>
          </p:cNvPr>
          <p:cNvSpPr txBox="1"/>
          <p:nvPr/>
        </p:nvSpPr>
        <p:spPr>
          <a:xfrm>
            <a:off x="1051560" y="4059117"/>
            <a:ext cx="4670215"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城镇居民人均可支配收入49,778元，产业以第三产业为主导</a:t>
            </a:r>
          </a:p>
        </p:txBody>
      </p:sp>
      <p:grpSp>
        <p:nvGrpSpPr>
          <p:cNvPr id="11" name="SVG Image 3">
            <a:extLst>
              <a:ext uri="{FF2B5EF4-FFF2-40B4-BE49-F238E27FC236}">
                <a16:creationId xmlns:a16="http://schemas.microsoft.com/office/drawing/2014/main" id="{7C528DB9-7EB6-EFF0-7314-7E6538DEC07A}"/>
              </a:ext>
            </a:extLst>
          </p:cNvPr>
          <p:cNvGrpSpPr/>
          <p:nvPr/>
        </p:nvGrpSpPr>
        <p:grpSpPr>
          <a:xfrm>
            <a:off x="1143000" y="4762500"/>
            <a:ext cx="1905000" cy="762000"/>
            <a:chOff x="1143000" y="4762500"/>
            <a:chExt cx="1905000" cy="762000"/>
          </a:xfrm>
        </p:grpSpPr>
        <p:sp>
          <p:nvSpPr>
            <p:cNvPr id="12" name="任意形状 11">
              <a:extLst>
                <a:ext uri="{FF2B5EF4-FFF2-40B4-BE49-F238E27FC236}">
                  <a16:creationId xmlns:a16="http://schemas.microsoft.com/office/drawing/2014/main" id="{4B6C5D3C-7796-8C1E-0EAF-00AB1EBABC86}"/>
                </a:ext>
              </a:extLst>
            </p:cNvPr>
            <p:cNvSpPr/>
            <p:nvPr/>
          </p:nvSpPr>
          <p:spPr>
            <a:xfrm>
              <a:off x="11430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13" name="文本框 12">
              <a:extLst>
                <a:ext uri="{FF2B5EF4-FFF2-40B4-BE49-F238E27FC236}">
                  <a16:creationId xmlns:a16="http://schemas.microsoft.com/office/drawing/2014/main" id="{ED06FACF-120F-DC0C-7A7A-F773C769249D}"/>
                </a:ext>
              </a:extLst>
            </p:cNvPr>
            <p:cNvSpPr txBox="1"/>
            <p:nvPr/>
          </p:nvSpPr>
          <p:spPr>
            <a:xfrm>
              <a:off x="1749154" y="4919135"/>
              <a:ext cx="69269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GDP规模</a:t>
              </a:r>
            </a:p>
          </p:txBody>
        </p:sp>
        <p:sp>
          <p:nvSpPr>
            <p:cNvPr id="14" name="文本框 13">
              <a:extLst>
                <a:ext uri="{FF2B5EF4-FFF2-40B4-BE49-F238E27FC236}">
                  <a16:creationId xmlns:a16="http://schemas.microsoft.com/office/drawing/2014/main" id="{D70C6007-8556-276B-61A2-368CD75D8BF5}"/>
                </a:ext>
              </a:extLst>
            </p:cNvPr>
            <p:cNvSpPr txBox="1"/>
            <p:nvPr/>
          </p:nvSpPr>
          <p:spPr>
            <a:xfrm>
              <a:off x="1504667" y="5094022"/>
              <a:ext cx="1181665"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32,193亿</a:t>
              </a:r>
            </a:p>
          </p:txBody>
        </p:sp>
      </p:grpSp>
      <p:grpSp>
        <p:nvGrpSpPr>
          <p:cNvPr id="15" name="SVG Image 3">
            <a:extLst>
              <a:ext uri="{FF2B5EF4-FFF2-40B4-BE49-F238E27FC236}">
                <a16:creationId xmlns:a16="http://schemas.microsoft.com/office/drawing/2014/main" id="{EAA68575-B422-9452-DB56-9D6B0175C293}"/>
              </a:ext>
            </a:extLst>
          </p:cNvPr>
          <p:cNvGrpSpPr/>
          <p:nvPr/>
        </p:nvGrpSpPr>
        <p:grpSpPr>
          <a:xfrm>
            <a:off x="3238500" y="4762500"/>
            <a:ext cx="1905000" cy="762000"/>
            <a:chOff x="3238500" y="4762500"/>
            <a:chExt cx="1905000" cy="762000"/>
          </a:xfrm>
        </p:grpSpPr>
        <p:sp>
          <p:nvSpPr>
            <p:cNvPr id="16" name="任意形状 15">
              <a:extLst>
                <a:ext uri="{FF2B5EF4-FFF2-40B4-BE49-F238E27FC236}">
                  <a16:creationId xmlns:a16="http://schemas.microsoft.com/office/drawing/2014/main" id="{1F6BA377-8C24-A3BC-4A58-672A85FA3A92}"/>
                </a:ext>
              </a:extLst>
            </p:cNvPr>
            <p:cNvSpPr/>
            <p:nvPr/>
          </p:nvSpPr>
          <p:spPr>
            <a:xfrm>
              <a:off x="32385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17" name="文本框 16">
              <a:extLst>
                <a:ext uri="{FF2B5EF4-FFF2-40B4-BE49-F238E27FC236}">
                  <a16:creationId xmlns:a16="http://schemas.microsoft.com/office/drawing/2014/main" id="{07A33196-9CD2-9BA9-6D6D-7CE679F6681B}"/>
                </a:ext>
              </a:extLst>
            </p:cNvPr>
            <p:cNvSpPr txBox="1"/>
            <p:nvPr/>
          </p:nvSpPr>
          <p:spPr>
            <a:xfrm>
              <a:off x="3851910" y="4919135"/>
              <a:ext cx="6781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全国排名</a:t>
              </a:r>
            </a:p>
          </p:txBody>
        </p:sp>
        <p:sp>
          <p:nvSpPr>
            <p:cNvPr id="18" name="文本框 17">
              <a:extLst>
                <a:ext uri="{FF2B5EF4-FFF2-40B4-BE49-F238E27FC236}">
                  <a16:creationId xmlns:a16="http://schemas.microsoft.com/office/drawing/2014/main" id="{A26072F7-B51B-8264-BA57-E4901D40C478}"/>
                </a:ext>
              </a:extLst>
            </p:cNvPr>
            <p:cNvSpPr txBox="1"/>
            <p:nvPr/>
          </p:nvSpPr>
          <p:spPr>
            <a:xfrm>
              <a:off x="3729982" y="5094022"/>
              <a:ext cx="922034"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第17位</a:t>
              </a:r>
            </a:p>
          </p:txBody>
        </p:sp>
      </p:grpSp>
      <p:grpSp>
        <p:nvGrpSpPr>
          <p:cNvPr id="19" name="SVG Image 3">
            <a:extLst>
              <a:ext uri="{FF2B5EF4-FFF2-40B4-BE49-F238E27FC236}">
                <a16:creationId xmlns:a16="http://schemas.microsoft.com/office/drawing/2014/main" id="{1E0FB808-3158-F567-EAA9-CDCC2E88826B}"/>
              </a:ext>
            </a:extLst>
          </p:cNvPr>
          <p:cNvGrpSpPr/>
          <p:nvPr/>
        </p:nvGrpSpPr>
        <p:grpSpPr>
          <a:xfrm>
            <a:off x="5334000" y="4762500"/>
            <a:ext cx="1905000" cy="762000"/>
            <a:chOff x="5334000" y="4762500"/>
            <a:chExt cx="1905000" cy="762000"/>
          </a:xfrm>
        </p:grpSpPr>
        <p:sp>
          <p:nvSpPr>
            <p:cNvPr id="20" name="任意形状 19">
              <a:extLst>
                <a:ext uri="{FF2B5EF4-FFF2-40B4-BE49-F238E27FC236}">
                  <a16:creationId xmlns:a16="http://schemas.microsoft.com/office/drawing/2014/main" id="{0FD0A5E4-3975-F8EA-E3C3-7945BC0399E6}"/>
                </a:ext>
              </a:extLst>
            </p:cNvPr>
            <p:cNvSpPr/>
            <p:nvPr/>
          </p:nvSpPr>
          <p:spPr>
            <a:xfrm>
              <a:off x="53340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21" name="文本框 20">
              <a:extLst>
                <a:ext uri="{FF2B5EF4-FFF2-40B4-BE49-F238E27FC236}">
                  <a16:creationId xmlns:a16="http://schemas.microsoft.com/office/drawing/2014/main" id="{EBD2320E-12B6-09B1-8C34-FD17CF7774B9}"/>
                </a:ext>
              </a:extLst>
            </p:cNvPr>
            <p:cNvSpPr txBox="1"/>
            <p:nvPr/>
          </p:nvSpPr>
          <p:spPr>
            <a:xfrm>
              <a:off x="5940154" y="4919135"/>
              <a:ext cx="69269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GDP增速</a:t>
              </a:r>
            </a:p>
          </p:txBody>
        </p:sp>
        <p:sp>
          <p:nvSpPr>
            <p:cNvPr id="22" name="文本框 21">
              <a:extLst>
                <a:ext uri="{FF2B5EF4-FFF2-40B4-BE49-F238E27FC236}">
                  <a16:creationId xmlns:a16="http://schemas.microsoft.com/office/drawing/2014/main" id="{5AFB3792-4DD9-D3C0-D872-3979CEB61DA9}"/>
                </a:ext>
              </a:extLst>
            </p:cNvPr>
            <p:cNvSpPr txBox="1"/>
            <p:nvPr/>
          </p:nvSpPr>
          <p:spPr>
            <a:xfrm>
              <a:off x="5844513" y="5094022"/>
              <a:ext cx="883972" cy="393151"/>
            </a:xfrm>
            <a:prstGeom prst="rect">
              <a:avLst/>
            </a:prstGeom>
            <a:noFill/>
          </p:spPr>
          <p:txBody>
            <a:bodyPr wrap="none" rtlCol="0">
              <a:spAutoFit/>
            </a:bodyPr>
            <a:lstStyle/>
            <a:p>
              <a:pPr algn="l"/>
              <a:r>
                <a:rPr lang="zh-CN" altLang="en-US" sz="1800" b="1" spc="0" baseline="0">
                  <a:ln/>
                  <a:solidFill>
                    <a:srgbClr val="2ECC71"/>
                  </a:solidFill>
                  <a:latin typeface="微软雅黑"/>
                  <a:ea typeface="微软雅黑"/>
                  <a:sym typeface="微软雅黑"/>
                  <a:rtl val="0"/>
                </a:rPr>
                <a:t>5.70%</a:t>
              </a:r>
            </a:p>
          </p:txBody>
        </p:sp>
      </p:grpSp>
      <p:sp>
        <p:nvSpPr>
          <p:cNvPr id="23" name="文本框 22">
            <a:extLst>
              <a:ext uri="{FF2B5EF4-FFF2-40B4-BE49-F238E27FC236}">
                <a16:creationId xmlns:a16="http://schemas.microsoft.com/office/drawing/2014/main" id="{9CC274FF-2D56-3AA3-F130-3F52F30588FD}"/>
              </a:ext>
            </a:extLst>
          </p:cNvPr>
          <p:cNvSpPr txBox="1"/>
          <p:nvPr/>
        </p:nvSpPr>
        <p:spPr>
          <a:xfrm>
            <a:off x="5965460" y="6290181"/>
            <a:ext cx="261079" cy="267438"/>
          </a:xfrm>
          <a:prstGeom prst="rect">
            <a:avLst/>
          </a:prstGeom>
          <a:noFill/>
        </p:spPr>
        <p:txBody>
          <a:bodyPr wrap="none" rtlCol="0">
            <a:spAutoFit/>
          </a:bodyPr>
          <a:lstStyle/>
          <a:p>
            <a:pPr algn="l"/>
            <a:r>
              <a:rPr lang="zh-CN" altLang="en-US" sz="1050" spc="0" baseline="0">
                <a:ln/>
                <a:solidFill>
                  <a:srgbClr val="FFFFFF">
                    <a:alpha val="50000"/>
                  </a:srgbClr>
                </a:solidFill>
                <a:latin typeface="微软雅黑"/>
                <a:ea typeface="微软雅黑"/>
                <a:sym typeface="微软雅黑"/>
                <a:rtl val="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7BB15F8-4982-F1F1-61F5-ECA6AE1FB2DD}"/>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1F82CFFF-A6C9-5A99-02BA-0D8F164DDF46}"/>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C4F1C674-AFC5-77A4-69C6-0E8F4B1D7042}"/>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E945DEA0-67F1-38FC-7F96-74D2AB0F0CA4}"/>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E2FE21BA-3D57-6197-CD40-65ADA1EE42FA}"/>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2DBB5BB0-A82B-3BBC-2C13-CF35A4719CF4}"/>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01 经济情况</a:t>
            </a:r>
          </a:p>
        </p:txBody>
      </p:sp>
      <p:sp>
        <p:nvSpPr>
          <p:cNvPr id="10" name="文本框 9">
            <a:extLst>
              <a:ext uri="{FF2B5EF4-FFF2-40B4-BE49-F238E27FC236}">
                <a16:creationId xmlns:a16="http://schemas.microsoft.com/office/drawing/2014/main" id="{88A7B563-41E1-F08D-4B60-867A237B246A}"/>
              </a:ext>
            </a:extLst>
          </p:cNvPr>
          <p:cNvSpPr txBox="1"/>
          <p:nvPr/>
        </p:nvSpPr>
        <p:spPr>
          <a:xfrm>
            <a:off x="11158570" y="175131"/>
            <a:ext cx="55336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4 / 20</a:t>
            </a:r>
          </a:p>
        </p:txBody>
      </p:sp>
      <p:sp>
        <p:nvSpPr>
          <p:cNvPr id="11" name="矩形 10">
            <a:extLst>
              <a:ext uri="{FF2B5EF4-FFF2-40B4-BE49-F238E27FC236}">
                <a16:creationId xmlns:a16="http://schemas.microsoft.com/office/drawing/2014/main" id="{AC171001-D826-5B8A-D8B6-B39F701252C9}"/>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BFE3C467-D975-5755-83EF-65CFE13A715C}"/>
              </a:ext>
            </a:extLst>
          </p:cNvPr>
          <p:cNvSpPr txBox="1"/>
          <p:nvPr/>
        </p:nvSpPr>
        <p:spPr>
          <a:xfrm>
            <a:off x="480060" y="672208"/>
            <a:ext cx="2267645"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1.1 区域经济发展</a:t>
            </a:r>
          </a:p>
        </p:txBody>
      </p:sp>
      <p:grpSp>
        <p:nvGrpSpPr>
          <p:cNvPr id="13" name="SVG Image 4">
            <a:extLst>
              <a:ext uri="{FF2B5EF4-FFF2-40B4-BE49-F238E27FC236}">
                <a16:creationId xmlns:a16="http://schemas.microsoft.com/office/drawing/2014/main" id="{50F987A0-15E7-F232-30C3-576827839BEE}"/>
              </a:ext>
            </a:extLst>
          </p:cNvPr>
          <p:cNvGrpSpPr/>
          <p:nvPr/>
        </p:nvGrpSpPr>
        <p:grpSpPr>
          <a:xfrm>
            <a:off x="571500" y="1333500"/>
            <a:ext cx="2667000" cy="1238250"/>
            <a:chOff x="571500" y="1333500"/>
            <a:chExt cx="2667000" cy="1238250"/>
          </a:xfrm>
        </p:grpSpPr>
        <p:sp>
          <p:nvSpPr>
            <p:cNvPr id="14" name="任意形状 13">
              <a:extLst>
                <a:ext uri="{FF2B5EF4-FFF2-40B4-BE49-F238E27FC236}">
                  <a16:creationId xmlns:a16="http://schemas.microsoft.com/office/drawing/2014/main" id="{91C7ECAA-BFED-69C6-8371-3AF706A3C705}"/>
                </a:ext>
              </a:extLst>
            </p:cNvPr>
            <p:cNvSpPr/>
            <p:nvPr/>
          </p:nvSpPr>
          <p:spPr>
            <a:xfrm>
              <a:off x="571500" y="133350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5" name="任意形状 14">
              <a:extLst>
                <a:ext uri="{FF2B5EF4-FFF2-40B4-BE49-F238E27FC236}">
                  <a16:creationId xmlns:a16="http://schemas.microsoft.com/office/drawing/2014/main" id="{1D223794-682C-BC1E-8C21-0671733C3293}"/>
                </a:ext>
              </a:extLst>
            </p:cNvPr>
            <p:cNvSpPr/>
            <p:nvPr/>
          </p:nvSpPr>
          <p:spPr>
            <a:xfrm>
              <a:off x="571500" y="133350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16" name="文本框 15">
              <a:extLst>
                <a:ext uri="{FF2B5EF4-FFF2-40B4-BE49-F238E27FC236}">
                  <a16:creationId xmlns:a16="http://schemas.microsoft.com/office/drawing/2014/main" id="{2DEA287E-013D-FD87-8F57-FA369BE8E196}"/>
                </a:ext>
              </a:extLst>
            </p:cNvPr>
            <p:cNvSpPr txBox="1"/>
            <p:nvPr/>
          </p:nvSpPr>
          <p:spPr>
            <a:xfrm>
              <a:off x="718185" y="1480056"/>
              <a:ext cx="911356"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2024年GDP</a:t>
              </a:r>
            </a:p>
          </p:txBody>
        </p:sp>
        <p:sp>
          <p:nvSpPr>
            <p:cNvPr id="17" name="文本框 16">
              <a:extLst>
                <a:ext uri="{FF2B5EF4-FFF2-40B4-BE49-F238E27FC236}">
                  <a16:creationId xmlns:a16="http://schemas.microsoft.com/office/drawing/2014/main" id="{452B010F-254F-7F16-F641-B4C73FBF7C49}"/>
                </a:ext>
              </a:extLst>
            </p:cNvPr>
            <p:cNvSpPr txBox="1"/>
            <p:nvPr/>
          </p:nvSpPr>
          <p:spPr>
            <a:xfrm>
              <a:off x="718185" y="1674109"/>
              <a:ext cx="2138397"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32,193.15</a:t>
              </a:r>
            </a:p>
          </p:txBody>
        </p:sp>
        <p:sp>
          <p:nvSpPr>
            <p:cNvPr id="18" name="文本框 17">
              <a:extLst>
                <a:ext uri="{FF2B5EF4-FFF2-40B4-BE49-F238E27FC236}">
                  <a16:creationId xmlns:a16="http://schemas.microsoft.com/office/drawing/2014/main" id="{326CA36F-5967-1FFA-7471-AC7BBEE30854}"/>
                </a:ext>
              </a:extLst>
            </p:cNvPr>
            <p:cNvSpPr txBox="1"/>
            <p:nvPr/>
          </p:nvSpPr>
          <p:spPr>
            <a:xfrm>
              <a:off x="2670810" y="1936149"/>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19" name="任意形状 18">
              <a:extLst>
                <a:ext uri="{FF2B5EF4-FFF2-40B4-BE49-F238E27FC236}">
                  <a16:creationId xmlns:a16="http://schemas.microsoft.com/office/drawing/2014/main" id="{1ADE4531-AAD1-6F02-B7B7-8FC6AB134F39}"/>
                </a:ext>
              </a:extLst>
            </p:cNvPr>
            <p:cNvSpPr/>
            <p:nvPr/>
          </p:nvSpPr>
          <p:spPr>
            <a:xfrm>
              <a:off x="809625" y="2286000"/>
              <a:ext cx="762000" cy="209550"/>
            </a:xfrm>
            <a:custGeom>
              <a:avLst/>
              <a:gdLst>
                <a:gd name="csX0" fmla="*/ 38100 w 762000"/>
                <a:gd name="csY0" fmla="*/ 0 h 209550"/>
                <a:gd name="csX1" fmla="*/ 723900 w 762000"/>
                <a:gd name="csY1" fmla="*/ 0 h 209550"/>
                <a:gd name="csX2" fmla="*/ 762000 w 762000"/>
                <a:gd name="csY2" fmla="*/ 38100 h 209550"/>
                <a:gd name="csX3" fmla="*/ 762000 w 762000"/>
                <a:gd name="csY3" fmla="*/ 171450 h 209550"/>
                <a:gd name="csX4" fmla="*/ 723900 w 762000"/>
                <a:gd name="csY4" fmla="*/ 209550 h 209550"/>
                <a:gd name="csX5" fmla="*/ 38100 w 762000"/>
                <a:gd name="csY5" fmla="*/ 209550 h 209550"/>
                <a:gd name="csX6" fmla="*/ 0 w 762000"/>
                <a:gd name="csY6" fmla="*/ 171450 h 209550"/>
                <a:gd name="csX7" fmla="*/ 0 w 762000"/>
                <a:gd name="csY7" fmla="*/ 38100 h 209550"/>
                <a:gd name="csX8" fmla="*/ 38100 w 7620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0" h="209550">
                  <a:moveTo>
                    <a:pt x="38100" y="0"/>
                  </a:moveTo>
                  <a:lnTo>
                    <a:pt x="723900" y="0"/>
                  </a:lnTo>
                  <a:cubicBezTo>
                    <a:pt x="744942" y="0"/>
                    <a:pt x="762000" y="17058"/>
                    <a:pt x="762000" y="38100"/>
                  </a:cubicBezTo>
                  <a:lnTo>
                    <a:pt x="762000" y="171450"/>
                  </a:lnTo>
                  <a:cubicBezTo>
                    <a:pt x="762000" y="192492"/>
                    <a:pt x="744942" y="209550"/>
                    <a:pt x="723900" y="209550"/>
                  </a:cubicBezTo>
                  <a:lnTo>
                    <a:pt x="38100" y="209550"/>
                  </a:lnTo>
                  <a:cubicBezTo>
                    <a:pt x="17058" y="209550"/>
                    <a:pt x="0" y="192492"/>
                    <a:pt x="0" y="1714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20" name="文本框 19">
              <a:extLst>
                <a:ext uri="{FF2B5EF4-FFF2-40B4-BE49-F238E27FC236}">
                  <a16:creationId xmlns:a16="http://schemas.microsoft.com/office/drawing/2014/main" id="{889746E3-03AA-1C77-3F5A-B6B9A4710AB4}"/>
                </a:ext>
              </a:extLst>
            </p:cNvPr>
            <p:cNvSpPr txBox="1"/>
            <p:nvPr/>
          </p:nvSpPr>
          <p:spPr>
            <a:xfrm>
              <a:off x="803556" y="2271738"/>
              <a:ext cx="774136"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全国第17位</a:t>
              </a:r>
            </a:p>
          </p:txBody>
        </p:sp>
      </p:grpSp>
      <p:grpSp>
        <p:nvGrpSpPr>
          <p:cNvPr id="21" name="SVG Image 4">
            <a:extLst>
              <a:ext uri="{FF2B5EF4-FFF2-40B4-BE49-F238E27FC236}">
                <a16:creationId xmlns:a16="http://schemas.microsoft.com/office/drawing/2014/main" id="{5F05321A-1F64-53C3-342C-B5E8A2ED4547}"/>
              </a:ext>
            </a:extLst>
          </p:cNvPr>
          <p:cNvGrpSpPr/>
          <p:nvPr/>
        </p:nvGrpSpPr>
        <p:grpSpPr>
          <a:xfrm>
            <a:off x="3429000" y="1333500"/>
            <a:ext cx="2667000" cy="1238250"/>
            <a:chOff x="3429000" y="1333500"/>
            <a:chExt cx="2667000" cy="1238250"/>
          </a:xfrm>
        </p:grpSpPr>
        <p:sp>
          <p:nvSpPr>
            <p:cNvPr id="22" name="任意形状 21">
              <a:extLst>
                <a:ext uri="{FF2B5EF4-FFF2-40B4-BE49-F238E27FC236}">
                  <a16:creationId xmlns:a16="http://schemas.microsoft.com/office/drawing/2014/main" id="{B0966915-DC33-932F-0A3F-CE421E443E39}"/>
                </a:ext>
              </a:extLst>
            </p:cNvPr>
            <p:cNvSpPr/>
            <p:nvPr/>
          </p:nvSpPr>
          <p:spPr>
            <a:xfrm>
              <a:off x="3429000" y="133350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3" name="任意形状 22">
              <a:extLst>
                <a:ext uri="{FF2B5EF4-FFF2-40B4-BE49-F238E27FC236}">
                  <a16:creationId xmlns:a16="http://schemas.microsoft.com/office/drawing/2014/main" id="{6148542B-27A7-FAFA-0A83-84ED3B47605A}"/>
                </a:ext>
              </a:extLst>
            </p:cNvPr>
            <p:cNvSpPr/>
            <p:nvPr/>
          </p:nvSpPr>
          <p:spPr>
            <a:xfrm>
              <a:off x="3429000" y="133350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2ECC71"/>
            </a:solidFill>
            <a:ln w="9525" cap="flat">
              <a:noFill/>
              <a:prstDash val="solid"/>
              <a:miter/>
            </a:ln>
          </p:spPr>
          <p:txBody>
            <a:bodyPr/>
            <a:lstStyle/>
            <a:p>
              <a:endParaRPr lang="zh-CN" altLang="en-US"/>
            </a:p>
          </p:txBody>
        </p:sp>
        <p:sp>
          <p:nvSpPr>
            <p:cNvPr id="24" name="文本框 23">
              <a:extLst>
                <a:ext uri="{FF2B5EF4-FFF2-40B4-BE49-F238E27FC236}">
                  <a16:creationId xmlns:a16="http://schemas.microsoft.com/office/drawing/2014/main" id="{8613BB05-3F88-9F4B-40E9-EDD2A6AE6D67}"/>
                </a:ext>
              </a:extLst>
            </p:cNvPr>
            <p:cNvSpPr txBox="1"/>
            <p:nvPr/>
          </p:nvSpPr>
          <p:spPr>
            <a:xfrm>
              <a:off x="3575685" y="1480056"/>
              <a:ext cx="731906"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GDP增速</a:t>
              </a:r>
            </a:p>
          </p:txBody>
        </p:sp>
        <p:sp>
          <p:nvSpPr>
            <p:cNvPr id="25" name="文本框 24">
              <a:extLst>
                <a:ext uri="{FF2B5EF4-FFF2-40B4-BE49-F238E27FC236}">
                  <a16:creationId xmlns:a16="http://schemas.microsoft.com/office/drawing/2014/main" id="{5F7555FE-AB3D-3EC4-3FF4-00C91C5A4265}"/>
                </a:ext>
              </a:extLst>
            </p:cNvPr>
            <p:cNvSpPr txBox="1"/>
            <p:nvPr/>
          </p:nvSpPr>
          <p:spPr>
            <a:xfrm>
              <a:off x="3575685" y="1674109"/>
              <a:ext cx="1037283" cy="619435"/>
            </a:xfrm>
            <a:prstGeom prst="rect">
              <a:avLst/>
            </a:prstGeom>
            <a:noFill/>
          </p:spPr>
          <p:txBody>
            <a:bodyPr wrap="none" rtlCol="0">
              <a:spAutoFit/>
            </a:bodyPr>
            <a:lstStyle/>
            <a:p>
              <a:pPr algn="l"/>
              <a:r>
                <a:rPr lang="zh-CN" altLang="en-US" sz="3150" b="1" spc="0" baseline="0">
                  <a:ln/>
                  <a:solidFill>
                    <a:srgbClr val="2ECC71"/>
                  </a:solidFill>
                  <a:latin typeface="微软雅黑"/>
                  <a:ea typeface="微软雅黑"/>
                  <a:sym typeface="微软雅黑"/>
                  <a:rtl val="0"/>
                </a:rPr>
                <a:t>5.70</a:t>
              </a:r>
            </a:p>
          </p:txBody>
        </p:sp>
        <p:sp>
          <p:nvSpPr>
            <p:cNvPr id="26" name="文本框 25">
              <a:extLst>
                <a:ext uri="{FF2B5EF4-FFF2-40B4-BE49-F238E27FC236}">
                  <a16:creationId xmlns:a16="http://schemas.microsoft.com/office/drawing/2014/main" id="{F87439A3-241E-B442-D9E3-C4FC4C0B0ECB}"/>
                </a:ext>
              </a:extLst>
            </p:cNvPr>
            <p:cNvSpPr txBox="1"/>
            <p:nvPr/>
          </p:nvSpPr>
          <p:spPr>
            <a:xfrm>
              <a:off x="4575810" y="1936149"/>
              <a:ext cx="318462"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a:t>
              </a:r>
            </a:p>
          </p:txBody>
        </p:sp>
        <p:sp>
          <p:nvSpPr>
            <p:cNvPr id="27" name="文本框 26">
              <a:extLst>
                <a:ext uri="{FF2B5EF4-FFF2-40B4-BE49-F238E27FC236}">
                  <a16:creationId xmlns:a16="http://schemas.microsoft.com/office/drawing/2014/main" id="{7DF86DFB-5BFA-841A-B7C2-E7399F89D45A}"/>
                </a:ext>
              </a:extLst>
            </p:cNvPr>
            <p:cNvSpPr txBox="1"/>
            <p:nvPr/>
          </p:nvSpPr>
          <p:spPr>
            <a:xfrm>
              <a:off x="3575685" y="2252135"/>
              <a:ext cx="961199"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 较上年增长</a:t>
              </a:r>
            </a:p>
          </p:txBody>
        </p:sp>
      </p:grpSp>
      <p:grpSp>
        <p:nvGrpSpPr>
          <p:cNvPr id="28" name="SVG Image 4">
            <a:extLst>
              <a:ext uri="{FF2B5EF4-FFF2-40B4-BE49-F238E27FC236}">
                <a16:creationId xmlns:a16="http://schemas.microsoft.com/office/drawing/2014/main" id="{070148F5-A616-3E55-BF67-D409A10C361E}"/>
              </a:ext>
            </a:extLst>
          </p:cNvPr>
          <p:cNvGrpSpPr/>
          <p:nvPr/>
        </p:nvGrpSpPr>
        <p:grpSpPr>
          <a:xfrm>
            <a:off x="571500" y="2762250"/>
            <a:ext cx="2667000" cy="1238250"/>
            <a:chOff x="571500" y="2762250"/>
            <a:chExt cx="2667000" cy="1238250"/>
          </a:xfrm>
        </p:grpSpPr>
        <p:sp>
          <p:nvSpPr>
            <p:cNvPr id="29" name="任意形状 28">
              <a:extLst>
                <a:ext uri="{FF2B5EF4-FFF2-40B4-BE49-F238E27FC236}">
                  <a16:creationId xmlns:a16="http://schemas.microsoft.com/office/drawing/2014/main" id="{E03D06FE-372E-CCA8-7E5B-648C5EA59338}"/>
                </a:ext>
              </a:extLst>
            </p:cNvPr>
            <p:cNvSpPr/>
            <p:nvPr/>
          </p:nvSpPr>
          <p:spPr>
            <a:xfrm>
              <a:off x="571500" y="276225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0" name="任意形状 29">
              <a:extLst>
                <a:ext uri="{FF2B5EF4-FFF2-40B4-BE49-F238E27FC236}">
                  <a16:creationId xmlns:a16="http://schemas.microsoft.com/office/drawing/2014/main" id="{071DA178-22F1-AF89-8FB5-BF9C2E63BF63}"/>
                </a:ext>
              </a:extLst>
            </p:cNvPr>
            <p:cNvSpPr/>
            <p:nvPr/>
          </p:nvSpPr>
          <p:spPr>
            <a:xfrm>
              <a:off x="571500" y="276225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31" name="文本框 30">
              <a:extLst>
                <a:ext uri="{FF2B5EF4-FFF2-40B4-BE49-F238E27FC236}">
                  <a16:creationId xmlns:a16="http://schemas.microsoft.com/office/drawing/2014/main" id="{FF7B675C-9FF9-A0E6-A827-9B4A8E5CE159}"/>
                </a:ext>
              </a:extLst>
            </p:cNvPr>
            <p:cNvSpPr txBox="1"/>
            <p:nvPr/>
          </p:nvSpPr>
          <p:spPr>
            <a:xfrm>
              <a:off x="718185" y="2908806"/>
              <a:ext cx="731906"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人均GDP</a:t>
              </a:r>
            </a:p>
          </p:txBody>
        </p:sp>
        <p:sp>
          <p:nvSpPr>
            <p:cNvPr id="32" name="文本框 31">
              <a:extLst>
                <a:ext uri="{FF2B5EF4-FFF2-40B4-BE49-F238E27FC236}">
                  <a16:creationId xmlns:a16="http://schemas.microsoft.com/office/drawing/2014/main" id="{A3073623-D655-0E48-A6E1-D8E47166EC0C}"/>
                </a:ext>
              </a:extLst>
            </p:cNvPr>
            <p:cNvSpPr txBox="1"/>
            <p:nvPr/>
          </p:nvSpPr>
          <p:spPr>
            <a:xfrm>
              <a:off x="718185" y="3102859"/>
              <a:ext cx="1777415"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100,903</a:t>
              </a:r>
            </a:p>
          </p:txBody>
        </p:sp>
        <p:sp>
          <p:nvSpPr>
            <p:cNvPr id="33" name="文本框 32">
              <a:extLst>
                <a:ext uri="{FF2B5EF4-FFF2-40B4-BE49-F238E27FC236}">
                  <a16:creationId xmlns:a16="http://schemas.microsoft.com/office/drawing/2014/main" id="{08688735-3E60-1CA4-2D7A-293FE3B93BCE}"/>
                </a:ext>
              </a:extLst>
            </p:cNvPr>
            <p:cNvSpPr txBox="1"/>
            <p:nvPr/>
          </p:nvSpPr>
          <p:spPr>
            <a:xfrm>
              <a:off x="2575560" y="3364899"/>
              <a:ext cx="3352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元</a:t>
              </a:r>
            </a:p>
          </p:txBody>
        </p:sp>
        <p:sp>
          <p:nvSpPr>
            <p:cNvPr id="34" name="文本框 33">
              <a:extLst>
                <a:ext uri="{FF2B5EF4-FFF2-40B4-BE49-F238E27FC236}">
                  <a16:creationId xmlns:a16="http://schemas.microsoft.com/office/drawing/2014/main" id="{5A639F3F-E5A9-715A-D4E3-67E299BF70B5}"/>
                </a:ext>
              </a:extLst>
            </p:cNvPr>
            <p:cNvSpPr txBox="1"/>
            <p:nvPr/>
          </p:nvSpPr>
          <p:spPr>
            <a:xfrm>
              <a:off x="718185" y="3680885"/>
              <a:ext cx="1195185"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 同比增长7.18%</a:t>
              </a:r>
            </a:p>
          </p:txBody>
        </p:sp>
      </p:grpSp>
      <p:grpSp>
        <p:nvGrpSpPr>
          <p:cNvPr id="35" name="SVG Image 4">
            <a:extLst>
              <a:ext uri="{FF2B5EF4-FFF2-40B4-BE49-F238E27FC236}">
                <a16:creationId xmlns:a16="http://schemas.microsoft.com/office/drawing/2014/main" id="{6305EF2C-AB5C-5163-CEA3-8CC8309F9212}"/>
              </a:ext>
            </a:extLst>
          </p:cNvPr>
          <p:cNvGrpSpPr/>
          <p:nvPr/>
        </p:nvGrpSpPr>
        <p:grpSpPr>
          <a:xfrm>
            <a:off x="3429000" y="2762250"/>
            <a:ext cx="2667000" cy="1238250"/>
            <a:chOff x="3429000" y="2762250"/>
            <a:chExt cx="2667000" cy="1238250"/>
          </a:xfrm>
        </p:grpSpPr>
        <p:sp>
          <p:nvSpPr>
            <p:cNvPr id="36" name="任意形状 35">
              <a:extLst>
                <a:ext uri="{FF2B5EF4-FFF2-40B4-BE49-F238E27FC236}">
                  <a16:creationId xmlns:a16="http://schemas.microsoft.com/office/drawing/2014/main" id="{F87CB2E4-653B-BA70-54CE-33B1AB1F3F02}"/>
                </a:ext>
              </a:extLst>
            </p:cNvPr>
            <p:cNvSpPr/>
            <p:nvPr/>
          </p:nvSpPr>
          <p:spPr>
            <a:xfrm>
              <a:off x="3429000" y="276225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7" name="任意形状 36">
              <a:extLst>
                <a:ext uri="{FF2B5EF4-FFF2-40B4-BE49-F238E27FC236}">
                  <a16:creationId xmlns:a16="http://schemas.microsoft.com/office/drawing/2014/main" id="{5FE97D64-26D7-4DA1-A450-0A6DAF362127}"/>
                </a:ext>
              </a:extLst>
            </p:cNvPr>
            <p:cNvSpPr/>
            <p:nvPr/>
          </p:nvSpPr>
          <p:spPr>
            <a:xfrm>
              <a:off x="3429000" y="276225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38" name="文本框 37">
              <a:extLst>
                <a:ext uri="{FF2B5EF4-FFF2-40B4-BE49-F238E27FC236}">
                  <a16:creationId xmlns:a16="http://schemas.microsoft.com/office/drawing/2014/main" id="{FF81B157-1B4D-CF66-7BC2-D85AF8B7DD2D}"/>
                </a:ext>
              </a:extLst>
            </p:cNvPr>
            <p:cNvSpPr txBox="1"/>
            <p:nvPr/>
          </p:nvSpPr>
          <p:spPr>
            <a:xfrm>
              <a:off x="3575685" y="2908806"/>
              <a:ext cx="16497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城镇居民人均可支配收入</a:t>
              </a:r>
            </a:p>
          </p:txBody>
        </p:sp>
        <p:sp>
          <p:nvSpPr>
            <p:cNvPr id="39" name="文本框 38">
              <a:extLst>
                <a:ext uri="{FF2B5EF4-FFF2-40B4-BE49-F238E27FC236}">
                  <a16:creationId xmlns:a16="http://schemas.microsoft.com/office/drawing/2014/main" id="{B58CBD7F-D03F-71D6-B25A-E19CF7395299}"/>
                </a:ext>
              </a:extLst>
            </p:cNvPr>
            <p:cNvSpPr txBox="1"/>
            <p:nvPr/>
          </p:nvSpPr>
          <p:spPr>
            <a:xfrm>
              <a:off x="3575685" y="3102859"/>
              <a:ext cx="1530704"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49,778</a:t>
              </a:r>
            </a:p>
          </p:txBody>
        </p:sp>
        <p:sp>
          <p:nvSpPr>
            <p:cNvPr id="40" name="文本框 39">
              <a:extLst>
                <a:ext uri="{FF2B5EF4-FFF2-40B4-BE49-F238E27FC236}">
                  <a16:creationId xmlns:a16="http://schemas.microsoft.com/office/drawing/2014/main" id="{1DD3A601-F95E-5AB7-231C-F5CB0092E013}"/>
                </a:ext>
              </a:extLst>
            </p:cNvPr>
            <p:cNvSpPr txBox="1"/>
            <p:nvPr/>
          </p:nvSpPr>
          <p:spPr>
            <a:xfrm>
              <a:off x="5242560" y="3364899"/>
              <a:ext cx="3352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元</a:t>
              </a:r>
            </a:p>
          </p:txBody>
        </p:sp>
        <p:sp>
          <p:nvSpPr>
            <p:cNvPr id="41" name="文本框 40">
              <a:extLst>
                <a:ext uri="{FF2B5EF4-FFF2-40B4-BE49-F238E27FC236}">
                  <a16:creationId xmlns:a16="http://schemas.microsoft.com/office/drawing/2014/main" id="{0B08350A-8A31-856C-2F3B-5B054CDE2C92}"/>
                </a:ext>
              </a:extLst>
            </p:cNvPr>
            <p:cNvSpPr txBox="1"/>
            <p:nvPr/>
          </p:nvSpPr>
          <p:spPr>
            <a:xfrm>
              <a:off x="3575685" y="3680885"/>
              <a:ext cx="1195185"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 同比增长4.94%</a:t>
              </a:r>
            </a:p>
          </p:txBody>
        </p:sp>
      </p:grpSp>
      <p:grpSp>
        <p:nvGrpSpPr>
          <p:cNvPr id="42" name="SVG Image 4">
            <a:extLst>
              <a:ext uri="{FF2B5EF4-FFF2-40B4-BE49-F238E27FC236}">
                <a16:creationId xmlns:a16="http://schemas.microsoft.com/office/drawing/2014/main" id="{E19AB2B2-5372-14EB-6FDD-153242CF05F9}"/>
              </a:ext>
            </a:extLst>
          </p:cNvPr>
          <p:cNvGrpSpPr/>
          <p:nvPr/>
        </p:nvGrpSpPr>
        <p:grpSpPr>
          <a:xfrm>
            <a:off x="6286500" y="1333500"/>
            <a:ext cx="5334000" cy="4000500"/>
            <a:chOff x="6286500" y="1333500"/>
            <a:chExt cx="5334000" cy="4000500"/>
          </a:xfrm>
        </p:grpSpPr>
        <p:sp>
          <p:nvSpPr>
            <p:cNvPr id="43" name="任意形状 42">
              <a:extLst>
                <a:ext uri="{FF2B5EF4-FFF2-40B4-BE49-F238E27FC236}">
                  <a16:creationId xmlns:a16="http://schemas.microsoft.com/office/drawing/2014/main" id="{50F0A322-8E73-3BCB-4D6A-E460819286FF}"/>
                </a:ext>
              </a:extLst>
            </p:cNvPr>
            <p:cNvSpPr/>
            <p:nvPr/>
          </p:nvSpPr>
          <p:spPr>
            <a:xfrm>
              <a:off x="6286500" y="1333500"/>
              <a:ext cx="5334000" cy="4000500"/>
            </a:xfrm>
            <a:custGeom>
              <a:avLst/>
              <a:gdLst>
                <a:gd name="csX0" fmla="*/ 76200 w 5334000"/>
                <a:gd name="csY0" fmla="*/ 0 h 4000500"/>
                <a:gd name="csX1" fmla="*/ 5257800 w 5334000"/>
                <a:gd name="csY1" fmla="*/ 0 h 4000500"/>
                <a:gd name="csX2" fmla="*/ 5334000 w 5334000"/>
                <a:gd name="csY2" fmla="*/ 76200 h 4000500"/>
                <a:gd name="csX3" fmla="*/ 5334000 w 5334000"/>
                <a:gd name="csY3" fmla="*/ 3924300 h 4000500"/>
                <a:gd name="csX4" fmla="*/ 5257800 w 5334000"/>
                <a:gd name="csY4" fmla="*/ 4000500 h 4000500"/>
                <a:gd name="csX5" fmla="*/ 76200 w 5334000"/>
                <a:gd name="csY5" fmla="*/ 4000500 h 4000500"/>
                <a:gd name="csX6" fmla="*/ 0 w 5334000"/>
                <a:gd name="csY6" fmla="*/ 3924300 h 4000500"/>
                <a:gd name="csX7" fmla="*/ 0 w 5334000"/>
                <a:gd name="csY7" fmla="*/ 76200 h 4000500"/>
                <a:gd name="csX8" fmla="*/ 76200 w 5334000"/>
                <a:gd name="csY8" fmla="*/ 0 h 400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4000500">
                  <a:moveTo>
                    <a:pt x="76200" y="0"/>
                  </a:moveTo>
                  <a:lnTo>
                    <a:pt x="5257800" y="0"/>
                  </a:lnTo>
                  <a:cubicBezTo>
                    <a:pt x="5299885" y="0"/>
                    <a:pt x="5334000" y="34116"/>
                    <a:pt x="5334000" y="76200"/>
                  </a:cubicBezTo>
                  <a:lnTo>
                    <a:pt x="5334000" y="3924300"/>
                  </a:lnTo>
                  <a:cubicBezTo>
                    <a:pt x="5334000" y="3966384"/>
                    <a:pt x="5299885" y="4000500"/>
                    <a:pt x="5257800" y="4000500"/>
                  </a:cubicBezTo>
                  <a:lnTo>
                    <a:pt x="76200" y="4000500"/>
                  </a:lnTo>
                  <a:cubicBezTo>
                    <a:pt x="34116" y="4000500"/>
                    <a:pt x="0" y="3966384"/>
                    <a:pt x="0" y="3924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4" name="文本框 43">
              <a:extLst>
                <a:ext uri="{FF2B5EF4-FFF2-40B4-BE49-F238E27FC236}">
                  <a16:creationId xmlns:a16="http://schemas.microsoft.com/office/drawing/2014/main" id="{684D648B-E4D1-297D-5175-C2B2543DA096}"/>
                </a:ext>
              </a:extLst>
            </p:cNvPr>
            <p:cNvSpPr txBox="1"/>
            <p:nvPr/>
          </p:nvSpPr>
          <p:spPr>
            <a:xfrm>
              <a:off x="6480810" y="1459899"/>
              <a:ext cx="14020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主要经济指标对比</a:t>
              </a:r>
            </a:p>
          </p:txBody>
        </p:sp>
        <p:sp>
          <p:nvSpPr>
            <p:cNvPr id="45" name="任意形状 44">
              <a:extLst>
                <a:ext uri="{FF2B5EF4-FFF2-40B4-BE49-F238E27FC236}">
                  <a16:creationId xmlns:a16="http://schemas.microsoft.com/office/drawing/2014/main" id="{79AB5243-A7DC-D74F-E084-F4DE2EB06D1F}"/>
                </a:ext>
              </a:extLst>
            </p:cNvPr>
            <p:cNvSpPr/>
            <p:nvPr/>
          </p:nvSpPr>
          <p:spPr>
            <a:xfrm>
              <a:off x="6572250" y="1857375"/>
              <a:ext cx="4762500" cy="333375"/>
            </a:xfrm>
            <a:custGeom>
              <a:avLst/>
              <a:gdLst>
                <a:gd name="csX0" fmla="*/ 38100 w 4762500"/>
                <a:gd name="csY0" fmla="*/ 0 h 333375"/>
                <a:gd name="csX1" fmla="*/ 4724400 w 4762500"/>
                <a:gd name="csY1" fmla="*/ 0 h 333375"/>
                <a:gd name="csX2" fmla="*/ 4762500 w 4762500"/>
                <a:gd name="csY2" fmla="*/ 38100 h 333375"/>
                <a:gd name="csX3" fmla="*/ 4762500 w 4762500"/>
                <a:gd name="csY3" fmla="*/ 295275 h 333375"/>
                <a:gd name="csX4" fmla="*/ 4724400 w 4762500"/>
                <a:gd name="csY4" fmla="*/ 333375 h 333375"/>
                <a:gd name="csX5" fmla="*/ 38100 w 4762500"/>
                <a:gd name="csY5" fmla="*/ 333375 h 333375"/>
                <a:gd name="csX6" fmla="*/ 0 w 4762500"/>
                <a:gd name="csY6" fmla="*/ 295275 h 333375"/>
                <a:gd name="csX7" fmla="*/ 0 w 4762500"/>
                <a:gd name="csY7" fmla="*/ 38100 h 333375"/>
                <a:gd name="csX8" fmla="*/ 38100 w 4762500"/>
                <a:gd name="csY8" fmla="*/ 0 h 333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333375">
                  <a:moveTo>
                    <a:pt x="38100" y="0"/>
                  </a:moveTo>
                  <a:lnTo>
                    <a:pt x="4724400" y="0"/>
                  </a:lnTo>
                  <a:cubicBezTo>
                    <a:pt x="4745442" y="0"/>
                    <a:pt x="4762500" y="17058"/>
                    <a:pt x="4762500" y="38100"/>
                  </a:cubicBezTo>
                  <a:lnTo>
                    <a:pt x="4762500" y="295275"/>
                  </a:lnTo>
                  <a:cubicBezTo>
                    <a:pt x="4762500" y="316317"/>
                    <a:pt x="4745442" y="333375"/>
                    <a:pt x="4724400" y="333375"/>
                  </a:cubicBezTo>
                  <a:lnTo>
                    <a:pt x="38100" y="333375"/>
                  </a:lnTo>
                  <a:cubicBezTo>
                    <a:pt x="17058" y="333375"/>
                    <a:pt x="0" y="316317"/>
                    <a:pt x="0" y="295275"/>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46" name="文本框 45">
              <a:extLst>
                <a:ext uri="{FF2B5EF4-FFF2-40B4-BE49-F238E27FC236}">
                  <a16:creationId xmlns:a16="http://schemas.microsoft.com/office/drawing/2014/main" id="{A9982257-36FE-308C-4450-E8F042A81A6B}"/>
                </a:ext>
              </a:extLst>
            </p:cNvPr>
            <p:cNvSpPr txBox="1"/>
            <p:nvPr/>
          </p:nvSpPr>
          <p:spPr>
            <a:xfrm>
              <a:off x="6861810" y="1899710"/>
              <a:ext cx="430530"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指标</a:t>
              </a:r>
            </a:p>
          </p:txBody>
        </p:sp>
        <p:sp>
          <p:nvSpPr>
            <p:cNvPr id="47" name="文本框 46">
              <a:extLst>
                <a:ext uri="{FF2B5EF4-FFF2-40B4-BE49-F238E27FC236}">
                  <a16:creationId xmlns:a16="http://schemas.microsoft.com/office/drawing/2014/main" id="{141A64BF-6E4B-6200-87FA-86CE9F46FB64}"/>
                </a:ext>
              </a:extLst>
            </p:cNvPr>
            <p:cNvSpPr txBox="1"/>
            <p:nvPr/>
          </p:nvSpPr>
          <p:spPr>
            <a:xfrm>
              <a:off x="8361671" y="1899710"/>
              <a:ext cx="612156"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2024年</a:t>
              </a:r>
            </a:p>
          </p:txBody>
        </p:sp>
        <p:sp>
          <p:nvSpPr>
            <p:cNvPr id="48" name="文本框 47">
              <a:extLst>
                <a:ext uri="{FF2B5EF4-FFF2-40B4-BE49-F238E27FC236}">
                  <a16:creationId xmlns:a16="http://schemas.microsoft.com/office/drawing/2014/main" id="{19E0496F-971D-CF80-7011-D646DC5E2C99}"/>
                </a:ext>
              </a:extLst>
            </p:cNvPr>
            <p:cNvSpPr txBox="1"/>
            <p:nvPr/>
          </p:nvSpPr>
          <p:spPr>
            <a:xfrm>
              <a:off x="9409421" y="1899710"/>
              <a:ext cx="612156"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2023年</a:t>
              </a:r>
            </a:p>
          </p:txBody>
        </p:sp>
        <p:sp>
          <p:nvSpPr>
            <p:cNvPr id="49" name="文本框 48">
              <a:extLst>
                <a:ext uri="{FF2B5EF4-FFF2-40B4-BE49-F238E27FC236}">
                  <a16:creationId xmlns:a16="http://schemas.microsoft.com/office/drawing/2014/main" id="{B8A642BF-5E62-CE1C-9DDC-617D1DD6D856}"/>
                </a:ext>
              </a:extLst>
            </p:cNvPr>
            <p:cNvSpPr txBox="1"/>
            <p:nvPr/>
          </p:nvSpPr>
          <p:spPr>
            <a:xfrm>
              <a:off x="10457171" y="1899710"/>
              <a:ext cx="612156"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2022年</a:t>
              </a:r>
            </a:p>
          </p:txBody>
        </p:sp>
        <p:sp>
          <p:nvSpPr>
            <p:cNvPr id="50" name="矩形 49">
              <a:extLst>
                <a:ext uri="{FF2B5EF4-FFF2-40B4-BE49-F238E27FC236}">
                  <a16:creationId xmlns:a16="http://schemas.microsoft.com/office/drawing/2014/main" id="{94E9C1C7-C12C-A89D-8F36-AAD12E2F7068}"/>
                </a:ext>
              </a:extLst>
            </p:cNvPr>
            <p:cNvSpPr/>
            <p:nvPr/>
          </p:nvSpPr>
          <p:spPr>
            <a:xfrm>
              <a:off x="6572250" y="2190750"/>
              <a:ext cx="4762500" cy="304800"/>
            </a:xfrm>
            <a:prstGeom prst="rect">
              <a:avLst/>
            </a:prstGeom>
            <a:solidFill>
              <a:srgbClr val="EBF4FF"/>
            </a:solidFill>
            <a:ln w="9525" cap="flat">
              <a:noFill/>
              <a:prstDash val="solid"/>
              <a:miter/>
            </a:ln>
          </p:spPr>
          <p:txBody>
            <a:bodyPr/>
            <a:lstStyle/>
            <a:p>
              <a:endParaRPr lang="zh-CN" altLang="en-US"/>
            </a:p>
          </p:txBody>
        </p:sp>
        <p:sp>
          <p:nvSpPr>
            <p:cNvPr id="51" name="文本框 50">
              <a:extLst>
                <a:ext uri="{FF2B5EF4-FFF2-40B4-BE49-F238E27FC236}">
                  <a16:creationId xmlns:a16="http://schemas.microsoft.com/office/drawing/2014/main" id="{2E970B8F-00DF-5FC5-2C91-62FF810877C0}"/>
                </a:ext>
              </a:extLst>
            </p:cNvPr>
            <p:cNvSpPr txBox="1"/>
            <p:nvPr/>
          </p:nvSpPr>
          <p:spPr>
            <a:xfrm>
              <a:off x="6861810" y="2223560"/>
              <a:ext cx="775401"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GDP(亿元)</a:t>
              </a:r>
            </a:p>
          </p:txBody>
        </p:sp>
        <p:sp>
          <p:nvSpPr>
            <p:cNvPr id="52" name="文本框 51">
              <a:extLst>
                <a:ext uri="{FF2B5EF4-FFF2-40B4-BE49-F238E27FC236}">
                  <a16:creationId xmlns:a16="http://schemas.microsoft.com/office/drawing/2014/main" id="{1598A301-5462-D48E-D29A-BE721C19DF80}"/>
                </a:ext>
              </a:extLst>
            </p:cNvPr>
            <p:cNvSpPr txBox="1"/>
            <p:nvPr/>
          </p:nvSpPr>
          <p:spPr>
            <a:xfrm>
              <a:off x="8273670" y="2223560"/>
              <a:ext cx="788159"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32,193.15</a:t>
              </a:r>
            </a:p>
          </p:txBody>
        </p:sp>
        <p:sp>
          <p:nvSpPr>
            <p:cNvPr id="53" name="文本框 52">
              <a:extLst>
                <a:ext uri="{FF2B5EF4-FFF2-40B4-BE49-F238E27FC236}">
                  <a16:creationId xmlns:a16="http://schemas.microsoft.com/office/drawing/2014/main" id="{1F3221DA-7349-E694-30F1-26CBA4AEAD30}"/>
                </a:ext>
              </a:extLst>
            </p:cNvPr>
            <p:cNvSpPr txBox="1"/>
            <p:nvPr/>
          </p:nvSpPr>
          <p:spPr>
            <a:xfrm>
              <a:off x="9340102" y="2223560"/>
              <a:ext cx="75079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30,614.28</a:t>
              </a:r>
            </a:p>
          </p:txBody>
        </p:sp>
        <p:sp>
          <p:nvSpPr>
            <p:cNvPr id="54" name="文本框 53">
              <a:extLst>
                <a:ext uri="{FF2B5EF4-FFF2-40B4-BE49-F238E27FC236}">
                  <a16:creationId xmlns:a16="http://schemas.microsoft.com/office/drawing/2014/main" id="{3C6FE802-F46E-0FFD-4571-0FBE0E227993}"/>
                </a:ext>
              </a:extLst>
            </p:cNvPr>
            <p:cNvSpPr txBox="1"/>
            <p:nvPr/>
          </p:nvSpPr>
          <p:spPr>
            <a:xfrm>
              <a:off x="10387852" y="2223560"/>
              <a:ext cx="75079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28,576.10</a:t>
              </a:r>
            </a:p>
          </p:txBody>
        </p:sp>
        <p:sp>
          <p:nvSpPr>
            <p:cNvPr id="55" name="矩形 54">
              <a:extLst>
                <a:ext uri="{FF2B5EF4-FFF2-40B4-BE49-F238E27FC236}">
                  <a16:creationId xmlns:a16="http://schemas.microsoft.com/office/drawing/2014/main" id="{360A71AE-1C0B-FF94-105A-3C4087D161A1}"/>
                </a:ext>
              </a:extLst>
            </p:cNvPr>
            <p:cNvSpPr/>
            <p:nvPr/>
          </p:nvSpPr>
          <p:spPr>
            <a:xfrm>
              <a:off x="6572250" y="2495550"/>
              <a:ext cx="4762500" cy="304800"/>
            </a:xfrm>
            <a:prstGeom prst="rect">
              <a:avLst/>
            </a:prstGeom>
            <a:solidFill>
              <a:srgbClr val="FFFFFF"/>
            </a:solidFill>
            <a:ln w="9525" cap="flat">
              <a:noFill/>
              <a:prstDash val="solid"/>
              <a:miter/>
            </a:ln>
          </p:spPr>
          <p:txBody>
            <a:bodyPr/>
            <a:lstStyle/>
            <a:p>
              <a:endParaRPr lang="zh-CN" altLang="en-US"/>
            </a:p>
          </p:txBody>
        </p:sp>
        <p:sp>
          <p:nvSpPr>
            <p:cNvPr id="56" name="文本框 55">
              <a:extLst>
                <a:ext uri="{FF2B5EF4-FFF2-40B4-BE49-F238E27FC236}">
                  <a16:creationId xmlns:a16="http://schemas.microsoft.com/office/drawing/2014/main" id="{D0412748-F907-583D-DFCE-DAF6993A27A8}"/>
                </a:ext>
              </a:extLst>
            </p:cNvPr>
            <p:cNvSpPr txBox="1"/>
            <p:nvPr/>
          </p:nvSpPr>
          <p:spPr>
            <a:xfrm>
              <a:off x="6861810" y="2528360"/>
              <a:ext cx="885562"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GDP增速(%)</a:t>
              </a:r>
            </a:p>
          </p:txBody>
        </p:sp>
        <p:sp>
          <p:nvSpPr>
            <p:cNvPr id="57" name="文本框 56">
              <a:extLst>
                <a:ext uri="{FF2B5EF4-FFF2-40B4-BE49-F238E27FC236}">
                  <a16:creationId xmlns:a16="http://schemas.microsoft.com/office/drawing/2014/main" id="{A7F0C2B6-7795-B3BB-AE21-72B610A10FEF}"/>
                </a:ext>
              </a:extLst>
            </p:cNvPr>
            <p:cNvSpPr txBox="1"/>
            <p:nvPr/>
          </p:nvSpPr>
          <p:spPr>
            <a:xfrm>
              <a:off x="8444080" y="2528360"/>
              <a:ext cx="447338" cy="254867"/>
            </a:xfrm>
            <a:prstGeom prst="rect">
              <a:avLst/>
            </a:prstGeom>
            <a:noFill/>
          </p:spPr>
          <p:txBody>
            <a:bodyPr wrap="none" rtlCol="0">
              <a:spAutoFit/>
            </a:bodyPr>
            <a:lstStyle/>
            <a:p>
              <a:pPr algn="l"/>
              <a:r>
                <a:rPr lang="zh-CN" altLang="en-US" sz="975" b="1" spc="0" baseline="0">
                  <a:ln/>
                  <a:solidFill>
                    <a:srgbClr val="2ECC71"/>
                  </a:solidFill>
                  <a:latin typeface="微软雅黑"/>
                  <a:ea typeface="微软雅黑"/>
                  <a:sym typeface="微软雅黑"/>
                  <a:rtl val="0"/>
                </a:rPr>
                <a:t>5.70</a:t>
              </a:r>
            </a:p>
          </p:txBody>
        </p:sp>
        <p:sp>
          <p:nvSpPr>
            <p:cNvPr id="58" name="文本框 57">
              <a:extLst>
                <a:ext uri="{FF2B5EF4-FFF2-40B4-BE49-F238E27FC236}">
                  <a16:creationId xmlns:a16="http://schemas.microsoft.com/office/drawing/2014/main" id="{EDF21D1F-4B27-A99A-157F-00F57CBFCFF4}"/>
                </a:ext>
              </a:extLst>
            </p:cNvPr>
            <p:cNvSpPr txBox="1"/>
            <p:nvPr/>
          </p:nvSpPr>
          <p:spPr>
            <a:xfrm>
              <a:off x="9500235" y="25283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6.10</a:t>
              </a:r>
            </a:p>
          </p:txBody>
        </p:sp>
        <p:sp>
          <p:nvSpPr>
            <p:cNvPr id="59" name="文本框 58">
              <a:extLst>
                <a:ext uri="{FF2B5EF4-FFF2-40B4-BE49-F238E27FC236}">
                  <a16:creationId xmlns:a16="http://schemas.microsoft.com/office/drawing/2014/main" id="{783CA52A-64A4-0CFB-88AE-E8458552ED00}"/>
                </a:ext>
              </a:extLst>
            </p:cNvPr>
            <p:cNvSpPr txBox="1"/>
            <p:nvPr/>
          </p:nvSpPr>
          <p:spPr>
            <a:xfrm>
              <a:off x="10547985" y="25283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2.50</a:t>
              </a:r>
            </a:p>
          </p:txBody>
        </p:sp>
        <p:sp>
          <p:nvSpPr>
            <p:cNvPr id="60" name="矩形 59">
              <a:extLst>
                <a:ext uri="{FF2B5EF4-FFF2-40B4-BE49-F238E27FC236}">
                  <a16:creationId xmlns:a16="http://schemas.microsoft.com/office/drawing/2014/main" id="{2BBB8983-1FE6-DCEA-D014-B9DBF995C828}"/>
                </a:ext>
              </a:extLst>
            </p:cNvPr>
            <p:cNvSpPr/>
            <p:nvPr/>
          </p:nvSpPr>
          <p:spPr>
            <a:xfrm>
              <a:off x="6572250" y="2800350"/>
              <a:ext cx="4762500" cy="304800"/>
            </a:xfrm>
            <a:prstGeom prst="rect">
              <a:avLst/>
            </a:prstGeom>
            <a:solidFill>
              <a:srgbClr val="EBF4FF"/>
            </a:solidFill>
            <a:ln w="9525" cap="flat">
              <a:noFill/>
              <a:prstDash val="solid"/>
              <a:miter/>
            </a:ln>
          </p:spPr>
          <p:txBody>
            <a:bodyPr/>
            <a:lstStyle/>
            <a:p>
              <a:endParaRPr lang="zh-CN" altLang="en-US"/>
            </a:p>
          </p:txBody>
        </p:sp>
        <p:sp>
          <p:nvSpPr>
            <p:cNvPr id="61" name="文本框 60">
              <a:extLst>
                <a:ext uri="{FF2B5EF4-FFF2-40B4-BE49-F238E27FC236}">
                  <a16:creationId xmlns:a16="http://schemas.microsoft.com/office/drawing/2014/main" id="{76FE37F0-374A-2FF2-6B9C-83191DDAA1F2}"/>
                </a:ext>
              </a:extLst>
            </p:cNvPr>
            <p:cNvSpPr txBox="1"/>
            <p:nvPr/>
          </p:nvSpPr>
          <p:spPr>
            <a:xfrm>
              <a:off x="6861810" y="2833160"/>
              <a:ext cx="899226"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人均GDP(元)</a:t>
              </a:r>
            </a:p>
          </p:txBody>
        </p:sp>
        <p:sp>
          <p:nvSpPr>
            <p:cNvPr id="62" name="文本框 61">
              <a:extLst>
                <a:ext uri="{FF2B5EF4-FFF2-40B4-BE49-F238E27FC236}">
                  <a16:creationId xmlns:a16="http://schemas.microsoft.com/office/drawing/2014/main" id="{3D61303A-6545-50B4-8B8A-10B7ADA2B377}"/>
                </a:ext>
              </a:extLst>
            </p:cNvPr>
            <p:cNvSpPr txBox="1"/>
            <p:nvPr/>
          </p:nvSpPr>
          <p:spPr>
            <a:xfrm>
              <a:off x="8329536" y="2833160"/>
              <a:ext cx="676426"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100,903</a:t>
              </a:r>
            </a:p>
          </p:txBody>
        </p:sp>
        <p:sp>
          <p:nvSpPr>
            <p:cNvPr id="63" name="文本框 62">
              <a:extLst>
                <a:ext uri="{FF2B5EF4-FFF2-40B4-BE49-F238E27FC236}">
                  <a16:creationId xmlns:a16="http://schemas.microsoft.com/office/drawing/2014/main" id="{6A51F2C4-6546-A84E-087B-680C83A0F101}"/>
                </a:ext>
              </a:extLst>
            </p:cNvPr>
            <p:cNvSpPr txBox="1"/>
            <p:nvPr/>
          </p:nvSpPr>
          <p:spPr>
            <a:xfrm>
              <a:off x="9427620" y="28331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94,147</a:t>
              </a:r>
            </a:p>
          </p:txBody>
        </p:sp>
        <p:sp>
          <p:nvSpPr>
            <p:cNvPr id="64" name="文本框 63">
              <a:extLst>
                <a:ext uri="{FF2B5EF4-FFF2-40B4-BE49-F238E27FC236}">
                  <a16:creationId xmlns:a16="http://schemas.microsoft.com/office/drawing/2014/main" id="{6B954DE1-0A49-F42B-F598-617F077E32B4}"/>
                </a:ext>
              </a:extLst>
            </p:cNvPr>
            <p:cNvSpPr txBox="1"/>
            <p:nvPr/>
          </p:nvSpPr>
          <p:spPr>
            <a:xfrm>
              <a:off x="10475370" y="28331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88,953</a:t>
              </a:r>
            </a:p>
          </p:txBody>
        </p:sp>
        <p:sp>
          <p:nvSpPr>
            <p:cNvPr id="65" name="矩形 64">
              <a:extLst>
                <a:ext uri="{FF2B5EF4-FFF2-40B4-BE49-F238E27FC236}">
                  <a16:creationId xmlns:a16="http://schemas.microsoft.com/office/drawing/2014/main" id="{54536797-0B34-A4F6-68CF-0138254E2A57}"/>
                </a:ext>
              </a:extLst>
            </p:cNvPr>
            <p:cNvSpPr/>
            <p:nvPr/>
          </p:nvSpPr>
          <p:spPr>
            <a:xfrm>
              <a:off x="6572250" y="3105150"/>
              <a:ext cx="4762500" cy="304800"/>
            </a:xfrm>
            <a:prstGeom prst="rect">
              <a:avLst/>
            </a:prstGeom>
            <a:solidFill>
              <a:srgbClr val="FFFFFF"/>
            </a:solidFill>
            <a:ln w="9525" cap="flat">
              <a:noFill/>
              <a:prstDash val="solid"/>
              <a:miter/>
            </a:ln>
          </p:spPr>
          <p:txBody>
            <a:bodyPr/>
            <a:lstStyle/>
            <a:p>
              <a:endParaRPr lang="zh-CN" altLang="en-US"/>
            </a:p>
          </p:txBody>
        </p:sp>
        <p:sp>
          <p:nvSpPr>
            <p:cNvPr id="66" name="文本框 65">
              <a:extLst>
                <a:ext uri="{FF2B5EF4-FFF2-40B4-BE49-F238E27FC236}">
                  <a16:creationId xmlns:a16="http://schemas.microsoft.com/office/drawing/2014/main" id="{E14CA366-AC39-3BE7-2EE8-4154E4ED58DB}"/>
                </a:ext>
              </a:extLst>
            </p:cNvPr>
            <p:cNvSpPr txBox="1"/>
            <p:nvPr/>
          </p:nvSpPr>
          <p:spPr>
            <a:xfrm>
              <a:off x="6861810" y="3137960"/>
              <a:ext cx="1008541"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常住人口(万人)</a:t>
              </a:r>
            </a:p>
          </p:txBody>
        </p:sp>
        <p:sp>
          <p:nvSpPr>
            <p:cNvPr id="67" name="文本框 66">
              <a:extLst>
                <a:ext uri="{FF2B5EF4-FFF2-40B4-BE49-F238E27FC236}">
                  <a16:creationId xmlns:a16="http://schemas.microsoft.com/office/drawing/2014/main" id="{1096F1B9-7C87-7DB0-4D6F-F728B9DE4B47}"/>
                </a:ext>
              </a:extLst>
            </p:cNvPr>
            <p:cNvSpPr txBox="1"/>
            <p:nvPr/>
          </p:nvSpPr>
          <p:spPr>
            <a:xfrm>
              <a:off x="8311851" y="3137960"/>
              <a:ext cx="711796"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3,190.47</a:t>
              </a:r>
            </a:p>
          </p:txBody>
        </p:sp>
        <p:sp>
          <p:nvSpPr>
            <p:cNvPr id="68" name="文本框 67">
              <a:extLst>
                <a:ext uri="{FF2B5EF4-FFF2-40B4-BE49-F238E27FC236}">
                  <a16:creationId xmlns:a16="http://schemas.microsoft.com/office/drawing/2014/main" id="{5A6E55EF-B64D-1E1C-ACFD-81180DFA1750}"/>
                </a:ext>
              </a:extLst>
            </p:cNvPr>
            <p:cNvSpPr txBox="1"/>
            <p:nvPr/>
          </p:nvSpPr>
          <p:spPr>
            <a:xfrm>
              <a:off x="9376410" y="31379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3,191.43</a:t>
              </a:r>
            </a:p>
          </p:txBody>
        </p:sp>
        <p:sp>
          <p:nvSpPr>
            <p:cNvPr id="69" name="文本框 68">
              <a:extLst>
                <a:ext uri="{FF2B5EF4-FFF2-40B4-BE49-F238E27FC236}">
                  <a16:creationId xmlns:a16="http://schemas.microsoft.com/office/drawing/2014/main" id="{4D86C876-4E66-F6DC-0F32-9DF7E067C6D9}"/>
                </a:ext>
              </a:extLst>
            </p:cNvPr>
            <p:cNvSpPr txBox="1"/>
            <p:nvPr/>
          </p:nvSpPr>
          <p:spPr>
            <a:xfrm>
              <a:off x="10424160" y="31379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3,213.34</a:t>
              </a:r>
            </a:p>
          </p:txBody>
        </p:sp>
        <p:sp>
          <p:nvSpPr>
            <p:cNvPr id="70" name="矩形 69">
              <a:extLst>
                <a:ext uri="{FF2B5EF4-FFF2-40B4-BE49-F238E27FC236}">
                  <a16:creationId xmlns:a16="http://schemas.microsoft.com/office/drawing/2014/main" id="{F431C7AF-193F-9691-6AAA-CA5A7366F5A0}"/>
                </a:ext>
              </a:extLst>
            </p:cNvPr>
            <p:cNvSpPr/>
            <p:nvPr/>
          </p:nvSpPr>
          <p:spPr>
            <a:xfrm>
              <a:off x="6572250" y="3409950"/>
              <a:ext cx="4762500" cy="304800"/>
            </a:xfrm>
            <a:prstGeom prst="rect">
              <a:avLst/>
            </a:prstGeom>
            <a:solidFill>
              <a:srgbClr val="EBF4FF"/>
            </a:solidFill>
            <a:ln w="9525" cap="flat">
              <a:noFill/>
              <a:prstDash val="solid"/>
              <a:miter/>
            </a:ln>
          </p:spPr>
          <p:txBody>
            <a:bodyPr/>
            <a:lstStyle/>
            <a:p>
              <a:endParaRPr lang="zh-CN" altLang="en-US"/>
            </a:p>
          </p:txBody>
        </p:sp>
        <p:sp>
          <p:nvSpPr>
            <p:cNvPr id="71" name="文本框 70">
              <a:extLst>
                <a:ext uri="{FF2B5EF4-FFF2-40B4-BE49-F238E27FC236}">
                  <a16:creationId xmlns:a16="http://schemas.microsoft.com/office/drawing/2014/main" id="{25223B20-0BD3-0F65-6A57-D65F0804F016}"/>
                </a:ext>
              </a:extLst>
            </p:cNvPr>
            <p:cNvSpPr txBox="1"/>
            <p:nvPr/>
          </p:nvSpPr>
          <p:spPr>
            <a:xfrm>
              <a:off x="6861810" y="3442760"/>
              <a:ext cx="1132366"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工业增加值(亿元)</a:t>
              </a:r>
            </a:p>
          </p:txBody>
        </p:sp>
        <p:sp>
          <p:nvSpPr>
            <p:cNvPr id="72" name="文本框 71">
              <a:extLst>
                <a:ext uri="{FF2B5EF4-FFF2-40B4-BE49-F238E27FC236}">
                  <a16:creationId xmlns:a16="http://schemas.microsoft.com/office/drawing/2014/main" id="{E2035020-17D0-55F0-7CB6-38411D4EC841}"/>
                </a:ext>
              </a:extLst>
            </p:cNvPr>
            <p:cNvSpPr txBox="1"/>
            <p:nvPr/>
          </p:nvSpPr>
          <p:spPr>
            <a:xfrm>
              <a:off x="8311851" y="3442760"/>
              <a:ext cx="711796"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8,912.03</a:t>
              </a:r>
            </a:p>
          </p:txBody>
        </p:sp>
        <p:sp>
          <p:nvSpPr>
            <p:cNvPr id="73" name="文本框 72">
              <a:extLst>
                <a:ext uri="{FF2B5EF4-FFF2-40B4-BE49-F238E27FC236}">
                  <a16:creationId xmlns:a16="http://schemas.microsoft.com/office/drawing/2014/main" id="{5989776F-C4C4-27D6-2620-F36B7E606041}"/>
                </a:ext>
              </a:extLst>
            </p:cNvPr>
            <p:cNvSpPr txBox="1"/>
            <p:nvPr/>
          </p:nvSpPr>
          <p:spPr>
            <a:xfrm>
              <a:off x="9376410" y="34427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8,333.35</a:t>
              </a:r>
            </a:p>
          </p:txBody>
        </p:sp>
        <p:sp>
          <p:nvSpPr>
            <p:cNvPr id="74" name="文本框 73">
              <a:extLst>
                <a:ext uri="{FF2B5EF4-FFF2-40B4-BE49-F238E27FC236}">
                  <a16:creationId xmlns:a16="http://schemas.microsoft.com/office/drawing/2014/main" id="{07574A5B-ED9F-2676-922A-C4E11D249960}"/>
                </a:ext>
              </a:extLst>
            </p:cNvPr>
            <p:cNvSpPr txBox="1"/>
            <p:nvPr/>
          </p:nvSpPr>
          <p:spPr>
            <a:xfrm>
              <a:off x="10424160" y="34427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7,966.27</a:t>
              </a:r>
            </a:p>
          </p:txBody>
        </p:sp>
        <p:sp>
          <p:nvSpPr>
            <p:cNvPr id="75" name="矩形 74">
              <a:extLst>
                <a:ext uri="{FF2B5EF4-FFF2-40B4-BE49-F238E27FC236}">
                  <a16:creationId xmlns:a16="http://schemas.microsoft.com/office/drawing/2014/main" id="{17ABB6A3-3C41-9D6E-45F7-18BB5E1F9D9B}"/>
                </a:ext>
              </a:extLst>
            </p:cNvPr>
            <p:cNvSpPr/>
            <p:nvPr/>
          </p:nvSpPr>
          <p:spPr>
            <a:xfrm>
              <a:off x="6572250" y="3714750"/>
              <a:ext cx="4762500" cy="304800"/>
            </a:xfrm>
            <a:prstGeom prst="rect">
              <a:avLst/>
            </a:prstGeom>
            <a:solidFill>
              <a:srgbClr val="FFFFFF"/>
            </a:solidFill>
            <a:ln w="9525" cap="flat">
              <a:noFill/>
              <a:prstDash val="solid"/>
              <a:miter/>
            </a:ln>
          </p:spPr>
          <p:txBody>
            <a:bodyPr/>
            <a:lstStyle/>
            <a:p>
              <a:endParaRPr lang="zh-CN" altLang="en-US"/>
            </a:p>
          </p:txBody>
        </p:sp>
        <p:sp>
          <p:nvSpPr>
            <p:cNvPr id="76" name="文本框 75">
              <a:extLst>
                <a:ext uri="{FF2B5EF4-FFF2-40B4-BE49-F238E27FC236}">
                  <a16:creationId xmlns:a16="http://schemas.microsoft.com/office/drawing/2014/main" id="{043502E9-1B8E-91B0-CF07-CD07567E68D9}"/>
                </a:ext>
              </a:extLst>
            </p:cNvPr>
            <p:cNvSpPr txBox="1"/>
            <p:nvPr/>
          </p:nvSpPr>
          <p:spPr>
            <a:xfrm>
              <a:off x="6861810" y="3747560"/>
              <a:ext cx="1366351"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固定资产投资增速(%)</a:t>
              </a:r>
            </a:p>
          </p:txBody>
        </p:sp>
        <p:sp>
          <p:nvSpPr>
            <p:cNvPr id="77" name="文本框 76">
              <a:extLst>
                <a:ext uri="{FF2B5EF4-FFF2-40B4-BE49-F238E27FC236}">
                  <a16:creationId xmlns:a16="http://schemas.microsoft.com/office/drawing/2014/main" id="{827D4619-8B03-8F9C-4A5E-77B92A71E188}"/>
                </a:ext>
              </a:extLst>
            </p:cNvPr>
            <p:cNvSpPr txBox="1"/>
            <p:nvPr/>
          </p:nvSpPr>
          <p:spPr>
            <a:xfrm>
              <a:off x="8444080" y="3747560"/>
              <a:ext cx="447338" cy="254867"/>
            </a:xfrm>
            <a:prstGeom prst="rect">
              <a:avLst/>
            </a:prstGeom>
            <a:noFill/>
          </p:spPr>
          <p:txBody>
            <a:bodyPr wrap="none" rtlCol="0">
              <a:spAutoFit/>
            </a:bodyPr>
            <a:lstStyle/>
            <a:p>
              <a:pPr algn="l"/>
              <a:r>
                <a:rPr lang="zh-CN" altLang="en-US" sz="975" b="1" spc="0" baseline="0">
                  <a:ln/>
                  <a:solidFill>
                    <a:srgbClr val="E63946"/>
                  </a:solidFill>
                  <a:latin typeface="微软雅黑"/>
                  <a:ea typeface="微软雅黑"/>
                  <a:sym typeface="微软雅黑"/>
                  <a:rtl val="0"/>
                </a:rPr>
                <a:t>0.10</a:t>
              </a:r>
            </a:p>
          </p:txBody>
        </p:sp>
        <p:sp>
          <p:nvSpPr>
            <p:cNvPr id="78" name="文本框 77">
              <a:extLst>
                <a:ext uri="{FF2B5EF4-FFF2-40B4-BE49-F238E27FC236}">
                  <a16:creationId xmlns:a16="http://schemas.microsoft.com/office/drawing/2014/main" id="{B3A83477-F8A2-DB60-8FB9-E23D60B15613}"/>
                </a:ext>
              </a:extLst>
            </p:cNvPr>
            <p:cNvSpPr txBox="1"/>
            <p:nvPr/>
          </p:nvSpPr>
          <p:spPr>
            <a:xfrm>
              <a:off x="9500235" y="37475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4.30</a:t>
              </a:r>
            </a:p>
          </p:txBody>
        </p:sp>
        <p:sp>
          <p:nvSpPr>
            <p:cNvPr id="79" name="文本框 78">
              <a:extLst>
                <a:ext uri="{FF2B5EF4-FFF2-40B4-BE49-F238E27FC236}">
                  <a16:creationId xmlns:a16="http://schemas.microsoft.com/office/drawing/2014/main" id="{5ED74420-8BA4-2691-DE53-D05794929992}"/>
                </a:ext>
              </a:extLst>
            </p:cNvPr>
            <p:cNvSpPr txBox="1"/>
            <p:nvPr/>
          </p:nvSpPr>
          <p:spPr>
            <a:xfrm>
              <a:off x="10547985" y="37475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0.70</a:t>
              </a:r>
            </a:p>
          </p:txBody>
        </p:sp>
        <p:sp>
          <p:nvSpPr>
            <p:cNvPr id="80" name="矩形 79">
              <a:extLst>
                <a:ext uri="{FF2B5EF4-FFF2-40B4-BE49-F238E27FC236}">
                  <a16:creationId xmlns:a16="http://schemas.microsoft.com/office/drawing/2014/main" id="{699C8477-76E5-501A-52DA-C85C877130BF}"/>
                </a:ext>
              </a:extLst>
            </p:cNvPr>
            <p:cNvSpPr/>
            <p:nvPr/>
          </p:nvSpPr>
          <p:spPr>
            <a:xfrm>
              <a:off x="6572250" y="4019550"/>
              <a:ext cx="4762500" cy="304800"/>
            </a:xfrm>
            <a:prstGeom prst="rect">
              <a:avLst/>
            </a:prstGeom>
            <a:solidFill>
              <a:srgbClr val="EBF4FF"/>
            </a:solidFill>
            <a:ln w="9525" cap="flat">
              <a:noFill/>
              <a:prstDash val="solid"/>
              <a:miter/>
            </a:ln>
          </p:spPr>
          <p:txBody>
            <a:bodyPr/>
            <a:lstStyle/>
            <a:p>
              <a:endParaRPr lang="zh-CN" altLang="en-US"/>
            </a:p>
          </p:txBody>
        </p:sp>
        <p:sp>
          <p:nvSpPr>
            <p:cNvPr id="81" name="文本框 80">
              <a:extLst>
                <a:ext uri="{FF2B5EF4-FFF2-40B4-BE49-F238E27FC236}">
                  <a16:creationId xmlns:a16="http://schemas.microsoft.com/office/drawing/2014/main" id="{CC4F2569-8661-1A89-3C04-01BEEA4D6D70}"/>
                </a:ext>
              </a:extLst>
            </p:cNvPr>
            <p:cNvSpPr txBox="1"/>
            <p:nvPr/>
          </p:nvSpPr>
          <p:spPr>
            <a:xfrm>
              <a:off x="6861810" y="4052360"/>
              <a:ext cx="1627666"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社会消费品零售总额(亿元)</a:t>
              </a:r>
            </a:p>
          </p:txBody>
        </p:sp>
        <p:sp>
          <p:nvSpPr>
            <p:cNvPr id="82" name="文本框 81">
              <a:extLst>
                <a:ext uri="{FF2B5EF4-FFF2-40B4-BE49-F238E27FC236}">
                  <a16:creationId xmlns:a16="http://schemas.microsoft.com/office/drawing/2014/main" id="{437D46D2-DB01-A28C-96A5-DE854583747A}"/>
                </a:ext>
              </a:extLst>
            </p:cNvPr>
            <p:cNvSpPr txBox="1"/>
            <p:nvPr/>
          </p:nvSpPr>
          <p:spPr>
            <a:xfrm>
              <a:off x="8273670" y="4052360"/>
              <a:ext cx="788159"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16,190.41</a:t>
              </a:r>
            </a:p>
          </p:txBody>
        </p:sp>
        <p:sp>
          <p:nvSpPr>
            <p:cNvPr id="83" name="文本框 82">
              <a:extLst>
                <a:ext uri="{FF2B5EF4-FFF2-40B4-BE49-F238E27FC236}">
                  <a16:creationId xmlns:a16="http://schemas.microsoft.com/office/drawing/2014/main" id="{B9889FF4-CA62-69A8-5EF3-8D8CAF936C0E}"/>
                </a:ext>
              </a:extLst>
            </p:cNvPr>
            <p:cNvSpPr txBox="1"/>
            <p:nvPr/>
          </p:nvSpPr>
          <p:spPr>
            <a:xfrm>
              <a:off x="9340102" y="4052360"/>
              <a:ext cx="75079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15,130.25</a:t>
              </a:r>
            </a:p>
          </p:txBody>
        </p:sp>
        <p:sp>
          <p:nvSpPr>
            <p:cNvPr id="84" name="文本框 83">
              <a:extLst>
                <a:ext uri="{FF2B5EF4-FFF2-40B4-BE49-F238E27FC236}">
                  <a16:creationId xmlns:a16="http://schemas.microsoft.com/office/drawing/2014/main" id="{CF2089B3-A736-4867-C8DF-657F59AAF82D}"/>
                </a:ext>
              </a:extLst>
            </p:cNvPr>
            <p:cNvSpPr txBox="1"/>
            <p:nvPr/>
          </p:nvSpPr>
          <p:spPr>
            <a:xfrm>
              <a:off x="10387852" y="4052360"/>
              <a:ext cx="75079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13,926.08</a:t>
              </a:r>
            </a:p>
          </p:txBody>
        </p:sp>
        <p:sp>
          <p:nvSpPr>
            <p:cNvPr id="85" name="矩形 84">
              <a:extLst>
                <a:ext uri="{FF2B5EF4-FFF2-40B4-BE49-F238E27FC236}">
                  <a16:creationId xmlns:a16="http://schemas.microsoft.com/office/drawing/2014/main" id="{B9F7B7D1-A2C0-0EF2-BAB8-27E374FCD264}"/>
                </a:ext>
              </a:extLst>
            </p:cNvPr>
            <p:cNvSpPr/>
            <p:nvPr/>
          </p:nvSpPr>
          <p:spPr>
            <a:xfrm>
              <a:off x="6572250" y="4324350"/>
              <a:ext cx="4762500" cy="304800"/>
            </a:xfrm>
            <a:prstGeom prst="rect">
              <a:avLst/>
            </a:prstGeom>
            <a:solidFill>
              <a:srgbClr val="FFFFFF"/>
            </a:solidFill>
            <a:ln w="9525" cap="flat">
              <a:noFill/>
              <a:prstDash val="solid"/>
              <a:miter/>
            </a:ln>
          </p:spPr>
          <p:txBody>
            <a:bodyPr/>
            <a:lstStyle/>
            <a:p>
              <a:endParaRPr lang="zh-CN" altLang="en-US"/>
            </a:p>
          </p:txBody>
        </p:sp>
        <p:sp>
          <p:nvSpPr>
            <p:cNvPr id="86" name="文本框 85">
              <a:extLst>
                <a:ext uri="{FF2B5EF4-FFF2-40B4-BE49-F238E27FC236}">
                  <a16:creationId xmlns:a16="http://schemas.microsoft.com/office/drawing/2014/main" id="{7C7E25E9-6D10-2A46-CC0A-23CDFDD8A7FD}"/>
                </a:ext>
              </a:extLst>
            </p:cNvPr>
            <p:cNvSpPr txBox="1"/>
            <p:nvPr/>
          </p:nvSpPr>
          <p:spPr>
            <a:xfrm>
              <a:off x="6861810" y="4357160"/>
              <a:ext cx="1751491"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城镇居民人均可支配收入(元)</a:t>
              </a:r>
            </a:p>
          </p:txBody>
        </p:sp>
        <p:sp>
          <p:nvSpPr>
            <p:cNvPr id="87" name="文本框 86">
              <a:extLst>
                <a:ext uri="{FF2B5EF4-FFF2-40B4-BE49-F238E27FC236}">
                  <a16:creationId xmlns:a16="http://schemas.microsoft.com/office/drawing/2014/main" id="{0AD0481B-164E-8930-FE84-54303C9D87B0}"/>
                </a:ext>
              </a:extLst>
            </p:cNvPr>
            <p:cNvSpPr txBox="1"/>
            <p:nvPr/>
          </p:nvSpPr>
          <p:spPr>
            <a:xfrm>
              <a:off x="8367718" y="4357160"/>
              <a:ext cx="600063"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49,778</a:t>
              </a:r>
            </a:p>
          </p:txBody>
        </p:sp>
        <p:sp>
          <p:nvSpPr>
            <p:cNvPr id="88" name="文本框 87">
              <a:extLst>
                <a:ext uri="{FF2B5EF4-FFF2-40B4-BE49-F238E27FC236}">
                  <a16:creationId xmlns:a16="http://schemas.microsoft.com/office/drawing/2014/main" id="{2D112DF4-3AF6-0901-DBC4-4FFBCE23E7B6}"/>
                </a:ext>
              </a:extLst>
            </p:cNvPr>
            <p:cNvSpPr txBox="1"/>
            <p:nvPr/>
          </p:nvSpPr>
          <p:spPr>
            <a:xfrm>
              <a:off x="9427620" y="43571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47,435</a:t>
              </a:r>
            </a:p>
          </p:txBody>
        </p:sp>
        <p:sp>
          <p:nvSpPr>
            <p:cNvPr id="89" name="文本框 88">
              <a:extLst>
                <a:ext uri="{FF2B5EF4-FFF2-40B4-BE49-F238E27FC236}">
                  <a16:creationId xmlns:a16="http://schemas.microsoft.com/office/drawing/2014/main" id="{39601DF5-D312-5344-0FD2-2A965B31EC8A}"/>
                </a:ext>
              </a:extLst>
            </p:cNvPr>
            <p:cNvSpPr txBox="1"/>
            <p:nvPr/>
          </p:nvSpPr>
          <p:spPr>
            <a:xfrm>
              <a:off x="10475370" y="43571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45,509</a:t>
              </a:r>
            </a:p>
          </p:txBody>
        </p:sp>
      </p:grpSp>
      <p:grpSp>
        <p:nvGrpSpPr>
          <p:cNvPr id="90" name="SVG Image 4">
            <a:extLst>
              <a:ext uri="{FF2B5EF4-FFF2-40B4-BE49-F238E27FC236}">
                <a16:creationId xmlns:a16="http://schemas.microsoft.com/office/drawing/2014/main" id="{0D5FDB68-A841-D44A-480F-34EE042FD223}"/>
              </a:ext>
            </a:extLst>
          </p:cNvPr>
          <p:cNvGrpSpPr/>
          <p:nvPr/>
        </p:nvGrpSpPr>
        <p:grpSpPr>
          <a:xfrm>
            <a:off x="571500" y="4191000"/>
            <a:ext cx="5524500" cy="1143000"/>
            <a:chOff x="571500" y="4191000"/>
            <a:chExt cx="5524500" cy="1143000"/>
          </a:xfrm>
        </p:grpSpPr>
        <p:sp>
          <p:nvSpPr>
            <p:cNvPr id="91" name="任意形状 90">
              <a:extLst>
                <a:ext uri="{FF2B5EF4-FFF2-40B4-BE49-F238E27FC236}">
                  <a16:creationId xmlns:a16="http://schemas.microsoft.com/office/drawing/2014/main" id="{E17CCD51-8540-6DA9-E142-B16BFFCDA5F4}"/>
                </a:ext>
              </a:extLst>
            </p:cNvPr>
            <p:cNvSpPr/>
            <p:nvPr/>
          </p:nvSpPr>
          <p:spPr>
            <a:xfrm>
              <a:off x="571500" y="4191000"/>
              <a:ext cx="5524500" cy="1143000"/>
            </a:xfrm>
            <a:custGeom>
              <a:avLst/>
              <a:gdLst>
                <a:gd name="csX0" fmla="*/ 76200 w 5524500"/>
                <a:gd name="csY0" fmla="*/ 0 h 1143000"/>
                <a:gd name="csX1" fmla="*/ 5448300 w 5524500"/>
                <a:gd name="csY1" fmla="*/ 0 h 1143000"/>
                <a:gd name="csX2" fmla="*/ 5524500 w 5524500"/>
                <a:gd name="csY2" fmla="*/ 76200 h 1143000"/>
                <a:gd name="csX3" fmla="*/ 5524500 w 5524500"/>
                <a:gd name="csY3" fmla="*/ 1066800 h 1143000"/>
                <a:gd name="csX4" fmla="*/ 5448300 w 5524500"/>
                <a:gd name="csY4" fmla="*/ 1143000 h 1143000"/>
                <a:gd name="csX5" fmla="*/ 76200 w 5524500"/>
                <a:gd name="csY5" fmla="*/ 1143000 h 1143000"/>
                <a:gd name="csX6" fmla="*/ 0 w 5524500"/>
                <a:gd name="csY6" fmla="*/ 1066800 h 1143000"/>
                <a:gd name="csX7" fmla="*/ 0 w 5524500"/>
                <a:gd name="csY7" fmla="*/ 76200 h 1143000"/>
                <a:gd name="csX8" fmla="*/ 76200 w 552450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1143000">
                  <a:moveTo>
                    <a:pt x="76200" y="0"/>
                  </a:moveTo>
                  <a:lnTo>
                    <a:pt x="5448300" y="0"/>
                  </a:lnTo>
                  <a:cubicBezTo>
                    <a:pt x="5490384" y="0"/>
                    <a:pt x="5524500" y="34116"/>
                    <a:pt x="5524500" y="76200"/>
                  </a:cubicBezTo>
                  <a:lnTo>
                    <a:pt x="5524500" y="1066800"/>
                  </a:lnTo>
                  <a:cubicBezTo>
                    <a:pt x="5524500" y="1108884"/>
                    <a:pt x="5490384" y="1143000"/>
                    <a:pt x="54483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92" name="文本框 91">
              <a:extLst>
                <a:ext uri="{FF2B5EF4-FFF2-40B4-BE49-F238E27FC236}">
                  <a16:creationId xmlns:a16="http://schemas.microsoft.com/office/drawing/2014/main" id="{CFD86055-2547-48A0-07C3-98ACCC938CA9}"/>
                </a:ext>
              </a:extLst>
            </p:cNvPr>
            <p:cNvSpPr txBox="1"/>
            <p:nvPr/>
          </p:nvSpPr>
          <p:spPr>
            <a:xfrm>
              <a:off x="765810" y="4337556"/>
              <a:ext cx="716280" cy="267438"/>
            </a:xfrm>
            <a:prstGeom prst="rect">
              <a:avLst/>
            </a:prstGeom>
            <a:noFill/>
          </p:spPr>
          <p:txBody>
            <a:bodyPr wrap="none" rtlCol="0">
              <a:spAutoFit/>
            </a:bodyPr>
            <a:lstStyle/>
            <a:p>
              <a:pPr algn="l"/>
              <a:r>
                <a:rPr lang="zh-CN" altLang="en-US" sz="1050" b="1" spc="0" baseline="0">
                  <a:ln/>
                  <a:solidFill>
                    <a:srgbClr val="4A90D9"/>
                  </a:solidFill>
                  <a:latin typeface="微软雅黑"/>
                  <a:ea typeface="微软雅黑"/>
                  <a:sym typeface="微软雅黑"/>
                  <a:rtl val="0"/>
                </a:rPr>
                <a:t>核心洞见</a:t>
              </a:r>
            </a:p>
          </p:txBody>
        </p:sp>
        <p:sp>
          <p:nvSpPr>
            <p:cNvPr id="93" name="文本框 92">
              <a:extLst>
                <a:ext uri="{FF2B5EF4-FFF2-40B4-BE49-F238E27FC236}">
                  <a16:creationId xmlns:a16="http://schemas.microsoft.com/office/drawing/2014/main" id="{513DB05F-8E69-B4E1-3C2E-E00BD8234A2F}"/>
                </a:ext>
              </a:extLst>
            </p:cNvPr>
            <p:cNvSpPr txBox="1"/>
            <p:nvPr/>
          </p:nvSpPr>
          <p:spPr>
            <a:xfrm>
              <a:off x="765810" y="4633385"/>
              <a:ext cx="2568506"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GDP突破3.2万亿，经济总量稳居全国前列</a:t>
              </a:r>
            </a:p>
          </p:txBody>
        </p:sp>
        <p:sp>
          <p:nvSpPr>
            <p:cNvPr id="94" name="文本框 93">
              <a:extLst>
                <a:ext uri="{FF2B5EF4-FFF2-40B4-BE49-F238E27FC236}">
                  <a16:creationId xmlns:a16="http://schemas.microsoft.com/office/drawing/2014/main" id="{AF55B11F-727B-B27C-A844-B3AD4234CEF1}"/>
                </a:ext>
              </a:extLst>
            </p:cNvPr>
            <p:cNvSpPr txBox="1"/>
            <p:nvPr/>
          </p:nvSpPr>
          <p:spPr>
            <a:xfrm>
              <a:off x="765810" y="4842935"/>
              <a:ext cx="2910173"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人均GDP突破10万元，达到中等发达经济体水平</a:t>
              </a:r>
            </a:p>
          </p:txBody>
        </p:sp>
        <p:sp>
          <p:nvSpPr>
            <p:cNvPr id="95" name="文本框 94">
              <a:extLst>
                <a:ext uri="{FF2B5EF4-FFF2-40B4-BE49-F238E27FC236}">
                  <a16:creationId xmlns:a16="http://schemas.microsoft.com/office/drawing/2014/main" id="{30BAD0EA-387B-F5C7-D78E-0BDBEA4EA6AD}"/>
                </a:ext>
              </a:extLst>
            </p:cNvPr>
            <p:cNvSpPr txBox="1"/>
            <p:nvPr/>
          </p:nvSpPr>
          <p:spPr>
            <a:xfrm>
              <a:off x="765810" y="5052485"/>
              <a:ext cx="2489120"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消费市场活跃，社零总额同比增长7.00%</a:t>
              </a:r>
            </a:p>
          </p:txBody>
        </p:sp>
      </p:grpSp>
      <p:sp>
        <p:nvSpPr>
          <p:cNvPr id="96" name="矩形 95">
            <a:extLst>
              <a:ext uri="{FF2B5EF4-FFF2-40B4-BE49-F238E27FC236}">
                <a16:creationId xmlns:a16="http://schemas.microsoft.com/office/drawing/2014/main" id="{0B38FDAF-A56B-DF18-C862-EC3848FBD7A7}"/>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3FFF454-EC7F-5A4A-095F-2841D1A3A39B}"/>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A59CB2CA-5B16-8005-CC49-FD7CFA705044}"/>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04B8EBD7-3EC5-2BF5-0B4D-1C4A863C66F8}"/>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A3A9CBD0-E8C8-3BF4-1B6C-3023F99DFD2C}"/>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F4909E13-BAAC-6665-F59E-F2434D00FF35}"/>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552B739B-5A08-2D2B-163F-A243C26307D3}"/>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01 经济情况</a:t>
            </a:r>
          </a:p>
        </p:txBody>
      </p:sp>
      <p:sp>
        <p:nvSpPr>
          <p:cNvPr id="10" name="文本框 9">
            <a:extLst>
              <a:ext uri="{FF2B5EF4-FFF2-40B4-BE49-F238E27FC236}">
                <a16:creationId xmlns:a16="http://schemas.microsoft.com/office/drawing/2014/main" id="{952FA9F5-08BB-2E5F-8CC5-1C2BDC6CB1FD}"/>
              </a:ext>
            </a:extLst>
          </p:cNvPr>
          <p:cNvSpPr txBox="1"/>
          <p:nvPr/>
        </p:nvSpPr>
        <p:spPr>
          <a:xfrm>
            <a:off x="11158570" y="175131"/>
            <a:ext cx="55336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 / 20</a:t>
            </a:r>
          </a:p>
        </p:txBody>
      </p:sp>
      <p:sp>
        <p:nvSpPr>
          <p:cNvPr id="11" name="矩形 10">
            <a:extLst>
              <a:ext uri="{FF2B5EF4-FFF2-40B4-BE49-F238E27FC236}">
                <a16:creationId xmlns:a16="http://schemas.microsoft.com/office/drawing/2014/main" id="{275F9C46-F980-6401-4ADC-A92EE8346F7A}"/>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ECD92953-48D1-C8A1-63D9-33F0AF8F366F}"/>
              </a:ext>
            </a:extLst>
          </p:cNvPr>
          <p:cNvSpPr txBox="1"/>
          <p:nvPr/>
        </p:nvSpPr>
        <p:spPr>
          <a:xfrm>
            <a:off x="480060" y="672208"/>
            <a:ext cx="1734245"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1.2 辖区经济</a:t>
            </a:r>
          </a:p>
        </p:txBody>
      </p:sp>
      <p:sp>
        <p:nvSpPr>
          <p:cNvPr id="13" name="文本框 12">
            <a:extLst>
              <a:ext uri="{FF2B5EF4-FFF2-40B4-BE49-F238E27FC236}">
                <a16:creationId xmlns:a16="http://schemas.microsoft.com/office/drawing/2014/main" id="{857D638E-DC51-1587-4EC1-59E3439A94FC}"/>
              </a:ext>
            </a:extLst>
          </p:cNvPr>
          <p:cNvSpPr txBox="1"/>
          <p:nvPr/>
        </p:nvSpPr>
        <p:spPr>
          <a:xfrm>
            <a:off x="2575560" y="793149"/>
            <a:ext cx="2069499"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下属辖区38个 | 2024年数据</a:t>
            </a:r>
          </a:p>
        </p:txBody>
      </p:sp>
      <p:grpSp>
        <p:nvGrpSpPr>
          <p:cNvPr id="14" name="SVG Image 5">
            <a:extLst>
              <a:ext uri="{FF2B5EF4-FFF2-40B4-BE49-F238E27FC236}">
                <a16:creationId xmlns:a16="http://schemas.microsoft.com/office/drawing/2014/main" id="{26D45EBD-391F-1433-4056-BEF17C858C0D}"/>
              </a:ext>
            </a:extLst>
          </p:cNvPr>
          <p:cNvGrpSpPr/>
          <p:nvPr/>
        </p:nvGrpSpPr>
        <p:grpSpPr>
          <a:xfrm>
            <a:off x="571500" y="1190625"/>
            <a:ext cx="2095500" cy="666750"/>
            <a:chOff x="571500" y="1190625"/>
            <a:chExt cx="2095500" cy="666750"/>
          </a:xfrm>
        </p:grpSpPr>
        <p:sp>
          <p:nvSpPr>
            <p:cNvPr id="15" name="任意形状 14">
              <a:extLst>
                <a:ext uri="{FF2B5EF4-FFF2-40B4-BE49-F238E27FC236}">
                  <a16:creationId xmlns:a16="http://schemas.microsoft.com/office/drawing/2014/main" id="{B4029217-956B-1374-292C-9A596A9F77B8}"/>
                </a:ext>
              </a:extLst>
            </p:cNvPr>
            <p:cNvSpPr/>
            <p:nvPr/>
          </p:nvSpPr>
          <p:spPr>
            <a:xfrm>
              <a:off x="571500" y="1190625"/>
              <a:ext cx="2095500" cy="666750"/>
            </a:xfrm>
            <a:custGeom>
              <a:avLst/>
              <a:gdLst>
                <a:gd name="csX0" fmla="*/ 76200 w 2095500"/>
                <a:gd name="csY0" fmla="*/ 0 h 666750"/>
                <a:gd name="csX1" fmla="*/ 2019300 w 2095500"/>
                <a:gd name="csY1" fmla="*/ 0 h 666750"/>
                <a:gd name="csX2" fmla="*/ 2095500 w 2095500"/>
                <a:gd name="csY2" fmla="*/ 76200 h 666750"/>
                <a:gd name="csX3" fmla="*/ 2095500 w 2095500"/>
                <a:gd name="csY3" fmla="*/ 590550 h 666750"/>
                <a:gd name="csX4" fmla="*/ 2019300 w 2095500"/>
                <a:gd name="csY4" fmla="*/ 666750 h 666750"/>
                <a:gd name="csX5" fmla="*/ 76200 w 2095500"/>
                <a:gd name="csY5" fmla="*/ 666750 h 666750"/>
                <a:gd name="csX6" fmla="*/ 0 w 2095500"/>
                <a:gd name="csY6" fmla="*/ 590550 h 666750"/>
                <a:gd name="csX7" fmla="*/ 0 w 2095500"/>
                <a:gd name="csY7" fmla="*/ 76200 h 666750"/>
                <a:gd name="csX8" fmla="*/ 76200 w 2095500"/>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666750">
                  <a:moveTo>
                    <a:pt x="76200" y="0"/>
                  </a:moveTo>
                  <a:lnTo>
                    <a:pt x="2019300" y="0"/>
                  </a:lnTo>
                  <a:cubicBezTo>
                    <a:pt x="2061384" y="0"/>
                    <a:pt x="2095500" y="34116"/>
                    <a:pt x="2095500" y="76200"/>
                  </a:cubicBezTo>
                  <a:lnTo>
                    <a:pt x="2095500" y="590550"/>
                  </a:lnTo>
                  <a:cubicBezTo>
                    <a:pt x="2095500" y="632634"/>
                    <a:pt x="2061384" y="666750"/>
                    <a:pt x="2019300" y="666750"/>
                  </a:cubicBezTo>
                  <a:lnTo>
                    <a:pt x="76200" y="666750"/>
                  </a:lnTo>
                  <a:cubicBezTo>
                    <a:pt x="34116" y="666750"/>
                    <a:pt x="0" y="632634"/>
                    <a:pt x="0" y="590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6" name="任意形状 15">
              <a:extLst>
                <a:ext uri="{FF2B5EF4-FFF2-40B4-BE49-F238E27FC236}">
                  <a16:creationId xmlns:a16="http://schemas.microsoft.com/office/drawing/2014/main" id="{CA5C7C6C-3EB6-8A86-DAB6-DDD85DE4918F}"/>
                </a:ext>
              </a:extLst>
            </p:cNvPr>
            <p:cNvSpPr/>
            <p:nvPr/>
          </p:nvSpPr>
          <p:spPr>
            <a:xfrm>
              <a:off x="571500" y="1190625"/>
              <a:ext cx="38100" cy="666750"/>
            </a:xfrm>
            <a:custGeom>
              <a:avLst/>
              <a:gdLst>
                <a:gd name="csX0" fmla="*/ 19050 w 38100"/>
                <a:gd name="csY0" fmla="*/ 0 h 666750"/>
                <a:gd name="csX1" fmla="*/ 19050 w 38100"/>
                <a:gd name="csY1" fmla="*/ 0 h 666750"/>
                <a:gd name="csX2" fmla="*/ 38100 w 38100"/>
                <a:gd name="csY2" fmla="*/ 19050 h 666750"/>
                <a:gd name="csX3" fmla="*/ 38100 w 38100"/>
                <a:gd name="csY3" fmla="*/ 647700 h 666750"/>
                <a:gd name="csX4" fmla="*/ 19050 w 38100"/>
                <a:gd name="csY4" fmla="*/ 666750 h 666750"/>
                <a:gd name="csX5" fmla="*/ 19050 w 38100"/>
                <a:gd name="csY5" fmla="*/ 666750 h 666750"/>
                <a:gd name="csX6" fmla="*/ 0 w 38100"/>
                <a:gd name="csY6" fmla="*/ 647700 h 666750"/>
                <a:gd name="csX7" fmla="*/ 0 w 38100"/>
                <a:gd name="csY7" fmla="*/ 19050 h 666750"/>
                <a:gd name="csX8" fmla="*/ 19050 w 38100"/>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666750">
                  <a:moveTo>
                    <a:pt x="19050" y="0"/>
                  </a:moveTo>
                  <a:lnTo>
                    <a:pt x="19050" y="0"/>
                  </a:lnTo>
                  <a:cubicBezTo>
                    <a:pt x="29571" y="0"/>
                    <a:pt x="38100" y="8529"/>
                    <a:pt x="38100" y="19050"/>
                  </a:cubicBezTo>
                  <a:lnTo>
                    <a:pt x="38100" y="647700"/>
                  </a:lnTo>
                  <a:cubicBezTo>
                    <a:pt x="38100" y="658221"/>
                    <a:pt x="29571" y="666750"/>
                    <a:pt x="19050" y="666750"/>
                  </a:cubicBezTo>
                  <a:lnTo>
                    <a:pt x="19050" y="666750"/>
                  </a:lnTo>
                  <a:cubicBezTo>
                    <a:pt x="8529" y="666750"/>
                    <a:pt x="0" y="658221"/>
                    <a:pt x="0" y="647700"/>
                  </a:cubicBezTo>
                  <a:lnTo>
                    <a:pt x="0" y="19050"/>
                  </a:lnTo>
                  <a:cubicBezTo>
                    <a:pt x="0" y="8529"/>
                    <a:pt x="8529" y="0"/>
                    <a:pt x="19050" y="0"/>
                  </a:cubicBezTo>
                  <a:close/>
                </a:path>
              </a:pathLst>
            </a:custGeom>
            <a:solidFill>
              <a:srgbClr val="2ECC71"/>
            </a:solidFill>
            <a:ln w="9525" cap="flat">
              <a:noFill/>
              <a:prstDash val="solid"/>
              <a:miter/>
            </a:ln>
          </p:spPr>
          <p:txBody>
            <a:bodyPr/>
            <a:lstStyle/>
            <a:p>
              <a:endParaRPr lang="zh-CN" altLang="en-US"/>
            </a:p>
          </p:txBody>
        </p:sp>
        <p:sp>
          <p:nvSpPr>
            <p:cNvPr id="17" name="文本框 16">
              <a:extLst>
                <a:ext uri="{FF2B5EF4-FFF2-40B4-BE49-F238E27FC236}">
                  <a16:creationId xmlns:a16="http://schemas.microsoft.com/office/drawing/2014/main" id="{462B1F31-1D15-C1F8-47D6-79FDA40176DB}"/>
                </a:ext>
              </a:extLst>
            </p:cNvPr>
            <p:cNvSpPr txBox="1"/>
            <p:nvPr/>
          </p:nvSpPr>
          <p:spPr>
            <a:xfrm>
              <a:off x="718185" y="1281138"/>
              <a:ext cx="834802"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GDP总量第1</a:t>
              </a:r>
            </a:p>
          </p:txBody>
        </p:sp>
        <p:sp>
          <p:nvSpPr>
            <p:cNvPr id="18" name="文本框 17">
              <a:extLst>
                <a:ext uri="{FF2B5EF4-FFF2-40B4-BE49-F238E27FC236}">
                  <a16:creationId xmlns:a16="http://schemas.microsoft.com/office/drawing/2014/main" id="{F00B0836-3328-0BF6-99F0-DCB9AE8E6F30}"/>
                </a:ext>
              </a:extLst>
            </p:cNvPr>
            <p:cNvSpPr txBox="1"/>
            <p:nvPr/>
          </p:nvSpPr>
          <p:spPr>
            <a:xfrm>
              <a:off x="718185" y="1468317"/>
              <a:ext cx="1391652"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渝北区 2,769亿</a:t>
              </a:r>
            </a:p>
          </p:txBody>
        </p:sp>
      </p:grpSp>
      <p:grpSp>
        <p:nvGrpSpPr>
          <p:cNvPr id="19" name="SVG Image 5">
            <a:extLst>
              <a:ext uri="{FF2B5EF4-FFF2-40B4-BE49-F238E27FC236}">
                <a16:creationId xmlns:a16="http://schemas.microsoft.com/office/drawing/2014/main" id="{0E00489B-862C-5270-C894-DF39837D58B1}"/>
              </a:ext>
            </a:extLst>
          </p:cNvPr>
          <p:cNvGrpSpPr/>
          <p:nvPr/>
        </p:nvGrpSpPr>
        <p:grpSpPr>
          <a:xfrm>
            <a:off x="2857500" y="1190625"/>
            <a:ext cx="2095500" cy="666750"/>
            <a:chOff x="2857500" y="1190625"/>
            <a:chExt cx="2095500" cy="666750"/>
          </a:xfrm>
        </p:grpSpPr>
        <p:sp>
          <p:nvSpPr>
            <p:cNvPr id="20" name="任意形状 19">
              <a:extLst>
                <a:ext uri="{FF2B5EF4-FFF2-40B4-BE49-F238E27FC236}">
                  <a16:creationId xmlns:a16="http://schemas.microsoft.com/office/drawing/2014/main" id="{4464F014-E2D2-D011-77FF-F3F364D85739}"/>
                </a:ext>
              </a:extLst>
            </p:cNvPr>
            <p:cNvSpPr/>
            <p:nvPr/>
          </p:nvSpPr>
          <p:spPr>
            <a:xfrm>
              <a:off x="2857500" y="1190625"/>
              <a:ext cx="2095500" cy="666750"/>
            </a:xfrm>
            <a:custGeom>
              <a:avLst/>
              <a:gdLst>
                <a:gd name="csX0" fmla="*/ 76200 w 2095500"/>
                <a:gd name="csY0" fmla="*/ 0 h 666750"/>
                <a:gd name="csX1" fmla="*/ 2019300 w 2095500"/>
                <a:gd name="csY1" fmla="*/ 0 h 666750"/>
                <a:gd name="csX2" fmla="*/ 2095500 w 2095500"/>
                <a:gd name="csY2" fmla="*/ 76200 h 666750"/>
                <a:gd name="csX3" fmla="*/ 2095500 w 2095500"/>
                <a:gd name="csY3" fmla="*/ 590550 h 666750"/>
                <a:gd name="csX4" fmla="*/ 2019300 w 2095500"/>
                <a:gd name="csY4" fmla="*/ 666750 h 666750"/>
                <a:gd name="csX5" fmla="*/ 76200 w 2095500"/>
                <a:gd name="csY5" fmla="*/ 666750 h 666750"/>
                <a:gd name="csX6" fmla="*/ 0 w 2095500"/>
                <a:gd name="csY6" fmla="*/ 590550 h 666750"/>
                <a:gd name="csX7" fmla="*/ 0 w 2095500"/>
                <a:gd name="csY7" fmla="*/ 76200 h 666750"/>
                <a:gd name="csX8" fmla="*/ 76200 w 2095500"/>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666750">
                  <a:moveTo>
                    <a:pt x="76200" y="0"/>
                  </a:moveTo>
                  <a:lnTo>
                    <a:pt x="2019300" y="0"/>
                  </a:lnTo>
                  <a:cubicBezTo>
                    <a:pt x="2061384" y="0"/>
                    <a:pt x="2095500" y="34116"/>
                    <a:pt x="2095500" y="76200"/>
                  </a:cubicBezTo>
                  <a:lnTo>
                    <a:pt x="2095500" y="590550"/>
                  </a:lnTo>
                  <a:cubicBezTo>
                    <a:pt x="2095500" y="632634"/>
                    <a:pt x="2061384" y="666750"/>
                    <a:pt x="2019300" y="666750"/>
                  </a:cubicBezTo>
                  <a:lnTo>
                    <a:pt x="76200" y="666750"/>
                  </a:lnTo>
                  <a:cubicBezTo>
                    <a:pt x="34116" y="666750"/>
                    <a:pt x="0" y="632634"/>
                    <a:pt x="0" y="590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1" name="任意形状 20">
              <a:extLst>
                <a:ext uri="{FF2B5EF4-FFF2-40B4-BE49-F238E27FC236}">
                  <a16:creationId xmlns:a16="http://schemas.microsoft.com/office/drawing/2014/main" id="{3A6EFEDB-B960-FB18-B35B-C16F5A039C52}"/>
                </a:ext>
              </a:extLst>
            </p:cNvPr>
            <p:cNvSpPr/>
            <p:nvPr/>
          </p:nvSpPr>
          <p:spPr>
            <a:xfrm>
              <a:off x="2857500" y="1190625"/>
              <a:ext cx="38100" cy="666750"/>
            </a:xfrm>
            <a:custGeom>
              <a:avLst/>
              <a:gdLst>
                <a:gd name="csX0" fmla="*/ 19050 w 38100"/>
                <a:gd name="csY0" fmla="*/ 0 h 666750"/>
                <a:gd name="csX1" fmla="*/ 19050 w 38100"/>
                <a:gd name="csY1" fmla="*/ 0 h 666750"/>
                <a:gd name="csX2" fmla="*/ 38100 w 38100"/>
                <a:gd name="csY2" fmla="*/ 19050 h 666750"/>
                <a:gd name="csX3" fmla="*/ 38100 w 38100"/>
                <a:gd name="csY3" fmla="*/ 647700 h 666750"/>
                <a:gd name="csX4" fmla="*/ 19050 w 38100"/>
                <a:gd name="csY4" fmla="*/ 666750 h 666750"/>
                <a:gd name="csX5" fmla="*/ 19050 w 38100"/>
                <a:gd name="csY5" fmla="*/ 666750 h 666750"/>
                <a:gd name="csX6" fmla="*/ 0 w 38100"/>
                <a:gd name="csY6" fmla="*/ 647700 h 666750"/>
                <a:gd name="csX7" fmla="*/ 0 w 38100"/>
                <a:gd name="csY7" fmla="*/ 19050 h 666750"/>
                <a:gd name="csX8" fmla="*/ 19050 w 38100"/>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666750">
                  <a:moveTo>
                    <a:pt x="19050" y="0"/>
                  </a:moveTo>
                  <a:lnTo>
                    <a:pt x="19050" y="0"/>
                  </a:lnTo>
                  <a:cubicBezTo>
                    <a:pt x="29571" y="0"/>
                    <a:pt x="38100" y="8529"/>
                    <a:pt x="38100" y="19050"/>
                  </a:cubicBezTo>
                  <a:lnTo>
                    <a:pt x="38100" y="647700"/>
                  </a:lnTo>
                  <a:cubicBezTo>
                    <a:pt x="38100" y="658221"/>
                    <a:pt x="29571" y="666750"/>
                    <a:pt x="19050" y="666750"/>
                  </a:cubicBezTo>
                  <a:lnTo>
                    <a:pt x="19050" y="666750"/>
                  </a:lnTo>
                  <a:cubicBezTo>
                    <a:pt x="8529" y="666750"/>
                    <a:pt x="0" y="658221"/>
                    <a:pt x="0" y="64770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22" name="文本框 21">
              <a:extLst>
                <a:ext uri="{FF2B5EF4-FFF2-40B4-BE49-F238E27FC236}">
                  <a16:creationId xmlns:a16="http://schemas.microsoft.com/office/drawing/2014/main" id="{2B70ABAB-626B-FAC1-26CD-46838EC9181F}"/>
                </a:ext>
              </a:extLst>
            </p:cNvPr>
            <p:cNvSpPr txBox="1"/>
            <p:nvPr/>
          </p:nvSpPr>
          <p:spPr>
            <a:xfrm>
              <a:off x="3004185" y="1281138"/>
              <a:ext cx="834802"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GDP增速第1</a:t>
              </a:r>
            </a:p>
          </p:txBody>
        </p:sp>
        <p:sp>
          <p:nvSpPr>
            <p:cNvPr id="23" name="文本框 22">
              <a:extLst>
                <a:ext uri="{FF2B5EF4-FFF2-40B4-BE49-F238E27FC236}">
                  <a16:creationId xmlns:a16="http://schemas.microsoft.com/office/drawing/2014/main" id="{F3754BA3-ABE9-9C37-3AEE-F6007560BA39}"/>
                </a:ext>
              </a:extLst>
            </p:cNvPr>
            <p:cNvSpPr txBox="1"/>
            <p:nvPr/>
          </p:nvSpPr>
          <p:spPr>
            <a:xfrm>
              <a:off x="3004185" y="1468317"/>
              <a:ext cx="1274115"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江北区 7.70%</a:t>
              </a:r>
            </a:p>
          </p:txBody>
        </p:sp>
      </p:grpSp>
      <p:grpSp>
        <p:nvGrpSpPr>
          <p:cNvPr id="24" name="SVG Image 5">
            <a:extLst>
              <a:ext uri="{FF2B5EF4-FFF2-40B4-BE49-F238E27FC236}">
                <a16:creationId xmlns:a16="http://schemas.microsoft.com/office/drawing/2014/main" id="{14FEF3FB-46DC-F57D-FCD1-21A61FB6ED27}"/>
              </a:ext>
            </a:extLst>
          </p:cNvPr>
          <p:cNvGrpSpPr/>
          <p:nvPr/>
        </p:nvGrpSpPr>
        <p:grpSpPr>
          <a:xfrm>
            <a:off x="571500" y="2000250"/>
            <a:ext cx="11049000" cy="4381500"/>
            <a:chOff x="571500" y="2000250"/>
            <a:chExt cx="11049000" cy="4381500"/>
          </a:xfrm>
        </p:grpSpPr>
        <p:sp>
          <p:nvSpPr>
            <p:cNvPr id="25" name="任意形状 24">
              <a:extLst>
                <a:ext uri="{FF2B5EF4-FFF2-40B4-BE49-F238E27FC236}">
                  <a16:creationId xmlns:a16="http://schemas.microsoft.com/office/drawing/2014/main" id="{456D2381-AD8D-0745-1031-44C92E8D4AFB}"/>
                </a:ext>
              </a:extLst>
            </p:cNvPr>
            <p:cNvSpPr/>
            <p:nvPr/>
          </p:nvSpPr>
          <p:spPr>
            <a:xfrm>
              <a:off x="571500" y="2000250"/>
              <a:ext cx="11049000" cy="4381500"/>
            </a:xfrm>
            <a:custGeom>
              <a:avLst/>
              <a:gdLst>
                <a:gd name="csX0" fmla="*/ 76200 w 11049000"/>
                <a:gd name="csY0" fmla="*/ 0 h 4381500"/>
                <a:gd name="csX1" fmla="*/ 10972800 w 11049000"/>
                <a:gd name="csY1" fmla="*/ 0 h 4381500"/>
                <a:gd name="csX2" fmla="*/ 11049000 w 11049000"/>
                <a:gd name="csY2" fmla="*/ 76200 h 4381500"/>
                <a:gd name="csX3" fmla="*/ 11049000 w 11049000"/>
                <a:gd name="csY3" fmla="*/ 4305300 h 4381500"/>
                <a:gd name="csX4" fmla="*/ 10972800 w 11049000"/>
                <a:gd name="csY4" fmla="*/ 4381500 h 4381500"/>
                <a:gd name="csX5" fmla="*/ 76200 w 11049000"/>
                <a:gd name="csY5" fmla="*/ 4381500 h 4381500"/>
                <a:gd name="csX6" fmla="*/ 0 w 11049000"/>
                <a:gd name="csY6" fmla="*/ 4305300 h 4381500"/>
                <a:gd name="csX7" fmla="*/ 0 w 11049000"/>
                <a:gd name="csY7" fmla="*/ 76200 h 4381500"/>
                <a:gd name="csX8" fmla="*/ 76200 w 11049000"/>
                <a:gd name="csY8" fmla="*/ 0 h 438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4381500">
                  <a:moveTo>
                    <a:pt x="76200" y="0"/>
                  </a:moveTo>
                  <a:lnTo>
                    <a:pt x="10972800" y="0"/>
                  </a:lnTo>
                  <a:cubicBezTo>
                    <a:pt x="11014885" y="0"/>
                    <a:pt x="11049000" y="34116"/>
                    <a:pt x="11049000" y="76200"/>
                  </a:cubicBezTo>
                  <a:lnTo>
                    <a:pt x="11049000" y="4305300"/>
                  </a:lnTo>
                  <a:cubicBezTo>
                    <a:pt x="11049000" y="4347384"/>
                    <a:pt x="11014885" y="4381500"/>
                    <a:pt x="10972800" y="4381500"/>
                  </a:cubicBezTo>
                  <a:lnTo>
                    <a:pt x="76200" y="4381500"/>
                  </a:lnTo>
                  <a:cubicBezTo>
                    <a:pt x="34116" y="4381500"/>
                    <a:pt x="0" y="4347384"/>
                    <a:pt x="0" y="4305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6" name="任意形状 25">
              <a:extLst>
                <a:ext uri="{FF2B5EF4-FFF2-40B4-BE49-F238E27FC236}">
                  <a16:creationId xmlns:a16="http://schemas.microsoft.com/office/drawing/2014/main" id="{E2E7D67F-C55D-F5FC-50EA-F37E45B04121}"/>
                </a:ext>
              </a:extLst>
            </p:cNvPr>
            <p:cNvSpPr/>
            <p:nvPr/>
          </p:nvSpPr>
          <p:spPr>
            <a:xfrm>
              <a:off x="762000" y="2190750"/>
              <a:ext cx="10668000" cy="361950"/>
            </a:xfrm>
            <a:custGeom>
              <a:avLst/>
              <a:gdLst>
                <a:gd name="csX0" fmla="*/ 38100 w 10668000"/>
                <a:gd name="csY0" fmla="*/ 0 h 361950"/>
                <a:gd name="csX1" fmla="*/ 10629900 w 10668000"/>
                <a:gd name="csY1" fmla="*/ 0 h 361950"/>
                <a:gd name="csX2" fmla="*/ 10668000 w 10668000"/>
                <a:gd name="csY2" fmla="*/ 38100 h 361950"/>
                <a:gd name="csX3" fmla="*/ 10668000 w 10668000"/>
                <a:gd name="csY3" fmla="*/ 323850 h 361950"/>
                <a:gd name="csX4" fmla="*/ 10629900 w 10668000"/>
                <a:gd name="csY4" fmla="*/ 361950 h 361950"/>
                <a:gd name="csX5" fmla="*/ 38100 w 10668000"/>
                <a:gd name="csY5" fmla="*/ 361950 h 361950"/>
                <a:gd name="csX6" fmla="*/ 0 w 10668000"/>
                <a:gd name="csY6" fmla="*/ 323850 h 361950"/>
                <a:gd name="csX7" fmla="*/ 0 w 10668000"/>
                <a:gd name="csY7" fmla="*/ 38100 h 361950"/>
                <a:gd name="csX8" fmla="*/ 38100 w 10668000"/>
                <a:gd name="csY8" fmla="*/ 0 h 36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668000" h="361950">
                  <a:moveTo>
                    <a:pt x="38100" y="0"/>
                  </a:moveTo>
                  <a:lnTo>
                    <a:pt x="10629900" y="0"/>
                  </a:lnTo>
                  <a:cubicBezTo>
                    <a:pt x="10650942" y="0"/>
                    <a:pt x="10668000" y="17058"/>
                    <a:pt x="10668000" y="38100"/>
                  </a:cubicBezTo>
                  <a:lnTo>
                    <a:pt x="10668000" y="323850"/>
                  </a:lnTo>
                  <a:cubicBezTo>
                    <a:pt x="10668000" y="344892"/>
                    <a:pt x="10650942" y="361950"/>
                    <a:pt x="10629900" y="361950"/>
                  </a:cubicBezTo>
                  <a:lnTo>
                    <a:pt x="38100" y="361950"/>
                  </a:lnTo>
                  <a:cubicBezTo>
                    <a:pt x="17058" y="361950"/>
                    <a:pt x="0" y="344892"/>
                    <a:pt x="0" y="32385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27" name="文本框 26">
              <a:extLst>
                <a:ext uri="{FF2B5EF4-FFF2-40B4-BE49-F238E27FC236}">
                  <a16:creationId xmlns:a16="http://schemas.microsoft.com/office/drawing/2014/main" id="{6BB7C7F1-B1A4-142D-36D3-16B7584B0AA0}"/>
                </a:ext>
              </a:extLst>
            </p:cNvPr>
            <p:cNvSpPr txBox="1"/>
            <p:nvPr/>
          </p:nvSpPr>
          <p:spPr>
            <a:xfrm>
              <a:off x="956310" y="2252135"/>
              <a:ext cx="430530"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排名</a:t>
              </a:r>
            </a:p>
          </p:txBody>
        </p:sp>
        <p:sp>
          <p:nvSpPr>
            <p:cNvPr id="28" name="文本框 27">
              <a:extLst>
                <a:ext uri="{FF2B5EF4-FFF2-40B4-BE49-F238E27FC236}">
                  <a16:creationId xmlns:a16="http://schemas.microsoft.com/office/drawing/2014/main" id="{73D30C88-2D99-DE5C-F484-AE2B21392A14}"/>
                </a:ext>
              </a:extLst>
            </p:cNvPr>
            <p:cNvSpPr txBox="1"/>
            <p:nvPr/>
          </p:nvSpPr>
          <p:spPr>
            <a:xfrm>
              <a:off x="1527810" y="2252135"/>
              <a:ext cx="430530"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地区</a:t>
              </a:r>
            </a:p>
          </p:txBody>
        </p:sp>
        <p:sp>
          <p:nvSpPr>
            <p:cNvPr id="29" name="文本框 28">
              <a:extLst>
                <a:ext uri="{FF2B5EF4-FFF2-40B4-BE49-F238E27FC236}">
                  <a16:creationId xmlns:a16="http://schemas.microsoft.com/office/drawing/2014/main" id="{914A6804-600D-0667-6403-F9D3EA0626E9}"/>
                </a:ext>
              </a:extLst>
            </p:cNvPr>
            <p:cNvSpPr txBox="1"/>
            <p:nvPr/>
          </p:nvSpPr>
          <p:spPr>
            <a:xfrm>
              <a:off x="2647420" y="2252135"/>
              <a:ext cx="801158"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GDP(亿元)</a:t>
              </a:r>
            </a:p>
          </p:txBody>
        </p:sp>
        <p:sp>
          <p:nvSpPr>
            <p:cNvPr id="30" name="文本框 29">
              <a:extLst>
                <a:ext uri="{FF2B5EF4-FFF2-40B4-BE49-F238E27FC236}">
                  <a16:creationId xmlns:a16="http://schemas.microsoft.com/office/drawing/2014/main" id="{0D45891F-1E84-096A-A17E-32075E20F2CE}"/>
                </a:ext>
              </a:extLst>
            </p:cNvPr>
            <p:cNvSpPr txBox="1"/>
            <p:nvPr/>
          </p:nvSpPr>
          <p:spPr>
            <a:xfrm>
              <a:off x="3828020" y="2252135"/>
              <a:ext cx="916458"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GDP增速(%)</a:t>
              </a:r>
            </a:p>
          </p:txBody>
        </p:sp>
        <p:sp>
          <p:nvSpPr>
            <p:cNvPr id="31" name="文本框 30">
              <a:extLst>
                <a:ext uri="{FF2B5EF4-FFF2-40B4-BE49-F238E27FC236}">
                  <a16:creationId xmlns:a16="http://schemas.microsoft.com/office/drawing/2014/main" id="{B8543535-A21D-61CF-334E-7459AA5AE8C4}"/>
                </a:ext>
              </a:extLst>
            </p:cNvPr>
            <p:cNvSpPr txBox="1"/>
            <p:nvPr/>
          </p:nvSpPr>
          <p:spPr>
            <a:xfrm>
              <a:off x="5075249" y="2252135"/>
              <a:ext cx="898501"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常住人口(万)</a:t>
              </a:r>
            </a:p>
          </p:txBody>
        </p:sp>
        <p:sp>
          <p:nvSpPr>
            <p:cNvPr id="32" name="文本框 31">
              <a:extLst>
                <a:ext uri="{FF2B5EF4-FFF2-40B4-BE49-F238E27FC236}">
                  <a16:creationId xmlns:a16="http://schemas.microsoft.com/office/drawing/2014/main" id="{1624340D-A301-1EF6-60E6-35827D796F8F}"/>
                </a:ext>
              </a:extLst>
            </p:cNvPr>
            <p:cNvSpPr txBox="1"/>
            <p:nvPr/>
          </p:nvSpPr>
          <p:spPr>
            <a:xfrm>
              <a:off x="6284924" y="2252135"/>
              <a:ext cx="1146151"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一般预算收入(亿)</a:t>
              </a:r>
            </a:p>
          </p:txBody>
        </p:sp>
        <p:sp>
          <p:nvSpPr>
            <p:cNvPr id="33" name="文本框 32">
              <a:extLst>
                <a:ext uri="{FF2B5EF4-FFF2-40B4-BE49-F238E27FC236}">
                  <a16:creationId xmlns:a16="http://schemas.microsoft.com/office/drawing/2014/main" id="{6A72C080-9640-7859-1378-FD3AB5AADBF0}"/>
                </a:ext>
              </a:extLst>
            </p:cNvPr>
            <p:cNvSpPr txBox="1"/>
            <p:nvPr/>
          </p:nvSpPr>
          <p:spPr>
            <a:xfrm>
              <a:off x="7779849" y="2252135"/>
              <a:ext cx="1013801"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财政自给率(%)</a:t>
              </a:r>
            </a:p>
          </p:txBody>
        </p:sp>
        <p:sp>
          <p:nvSpPr>
            <p:cNvPr id="34" name="文本框 33">
              <a:extLst>
                <a:ext uri="{FF2B5EF4-FFF2-40B4-BE49-F238E27FC236}">
                  <a16:creationId xmlns:a16="http://schemas.microsoft.com/office/drawing/2014/main" id="{FA9BE58C-C598-5D55-C98C-21D358C1B4DD}"/>
                </a:ext>
              </a:extLst>
            </p:cNvPr>
            <p:cNvSpPr txBox="1"/>
            <p:nvPr/>
          </p:nvSpPr>
          <p:spPr>
            <a:xfrm>
              <a:off x="9170999" y="2252135"/>
              <a:ext cx="898501"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政府债务(亿)</a:t>
              </a:r>
            </a:p>
          </p:txBody>
        </p:sp>
        <p:sp>
          <p:nvSpPr>
            <p:cNvPr id="35" name="文本框 34">
              <a:extLst>
                <a:ext uri="{FF2B5EF4-FFF2-40B4-BE49-F238E27FC236}">
                  <a16:creationId xmlns:a16="http://schemas.microsoft.com/office/drawing/2014/main" id="{EC7A2B40-F8AD-2373-7DA3-D04ADF35085A}"/>
                </a:ext>
              </a:extLst>
            </p:cNvPr>
            <p:cNvSpPr txBox="1"/>
            <p:nvPr/>
          </p:nvSpPr>
          <p:spPr>
            <a:xfrm>
              <a:off x="10289686" y="2252135"/>
              <a:ext cx="1137626" cy="254867"/>
            </a:xfrm>
            <a:prstGeom prst="rect">
              <a:avLst/>
            </a:prstGeom>
            <a:noFill/>
          </p:spPr>
          <p:txBody>
            <a:bodyPr wrap="none" rtlCol="0">
              <a:spAutoFit/>
            </a:bodyPr>
            <a:lstStyle/>
            <a:p>
              <a:pPr algn="l"/>
              <a:r>
                <a:rPr lang="zh-CN" altLang="en-US" sz="975" b="1" spc="0" baseline="0">
                  <a:ln/>
                  <a:solidFill>
                    <a:srgbClr val="FFFFFF"/>
                  </a:solidFill>
                  <a:latin typeface="微软雅黑"/>
                  <a:ea typeface="微软雅黑"/>
                  <a:sym typeface="微软雅黑"/>
                  <a:rtl val="0"/>
                </a:rPr>
                <a:t>宽口径债务率(%)</a:t>
              </a:r>
            </a:p>
          </p:txBody>
        </p:sp>
        <p:sp>
          <p:nvSpPr>
            <p:cNvPr id="36" name="矩形 35">
              <a:extLst>
                <a:ext uri="{FF2B5EF4-FFF2-40B4-BE49-F238E27FC236}">
                  <a16:creationId xmlns:a16="http://schemas.microsoft.com/office/drawing/2014/main" id="{8B3C7C96-3EB4-FAF6-C561-425AFD05CB75}"/>
                </a:ext>
              </a:extLst>
            </p:cNvPr>
            <p:cNvSpPr/>
            <p:nvPr/>
          </p:nvSpPr>
          <p:spPr>
            <a:xfrm>
              <a:off x="762000" y="2552700"/>
              <a:ext cx="10668000" cy="342900"/>
            </a:xfrm>
            <a:prstGeom prst="rect">
              <a:avLst/>
            </a:prstGeom>
            <a:solidFill>
              <a:srgbClr val="EBF4FF"/>
            </a:solidFill>
            <a:ln w="9525" cap="flat">
              <a:noFill/>
              <a:prstDash val="solid"/>
              <a:miter/>
            </a:ln>
          </p:spPr>
          <p:txBody>
            <a:bodyPr/>
            <a:lstStyle/>
            <a:p>
              <a:endParaRPr lang="zh-CN" altLang="en-US"/>
            </a:p>
          </p:txBody>
        </p:sp>
        <p:sp>
          <p:nvSpPr>
            <p:cNvPr id="37" name="文本框 36">
              <a:extLst>
                <a:ext uri="{FF2B5EF4-FFF2-40B4-BE49-F238E27FC236}">
                  <a16:creationId xmlns:a16="http://schemas.microsoft.com/office/drawing/2014/main" id="{B1D75153-3DB9-8DCB-15D4-ED92CBFCAFF2}"/>
                </a:ext>
              </a:extLst>
            </p:cNvPr>
            <p:cNvSpPr txBox="1"/>
            <p:nvPr/>
          </p:nvSpPr>
          <p:spPr>
            <a:xfrm>
              <a:off x="956310" y="2604560"/>
              <a:ext cx="259242" cy="254867"/>
            </a:xfrm>
            <a:prstGeom prst="rect">
              <a:avLst/>
            </a:prstGeom>
            <a:noFill/>
          </p:spPr>
          <p:txBody>
            <a:bodyPr wrap="none" rtlCol="0">
              <a:spAutoFit/>
            </a:bodyPr>
            <a:lstStyle/>
            <a:p>
              <a:pPr algn="l"/>
              <a:r>
                <a:rPr lang="zh-CN" altLang="en-US" sz="975" b="1" spc="0" baseline="0">
                  <a:ln/>
                  <a:solidFill>
                    <a:srgbClr val="4A90D9"/>
                  </a:solidFill>
                  <a:latin typeface="微软雅黑"/>
                  <a:ea typeface="微软雅黑"/>
                  <a:sym typeface="微软雅黑"/>
                  <a:rtl val="0"/>
                </a:rPr>
                <a:t>1</a:t>
              </a:r>
            </a:p>
          </p:txBody>
        </p:sp>
        <p:sp>
          <p:nvSpPr>
            <p:cNvPr id="38" name="文本框 37">
              <a:extLst>
                <a:ext uri="{FF2B5EF4-FFF2-40B4-BE49-F238E27FC236}">
                  <a16:creationId xmlns:a16="http://schemas.microsoft.com/office/drawing/2014/main" id="{BEE8CD15-2DD2-47BA-550B-875030AEDB96}"/>
                </a:ext>
              </a:extLst>
            </p:cNvPr>
            <p:cNvSpPr txBox="1"/>
            <p:nvPr/>
          </p:nvSpPr>
          <p:spPr>
            <a:xfrm>
              <a:off x="1527810" y="2604560"/>
              <a:ext cx="554355"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渝北区</a:t>
              </a:r>
            </a:p>
          </p:txBody>
        </p:sp>
        <p:sp>
          <p:nvSpPr>
            <p:cNvPr id="39" name="文本框 38">
              <a:extLst>
                <a:ext uri="{FF2B5EF4-FFF2-40B4-BE49-F238E27FC236}">
                  <a16:creationId xmlns:a16="http://schemas.microsoft.com/office/drawing/2014/main" id="{B539365F-73EE-BE72-9AE8-F6ADB44D3CE9}"/>
                </a:ext>
              </a:extLst>
            </p:cNvPr>
            <p:cNvSpPr txBox="1"/>
            <p:nvPr/>
          </p:nvSpPr>
          <p:spPr>
            <a:xfrm>
              <a:off x="2692101" y="2604560"/>
              <a:ext cx="711796"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2,769.13</a:t>
              </a:r>
            </a:p>
          </p:txBody>
        </p:sp>
        <p:sp>
          <p:nvSpPr>
            <p:cNvPr id="40" name="文本框 39">
              <a:extLst>
                <a:ext uri="{FF2B5EF4-FFF2-40B4-BE49-F238E27FC236}">
                  <a16:creationId xmlns:a16="http://schemas.microsoft.com/office/drawing/2014/main" id="{3D7E2ECC-8A30-E9C0-13C6-FF24AF7E3493}"/>
                </a:ext>
              </a:extLst>
            </p:cNvPr>
            <p:cNvSpPr txBox="1"/>
            <p:nvPr/>
          </p:nvSpPr>
          <p:spPr>
            <a:xfrm>
              <a:off x="4070985" y="2604560"/>
              <a:ext cx="430530"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6.60</a:t>
              </a:r>
            </a:p>
          </p:txBody>
        </p:sp>
        <p:sp>
          <p:nvSpPr>
            <p:cNvPr id="41" name="文本框 40">
              <a:extLst>
                <a:ext uri="{FF2B5EF4-FFF2-40B4-BE49-F238E27FC236}">
                  <a16:creationId xmlns:a16="http://schemas.microsoft.com/office/drawing/2014/main" id="{D79A0FE8-F51C-C5A7-1F4B-CB45CF5CC2CC}"/>
                </a:ext>
              </a:extLst>
            </p:cNvPr>
            <p:cNvSpPr txBox="1"/>
            <p:nvPr/>
          </p:nvSpPr>
          <p:spPr>
            <a:xfrm>
              <a:off x="5236620" y="26045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228.92</a:t>
              </a:r>
            </a:p>
          </p:txBody>
        </p:sp>
        <p:sp>
          <p:nvSpPr>
            <p:cNvPr id="42" name="文本框 41">
              <a:extLst>
                <a:ext uri="{FF2B5EF4-FFF2-40B4-BE49-F238E27FC236}">
                  <a16:creationId xmlns:a16="http://schemas.microsoft.com/office/drawing/2014/main" id="{75AF5974-6CA9-C9F8-F6DD-A5CC12852B99}"/>
                </a:ext>
              </a:extLst>
            </p:cNvPr>
            <p:cNvSpPr txBox="1"/>
            <p:nvPr/>
          </p:nvSpPr>
          <p:spPr>
            <a:xfrm>
              <a:off x="6606427" y="26045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63.03</a:t>
              </a:r>
            </a:p>
          </p:txBody>
        </p:sp>
        <p:sp>
          <p:nvSpPr>
            <p:cNvPr id="43" name="文本框 42">
              <a:extLst>
                <a:ext uri="{FF2B5EF4-FFF2-40B4-BE49-F238E27FC236}">
                  <a16:creationId xmlns:a16="http://schemas.microsoft.com/office/drawing/2014/main" id="{F6DD3A5A-2C68-319C-C961-A44FD9429FBB}"/>
                </a:ext>
              </a:extLst>
            </p:cNvPr>
            <p:cNvSpPr txBox="1"/>
            <p:nvPr/>
          </p:nvSpPr>
          <p:spPr>
            <a:xfrm>
              <a:off x="8035177" y="26045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52.21</a:t>
              </a:r>
            </a:p>
          </p:txBody>
        </p:sp>
        <p:sp>
          <p:nvSpPr>
            <p:cNvPr id="44" name="文本框 43">
              <a:extLst>
                <a:ext uri="{FF2B5EF4-FFF2-40B4-BE49-F238E27FC236}">
                  <a16:creationId xmlns:a16="http://schemas.microsoft.com/office/drawing/2014/main" id="{1E28A9E8-3666-D52A-A9A4-D18B5341CB86}"/>
                </a:ext>
              </a:extLst>
            </p:cNvPr>
            <p:cNvSpPr txBox="1"/>
            <p:nvPr/>
          </p:nvSpPr>
          <p:spPr>
            <a:xfrm>
              <a:off x="9332370" y="26045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257.62</a:t>
              </a:r>
            </a:p>
          </p:txBody>
        </p:sp>
        <p:sp>
          <p:nvSpPr>
            <p:cNvPr id="45" name="文本框 44">
              <a:extLst>
                <a:ext uri="{FF2B5EF4-FFF2-40B4-BE49-F238E27FC236}">
                  <a16:creationId xmlns:a16="http://schemas.microsoft.com/office/drawing/2014/main" id="{316278E8-2D7C-1036-C6ED-48CC724A8CAD}"/>
                </a:ext>
              </a:extLst>
            </p:cNvPr>
            <p:cNvSpPr txBox="1"/>
            <p:nvPr/>
          </p:nvSpPr>
          <p:spPr>
            <a:xfrm>
              <a:off x="10570620" y="2604560"/>
              <a:ext cx="575758" cy="254867"/>
            </a:xfrm>
            <a:prstGeom prst="rect">
              <a:avLst/>
            </a:prstGeom>
            <a:noFill/>
          </p:spPr>
          <p:txBody>
            <a:bodyPr wrap="none" rtlCol="0">
              <a:spAutoFit/>
            </a:bodyPr>
            <a:lstStyle/>
            <a:p>
              <a:pPr algn="l"/>
              <a:r>
                <a:rPr lang="zh-CN" altLang="en-US" sz="975" spc="0" baseline="0">
                  <a:ln/>
                  <a:solidFill>
                    <a:srgbClr val="F59E0B"/>
                  </a:solidFill>
                  <a:latin typeface="微软雅黑"/>
                  <a:ea typeface="微软雅黑"/>
                  <a:sym typeface="微软雅黑"/>
                  <a:rtl val="0"/>
                </a:rPr>
                <a:t>574.70</a:t>
              </a:r>
            </a:p>
          </p:txBody>
        </p:sp>
        <p:sp>
          <p:nvSpPr>
            <p:cNvPr id="46" name="矩形 45">
              <a:extLst>
                <a:ext uri="{FF2B5EF4-FFF2-40B4-BE49-F238E27FC236}">
                  <a16:creationId xmlns:a16="http://schemas.microsoft.com/office/drawing/2014/main" id="{CAC34314-5F3F-C3C7-26CE-06369B346DEA}"/>
                </a:ext>
              </a:extLst>
            </p:cNvPr>
            <p:cNvSpPr/>
            <p:nvPr/>
          </p:nvSpPr>
          <p:spPr>
            <a:xfrm>
              <a:off x="762000" y="2895600"/>
              <a:ext cx="10668000" cy="342900"/>
            </a:xfrm>
            <a:prstGeom prst="rect">
              <a:avLst/>
            </a:prstGeom>
            <a:solidFill>
              <a:srgbClr val="FFFFFF"/>
            </a:solidFill>
            <a:ln w="9525" cap="flat">
              <a:noFill/>
              <a:prstDash val="solid"/>
              <a:miter/>
            </a:ln>
          </p:spPr>
          <p:txBody>
            <a:bodyPr/>
            <a:lstStyle/>
            <a:p>
              <a:endParaRPr lang="zh-CN" altLang="en-US"/>
            </a:p>
          </p:txBody>
        </p:sp>
        <p:sp>
          <p:nvSpPr>
            <p:cNvPr id="47" name="文本框 46">
              <a:extLst>
                <a:ext uri="{FF2B5EF4-FFF2-40B4-BE49-F238E27FC236}">
                  <a16:creationId xmlns:a16="http://schemas.microsoft.com/office/drawing/2014/main" id="{8A353AB4-88CE-5DCF-DDB0-E9E145682D61}"/>
                </a:ext>
              </a:extLst>
            </p:cNvPr>
            <p:cNvSpPr txBox="1"/>
            <p:nvPr/>
          </p:nvSpPr>
          <p:spPr>
            <a:xfrm>
              <a:off x="956310" y="2947460"/>
              <a:ext cx="259242" cy="254867"/>
            </a:xfrm>
            <a:prstGeom prst="rect">
              <a:avLst/>
            </a:prstGeom>
            <a:noFill/>
          </p:spPr>
          <p:txBody>
            <a:bodyPr wrap="none" rtlCol="0">
              <a:spAutoFit/>
            </a:bodyPr>
            <a:lstStyle/>
            <a:p>
              <a:pPr algn="l"/>
              <a:r>
                <a:rPr lang="zh-CN" altLang="en-US" sz="975" b="1" spc="0" baseline="0">
                  <a:ln/>
                  <a:solidFill>
                    <a:srgbClr val="4A90D9"/>
                  </a:solidFill>
                  <a:latin typeface="微软雅黑"/>
                  <a:ea typeface="微软雅黑"/>
                  <a:sym typeface="微软雅黑"/>
                  <a:rtl val="0"/>
                </a:rPr>
                <a:t>2</a:t>
              </a:r>
            </a:p>
          </p:txBody>
        </p:sp>
        <p:sp>
          <p:nvSpPr>
            <p:cNvPr id="48" name="文本框 47">
              <a:extLst>
                <a:ext uri="{FF2B5EF4-FFF2-40B4-BE49-F238E27FC236}">
                  <a16:creationId xmlns:a16="http://schemas.microsoft.com/office/drawing/2014/main" id="{D281CDA6-E18A-F61E-77CD-C33FBCB14568}"/>
                </a:ext>
              </a:extLst>
            </p:cNvPr>
            <p:cNvSpPr txBox="1"/>
            <p:nvPr/>
          </p:nvSpPr>
          <p:spPr>
            <a:xfrm>
              <a:off x="1527810" y="2947460"/>
              <a:ext cx="678180"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九龙坡区</a:t>
              </a:r>
            </a:p>
          </p:txBody>
        </p:sp>
        <p:sp>
          <p:nvSpPr>
            <p:cNvPr id="49" name="文本框 48">
              <a:extLst>
                <a:ext uri="{FF2B5EF4-FFF2-40B4-BE49-F238E27FC236}">
                  <a16:creationId xmlns:a16="http://schemas.microsoft.com/office/drawing/2014/main" id="{D2DCF6DE-1240-245E-0AC3-6CCC3CCF6DEA}"/>
                </a:ext>
              </a:extLst>
            </p:cNvPr>
            <p:cNvSpPr txBox="1"/>
            <p:nvPr/>
          </p:nvSpPr>
          <p:spPr>
            <a:xfrm>
              <a:off x="2708910" y="2947460"/>
              <a:ext cx="678180" cy="254867"/>
            </a:xfrm>
            <a:prstGeom prst="rect">
              <a:avLst/>
            </a:prstGeom>
            <a:noFill/>
          </p:spPr>
          <p:txBody>
            <a:bodyPr wrap="none" rtlCol="0">
              <a:spAutoFit/>
            </a:bodyPr>
            <a:lstStyle/>
            <a:p>
              <a:pPr algn="l"/>
              <a:r>
                <a:rPr lang="zh-CN" altLang="en-US" sz="975" spc="0" baseline="0">
                  <a:ln/>
                  <a:solidFill>
                    <a:srgbClr val="1E3A5F"/>
                  </a:solidFill>
                  <a:latin typeface="微软雅黑"/>
                  <a:ea typeface="微软雅黑"/>
                  <a:sym typeface="微软雅黑"/>
                  <a:rtl val="0"/>
                </a:rPr>
                <a:t>2,060.35</a:t>
              </a:r>
            </a:p>
          </p:txBody>
        </p:sp>
        <p:sp>
          <p:nvSpPr>
            <p:cNvPr id="50" name="文本框 49">
              <a:extLst>
                <a:ext uri="{FF2B5EF4-FFF2-40B4-BE49-F238E27FC236}">
                  <a16:creationId xmlns:a16="http://schemas.microsoft.com/office/drawing/2014/main" id="{DFFFEE68-477A-2B20-E371-619324330B05}"/>
                </a:ext>
              </a:extLst>
            </p:cNvPr>
            <p:cNvSpPr txBox="1"/>
            <p:nvPr/>
          </p:nvSpPr>
          <p:spPr>
            <a:xfrm>
              <a:off x="4070985" y="2947460"/>
              <a:ext cx="430530"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6.00</a:t>
              </a:r>
            </a:p>
          </p:txBody>
        </p:sp>
        <p:sp>
          <p:nvSpPr>
            <p:cNvPr id="51" name="文本框 50">
              <a:extLst>
                <a:ext uri="{FF2B5EF4-FFF2-40B4-BE49-F238E27FC236}">
                  <a16:creationId xmlns:a16="http://schemas.microsoft.com/office/drawing/2014/main" id="{8EC2F302-37B9-F875-6474-E23A0027A81E}"/>
                </a:ext>
              </a:extLst>
            </p:cNvPr>
            <p:cNvSpPr txBox="1"/>
            <p:nvPr/>
          </p:nvSpPr>
          <p:spPr>
            <a:xfrm>
              <a:off x="5236620" y="29474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154.83</a:t>
              </a:r>
            </a:p>
          </p:txBody>
        </p:sp>
        <p:sp>
          <p:nvSpPr>
            <p:cNvPr id="52" name="文本框 51">
              <a:extLst>
                <a:ext uri="{FF2B5EF4-FFF2-40B4-BE49-F238E27FC236}">
                  <a16:creationId xmlns:a16="http://schemas.microsoft.com/office/drawing/2014/main" id="{D5E6FB60-0B99-8CE1-50AB-F478B0B15742}"/>
                </a:ext>
              </a:extLst>
            </p:cNvPr>
            <p:cNvSpPr txBox="1"/>
            <p:nvPr/>
          </p:nvSpPr>
          <p:spPr>
            <a:xfrm>
              <a:off x="6606427" y="29474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69.18</a:t>
              </a:r>
            </a:p>
          </p:txBody>
        </p:sp>
        <p:sp>
          <p:nvSpPr>
            <p:cNvPr id="53" name="文本框 52">
              <a:extLst>
                <a:ext uri="{FF2B5EF4-FFF2-40B4-BE49-F238E27FC236}">
                  <a16:creationId xmlns:a16="http://schemas.microsoft.com/office/drawing/2014/main" id="{A130F009-499E-08A3-F2EB-0BC704D463AF}"/>
                </a:ext>
              </a:extLst>
            </p:cNvPr>
            <p:cNvSpPr txBox="1"/>
            <p:nvPr/>
          </p:nvSpPr>
          <p:spPr>
            <a:xfrm>
              <a:off x="8035177" y="2947460"/>
              <a:ext cx="503144"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68.78</a:t>
              </a:r>
            </a:p>
          </p:txBody>
        </p:sp>
        <p:sp>
          <p:nvSpPr>
            <p:cNvPr id="54" name="文本框 53">
              <a:extLst>
                <a:ext uri="{FF2B5EF4-FFF2-40B4-BE49-F238E27FC236}">
                  <a16:creationId xmlns:a16="http://schemas.microsoft.com/office/drawing/2014/main" id="{6A8835C3-3C96-D926-4D35-E0B597168559}"/>
                </a:ext>
              </a:extLst>
            </p:cNvPr>
            <p:cNvSpPr txBox="1"/>
            <p:nvPr/>
          </p:nvSpPr>
          <p:spPr>
            <a:xfrm>
              <a:off x="9332370" y="29474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430.63</a:t>
              </a:r>
            </a:p>
          </p:txBody>
        </p:sp>
        <p:sp>
          <p:nvSpPr>
            <p:cNvPr id="55" name="文本框 54">
              <a:extLst>
                <a:ext uri="{FF2B5EF4-FFF2-40B4-BE49-F238E27FC236}">
                  <a16:creationId xmlns:a16="http://schemas.microsoft.com/office/drawing/2014/main" id="{85AA6050-7784-5F93-A9F2-6239DD128D71}"/>
                </a:ext>
              </a:extLst>
            </p:cNvPr>
            <p:cNvSpPr txBox="1"/>
            <p:nvPr/>
          </p:nvSpPr>
          <p:spPr>
            <a:xfrm>
              <a:off x="10570620" y="2947460"/>
              <a:ext cx="575758" cy="254867"/>
            </a:xfrm>
            <a:prstGeom prst="rect">
              <a:avLst/>
            </a:prstGeom>
            <a:noFill/>
          </p:spPr>
          <p:txBody>
            <a:bodyPr wrap="none" rtlCol="0">
              <a:spAutoFit/>
            </a:bodyPr>
            <a:lstStyle/>
            <a:p>
              <a:pPr algn="l"/>
              <a:r>
                <a:rPr lang="zh-CN" altLang="en-US" sz="975" spc="0" baseline="0">
                  <a:ln/>
                  <a:solidFill>
                    <a:srgbClr val="E63946"/>
                  </a:solidFill>
                  <a:latin typeface="微软雅黑"/>
                  <a:ea typeface="微软雅黑"/>
                  <a:sym typeface="微软雅黑"/>
                  <a:rtl val="0"/>
                </a:rPr>
                <a:t>783.73</a:t>
              </a:r>
            </a:p>
          </p:txBody>
        </p:sp>
        <p:sp>
          <p:nvSpPr>
            <p:cNvPr id="56" name="矩形 55">
              <a:extLst>
                <a:ext uri="{FF2B5EF4-FFF2-40B4-BE49-F238E27FC236}">
                  <a16:creationId xmlns:a16="http://schemas.microsoft.com/office/drawing/2014/main" id="{EDB564A1-7B94-1DC7-39E8-CCE43065D84D}"/>
                </a:ext>
              </a:extLst>
            </p:cNvPr>
            <p:cNvSpPr/>
            <p:nvPr/>
          </p:nvSpPr>
          <p:spPr>
            <a:xfrm>
              <a:off x="762000" y="3238500"/>
              <a:ext cx="10668000" cy="342900"/>
            </a:xfrm>
            <a:prstGeom prst="rect">
              <a:avLst/>
            </a:prstGeom>
            <a:solidFill>
              <a:srgbClr val="EBF4FF"/>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26DA5544-2E88-5FDB-1DD2-D3BA9C3BDF50}"/>
                </a:ext>
              </a:extLst>
            </p:cNvPr>
            <p:cNvSpPr txBox="1"/>
            <p:nvPr/>
          </p:nvSpPr>
          <p:spPr>
            <a:xfrm>
              <a:off x="956310" y="3290360"/>
              <a:ext cx="259242" cy="254867"/>
            </a:xfrm>
            <a:prstGeom prst="rect">
              <a:avLst/>
            </a:prstGeom>
            <a:noFill/>
          </p:spPr>
          <p:txBody>
            <a:bodyPr wrap="none" rtlCol="0">
              <a:spAutoFit/>
            </a:bodyPr>
            <a:lstStyle/>
            <a:p>
              <a:pPr algn="l"/>
              <a:r>
                <a:rPr lang="zh-CN" altLang="en-US" sz="975" b="1" spc="0" baseline="0">
                  <a:ln/>
                  <a:solidFill>
                    <a:srgbClr val="4A90D9"/>
                  </a:solidFill>
                  <a:latin typeface="微软雅黑"/>
                  <a:ea typeface="微软雅黑"/>
                  <a:sym typeface="微软雅黑"/>
                  <a:rtl val="0"/>
                </a:rPr>
                <a:t>3</a:t>
              </a:r>
            </a:p>
          </p:txBody>
        </p:sp>
        <p:sp>
          <p:nvSpPr>
            <p:cNvPr id="58" name="文本框 57">
              <a:extLst>
                <a:ext uri="{FF2B5EF4-FFF2-40B4-BE49-F238E27FC236}">
                  <a16:creationId xmlns:a16="http://schemas.microsoft.com/office/drawing/2014/main" id="{639A0A45-8444-82F1-9D39-27AD5B762CF1}"/>
                </a:ext>
              </a:extLst>
            </p:cNvPr>
            <p:cNvSpPr txBox="1"/>
            <p:nvPr/>
          </p:nvSpPr>
          <p:spPr>
            <a:xfrm>
              <a:off x="1527810" y="3290360"/>
              <a:ext cx="554355" cy="254867"/>
            </a:xfrm>
            <a:prstGeom prst="rect">
              <a:avLst/>
            </a:prstGeom>
            <a:noFill/>
          </p:spPr>
          <p:txBody>
            <a:bodyPr wrap="none" rtlCol="0">
              <a:spAutoFit/>
            </a:bodyPr>
            <a:lstStyle/>
            <a:p>
              <a:pPr algn="l"/>
              <a:r>
                <a:rPr lang="zh-CN" altLang="en-US" sz="975" b="1" spc="0" baseline="0">
                  <a:ln/>
                  <a:solidFill>
                    <a:srgbClr val="1E3A5F"/>
                  </a:solidFill>
                  <a:latin typeface="微软雅黑"/>
                  <a:ea typeface="微软雅黑"/>
                  <a:sym typeface="微软雅黑"/>
                  <a:rtl val="0"/>
                </a:rPr>
                <a:t>江北区</a:t>
              </a:r>
            </a:p>
          </p:txBody>
        </p:sp>
        <p:sp>
          <p:nvSpPr>
            <p:cNvPr id="59" name="文本框 58">
              <a:extLst>
                <a:ext uri="{FF2B5EF4-FFF2-40B4-BE49-F238E27FC236}">
                  <a16:creationId xmlns:a16="http://schemas.microsoft.com/office/drawing/2014/main" id="{D683C176-00CC-0526-F9D5-783273DE7D7E}"/>
                </a:ext>
              </a:extLst>
            </p:cNvPr>
            <p:cNvSpPr txBox="1"/>
            <p:nvPr/>
          </p:nvSpPr>
          <p:spPr>
            <a:xfrm>
              <a:off x="2708910" y="3290360"/>
              <a:ext cx="678180" cy="254867"/>
            </a:xfrm>
            <a:prstGeom prst="rect">
              <a:avLst/>
            </a:prstGeom>
            <a:noFill/>
          </p:spPr>
          <p:txBody>
            <a:bodyPr wrap="none" rtlCol="0">
              <a:spAutoFit/>
            </a:bodyPr>
            <a:lstStyle/>
            <a:p>
              <a:pPr algn="l"/>
              <a:r>
                <a:rPr lang="zh-CN" altLang="en-US" sz="975" spc="0" baseline="0">
                  <a:ln/>
                  <a:solidFill>
                    <a:srgbClr val="1E3A5F"/>
                  </a:solidFill>
                  <a:latin typeface="微软雅黑"/>
                  <a:ea typeface="微软雅黑"/>
                  <a:sym typeface="微软雅黑"/>
                  <a:rtl val="0"/>
                </a:rPr>
                <a:t>1,924.26</a:t>
              </a:r>
            </a:p>
          </p:txBody>
        </p:sp>
        <p:sp>
          <p:nvSpPr>
            <p:cNvPr id="60" name="文本框 59">
              <a:extLst>
                <a:ext uri="{FF2B5EF4-FFF2-40B4-BE49-F238E27FC236}">
                  <a16:creationId xmlns:a16="http://schemas.microsoft.com/office/drawing/2014/main" id="{4775ED28-2E0B-BF9C-02E1-DB6C38FE0877}"/>
                </a:ext>
              </a:extLst>
            </p:cNvPr>
            <p:cNvSpPr txBox="1"/>
            <p:nvPr/>
          </p:nvSpPr>
          <p:spPr>
            <a:xfrm>
              <a:off x="4062580" y="3290360"/>
              <a:ext cx="447338" cy="254867"/>
            </a:xfrm>
            <a:prstGeom prst="rect">
              <a:avLst/>
            </a:prstGeom>
            <a:noFill/>
          </p:spPr>
          <p:txBody>
            <a:bodyPr wrap="none" rtlCol="0">
              <a:spAutoFit/>
            </a:bodyPr>
            <a:lstStyle/>
            <a:p>
              <a:pPr algn="l"/>
              <a:r>
                <a:rPr lang="zh-CN" altLang="en-US" sz="975" b="1" spc="0" baseline="0">
                  <a:ln/>
                  <a:solidFill>
                    <a:srgbClr val="2ECC71"/>
                  </a:solidFill>
                  <a:latin typeface="微软雅黑"/>
                  <a:ea typeface="微软雅黑"/>
                  <a:sym typeface="微软雅黑"/>
                  <a:rtl val="0"/>
                </a:rPr>
                <a:t>7.70</a:t>
              </a:r>
            </a:p>
          </p:txBody>
        </p:sp>
        <p:sp>
          <p:nvSpPr>
            <p:cNvPr id="61" name="文本框 60">
              <a:extLst>
                <a:ext uri="{FF2B5EF4-FFF2-40B4-BE49-F238E27FC236}">
                  <a16:creationId xmlns:a16="http://schemas.microsoft.com/office/drawing/2014/main" id="{8E32B955-EE2B-9D4B-758C-4D043029C675}"/>
                </a:ext>
              </a:extLst>
            </p:cNvPr>
            <p:cNvSpPr txBox="1"/>
            <p:nvPr/>
          </p:nvSpPr>
          <p:spPr>
            <a:xfrm>
              <a:off x="5272927" y="32903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95.66</a:t>
              </a:r>
            </a:p>
          </p:txBody>
        </p:sp>
        <p:sp>
          <p:nvSpPr>
            <p:cNvPr id="62" name="文本框 61">
              <a:extLst>
                <a:ext uri="{FF2B5EF4-FFF2-40B4-BE49-F238E27FC236}">
                  <a16:creationId xmlns:a16="http://schemas.microsoft.com/office/drawing/2014/main" id="{D21F9902-E03E-3AC7-9904-1F6A0A9C45C1}"/>
                </a:ext>
              </a:extLst>
            </p:cNvPr>
            <p:cNvSpPr txBox="1"/>
            <p:nvPr/>
          </p:nvSpPr>
          <p:spPr>
            <a:xfrm>
              <a:off x="6606427" y="32903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73.33</a:t>
              </a:r>
            </a:p>
          </p:txBody>
        </p:sp>
        <p:sp>
          <p:nvSpPr>
            <p:cNvPr id="63" name="文本框 62">
              <a:extLst>
                <a:ext uri="{FF2B5EF4-FFF2-40B4-BE49-F238E27FC236}">
                  <a16:creationId xmlns:a16="http://schemas.microsoft.com/office/drawing/2014/main" id="{BA416C76-4A45-0C8A-61D7-469CEFB1057B}"/>
                </a:ext>
              </a:extLst>
            </p:cNvPr>
            <p:cNvSpPr txBox="1"/>
            <p:nvPr/>
          </p:nvSpPr>
          <p:spPr>
            <a:xfrm>
              <a:off x="8035177" y="3290360"/>
              <a:ext cx="503144"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62.62</a:t>
              </a:r>
            </a:p>
          </p:txBody>
        </p:sp>
        <p:sp>
          <p:nvSpPr>
            <p:cNvPr id="64" name="文本框 63">
              <a:extLst>
                <a:ext uri="{FF2B5EF4-FFF2-40B4-BE49-F238E27FC236}">
                  <a16:creationId xmlns:a16="http://schemas.microsoft.com/office/drawing/2014/main" id="{C166F965-1F77-6848-A3F0-364B7C890941}"/>
                </a:ext>
              </a:extLst>
            </p:cNvPr>
            <p:cNvSpPr txBox="1"/>
            <p:nvPr/>
          </p:nvSpPr>
          <p:spPr>
            <a:xfrm>
              <a:off x="9332370" y="32903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264.88</a:t>
              </a:r>
            </a:p>
          </p:txBody>
        </p:sp>
        <p:sp>
          <p:nvSpPr>
            <p:cNvPr id="65" name="文本框 64">
              <a:extLst>
                <a:ext uri="{FF2B5EF4-FFF2-40B4-BE49-F238E27FC236}">
                  <a16:creationId xmlns:a16="http://schemas.microsoft.com/office/drawing/2014/main" id="{34D58CAC-591A-3615-EB98-DE124E2DE6AA}"/>
                </a:ext>
              </a:extLst>
            </p:cNvPr>
            <p:cNvSpPr txBox="1"/>
            <p:nvPr/>
          </p:nvSpPr>
          <p:spPr>
            <a:xfrm>
              <a:off x="10570620" y="3290360"/>
              <a:ext cx="575758"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214.83</a:t>
              </a:r>
            </a:p>
          </p:txBody>
        </p:sp>
        <p:sp>
          <p:nvSpPr>
            <p:cNvPr id="66" name="矩形 65">
              <a:extLst>
                <a:ext uri="{FF2B5EF4-FFF2-40B4-BE49-F238E27FC236}">
                  <a16:creationId xmlns:a16="http://schemas.microsoft.com/office/drawing/2014/main" id="{37D1D307-0F31-FF2F-5D2A-EF6CE98DB54C}"/>
                </a:ext>
              </a:extLst>
            </p:cNvPr>
            <p:cNvSpPr/>
            <p:nvPr/>
          </p:nvSpPr>
          <p:spPr>
            <a:xfrm>
              <a:off x="762000" y="3581400"/>
              <a:ext cx="10668000" cy="342900"/>
            </a:xfrm>
            <a:prstGeom prst="rect">
              <a:avLst/>
            </a:prstGeom>
            <a:solidFill>
              <a:srgbClr val="FFFFFF"/>
            </a:solidFill>
            <a:ln w="9525" cap="flat">
              <a:noFill/>
              <a:prstDash val="solid"/>
              <a:miter/>
            </a:ln>
          </p:spPr>
          <p:txBody>
            <a:bodyPr/>
            <a:lstStyle/>
            <a:p>
              <a:endParaRPr lang="zh-CN" altLang="en-US"/>
            </a:p>
          </p:txBody>
        </p:sp>
        <p:sp>
          <p:nvSpPr>
            <p:cNvPr id="67" name="文本框 66">
              <a:extLst>
                <a:ext uri="{FF2B5EF4-FFF2-40B4-BE49-F238E27FC236}">
                  <a16:creationId xmlns:a16="http://schemas.microsoft.com/office/drawing/2014/main" id="{2C111F72-1348-6F78-AC3D-7CB92BB29C04}"/>
                </a:ext>
              </a:extLst>
            </p:cNvPr>
            <p:cNvSpPr txBox="1"/>
            <p:nvPr/>
          </p:nvSpPr>
          <p:spPr>
            <a:xfrm>
              <a:off x="956310" y="3633260"/>
              <a:ext cx="25549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4</a:t>
              </a:r>
            </a:p>
          </p:txBody>
        </p:sp>
        <p:sp>
          <p:nvSpPr>
            <p:cNvPr id="68" name="文本框 67">
              <a:extLst>
                <a:ext uri="{FF2B5EF4-FFF2-40B4-BE49-F238E27FC236}">
                  <a16:creationId xmlns:a16="http://schemas.microsoft.com/office/drawing/2014/main" id="{B6124DFF-880B-0374-1AA1-6333D1F13D90}"/>
                </a:ext>
              </a:extLst>
            </p:cNvPr>
            <p:cNvSpPr txBox="1"/>
            <p:nvPr/>
          </p:nvSpPr>
          <p:spPr>
            <a:xfrm>
              <a:off x="1527810" y="3633260"/>
              <a:ext cx="554355"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涪陵区</a:t>
              </a:r>
            </a:p>
          </p:txBody>
        </p:sp>
        <p:sp>
          <p:nvSpPr>
            <p:cNvPr id="69" name="文本框 68">
              <a:extLst>
                <a:ext uri="{FF2B5EF4-FFF2-40B4-BE49-F238E27FC236}">
                  <a16:creationId xmlns:a16="http://schemas.microsoft.com/office/drawing/2014/main" id="{7C76D2F3-49DE-DADE-92C3-534B3DD76394}"/>
                </a:ext>
              </a:extLst>
            </p:cNvPr>
            <p:cNvSpPr txBox="1"/>
            <p:nvPr/>
          </p:nvSpPr>
          <p:spPr>
            <a:xfrm>
              <a:off x="2708910" y="36332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1,710.71</a:t>
              </a:r>
            </a:p>
          </p:txBody>
        </p:sp>
        <p:sp>
          <p:nvSpPr>
            <p:cNvPr id="70" name="文本框 69">
              <a:extLst>
                <a:ext uri="{FF2B5EF4-FFF2-40B4-BE49-F238E27FC236}">
                  <a16:creationId xmlns:a16="http://schemas.microsoft.com/office/drawing/2014/main" id="{77F4E63C-DBF6-914C-7EEA-25AA70FC965D}"/>
                </a:ext>
              </a:extLst>
            </p:cNvPr>
            <p:cNvSpPr txBox="1"/>
            <p:nvPr/>
          </p:nvSpPr>
          <p:spPr>
            <a:xfrm>
              <a:off x="4070985" y="36332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5.30</a:t>
              </a:r>
            </a:p>
          </p:txBody>
        </p:sp>
        <p:sp>
          <p:nvSpPr>
            <p:cNvPr id="71" name="文本框 70">
              <a:extLst>
                <a:ext uri="{FF2B5EF4-FFF2-40B4-BE49-F238E27FC236}">
                  <a16:creationId xmlns:a16="http://schemas.microsoft.com/office/drawing/2014/main" id="{19E4B3AB-794A-C6D0-6FB2-DDE2E6D2F7CE}"/>
                </a:ext>
              </a:extLst>
            </p:cNvPr>
            <p:cNvSpPr txBox="1"/>
            <p:nvPr/>
          </p:nvSpPr>
          <p:spPr>
            <a:xfrm>
              <a:off x="5236620" y="36332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110.01</a:t>
              </a:r>
            </a:p>
          </p:txBody>
        </p:sp>
        <p:sp>
          <p:nvSpPr>
            <p:cNvPr id="72" name="文本框 71">
              <a:extLst>
                <a:ext uri="{FF2B5EF4-FFF2-40B4-BE49-F238E27FC236}">
                  <a16:creationId xmlns:a16="http://schemas.microsoft.com/office/drawing/2014/main" id="{450F6ACA-38E5-46FB-769D-D3FC2C3D1EA2}"/>
                </a:ext>
              </a:extLst>
            </p:cNvPr>
            <p:cNvSpPr txBox="1"/>
            <p:nvPr/>
          </p:nvSpPr>
          <p:spPr>
            <a:xfrm>
              <a:off x="6570120" y="36332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108.89</a:t>
              </a:r>
            </a:p>
          </p:txBody>
        </p:sp>
        <p:sp>
          <p:nvSpPr>
            <p:cNvPr id="73" name="文本框 72">
              <a:extLst>
                <a:ext uri="{FF2B5EF4-FFF2-40B4-BE49-F238E27FC236}">
                  <a16:creationId xmlns:a16="http://schemas.microsoft.com/office/drawing/2014/main" id="{58940A7D-7FDF-1286-327A-3915CC1887FE}"/>
                </a:ext>
              </a:extLst>
            </p:cNvPr>
            <p:cNvSpPr txBox="1"/>
            <p:nvPr/>
          </p:nvSpPr>
          <p:spPr>
            <a:xfrm>
              <a:off x="8035177" y="36332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61.32</a:t>
              </a:r>
            </a:p>
          </p:txBody>
        </p:sp>
        <p:sp>
          <p:nvSpPr>
            <p:cNvPr id="74" name="文本框 73">
              <a:extLst>
                <a:ext uri="{FF2B5EF4-FFF2-40B4-BE49-F238E27FC236}">
                  <a16:creationId xmlns:a16="http://schemas.microsoft.com/office/drawing/2014/main" id="{136B5599-5292-6210-2EDC-8D30F487BC0B}"/>
                </a:ext>
              </a:extLst>
            </p:cNvPr>
            <p:cNvSpPr txBox="1"/>
            <p:nvPr/>
          </p:nvSpPr>
          <p:spPr>
            <a:xfrm>
              <a:off x="9332370" y="36332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400.16</a:t>
              </a:r>
            </a:p>
          </p:txBody>
        </p:sp>
        <p:sp>
          <p:nvSpPr>
            <p:cNvPr id="75" name="文本框 74">
              <a:extLst>
                <a:ext uri="{FF2B5EF4-FFF2-40B4-BE49-F238E27FC236}">
                  <a16:creationId xmlns:a16="http://schemas.microsoft.com/office/drawing/2014/main" id="{6199BAE6-37CD-7C15-C4EF-2E40F61AA9AF}"/>
                </a:ext>
              </a:extLst>
            </p:cNvPr>
            <p:cNvSpPr txBox="1"/>
            <p:nvPr/>
          </p:nvSpPr>
          <p:spPr>
            <a:xfrm>
              <a:off x="10570620" y="36332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396.12</a:t>
              </a:r>
            </a:p>
          </p:txBody>
        </p:sp>
        <p:sp>
          <p:nvSpPr>
            <p:cNvPr id="76" name="矩形 75">
              <a:extLst>
                <a:ext uri="{FF2B5EF4-FFF2-40B4-BE49-F238E27FC236}">
                  <a16:creationId xmlns:a16="http://schemas.microsoft.com/office/drawing/2014/main" id="{032CEF06-80D8-E4AD-5217-7CDDD264E68B}"/>
                </a:ext>
              </a:extLst>
            </p:cNvPr>
            <p:cNvSpPr/>
            <p:nvPr/>
          </p:nvSpPr>
          <p:spPr>
            <a:xfrm>
              <a:off x="762000" y="3924300"/>
              <a:ext cx="10668000" cy="342900"/>
            </a:xfrm>
            <a:prstGeom prst="rect">
              <a:avLst/>
            </a:prstGeom>
            <a:solidFill>
              <a:srgbClr val="EBF4FF"/>
            </a:solidFill>
            <a:ln w="9525" cap="flat">
              <a:noFill/>
              <a:prstDash val="solid"/>
              <a:miter/>
            </a:ln>
          </p:spPr>
          <p:txBody>
            <a:bodyPr/>
            <a:lstStyle/>
            <a:p>
              <a:endParaRPr lang="zh-CN" altLang="en-US"/>
            </a:p>
          </p:txBody>
        </p:sp>
        <p:sp>
          <p:nvSpPr>
            <p:cNvPr id="77" name="文本框 76">
              <a:extLst>
                <a:ext uri="{FF2B5EF4-FFF2-40B4-BE49-F238E27FC236}">
                  <a16:creationId xmlns:a16="http://schemas.microsoft.com/office/drawing/2014/main" id="{35E1C9E7-B35A-95D1-4897-BCE9284E73C7}"/>
                </a:ext>
              </a:extLst>
            </p:cNvPr>
            <p:cNvSpPr txBox="1"/>
            <p:nvPr/>
          </p:nvSpPr>
          <p:spPr>
            <a:xfrm>
              <a:off x="956310" y="3976160"/>
              <a:ext cx="25549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5</a:t>
              </a:r>
            </a:p>
          </p:txBody>
        </p:sp>
        <p:sp>
          <p:nvSpPr>
            <p:cNvPr id="78" name="文本框 77">
              <a:extLst>
                <a:ext uri="{FF2B5EF4-FFF2-40B4-BE49-F238E27FC236}">
                  <a16:creationId xmlns:a16="http://schemas.microsoft.com/office/drawing/2014/main" id="{38BBEBB5-7930-127C-6ADD-1C310BCC83B1}"/>
                </a:ext>
              </a:extLst>
            </p:cNvPr>
            <p:cNvSpPr txBox="1"/>
            <p:nvPr/>
          </p:nvSpPr>
          <p:spPr>
            <a:xfrm>
              <a:off x="1527810" y="3976160"/>
              <a:ext cx="554355"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渝中区</a:t>
              </a:r>
            </a:p>
          </p:txBody>
        </p:sp>
        <p:sp>
          <p:nvSpPr>
            <p:cNvPr id="79" name="文本框 78">
              <a:extLst>
                <a:ext uri="{FF2B5EF4-FFF2-40B4-BE49-F238E27FC236}">
                  <a16:creationId xmlns:a16="http://schemas.microsoft.com/office/drawing/2014/main" id="{3D717F80-B032-3FA3-D770-B88EE61FD778}"/>
                </a:ext>
              </a:extLst>
            </p:cNvPr>
            <p:cNvSpPr txBox="1"/>
            <p:nvPr/>
          </p:nvSpPr>
          <p:spPr>
            <a:xfrm>
              <a:off x="2708910" y="39761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1,691.53</a:t>
              </a:r>
            </a:p>
          </p:txBody>
        </p:sp>
        <p:sp>
          <p:nvSpPr>
            <p:cNvPr id="80" name="文本框 79">
              <a:extLst>
                <a:ext uri="{FF2B5EF4-FFF2-40B4-BE49-F238E27FC236}">
                  <a16:creationId xmlns:a16="http://schemas.microsoft.com/office/drawing/2014/main" id="{62BD1286-6ABE-9DCC-633B-79229EB40546}"/>
                </a:ext>
              </a:extLst>
            </p:cNvPr>
            <p:cNvSpPr txBox="1"/>
            <p:nvPr/>
          </p:nvSpPr>
          <p:spPr>
            <a:xfrm>
              <a:off x="4070985" y="39761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5.50</a:t>
              </a:r>
            </a:p>
          </p:txBody>
        </p:sp>
        <p:sp>
          <p:nvSpPr>
            <p:cNvPr id="81" name="文本框 80">
              <a:extLst>
                <a:ext uri="{FF2B5EF4-FFF2-40B4-BE49-F238E27FC236}">
                  <a16:creationId xmlns:a16="http://schemas.microsoft.com/office/drawing/2014/main" id="{F9819CF1-2A9D-6C87-A46A-1F2DF9645325}"/>
                </a:ext>
              </a:extLst>
            </p:cNvPr>
            <p:cNvSpPr txBox="1"/>
            <p:nvPr/>
          </p:nvSpPr>
          <p:spPr>
            <a:xfrm>
              <a:off x="5272927" y="39761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57.35</a:t>
              </a:r>
            </a:p>
          </p:txBody>
        </p:sp>
        <p:sp>
          <p:nvSpPr>
            <p:cNvPr id="82" name="文本框 81">
              <a:extLst>
                <a:ext uri="{FF2B5EF4-FFF2-40B4-BE49-F238E27FC236}">
                  <a16:creationId xmlns:a16="http://schemas.microsoft.com/office/drawing/2014/main" id="{EA1F9D63-537F-C49A-0CFE-96771A7CC908}"/>
                </a:ext>
              </a:extLst>
            </p:cNvPr>
            <p:cNvSpPr txBox="1"/>
            <p:nvPr/>
          </p:nvSpPr>
          <p:spPr>
            <a:xfrm>
              <a:off x="6606427" y="39761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52.28</a:t>
              </a:r>
            </a:p>
          </p:txBody>
        </p:sp>
        <p:sp>
          <p:nvSpPr>
            <p:cNvPr id="83" name="文本框 82">
              <a:extLst>
                <a:ext uri="{FF2B5EF4-FFF2-40B4-BE49-F238E27FC236}">
                  <a16:creationId xmlns:a16="http://schemas.microsoft.com/office/drawing/2014/main" id="{80F18518-1C91-BF39-422E-C17EFF752145}"/>
                </a:ext>
              </a:extLst>
            </p:cNvPr>
            <p:cNvSpPr txBox="1"/>
            <p:nvPr/>
          </p:nvSpPr>
          <p:spPr>
            <a:xfrm>
              <a:off x="8035177" y="39761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56.08</a:t>
              </a:r>
            </a:p>
          </p:txBody>
        </p:sp>
        <p:sp>
          <p:nvSpPr>
            <p:cNvPr id="84" name="文本框 83">
              <a:extLst>
                <a:ext uri="{FF2B5EF4-FFF2-40B4-BE49-F238E27FC236}">
                  <a16:creationId xmlns:a16="http://schemas.microsoft.com/office/drawing/2014/main" id="{4706D056-4EDC-CD21-02B3-895A6161FBCA}"/>
                </a:ext>
              </a:extLst>
            </p:cNvPr>
            <p:cNvSpPr txBox="1"/>
            <p:nvPr/>
          </p:nvSpPr>
          <p:spPr>
            <a:xfrm>
              <a:off x="9332370" y="39761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209.04</a:t>
              </a:r>
            </a:p>
          </p:txBody>
        </p:sp>
        <p:sp>
          <p:nvSpPr>
            <p:cNvPr id="85" name="文本框 84">
              <a:extLst>
                <a:ext uri="{FF2B5EF4-FFF2-40B4-BE49-F238E27FC236}">
                  <a16:creationId xmlns:a16="http://schemas.microsoft.com/office/drawing/2014/main" id="{70034484-5589-A45C-6BAC-1DF056006026}"/>
                </a:ext>
              </a:extLst>
            </p:cNvPr>
            <p:cNvSpPr txBox="1"/>
            <p:nvPr/>
          </p:nvSpPr>
          <p:spPr>
            <a:xfrm>
              <a:off x="10570620" y="3976160"/>
              <a:ext cx="575758"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252.85</a:t>
              </a:r>
            </a:p>
          </p:txBody>
        </p:sp>
        <p:sp>
          <p:nvSpPr>
            <p:cNvPr id="86" name="矩形 85">
              <a:extLst>
                <a:ext uri="{FF2B5EF4-FFF2-40B4-BE49-F238E27FC236}">
                  <a16:creationId xmlns:a16="http://schemas.microsoft.com/office/drawing/2014/main" id="{083887DC-F7AC-30C9-6D7E-2BB2642A16CC}"/>
                </a:ext>
              </a:extLst>
            </p:cNvPr>
            <p:cNvSpPr/>
            <p:nvPr/>
          </p:nvSpPr>
          <p:spPr>
            <a:xfrm>
              <a:off x="762000" y="4267200"/>
              <a:ext cx="10668000" cy="342900"/>
            </a:xfrm>
            <a:prstGeom prst="rect">
              <a:avLst/>
            </a:prstGeom>
            <a:solidFill>
              <a:srgbClr val="FFFFFF"/>
            </a:solidFill>
            <a:ln w="9525" cap="flat">
              <a:noFill/>
              <a:prstDash val="solid"/>
              <a:miter/>
            </a:ln>
          </p:spPr>
          <p:txBody>
            <a:bodyPr/>
            <a:lstStyle/>
            <a:p>
              <a:endParaRPr lang="zh-CN" altLang="en-US"/>
            </a:p>
          </p:txBody>
        </p:sp>
        <p:sp>
          <p:nvSpPr>
            <p:cNvPr id="87" name="文本框 86">
              <a:extLst>
                <a:ext uri="{FF2B5EF4-FFF2-40B4-BE49-F238E27FC236}">
                  <a16:creationId xmlns:a16="http://schemas.microsoft.com/office/drawing/2014/main" id="{C03BEEDC-54A7-65C6-1C25-B84907F1163B}"/>
                </a:ext>
              </a:extLst>
            </p:cNvPr>
            <p:cNvSpPr txBox="1"/>
            <p:nvPr/>
          </p:nvSpPr>
          <p:spPr>
            <a:xfrm>
              <a:off x="956310" y="4319060"/>
              <a:ext cx="25549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6</a:t>
              </a:r>
            </a:p>
          </p:txBody>
        </p:sp>
        <p:sp>
          <p:nvSpPr>
            <p:cNvPr id="88" name="文本框 87">
              <a:extLst>
                <a:ext uri="{FF2B5EF4-FFF2-40B4-BE49-F238E27FC236}">
                  <a16:creationId xmlns:a16="http://schemas.microsoft.com/office/drawing/2014/main" id="{8DD35BB8-E9E9-F065-AABE-5099AD95935B}"/>
                </a:ext>
              </a:extLst>
            </p:cNvPr>
            <p:cNvSpPr txBox="1"/>
            <p:nvPr/>
          </p:nvSpPr>
          <p:spPr>
            <a:xfrm>
              <a:off x="1527810" y="4319060"/>
              <a:ext cx="554355"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江津区</a:t>
              </a:r>
            </a:p>
          </p:txBody>
        </p:sp>
        <p:sp>
          <p:nvSpPr>
            <p:cNvPr id="89" name="文本框 88">
              <a:extLst>
                <a:ext uri="{FF2B5EF4-FFF2-40B4-BE49-F238E27FC236}">
                  <a16:creationId xmlns:a16="http://schemas.microsoft.com/office/drawing/2014/main" id="{4022E261-5209-06D8-3B90-715A61822B5B}"/>
                </a:ext>
              </a:extLst>
            </p:cNvPr>
            <p:cNvSpPr txBox="1"/>
            <p:nvPr/>
          </p:nvSpPr>
          <p:spPr>
            <a:xfrm>
              <a:off x="2708910" y="43190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1,490.78</a:t>
              </a:r>
            </a:p>
          </p:txBody>
        </p:sp>
        <p:sp>
          <p:nvSpPr>
            <p:cNvPr id="90" name="文本框 89">
              <a:extLst>
                <a:ext uri="{FF2B5EF4-FFF2-40B4-BE49-F238E27FC236}">
                  <a16:creationId xmlns:a16="http://schemas.microsoft.com/office/drawing/2014/main" id="{E2E719D6-8F66-D809-FB31-E20E7E945B3F}"/>
                </a:ext>
              </a:extLst>
            </p:cNvPr>
            <p:cNvSpPr txBox="1"/>
            <p:nvPr/>
          </p:nvSpPr>
          <p:spPr>
            <a:xfrm>
              <a:off x="4070985" y="43190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4.10</a:t>
              </a:r>
            </a:p>
          </p:txBody>
        </p:sp>
        <p:sp>
          <p:nvSpPr>
            <p:cNvPr id="91" name="文本框 90">
              <a:extLst>
                <a:ext uri="{FF2B5EF4-FFF2-40B4-BE49-F238E27FC236}">
                  <a16:creationId xmlns:a16="http://schemas.microsoft.com/office/drawing/2014/main" id="{03AC591F-136C-83D8-5A8A-3BF3049596AE}"/>
                </a:ext>
              </a:extLst>
            </p:cNvPr>
            <p:cNvSpPr txBox="1"/>
            <p:nvPr/>
          </p:nvSpPr>
          <p:spPr>
            <a:xfrm>
              <a:off x="5236620" y="43190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133.60</a:t>
              </a:r>
            </a:p>
          </p:txBody>
        </p:sp>
        <p:sp>
          <p:nvSpPr>
            <p:cNvPr id="92" name="文本框 91">
              <a:extLst>
                <a:ext uri="{FF2B5EF4-FFF2-40B4-BE49-F238E27FC236}">
                  <a16:creationId xmlns:a16="http://schemas.microsoft.com/office/drawing/2014/main" id="{F9F7D398-7862-3FC6-D5AD-8B99043C3488}"/>
                </a:ext>
              </a:extLst>
            </p:cNvPr>
            <p:cNvSpPr txBox="1"/>
            <p:nvPr/>
          </p:nvSpPr>
          <p:spPr>
            <a:xfrm>
              <a:off x="6606427" y="43190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68.29</a:t>
              </a:r>
            </a:p>
          </p:txBody>
        </p:sp>
        <p:sp>
          <p:nvSpPr>
            <p:cNvPr id="93" name="文本框 92">
              <a:extLst>
                <a:ext uri="{FF2B5EF4-FFF2-40B4-BE49-F238E27FC236}">
                  <a16:creationId xmlns:a16="http://schemas.microsoft.com/office/drawing/2014/main" id="{0A658DAA-8DFE-DDAB-0FAF-E73C08A96B71}"/>
                </a:ext>
              </a:extLst>
            </p:cNvPr>
            <p:cNvSpPr txBox="1"/>
            <p:nvPr/>
          </p:nvSpPr>
          <p:spPr>
            <a:xfrm>
              <a:off x="8035177" y="43190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55.98</a:t>
              </a:r>
            </a:p>
          </p:txBody>
        </p:sp>
        <p:sp>
          <p:nvSpPr>
            <p:cNvPr id="94" name="文本框 93">
              <a:extLst>
                <a:ext uri="{FF2B5EF4-FFF2-40B4-BE49-F238E27FC236}">
                  <a16:creationId xmlns:a16="http://schemas.microsoft.com/office/drawing/2014/main" id="{73907BD8-A3DF-EB78-09F8-32E628594AA3}"/>
                </a:ext>
              </a:extLst>
            </p:cNvPr>
            <p:cNvSpPr txBox="1"/>
            <p:nvPr/>
          </p:nvSpPr>
          <p:spPr>
            <a:xfrm>
              <a:off x="9332370" y="43190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381.74</a:t>
              </a:r>
            </a:p>
          </p:txBody>
        </p:sp>
        <p:sp>
          <p:nvSpPr>
            <p:cNvPr id="95" name="文本框 94">
              <a:extLst>
                <a:ext uri="{FF2B5EF4-FFF2-40B4-BE49-F238E27FC236}">
                  <a16:creationId xmlns:a16="http://schemas.microsoft.com/office/drawing/2014/main" id="{324E11BA-CC7E-BA8D-3FFF-C38C8DF5E019}"/>
                </a:ext>
              </a:extLst>
            </p:cNvPr>
            <p:cNvSpPr txBox="1"/>
            <p:nvPr/>
          </p:nvSpPr>
          <p:spPr>
            <a:xfrm>
              <a:off x="10570620" y="4319060"/>
              <a:ext cx="575758" cy="254867"/>
            </a:xfrm>
            <a:prstGeom prst="rect">
              <a:avLst/>
            </a:prstGeom>
            <a:noFill/>
          </p:spPr>
          <p:txBody>
            <a:bodyPr wrap="none" rtlCol="0">
              <a:spAutoFit/>
            </a:bodyPr>
            <a:lstStyle/>
            <a:p>
              <a:pPr algn="l"/>
              <a:r>
                <a:rPr lang="zh-CN" altLang="en-US" sz="975" spc="0" baseline="0">
                  <a:ln/>
                  <a:solidFill>
                    <a:srgbClr val="F59E0B"/>
                  </a:solidFill>
                  <a:latin typeface="微软雅黑"/>
                  <a:ea typeface="微软雅黑"/>
                  <a:sym typeface="微软雅黑"/>
                  <a:rtl val="0"/>
                </a:rPr>
                <a:t>585.97</a:t>
              </a:r>
            </a:p>
          </p:txBody>
        </p:sp>
        <p:sp>
          <p:nvSpPr>
            <p:cNvPr id="96" name="矩形 95">
              <a:extLst>
                <a:ext uri="{FF2B5EF4-FFF2-40B4-BE49-F238E27FC236}">
                  <a16:creationId xmlns:a16="http://schemas.microsoft.com/office/drawing/2014/main" id="{43996C80-5C03-C7D4-2C6A-3C5ABB46A3E6}"/>
                </a:ext>
              </a:extLst>
            </p:cNvPr>
            <p:cNvSpPr/>
            <p:nvPr/>
          </p:nvSpPr>
          <p:spPr>
            <a:xfrm>
              <a:off x="762000" y="4610100"/>
              <a:ext cx="10668000" cy="342900"/>
            </a:xfrm>
            <a:prstGeom prst="rect">
              <a:avLst/>
            </a:prstGeom>
            <a:solidFill>
              <a:srgbClr val="EBF4FF"/>
            </a:solidFill>
            <a:ln w="9525" cap="flat">
              <a:noFill/>
              <a:prstDash val="solid"/>
              <a:miter/>
            </a:ln>
          </p:spPr>
          <p:txBody>
            <a:bodyPr/>
            <a:lstStyle/>
            <a:p>
              <a:endParaRPr lang="zh-CN" altLang="en-US"/>
            </a:p>
          </p:txBody>
        </p:sp>
        <p:sp>
          <p:nvSpPr>
            <p:cNvPr id="97" name="文本框 96">
              <a:extLst>
                <a:ext uri="{FF2B5EF4-FFF2-40B4-BE49-F238E27FC236}">
                  <a16:creationId xmlns:a16="http://schemas.microsoft.com/office/drawing/2014/main" id="{907E2465-8799-5B5C-7FAB-336819A3B3F1}"/>
                </a:ext>
              </a:extLst>
            </p:cNvPr>
            <p:cNvSpPr txBox="1"/>
            <p:nvPr/>
          </p:nvSpPr>
          <p:spPr>
            <a:xfrm>
              <a:off x="956310" y="4661960"/>
              <a:ext cx="25549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7</a:t>
              </a:r>
            </a:p>
          </p:txBody>
        </p:sp>
        <p:sp>
          <p:nvSpPr>
            <p:cNvPr id="98" name="文本框 97">
              <a:extLst>
                <a:ext uri="{FF2B5EF4-FFF2-40B4-BE49-F238E27FC236}">
                  <a16:creationId xmlns:a16="http://schemas.microsoft.com/office/drawing/2014/main" id="{421B5B42-714E-50F7-CB9D-8984A7829DC6}"/>
                </a:ext>
              </a:extLst>
            </p:cNvPr>
            <p:cNvSpPr txBox="1"/>
            <p:nvPr/>
          </p:nvSpPr>
          <p:spPr>
            <a:xfrm>
              <a:off x="1527810" y="4661960"/>
              <a:ext cx="554355"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万州区</a:t>
              </a:r>
            </a:p>
          </p:txBody>
        </p:sp>
        <p:sp>
          <p:nvSpPr>
            <p:cNvPr id="99" name="文本框 98">
              <a:extLst>
                <a:ext uri="{FF2B5EF4-FFF2-40B4-BE49-F238E27FC236}">
                  <a16:creationId xmlns:a16="http://schemas.microsoft.com/office/drawing/2014/main" id="{294D8568-825F-D4E7-25B4-9F3C996247ED}"/>
                </a:ext>
              </a:extLst>
            </p:cNvPr>
            <p:cNvSpPr txBox="1"/>
            <p:nvPr/>
          </p:nvSpPr>
          <p:spPr>
            <a:xfrm>
              <a:off x="2708910" y="46619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1,222.36</a:t>
              </a:r>
            </a:p>
          </p:txBody>
        </p:sp>
        <p:sp>
          <p:nvSpPr>
            <p:cNvPr id="100" name="文本框 99">
              <a:extLst>
                <a:ext uri="{FF2B5EF4-FFF2-40B4-BE49-F238E27FC236}">
                  <a16:creationId xmlns:a16="http://schemas.microsoft.com/office/drawing/2014/main" id="{A298476B-8946-4318-4A38-A29E7FD92ED3}"/>
                </a:ext>
              </a:extLst>
            </p:cNvPr>
            <p:cNvSpPr txBox="1"/>
            <p:nvPr/>
          </p:nvSpPr>
          <p:spPr>
            <a:xfrm>
              <a:off x="4070985" y="4661960"/>
              <a:ext cx="430530"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6.80</a:t>
              </a:r>
            </a:p>
          </p:txBody>
        </p:sp>
        <p:sp>
          <p:nvSpPr>
            <p:cNvPr id="101" name="文本框 100">
              <a:extLst>
                <a:ext uri="{FF2B5EF4-FFF2-40B4-BE49-F238E27FC236}">
                  <a16:creationId xmlns:a16="http://schemas.microsoft.com/office/drawing/2014/main" id="{CF32E9A9-1391-F0F0-5257-BE0F3584BDF8}"/>
                </a:ext>
              </a:extLst>
            </p:cNvPr>
            <p:cNvSpPr txBox="1"/>
            <p:nvPr/>
          </p:nvSpPr>
          <p:spPr>
            <a:xfrm>
              <a:off x="5236620" y="46619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153.88</a:t>
              </a:r>
            </a:p>
          </p:txBody>
        </p:sp>
        <p:sp>
          <p:nvSpPr>
            <p:cNvPr id="102" name="文本框 101">
              <a:extLst>
                <a:ext uri="{FF2B5EF4-FFF2-40B4-BE49-F238E27FC236}">
                  <a16:creationId xmlns:a16="http://schemas.microsoft.com/office/drawing/2014/main" id="{681EDFB5-834F-2228-E007-BE189145C662}"/>
                </a:ext>
              </a:extLst>
            </p:cNvPr>
            <p:cNvSpPr txBox="1"/>
            <p:nvPr/>
          </p:nvSpPr>
          <p:spPr>
            <a:xfrm>
              <a:off x="6606427" y="46619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82.89</a:t>
              </a:r>
            </a:p>
          </p:txBody>
        </p:sp>
        <p:sp>
          <p:nvSpPr>
            <p:cNvPr id="103" name="文本框 102">
              <a:extLst>
                <a:ext uri="{FF2B5EF4-FFF2-40B4-BE49-F238E27FC236}">
                  <a16:creationId xmlns:a16="http://schemas.microsoft.com/office/drawing/2014/main" id="{E8867BFA-B406-6171-01CC-17FBEFD7EA4D}"/>
                </a:ext>
              </a:extLst>
            </p:cNvPr>
            <p:cNvSpPr txBox="1"/>
            <p:nvPr/>
          </p:nvSpPr>
          <p:spPr>
            <a:xfrm>
              <a:off x="8035177" y="46619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49.68</a:t>
              </a:r>
            </a:p>
          </p:txBody>
        </p:sp>
        <p:sp>
          <p:nvSpPr>
            <p:cNvPr id="104" name="文本框 103">
              <a:extLst>
                <a:ext uri="{FF2B5EF4-FFF2-40B4-BE49-F238E27FC236}">
                  <a16:creationId xmlns:a16="http://schemas.microsoft.com/office/drawing/2014/main" id="{4BFFFE61-05DE-87C0-91E4-304AA2990EA6}"/>
                </a:ext>
              </a:extLst>
            </p:cNvPr>
            <p:cNvSpPr txBox="1"/>
            <p:nvPr/>
          </p:nvSpPr>
          <p:spPr>
            <a:xfrm>
              <a:off x="9332370" y="46619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410.02</a:t>
              </a:r>
            </a:p>
          </p:txBody>
        </p:sp>
        <p:sp>
          <p:nvSpPr>
            <p:cNvPr id="105" name="文本框 104">
              <a:extLst>
                <a:ext uri="{FF2B5EF4-FFF2-40B4-BE49-F238E27FC236}">
                  <a16:creationId xmlns:a16="http://schemas.microsoft.com/office/drawing/2014/main" id="{56BCF3CD-6B6F-62D4-8CCF-C79B5AC742C9}"/>
                </a:ext>
              </a:extLst>
            </p:cNvPr>
            <p:cNvSpPr txBox="1"/>
            <p:nvPr/>
          </p:nvSpPr>
          <p:spPr>
            <a:xfrm>
              <a:off x="10570620" y="4661960"/>
              <a:ext cx="575758" cy="254867"/>
            </a:xfrm>
            <a:prstGeom prst="rect">
              <a:avLst/>
            </a:prstGeom>
            <a:noFill/>
          </p:spPr>
          <p:txBody>
            <a:bodyPr wrap="none" rtlCol="0">
              <a:spAutoFit/>
            </a:bodyPr>
            <a:lstStyle/>
            <a:p>
              <a:pPr algn="l"/>
              <a:r>
                <a:rPr lang="zh-CN" altLang="en-US" sz="975" spc="0" baseline="0">
                  <a:ln/>
                  <a:solidFill>
                    <a:srgbClr val="E63946"/>
                  </a:solidFill>
                  <a:latin typeface="微软雅黑"/>
                  <a:ea typeface="微软雅黑"/>
                  <a:sym typeface="微软雅黑"/>
                  <a:rtl val="0"/>
                </a:rPr>
                <a:t>814.93</a:t>
              </a:r>
            </a:p>
          </p:txBody>
        </p:sp>
        <p:sp>
          <p:nvSpPr>
            <p:cNvPr id="106" name="矩形 105">
              <a:extLst>
                <a:ext uri="{FF2B5EF4-FFF2-40B4-BE49-F238E27FC236}">
                  <a16:creationId xmlns:a16="http://schemas.microsoft.com/office/drawing/2014/main" id="{EC4C5FCA-4A06-EB31-AA62-A049EF39B8CA}"/>
                </a:ext>
              </a:extLst>
            </p:cNvPr>
            <p:cNvSpPr/>
            <p:nvPr/>
          </p:nvSpPr>
          <p:spPr>
            <a:xfrm>
              <a:off x="762000" y="4953000"/>
              <a:ext cx="10668000" cy="342900"/>
            </a:xfrm>
            <a:prstGeom prst="rect">
              <a:avLst/>
            </a:prstGeom>
            <a:solidFill>
              <a:srgbClr val="FFFFFF"/>
            </a:solidFill>
            <a:ln w="9525" cap="flat">
              <a:noFill/>
              <a:prstDash val="solid"/>
              <a:miter/>
            </a:ln>
          </p:spPr>
          <p:txBody>
            <a:bodyPr/>
            <a:lstStyle/>
            <a:p>
              <a:endParaRPr lang="zh-CN" altLang="en-US"/>
            </a:p>
          </p:txBody>
        </p:sp>
        <p:sp>
          <p:nvSpPr>
            <p:cNvPr id="107" name="文本框 106">
              <a:extLst>
                <a:ext uri="{FF2B5EF4-FFF2-40B4-BE49-F238E27FC236}">
                  <a16:creationId xmlns:a16="http://schemas.microsoft.com/office/drawing/2014/main" id="{734FA403-B2C4-604F-A00A-7BB5EAABCA0A}"/>
                </a:ext>
              </a:extLst>
            </p:cNvPr>
            <p:cNvSpPr txBox="1"/>
            <p:nvPr/>
          </p:nvSpPr>
          <p:spPr>
            <a:xfrm>
              <a:off x="956310" y="5004860"/>
              <a:ext cx="25549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8</a:t>
              </a:r>
            </a:p>
          </p:txBody>
        </p:sp>
        <p:sp>
          <p:nvSpPr>
            <p:cNvPr id="108" name="文本框 107">
              <a:extLst>
                <a:ext uri="{FF2B5EF4-FFF2-40B4-BE49-F238E27FC236}">
                  <a16:creationId xmlns:a16="http://schemas.microsoft.com/office/drawing/2014/main" id="{39172635-251F-DF57-B273-F57CD65F3C52}"/>
                </a:ext>
              </a:extLst>
            </p:cNvPr>
            <p:cNvSpPr txBox="1"/>
            <p:nvPr/>
          </p:nvSpPr>
          <p:spPr>
            <a:xfrm>
              <a:off x="1527810" y="50048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沙坪坝区</a:t>
              </a:r>
            </a:p>
          </p:txBody>
        </p:sp>
        <p:sp>
          <p:nvSpPr>
            <p:cNvPr id="109" name="文本框 108">
              <a:extLst>
                <a:ext uri="{FF2B5EF4-FFF2-40B4-BE49-F238E27FC236}">
                  <a16:creationId xmlns:a16="http://schemas.microsoft.com/office/drawing/2014/main" id="{6A28D5F5-73A3-A84C-AE43-5DFC0C9F2456}"/>
                </a:ext>
              </a:extLst>
            </p:cNvPr>
            <p:cNvSpPr txBox="1"/>
            <p:nvPr/>
          </p:nvSpPr>
          <p:spPr>
            <a:xfrm>
              <a:off x="2708910" y="50048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1,220.89</a:t>
              </a:r>
            </a:p>
          </p:txBody>
        </p:sp>
        <p:sp>
          <p:nvSpPr>
            <p:cNvPr id="110" name="文本框 109">
              <a:extLst>
                <a:ext uri="{FF2B5EF4-FFF2-40B4-BE49-F238E27FC236}">
                  <a16:creationId xmlns:a16="http://schemas.microsoft.com/office/drawing/2014/main" id="{A9C5D184-DF73-32FE-E413-28BFDF232DB6}"/>
                </a:ext>
              </a:extLst>
            </p:cNvPr>
            <p:cNvSpPr txBox="1"/>
            <p:nvPr/>
          </p:nvSpPr>
          <p:spPr>
            <a:xfrm>
              <a:off x="4070985" y="5004860"/>
              <a:ext cx="430530" cy="254867"/>
            </a:xfrm>
            <a:prstGeom prst="rect">
              <a:avLst/>
            </a:prstGeom>
            <a:noFill/>
          </p:spPr>
          <p:txBody>
            <a:bodyPr wrap="none" rtlCol="0">
              <a:spAutoFit/>
            </a:bodyPr>
            <a:lstStyle/>
            <a:p>
              <a:pPr algn="l"/>
              <a:r>
                <a:rPr lang="zh-CN" altLang="en-US" sz="975" spc="0" baseline="0">
                  <a:ln/>
                  <a:solidFill>
                    <a:srgbClr val="2ECC71"/>
                  </a:solidFill>
                  <a:latin typeface="微软雅黑"/>
                  <a:ea typeface="微软雅黑"/>
                  <a:sym typeface="微软雅黑"/>
                  <a:rtl val="0"/>
                </a:rPr>
                <a:t>6.50</a:t>
              </a:r>
            </a:p>
          </p:txBody>
        </p:sp>
        <p:sp>
          <p:nvSpPr>
            <p:cNvPr id="111" name="文本框 110">
              <a:extLst>
                <a:ext uri="{FF2B5EF4-FFF2-40B4-BE49-F238E27FC236}">
                  <a16:creationId xmlns:a16="http://schemas.microsoft.com/office/drawing/2014/main" id="{765181C7-12D4-EB72-C36F-8CA30344528C}"/>
                </a:ext>
              </a:extLst>
            </p:cNvPr>
            <p:cNvSpPr txBox="1"/>
            <p:nvPr/>
          </p:nvSpPr>
          <p:spPr>
            <a:xfrm>
              <a:off x="5236620" y="50048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149.43</a:t>
              </a:r>
            </a:p>
          </p:txBody>
        </p:sp>
        <p:sp>
          <p:nvSpPr>
            <p:cNvPr id="112" name="文本框 111">
              <a:extLst>
                <a:ext uri="{FF2B5EF4-FFF2-40B4-BE49-F238E27FC236}">
                  <a16:creationId xmlns:a16="http://schemas.microsoft.com/office/drawing/2014/main" id="{8F57D2C1-41FF-B651-BA4C-5D90A0CACEF6}"/>
                </a:ext>
              </a:extLst>
            </p:cNvPr>
            <p:cNvSpPr txBox="1"/>
            <p:nvPr/>
          </p:nvSpPr>
          <p:spPr>
            <a:xfrm>
              <a:off x="6606427" y="50048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36.82</a:t>
              </a:r>
            </a:p>
          </p:txBody>
        </p:sp>
        <p:sp>
          <p:nvSpPr>
            <p:cNvPr id="113" name="文本框 112">
              <a:extLst>
                <a:ext uri="{FF2B5EF4-FFF2-40B4-BE49-F238E27FC236}">
                  <a16:creationId xmlns:a16="http://schemas.microsoft.com/office/drawing/2014/main" id="{71B4A7B2-88EC-337A-2A50-6E9DA78C8D52}"/>
                </a:ext>
              </a:extLst>
            </p:cNvPr>
            <p:cNvSpPr txBox="1"/>
            <p:nvPr/>
          </p:nvSpPr>
          <p:spPr>
            <a:xfrm>
              <a:off x="8035177" y="5004860"/>
              <a:ext cx="503144" cy="254867"/>
            </a:xfrm>
            <a:prstGeom prst="rect">
              <a:avLst/>
            </a:prstGeom>
            <a:noFill/>
          </p:spPr>
          <p:txBody>
            <a:bodyPr wrap="none" rtlCol="0">
              <a:spAutoFit/>
            </a:bodyPr>
            <a:lstStyle/>
            <a:p>
              <a:pPr algn="l"/>
              <a:r>
                <a:rPr lang="zh-CN" altLang="en-US" sz="975" spc="0" baseline="0">
                  <a:ln/>
                  <a:solidFill>
                    <a:srgbClr val="E63946"/>
                  </a:solidFill>
                  <a:latin typeface="微软雅黑"/>
                  <a:ea typeface="微软雅黑"/>
                  <a:sym typeface="微软雅黑"/>
                  <a:rtl val="0"/>
                </a:rPr>
                <a:t>35.39</a:t>
              </a:r>
            </a:p>
          </p:txBody>
        </p:sp>
        <p:sp>
          <p:nvSpPr>
            <p:cNvPr id="114" name="文本框 113">
              <a:extLst>
                <a:ext uri="{FF2B5EF4-FFF2-40B4-BE49-F238E27FC236}">
                  <a16:creationId xmlns:a16="http://schemas.microsoft.com/office/drawing/2014/main" id="{732DA00A-FDDA-7C83-D380-66D9EEE1D0E2}"/>
                </a:ext>
              </a:extLst>
            </p:cNvPr>
            <p:cNvSpPr txBox="1"/>
            <p:nvPr/>
          </p:nvSpPr>
          <p:spPr>
            <a:xfrm>
              <a:off x="9332370" y="50048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344.98</a:t>
              </a:r>
            </a:p>
          </p:txBody>
        </p:sp>
        <p:sp>
          <p:nvSpPr>
            <p:cNvPr id="115" name="文本框 114">
              <a:extLst>
                <a:ext uri="{FF2B5EF4-FFF2-40B4-BE49-F238E27FC236}">
                  <a16:creationId xmlns:a16="http://schemas.microsoft.com/office/drawing/2014/main" id="{BA117080-6C18-4BC5-ABCF-B601831E5195}"/>
                </a:ext>
              </a:extLst>
            </p:cNvPr>
            <p:cNvSpPr txBox="1"/>
            <p:nvPr/>
          </p:nvSpPr>
          <p:spPr>
            <a:xfrm>
              <a:off x="10570620" y="5004860"/>
              <a:ext cx="575758" cy="254867"/>
            </a:xfrm>
            <a:prstGeom prst="rect">
              <a:avLst/>
            </a:prstGeom>
            <a:noFill/>
          </p:spPr>
          <p:txBody>
            <a:bodyPr wrap="none" rtlCol="0">
              <a:spAutoFit/>
            </a:bodyPr>
            <a:lstStyle/>
            <a:p>
              <a:pPr algn="l"/>
              <a:r>
                <a:rPr lang="zh-CN" altLang="en-US" sz="975" spc="0" baseline="0">
                  <a:ln/>
                  <a:solidFill>
                    <a:srgbClr val="E63946"/>
                  </a:solidFill>
                  <a:latin typeface="微软雅黑"/>
                  <a:ea typeface="微软雅黑"/>
                  <a:sym typeface="微软雅黑"/>
                  <a:rtl val="0"/>
                </a:rPr>
                <a:t>886.04</a:t>
              </a:r>
            </a:p>
          </p:txBody>
        </p:sp>
        <p:sp>
          <p:nvSpPr>
            <p:cNvPr id="116" name="矩形 115">
              <a:extLst>
                <a:ext uri="{FF2B5EF4-FFF2-40B4-BE49-F238E27FC236}">
                  <a16:creationId xmlns:a16="http://schemas.microsoft.com/office/drawing/2014/main" id="{2CB5E3A4-388E-E542-AC2D-9EFBB3E1745A}"/>
                </a:ext>
              </a:extLst>
            </p:cNvPr>
            <p:cNvSpPr/>
            <p:nvPr/>
          </p:nvSpPr>
          <p:spPr>
            <a:xfrm>
              <a:off x="762000" y="5295900"/>
              <a:ext cx="10668000" cy="342900"/>
            </a:xfrm>
            <a:prstGeom prst="rect">
              <a:avLst/>
            </a:prstGeom>
            <a:solidFill>
              <a:srgbClr val="EBF4FF"/>
            </a:solidFill>
            <a:ln w="9525" cap="flat">
              <a:noFill/>
              <a:prstDash val="solid"/>
              <a:miter/>
            </a:ln>
          </p:spPr>
          <p:txBody>
            <a:bodyPr/>
            <a:lstStyle/>
            <a:p>
              <a:endParaRPr lang="zh-CN" altLang="en-US"/>
            </a:p>
          </p:txBody>
        </p:sp>
        <p:sp>
          <p:nvSpPr>
            <p:cNvPr id="117" name="文本框 116">
              <a:extLst>
                <a:ext uri="{FF2B5EF4-FFF2-40B4-BE49-F238E27FC236}">
                  <a16:creationId xmlns:a16="http://schemas.microsoft.com/office/drawing/2014/main" id="{F98E1551-83ED-D3E3-88CF-308A90BA834B}"/>
                </a:ext>
              </a:extLst>
            </p:cNvPr>
            <p:cNvSpPr txBox="1"/>
            <p:nvPr/>
          </p:nvSpPr>
          <p:spPr>
            <a:xfrm>
              <a:off x="956310" y="5347760"/>
              <a:ext cx="255494"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9</a:t>
              </a:r>
            </a:p>
          </p:txBody>
        </p:sp>
        <p:sp>
          <p:nvSpPr>
            <p:cNvPr id="118" name="文本框 117">
              <a:extLst>
                <a:ext uri="{FF2B5EF4-FFF2-40B4-BE49-F238E27FC236}">
                  <a16:creationId xmlns:a16="http://schemas.microsoft.com/office/drawing/2014/main" id="{BCB1BE76-F9F1-AFD4-F1EC-AC9BAE0C3616}"/>
                </a:ext>
              </a:extLst>
            </p:cNvPr>
            <p:cNvSpPr txBox="1"/>
            <p:nvPr/>
          </p:nvSpPr>
          <p:spPr>
            <a:xfrm>
              <a:off x="1527810" y="5347760"/>
              <a:ext cx="554355"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永川区</a:t>
              </a:r>
            </a:p>
          </p:txBody>
        </p:sp>
        <p:sp>
          <p:nvSpPr>
            <p:cNvPr id="119" name="文本框 118">
              <a:extLst>
                <a:ext uri="{FF2B5EF4-FFF2-40B4-BE49-F238E27FC236}">
                  <a16:creationId xmlns:a16="http://schemas.microsoft.com/office/drawing/2014/main" id="{A018B01C-557F-8E51-2CA0-69302A3E8E0A}"/>
                </a:ext>
              </a:extLst>
            </p:cNvPr>
            <p:cNvSpPr txBox="1"/>
            <p:nvPr/>
          </p:nvSpPr>
          <p:spPr>
            <a:xfrm>
              <a:off x="2708910" y="53477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1,196.23</a:t>
              </a:r>
            </a:p>
          </p:txBody>
        </p:sp>
        <p:sp>
          <p:nvSpPr>
            <p:cNvPr id="120" name="文本框 119">
              <a:extLst>
                <a:ext uri="{FF2B5EF4-FFF2-40B4-BE49-F238E27FC236}">
                  <a16:creationId xmlns:a16="http://schemas.microsoft.com/office/drawing/2014/main" id="{BD78A22B-4BFD-C543-57C6-2A790C2B0953}"/>
                </a:ext>
              </a:extLst>
            </p:cNvPr>
            <p:cNvSpPr txBox="1"/>
            <p:nvPr/>
          </p:nvSpPr>
          <p:spPr>
            <a:xfrm>
              <a:off x="4070985" y="5347760"/>
              <a:ext cx="430530" cy="254867"/>
            </a:xfrm>
            <a:prstGeom prst="rect">
              <a:avLst/>
            </a:prstGeom>
            <a:noFill/>
          </p:spPr>
          <p:txBody>
            <a:bodyPr wrap="none" rtlCol="0">
              <a:spAutoFit/>
            </a:bodyPr>
            <a:lstStyle/>
            <a:p>
              <a:pPr algn="l"/>
              <a:r>
                <a:rPr lang="zh-CN" altLang="en-US" sz="975" spc="0" baseline="0">
                  <a:ln/>
                  <a:solidFill>
                    <a:srgbClr val="E63946"/>
                  </a:solidFill>
                  <a:latin typeface="微软雅黑"/>
                  <a:ea typeface="微软雅黑"/>
                  <a:sym typeface="微软雅黑"/>
                  <a:rtl val="0"/>
                </a:rPr>
                <a:t>2.70</a:t>
              </a:r>
            </a:p>
          </p:txBody>
        </p:sp>
        <p:sp>
          <p:nvSpPr>
            <p:cNvPr id="121" name="文本框 120">
              <a:extLst>
                <a:ext uri="{FF2B5EF4-FFF2-40B4-BE49-F238E27FC236}">
                  <a16:creationId xmlns:a16="http://schemas.microsoft.com/office/drawing/2014/main" id="{76F43532-69FC-5A6E-4B3D-10D5065456E1}"/>
                </a:ext>
              </a:extLst>
            </p:cNvPr>
            <p:cNvSpPr txBox="1"/>
            <p:nvPr/>
          </p:nvSpPr>
          <p:spPr>
            <a:xfrm>
              <a:off x="5236620" y="53477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114.58</a:t>
              </a:r>
            </a:p>
          </p:txBody>
        </p:sp>
        <p:sp>
          <p:nvSpPr>
            <p:cNvPr id="122" name="文本框 121">
              <a:extLst>
                <a:ext uri="{FF2B5EF4-FFF2-40B4-BE49-F238E27FC236}">
                  <a16:creationId xmlns:a16="http://schemas.microsoft.com/office/drawing/2014/main" id="{88E2CF27-0BA6-C8D8-ABF0-66F548A30BA4}"/>
                </a:ext>
              </a:extLst>
            </p:cNvPr>
            <p:cNvSpPr txBox="1"/>
            <p:nvPr/>
          </p:nvSpPr>
          <p:spPr>
            <a:xfrm>
              <a:off x="6606427" y="53477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53.24</a:t>
              </a:r>
            </a:p>
          </p:txBody>
        </p:sp>
        <p:sp>
          <p:nvSpPr>
            <p:cNvPr id="123" name="文本框 122">
              <a:extLst>
                <a:ext uri="{FF2B5EF4-FFF2-40B4-BE49-F238E27FC236}">
                  <a16:creationId xmlns:a16="http://schemas.microsoft.com/office/drawing/2014/main" id="{C4C2EE8D-D848-3F79-277D-085EBFAF17E9}"/>
                </a:ext>
              </a:extLst>
            </p:cNvPr>
            <p:cNvSpPr txBox="1"/>
            <p:nvPr/>
          </p:nvSpPr>
          <p:spPr>
            <a:xfrm>
              <a:off x="8035177" y="53477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46.95</a:t>
              </a:r>
            </a:p>
          </p:txBody>
        </p:sp>
        <p:sp>
          <p:nvSpPr>
            <p:cNvPr id="124" name="文本框 123">
              <a:extLst>
                <a:ext uri="{FF2B5EF4-FFF2-40B4-BE49-F238E27FC236}">
                  <a16:creationId xmlns:a16="http://schemas.microsoft.com/office/drawing/2014/main" id="{15D3A3CE-5923-69AA-71E5-597F7F71C694}"/>
                </a:ext>
              </a:extLst>
            </p:cNvPr>
            <p:cNvSpPr txBox="1"/>
            <p:nvPr/>
          </p:nvSpPr>
          <p:spPr>
            <a:xfrm>
              <a:off x="9332370" y="53477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278.39</a:t>
              </a:r>
            </a:p>
          </p:txBody>
        </p:sp>
        <p:sp>
          <p:nvSpPr>
            <p:cNvPr id="125" name="文本框 124">
              <a:extLst>
                <a:ext uri="{FF2B5EF4-FFF2-40B4-BE49-F238E27FC236}">
                  <a16:creationId xmlns:a16="http://schemas.microsoft.com/office/drawing/2014/main" id="{F3A3C6D2-AE52-E659-65A8-CDEA2710DB75}"/>
                </a:ext>
              </a:extLst>
            </p:cNvPr>
            <p:cNvSpPr txBox="1"/>
            <p:nvPr/>
          </p:nvSpPr>
          <p:spPr>
            <a:xfrm>
              <a:off x="10570620" y="53477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471.72</a:t>
              </a:r>
            </a:p>
          </p:txBody>
        </p:sp>
        <p:sp>
          <p:nvSpPr>
            <p:cNvPr id="126" name="矩形 125">
              <a:extLst>
                <a:ext uri="{FF2B5EF4-FFF2-40B4-BE49-F238E27FC236}">
                  <a16:creationId xmlns:a16="http://schemas.microsoft.com/office/drawing/2014/main" id="{CD1564F8-8B29-AF6D-8178-8FFE2B9F0BC0}"/>
                </a:ext>
              </a:extLst>
            </p:cNvPr>
            <p:cNvSpPr/>
            <p:nvPr/>
          </p:nvSpPr>
          <p:spPr>
            <a:xfrm>
              <a:off x="762000" y="5638800"/>
              <a:ext cx="10668000" cy="342900"/>
            </a:xfrm>
            <a:prstGeom prst="rect">
              <a:avLst/>
            </a:prstGeom>
            <a:solidFill>
              <a:srgbClr val="FFFFFF"/>
            </a:solidFill>
            <a:ln w="9525" cap="flat">
              <a:noFill/>
              <a:prstDash val="solid"/>
              <a:miter/>
            </a:ln>
          </p:spPr>
          <p:txBody>
            <a:bodyPr/>
            <a:lstStyle/>
            <a:p>
              <a:endParaRPr lang="zh-CN" altLang="en-US"/>
            </a:p>
          </p:txBody>
        </p:sp>
        <p:sp>
          <p:nvSpPr>
            <p:cNvPr id="127" name="文本框 126">
              <a:extLst>
                <a:ext uri="{FF2B5EF4-FFF2-40B4-BE49-F238E27FC236}">
                  <a16:creationId xmlns:a16="http://schemas.microsoft.com/office/drawing/2014/main" id="{3BE0B664-738C-B989-55EC-25D5EF2F0397}"/>
                </a:ext>
              </a:extLst>
            </p:cNvPr>
            <p:cNvSpPr txBox="1"/>
            <p:nvPr/>
          </p:nvSpPr>
          <p:spPr>
            <a:xfrm>
              <a:off x="956310" y="5690660"/>
              <a:ext cx="328108"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10</a:t>
              </a:r>
            </a:p>
          </p:txBody>
        </p:sp>
        <p:sp>
          <p:nvSpPr>
            <p:cNvPr id="128" name="文本框 127">
              <a:extLst>
                <a:ext uri="{FF2B5EF4-FFF2-40B4-BE49-F238E27FC236}">
                  <a16:creationId xmlns:a16="http://schemas.microsoft.com/office/drawing/2014/main" id="{57140211-7B82-1E73-B9BB-696034CCEB04}"/>
                </a:ext>
              </a:extLst>
            </p:cNvPr>
            <p:cNvSpPr txBox="1"/>
            <p:nvPr/>
          </p:nvSpPr>
          <p:spPr>
            <a:xfrm>
              <a:off x="1527810" y="5690660"/>
              <a:ext cx="554355"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巴南区</a:t>
              </a:r>
            </a:p>
          </p:txBody>
        </p:sp>
        <p:sp>
          <p:nvSpPr>
            <p:cNvPr id="129" name="文本框 128">
              <a:extLst>
                <a:ext uri="{FF2B5EF4-FFF2-40B4-BE49-F238E27FC236}">
                  <a16:creationId xmlns:a16="http://schemas.microsoft.com/office/drawing/2014/main" id="{FB5BD302-98F4-A2C0-D764-16A42876A066}"/>
                </a:ext>
              </a:extLst>
            </p:cNvPr>
            <p:cNvSpPr txBox="1"/>
            <p:nvPr/>
          </p:nvSpPr>
          <p:spPr>
            <a:xfrm>
              <a:off x="2708910" y="5690660"/>
              <a:ext cx="6781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1,188.75</a:t>
              </a:r>
            </a:p>
          </p:txBody>
        </p:sp>
        <p:sp>
          <p:nvSpPr>
            <p:cNvPr id="130" name="文本框 129">
              <a:extLst>
                <a:ext uri="{FF2B5EF4-FFF2-40B4-BE49-F238E27FC236}">
                  <a16:creationId xmlns:a16="http://schemas.microsoft.com/office/drawing/2014/main" id="{56E1BA88-B49A-6AC2-DFEA-146553330C74}"/>
                </a:ext>
              </a:extLst>
            </p:cNvPr>
            <p:cNvSpPr txBox="1"/>
            <p:nvPr/>
          </p:nvSpPr>
          <p:spPr>
            <a:xfrm>
              <a:off x="4070985" y="569066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4.90</a:t>
              </a:r>
            </a:p>
          </p:txBody>
        </p:sp>
        <p:sp>
          <p:nvSpPr>
            <p:cNvPr id="131" name="文本框 130">
              <a:extLst>
                <a:ext uri="{FF2B5EF4-FFF2-40B4-BE49-F238E27FC236}">
                  <a16:creationId xmlns:a16="http://schemas.microsoft.com/office/drawing/2014/main" id="{5EF5905D-44B6-113D-24B9-D68992834A6A}"/>
                </a:ext>
              </a:extLst>
            </p:cNvPr>
            <p:cNvSpPr txBox="1"/>
            <p:nvPr/>
          </p:nvSpPr>
          <p:spPr>
            <a:xfrm>
              <a:off x="5236620" y="56906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121.52</a:t>
              </a:r>
            </a:p>
          </p:txBody>
        </p:sp>
        <p:sp>
          <p:nvSpPr>
            <p:cNvPr id="132" name="文本框 131">
              <a:extLst>
                <a:ext uri="{FF2B5EF4-FFF2-40B4-BE49-F238E27FC236}">
                  <a16:creationId xmlns:a16="http://schemas.microsoft.com/office/drawing/2014/main" id="{9DD5DF45-A509-E9D2-1C2E-70AE54768C87}"/>
                </a:ext>
              </a:extLst>
            </p:cNvPr>
            <p:cNvSpPr txBox="1"/>
            <p:nvPr/>
          </p:nvSpPr>
          <p:spPr>
            <a:xfrm>
              <a:off x="6606427" y="56906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39.05</a:t>
              </a:r>
            </a:p>
          </p:txBody>
        </p:sp>
        <p:sp>
          <p:nvSpPr>
            <p:cNvPr id="133" name="文本框 132">
              <a:extLst>
                <a:ext uri="{FF2B5EF4-FFF2-40B4-BE49-F238E27FC236}">
                  <a16:creationId xmlns:a16="http://schemas.microsoft.com/office/drawing/2014/main" id="{5A7FF2DF-324F-7CDF-2226-995FA20C31CA}"/>
                </a:ext>
              </a:extLst>
            </p:cNvPr>
            <p:cNvSpPr txBox="1"/>
            <p:nvPr/>
          </p:nvSpPr>
          <p:spPr>
            <a:xfrm>
              <a:off x="8035177" y="5690660"/>
              <a:ext cx="50314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43.74</a:t>
              </a:r>
            </a:p>
          </p:txBody>
        </p:sp>
        <p:sp>
          <p:nvSpPr>
            <p:cNvPr id="134" name="文本框 133">
              <a:extLst>
                <a:ext uri="{FF2B5EF4-FFF2-40B4-BE49-F238E27FC236}">
                  <a16:creationId xmlns:a16="http://schemas.microsoft.com/office/drawing/2014/main" id="{F157B226-677F-AADB-F90B-DF4BFA584421}"/>
                </a:ext>
              </a:extLst>
            </p:cNvPr>
            <p:cNvSpPr txBox="1"/>
            <p:nvPr/>
          </p:nvSpPr>
          <p:spPr>
            <a:xfrm>
              <a:off x="9332370" y="5690660"/>
              <a:ext cx="57575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333.85</a:t>
              </a:r>
            </a:p>
          </p:txBody>
        </p:sp>
        <p:sp>
          <p:nvSpPr>
            <p:cNvPr id="135" name="文本框 134">
              <a:extLst>
                <a:ext uri="{FF2B5EF4-FFF2-40B4-BE49-F238E27FC236}">
                  <a16:creationId xmlns:a16="http://schemas.microsoft.com/office/drawing/2014/main" id="{09D270D2-527E-1049-CD9B-3D7FF008C233}"/>
                </a:ext>
              </a:extLst>
            </p:cNvPr>
            <p:cNvSpPr txBox="1"/>
            <p:nvPr/>
          </p:nvSpPr>
          <p:spPr>
            <a:xfrm>
              <a:off x="10570620" y="5690660"/>
              <a:ext cx="575758" cy="254867"/>
            </a:xfrm>
            <a:prstGeom prst="rect">
              <a:avLst/>
            </a:prstGeom>
            <a:noFill/>
          </p:spPr>
          <p:txBody>
            <a:bodyPr wrap="none" rtlCol="0">
              <a:spAutoFit/>
            </a:bodyPr>
            <a:lstStyle/>
            <a:p>
              <a:pPr algn="l"/>
              <a:r>
                <a:rPr lang="zh-CN" altLang="en-US" sz="975" spc="0" baseline="0">
                  <a:ln/>
                  <a:solidFill>
                    <a:srgbClr val="E63946"/>
                  </a:solidFill>
                  <a:latin typeface="微软雅黑"/>
                  <a:ea typeface="微软雅黑"/>
                  <a:sym typeface="微软雅黑"/>
                  <a:rtl val="0"/>
                </a:rPr>
                <a:t>757.39</a:t>
              </a:r>
            </a:p>
          </p:txBody>
        </p:sp>
        <p:sp>
          <p:nvSpPr>
            <p:cNvPr id="136" name="文本框 135">
              <a:extLst>
                <a:ext uri="{FF2B5EF4-FFF2-40B4-BE49-F238E27FC236}">
                  <a16:creationId xmlns:a16="http://schemas.microsoft.com/office/drawing/2014/main" id="{758B995E-17AF-6721-2662-EE3E1ABA66C8}"/>
                </a:ext>
              </a:extLst>
            </p:cNvPr>
            <p:cNvSpPr txBox="1"/>
            <p:nvPr/>
          </p:nvSpPr>
          <p:spPr>
            <a:xfrm>
              <a:off x="670560" y="6082291"/>
              <a:ext cx="4407696"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a:t>
              </a:r>
              <a:r>
                <a:rPr lang="zh-CN" altLang="en-US" sz="825" spc="0" baseline="0">
                  <a:ln/>
                  <a:solidFill>
                    <a:srgbClr val="64748B"/>
                  </a:solidFill>
                  <a:latin typeface="微软雅黑"/>
                  <a:ea typeface="微软雅黑"/>
                  <a:sym typeface="微软雅黑"/>
                  <a:rtl val="0"/>
                </a:rPr>
                <a:t> 表现优异 </a:t>
              </a:r>
              <a:r>
                <a:rPr lang="zh-CN" altLang="en-US" sz="825" spc="0" baseline="0">
                  <a:ln/>
                  <a:solidFill>
                    <a:srgbClr val="E63946"/>
                  </a:solidFill>
                  <a:latin typeface="微软雅黑"/>
                  <a:ea typeface="微软雅黑"/>
                  <a:sym typeface="微软雅黑"/>
                  <a:rtl val="0"/>
                </a:rPr>
                <a:t>■</a:t>
              </a:r>
              <a:r>
                <a:rPr lang="zh-CN" altLang="en-US" sz="825" spc="0" baseline="0">
                  <a:ln/>
                  <a:solidFill>
                    <a:srgbClr val="64748B"/>
                  </a:solidFill>
                  <a:latin typeface="微软雅黑"/>
                  <a:ea typeface="微软雅黑"/>
                  <a:sym typeface="微软雅黑"/>
                  <a:rtl val="0"/>
                </a:rPr>
                <a:t> 需关注 </a:t>
              </a:r>
              <a:r>
                <a:rPr lang="zh-CN" altLang="en-US" sz="825" spc="0" baseline="0">
                  <a:ln/>
                  <a:solidFill>
                    <a:srgbClr val="F59E0B"/>
                  </a:solidFill>
                  <a:latin typeface="微软雅黑"/>
                  <a:ea typeface="微软雅黑"/>
                  <a:sym typeface="微软雅黑"/>
                  <a:rtl val="0"/>
                </a:rPr>
                <a:t>■</a:t>
              </a:r>
              <a:r>
                <a:rPr lang="zh-CN" altLang="en-US" sz="825" spc="0" baseline="0">
                  <a:ln/>
                  <a:solidFill>
                    <a:srgbClr val="64748B"/>
                  </a:solidFill>
                  <a:latin typeface="微软雅黑"/>
                  <a:ea typeface="微软雅黑"/>
                  <a:sym typeface="微软雅黑"/>
                  <a:rtl val="0"/>
                </a:rPr>
                <a:t> 中等风险 | 宽口径债务率 = (地方政府债务+城投有息债务)/综合财力</a:t>
              </a:r>
            </a:p>
          </p:txBody>
        </p:sp>
      </p:grpSp>
      <p:sp>
        <p:nvSpPr>
          <p:cNvPr id="137" name="矩形 136">
            <a:extLst>
              <a:ext uri="{FF2B5EF4-FFF2-40B4-BE49-F238E27FC236}">
                <a16:creationId xmlns:a16="http://schemas.microsoft.com/office/drawing/2014/main" id="{F92C0074-9C46-4BCF-A7BB-61BA999AF8B7}"/>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628452F-F4E4-E6F9-9A7F-FB2C0DA558DD}"/>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49809663-BCBC-F14A-7F8F-D6F6AA68FBFF}"/>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2C7A8A09-F549-634A-6E4A-2F39378159B8}"/>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EAC950AD-54FB-C82A-DD62-05A1AB69587C}"/>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4D279C7E-C443-818B-6C15-CF4F8F6A54D5}"/>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B04C28D3-8D54-04B0-CA00-E9B4E52C1711}"/>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01 经济情况</a:t>
            </a:r>
          </a:p>
        </p:txBody>
      </p:sp>
      <p:sp>
        <p:nvSpPr>
          <p:cNvPr id="10" name="文本框 9">
            <a:extLst>
              <a:ext uri="{FF2B5EF4-FFF2-40B4-BE49-F238E27FC236}">
                <a16:creationId xmlns:a16="http://schemas.microsoft.com/office/drawing/2014/main" id="{5BF47835-6B3B-892E-3A71-2F413BBF3AF6}"/>
              </a:ext>
            </a:extLst>
          </p:cNvPr>
          <p:cNvSpPr txBox="1"/>
          <p:nvPr/>
        </p:nvSpPr>
        <p:spPr>
          <a:xfrm>
            <a:off x="11158570" y="175131"/>
            <a:ext cx="55336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6 / 20</a:t>
            </a:r>
          </a:p>
        </p:txBody>
      </p:sp>
      <p:sp>
        <p:nvSpPr>
          <p:cNvPr id="11" name="矩形 10">
            <a:extLst>
              <a:ext uri="{FF2B5EF4-FFF2-40B4-BE49-F238E27FC236}">
                <a16:creationId xmlns:a16="http://schemas.microsoft.com/office/drawing/2014/main" id="{91AF0287-D65A-7112-271A-C04C68277151}"/>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2E85122B-41CF-33BD-809E-147CD719BA23}"/>
              </a:ext>
            </a:extLst>
          </p:cNvPr>
          <p:cNvSpPr txBox="1"/>
          <p:nvPr/>
        </p:nvSpPr>
        <p:spPr>
          <a:xfrm>
            <a:off x="480060" y="672208"/>
            <a:ext cx="4220884"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1.3 产业发展 &amp; 1.4 人口与房地产</a:t>
            </a:r>
          </a:p>
        </p:txBody>
      </p:sp>
      <p:grpSp>
        <p:nvGrpSpPr>
          <p:cNvPr id="13" name="SVG Image 6">
            <a:extLst>
              <a:ext uri="{FF2B5EF4-FFF2-40B4-BE49-F238E27FC236}">
                <a16:creationId xmlns:a16="http://schemas.microsoft.com/office/drawing/2014/main" id="{3E71A090-6C66-F157-E39B-4D2C9DA60A5E}"/>
              </a:ext>
            </a:extLst>
          </p:cNvPr>
          <p:cNvGrpSpPr/>
          <p:nvPr/>
        </p:nvGrpSpPr>
        <p:grpSpPr>
          <a:xfrm>
            <a:off x="571500" y="1238250"/>
            <a:ext cx="5334000" cy="3048000"/>
            <a:chOff x="571500" y="1238250"/>
            <a:chExt cx="5334000" cy="3048000"/>
          </a:xfrm>
        </p:grpSpPr>
        <p:sp>
          <p:nvSpPr>
            <p:cNvPr id="14" name="任意形状 13">
              <a:extLst>
                <a:ext uri="{FF2B5EF4-FFF2-40B4-BE49-F238E27FC236}">
                  <a16:creationId xmlns:a16="http://schemas.microsoft.com/office/drawing/2014/main" id="{278EB4C9-DC19-A861-2CBD-E94A540F347E}"/>
                </a:ext>
              </a:extLst>
            </p:cNvPr>
            <p:cNvSpPr/>
            <p:nvPr/>
          </p:nvSpPr>
          <p:spPr>
            <a:xfrm>
              <a:off x="571500" y="1238250"/>
              <a:ext cx="5334000" cy="3048000"/>
            </a:xfrm>
            <a:custGeom>
              <a:avLst/>
              <a:gdLst>
                <a:gd name="csX0" fmla="*/ 76200 w 5334000"/>
                <a:gd name="csY0" fmla="*/ 0 h 3048000"/>
                <a:gd name="csX1" fmla="*/ 5257800 w 5334000"/>
                <a:gd name="csY1" fmla="*/ 0 h 3048000"/>
                <a:gd name="csX2" fmla="*/ 5334000 w 5334000"/>
                <a:gd name="csY2" fmla="*/ 76200 h 3048000"/>
                <a:gd name="csX3" fmla="*/ 5334000 w 5334000"/>
                <a:gd name="csY3" fmla="*/ 2971800 h 3048000"/>
                <a:gd name="csX4" fmla="*/ 5257800 w 5334000"/>
                <a:gd name="csY4" fmla="*/ 3048000 h 3048000"/>
                <a:gd name="csX5" fmla="*/ 76200 w 5334000"/>
                <a:gd name="csY5" fmla="*/ 3048000 h 3048000"/>
                <a:gd name="csX6" fmla="*/ 0 w 5334000"/>
                <a:gd name="csY6" fmla="*/ 2971800 h 3048000"/>
                <a:gd name="csX7" fmla="*/ 0 w 5334000"/>
                <a:gd name="csY7" fmla="*/ 76200 h 3048000"/>
                <a:gd name="csX8" fmla="*/ 76200 w 5334000"/>
                <a:gd name="csY8" fmla="*/ 0 h 304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3048000">
                  <a:moveTo>
                    <a:pt x="76200" y="0"/>
                  </a:moveTo>
                  <a:lnTo>
                    <a:pt x="5257800" y="0"/>
                  </a:lnTo>
                  <a:cubicBezTo>
                    <a:pt x="5299884" y="0"/>
                    <a:pt x="5334000" y="34116"/>
                    <a:pt x="5334000" y="76200"/>
                  </a:cubicBezTo>
                  <a:lnTo>
                    <a:pt x="5334000" y="2971800"/>
                  </a:lnTo>
                  <a:cubicBezTo>
                    <a:pt x="5334000" y="3013884"/>
                    <a:pt x="5299884" y="3048000"/>
                    <a:pt x="5257800" y="3048000"/>
                  </a:cubicBezTo>
                  <a:lnTo>
                    <a:pt x="76200" y="3048000"/>
                  </a:lnTo>
                  <a:cubicBezTo>
                    <a:pt x="34116" y="3048000"/>
                    <a:pt x="0" y="3013884"/>
                    <a:pt x="0" y="2971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5" name="文本框 14">
              <a:extLst>
                <a:ext uri="{FF2B5EF4-FFF2-40B4-BE49-F238E27FC236}">
                  <a16:creationId xmlns:a16="http://schemas.microsoft.com/office/drawing/2014/main" id="{1AA2F741-00C5-45FC-E0C3-2841C4BF0D15}"/>
                </a:ext>
              </a:extLst>
            </p:cNvPr>
            <p:cNvSpPr txBox="1"/>
            <p:nvPr/>
          </p:nvSpPr>
          <p:spPr>
            <a:xfrm>
              <a:off x="765810" y="1344492"/>
              <a:ext cx="1805962"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产业结构（2024年）</a:t>
              </a:r>
            </a:p>
          </p:txBody>
        </p:sp>
        <p:grpSp>
          <p:nvGrpSpPr>
            <p:cNvPr id="16" name="SVG Image 6">
              <a:extLst>
                <a:ext uri="{FF2B5EF4-FFF2-40B4-BE49-F238E27FC236}">
                  <a16:creationId xmlns:a16="http://schemas.microsoft.com/office/drawing/2014/main" id="{86CE8F74-9F3C-CD97-992A-DCF02946B0CD}"/>
                </a:ext>
              </a:extLst>
            </p:cNvPr>
            <p:cNvGrpSpPr/>
            <p:nvPr/>
          </p:nvGrpSpPr>
          <p:grpSpPr>
            <a:xfrm>
              <a:off x="1523831" y="2095499"/>
              <a:ext cx="1333674" cy="1333500"/>
              <a:chOff x="1523831" y="2095499"/>
              <a:chExt cx="1333674" cy="1333500"/>
            </a:xfrm>
          </p:grpSpPr>
          <p:sp>
            <p:nvSpPr>
              <p:cNvPr id="17" name="任意形状 16">
                <a:extLst>
                  <a:ext uri="{FF2B5EF4-FFF2-40B4-BE49-F238E27FC236}">
                    <a16:creationId xmlns:a16="http://schemas.microsoft.com/office/drawing/2014/main" id="{92635429-0607-0C0F-EB18-E27655DFEF82}"/>
                  </a:ext>
                </a:extLst>
              </p:cNvPr>
              <p:cNvSpPr/>
              <p:nvPr/>
            </p:nvSpPr>
            <p:spPr>
              <a:xfrm>
                <a:off x="1903094" y="2095499"/>
                <a:ext cx="954410" cy="1333500"/>
              </a:xfrm>
              <a:custGeom>
                <a:avLst/>
                <a:gdLst>
                  <a:gd name="csX0" fmla="*/ 287885 w 954410"/>
                  <a:gd name="csY0" fmla="*/ 290 h 1333500"/>
                  <a:gd name="csX1" fmla="*/ 954641 w 954410"/>
                  <a:gd name="csY1" fmla="*/ 667034 h 1333500"/>
                  <a:gd name="csX2" fmla="*/ 287897 w 954410"/>
                  <a:gd name="csY2" fmla="*/ 1333790 h 1333500"/>
                  <a:gd name="csX3" fmla="*/ 230 w 954410"/>
                  <a:gd name="csY3" fmla="*/ 1268544 h 1333500"/>
                  <a:gd name="csX4" fmla="*/ 123484 w 954410"/>
                  <a:gd name="csY4" fmla="*/ 1010797 h 1333500"/>
                  <a:gd name="csX5" fmla="*/ 631533 w 954410"/>
                  <a:gd name="csY5" fmla="*/ 831332 h 1333500"/>
                  <a:gd name="csX6" fmla="*/ 452068 w 954410"/>
                  <a:gd name="csY6" fmla="*/ 323283 h 1333500"/>
                  <a:gd name="csX7" fmla="*/ 287885 w 954410"/>
                  <a:gd name="csY7" fmla="*/ 28604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54410" h="1333500">
                    <a:moveTo>
                      <a:pt x="287885" y="290"/>
                    </a:moveTo>
                    <a:cubicBezTo>
                      <a:pt x="656121" y="287"/>
                      <a:pt x="954638" y="298798"/>
                      <a:pt x="954641" y="667034"/>
                    </a:cubicBezTo>
                    <a:cubicBezTo>
                      <a:pt x="954644" y="1035270"/>
                      <a:pt x="656133" y="1333787"/>
                      <a:pt x="287897" y="1333790"/>
                    </a:cubicBezTo>
                    <a:cubicBezTo>
                      <a:pt x="188339" y="1333791"/>
                      <a:pt x="90045" y="1311497"/>
                      <a:pt x="230" y="1268544"/>
                    </a:cubicBezTo>
                    <a:lnTo>
                      <a:pt x="123484" y="1010797"/>
                    </a:lnTo>
                    <a:cubicBezTo>
                      <a:pt x="313335" y="1101533"/>
                      <a:pt x="540797" y="1021184"/>
                      <a:pt x="631533" y="831332"/>
                    </a:cubicBezTo>
                    <a:cubicBezTo>
                      <a:pt x="722269" y="641480"/>
                      <a:pt x="641920" y="414019"/>
                      <a:pt x="452068" y="323283"/>
                    </a:cubicBezTo>
                    <a:cubicBezTo>
                      <a:pt x="400802" y="298781"/>
                      <a:pt x="344705" y="286056"/>
                      <a:pt x="287885" y="286040"/>
                    </a:cubicBezTo>
                    <a:close/>
                  </a:path>
                </a:pathLst>
              </a:custGeom>
              <a:solidFill>
                <a:srgbClr val="4A90D9"/>
              </a:solidFill>
              <a:ln w="9525" cap="flat">
                <a:noFill/>
                <a:prstDash val="solid"/>
                <a:miter/>
              </a:ln>
            </p:spPr>
            <p:txBody>
              <a:bodyPr/>
              <a:lstStyle/>
              <a:p>
                <a:endParaRPr lang="zh-CN" altLang="en-US"/>
              </a:p>
            </p:txBody>
          </p:sp>
          <p:sp>
            <p:nvSpPr>
              <p:cNvPr id="18" name="任意形状 17">
                <a:extLst>
                  <a:ext uri="{FF2B5EF4-FFF2-40B4-BE49-F238E27FC236}">
                    <a16:creationId xmlns:a16="http://schemas.microsoft.com/office/drawing/2014/main" id="{6E90957D-296F-D69F-745C-4B1FD89F56FF}"/>
                  </a:ext>
                </a:extLst>
              </p:cNvPr>
              <p:cNvSpPr/>
              <p:nvPr/>
            </p:nvSpPr>
            <p:spPr>
              <a:xfrm>
                <a:off x="1523831" y="2151983"/>
                <a:ext cx="513375" cy="1211770"/>
              </a:xfrm>
              <a:custGeom>
                <a:avLst/>
                <a:gdLst>
                  <a:gd name="csX0" fmla="*/ 379493 w 513375"/>
                  <a:gd name="csY0" fmla="*/ 1212061 h 1211770"/>
                  <a:gd name="csX1" fmla="*/ 65622 w 513375"/>
                  <a:gd name="csY1" fmla="*/ 322906 h 1211770"/>
                  <a:gd name="csX2" fmla="*/ 398543 w 513375"/>
                  <a:gd name="csY2" fmla="*/ 290 h 1211770"/>
                  <a:gd name="csX3" fmla="*/ 513605 w 513375"/>
                  <a:gd name="csY3" fmla="*/ 261846 h 1211770"/>
                  <a:gd name="csX4" fmla="*/ 318345 w 513375"/>
                  <a:gd name="csY4" fmla="*/ 764037 h 1211770"/>
                  <a:gd name="csX5" fmla="*/ 502747 w 513375"/>
                  <a:gd name="csY5" fmla="*/ 954314 h 1211770"/>
                </a:gdLst>
                <a:ahLst/>
                <a:cxnLst>
                  <a:cxn ang="0">
                    <a:pos x="csX0" y="csY0"/>
                  </a:cxn>
                  <a:cxn ang="0">
                    <a:pos x="csX1" y="csY1"/>
                  </a:cxn>
                  <a:cxn ang="0">
                    <a:pos x="csX2" y="csY2"/>
                  </a:cxn>
                  <a:cxn ang="0">
                    <a:pos x="csX3" y="csY3"/>
                  </a:cxn>
                  <a:cxn ang="0">
                    <a:pos x="csX4" y="csY4"/>
                  </a:cxn>
                  <a:cxn ang="0">
                    <a:pos x="csX5" y="csY5"/>
                  </a:cxn>
                </a:cxnLst>
                <a:rect l="l" t="t" r="r" b="b"/>
                <a:pathLst>
                  <a:path w="513375" h="1211770">
                    <a:moveTo>
                      <a:pt x="379493" y="1212061"/>
                    </a:moveTo>
                    <a:cubicBezTo>
                      <a:pt x="47287" y="1053201"/>
                      <a:pt x="-93238" y="655112"/>
                      <a:pt x="65622" y="322906"/>
                    </a:cubicBezTo>
                    <a:cubicBezTo>
                      <a:pt x="134434" y="179007"/>
                      <a:pt x="252552" y="64545"/>
                      <a:pt x="398543" y="290"/>
                    </a:cubicBezTo>
                    <a:lnTo>
                      <a:pt x="513605" y="261846"/>
                    </a:lnTo>
                    <a:cubicBezTo>
                      <a:pt x="321010" y="346603"/>
                      <a:pt x="233589" y="571442"/>
                      <a:pt x="318345" y="764037"/>
                    </a:cubicBezTo>
                    <a:cubicBezTo>
                      <a:pt x="355067" y="847482"/>
                      <a:pt x="420494" y="914994"/>
                      <a:pt x="502747" y="954314"/>
                    </a:cubicBezTo>
                    <a:close/>
                  </a:path>
                </a:pathLst>
              </a:custGeom>
              <a:solidFill>
                <a:srgbClr val="1E3A5F"/>
              </a:solidFill>
              <a:ln w="9525" cap="flat">
                <a:noFill/>
                <a:prstDash val="solid"/>
                <a:miter/>
              </a:ln>
            </p:spPr>
            <p:txBody>
              <a:bodyPr/>
              <a:lstStyle/>
              <a:p>
                <a:endParaRPr lang="zh-CN" altLang="en-US"/>
              </a:p>
            </p:txBody>
          </p:sp>
          <p:sp>
            <p:nvSpPr>
              <p:cNvPr id="19" name="任意形状 18">
                <a:extLst>
                  <a:ext uri="{FF2B5EF4-FFF2-40B4-BE49-F238E27FC236}">
                    <a16:creationId xmlns:a16="http://schemas.microsoft.com/office/drawing/2014/main" id="{751ED3AD-5269-D270-0854-14B27CD577F6}"/>
                  </a:ext>
                </a:extLst>
              </p:cNvPr>
              <p:cNvSpPr/>
              <p:nvPr/>
            </p:nvSpPr>
            <p:spPr>
              <a:xfrm>
                <a:off x="1922144" y="2095499"/>
                <a:ext cx="268605" cy="318039"/>
              </a:xfrm>
              <a:custGeom>
                <a:avLst/>
                <a:gdLst>
                  <a:gd name="csX0" fmla="*/ 230 w 268605"/>
                  <a:gd name="csY0" fmla="*/ 56773 h 318039"/>
                  <a:gd name="csX1" fmla="*/ 268835 w 268605"/>
                  <a:gd name="csY1" fmla="*/ 290 h 318039"/>
                  <a:gd name="csX2" fmla="*/ 268835 w 268605"/>
                  <a:gd name="csY2" fmla="*/ 286040 h 318039"/>
                  <a:gd name="csX3" fmla="*/ 115292 w 268605"/>
                  <a:gd name="csY3" fmla="*/ 318330 h 318039"/>
                </a:gdLst>
                <a:ahLst/>
                <a:cxnLst>
                  <a:cxn ang="0">
                    <a:pos x="csX0" y="csY0"/>
                  </a:cxn>
                  <a:cxn ang="0">
                    <a:pos x="csX1" y="csY1"/>
                  </a:cxn>
                  <a:cxn ang="0">
                    <a:pos x="csX2" y="csY2"/>
                  </a:cxn>
                  <a:cxn ang="0">
                    <a:pos x="csX3" y="csY3"/>
                  </a:cxn>
                </a:cxnLst>
                <a:rect l="l" t="t" r="r" b="b"/>
                <a:pathLst>
                  <a:path w="268605" h="318039">
                    <a:moveTo>
                      <a:pt x="230" y="56773"/>
                    </a:moveTo>
                    <a:cubicBezTo>
                      <a:pt x="84879" y="19520"/>
                      <a:pt x="176352" y="285"/>
                      <a:pt x="268835" y="290"/>
                    </a:cubicBezTo>
                    <a:lnTo>
                      <a:pt x="268835" y="286040"/>
                    </a:lnTo>
                    <a:cubicBezTo>
                      <a:pt x="215968" y="286034"/>
                      <a:pt x="163678" y="297030"/>
                      <a:pt x="115292" y="318330"/>
                    </a:cubicBezTo>
                    <a:close/>
                  </a:path>
                </a:pathLst>
              </a:custGeom>
              <a:solidFill>
                <a:srgbClr val="2ECC71"/>
              </a:solidFill>
              <a:ln w="9525" cap="flat">
                <a:noFill/>
                <a:prstDash val="solid"/>
                <a:miter/>
              </a:ln>
            </p:spPr>
            <p:txBody>
              <a:bodyPr/>
              <a:lstStyle/>
              <a:p>
                <a:endParaRPr lang="zh-CN" altLang="en-US"/>
              </a:p>
            </p:txBody>
          </p:sp>
          <p:sp>
            <p:nvSpPr>
              <p:cNvPr id="20" name="文本框 19">
                <a:extLst>
                  <a:ext uri="{FF2B5EF4-FFF2-40B4-BE49-F238E27FC236}">
                    <a16:creationId xmlns:a16="http://schemas.microsoft.com/office/drawing/2014/main" id="{75BB54DF-7298-5533-4950-56ED7DFD0FDD}"/>
                  </a:ext>
                </a:extLst>
              </p:cNvPr>
              <p:cNvSpPr txBox="1"/>
              <p:nvPr/>
            </p:nvSpPr>
            <p:spPr>
              <a:xfrm>
                <a:off x="1789747" y="2537885"/>
                <a:ext cx="802005"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以第三产业</a:t>
                </a:r>
              </a:p>
            </p:txBody>
          </p:sp>
          <p:sp>
            <p:nvSpPr>
              <p:cNvPr id="21" name="文本框 20">
                <a:extLst>
                  <a:ext uri="{FF2B5EF4-FFF2-40B4-BE49-F238E27FC236}">
                    <a16:creationId xmlns:a16="http://schemas.microsoft.com/office/drawing/2014/main" id="{63C58C40-C2F5-EA76-C27A-FB1C09B7E177}"/>
                  </a:ext>
                </a:extLst>
              </p:cNvPr>
              <p:cNvSpPr txBox="1"/>
              <p:nvPr/>
            </p:nvSpPr>
            <p:spPr>
              <a:xfrm>
                <a:off x="1913572" y="2699810"/>
                <a:ext cx="554355"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为主导</a:t>
                </a:r>
              </a:p>
            </p:txBody>
          </p:sp>
        </p:grpSp>
        <p:sp>
          <p:nvSpPr>
            <p:cNvPr id="22" name="任意形状 21">
              <a:extLst>
                <a:ext uri="{FF2B5EF4-FFF2-40B4-BE49-F238E27FC236}">
                  <a16:creationId xmlns:a16="http://schemas.microsoft.com/office/drawing/2014/main" id="{BC74A886-D00C-2E8F-CEB1-1E19C3B1FA3E}"/>
                </a:ext>
              </a:extLst>
            </p:cNvPr>
            <p:cNvSpPr/>
            <p:nvPr/>
          </p:nvSpPr>
          <p:spPr>
            <a:xfrm>
              <a:off x="3619500" y="2095500"/>
              <a:ext cx="152400" cy="152400"/>
            </a:xfrm>
            <a:custGeom>
              <a:avLst/>
              <a:gdLst>
                <a:gd name="csX0" fmla="*/ 19050 w 152400"/>
                <a:gd name="csY0" fmla="*/ 0 h 152400"/>
                <a:gd name="csX1" fmla="*/ 133350 w 152400"/>
                <a:gd name="csY1" fmla="*/ 0 h 152400"/>
                <a:gd name="csX2" fmla="*/ 152400 w 152400"/>
                <a:gd name="csY2" fmla="*/ 19050 h 152400"/>
                <a:gd name="csX3" fmla="*/ 152400 w 152400"/>
                <a:gd name="csY3" fmla="*/ 133350 h 152400"/>
                <a:gd name="csX4" fmla="*/ 133350 w 152400"/>
                <a:gd name="csY4" fmla="*/ 152400 h 152400"/>
                <a:gd name="csX5" fmla="*/ 19050 w 152400"/>
                <a:gd name="csY5" fmla="*/ 152400 h 152400"/>
                <a:gd name="csX6" fmla="*/ 0 w 152400"/>
                <a:gd name="csY6" fmla="*/ 133350 h 152400"/>
                <a:gd name="csX7" fmla="*/ 0 w 152400"/>
                <a:gd name="csY7" fmla="*/ 19050 h 152400"/>
                <a:gd name="csX8" fmla="*/ 19050 w 152400"/>
                <a:gd name="csY8" fmla="*/ 0 h 15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 h="152400">
                  <a:moveTo>
                    <a:pt x="19050" y="0"/>
                  </a:moveTo>
                  <a:lnTo>
                    <a:pt x="133350" y="0"/>
                  </a:lnTo>
                  <a:cubicBezTo>
                    <a:pt x="143871" y="0"/>
                    <a:pt x="152400" y="8529"/>
                    <a:pt x="152400" y="19050"/>
                  </a:cubicBezTo>
                  <a:lnTo>
                    <a:pt x="152400" y="133350"/>
                  </a:lnTo>
                  <a:cubicBezTo>
                    <a:pt x="152400" y="143871"/>
                    <a:pt x="143871" y="152400"/>
                    <a:pt x="133350" y="152400"/>
                  </a:cubicBezTo>
                  <a:lnTo>
                    <a:pt x="19050" y="152400"/>
                  </a:lnTo>
                  <a:cubicBezTo>
                    <a:pt x="8529" y="152400"/>
                    <a:pt x="0" y="143871"/>
                    <a:pt x="0" y="13335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23" name="文本框 22">
              <a:extLst>
                <a:ext uri="{FF2B5EF4-FFF2-40B4-BE49-F238E27FC236}">
                  <a16:creationId xmlns:a16="http://schemas.microsoft.com/office/drawing/2014/main" id="{00569CD3-FC98-9483-537F-CD7A20427D4E}"/>
                </a:ext>
              </a:extLst>
            </p:cNvPr>
            <p:cNvSpPr txBox="1"/>
            <p:nvPr/>
          </p:nvSpPr>
          <p:spPr>
            <a:xfrm>
              <a:off x="3766185" y="2032506"/>
              <a:ext cx="716280"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第三产业</a:t>
              </a:r>
            </a:p>
          </p:txBody>
        </p:sp>
        <p:sp>
          <p:nvSpPr>
            <p:cNvPr id="24" name="文本框 23">
              <a:extLst>
                <a:ext uri="{FF2B5EF4-FFF2-40B4-BE49-F238E27FC236}">
                  <a16:creationId xmlns:a16="http://schemas.microsoft.com/office/drawing/2014/main" id="{24E25C81-8875-3A3D-B043-151231675DC9}"/>
                </a:ext>
              </a:extLst>
            </p:cNvPr>
            <p:cNvSpPr txBox="1"/>
            <p:nvPr/>
          </p:nvSpPr>
          <p:spPr>
            <a:xfrm>
              <a:off x="4671060" y="1972035"/>
              <a:ext cx="884604" cy="342866"/>
            </a:xfrm>
            <a:prstGeom prst="rect">
              <a:avLst/>
            </a:prstGeom>
            <a:noFill/>
          </p:spPr>
          <p:txBody>
            <a:bodyPr wrap="none" rtlCol="0">
              <a:spAutoFit/>
            </a:bodyPr>
            <a:lstStyle/>
            <a:p>
              <a:pPr algn="l"/>
              <a:r>
                <a:rPr lang="zh-CN" altLang="en-US" sz="1500" b="1" spc="0" baseline="0">
                  <a:ln/>
                  <a:solidFill>
                    <a:srgbClr val="4A90D9"/>
                  </a:solidFill>
                  <a:latin typeface="微软雅黑"/>
                  <a:ea typeface="微软雅黑"/>
                  <a:sym typeface="微软雅黑"/>
                  <a:rtl val="0"/>
                </a:rPr>
                <a:t>57.10%</a:t>
              </a:r>
            </a:p>
          </p:txBody>
        </p:sp>
        <p:sp>
          <p:nvSpPr>
            <p:cNvPr id="25" name="文本框 24">
              <a:extLst>
                <a:ext uri="{FF2B5EF4-FFF2-40B4-BE49-F238E27FC236}">
                  <a16:creationId xmlns:a16="http://schemas.microsoft.com/office/drawing/2014/main" id="{7ABA7007-B644-1379-7026-2B5EFA76A147}"/>
                </a:ext>
              </a:extLst>
            </p:cNvPr>
            <p:cNvSpPr txBox="1"/>
            <p:nvPr/>
          </p:nvSpPr>
          <p:spPr>
            <a:xfrm>
              <a:off x="3766185" y="2243163"/>
              <a:ext cx="1478689"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18,366.65亿 | 增速6.80%</a:t>
              </a:r>
            </a:p>
          </p:txBody>
        </p:sp>
        <p:sp>
          <p:nvSpPr>
            <p:cNvPr id="26" name="任意形状 25">
              <a:extLst>
                <a:ext uri="{FF2B5EF4-FFF2-40B4-BE49-F238E27FC236}">
                  <a16:creationId xmlns:a16="http://schemas.microsoft.com/office/drawing/2014/main" id="{A4376C22-8836-6800-8F70-2249FD08A26F}"/>
                </a:ext>
              </a:extLst>
            </p:cNvPr>
            <p:cNvSpPr/>
            <p:nvPr/>
          </p:nvSpPr>
          <p:spPr>
            <a:xfrm>
              <a:off x="3619500" y="2667000"/>
              <a:ext cx="152400" cy="152400"/>
            </a:xfrm>
            <a:custGeom>
              <a:avLst/>
              <a:gdLst>
                <a:gd name="csX0" fmla="*/ 19050 w 152400"/>
                <a:gd name="csY0" fmla="*/ 0 h 152400"/>
                <a:gd name="csX1" fmla="*/ 133350 w 152400"/>
                <a:gd name="csY1" fmla="*/ 0 h 152400"/>
                <a:gd name="csX2" fmla="*/ 152400 w 152400"/>
                <a:gd name="csY2" fmla="*/ 19050 h 152400"/>
                <a:gd name="csX3" fmla="*/ 152400 w 152400"/>
                <a:gd name="csY3" fmla="*/ 133350 h 152400"/>
                <a:gd name="csX4" fmla="*/ 133350 w 152400"/>
                <a:gd name="csY4" fmla="*/ 152400 h 152400"/>
                <a:gd name="csX5" fmla="*/ 19050 w 152400"/>
                <a:gd name="csY5" fmla="*/ 152400 h 152400"/>
                <a:gd name="csX6" fmla="*/ 0 w 152400"/>
                <a:gd name="csY6" fmla="*/ 133350 h 152400"/>
                <a:gd name="csX7" fmla="*/ 0 w 152400"/>
                <a:gd name="csY7" fmla="*/ 19050 h 152400"/>
                <a:gd name="csX8" fmla="*/ 19050 w 152400"/>
                <a:gd name="csY8" fmla="*/ 0 h 15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 h="152400">
                  <a:moveTo>
                    <a:pt x="19050" y="0"/>
                  </a:moveTo>
                  <a:lnTo>
                    <a:pt x="133350" y="0"/>
                  </a:lnTo>
                  <a:cubicBezTo>
                    <a:pt x="143871" y="0"/>
                    <a:pt x="152400" y="8529"/>
                    <a:pt x="152400" y="19050"/>
                  </a:cubicBezTo>
                  <a:lnTo>
                    <a:pt x="152400" y="133350"/>
                  </a:lnTo>
                  <a:cubicBezTo>
                    <a:pt x="152400" y="143871"/>
                    <a:pt x="143871" y="152400"/>
                    <a:pt x="133350" y="152400"/>
                  </a:cubicBezTo>
                  <a:lnTo>
                    <a:pt x="19050" y="152400"/>
                  </a:lnTo>
                  <a:cubicBezTo>
                    <a:pt x="8529" y="152400"/>
                    <a:pt x="0" y="143871"/>
                    <a:pt x="0" y="133350"/>
                  </a:cubicBezTo>
                  <a:lnTo>
                    <a:pt x="0" y="19050"/>
                  </a:lnTo>
                  <a:cubicBezTo>
                    <a:pt x="0" y="8529"/>
                    <a:pt x="8529" y="0"/>
                    <a:pt x="19050" y="0"/>
                  </a:cubicBezTo>
                  <a:close/>
                </a:path>
              </a:pathLst>
            </a:custGeom>
            <a:solidFill>
              <a:srgbClr val="1E3A5F"/>
            </a:solidFill>
            <a:ln w="9525" cap="flat">
              <a:noFill/>
              <a:prstDash val="solid"/>
              <a:miter/>
            </a:ln>
          </p:spPr>
          <p:txBody>
            <a:bodyPr/>
            <a:lstStyle/>
            <a:p>
              <a:endParaRPr lang="zh-CN" altLang="en-US"/>
            </a:p>
          </p:txBody>
        </p:sp>
        <p:sp>
          <p:nvSpPr>
            <p:cNvPr id="27" name="文本框 26">
              <a:extLst>
                <a:ext uri="{FF2B5EF4-FFF2-40B4-BE49-F238E27FC236}">
                  <a16:creationId xmlns:a16="http://schemas.microsoft.com/office/drawing/2014/main" id="{052E4443-5B28-BDFF-34A9-269306BA4662}"/>
                </a:ext>
              </a:extLst>
            </p:cNvPr>
            <p:cNvSpPr txBox="1"/>
            <p:nvPr/>
          </p:nvSpPr>
          <p:spPr>
            <a:xfrm>
              <a:off x="3766185" y="2604006"/>
              <a:ext cx="716280"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第二产业</a:t>
              </a:r>
            </a:p>
          </p:txBody>
        </p:sp>
        <p:sp>
          <p:nvSpPr>
            <p:cNvPr id="28" name="文本框 27">
              <a:extLst>
                <a:ext uri="{FF2B5EF4-FFF2-40B4-BE49-F238E27FC236}">
                  <a16:creationId xmlns:a16="http://schemas.microsoft.com/office/drawing/2014/main" id="{AC4FCB08-46A3-1970-8187-F42A96F9A4E4}"/>
                </a:ext>
              </a:extLst>
            </p:cNvPr>
            <p:cNvSpPr txBox="1"/>
            <p:nvPr/>
          </p:nvSpPr>
          <p:spPr>
            <a:xfrm>
              <a:off x="4671060" y="2543535"/>
              <a:ext cx="884604" cy="342866"/>
            </a:xfrm>
            <a:prstGeom prst="rect">
              <a:avLst/>
            </a:prstGeom>
            <a:noFill/>
          </p:spPr>
          <p:txBody>
            <a:bodyPr wrap="none" rtlCol="0">
              <a:spAutoFit/>
            </a:bodyPr>
            <a:lstStyle/>
            <a:p>
              <a:pPr algn="l"/>
              <a:r>
                <a:rPr lang="zh-CN" altLang="en-US" sz="1500" b="1" spc="0" baseline="0">
                  <a:ln/>
                  <a:solidFill>
                    <a:srgbClr val="1E3A5F"/>
                  </a:solidFill>
                  <a:latin typeface="微软雅黑"/>
                  <a:ea typeface="微软雅黑"/>
                  <a:sym typeface="微软雅黑"/>
                  <a:rtl val="0"/>
                </a:rPr>
                <a:t>36.30%</a:t>
              </a:r>
            </a:p>
          </p:txBody>
        </p:sp>
        <p:sp>
          <p:nvSpPr>
            <p:cNvPr id="29" name="文本框 28">
              <a:extLst>
                <a:ext uri="{FF2B5EF4-FFF2-40B4-BE49-F238E27FC236}">
                  <a16:creationId xmlns:a16="http://schemas.microsoft.com/office/drawing/2014/main" id="{28DE8807-EE38-D0C4-F821-6410479261CC}"/>
                </a:ext>
              </a:extLst>
            </p:cNvPr>
            <p:cNvSpPr txBox="1"/>
            <p:nvPr/>
          </p:nvSpPr>
          <p:spPr>
            <a:xfrm>
              <a:off x="3766185" y="2814663"/>
              <a:ext cx="1478689"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11,690.68亿 | 增速4.60%</a:t>
              </a:r>
            </a:p>
          </p:txBody>
        </p:sp>
        <p:sp>
          <p:nvSpPr>
            <p:cNvPr id="30" name="任意形状 29">
              <a:extLst>
                <a:ext uri="{FF2B5EF4-FFF2-40B4-BE49-F238E27FC236}">
                  <a16:creationId xmlns:a16="http://schemas.microsoft.com/office/drawing/2014/main" id="{F1392D57-DA28-03CC-BF98-6294BCFD3724}"/>
                </a:ext>
              </a:extLst>
            </p:cNvPr>
            <p:cNvSpPr/>
            <p:nvPr/>
          </p:nvSpPr>
          <p:spPr>
            <a:xfrm>
              <a:off x="3619500" y="3238500"/>
              <a:ext cx="152400" cy="152400"/>
            </a:xfrm>
            <a:custGeom>
              <a:avLst/>
              <a:gdLst>
                <a:gd name="csX0" fmla="*/ 19050 w 152400"/>
                <a:gd name="csY0" fmla="*/ 0 h 152400"/>
                <a:gd name="csX1" fmla="*/ 133350 w 152400"/>
                <a:gd name="csY1" fmla="*/ 0 h 152400"/>
                <a:gd name="csX2" fmla="*/ 152400 w 152400"/>
                <a:gd name="csY2" fmla="*/ 19050 h 152400"/>
                <a:gd name="csX3" fmla="*/ 152400 w 152400"/>
                <a:gd name="csY3" fmla="*/ 133350 h 152400"/>
                <a:gd name="csX4" fmla="*/ 133350 w 152400"/>
                <a:gd name="csY4" fmla="*/ 152400 h 152400"/>
                <a:gd name="csX5" fmla="*/ 19050 w 152400"/>
                <a:gd name="csY5" fmla="*/ 152400 h 152400"/>
                <a:gd name="csX6" fmla="*/ 0 w 152400"/>
                <a:gd name="csY6" fmla="*/ 133350 h 152400"/>
                <a:gd name="csX7" fmla="*/ 0 w 152400"/>
                <a:gd name="csY7" fmla="*/ 19050 h 152400"/>
                <a:gd name="csX8" fmla="*/ 19050 w 152400"/>
                <a:gd name="csY8" fmla="*/ 0 h 15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 h="152400">
                  <a:moveTo>
                    <a:pt x="19050" y="0"/>
                  </a:moveTo>
                  <a:lnTo>
                    <a:pt x="133350" y="0"/>
                  </a:lnTo>
                  <a:cubicBezTo>
                    <a:pt x="143871" y="0"/>
                    <a:pt x="152400" y="8529"/>
                    <a:pt x="152400" y="19050"/>
                  </a:cubicBezTo>
                  <a:lnTo>
                    <a:pt x="152400" y="133350"/>
                  </a:lnTo>
                  <a:cubicBezTo>
                    <a:pt x="152400" y="143871"/>
                    <a:pt x="143871" y="152400"/>
                    <a:pt x="133350" y="152400"/>
                  </a:cubicBezTo>
                  <a:lnTo>
                    <a:pt x="19050" y="152400"/>
                  </a:lnTo>
                  <a:cubicBezTo>
                    <a:pt x="8529" y="152400"/>
                    <a:pt x="0" y="143871"/>
                    <a:pt x="0" y="133350"/>
                  </a:cubicBezTo>
                  <a:lnTo>
                    <a:pt x="0" y="19050"/>
                  </a:lnTo>
                  <a:cubicBezTo>
                    <a:pt x="0" y="8529"/>
                    <a:pt x="8529" y="0"/>
                    <a:pt x="19050" y="0"/>
                  </a:cubicBezTo>
                  <a:close/>
                </a:path>
              </a:pathLst>
            </a:custGeom>
            <a:solidFill>
              <a:srgbClr val="2ECC71"/>
            </a:solidFill>
            <a:ln w="9525" cap="flat">
              <a:noFill/>
              <a:prstDash val="solid"/>
              <a:miter/>
            </a:ln>
          </p:spPr>
          <p:txBody>
            <a:bodyPr/>
            <a:lstStyle/>
            <a:p>
              <a:endParaRPr lang="zh-CN" altLang="en-US"/>
            </a:p>
          </p:txBody>
        </p:sp>
        <p:sp>
          <p:nvSpPr>
            <p:cNvPr id="31" name="文本框 30">
              <a:extLst>
                <a:ext uri="{FF2B5EF4-FFF2-40B4-BE49-F238E27FC236}">
                  <a16:creationId xmlns:a16="http://schemas.microsoft.com/office/drawing/2014/main" id="{B4A6F859-88E0-F0A1-200E-9DDEBB0109CA}"/>
                </a:ext>
              </a:extLst>
            </p:cNvPr>
            <p:cNvSpPr txBox="1"/>
            <p:nvPr/>
          </p:nvSpPr>
          <p:spPr>
            <a:xfrm>
              <a:off x="3766185" y="3175506"/>
              <a:ext cx="716280"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第一产业</a:t>
              </a:r>
            </a:p>
          </p:txBody>
        </p:sp>
        <p:sp>
          <p:nvSpPr>
            <p:cNvPr id="32" name="文本框 31">
              <a:extLst>
                <a:ext uri="{FF2B5EF4-FFF2-40B4-BE49-F238E27FC236}">
                  <a16:creationId xmlns:a16="http://schemas.microsoft.com/office/drawing/2014/main" id="{4581AC70-CA30-21A4-DD89-9576D174B697}"/>
                </a:ext>
              </a:extLst>
            </p:cNvPr>
            <p:cNvSpPr txBox="1"/>
            <p:nvPr/>
          </p:nvSpPr>
          <p:spPr>
            <a:xfrm>
              <a:off x="4671060" y="3115035"/>
              <a:ext cx="767123" cy="342866"/>
            </a:xfrm>
            <a:prstGeom prst="rect">
              <a:avLst/>
            </a:prstGeom>
            <a:noFill/>
          </p:spPr>
          <p:txBody>
            <a:bodyPr wrap="none" rtlCol="0">
              <a:spAutoFit/>
            </a:bodyPr>
            <a:lstStyle/>
            <a:p>
              <a:pPr algn="l"/>
              <a:r>
                <a:rPr lang="zh-CN" altLang="en-US" sz="1500" b="1" spc="0" baseline="0">
                  <a:ln/>
                  <a:solidFill>
                    <a:srgbClr val="2ECC71"/>
                  </a:solidFill>
                  <a:latin typeface="微软雅黑"/>
                  <a:ea typeface="微软雅黑"/>
                  <a:sym typeface="微软雅黑"/>
                  <a:rtl val="0"/>
                </a:rPr>
                <a:t>6.60%</a:t>
              </a:r>
            </a:p>
          </p:txBody>
        </p:sp>
        <p:sp>
          <p:nvSpPr>
            <p:cNvPr id="33" name="文本框 32">
              <a:extLst>
                <a:ext uri="{FF2B5EF4-FFF2-40B4-BE49-F238E27FC236}">
                  <a16:creationId xmlns:a16="http://schemas.microsoft.com/office/drawing/2014/main" id="{7FBDB988-C54B-DA91-2B99-346709DFED2E}"/>
                </a:ext>
              </a:extLst>
            </p:cNvPr>
            <p:cNvSpPr txBox="1"/>
            <p:nvPr/>
          </p:nvSpPr>
          <p:spPr>
            <a:xfrm>
              <a:off x="3766185" y="3386163"/>
              <a:ext cx="141166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2,135.82亿 | 增速2.40%</a:t>
              </a:r>
            </a:p>
          </p:txBody>
        </p:sp>
        <p:sp>
          <p:nvSpPr>
            <p:cNvPr id="34" name="任意形状 33">
              <a:extLst>
                <a:ext uri="{FF2B5EF4-FFF2-40B4-BE49-F238E27FC236}">
                  <a16:creationId xmlns:a16="http://schemas.microsoft.com/office/drawing/2014/main" id="{14699BA3-BE42-A09A-77D3-4A76DD912483}"/>
                </a:ext>
              </a:extLst>
            </p:cNvPr>
            <p:cNvSpPr/>
            <p:nvPr/>
          </p:nvSpPr>
          <p:spPr>
            <a:xfrm>
              <a:off x="857250" y="3905250"/>
              <a:ext cx="4762500" cy="285750"/>
            </a:xfrm>
            <a:custGeom>
              <a:avLst/>
              <a:gdLst>
                <a:gd name="csX0" fmla="*/ 38100 w 4762500"/>
                <a:gd name="csY0" fmla="*/ 0 h 285750"/>
                <a:gd name="csX1" fmla="*/ 4724400 w 4762500"/>
                <a:gd name="csY1" fmla="*/ 0 h 285750"/>
                <a:gd name="csX2" fmla="*/ 4762500 w 4762500"/>
                <a:gd name="csY2" fmla="*/ 38100 h 285750"/>
                <a:gd name="csX3" fmla="*/ 4762500 w 4762500"/>
                <a:gd name="csY3" fmla="*/ 247650 h 285750"/>
                <a:gd name="csX4" fmla="*/ 4724400 w 4762500"/>
                <a:gd name="csY4" fmla="*/ 285750 h 285750"/>
                <a:gd name="csX5" fmla="*/ 38100 w 4762500"/>
                <a:gd name="csY5" fmla="*/ 285750 h 285750"/>
                <a:gd name="csX6" fmla="*/ 0 w 4762500"/>
                <a:gd name="csY6" fmla="*/ 247650 h 285750"/>
                <a:gd name="csX7" fmla="*/ 0 w 4762500"/>
                <a:gd name="csY7" fmla="*/ 38100 h 285750"/>
                <a:gd name="csX8" fmla="*/ 38100 w 4762500"/>
                <a:gd name="csY8" fmla="*/ 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285750">
                  <a:moveTo>
                    <a:pt x="38100" y="0"/>
                  </a:moveTo>
                  <a:lnTo>
                    <a:pt x="4724400" y="0"/>
                  </a:lnTo>
                  <a:cubicBezTo>
                    <a:pt x="4745443" y="0"/>
                    <a:pt x="4762500" y="17058"/>
                    <a:pt x="4762500" y="38100"/>
                  </a:cubicBezTo>
                  <a:lnTo>
                    <a:pt x="4762500" y="247650"/>
                  </a:lnTo>
                  <a:cubicBezTo>
                    <a:pt x="4762500" y="268692"/>
                    <a:pt x="4745443" y="285750"/>
                    <a:pt x="4724400" y="285750"/>
                  </a:cubicBezTo>
                  <a:lnTo>
                    <a:pt x="38100" y="285750"/>
                  </a:lnTo>
                  <a:cubicBezTo>
                    <a:pt x="17058" y="285750"/>
                    <a:pt x="0" y="268692"/>
                    <a:pt x="0" y="2476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35" name="文本框 34">
              <a:extLst>
                <a:ext uri="{FF2B5EF4-FFF2-40B4-BE49-F238E27FC236}">
                  <a16:creationId xmlns:a16="http://schemas.microsoft.com/office/drawing/2014/main" id="{A4E4F11E-CF28-F67B-1B97-B5E120E2E879}"/>
                </a:ext>
              </a:extLst>
            </p:cNvPr>
            <p:cNvSpPr txBox="1"/>
            <p:nvPr/>
          </p:nvSpPr>
          <p:spPr>
            <a:xfrm>
              <a:off x="956310" y="3929088"/>
              <a:ext cx="2845601" cy="248100"/>
            </a:xfrm>
            <a:prstGeom prst="rect">
              <a:avLst/>
            </a:prstGeom>
            <a:noFill/>
          </p:spPr>
          <p:txBody>
            <a:bodyPr wrap="none" rtlCol="0">
              <a:spAutoFit/>
            </a:bodyPr>
            <a:lstStyle/>
            <a:p>
              <a:pPr algn="l"/>
              <a:r>
                <a:rPr lang="zh-CN" altLang="en-US" sz="900" spc="0" baseline="0">
                  <a:ln/>
                  <a:solidFill>
                    <a:srgbClr val="4A90D9"/>
                  </a:solidFill>
                  <a:latin typeface="Apple Color Emoji"/>
                  <a:ea typeface="Apple Color Emoji"/>
                  <a:sym typeface="Apple Color Emoji"/>
                  <a:rtl val="0"/>
                </a:rPr>
                <a:t>💡</a:t>
              </a:r>
              <a:r>
                <a:rPr lang="zh-CN" altLang="en-US" sz="900" spc="0" baseline="0">
                  <a:ln/>
                  <a:solidFill>
                    <a:srgbClr val="4A90D9"/>
                  </a:solidFill>
                  <a:latin typeface="微软雅黑"/>
                  <a:ea typeface="微软雅黑"/>
                  <a:sym typeface="微软雅黑"/>
                  <a:rtl val="0"/>
                </a:rPr>
                <a:t> 服务业主导，第三产业增速领先，制造业基础扎实</a:t>
              </a:r>
            </a:p>
          </p:txBody>
        </p:sp>
      </p:grpSp>
      <p:grpSp>
        <p:nvGrpSpPr>
          <p:cNvPr id="36" name="SVG Image 6">
            <a:extLst>
              <a:ext uri="{FF2B5EF4-FFF2-40B4-BE49-F238E27FC236}">
                <a16:creationId xmlns:a16="http://schemas.microsoft.com/office/drawing/2014/main" id="{C5103A74-B538-7042-944C-001592682E60}"/>
              </a:ext>
            </a:extLst>
          </p:cNvPr>
          <p:cNvGrpSpPr/>
          <p:nvPr/>
        </p:nvGrpSpPr>
        <p:grpSpPr>
          <a:xfrm>
            <a:off x="6286500" y="1238250"/>
            <a:ext cx="5334000" cy="3048000"/>
            <a:chOff x="6286500" y="1238250"/>
            <a:chExt cx="5334000" cy="3048000"/>
          </a:xfrm>
        </p:grpSpPr>
        <p:sp>
          <p:nvSpPr>
            <p:cNvPr id="37" name="任意形状 36">
              <a:extLst>
                <a:ext uri="{FF2B5EF4-FFF2-40B4-BE49-F238E27FC236}">
                  <a16:creationId xmlns:a16="http://schemas.microsoft.com/office/drawing/2014/main" id="{8EAB1F3A-BBA4-0B00-0FB7-2A2E2C7A428B}"/>
                </a:ext>
              </a:extLst>
            </p:cNvPr>
            <p:cNvSpPr/>
            <p:nvPr/>
          </p:nvSpPr>
          <p:spPr>
            <a:xfrm>
              <a:off x="6286500" y="1238250"/>
              <a:ext cx="5334000" cy="3048000"/>
            </a:xfrm>
            <a:custGeom>
              <a:avLst/>
              <a:gdLst>
                <a:gd name="csX0" fmla="*/ 76200 w 5334000"/>
                <a:gd name="csY0" fmla="*/ 0 h 3048000"/>
                <a:gd name="csX1" fmla="*/ 5257800 w 5334000"/>
                <a:gd name="csY1" fmla="*/ 0 h 3048000"/>
                <a:gd name="csX2" fmla="*/ 5334000 w 5334000"/>
                <a:gd name="csY2" fmla="*/ 76200 h 3048000"/>
                <a:gd name="csX3" fmla="*/ 5334000 w 5334000"/>
                <a:gd name="csY3" fmla="*/ 2971800 h 3048000"/>
                <a:gd name="csX4" fmla="*/ 5257800 w 5334000"/>
                <a:gd name="csY4" fmla="*/ 3048000 h 3048000"/>
                <a:gd name="csX5" fmla="*/ 76200 w 5334000"/>
                <a:gd name="csY5" fmla="*/ 3048000 h 3048000"/>
                <a:gd name="csX6" fmla="*/ 0 w 5334000"/>
                <a:gd name="csY6" fmla="*/ 2971800 h 3048000"/>
                <a:gd name="csX7" fmla="*/ 0 w 5334000"/>
                <a:gd name="csY7" fmla="*/ 76200 h 3048000"/>
                <a:gd name="csX8" fmla="*/ 76200 w 5334000"/>
                <a:gd name="csY8" fmla="*/ 0 h 304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3048000">
                  <a:moveTo>
                    <a:pt x="76200" y="0"/>
                  </a:moveTo>
                  <a:lnTo>
                    <a:pt x="5257800" y="0"/>
                  </a:lnTo>
                  <a:cubicBezTo>
                    <a:pt x="5299885" y="0"/>
                    <a:pt x="5334000" y="34116"/>
                    <a:pt x="5334000" y="76200"/>
                  </a:cubicBezTo>
                  <a:lnTo>
                    <a:pt x="5334000" y="2971800"/>
                  </a:lnTo>
                  <a:cubicBezTo>
                    <a:pt x="5334000" y="3013884"/>
                    <a:pt x="5299885" y="3048000"/>
                    <a:pt x="5257800" y="3048000"/>
                  </a:cubicBezTo>
                  <a:lnTo>
                    <a:pt x="76200" y="3048000"/>
                  </a:lnTo>
                  <a:cubicBezTo>
                    <a:pt x="34116" y="3048000"/>
                    <a:pt x="0" y="3013884"/>
                    <a:pt x="0" y="2971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8" name="文本框 37">
              <a:extLst>
                <a:ext uri="{FF2B5EF4-FFF2-40B4-BE49-F238E27FC236}">
                  <a16:creationId xmlns:a16="http://schemas.microsoft.com/office/drawing/2014/main" id="{063424FD-4402-E0EE-A621-89ECB3B06B51}"/>
                </a:ext>
              </a:extLst>
            </p:cNvPr>
            <p:cNvSpPr txBox="1"/>
            <p:nvPr/>
          </p:nvSpPr>
          <p:spPr>
            <a:xfrm>
              <a:off x="6480810" y="1344492"/>
              <a:ext cx="1211580"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人口与房地产</a:t>
              </a:r>
            </a:p>
          </p:txBody>
        </p:sp>
        <p:sp>
          <p:nvSpPr>
            <p:cNvPr id="39" name="任意形状 38">
              <a:extLst>
                <a:ext uri="{FF2B5EF4-FFF2-40B4-BE49-F238E27FC236}">
                  <a16:creationId xmlns:a16="http://schemas.microsoft.com/office/drawing/2014/main" id="{FC16079C-1CC0-C252-D207-E2244451DE8E}"/>
                </a:ext>
              </a:extLst>
            </p:cNvPr>
            <p:cNvSpPr/>
            <p:nvPr/>
          </p:nvSpPr>
          <p:spPr>
            <a:xfrm>
              <a:off x="6572250" y="1809750"/>
              <a:ext cx="2286000" cy="952500"/>
            </a:xfrm>
            <a:custGeom>
              <a:avLst/>
              <a:gdLst>
                <a:gd name="csX0" fmla="*/ 57150 w 2286000"/>
                <a:gd name="csY0" fmla="*/ 0 h 952500"/>
                <a:gd name="csX1" fmla="*/ 2228850 w 2286000"/>
                <a:gd name="csY1" fmla="*/ 0 h 952500"/>
                <a:gd name="csX2" fmla="*/ 2286000 w 2286000"/>
                <a:gd name="csY2" fmla="*/ 57150 h 952500"/>
                <a:gd name="csX3" fmla="*/ 2286000 w 2286000"/>
                <a:gd name="csY3" fmla="*/ 895350 h 952500"/>
                <a:gd name="csX4" fmla="*/ 2228850 w 2286000"/>
                <a:gd name="csY4" fmla="*/ 952500 h 952500"/>
                <a:gd name="csX5" fmla="*/ 57150 w 2286000"/>
                <a:gd name="csY5" fmla="*/ 952500 h 952500"/>
                <a:gd name="csX6" fmla="*/ 0 w 2286000"/>
                <a:gd name="csY6" fmla="*/ 895350 h 952500"/>
                <a:gd name="csX7" fmla="*/ 0 w 2286000"/>
                <a:gd name="csY7" fmla="*/ 57150 h 952500"/>
                <a:gd name="csX8" fmla="*/ 57150 w 2286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86000" h="952500">
                  <a:moveTo>
                    <a:pt x="57150" y="0"/>
                  </a:moveTo>
                  <a:lnTo>
                    <a:pt x="2228850" y="0"/>
                  </a:lnTo>
                  <a:cubicBezTo>
                    <a:pt x="2260413" y="0"/>
                    <a:pt x="2286000" y="25587"/>
                    <a:pt x="2286000" y="57150"/>
                  </a:cubicBezTo>
                  <a:lnTo>
                    <a:pt x="2286000" y="895350"/>
                  </a:lnTo>
                  <a:cubicBezTo>
                    <a:pt x="2286000" y="926913"/>
                    <a:pt x="2260413" y="952500"/>
                    <a:pt x="2228850" y="952500"/>
                  </a:cubicBezTo>
                  <a:lnTo>
                    <a:pt x="57150" y="952500"/>
                  </a:lnTo>
                  <a:cubicBezTo>
                    <a:pt x="25587" y="952500"/>
                    <a:pt x="0" y="926913"/>
                    <a:pt x="0" y="895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40" name="文本框 39">
              <a:extLst>
                <a:ext uri="{FF2B5EF4-FFF2-40B4-BE49-F238E27FC236}">
                  <a16:creationId xmlns:a16="http://schemas.microsoft.com/office/drawing/2014/main" id="{6A8DF1B5-5082-161E-9590-33AD796AC89A}"/>
                </a:ext>
              </a:extLst>
            </p:cNvPr>
            <p:cNvSpPr txBox="1"/>
            <p:nvPr/>
          </p:nvSpPr>
          <p:spPr>
            <a:xfrm>
              <a:off x="6671310" y="1918760"/>
              <a:ext cx="678180"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常住人口</a:t>
              </a:r>
            </a:p>
          </p:txBody>
        </p:sp>
        <p:sp>
          <p:nvSpPr>
            <p:cNvPr id="41" name="文本框 40">
              <a:extLst>
                <a:ext uri="{FF2B5EF4-FFF2-40B4-BE49-F238E27FC236}">
                  <a16:creationId xmlns:a16="http://schemas.microsoft.com/office/drawing/2014/main" id="{776FE85D-F4C1-8D94-EBAA-89E1F8676CEA}"/>
                </a:ext>
              </a:extLst>
            </p:cNvPr>
            <p:cNvSpPr txBox="1"/>
            <p:nvPr/>
          </p:nvSpPr>
          <p:spPr>
            <a:xfrm>
              <a:off x="6671310" y="2067955"/>
              <a:ext cx="1647571"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3,190.47</a:t>
              </a:r>
            </a:p>
          </p:txBody>
        </p:sp>
        <p:sp>
          <p:nvSpPr>
            <p:cNvPr id="42" name="文本框 41">
              <a:extLst>
                <a:ext uri="{FF2B5EF4-FFF2-40B4-BE49-F238E27FC236}">
                  <a16:creationId xmlns:a16="http://schemas.microsoft.com/office/drawing/2014/main" id="{3104AA96-ECAB-0BDE-C78A-EC3925E8D7D9}"/>
                </a:ext>
              </a:extLst>
            </p:cNvPr>
            <p:cNvSpPr txBox="1"/>
            <p:nvPr/>
          </p:nvSpPr>
          <p:spPr>
            <a:xfrm>
              <a:off x="8195310" y="2289681"/>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万人</a:t>
              </a:r>
            </a:p>
          </p:txBody>
        </p:sp>
        <p:sp>
          <p:nvSpPr>
            <p:cNvPr id="43" name="文本框 42">
              <a:extLst>
                <a:ext uri="{FF2B5EF4-FFF2-40B4-BE49-F238E27FC236}">
                  <a16:creationId xmlns:a16="http://schemas.microsoft.com/office/drawing/2014/main" id="{364F4929-D532-5171-FF9C-AA9461FA9AA4}"/>
                </a:ext>
              </a:extLst>
            </p:cNvPr>
            <p:cNvSpPr txBox="1"/>
            <p:nvPr/>
          </p:nvSpPr>
          <p:spPr>
            <a:xfrm>
              <a:off x="6671310" y="2500338"/>
              <a:ext cx="1399215"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 -0.03% | 全国第19位</a:t>
              </a:r>
            </a:p>
          </p:txBody>
        </p:sp>
        <p:sp>
          <p:nvSpPr>
            <p:cNvPr id="44" name="任意形状 43">
              <a:extLst>
                <a:ext uri="{FF2B5EF4-FFF2-40B4-BE49-F238E27FC236}">
                  <a16:creationId xmlns:a16="http://schemas.microsoft.com/office/drawing/2014/main" id="{5C7086A7-3C75-AEFC-8280-1DD8C28C0871}"/>
                </a:ext>
              </a:extLst>
            </p:cNvPr>
            <p:cNvSpPr/>
            <p:nvPr/>
          </p:nvSpPr>
          <p:spPr>
            <a:xfrm>
              <a:off x="9048750" y="1809750"/>
              <a:ext cx="2286000" cy="952500"/>
            </a:xfrm>
            <a:custGeom>
              <a:avLst/>
              <a:gdLst>
                <a:gd name="csX0" fmla="*/ 57150 w 2286000"/>
                <a:gd name="csY0" fmla="*/ 0 h 952500"/>
                <a:gd name="csX1" fmla="*/ 2228850 w 2286000"/>
                <a:gd name="csY1" fmla="*/ 0 h 952500"/>
                <a:gd name="csX2" fmla="*/ 2286000 w 2286000"/>
                <a:gd name="csY2" fmla="*/ 57150 h 952500"/>
                <a:gd name="csX3" fmla="*/ 2286000 w 2286000"/>
                <a:gd name="csY3" fmla="*/ 895350 h 952500"/>
                <a:gd name="csX4" fmla="*/ 2228850 w 2286000"/>
                <a:gd name="csY4" fmla="*/ 952500 h 952500"/>
                <a:gd name="csX5" fmla="*/ 57150 w 2286000"/>
                <a:gd name="csY5" fmla="*/ 952500 h 952500"/>
                <a:gd name="csX6" fmla="*/ 0 w 2286000"/>
                <a:gd name="csY6" fmla="*/ 895350 h 952500"/>
                <a:gd name="csX7" fmla="*/ 0 w 2286000"/>
                <a:gd name="csY7" fmla="*/ 57150 h 952500"/>
                <a:gd name="csX8" fmla="*/ 57150 w 2286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86000" h="952500">
                  <a:moveTo>
                    <a:pt x="57150" y="0"/>
                  </a:moveTo>
                  <a:lnTo>
                    <a:pt x="2228850" y="0"/>
                  </a:lnTo>
                  <a:cubicBezTo>
                    <a:pt x="2260413" y="0"/>
                    <a:pt x="2286000" y="25587"/>
                    <a:pt x="2286000" y="57150"/>
                  </a:cubicBezTo>
                  <a:lnTo>
                    <a:pt x="2286000" y="895350"/>
                  </a:lnTo>
                  <a:cubicBezTo>
                    <a:pt x="2286000" y="926913"/>
                    <a:pt x="2260413" y="952500"/>
                    <a:pt x="2228850" y="952500"/>
                  </a:cubicBezTo>
                  <a:lnTo>
                    <a:pt x="57150" y="952500"/>
                  </a:lnTo>
                  <a:cubicBezTo>
                    <a:pt x="25587" y="952500"/>
                    <a:pt x="0" y="926913"/>
                    <a:pt x="0" y="895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45" name="文本框 44">
              <a:extLst>
                <a:ext uri="{FF2B5EF4-FFF2-40B4-BE49-F238E27FC236}">
                  <a16:creationId xmlns:a16="http://schemas.microsoft.com/office/drawing/2014/main" id="{DE5E1E66-3A6D-42E8-B667-70D8FA656292}"/>
                </a:ext>
              </a:extLst>
            </p:cNvPr>
            <p:cNvSpPr txBox="1"/>
            <p:nvPr/>
          </p:nvSpPr>
          <p:spPr>
            <a:xfrm>
              <a:off x="9147810" y="1918760"/>
              <a:ext cx="678180"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城镇化率</a:t>
              </a:r>
            </a:p>
          </p:txBody>
        </p:sp>
        <p:sp>
          <p:nvSpPr>
            <p:cNvPr id="46" name="文本框 45">
              <a:extLst>
                <a:ext uri="{FF2B5EF4-FFF2-40B4-BE49-F238E27FC236}">
                  <a16:creationId xmlns:a16="http://schemas.microsoft.com/office/drawing/2014/main" id="{7003DFEE-D54D-3068-C6BA-6B784B6E8074}"/>
                </a:ext>
              </a:extLst>
            </p:cNvPr>
            <p:cNvSpPr txBox="1"/>
            <p:nvPr/>
          </p:nvSpPr>
          <p:spPr>
            <a:xfrm>
              <a:off x="9147810" y="2067955"/>
              <a:ext cx="1126692" cy="544007"/>
            </a:xfrm>
            <a:prstGeom prst="rect">
              <a:avLst/>
            </a:prstGeom>
            <a:noFill/>
          </p:spPr>
          <p:txBody>
            <a:bodyPr wrap="none" rtlCol="0">
              <a:spAutoFit/>
            </a:bodyPr>
            <a:lstStyle/>
            <a:p>
              <a:pPr algn="l"/>
              <a:r>
                <a:rPr lang="zh-CN" altLang="en-US" sz="2700" b="1" spc="0" baseline="0">
                  <a:ln/>
                  <a:solidFill>
                    <a:srgbClr val="4A90D9"/>
                  </a:solidFill>
                  <a:latin typeface="微软雅黑"/>
                  <a:ea typeface="微软雅黑"/>
                  <a:sym typeface="微软雅黑"/>
                  <a:rtl val="0"/>
                </a:rPr>
                <a:t>72.14</a:t>
              </a:r>
            </a:p>
          </p:txBody>
        </p:sp>
        <p:sp>
          <p:nvSpPr>
            <p:cNvPr id="47" name="文本框 46">
              <a:extLst>
                <a:ext uri="{FF2B5EF4-FFF2-40B4-BE49-F238E27FC236}">
                  <a16:creationId xmlns:a16="http://schemas.microsoft.com/office/drawing/2014/main" id="{31985F60-57A2-BDC8-D993-7AFBF7745627}"/>
                </a:ext>
              </a:extLst>
            </p:cNvPr>
            <p:cNvSpPr txBox="1"/>
            <p:nvPr/>
          </p:nvSpPr>
          <p:spPr>
            <a:xfrm>
              <a:off x="10195560" y="2289681"/>
              <a:ext cx="301514"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a:t>
              </a:r>
            </a:p>
          </p:txBody>
        </p:sp>
        <p:sp>
          <p:nvSpPr>
            <p:cNvPr id="48" name="文本框 47">
              <a:extLst>
                <a:ext uri="{FF2B5EF4-FFF2-40B4-BE49-F238E27FC236}">
                  <a16:creationId xmlns:a16="http://schemas.microsoft.com/office/drawing/2014/main" id="{61418657-9527-87B8-8FC4-BBA31D6B5180}"/>
                </a:ext>
              </a:extLst>
            </p:cNvPr>
            <p:cNvSpPr txBox="1"/>
            <p:nvPr/>
          </p:nvSpPr>
          <p:spPr>
            <a:xfrm>
              <a:off x="9147810" y="2500338"/>
              <a:ext cx="1097280"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高于全国平均水平</a:t>
              </a:r>
            </a:p>
          </p:txBody>
        </p:sp>
        <p:sp>
          <p:nvSpPr>
            <p:cNvPr id="49" name="任意形状 48">
              <a:extLst>
                <a:ext uri="{FF2B5EF4-FFF2-40B4-BE49-F238E27FC236}">
                  <a16:creationId xmlns:a16="http://schemas.microsoft.com/office/drawing/2014/main" id="{8832D951-B030-111A-3607-B03E3CCDF931}"/>
                </a:ext>
              </a:extLst>
            </p:cNvPr>
            <p:cNvSpPr/>
            <p:nvPr/>
          </p:nvSpPr>
          <p:spPr>
            <a:xfrm>
              <a:off x="6572250" y="2952750"/>
              <a:ext cx="2286000" cy="952500"/>
            </a:xfrm>
            <a:custGeom>
              <a:avLst/>
              <a:gdLst>
                <a:gd name="csX0" fmla="*/ 57150 w 2286000"/>
                <a:gd name="csY0" fmla="*/ 0 h 952500"/>
                <a:gd name="csX1" fmla="*/ 2228850 w 2286000"/>
                <a:gd name="csY1" fmla="*/ 0 h 952500"/>
                <a:gd name="csX2" fmla="*/ 2286000 w 2286000"/>
                <a:gd name="csY2" fmla="*/ 57150 h 952500"/>
                <a:gd name="csX3" fmla="*/ 2286000 w 2286000"/>
                <a:gd name="csY3" fmla="*/ 895350 h 952500"/>
                <a:gd name="csX4" fmla="*/ 2228850 w 2286000"/>
                <a:gd name="csY4" fmla="*/ 952500 h 952500"/>
                <a:gd name="csX5" fmla="*/ 57150 w 2286000"/>
                <a:gd name="csY5" fmla="*/ 952500 h 952500"/>
                <a:gd name="csX6" fmla="*/ 0 w 2286000"/>
                <a:gd name="csY6" fmla="*/ 895350 h 952500"/>
                <a:gd name="csX7" fmla="*/ 0 w 2286000"/>
                <a:gd name="csY7" fmla="*/ 57150 h 952500"/>
                <a:gd name="csX8" fmla="*/ 57150 w 2286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86000" h="952500">
                  <a:moveTo>
                    <a:pt x="57150" y="0"/>
                  </a:moveTo>
                  <a:lnTo>
                    <a:pt x="2228850" y="0"/>
                  </a:lnTo>
                  <a:cubicBezTo>
                    <a:pt x="2260413" y="0"/>
                    <a:pt x="2286000" y="25587"/>
                    <a:pt x="2286000" y="57150"/>
                  </a:cubicBezTo>
                  <a:lnTo>
                    <a:pt x="2286000" y="895350"/>
                  </a:lnTo>
                  <a:cubicBezTo>
                    <a:pt x="2286000" y="926913"/>
                    <a:pt x="2260413" y="952500"/>
                    <a:pt x="2228850" y="952500"/>
                  </a:cubicBezTo>
                  <a:lnTo>
                    <a:pt x="57150" y="952500"/>
                  </a:lnTo>
                  <a:cubicBezTo>
                    <a:pt x="25587" y="952500"/>
                    <a:pt x="0" y="926913"/>
                    <a:pt x="0" y="895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50" name="文本框 49">
              <a:extLst>
                <a:ext uri="{FF2B5EF4-FFF2-40B4-BE49-F238E27FC236}">
                  <a16:creationId xmlns:a16="http://schemas.microsoft.com/office/drawing/2014/main" id="{9B25A2C6-5FA2-440D-7FF6-4A1B3CC03F0C}"/>
                </a:ext>
              </a:extLst>
            </p:cNvPr>
            <p:cNvSpPr txBox="1"/>
            <p:nvPr/>
          </p:nvSpPr>
          <p:spPr>
            <a:xfrm>
              <a:off x="6671310" y="3061760"/>
              <a:ext cx="802005"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二手房均价</a:t>
              </a:r>
            </a:p>
          </p:txBody>
        </p:sp>
        <p:sp>
          <p:nvSpPr>
            <p:cNvPr id="51" name="文本框 50">
              <a:extLst>
                <a:ext uri="{FF2B5EF4-FFF2-40B4-BE49-F238E27FC236}">
                  <a16:creationId xmlns:a16="http://schemas.microsoft.com/office/drawing/2014/main" id="{05B724BC-E45D-71FE-0CA4-BD3CBDA2835B}"/>
                </a:ext>
              </a:extLst>
            </p:cNvPr>
            <p:cNvSpPr txBox="1"/>
            <p:nvPr/>
          </p:nvSpPr>
          <p:spPr>
            <a:xfrm>
              <a:off x="6671310" y="3210955"/>
              <a:ext cx="1126692"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9,286</a:t>
              </a:r>
            </a:p>
          </p:txBody>
        </p:sp>
        <p:sp>
          <p:nvSpPr>
            <p:cNvPr id="52" name="文本框 51">
              <a:extLst>
                <a:ext uri="{FF2B5EF4-FFF2-40B4-BE49-F238E27FC236}">
                  <a16:creationId xmlns:a16="http://schemas.microsoft.com/office/drawing/2014/main" id="{6FE6C4B9-D4FD-6B4C-6FF4-09DCD2703A17}"/>
                </a:ext>
              </a:extLst>
            </p:cNvPr>
            <p:cNvSpPr txBox="1"/>
            <p:nvPr/>
          </p:nvSpPr>
          <p:spPr>
            <a:xfrm>
              <a:off x="7909560" y="3432681"/>
              <a:ext cx="506553"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元/㎡</a:t>
              </a:r>
            </a:p>
          </p:txBody>
        </p:sp>
        <p:sp>
          <p:nvSpPr>
            <p:cNvPr id="53" name="文本框 52">
              <a:extLst>
                <a:ext uri="{FF2B5EF4-FFF2-40B4-BE49-F238E27FC236}">
                  <a16:creationId xmlns:a16="http://schemas.microsoft.com/office/drawing/2014/main" id="{8E76147B-3596-7901-6E75-290A9F32FB18}"/>
                </a:ext>
              </a:extLst>
            </p:cNvPr>
            <p:cNvSpPr txBox="1"/>
            <p:nvPr/>
          </p:nvSpPr>
          <p:spPr>
            <a:xfrm>
              <a:off x="6671310" y="3643338"/>
              <a:ext cx="8686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市场相对平稳</a:t>
              </a:r>
            </a:p>
          </p:txBody>
        </p:sp>
        <p:sp>
          <p:nvSpPr>
            <p:cNvPr id="54" name="任意形状 53">
              <a:extLst>
                <a:ext uri="{FF2B5EF4-FFF2-40B4-BE49-F238E27FC236}">
                  <a16:creationId xmlns:a16="http://schemas.microsoft.com/office/drawing/2014/main" id="{ACA98145-9DBD-A050-0C38-774FB5B25C3F}"/>
                </a:ext>
              </a:extLst>
            </p:cNvPr>
            <p:cNvSpPr/>
            <p:nvPr/>
          </p:nvSpPr>
          <p:spPr>
            <a:xfrm>
              <a:off x="9048750" y="2952750"/>
              <a:ext cx="2286000" cy="952500"/>
            </a:xfrm>
            <a:custGeom>
              <a:avLst/>
              <a:gdLst>
                <a:gd name="csX0" fmla="*/ 57150 w 2286000"/>
                <a:gd name="csY0" fmla="*/ 0 h 952500"/>
                <a:gd name="csX1" fmla="*/ 2228850 w 2286000"/>
                <a:gd name="csY1" fmla="*/ 0 h 952500"/>
                <a:gd name="csX2" fmla="*/ 2286000 w 2286000"/>
                <a:gd name="csY2" fmla="*/ 57150 h 952500"/>
                <a:gd name="csX3" fmla="*/ 2286000 w 2286000"/>
                <a:gd name="csY3" fmla="*/ 895350 h 952500"/>
                <a:gd name="csX4" fmla="*/ 2228850 w 2286000"/>
                <a:gd name="csY4" fmla="*/ 952500 h 952500"/>
                <a:gd name="csX5" fmla="*/ 57150 w 2286000"/>
                <a:gd name="csY5" fmla="*/ 952500 h 952500"/>
                <a:gd name="csX6" fmla="*/ 0 w 2286000"/>
                <a:gd name="csY6" fmla="*/ 895350 h 952500"/>
                <a:gd name="csX7" fmla="*/ 0 w 2286000"/>
                <a:gd name="csY7" fmla="*/ 57150 h 952500"/>
                <a:gd name="csX8" fmla="*/ 57150 w 2286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86000" h="952500">
                  <a:moveTo>
                    <a:pt x="57150" y="0"/>
                  </a:moveTo>
                  <a:lnTo>
                    <a:pt x="2228850" y="0"/>
                  </a:lnTo>
                  <a:cubicBezTo>
                    <a:pt x="2260413" y="0"/>
                    <a:pt x="2286000" y="25587"/>
                    <a:pt x="2286000" y="57150"/>
                  </a:cubicBezTo>
                  <a:lnTo>
                    <a:pt x="2286000" y="895350"/>
                  </a:lnTo>
                  <a:cubicBezTo>
                    <a:pt x="2286000" y="926913"/>
                    <a:pt x="2260413" y="952500"/>
                    <a:pt x="2228850" y="952500"/>
                  </a:cubicBezTo>
                  <a:lnTo>
                    <a:pt x="57150" y="952500"/>
                  </a:lnTo>
                  <a:cubicBezTo>
                    <a:pt x="25587" y="952500"/>
                    <a:pt x="0" y="926913"/>
                    <a:pt x="0" y="895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55" name="文本框 54">
              <a:extLst>
                <a:ext uri="{FF2B5EF4-FFF2-40B4-BE49-F238E27FC236}">
                  <a16:creationId xmlns:a16="http://schemas.microsoft.com/office/drawing/2014/main" id="{8F447030-7B28-29DA-27E0-1CFE238F33E2}"/>
                </a:ext>
              </a:extLst>
            </p:cNvPr>
            <p:cNvSpPr txBox="1"/>
            <p:nvPr/>
          </p:nvSpPr>
          <p:spPr>
            <a:xfrm>
              <a:off x="9147810" y="3061760"/>
              <a:ext cx="678180"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最高区域</a:t>
              </a:r>
            </a:p>
          </p:txBody>
        </p:sp>
        <p:sp>
          <p:nvSpPr>
            <p:cNvPr id="56" name="文本框 55">
              <a:extLst>
                <a:ext uri="{FF2B5EF4-FFF2-40B4-BE49-F238E27FC236}">
                  <a16:creationId xmlns:a16="http://schemas.microsoft.com/office/drawing/2014/main" id="{F95BAAC2-AFB9-3E4C-52A6-2B017F403FFE}"/>
                </a:ext>
              </a:extLst>
            </p:cNvPr>
            <p:cNvSpPr txBox="1"/>
            <p:nvPr/>
          </p:nvSpPr>
          <p:spPr>
            <a:xfrm>
              <a:off x="9147810" y="3284272"/>
              <a:ext cx="868680" cy="393151"/>
            </a:xfrm>
            <a:prstGeom prst="rect">
              <a:avLst/>
            </a:prstGeom>
            <a:noFill/>
          </p:spPr>
          <p:txBody>
            <a:bodyPr wrap="none" rtlCol="0">
              <a:spAutoFit/>
            </a:bodyPr>
            <a:lstStyle/>
            <a:p>
              <a:pPr algn="l"/>
              <a:r>
                <a:rPr lang="zh-CN" altLang="en-US" sz="1800" b="1" spc="0" baseline="0">
                  <a:ln/>
                  <a:solidFill>
                    <a:srgbClr val="1E3A5F"/>
                  </a:solidFill>
                  <a:latin typeface="微软雅黑"/>
                  <a:ea typeface="微软雅黑"/>
                  <a:sym typeface="微软雅黑"/>
                  <a:rtl val="0"/>
                </a:rPr>
                <a:t>渝北区</a:t>
              </a:r>
            </a:p>
          </p:txBody>
        </p:sp>
        <p:sp>
          <p:nvSpPr>
            <p:cNvPr id="57" name="文本框 56">
              <a:extLst>
                <a:ext uri="{FF2B5EF4-FFF2-40B4-BE49-F238E27FC236}">
                  <a16:creationId xmlns:a16="http://schemas.microsoft.com/office/drawing/2014/main" id="{45EEF6BC-8634-8C2E-FCB6-CDED9A01ACFD}"/>
                </a:ext>
              </a:extLst>
            </p:cNvPr>
            <p:cNvSpPr txBox="1"/>
            <p:nvPr/>
          </p:nvSpPr>
          <p:spPr>
            <a:xfrm>
              <a:off x="9147810" y="3623181"/>
              <a:ext cx="969111"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11,779 元/㎡</a:t>
              </a:r>
            </a:p>
          </p:txBody>
        </p:sp>
        <p:sp>
          <p:nvSpPr>
            <p:cNvPr id="58" name="任意形状 57">
              <a:extLst>
                <a:ext uri="{FF2B5EF4-FFF2-40B4-BE49-F238E27FC236}">
                  <a16:creationId xmlns:a16="http://schemas.microsoft.com/office/drawing/2014/main" id="{EACD016D-2482-13D1-1FC4-568316584645}"/>
                </a:ext>
              </a:extLst>
            </p:cNvPr>
            <p:cNvSpPr/>
            <p:nvPr/>
          </p:nvSpPr>
          <p:spPr>
            <a:xfrm>
              <a:off x="6572250" y="4000500"/>
              <a:ext cx="4762500" cy="285750"/>
            </a:xfrm>
            <a:custGeom>
              <a:avLst/>
              <a:gdLst>
                <a:gd name="csX0" fmla="*/ 38100 w 4762500"/>
                <a:gd name="csY0" fmla="*/ 0 h 285750"/>
                <a:gd name="csX1" fmla="*/ 4724400 w 4762500"/>
                <a:gd name="csY1" fmla="*/ 0 h 285750"/>
                <a:gd name="csX2" fmla="*/ 4762500 w 4762500"/>
                <a:gd name="csY2" fmla="*/ 38100 h 285750"/>
                <a:gd name="csX3" fmla="*/ 4762500 w 4762500"/>
                <a:gd name="csY3" fmla="*/ 247650 h 285750"/>
                <a:gd name="csX4" fmla="*/ 4724400 w 4762500"/>
                <a:gd name="csY4" fmla="*/ 285750 h 285750"/>
                <a:gd name="csX5" fmla="*/ 38100 w 4762500"/>
                <a:gd name="csY5" fmla="*/ 285750 h 285750"/>
                <a:gd name="csX6" fmla="*/ 0 w 4762500"/>
                <a:gd name="csY6" fmla="*/ 247650 h 285750"/>
                <a:gd name="csX7" fmla="*/ 0 w 4762500"/>
                <a:gd name="csY7" fmla="*/ 38100 h 285750"/>
                <a:gd name="csX8" fmla="*/ 38100 w 4762500"/>
                <a:gd name="csY8" fmla="*/ 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285750">
                  <a:moveTo>
                    <a:pt x="38100" y="0"/>
                  </a:moveTo>
                  <a:lnTo>
                    <a:pt x="4724400" y="0"/>
                  </a:lnTo>
                  <a:cubicBezTo>
                    <a:pt x="4745442" y="0"/>
                    <a:pt x="4762500" y="17058"/>
                    <a:pt x="4762500" y="38100"/>
                  </a:cubicBezTo>
                  <a:lnTo>
                    <a:pt x="4762500" y="247650"/>
                  </a:lnTo>
                  <a:cubicBezTo>
                    <a:pt x="4762500" y="268692"/>
                    <a:pt x="4745442" y="285750"/>
                    <a:pt x="4724400" y="285750"/>
                  </a:cubicBezTo>
                  <a:lnTo>
                    <a:pt x="38100" y="285750"/>
                  </a:lnTo>
                  <a:cubicBezTo>
                    <a:pt x="17058" y="285750"/>
                    <a:pt x="0" y="268692"/>
                    <a:pt x="0" y="2476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59" name="文本框 58">
              <a:extLst>
                <a:ext uri="{FF2B5EF4-FFF2-40B4-BE49-F238E27FC236}">
                  <a16:creationId xmlns:a16="http://schemas.microsoft.com/office/drawing/2014/main" id="{D3D95804-4374-F7E4-5EF1-FC5324F40656}"/>
                </a:ext>
              </a:extLst>
            </p:cNvPr>
            <p:cNvSpPr txBox="1"/>
            <p:nvPr/>
          </p:nvSpPr>
          <p:spPr>
            <a:xfrm>
              <a:off x="6671310" y="4024338"/>
              <a:ext cx="3074201" cy="248100"/>
            </a:xfrm>
            <a:prstGeom prst="rect">
              <a:avLst/>
            </a:prstGeom>
            <a:noFill/>
          </p:spPr>
          <p:txBody>
            <a:bodyPr wrap="none" rtlCol="0">
              <a:spAutoFit/>
            </a:bodyPr>
            <a:lstStyle/>
            <a:p>
              <a:pPr algn="l"/>
              <a:r>
                <a:rPr lang="zh-CN" altLang="en-US" sz="900" spc="0" baseline="0">
                  <a:ln/>
                  <a:solidFill>
                    <a:srgbClr val="4A90D9"/>
                  </a:solidFill>
                  <a:latin typeface="Apple Color Emoji"/>
                  <a:ea typeface="Apple Color Emoji"/>
                  <a:sym typeface="Apple Color Emoji"/>
                  <a:rtl val="0"/>
                </a:rPr>
                <a:t>💡</a:t>
              </a:r>
              <a:r>
                <a:rPr lang="zh-CN" altLang="en-US" sz="900" spc="0" baseline="0">
                  <a:ln/>
                  <a:solidFill>
                    <a:srgbClr val="4A90D9"/>
                  </a:solidFill>
                  <a:latin typeface="微软雅黑"/>
                  <a:ea typeface="微软雅黑"/>
                  <a:sym typeface="微软雅黑"/>
                  <a:rtl val="0"/>
                </a:rPr>
                <a:t> 人口规模大但增长放缓，房价相对可控，城镇化率较高</a:t>
              </a:r>
            </a:p>
          </p:txBody>
        </p:sp>
      </p:grpSp>
      <p:grpSp>
        <p:nvGrpSpPr>
          <p:cNvPr id="60" name="SVG Image 6">
            <a:extLst>
              <a:ext uri="{FF2B5EF4-FFF2-40B4-BE49-F238E27FC236}">
                <a16:creationId xmlns:a16="http://schemas.microsoft.com/office/drawing/2014/main" id="{6A5DE609-2194-1F79-ED45-0FE6613FB643}"/>
              </a:ext>
            </a:extLst>
          </p:cNvPr>
          <p:cNvGrpSpPr/>
          <p:nvPr/>
        </p:nvGrpSpPr>
        <p:grpSpPr>
          <a:xfrm>
            <a:off x="571500" y="4476750"/>
            <a:ext cx="11049000" cy="1809750"/>
            <a:chOff x="571500" y="4476750"/>
            <a:chExt cx="11049000" cy="1809750"/>
          </a:xfrm>
        </p:grpSpPr>
        <p:sp>
          <p:nvSpPr>
            <p:cNvPr id="61" name="任意形状 60">
              <a:extLst>
                <a:ext uri="{FF2B5EF4-FFF2-40B4-BE49-F238E27FC236}">
                  <a16:creationId xmlns:a16="http://schemas.microsoft.com/office/drawing/2014/main" id="{DEE231D7-6B0D-408C-7BCF-AD397A271727}"/>
                </a:ext>
              </a:extLst>
            </p:cNvPr>
            <p:cNvSpPr/>
            <p:nvPr/>
          </p:nvSpPr>
          <p:spPr>
            <a:xfrm>
              <a:off x="571500" y="4476750"/>
              <a:ext cx="11049000" cy="1809750"/>
            </a:xfrm>
            <a:custGeom>
              <a:avLst/>
              <a:gdLst>
                <a:gd name="csX0" fmla="*/ 76200 w 11049000"/>
                <a:gd name="csY0" fmla="*/ 0 h 1809750"/>
                <a:gd name="csX1" fmla="*/ 10972800 w 11049000"/>
                <a:gd name="csY1" fmla="*/ 0 h 1809750"/>
                <a:gd name="csX2" fmla="*/ 11049000 w 11049000"/>
                <a:gd name="csY2" fmla="*/ 76200 h 1809750"/>
                <a:gd name="csX3" fmla="*/ 11049000 w 11049000"/>
                <a:gd name="csY3" fmla="*/ 1733550 h 1809750"/>
                <a:gd name="csX4" fmla="*/ 10972800 w 11049000"/>
                <a:gd name="csY4" fmla="*/ 1809750 h 1809750"/>
                <a:gd name="csX5" fmla="*/ 76200 w 11049000"/>
                <a:gd name="csY5" fmla="*/ 1809750 h 1809750"/>
                <a:gd name="csX6" fmla="*/ 0 w 11049000"/>
                <a:gd name="csY6" fmla="*/ 1733550 h 1809750"/>
                <a:gd name="csX7" fmla="*/ 0 w 11049000"/>
                <a:gd name="csY7" fmla="*/ 76200 h 1809750"/>
                <a:gd name="csX8" fmla="*/ 76200 w 11049000"/>
                <a:gd name="csY8" fmla="*/ 0 h 1809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1809750">
                  <a:moveTo>
                    <a:pt x="76200" y="0"/>
                  </a:moveTo>
                  <a:lnTo>
                    <a:pt x="10972800" y="0"/>
                  </a:lnTo>
                  <a:cubicBezTo>
                    <a:pt x="11014885" y="0"/>
                    <a:pt x="11049000" y="34116"/>
                    <a:pt x="11049000" y="76200"/>
                  </a:cubicBezTo>
                  <a:lnTo>
                    <a:pt x="11049000" y="1733550"/>
                  </a:lnTo>
                  <a:cubicBezTo>
                    <a:pt x="11049000" y="1775634"/>
                    <a:pt x="11014885" y="1809750"/>
                    <a:pt x="109728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62" name="文本框 61">
              <a:extLst>
                <a:ext uri="{FF2B5EF4-FFF2-40B4-BE49-F238E27FC236}">
                  <a16:creationId xmlns:a16="http://schemas.microsoft.com/office/drawing/2014/main" id="{4E5E661C-CAC9-654B-8695-0C710351DF33}"/>
                </a:ext>
              </a:extLst>
            </p:cNvPr>
            <p:cNvSpPr txBox="1"/>
            <p:nvPr/>
          </p:nvSpPr>
          <p:spPr>
            <a:xfrm>
              <a:off x="765810" y="4582992"/>
              <a:ext cx="1523086"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1.5 地区综合评分</a:t>
              </a:r>
            </a:p>
          </p:txBody>
        </p:sp>
        <p:sp>
          <p:nvSpPr>
            <p:cNvPr id="63" name="任意形状 62">
              <a:extLst>
                <a:ext uri="{FF2B5EF4-FFF2-40B4-BE49-F238E27FC236}">
                  <a16:creationId xmlns:a16="http://schemas.microsoft.com/office/drawing/2014/main" id="{F2365029-855F-4541-38E0-39C6B6F7102C}"/>
                </a:ext>
              </a:extLst>
            </p:cNvPr>
            <p:cNvSpPr/>
            <p:nvPr/>
          </p:nvSpPr>
          <p:spPr>
            <a:xfrm>
              <a:off x="857250" y="5000625"/>
              <a:ext cx="1714500" cy="1143000"/>
            </a:xfrm>
            <a:custGeom>
              <a:avLst/>
              <a:gdLst>
                <a:gd name="csX0" fmla="*/ 76200 w 1714500"/>
                <a:gd name="csY0" fmla="*/ 0 h 1143000"/>
                <a:gd name="csX1" fmla="*/ 1638300 w 1714500"/>
                <a:gd name="csY1" fmla="*/ 0 h 1143000"/>
                <a:gd name="csX2" fmla="*/ 1714500 w 1714500"/>
                <a:gd name="csY2" fmla="*/ 76200 h 1143000"/>
                <a:gd name="csX3" fmla="*/ 1714500 w 1714500"/>
                <a:gd name="csY3" fmla="*/ 1066800 h 1143000"/>
                <a:gd name="csX4" fmla="*/ 1638300 w 1714500"/>
                <a:gd name="csY4" fmla="*/ 1143000 h 1143000"/>
                <a:gd name="csX5" fmla="*/ 76200 w 1714500"/>
                <a:gd name="csY5" fmla="*/ 1143000 h 1143000"/>
                <a:gd name="csX6" fmla="*/ 0 w 1714500"/>
                <a:gd name="csY6" fmla="*/ 1066800 h 1143000"/>
                <a:gd name="csX7" fmla="*/ 0 w 1714500"/>
                <a:gd name="csY7" fmla="*/ 76200 h 1143000"/>
                <a:gd name="csX8" fmla="*/ 76200 w 171450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4500" h="1143000">
                  <a:moveTo>
                    <a:pt x="76200" y="0"/>
                  </a:moveTo>
                  <a:lnTo>
                    <a:pt x="1638300" y="0"/>
                  </a:lnTo>
                  <a:cubicBezTo>
                    <a:pt x="1680384" y="0"/>
                    <a:pt x="1714500" y="34116"/>
                    <a:pt x="1714500" y="76200"/>
                  </a:cubicBezTo>
                  <a:lnTo>
                    <a:pt x="1714500" y="1066800"/>
                  </a:lnTo>
                  <a:cubicBezTo>
                    <a:pt x="1714500" y="1108884"/>
                    <a:pt x="1680384" y="1143000"/>
                    <a:pt x="16383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64" name="文本框 63">
              <a:extLst>
                <a:ext uri="{FF2B5EF4-FFF2-40B4-BE49-F238E27FC236}">
                  <a16:creationId xmlns:a16="http://schemas.microsoft.com/office/drawing/2014/main" id="{9F039618-A38F-D31D-279A-8709FAE29A0B}"/>
                </a:ext>
              </a:extLst>
            </p:cNvPr>
            <p:cNvSpPr txBox="1"/>
            <p:nvPr/>
          </p:nvSpPr>
          <p:spPr>
            <a:xfrm>
              <a:off x="1356360" y="5194806"/>
              <a:ext cx="716280" cy="267438"/>
            </a:xfrm>
            <a:prstGeom prst="rect">
              <a:avLst/>
            </a:prstGeom>
            <a:noFill/>
          </p:spPr>
          <p:txBody>
            <a:bodyPr wrap="none" rtlCol="0">
              <a:spAutoFit/>
            </a:bodyPr>
            <a:lstStyle/>
            <a:p>
              <a:pPr algn="l"/>
              <a:r>
                <a:rPr lang="zh-CN" altLang="en-US" sz="1050" spc="0" baseline="0">
                  <a:ln/>
                  <a:solidFill>
                    <a:srgbClr val="FFFFFF">
                      <a:alpha val="80000"/>
                    </a:srgbClr>
                  </a:solidFill>
                  <a:latin typeface="微软雅黑"/>
                  <a:ea typeface="微软雅黑"/>
                  <a:sym typeface="微软雅黑"/>
                  <a:rtl val="0"/>
                </a:rPr>
                <a:t>综合得分</a:t>
              </a:r>
            </a:p>
          </p:txBody>
        </p:sp>
        <p:sp>
          <p:nvSpPr>
            <p:cNvPr id="65" name="文本框 64">
              <a:extLst>
                <a:ext uri="{FF2B5EF4-FFF2-40B4-BE49-F238E27FC236}">
                  <a16:creationId xmlns:a16="http://schemas.microsoft.com/office/drawing/2014/main" id="{124E7916-F053-7DB0-412D-45E1D0228429}"/>
                </a:ext>
              </a:extLst>
            </p:cNvPr>
            <p:cNvSpPr txBox="1"/>
            <p:nvPr/>
          </p:nvSpPr>
          <p:spPr>
            <a:xfrm>
              <a:off x="1134829" y="5328389"/>
              <a:ext cx="1159341" cy="694863"/>
            </a:xfrm>
            <a:prstGeom prst="rect">
              <a:avLst/>
            </a:prstGeom>
            <a:noFill/>
          </p:spPr>
          <p:txBody>
            <a:bodyPr wrap="none" rtlCol="0">
              <a:spAutoFit/>
            </a:bodyPr>
            <a:lstStyle/>
            <a:p>
              <a:pPr algn="l"/>
              <a:r>
                <a:rPr lang="zh-CN" altLang="en-US" sz="3600" b="1" spc="0" baseline="0">
                  <a:ln/>
                  <a:solidFill>
                    <a:srgbClr val="FFFFFF"/>
                  </a:solidFill>
                  <a:latin typeface="微软雅黑"/>
                  <a:ea typeface="微软雅黑"/>
                  <a:sym typeface="微软雅黑"/>
                  <a:rtl val="0"/>
                </a:rPr>
                <a:t>8.71</a:t>
              </a:r>
            </a:p>
          </p:txBody>
        </p:sp>
        <p:grpSp>
          <p:nvGrpSpPr>
            <p:cNvPr id="66" name="SVG Image 6">
              <a:extLst>
                <a:ext uri="{FF2B5EF4-FFF2-40B4-BE49-F238E27FC236}">
                  <a16:creationId xmlns:a16="http://schemas.microsoft.com/office/drawing/2014/main" id="{933D2C19-6D3B-208C-643C-4D9663A46931}"/>
                </a:ext>
              </a:extLst>
            </p:cNvPr>
            <p:cNvGrpSpPr/>
            <p:nvPr/>
          </p:nvGrpSpPr>
          <p:grpSpPr>
            <a:xfrm>
              <a:off x="2857500" y="5000625"/>
              <a:ext cx="1333500" cy="523875"/>
              <a:chOff x="2857500" y="5000625"/>
              <a:chExt cx="1333500" cy="523875"/>
            </a:xfrm>
          </p:grpSpPr>
          <p:sp>
            <p:nvSpPr>
              <p:cNvPr id="67" name="任意形状 66">
                <a:extLst>
                  <a:ext uri="{FF2B5EF4-FFF2-40B4-BE49-F238E27FC236}">
                    <a16:creationId xmlns:a16="http://schemas.microsoft.com/office/drawing/2014/main" id="{F5D33829-6AF0-85B7-9927-0BC6DFD58579}"/>
                  </a:ext>
                </a:extLst>
              </p:cNvPr>
              <p:cNvSpPr/>
              <p:nvPr/>
            </p:nvSpPr>
            <p:spPr>
              <a:xfrm>
                <a:off x="2857500" y="5000625"/>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68" name="文本框 67">
                <a:extLst>
                  <a:ext uri="{FF2B5EF4-FFF2-40B4-BE49-F238E27FC236}">
                    <a16:creationId xmlns:a16="http://schemas.microsoft.com/office/drawing/2014/main" id="{9C7C2C11-A1FB-B8BA-D61D-C3C0513081A5}"/>
                  </a:ext>
                </a:extLst>
              </p:cNvPr>
              <p:cNvSpPr txBox="1"/>
              <p:nvPr/>
            </p:nvSpPr>
            <p:spPr>
              <a:xfrm>
                <a:off x="3204210" y="5072088"/>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经济实力</a:t>
                </a:r>
              </a:p>
            </p:txBody>
          </p:sp>
          <p:sp>
            <p:nvSpPr>
              <p:cNvPr id="69" name="文本框 68">
                <a:extLst>
                  <a:ext uri="{FF2B5EF4-FFF2-40B4-BE49-F238E27FC236}">
                    <a16:creationId xmlns:a16="http://schemas.microsoft.com/office/drawing/2014/main" id="{7AC5F9C0-FD2F-5570-F873-18A71AFED9C8}"/>
                  </a:ext>
                </a:extLst>
              </p:cNvPr>
              <p:cNvSpPr txBox="1"/>
              <p:nvPr/>
            </p:nvSpPr>
            <p:spPr>
              <a:xfrm>
                <a:off x="3249723" y="5221167"/>
                <a:ext cx="549052"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8.55</a:t>
                </a:r>
              </a:p>
            </p:txBody>
          </p:sp>
        </p:grpSp>
        <p:grpSp>
          <p:nvGrpSpPr>
            <p:cNvPr id="70" name="SVG Image 6">
              <a:extLst>
                <a:ext uri="{FF2B5EF4-FFF2-40B4-BE49-F238E27FC236}">
                  <a16:creationId xmlns:a16="http://schemas.microsoft.com/office/drawing/2014/main" id="{E9511181-4B3D-22DE-FEFB-6C1E72EE6A84}"/>
                </a:ext>
              </a:extLst>
            </p:cNvPr>
            <p:cNvGrpSpPr/>
            <p:nvPr/>
          </p:nvGrpSpPr>
          <p:grpSpPr>
            <a:xfrm>
              <a:off x="4381500" y="5000625"/>
              <a:ext cx="1333500" cy="523875"/>
              <a:chOff x="4381500" y="5000625"/>
              <a:chExt cx="1333500" cy="523875"/>
            </a:xfrm>
          </p:grpSpPr>
          <p:sp>
            <p:nvSpPr>
              <p:cNvPr id="71" name="任意形状 70">
                <a:extLst>
                  <a:ext uri="{FF2B5EF4-FFF2-40B4-BE49-F238E27FC236}">
                    <a16:creationId xmlns:a16="http://schemas.microsoft.com/office/drawing/2014/main" id="{F10E38F6-6A0A-C0F4-458A-598335AB2D72}"/>
                  </a:ext>
                </a:extLst>
              </p:cNvPr>
              <p:cNvSpPr/>
              <p:nvPr/>
            </p:nvSpPr>
            <p:spPr>
              <a:xfrm>
                <a:off x="4381500" y="5000625"/>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72" name="文本框 71">
                <a:extLst>
                  <a:ext uri="{FF2B5EF4-FFF2-40B4-BE49-F238E27FC236}">
                    <a16:creationId xmlns:a16="http://schemas.microsoft.com/office/drawing/2014/main" id="{67F0D641-68D6-22CC-71EA-897E2452FA04}"/>
                  </a:ext>
                </a:extLst>
              </p:cNvPr>
              <p:cNvSpPr txBox="1"/>
              <p:nvPr/>
            </p:nvSpPr>
            <p:spPr>
              <a:xfrm>
                <a:off x="4728210" y="5072088"/>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财政实力</a:t>
                </a:r>
              </a:p>
            </p:txBody>
          </p:sp>
          <p:sp>
            <p:nvSpPr>
              <p:cNvPr id="73" name="文本框 72">
                <a:extLst>
                  <a:ext uri="{FF2B5EF4-FFF2-40B4-BE49-F238E27FC236}">
                    <a16:creationId xmlns:a16="http://schemas.microsoft.com/office/drawing/2014/main" id="{875DFCAE-91D1-21A5-85D3-7CD269D30990}"/>
                  </a:ext>
                </a:extLst>
              </p:cNvPr>
              <p:cNvSpPr txBox="1"/>
              <p:nvPr/>
            </p:nvSpPr>
            <p:spPr>
              <a:xfrm>
                <a:off x="4773723" y="5221167"/>
                <a:ext cx="549052"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8.86</a:t>
                </a:r>
              </a:p>
            </p:txBody>
          </p:sp>
        </p:grpSp>
        <p:grpSp>
          <p:nvGrpSpPr>
            <p:cNvPr id="74" name="SVG Image 6">
              <a:extLst>
                <a:ext uri="{FF2B5EF4-FFF2-40B4-BE49-F238E27FC236}">
                  <a16:creationId xmlns:a16="http://schemas.microsoft.com/office/drawing/2014/main" id="{5B7821E1-FD48-59A8-E0BA-E993D6076378}"/>
                </a:ext>
              </a:extLst>
            </p:cNvPr>
            <p:cNvGrpSpPr/>
            <p:nvPr/>
          </p:nvGrpSpPr>
          <p:grpSpPr>
            <a:xfrm>
              <a:off x="5905500" y="5000625"/>
              <a:ext cx="1333500" cy="523875"/>
              <a:chOff x="5905500" y="5000625"/>
              <a:chExt cx="1333500" cy="523875"/>
            </a:xfrm>
          </p:grpSpPr>
          <p:sp>
            <p:nvSpPr>
              <p:cNvPr id="75" name="任意形状 74">
                <a:extLst>
                  <a:ext uri="{FF2B5EF4-FFF2-40B4-BE49-F238E27FC236}">
                    <a16:creationId xmlns:a16="http://schemas.microsoft.com/office/drawing/2014/main" id="{B747BF2F-23CD-D367-427F-81809A0A2D60}"/>
                  </a:ext>
                </a:extLst>
              </p:cNvPr>
              <p:cNvSpPr/>
              <p:nvPr/>
            </p:nvSpPr>
            <p:spPr>
              <a:xfrm>
                <a:off x="5905500" y="5000625"/>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76" name="文本框 75">
                <a:extLst>
                  <a:ext uri="{FF2B5EF4-FFF2-40B4-BE49-F238E27FC236}">
                    <a16:creationId xmlns:a16="http://schemas.microsoft.com/office/drawing/2014/main" id="{BF1CDA42-F71E-B759-ECDB-83955D53B15C}"/>
                  </a:ext>
                </a:extLst>
              </p:cNvPr>
              <p:cNvSpPr txBox="1"/>
              <p:nvPr/>
            </p:nvSpPr>
            <p:spPr>
              <a:xfrm>
                <a:off x="6252210" y="5072088"/>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债务压力</a:t>
                </a:r>
              </a:p>
            </p:txBody>
          </p:sp>
          <p:sp>
            <p:nvSpPr>
              <p:cNvPr id="77" name="文本框 76">
                <a:extLst>
                  <a:ext uri="{FF2B5EF4-FFF2-40B4-BE49-F238E27FC236}">
                    <a16:creationId xmlns:a16="http://schemas.microsoft.com/office/drawing/2014/main" id="{31BB8972-1BD6-E3FD-A0E9-ED3C3D26505B}"/>
                  </a:ext>
                </a:extLst>
              </p:cNvPr>
              <p:cNvSpPr txBox="1"/>
              <p:nvPr/>
            </p:nvSpPr>
            <p:spPr>
              <a:xfrm>
                <a:off x="6297723" y="5221167"/>
                <a:ext cx="549052" cy="317723"/>
              </a:xfrm>
              <a:prstGeom prst="rect">
                <a:avLst/>
              </a:prstGeom>
              <a:noFill/>
            </p:spPr>
            <p:txBody>
              <a:bodyPr wrap="none" rtlCol="0">
                <a:spAutoFit/>
              </a:bodyPr>
              <a:lstStyle/>
              <a:p>
                <a:pPr algn="l"/>
                <a:r>
                  <a:rPr lang="zh-CN" altLang="en-US" sz="1350" b="1" spc="0" baseline="0">
                    <a:ln/>
                    <a:solidFill>
                      <a:srgbClr val="F59E0B"/>
                    </a:solidFill>
                    <a:latin typeface="微软雅黑"/>
                    <a:ea typeface="微软雅黑"/>
                    <a:sym typeface="微软雅黑"/>
                    <a:rtl val="0"/>
                  </a:rPr>
                  <a:t>8.24</a:t>
                </a:r>
              </a:p>
            </p:txBody>
          </p:sp>
        </p:grpSp>
        <p:grpSp>
          <p:nvGrpSpPr>
            <p:cNvPr id="78" name="SVG Image 6">
              <a:extLst>
                <a:ext uri="{FF2B5EF4-FFF2-40B4-BE49-F238E27FC236}">
                  <a16:creationId xmlns:a16="http://schemas.microsoft.com/office/drawing/2014/main" id="{AD552A7D-3FD7-75DC-A3D6-C33F87931D5C}"/>
                </a:ext>
              </a:extLst>
            </p:cNvPr>
            <p:cNvGrpSpPr/>
            <p:nvPr/>
          </p:nvGrpSpPr>
          <p:grpSpPr>
            <a:xfrm>
              <a:off x="2857500" y="5619750"/>
              <a:ext cx="1333500" cy="523875"/>
              <a:chOff x="2857500" y="5619750"/>
              <a:chExt cx="1333500" cy="523875"/>
            </a:xfrm>
          </p:grpSpPr>
          <p:sp>
            <p:nvSpPr>
              <p:cNvPr id="79" name="任意形状 78">
                <a:extLst>
                  <a:ext uri="{FF2B5EF4-FFF2-40B4-BE49-F238E27FC236}">
                    <a16:creationId xmlns:a16="http://schemas.microsoft.com/office/drawing/2014/main" id="{81BE5ED1-60F6-0B4B-6AB4-1437C6D76F5A}"/>
                  </a:ext>
                </a:extLst>
              </p:cNvPr>
              <p:cNvSpPr/>
              <p:nvPr/>
            </p:nvSpPr>
            <p:spPr>
              <a:xfrm>
                <a:off x="2857500" y="5619750"/>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80" name="文本框 79">
                <a:extLst>
                  <a:ext uri="{FF2B5EF4-FFF2-40B4-BE49-F238E27FC236}">
                    <a16:creationId xmlns:a16="http://schemas.microsoft.com/office/drawing/2014/main" id="{99ABD3FB-DAB5-2E02-8088-5A940A384AD0}"/>
                  </a:ext>
                </a:extLst>
              </p:cNvPr>
              <p:cNvSpPr txBox="1"/>
              <p:nvPr/>
            </p:nvSpPr>
            <p:spPr>
              <a:xfrm>
                <a:off x="3204210" y="5691213"/>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金融资源</a:t>
                </a:r>
              </a:p>
            </p:txBody>
          </p:sp>
          <p:sp>
            <p:nvSpPr>
              <p:cNvPr id="81" name="文本框 80">
                <a:extLst>
                  <a:ext uri="{FF2B5EF4-FFF2-40B4-BE49-F238E27FC236}">
                    <a16:creationId xmlns:a16="http://schemas.microsoft.com/office/drawing/2014/main" id="{1CB6C0C4-DA5A-BC10-3DC8-AEF5ED17A4DB}"/>
                  </a:ext>
                </a:extLst>
              </p:cNvPr>
              <p:cNvSpPr txBox="1"/>
              <p:nvPr/>
            </p:nvSpPr>
            <p:spPr>
              <a:xfrm>
                <a:off x="3249723" y="5840292"/>
                <a:ext cx="549052"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9.15</a:t>
                </a:r>
              </a:p>
            </p:txBody>
          </p:sp>
        </p:grpSp>
        <p:grpSp>
          <p:nvGrpSpPr>
            <p:cNvPr id="82" name="SVG Image 6">
              <a:extLst>
                <a:ext uri="{FF2B5EF4-FFF2-40B4-BE49-F238E27FC236}">
                  <a16:creationId xmlns:a16="http://schemas.microsoft.com/office/drawing/2014/main" id="{4B6CDDA9-98CF-DE6F-4834-591453313A29}"/>
                </a:ext>
              </a:extLst>
            </p:cNvPr>
            <p:cNvGrpSpPr/>
            <p:nvPr/>
          </p:nvGrpSpPr>
          <p:grpSpPr>
            <a:xfrm>
              <a:off x="4381500" y="5619750"/>
              <a:ext cx="1333500" cy="523875"/>
              <a:chOff x="4381500" y="5619750"/>
              <a:chExt cx="1333500" cy="523875"/>
            </a:xfrm>
          </p:grpSpPr>
          <p:sp>
            <p:nvSpPr>
              <p:cNvPr id="83" name="任意形状 82">
                <a:extLst>
                  <a:ext uri="{FF2B5EF4-FFF2-40B4-BE49-F238E27FC236}">
                    <a16:creationId xmlns:a16="http://schemas.microsoft.com/office/drawing/2014/main" id="{5BB0FD86-DAA9-3377-3DFA-01C1009B802F}"/>
                  </a:ext>
                </a:extLst>
              </p:cNvPr>
              <p:cNvSpPr/>
              <p:nvPr/>
            </p:nvSpPr>
            <p:spPr>
              <a:xfrm>
                <a:off x="4381500" y="5619750"/>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84" name="文本框 83">
                <a:extLst>
                  <a:ext uri="{FF2B5EF4-FFF2-40B4-BE49-F238E27FC236}">
                    <a16:creationId xmlns:a16="http://schemas.microsoft.com/office/drawing/2014/main" id="{9D2A6E73-257E-5AC9-AF8C-F33BDC8266D8}"/>
                  </a:ext>
                </a:extLst>
              </p:cNvPr>
              <p:cNvSpPr txBox="1"/>
              <p:nvPr/>
            </p:nvSpPr>
            <p:spPr>
              <a:xfrm>
                <a:off x="4728210" y="5691213"/>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信用风险</a:t>
                </a:r>
              </a:p>
            </p:txBody>
          </p:sp>
          <p:sp>
            <p:nvSpPr>
              <p:cNvPr id="85" name="文本框 84">
                <a:extLst>
                  <a:ext uri="{FF2B5EF4-FFF2-40B4-BE49-F238E27FC236}">
                    <a16:creationId xmlns:a16="http://schemas.microsoft.com/office/drawing/2014/main" id="{970271E2-0D14-1019-A93D-C9DADC5BDC80}"/>
                  </a:ext>
                </a:extLst>
              </p:cNvPr>
              <p:cNvSpPr txBox="1"/>
              <p:nvPr/>
            </p:nvSpPr>
            <p:spPr>
              <a:xfrm>
                <a:off x="4773723" y="5840292"/>
                <a:ext cx="549052" cy="317723"/>
              </a:xfrm>
              <a:prstGeom prst="rect">
                <a:avLst/>
              </a:prstGeom>
              <a:noFill/>
            </p:spPr>
            <p:txBody>
              <a:bodyPr wrap="none" rtlCol="0">
                <a:spAutoFit/>
              </a:bodyPr>
              <a:lstStyle/>
              <a:p>
                <a:pPr algn="l"/>
                <a:r>
                  <a:rPr lang="zh-CN" altLang="en-US" sz="1350" b="1" spc="0" baseline="0">
                    <a:ln/>
                    <a:solidFill>
                      <a:srgbClr val="2ECC71"/>
                    </a:solidFill>
                    <a:latin typeface="微软雅黑"/>
                    <a:ea typeface="微软雅黑"/>
                    <a:sym typeface="微软雅黑"/>
                    <a:rtl val="0"/>
                  </a:rPr>
                  <a:t>9.48</a:t>
                </a:r>
              </a:p>
            </p:txBody>
          </p:sp>
        </p:grpSp>
        <p:grpSp>
          <p:nvGrpSpPr>
            <p:cNvPr id="86" name="SVG Image 6">
              <a:extLst>
                <a:ext uri="{FF2B5EF4-FFF2-40B4-BE49-F238E27FC236}">
                  <a16:creationId xmlns:a16="http://schemas.microsoft.com/office/drawing/2014/main" id="{1737E6E6-6C26-5C7A-E95E-9CAC094A1086}"/>
                </a:ext>
              </a:extLst>
            </p:cNvPr>
            <p:cNvGrpSpPr/>
            <p:nvPr/>
          </p:nvGrpSpPr>
          <p:grpSpPr>
            <a:xfrm>
              <a:off x="5905500" y="5619750"/>
              <a:ext cx="1333500" cy="523875"/>
              <a:chOff x="5905500" y="5619750"/>
              <a:chExt cx="1333500" cy="523875"/>
            </a:xfrm>
          </p:grpSpPr>
          <p:sp>
            <p:nvSpPr>
              <p:cNvPr id="87" name="任意形状 86">
                <a:extLst>
                  <a:ext uri="{FF2B5EF4-FFF2-40B4-BE49-F238E27FC236}">
                    <a16:creationId xmlns:a16="http://schemas.microsoft.com/office/drawing/2014/main" id="{7232FE32-556F-71C4-32FD-66F910F2A645}"/>
                  </a:ext>
                </a:extLst>
              </p:cNvPr>
              <p:cNvSpPr/>
              <p:nvPr/>
            </p:nvSpPr>
            <p:spPr>
              <a:xfrm>
                <a:off x="5905500" y="5619750"/>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88" name="文本框 87">
                <a:extLst>
                  <a:ext uri="{FF2B5EF4-FFF2-40B4-BE49-F238E27FC236}">
                    <a16:creationId xmlns:a16="http://schemas.microsoft.com/office/drawing/2014/main" id="{CEC788DA-7801-3A67-6138-57781A450298}"/>
                  </a:ext>
                </a:extLst>
              </p:cNvPr>
              <p:cNvSpPr txBox="1"/>
              <p:nvPr/>
            </p:nvSpPr>
            <p:spPr>
              <a:xfrm>
                <a:off x="6252210" y="5691213"/>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科创能力</a:t>
                </a:r>
              </a:p>
            </p:txBody>
          </p:sp>
          <p:sp>
            <p:nvSpPr>
              <p:cNvPr id="89" name="文本框 88">
                <a:extLst>
                  <a:ext uri="{FF2B5EF4-FFF2-40B4-BE49-F238E27FC236}">
                    <a16:creationId xmlns:a16="http://schemas.microsoft.com/office/drawing/2014/main" id="{B4D7D833-A5B0-310E-44BB-6ABDC6C76793}"/>
                  </a:ext>
                </a:extLst>
              </p:cNvPr>
              <p:cNvSpPr txBox="1"/>
              <p:nvPr/>
            </p:nvSpPr>
            <p:spPr>
              <a:xfrm>
                <a:off x="6297723" y="5840292"/>
                <a:ext cx="549052"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8.93</a:t>
                </a:r>
              </a:p>
            </p:txBody>
          </p:sp>
        </p:grpSp>
        <p:sp>
          <p:nvSpPr>
            <p:cNvPr id="90" name="任意形状 89">
              <a:extLst>
                <a:ext uri="{FF2B5EF4-FFF2-40B4-BE49-F238E27FC236}">
                  <a16:creationId xmlns:a16="http://schemas.microsoft.com/office/drawing/2014/main" id="{EF084A76-C758-1747-8E97-1FF78FEABE72}"/>
                </a:ext>
              </a:extLst>
            </p:cNvPr>
            <p:cNvSpPr/>
            <p:nvPr/>
          </p:nvSpPr>
          <p:spPr>
            <a:xfrm>
              <a:off x="7620000" y="5000625"/>
              <a:ext cx="3810000" cy="1143000"/>
            </a:xfrm>
            <a:custGeom>
              <a:avLst/>
              <a:gdLst>
                <a:gd name="csX0" fmla="*/ 76200 w 3810000"/>
                <a:gd name="csY0" fmla="*/ 0 h 1143000"/>
                <a:gd name="csX1" fmla="*/ 3733800 w 3810000"/>
                <a:gd name="csY1" fmla="*/ 0 h 1143000"/>
                <a:gd name="csX2" fmla="*/ 3810000 w 3810000"/>
                <a:gd name="csY2" fmla="*/ 76200 h 1143000"/>
                <a:gd name="csX3" fmla="*/ 3810000 w 3810000"/>
                <a:gd name="csY3" fmla="*/ 1066800 h 1143000"/>
                <a:gd name="csX4" fmla="*/ 3733800 w 3810000"/>
                <a:gd name="csY4" fmla="*/ 1143000 h 1143000"/>
                <a:gd name="csX5" fmla="*/ 76200 w 3810000"/>
                <a:gd name="csY5" fmla="*/ 1143000 h 1143000"/>
                <a:gd name="csX6" fmla="*/ 0 w 3810000"/>
                <a:gd name="csY6" fmla="*/ 1066800 h 1143000"/>
                <a:gd name="csX7" fmla="*/ 0 w 3810000"/>
                <a:gd name="csY7" fmla="*/ 76200 h 1143000"/>
                <a:gd name="csX8" fmla="*/ 76200 w 3810000"/>
                <a:gd name="csY8" fmla="*/ 0 h 114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00" h="1143000">
                  <a:moveTo>
                    <a:pt x="76200" y="0"/>
                  </a:moveTo>
                  <a:lnTo>
                    <a:pt x="3733800" y="0"/>
                  </a:lnTo>
                  <a:cubicBezTo>
                    <a:pt x="3775885" y="0"/>
                    <a:pt x="3810000" y="34116"/>
                    <a:pt x="3810000" y="76200"/>
                  </a:cubicBezTo>
                  <a:lnTo>
                    <a:pt x="3810000" y="1066800"/>
                  </a:lnTo>
                  <a:cubicBezTo>
                    <a:pt x="3810000" y="1108884"/>
                    <a:pt x="3775885" y="1143000"/>
                    <a:pt x="3733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9525" cap="flat">
              <a:noFill/>
              <a:prstDash val="solid"/>
              <a:miter/>
            </a:ln>
          </p:spPr>
          <p:txBody>
            <a:bodyPr/>
            <a:lstStyle/>
            <a:p>
              <a:endParaRPr lang="zh-CN" altLang="en-US"/>
            </a:p>
          </p:txBody>
        </p:sp>
        <p:sp>
          <p:nvSpPr>
            <p:cNvPr id="91" name="文本框 90">
              <a:extLst>
                <a:ext uri="{FF2B5EF4-FFF2-40B4-BE49-F238E27FC236}">
                  <a16:creationId xmlns:a16="http://schemas.microsoft.com/office/drawing/2014/main" id="{BB7EC269-9D48-94F9-84F4-AF8DB920C0BA}"/>
                </a:ext>
              </a:extLst>
            </p:cNvPr>
            <p:cNvSpPr txBox="1"/>
            <p:nvPr/>
          </p:nvSpPr>
          <p:spPr>
            <a:xfrm>
              <a:off x="7814310" y="5099556"/>
              <a:ext cx="716280"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评分解读</a:t>
              </a:r>
            </a:p>
          </p:txBody>
        </p:sp>
        <p:sp>
          <p:nvSpPr>
            <p:cNvPr id="92" name="文本框 91">
              <a:extLst>
                <a:ext uri="{FF2B5EF4-FFF2-40B4-BE49-F238E27FC236}">
                  <a16:creationId xmlns:a16="http://schemas.microsoft.com/office/drawing/2014/main" id="{43CC07C8-56A8-C871-1AE6-BC1CCB3EC875}"/>
                </a:ext>
              </a:extLst>
            </p:cNvPr>
            <p:cNvSpPr txBox="1"/>
            <p:nvPr/>
          </p:nvSpPr>
          <p:spPr>
            <a:xfrm>
              <a:off x="7814310" y="5395385"/>
              <a:ext cx="175983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 综合实力处于全国领先水平</a:t>
              </a:r>
            </a:p>
          </p:txBody>
        </p:sp>
        <p:sp>
          <p:nvSpPr>
            <p:cNvPr id="93" name="文本框 92">
              <a:extLst>
                <a:ext uri="{FF2B5EF4-FFF2-40B4-BE49-F238E27FC236}">
                  <a16:creationId xmlns:a16="http://schemas.microsoft.com/office/drawing/2014/main" id="{7D53F400-7E9F-117A-F782-726165C9DBD9}"/>
                </a:ext>
              </a:extLst>
            </p:cNvPr>
            <p:cNvSpPr txBox="1"/>
            <p:nvPr/>
          </p:nvSpPr>
          <p:spPr>
            <a:xfrm>
              <a:off x="7814310" y="5604935"/>
              <a:ext cx="2378959"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 信用风险可控，城投利差处于历史低位</a:t>
              </a:r>
            </a:p>
          </p:txBody>
        </p:sp>
        <p:sp>
          <p:nvSpPr>
            <p:cNvPr id="94" name="文本框 93">
              <a:extLst>
                <a:ext uri="{FF2B5EF4-FFF2-40B4-BE49-F238E27FC236}">
                  <a16:creationId xmlns:a16="http://schemas.microsoft.com/office/drawing/2014/main" id="{F70B216F-8FDE-F3BD-6F46-0746A9D33410}"/>
                </a:ext>
              </a:extLst>
            </p:cNvPr>
            <p:cNvSpPr txBox="1"/>
            <p:nvPr/>
          </p:nvSpPr>
          <p:spPr>
            <a:xfrm>
              <a:off x="7814310" y="5814485"/>
              <a:ext cx="175983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 金融资源丰富，科创能力强</a:t>
              </a:r>
            </a:p>
          </p:txBody>
        </p:sp>
      </p:grpSp>
      <p:sp>
        <p:nvSpPr>
          <p:cNvPr id="95" name="矩形 94">
            <a:extLst>
              <a:ext uri="{FF2B5EF4-FFF2-40B4-BE49-F238E27FC236}">
                <a16:creationId xmlns:a16="http://schemas.microsoft.com/office/drawing/2014/main" id="{423D6529-0524-E053-7554-4AD5CDE18D16}"/>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4E49E5A-F31A-7FEF-18F0-E682EA037AFA}"/>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FBD899DE-9285-8355-AC24-9C96243884DC}"/>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9B246E07-BC7F-740F-3163-E54E83FB628D}"/>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955C2D6F-1F34-C53D-1772-2457E1E1650E}"/>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ACD04168-88E4-3096-7097-A12A9379CD88}"/>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F6A705CF-6362-F788-56F9-699A523BE865}"/>
              </a:ext>
            </a:extLst>
          </p:cNvPr>
          <p:cNvSpPr txBox="1"/>
          <p:nvPr/>
        </p:nvSpPr>
        <p:spPr>
          <a:xfrm>
            <a:off x="2004060" y="175131"/>
            <a:ext cx="104548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02 财政及债务</a:t>
            </a:r>
          </a:p>
        </p:txBody>
      </p:sp>
      <p:sp>
        <p:nvSpPr>
          <p:cNvPr id="10" name="文本框 9">
            <a:extLst>
              <a:ext uri="{FF2B5EF4-FFF2-40B4-BE49-F238E27FC236}">
                <a16:creationId xmlns:a16="http://schemas.microsoft.com/office/drawing/2014/main" id="{33C63017-3230-172D-9DDE-D17C54FDADE2}"/>
              </a:ext>
            </a:extLst>
          </p:cNvPr>
          <p:cNvSpPr txBox="1"/>
          <p:nvPr/>
        </p:nvSpPr>
        <p:spPr>
          <a:xfrm>
            <a:off x="11158570" y="175131"/>
            <a:ext cx="55336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8 / 20</a:t>
            </a:r>
          </a:p>
        </p:txBody>
      </p:sp>
      <p:sp>
        <p:nvSpPr>
          <p:cNvPr id="11" name="矩形 10">
            <a:extLst>
              <a:ext uri="{FF2B5EF4-FFF2-40B4-BE49-F238E27FC236}">
                <a16:creationId xmlns:a16="http://schemas.microsoft.com/office/drawing/2014/main" id="{D95FE827-3FBB-9F70-A3C9-23E7DB1EAA4C}"/>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AD3B7D9C-BCF2-0056-9E9D-377155B47FD1}"/>
              </a:ext>
            </a:extLst>
          </p:cNvPr>
          <p:cNvSpPr txBox="1"/>
          <p:nvPr/>
        </p:nvSpPr>
        <p:spPr>
          <a:xfrm>
            <a:off x="480060" y="672208"/>
            <a:ext cx="1734245"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2.1 财政实力</a:t>
            </a:r>
          </a:p>
        </p:txBody>
      </p:sp>
      <p:grpSp>
        <p:nvGrpSpPr>
          <p:cNvPr id="13" name="SVG Image 8">
            <a:extLst>
              <a:ext uri="{FF2B5EF4-FFF2-40B4-BE49-F238E27FC236}">
                <a16:creationId xmlns:a16="http://schemas.microsoft.com/office/drawing/2014/main" id="{C9451D0A-BD44-97BD-2EE7-1D042BC58C37}"/>
              </a:ext>
            </a:extLst>
          </p:cNvPr>
          <p:cNvGrpSpPr/>
          <p:nvPr/>
        </p:nvGrpSpPr>
        <p:grpSpPr>
          <a:xfrm>
            <a:off x="571500" y="1285875"/>
            <a:ext cx="2667000" cy="1333500"/>
            <a:chOff x="571500" y="1285875"/>
            <a:chExt cx="2667000" cy="1333500"/>
          </a:xfrm>
        </p:grpSpPr>
        <p:sp>
          <p:nvSpPr>
            <p:cNvPr id="14" name="任意形状 13">
              <a:extLst>
                <a:ext uri="{FF2B5EF4-FFF2-40B4-BE49-F238E27FC236}">
                  <a16:creationId xmlns:a16="http://schemas.microsoft.com/office/drawing/2014/main" id="{0766E3DE-0997-FBCA-84E0-75D476A0B304}"/>
                </a:ext>
              </a:extLst>
            </p:cNvPr>
            <p:cNvSpPr/>
            <p:nvPr/>
          </p:nvSpPr>
          <p:spPr>
            <a:xfrm>
              <a:off x="571500" y="1285875"/>
              <a:ext cx="2667000" cy="1333500"/>
            </a:xfrm>
            <a:custGeom>
              <a:avLst/>
              <a:gdLst>
                <a:gd name="csX0" fmla="*/ 76200 w 2667000"/>
                <a:gd name="csY0" fmla="*/ 0 h 1333500"/>
                <a:gd name="csX1" fmla="*/ 2590800 w 2667000"/>
                <a:gd name="csY1" fmla="*/ 0 h 1333500"/>
                <a:gd name="csX2" fmla="*/ 2667000 w 2667000"/>
                <a:gd name="csY2" fmla="*/ 76200 h 1333500"/>
                <a:gd name="csX3" fmla="*/ 2667000 w 2667000"/>
                <a:gd name="csY3" fmla="*/ 1257300 h 1333500"/>
                <a:gd name="csX4" fmla="*/ 2590800 w 2667000"/>
                <a:gd name="csY4" fmla="*/ 1333500 h 1333500"/>
                <a:gd name="csX5" fmla="*/ 76200 w 2667000"/>
                <a:gd name="csY5" fmla="*/ 1333500 h 1333500"/>
                <a:gd name="csX6" fmla="*/ 0 w 2667000"/>
                <a:gd name="csY6" fmla="*/ 1257300 h 1333500"/>
                <a:gd name="csX7" fmla="*/ 0 w 2667000"/>
                <a:gd name="csY7" fmla="*/ 76200 h 1333500"/>
                <a:gd name="csX8" fmla="*/ 76200 w 26670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333500">
                  <a:moveTo>
                    <a:pt x="76200" y="0"/>
                  </a:moveTo>
                  <a:lnTo>
                    <a:pt x="2590800" y="0"/>
                  </a:lnTo>
                  <a:cubicBezTo>
                    <a:pt x="2632884" y="0"/>
                    <a:pt x="2667000" y="34116"/>
                    <a:pt x="2667000" y="76200"/>
                  </a:cubicBezTo>
                  <a:lnTo>
                    <a:pt x="2667000" y="1257300"/>
                  </a:lnTo>
                  <a:cubicBezTo>
                    <a:pt x="2667000" y="1299384"/>
                    <a:pt x="2632884" y="1333500"/>
                    <a:pt x="2590800" y="1333500"/>
                  </a:cubicBezTo>
                  <a:lnTo>
                    <a:pt x="76200" y="1333500"/>
                  </a:lnTo>
                  <a:cubicBezTo>
                    <a:pt x="34116" y="1333500"/>
                    <a:pt x="0" y="1299384"/>
                    <a:pt x="0" y="1257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5" name="任意形状 14">
              <a:extLst>
                <a:ext uri="{FF2B5EF4-FFF2-40B4-BE49-F238E27FC236}">
                  <a16:creationId xmlns:a16="http://schemas.microsoft.com/office/drawing/2014/main" id="{F586B530-7A85-3853-4602-D5AFF545D799}"/>
                </a:ext>
              </a:extLst>
            </p:cNvPr>
            <p:cNvSpPr/>
            <p:nvPr/>
          </p:nvSpPr>
          <p:spPr>
            <a:xfrm>
              <a:off x="571500" y="1285875"/>
              <a:ext cx="38100" cy="1333500"/>
            </a:xfrm>
            <a:custGeom>
              <a:avLst/>
              <a:gdLst>
                <a:gd name="csX0" fmla="*/ 19050 w 38100"/>
                <a:gd name="csY0" fmla="*/ 0 h 1333500"/>
                <a:gd name="csX1" fmla="*/ 19050 w 38100"/>
                <a:gd name="csY1" fmla="*/ 0 h 1333500"/>
                <a:gd name="csX2" fmla="*/ 38100 w 38100"/>
                <a:gd name="csY2" fmla="*/ 19050 h 1333500"/>
                <a:gd name="csX3" fmla="*/ 38100 w 38100"/>
                <a:gd name="csY3" fmla="*/ 1314450 h 1333500"/>
                <a:gd name="csX4" fmla="*/ 19050 w 38100"/>
                <a:gd name="csY4" fmla="*/ 1333500 h 1333500"/>
                <a:gd name="csX5" fmla="*/ 19050 w 38100"/>
                <a:gd name="csY5" fmla="*/ 1333500 h 1333500"/>
                <a:gd name="csX6" fmla="*/ 0 w 38100"/>
                <a:gd name="csY6" fmla="*/ 1314450 h 1333500"/>
                <a:gd name="csX7" fmla="*/ 0 w 38100"/>
                <a:gd name="csY7" fmla="*/ 19050 h 1333500"/>
                <a:gd name="csX8" fmla="*/ 19050 w 381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333500">
                  <a:moveTo>
                    <a:pt x="19050" y="0"/>
                  </a:moveTo>
                  <a:lnTo>
                    <a:pt x="19050" y="0"/>
                  </a:lnTo>
                  <a:cubicBezTo>
                    <a:pt x="29571" y="0"/>
                    <a:pt x="38100" y="8529"/>
                    <a:pt x="38100" y="19050"/>
                  </a:cubicBezTo>
                  <a:lnTo>
                    <a:pt x="38100" y="1314450"/>
                  </a:lnTo>
                  <a:cubicBezTo>
                    <a:pt x="38100" y="1324971"/>
                    <a:pt x="29571" y="1333500"/>
                    <a:pt x="19050" y="1333500"/>
                  </a:cubicBezTo>
                  <a:lnTo>
                    <a:pt x="19050" y="1333500"/>
                  </a:lnTo>
                  <a:cubicBezTo>
                    <a:pt x="8529" y="1333500"/>
                    <a:pt x="0" y="1324971"/>
                    <a:pt x="0" y="131445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16" name="文本框 15">
              <a:extLst>
                <a:ext uri="{FF2B5EF4-FFF2-40B4-BE49-F238E27FC236}">
                  <a16:creationId xmlns:a16="http://schemas.microsoft.com/office/drawing/2014/main" id="{3CDFB497-0208-18A3-3819-353FA2FB1CAA}"/>
                </a:ext>
              </a:extLst>
            </p:cNvPr>
            <p:cNvSpPr txBox="1"/>
            <p:nvPr/>
          </p:nvSpPr>
          <p:spPr>
            <a:xfrm>
              <a:off x="718185" y="1432431"/>
              <a:ext cx="12496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一般公共预算收入</a:t>
              </a:r>
            </a:p>
          </p:txBody>
        </p:sp>
        <p:sp>
          <p:nvSpPr>
            <p:cNvPr id="17" name="文本框 16">
              <a:extLst>
                <a:ext uri="{FF2B5EF4-FFF2-40B4-BE49-F238E27FC236}">
                  <a16:creationId xmlns:a16="http://schemas.microsoft.com/office/drawing/2014/main" id="{4ACC9B12-7AE7-F2C9-086B-A46CC20E64DA}"/>
                </a:ext>
              </a:extLst>
            </p:cNvPr>
            <p:cNvSpPr txBox="1"/>
            <p:nvPr/>
          </p:nvSpPr>
          <p:spPr>
            <a:xfrm>
              <a:off x="718185" y="1674109"/>
              <a:ext cx="1891687"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2,595.55</a:t>
              </a:r>
            </a:p>
          </p:txBody>
        </p:sp>
        <p:sp>
          <p:nvSpPr>
            <p:cNvPr id="18" name="文本框 17">
              <a:extLst>
                <a:ext uri="{FF2B5EF4-FFF2-40B4-BE49-F238E27FC236}">
                  <a16:creationId xmlns:a16="http://schemas.microsoft.com/office/drawing/2014/main" id="{5C379DC4-DBA3-5ABD-A663-CF511BD1A058}"/>
                </a:ext>
              </a:extLst>
            </p:cNvPr>
            <p:cNvSpPr txBox="1"/>
            <p:nvPr/>
          </p:nvSpPr>
          <p:spPr>
            <a:xfrm>
              <a:off x="2575560" y="1936149"/>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19" name="任意形状 18">
              <a:extLst>
                <a:ext uri="{FF2B5EF4-FFF2-40B4-BE49-F238E27FC236}">
                  <a16:creationId xmlns:a16="http://schemas.microsoft.com/office/drawing/2014/main" id="{A99324F8-F31F-C7AF-6807-288030A36325}"/>
                </a:ext>
              </a:extLst>
            </p:cNvPr>
            <p:cNvSpPr/>
            <p:nvPr/>
          </p:nvSpPr>
          <p:spPr>
            <a:xfrm>
              <a:off x="809625" y="2286000"/>
              <a:ext cx="762000" cy="209550"/>
            </a:xfrm>
            <a:custGeom>
              <a:avLst/>
              <a:gdLst>
                <a:gd name="csX0" fmla="*/ 38100 w 762000"/>
                <a:gd name="csY0" fmla="*/ 0 h 209550"/>
                <a:gd name="csX1" fmla="*/ 723900 w 762000"/>
                <a:gd name="csY1" fmla="*/ 0 h 209550"/>
                <a:gd name="csX2" fmla="*/ 762000 w 762000"/>
                <a:gd name="csY2" fmla="*/ 38100 h 209550"/>
                <a:gd name="csX3" fmla="*/ 762000 w 762000"/>
                <a:gd name="csY3" fmla="*/ 171450 h 209550"/>
                <a:gd name="csX4" fmla="*/ 723900 w 762000"/>
                <a:gd name="csY4" fmla="*/ 209550 h 209550"/>
                <a:gd name="csX5" fmla="*/ 38100 w 762000"/>
                <a:gd name="csY5" fmla="*/ 209550 h 209550"/>
                <a:gd name="csX6" fmla="*/ 0 w 762000"/>
                <a:gd name="csY6" fmla="*/ 171450 h 209550"/>
                <a:gd name="csX7" fmla="*/ 0 w 762000"/>
                <a:gd name="csY7" fmla="*/ 38100 h 209550"/>
                <a:gd name="csX8" fmla="*/ 38100 w 7620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0" h="209550">
                  <a:moveTo>
                    <a:pt x="38100" y="0"/>
                  </a:moveTo>
                  <a:lnTo>
                    <a:pt x="723900" y="0"/>
                  </a:lnTo>
                  <a:cubicBezTo>
                    <a:pt x="744942" y="0"/>
                    <a:pt x="762000" y="17058"/>
                    <a:pt x="762000" y="38100"/>
                  </a:cubicBezTo>
                  <a:lnTo>
                    <a:pt x="762000" y="171450"/>
                  </a:lnTo>
                  <a:cubicBezTo>
                    <a:pt x="762000" y="192492"/>
                    <a:pt x="744942" y="209550"/>
                    <a:pt x="723900" y="209550"/>
                  </a:cubicBezTo>
                  <a:lnTo>
                    <a:pt x="38100" y="209550"/>
                  </a:lnTo>
                  <a:cubicBezTo>
                    <a:pt x="17058" y="209550"/>
                    <a:pt x="0" y="192492"/>
                    <a:pt x="0" y="1714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20" name="文本框 19">
              <a:extLst>
                <a:ext uri="{FF2B5EF4-FFF2-40B4-BE49-F238E27FC236}">
                  <a16:creationId xmlns:a16="http://schemas.microsoft.com/office/drawing/2014/main" id="{9E24C2E8-5C83-3461-1BEA-70EDA6E5292D}"/>
                </a:ext>
              </a:extLst>
            </p:cNvPr>
            <p:cNvSpPr txBox="1"/>
            <p:nvPr/>
          </p:nvSpPr>
          <p:spPr>
            <a:xfrm>
              <a:off x="803556" y="2271738"/>
              <a:ext cx="774136"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全国第19位</a:t>
              </a:r>
            </a:p>
          </p:txBody>
        </p:sp>
        <p:sp>
          <p:nvSpPr>
            <p:cNvPr id="21" name="文本框 20">
              <a:extLst>
                <a:ext uri="{FF2B5EF4-FFF2-40B4-BE49-F238E27FC236}">
                  <a16:creationId xmlns:a16="http://schemas.microsoft.com/office/drawing/2014/main" id="{934CEA47-8376-2269-D927-965E591BE13A}"/>
                </a:ext>
              </a:extLst>
            </p:cNvPr>
            <p:cNvSpPr txBox="1"/>
            <p:nvPr/>
          </p:nvSpPr>
          <p:spPr>
            <a:xfrm>
              <a:off x="1623060" y="2271738"/>
              <a:ext cx="660115"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6.30%</a:t>
              </a:r>
            </a:p>
          </p:txBody>
        </p:sp>
      </p:grpSp>
      <p:grpSp>
        <p:nvGrpSpPr>
          <p:cNvPr id="22" name="SVG Image 8">
            <a:extLst>
              <a:ext uri="{FF2B5EF4-FFF2-40B4-BE49-F238E27FC236}">
                <a16:creationId xmlns:a16="http://schemas.microsoft.com/office/drawing/2014/main" id="{76733606-4210-C9D4-3A7F-3DD84AFD441B}"/>
              </a:ext>
            </a:extLst>
          </p:cNvPr>
          <p:cNvGrpSpPr/>
          <p:nvPr/>
        </p:nvGrpSpPr>
        <p:grpSpPr>
          <a:xfrm>
            <a:off x="3429000" y="1285875"/>
            <a:ext cx="2667000" cy="1333500"/>
            <a:chOff x="3429000" y="1285875"/>
            <a:chExt cx="2667000" cy="1333500"/>
          </a:xfrm>
        </p:grpSpPr>
        <p:sp>
          <p:nvSpPr>
            <p:cNvPr id="23" name="任意形状 22">
              <a:extLst>
                <a:ext uri="{FF2B5EF4-FFF2-40B4-BE49-F238E27FC236}">
                  <a16:creationId xmlns:a16="http://schemas.microsoft.com/office/drawing/2014/main" id="{A6B586FF-925F-8C40-BAD6-F73790FEC423}"/>
                </a:ext>
              </a:extLst>
            </p:cNvPr>
            <p:cNvSpPr/>
            <p:nvPr/>
          </p:nvSpPr>
          <p:spPr>
            <a:xfrm>
              <a:off x="3429000" y="1285875"/>
              <a:ext cx="2667000" cy="1333500"/>
            </a:xfrm>
            <a:custGeom>
              <a:avLst/>
              <a:gdLst>
                <a:gd name="csX0" fmla="*/ 76200 w 2667000"/>
                <a:gd name="csY0" fmla="*/ 0 h 1333500"/>
                <a:gd name="csX1" fmla="*/ 2590800 w 2667000"/>
                <a:gd name="csY1" fmla="*/ 0 h 1333500"/>
                <a:gd name="csX2" fmla="*/ 2667000 w 2667000"/>
                <a:gd name="csY2" fmla="*/ 76200 h 1333500"/>
                <a:gd name="csX3" fmla="*/ 2667000 w 2667000"/>
                <a:gd name="csY3" fmla="*/ 1257300 h 1333500"/>
                <a:gd name="csX4" fmla="*/ 2590800 w 2667000"/>
                <a:gd name="csY4" fmla="*/ 1333500 h 1333500"/>
                <a:gd name="csX5" fmla="*/ 76200 w 2667000"/>
                <a:gd name="csY5" fmla="*/ 1333500 h 1333500"/>
                <a:gd name="csX6" fmla="*/ 0 w 2667000"/>
                <a:gd name="csY6" fmla="*/ 1257300 h 1333500"/>
                <a:gd name="csX7" fmla="*/ 0 w 2667000"/>
                <a:gd name="csY7" fmla="*/ 76200 h 1333500"/>
                <a:gd name="csX8" fmla="*/ 76200 w 26670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333500">
                  <a:moveTo>
                    <a:pt x="76200" y="0"/>
                  </a:moveTo>
                  <a:lnTo>
                    <a:pt x="2590800" y="0"/>
                  </a:lnTo>
                  <a:cubicBezTo>
                    <a:pt x="2632884" y="0"/>
                    <a:pt x="2667000" y="34116"/>
                    <a:pt x="2667000" y="76200"/>
                  </a:cubicBezTo>
                  <a:lnTo>
                    <a:pt x="2667000" y="1257300"/>
                  </a:lnTo>
                  <a:cubicBezTo>
                    <a:pt x="2667000" y="1299384"/>
                    <a:pt x="2632884" y="1333500"/>
                    <a:pt x="2590800" y="1333500"/>
                  </a:cubicBezTo>
                  <a:lnTo>
                    <a:pt x="76200" y="1333500"/>
                  </a:lnTo>
                  <a:cubicBezTo>
                    <a:pt x="34116" y="1333500"/>
                    <a:pt x="0" y="1299384"/>
                    <a:pt x="0" y="1257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4" name="任意形状 23">
              <a:extLst>
                <a:ext uri="{FF2B5EF4-FFF2-40B4-BE49-F238E27FC236}">
                  <a16:creationId xmlns:a16="http://schemas.microsoft.com/office/drawing/2014/main" id="{94DC4F76-8D67-1E5B-2FBD-F355B529D5AF}"/>
                </a:ext>
              </a:extLst>
            </p:cNvPr>
            <p:cNvSpPr/>
            <p:nvPr/>
          </p:nvSpPr>
          <p:spPr>
            <a:xfrm>
              <a:off x="3429000" y="1285875"/>
              <a:ext cx="38100" cy="1333500"/>
            </a:xfrm>
            <a:custGeom>
              <a:avLst/>
              <a:gdLst>
                <a:gd name="csX0" fmla="*/ 19050 w 38100"/>
                <a:gd name="csY0" fmla="*/ 0 h 1333500"/>
                <a:gd name="csX1" fmla="*/ 19050 w 38100"/>
                <a:gd name="csY1" fmla="*/ 0 h 1333500"/>
                <a:gd name="csX2" fmla="*/ 38100 w 38100"/>
                <a:gd name="csY2" fmla="*/ 19050 h 1333500"/>
                <a:gd name="csX3" fmla="*/ 38100 w 38100"/>
                <a:gd name="csY3" fmla="*/ 1314450 h 1333500"/>
                <a:gd name="csX4" fmla="*/ 19050 w 38100"/>
                <a:gd name="csY4" fmla="*/ 1333500 h 1333500"/>
                <a:gd name="csX5" fmla="*/ 19050 w 38100"/>
                <a:gd name="csY5" fmla="*/ 1333500 h 1333500"/>
                <a:gd name="csX6" fmla="*/ 0 w 38100"/>
                <a:gd name="csY6" fmla="*/ 1314450 h 1333500"/>
                <a:gd name="csX7" fmla="*/ 0 w 38100"/>
                <a:gd name="csY7" fmla="*/ 19050 h 1333500"/>
                <a:gd name="csX8" fmla="*/ 19050 w 381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333500">
                  <a:moveTo>
                    <a:pt x="19050" y="0"/>
                  </a:moveTo>
                  <a:lnTo>
                    <a:pt x="19050" y="0"/>
                  </a:lnTo>
                  <a:cubicBezTo>
                    <a:pt x="29571" y="0"/>
                    <a:pt x="38100" y="8529"/>
                    <a:pt x="38100" y="19050"/>
                  </a:cubicBezTo>
                  <a:lnTo>
                    <a:pt x="38100" y="1314450"/>
                  </a:lnTo>
                  <a:cubicBezTo>
                    <a:pt x="38100" y="1324971"/>
                    <a:pt x="29571" y="1333500"/>
                    <a:pt x="19050" y="1333500"/>
                  </a:cubicBezTo>
                  <a:lnTo>
                    <a:pt x="19050" y="1333500"/>
                  </a:lnTo>
                  <a:cubicBezTo>
                    <a:pt x="8529" y="1333500"/>
                    <a:pt x="0" y="1324971"/>
                    <a:pt x="0" y="131445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25" name="文本框 24">
              <a:extLst>
                <a:ext uri="{FF2B5EF4-FFF2-40B4-BE49-F238E27FC236}">
                  <a16:creationId xmlns:a16="http://schemas.microsoft.com/office/drawing/2014/main" id="{9CEB16F6-1DCE-1F99-6EAC-5558732EE91E}"/>
                </a:ext>
              </a:extLst>
            </p:cNvPr>
            <p:cNvSpPr txBox="1"/>
            <p:nvPr/>
          </p:nvSpPr>
          <p:spPr>
            <a:xfrm>
              <a:off x="3575685" y="1432431"/>
              <a:ext cx="11163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政府性基金收入</a:t>
              </a:r>
            </a:p>
          </p:txBody>
        </p:sp>
        <p:sp>
          <p:nvSpPr>
            <p:cNvPr id="26" name="文本框 25">
              <a:extLst>
                <a:ext uri="{FF2B5EF4-FFF2-40B4-BE49-F238E27FC236}">
                  <a16:creationId xmlns:a16="http://schemas.microsoft.com/office/drawing/2014/main" id="{12FCFAE1-7831-2D61-D065-0EA91C17302A}"/>
                </a:ext>
              </a:extLst>
            </p:cNvPr>
            <p:cNvSpPr txBox="1"/>
            <p:nvPr/>
          </p:nvSpPr>
          <p:spPr>
            <a:xfrm>
              <a:off x="3575685" y="1674109"/>
              <a:ext cx="1891687"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1,722.60</a:t>
              </a:r>
            </a:p>
          </p:txBody>
        </p:sp>
        <p:sp>
          <p:nvSpPr>
            <p:cNvPr id="27" name="文本框 26">
              <a:extLst>
                <a:ext uri="{FF2B5EF4-FFF2-40B4-BE49-F238E27FC236}">
                  <a16:creationId xmlns:a16="http://schemas.microsoft.com/office/drawing/2014/main" id="{214C7078-0C96-0608-902B-F19B716D95BD}"/>
                </a:ext>
              </a:extLst>
            </p:cNvPr>
            <p:cNvSpPr txBox="1"/>
            <p:nvPr/>
          </p:nvSpPr>
          <p:spPr>
            <a:xfrm>
              <a:off x="5433060" y="1936149"/>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28" name="任意形状 27">
              <a:extLst>
                <a:ext uri="{FF2B5EF4-FFF2-40B4-BE49-F238E27FC236}">
                  <a16:creationId xmlns:a16="http://schemas.microsoft.com/office/drawing/2014/main" id="{2E56794F-CB4D-BFAE-5B65-C49592ABF7E0}"/>
                </a:ext>
              </a:extLst>
            </p:cNvPr>
            <p:cNvSpPr/>
            <p:nvPr/>
          </p:nvSpPr>
          <p:spPr>
            <a:xfrm>
              <a:off x="3667125" y="2286000"/>
              <a:ext cx="762000" cy="209550"/>
            </a:xfrm>
            <a:custGeom>
              <a:avLst/>
              <a:gdLst>
                <a:gd name="csX0" fmla="*/ 38100 w 762000"/>
                <a:gd name="csY0" fmla="*/ 0 h 209550"/>
                <a:gd name="csX1" fmla="*/ 723900 w 762000"/>
                <a:gd name="csY1" fmla="*/ 0 h 209550"/>
                <a:gd name="csX2" fmla="*/ 762000 w 762000"/>
                <a:gd name="csY2" fmla="*/ 38100 h 209550"/>
                <a:gd name="csX3" fmla="*/ 762000 w 762000"/>
                <a:gd name="csY3" fmla="*/ 171450 h 209550"/>
                <a:gd name="csX4" fmla="*/ 723900 w 762000"/>
                <a:gd name="csY4" fmla="*/ 209550 h 209550"/>
                <a:gd name="csX5" fmla="*/ 38100 w 762000"/>
                <a:gd name="csY5" fmla="*/ 209550 h 209550"/>
                <a:gd name="csX6" fmla="*/ 0 w 762000"/>
                <a:gd name="csY6" fmla="*/ 171450 h 209550"/>
                <a:gd name="csX7" fmla="*/ 0 w 762000"/>
                <a:gd name="csY7" fmla="*/ 38100 h 209550"/>
                <a:gd name="csX8" fmla="*/ 38100 w 7620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0" h="209550">
                  <a:moveTo>
                    <a:pt x="38100" y="0"/>
                  </a:moveTo>
                  <a:lnTo>
                    <a:pt x="723900" y="0"/>
                  </a:lnTo>
                  <a:cubicBezTo>
                    <a:pt x="744942" y="0"/>
                    <a:pt x="762000" y="17058"/>
                    <a:pt x="762000" y="38100"/>
                  </a:cubicBezTo>
                  <a:lnTo>
                    <a:pt x="762000" y="171450"/>
                  </a:lnTo>
                  <a:cubicBezTo>
                    <a:pt x="762000" y="192492"/>
                    <a:pt x="744942" y="209550"/>
                    <a:pt x="723900" y="209550"/>
                  </a:cubicBezTo>
                  <a:lnTo>
                    <a:pt x="38100" y="209550"/>
                  </a:lnTo>
                  <a:cubicBezTo>
                    <a:pt x="17058" y="209550"/>
                    <a:pt x="0" y="192492"/>
                    <a:pt x="0" y="1714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29" name="文本框 28">
              <a:extLst>
                <a:ext uri="{FF2B5EF4-FFF2-40B4-BE49-F238E27FC236}">
                  <a16:creationId xmlns:a16="http://schemas.microsoft.com/office/drawing/2014/main" id="{ADF88CE9-0D93-FFDE-22EC-E676D789E3D7}"/>
                </a:ext>
              </a:extLst>
            </p:cNvPr>
            <p:cNvSpPr txBox="1"/>
            <p:nvPr/>
          </p:nvSpPr>
          <p:spPr>
            <a:xfrm>
              <a:off x="3661056" y="2271738"/>
              <a:ext cx="774136"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全国第16位</a:t>
              </a:r>
            </a:p>
          </p:txBody>
        </p:sp>
        <p:sp>
          <p:nvSpPr>
            <p:cNvPr id="30" name="文本框 29">
              <a:extLst>
                <a:ext uri="{FF2B5EF4-FFF2-40B4-BE49-F238E27FC236}">
                  <a16:creationId xmlns:a16="http://schemas.microsoft.com/office/drawing/2014/main" id="{FF58FB2D-D127-7D5E-17A2-D33292BBC8BA}"/>
                </a:ext>
              </a:extLst>
            </p:cNvPr>
            <p:cNvSpPr txBox="1"/>
            <p:nvPr/>
          </p:nvSpPr>
          <p:spPr>
            <a:xfrm>
              <a:off x="4480560" y="2271738"/>
              <a:ext cx="709564"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 -8.30%</a:t>
              </a:r>
            </a:p>
          </p:txBody>
        </p:sp>
      </p:grpSp>
      <p:grpSp>
        <p:nvGrpSpPr>
          <p:cNvPr id="31" name="SVG Image 8">
            <a:extLst>
              <a:ext uri="{FF2B5EF4-FFF2-40B4-BE49-F238E27FC236}">
                <a16:creationId xmlns:a16="http://schemas.microsoft.com/office/drawing/2014/main" id="{E7D698B8-5E83-E828-FEEC-FDC4A9B41B16}"/>
              </a:ext>
            </a:extLst>
          </p:cNvPr>
          <p:cNvGrpSpPr/>
          <p:nvPr/>
        </p:nvGrpSpPr>
        <p:grpSpPr>
          <a:xfrm>
            <a:off x="571500" y="2809875"/>
            <a:ext cx="2667000" cy="1333500"/>
            <a:chOff x="571500" y="2809875"/>
            <a:chExt cx="2667000" cy="1333500"/>
          </a:xfrm>
        </p:grpSpPr>
        <p:sp>
          <p:nvSpPr>
            <p:cNvPr id="32" name="任意形状 31">
              <a:extLst>
                <a:ext uri="{FF2B5EF4-FFF2-40B4-BE49-F238E27FC236}">
                  <a16:creationId xmlns:a16="http://schemas.microsoft.com/office/drawing/2014/main" id="{9F6E75F9-095B-61CE-61C8-03FB28F06CCE}"/>
                </a:ext>
              </a:extLst>
            </p:cNvPr>
            <p:cNvSpPr/>
            <p:nvPr/>
          </p:nvSpPr>
          <p:spPr>
            <a:xfrm>
              <a:off x="571500" y="2809875"/>
              <a:ext cx="2667000" cy="1333500"/>
            </a:xfrm>
            <a:custGeom>
              <a:avLst/>
              <a:gdLst>
                <a:gd name="csX0" fmla="*/ 76200 w 2667000"/>
                <a:gd name="csY0" fmla="*/ 0 h 1333500"/>
                <a:gd name="csX1" fmla="*/ 2590800 w 2667000"/>
                <a:gd name="csY1" fmla="*/ 0 h 1333500"/>
                <a:gd name="csX2" fmla="*/ 2667000 w 2667000"/>
                <a:gd name="csY2" fmla="*/ 76200 h 1333500"/>
                <a:gd name="csX3" fmla="*/ 2667000 w 2667000"/>
                <a:gd name="csY3" fmla="*/ 1257300 h 1333500"/>
                <a:gd name="csX4" fmla="*/ 2590800 w 2667000"/>
                <a:gd name="csY4" fmla="*/ 1333500 h 1333500"/>
                <a:gd name="csX5" fmla="*/ 76200 w 2667000"/>
                <a:gd name="csY5" fmla="*/ 1333500 h 1333500"/>
                <a:gd name="csX6" fmla="*/ 0 w 2667000"/>
                <a:gd name="csY6" fmla="*/ 1257300 h 1333500"/>
                <a:gd name="csX7" fmla="*/ 0 w 2667000"/>
                <a:gd name="csY7" fmla="*/ 76200 h 1333500"/>
                <a:gd name="csX8" fmla="*/ 76200 w 26670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333500">
                  <a:moveTo>
                    <a:pt x="76200" y="0"/>
                  </a:moveTo>
                  <a:lnTo>
                    <a:pt x="2590800" y="0"/>
                  </a:lnTo>
                  <a:cubicBezTo>
                    <a:pt x="2632884" y="0"/>
                    <a:pt x="2667000" y="34116"/>
                    <a:pt x="2667000" y="76200"/>
                  </a:cubicBezTo>
                  <a:lnTo>
                    <a:pt x="2667000" y="1257300"/>
                  </a:lnTo>
                  <a:cubicBezTo>
                    <a:pt x="2667000" y="1299384"/>
                    <a:pt x="2632884" y="1333500"/>
                    <a:pt x="2590800" y="1333500"/>
                  </a:cubicBezTo>
                  <a:lnTo>
                    <a:pt x="76200" y="1333500"/>
                  </a:lnTo>
                  <a:cubicBezTo>
                    <a:pt x="34116" y="1333500"/>
                    <a:pt x="0" y="1299384"/>
                    <a:pt x="0" y="1257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3" name="任意形状 32">
              <a:extLst>
                <a:ext uri="{FF2B5EF4-FFF2-40B4-BE49-F238E27FC236}">
                  <a16:creationId xmlns:a16="http://schemas.microsoft.com/office/drawing/2014/main" id="{8429334F-061B-3B74-A350-BD187B4C7E1D}"/>
                </a:ext>
              </a:extLst>
            </p:cNvPr>
            <p:cNvSpPr/>
            <p:nvPr/>
          </p:nvSpPr>
          <p:spPr>
            <a:xfrm>
              <a:off x="571500" y="2809875"/>
              <a:ext cx="38100" cy="1333500"/>
            </a:xfrm>
            <a:custGeom>
              <a:avLst/>
              <a:gdLst>
                <a:gd name="csX0" fmla="*/ 19050 w 38100"/>
                <a:gd name="csY0" fmla="*/ 0 h 1333500"/>
                <a:gd name="csX1" fmla="*/ 19050 w 38100"/>
                <a:gd name="csY1" fmla="*/ 0 h 1333500"/>
                <a:gd name="csX2" fmla="*/ 38100 w 38100"/>
                <a:gd name="csY2" fmla="*/ 19050 h 1333500"/>
                <a:gd name="csX3" fmla="*/ 38100 w 38100"/>
                <a:gd name="csY3" fmla="*/ 1314450 h 1333500"/>
                <a:gd name="csX4" fmla="*/ 19050 w 38100"/>
                <a:gd name="csY4" fmla="*/ 1333500 h 1333500"/>
                <a:gd name="csX5" fmla="*/ 19050 w 38100"/>
                <a:gd name="csY5" fmla="*/ 1333500 h 1333500"/>
                <a:gd name="csX6" fmla="*/ 0 w 38100"/>
                <a:gd name="csY6" fmla="*/ 1314450 h 1333500"/>
                <a:gd name="csX7" fmla="*/ 0 w 38100"/>
                <a:gd name="csY7" fmla="*/ 19050 h 1333500"/>
                <a:gd name="csX8" fmla="*/ 19050 w 381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333500">
                  <a:moveTo>
                    <a:pt x="19050" y="0"/>
                  </a:moveTo>
                  <a:lnTo>
                    <a:pt x="19050" y="0"/>
                  </a:lnTo>
                  <a:cubicBezTo>
                    <a:pt x="29571" y="0"/>
                    <a:pt x="38100" y="8529"/>
                    <a:pt x="38100" y="19050"/>
                  </a:cubicBezTo>
                  <a:lnTo>
                    <a:pt x="38100" y="1314450"/>
                  </a:lnTo>
                  <a:cubicBezTo>
                    <a:pt x="38100" y="1324971"/>
                    <a:pt x="29571" y="1333500"/>
                    <a:pt x="19050" y="1333500"/>
                  </a:cubicBezTo>
                  <a:lnTo>
                    <a:pt x="19050" y="1333500"/>
                  </a:lnTo>
                  <a:cubicBezTo>
                    <a:pt x="8529" y="1333500"/>
                    <a:pt x="0" y="1324971"/>
                    <a:pt x="0" y="1314450"/>
                  </a:cubicBezTo>
                  <a:lnTo>
                    <a:pt x="0" y="19050"/>
                  </a:lnTo>
                  <a:cubicBezTo>
                    <a:pt x="0" y="8529"/>
                    <a:pt x="8529" y="0"/>
                    <a:pt x="19050" y="0"/>
                  </a:cubicBezTo>
                  <a:close/>
                </a:path>
              </a:pathLst>
            </a:custGeom>
            <a:solidFill>
              <a:srgbClr val="2ECC71"/>
            </a:solidFill>
            <a:ln w="9525" cap="flat">
              <a:noFill/>
              <a:prstDash val="solid"/>
              <a:miter/>
            </a:ln>
          </p:spPr>
          <p:txBody>
            <a:bodyPr/>
            <a:lstStyle/>
            <a:p>
              <a:endParaRPr lang="zh-CN" altLang="en-US"/>
            </a:p>
          </p:txBody>
        </p:sp>
        <p:sp>
          <p:nvSpPr>
            <p:cNvPr id="34" name="文本框 33">
              <a:extLst>
                <a:ext uri="{FF2B5EF4-FFF2-40B4-BE49-F238E27FC236}">
                  <a16:creationId xmlns:a16="http://schemas.microsoft.com/office/drawing/2014/main" id="{DD5B2DCF-981F-A176-D73C-7546F9B35A6F}"/>
                </a:ext>
              </a:extLst>
            </p:cNvPr>
            <p:cNvSpPr txBox="1"/>
            <p:nvPr/>
          </p:nvSpPr>
          <p:spPr>
            <a:xfrm>
              <a:off x="718185" y="2956431"/>
              <a:ext cx="8496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财政自给率</a:t>
              </a:r>
            </a:p>
          </p:txBody>
        </p:sp>
        <p:sp>
          <p:nvSpPr>
            <p:cNvPr id="35" name="文本框 34">
              <a:extLst>
                <a:ext uri="{FF2B5EF4-FFF2-40B4-BE49-F238E27FC236}">
                  <a16:creationId xmlns:a16="http://schemas.microsoft.com/office/drawing/2014/main" id="{41368906-D979-D883-6AEB-D1907305B487}"/>
                </a:ext>
              </a:extLst>
            </p:cNvPr>
            <p:cNvSpPr txBox="1"/>
            <p:nvPr/>
          </p:nvSpPr>
          <p:spPr>
            <a:xfrm>
              <a:off x="718185" y="3198109"/>
              <a:ext cx="1283994" cy="619435"/>
            </a:xfrm>
            <a:prstGeom prst="rect">
              <a:avLst/>
            </a:prstGeom>
            <a:noFill/>
          </p:spPr>
          <p:txBody>
            <a:bodyPr wrap="none" rtlCol="0">
              <a:spAutoFit/>
            </a:bodyPr>
            <a:lstStyle/>
            <a:p>
              <a:pPr algn="l"/>
              <a:r>
                <a:rPr lang="zh-CN" altLang="en-US" sz="3150" b="1" spc="0" baseline="0">
                  <a:ln/>
                  <a:solidFill>
                    <a:srgbClr val="2ECC71"/>
                  </a:solidFill>
                  <a:latin typeface="微软雅黑"/>
                  <a:ea typeface="微软雅黑"/>
                  <a:sym typeface="微软雅黑"/>
                  <a:rtl val="0"/>
                </a:rPr>
                <a:t>46.17</a:t>
              </a:r>
            </a:p>
          </p:txBody>
        </p:sp>
        <p:sp>
          <p:nvSpPr>
            <p:cNvPr id="36" name="文本框 35">
              <a:extLst>
                <a:ext uri="{FF2B5EF4-FFF2-40B4-BE49-F238E27FC236}">
                  <a16:creationId xmlns:a16="http://schemas.microsoft.com/office/drawing/2014/main" id="{5C7958C6-09A6-AA0C-EC1F-7E428FE88602}"/>
                </a:ext>
              </a:extLst>
            </p:cNvPr>
            <p:cNvSpPr txBox="1"/>
            <p:nvPr/>
          </p:nvSpPr>
          <p:spPr>
            <a:xfrm>
              <a:off x="1765935" y="3460149"/>
              <a:ext cx="318462"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a:t>
              </a:r>
            </a:p>
          </p:txBody>
        </p:sp>
        <p:sp>
          <p:nvSpPr>
            <p:cNvPr id="37" name="任意形状 36">
              <a:extLst>
                <a:ext uri="{FF2B5EF4-FFF2-40B4-BE49-F238E27FC236}">
                  <a16:creationId xmlns:a16="http://schemas.microsoft.com/office/drawing/2014/main" id="{47366B57-852B-6EF1-D22B-E5BC4002A12A}"/>
                </a:ext>
              </a:extLst>
            </p:cNvPr>
            <p:cNvSpPr/>
            <p:nvPr/>
          </p:nvSpPr>
          <p:spPr>
            <a:xfrm>
              <a:off x="809625" y="3810000"/>
              <a:ext cx="762000" cy="209550"/>
            </a:xfrm>
            <a:custGeom>
              <a:avLst/>
              <a:gdLst>
                <a:gd name="csX0" fmla="*/ 38100 w 762000"/>
                <a:gd name="csY0" fmla="*/ 0 h 209550"/>
                <a:gd name="csX1" fmla="*/ 723900 w 762000"/>
                <a:gd name="csY1" fmla="*/ 0 h 209550"/>
                <a:gd name="csX2" fmla="*/ 762000 w 762000"/>
                <a:gd name="csY2" fmla="*/ 38100 h 209550"/>
                <a:gd name="csX3" fmla="*/ 762000 w 762000"/>
                <a:gd name="csY3" fmla="*/ 171450 h 209550"/>
                <a:gd name="csX4" fmla="*/ 723900 w 762000"/>
                <a:gd name="csY4" fmla="*/ 209550 h 209550"/>
                <a:gd name="csX5" fmla="*/ 38100 w 762000"/>
                <a:gd name="csY5" fmla="*/ 209550 h 209550"/>
                <a:gd name="csX6" fmla="*/ 0 w 762000"/>
                <a:gd name="csY6" fmla="*/ 171450 h 209550"/>
                <a:gd name="csX7" fmla="*/ 0 w 762000"/>
                <a:gd name="csY7" fmla="*/ 38100 h 209550"/>
                <a:gd name="csX8" fmla="*/ 38100 w 7620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0" h="209550">
                  <a:moveTo>
                    <a:pt x="38100" y="0"/>
                  </a:moveTo>
                  <a:lnTo>
                    <a:pt x="723900" y="0"/>
                  </a:lnTo>
                  <a:cubicBezTo>
                    <a:pt x="744942" y="0"/>
                    <a:pt x="762000" y="17058"/>
                    <a:pt x="762000" y="38100"/>
                  </a:cubicBezTo>
                  <a:lnTo>
                    <a:pt x="762000" y="171450"/>
                  </a:lnTo>
                  <a:cubicBezTo>
                    <a:pt x="762000" y="192492"/>
                    <a:pt x="744942" y="209550"/>
                    <a:pt x="723900" y="209550"/>
                  </a:cubicBezTo>
                  <a:lnTo>
                    <a:pt x="38100" y="209550"/>
                  </a:lnTo>
                  <a:cubicBezTo>
                    <a:pt x="17058" y="209550"/>
                    <a:pt x="0" y="192492"/>
                    <a:pt x="0" y="1714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38" name="文本框 37">
              <a:extLst>
                <a:ext uri="{FF2B5EF4-FFF2-40B4-BE49-F238E27FC236}">
                  <a16:creationId xmlns:a16="http://schemas.microsoft.com/office/drawing/2014/main" id="{22B18665-1CE3-F18C-7BE7-7327166974ED}"/>
                </a:ext>
              </a:extLst>
            </p:cNvPr>
            <p:cNvSpPr txBox="1"/>
            <p:nvPr/>
          </p:nvSpPr>
          <p:spPr>
            <a:xfrm>
              <a:off x="803556" y="3795738"/>
              <a:ext cx="774136"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全国第11位</a:t>
              </a:r>
            </a:p>
          </p:txBody>
        </p:sp>
        <p:sp>
          <p:nvSpPr>
            <p:cNvPr id="39" name="文本框 38">
              <a:extLst>
                <a:ext uri="{FF2B5EF4-FFF2-40B4-BE49-F238E27FC236}">
                  <a16:creationId xmlns:a16="http://schemas.microsoft.com/office/drawing/2014/main" id="{021C260B-80D1-2857-6EE2-1A8B9BB95188}"/>
                </a:ext>
              </a:extLst>
            </p:cNvPr>
            <p:cNvSpPr txBox="1"/>
            <p:nvPr/>
          </p:nvSpPr>
          <p:spPr>
            <a:xfrm>
              <a:off x="1623060" y="3795738"/>
              <a:ext cx="789205"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+0.16pp</a:t>
              </a:r>
            </a:p>
          </p:txBody>
        </p:sp>
      </p:grpSp>
      <p:grpSp>
        <p:nvGrpSpPr>
          <p:cNvPr id="40" name="SVG Image 8">
            <a:extLst>
              <a:ext uri="{FF2B5EF4-FFF2-40B4-BE49-F238E27FC236}">
                <a16:creationId xmlns:a16="http://schemas.microsoft.com/office/drawing/2014/main" id="{5B8BC637-72DE-515A-C143-91A1BCEFE8CD}"/>
              </a:ext>
            </a:extLst>
          </p:cNvPr>
          <p:cNvGrpSpPr/>
          <p:nvPr/>
        </p:nvGrpSpPr>
        <p:grpSpPr>
          <a:xfrm>
            <a:off x="3429000" y="2809875"/>
            <a:ext cx="2667000" cy="1333500"/>
            <a:chOff x="3429000" y="2809875"/>
            <a:chExt cx="2667000" cy="1333500"/>
          </a:xfrm>
        </p:grpSpPr>
        <p:sp>
          <p:nvSpPr>
            <p:cNvPr id="41" name="任意形状 40">
              <a:extLst>
                <a:ext uri="{FF2B5EF4-FFF2-40B4-BE49-F238E27FC236}">
                  <a16:creationId xmlns:a16="http://schemas.microsoft.com/office/drawing/2014/main" id="{42627904-862A-2B4E-3AB4-36B66A56B28B}"/>
                </a:ext>
              </a:extLst>
            </p:cNvPr>
            <p:cNvSpPr/>
            <p:nvPr/>
          </p:nvSpPr>
          <p:spPr>
            <a:xfrm>
              <a:off x="3429000" y="2809875"/>
              <a:ext cx="2667000" cy="1333500"/>
            </a:xfrm>
            <a:custGeom>
              <a:avLst/>
              <a:gdLst>
                <a:gd name="csX0" fmla="*/ 76200 w 2667000"/>
                <a:gd name="csY0" fmla="*/ 0 h 1333500"/>
                <a:gd name="csX1" fmla="*/ 2590800 w 2667000"/>
                <a:gd name="csY1" fmla="*/ 0 h 1333500"/>
                <a:gd name="csX2" fmla="*/ 2667000 w 2667000"/>
                <a:gd name="csY2" fmla="*/ 76200 h 1333500"/>
                <a:gd name="csX3" fmla="*/ 2667000 w 2667000"/>
                <a:gd name="csY3" fmla="*/ 1257300 h 1333500"/>
                <a:gd name="csX4" fmla="*/ 2590800 w 2667000"/>
                <a:gd name="csY4" fmla="*/ 1333500 h 1333500"/>
                <a:gd name="csX5" fmla="*/ 76200 w 2667000"/>
                <a:gd name="csY5" fmla="*/ 1333500 h 1333500"/>
                <a:gd name="csX6" fmla="*/ 0 w 2667000"/>
                <a:gd name="csY6" fmla="*/ 1257300 h 1333500"/>
                <a:gd name="csX7" fmla="*/ 0 w 2667000"/>
                <a:gd name="csY7" fmla="*/ 76200 h 1333500"/>
                <a:gd name="csX8" fmla="*/ 76200 w 26670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333500">
                  <a:moveTo>
                    <a:pt x="76200" y="0"/>
                  </a:moveTo>
                  <a:lnTo>
                    <a:pt x="2590800" y="0"/>
                  </a:lnTo>
                  <a:cubicBezTo>
                    <a:pt x="2632884" y="0"/>
                    <a:pt x="2667000" y="34116"/>
                    <a:pt x="2667000" y="76200"/>
                  </a:cubicBezTo>
                  <a:lnTo>
                    <a:pt x="2667000" y="1257300"/>
                  </a:lnTo>
                  <a:cubicBezTo>
                    <a:pt x="2667000" y="1299384"/>
                    <a:pt x="2632884" y="1333500"/>
                    <a:pt x="2590800" y="1333500"/>
                  </a:cubicBezTo>
                  <a:lnTo>
                    <a:pt x="76200" y="1333500"/>
                  </a:lnTo>
                  <a:cubicBezTo>
                    <a:pt x="34116" y="1333500"/>
                    <a:pt x="0" y="1299384"/>
                    <a:pt x="0" y="1257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2" name="任意形状 41">
              <a:extLst>
                <a:ext uri="{FF2B5EF4-FFF2-40B4-BE49-F238E27FC236}">
                  <a16:creationId xmlns:a16="http://schemas.microsoft.com/office/drawing/2014/main" id="{20F41F67-5BBF-813C-60A4-91C574E09F1C}"/>
                </a:ext>
              </a:extLst>
            </p:cNvPr>
            <p:cNvSpPr/>
            <p:nvPr/>
          </p:nvSpPr>
          <p:spPr>
            <a:xfrm>
              <a:off x="3429000" y="2809875"/>
              <a:ext cx="38100" cy="1333500"/>
            </a:xfrm>
            <a:custGeom>
              <a:avLst/>
              <a:gdLst>
                <a:gd name="csX0" fmla="*/ 19050 w 38100"/>
                <a:gd name="csY0" fmla="*/ 0 h 1333500"/>
                <a:gd name="csX1" fmla="*/ 19050 w 38100"/>
                <a:gd name="csY1" fmla="*/ 0 h 1333500"/>
                <a:gd name="csX2" fmla="*/ 38100 w 38100"/>
                <a:gd name="csY2" fmla="*/ 19050 h 1333500"/>
                <a:gd name="csX3" fmla="*/ 38100 w 38100"/>
                <a:gd name="csY3" fmla="*/ 1314450 h 1333500"/>
                <a:gd name="csX4" fmla="*/ 19050 w 38100"/>
                <a:gd name="csY4" fmla="*/ 1333500 h 1333500"/>
                <a:gd name="csX5" fmla="*/ 19050 w 38100"/>
                <a:gd name="csY5" fmla="*/ 1333500 h 1333500"/>
                <a:gd name="csX6" fmla="*/ 0 w 38100"/>
                <a:gd name="csY6" fmla="*/ 1314450 h 1333500"/>
                <a:gd name="csX7" fmla="*/ 0 w 38100"/>
                <a:gd name="csY7" fmla="*/ 19050 h 1333500"/>
                <a:gd name="csX8" fmla="*/ 19050 w 38100"/>
                <a:gd name="csY8" fmla="*/ 0 h 133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333500">
                  <a:moveTo>
                    <a:pt x="19050" y="0"/>
                  </a:moveTo>
                  <a:lnTo>
                    <a:pt x="19050" y="0"/>
                  </a:lnTo>
                  <a:cubicBezTo>
                    <a:pt x="29571" y="0"/>
                    <a:pt x="38100" y="8529"/>
                    <a:pt x="38100" y="19050"/>
                  </a:cubicBezTo>
                  <a:lnTo>
                    <a:pt x="38100" y="1314450"/>
                  </a:lnTo>
                  <a:cubicBezTo>
                    <a:pt x="38100" y="1324971"/>
                    <a:pt x="29571" y="1333500"/>
                    <a:pt x="19050" y="1333500"/>
                  </a:cubicBezTo>
                  <a:lnTo>
                    <a:pt x="19050" y="1333500"/>
                  </a:lnTo>
                  <a:cubicBezTo>
                    <a:pt x="8529" y="1333500"/>
                    <a:pt x="0" y="1324971"/>
                    <a:pt x="0" y="131445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43" name="文本框 42">
              <a:extLst>
                <a:ext uri="{FF2B5EF4-FFF2-40B4-BE49-F238E27FC236}">
                  <a16:creationId xmlns:a16="http://schemas.microsoft.com/office/drawing/2014/main" id="{134BEBBE-E939-9600-B1EE-5B5E04012C76}"/>
                </a:ext>
              </a:extLst>
            </p:cNvPr>
            <p:cNvSpPr txBox="1"/>
            <p:nvPr/>
          </p:nvSpPr>
          <p:spPr>
            <a:xfrm>
              <a:off x="3575685" y="2956431"/>
              <a:ext cx="12496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一般公共预算支出</a:t>
              </a:r>
            </a:p>
          </p:txBody>
        </p:sp>
        <p:sp>
          <p:nvSpPr>
            <p:cNvPr id="44" name="文本框 43">
              <a:extLst>
                <a:ext uri="{FF2B5EF4-FFF2-40B4-BE49-F238E27FC236}">
                  <a16:creationId xmlns:a16="http://schemas.microsoft.com/office/drawing/2014/main" id="{B63567E7-CCCB-B777-1C3F-785D282E49E8}"/>
                </a:ext>
              </a:extLst>
            </p:cNvPr>
            <p:cNvSpPr txBox="1"/>
            <p:nvPr/>
          </p:nvSpPr>
          <p:spPr>
            <a:xfrm>
              <a:off x="3575685" y="3198109"/>
              <a:ext cx="1891687"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5,621.21</a:t>
              </a:r>
            </a:p>
          </p:txBody>
        </p:sp>
        <p:sp>
          <p:nvSpPr>
            <p:cNvPr id="45" name="文本框 44">
              <a:extLst>
                <a:ext uri="{FF2B5EF4-FFF2-40B4-BE49-F238E27FC236}">
                  <a16:creationId xmlns:a16="http://schemas.microsoft.com/office/drawing/2014/main" id="{633590D8-B83B-9BC4-66B3-A538C471AFA4}"/>
                </a:ext>
              </a:extLst>
            </p:cNvPr>
            <p:cNvSpPr txBox="1"/>
            <p:nvPr/>
          </p:nvSpPr>
          <p:spPr>
            <a:xfrm>
              <a:off x="5528310" y="3460149"/>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46" name="文本框 45">
              <a:extLst>
                <a:ext uri="{FF2B5EF4-FFF2-40B4-BE49-F238E27FC236}">
                  <a16:creationId xmlns:a16="http://schemas.microsoft.com/office/drawing/2014/main" id="{1CAEE420-6BF6-E509-4C88-8506378E9FF0}"/>
                </a:ext>
              </a:extLst>
            </p:cNvPr>
            <p:cNvSpPr txBox="1"/>
            <p:nvPr/>
          </p:nvSpPr>
          <p:spPr>
            <a:xfrm>
              <a:off x="3575685" y="3833838"/>
              <a:ext cx="1117315"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同比增长5.97%</a:t>
              </a:r>
            </a:p>
          </p:txBody>
        </p:sp>
      </p:grpSp>
      <p:grpSp>
        <p:nvGrpSpPr>
          <p:cNvPr id="47" name="SVG Image 8">
            <a:extLst>
              <a:ext uri="{FF2B5EF4-FFF2-40B4-BE49-F238E27FC236}">
                <a16:creationId xmlns:a16="http://schemas.microsoft.com/office/drawing/2014/main" id="{EDB97384-5603-8212-EB3A-AA1B1039E7F4}"/>
              </a:ext>
            </a:extLst>
          </p:cNvPr>
          <p:cNvGrpSpPr/>
          <p:nvPr/>
        </p:nvGrpSpPr>
        <p:grpSpPr>
          <a:xfrm>
            <a:off x="6286500" y="1285875"/>
            <a:ext cx="5334000" cy="2857500"/>
            <a:chOff x="6286500" y="1285875"/>
            <a:chExt cx="5334000" cy="2857500"/>
          </a:xfrm>
        </p:grpSpPr>
        <p:sp>
          <p:nvSpPr>
            <p:cNvPr id="48" name="任意形状 47">
              <a:extLst>
                <a:ext uri="{FF2B5EF4-FFF2-40B4-BE49-F238E27FC236}">
                  <a16:creationId xmlns:a16="http://schemas.microsoft.com/office/drawing/2014/main" id="{9F0590A8-76E5-99D7-6B5B-665157ECFB29}"/>
                </a:ext>
              </a:extLst>
            </p:cNvPr>
            <p:cNvSpPr/>
            <p:nvPr/>
          </p:nvSpPr>
          <p:spPr>
            <a:xfrm>
              <a:off x="6286500" y="1285875"/>
              <a:ext cx="5334000" cy="2857500"/>
            </a:xfrm>
            <a:custGeom>
              <a:avLst/>
              <a:gdLst>
                <a:gd name="csX0" fmla="*/ 76200 w 5334000"/>
                <a:gd name="csY0" fmla="*/ 0 h 2857500"/>
                <a:gd name="csX1" fmla="*/ 5257800 w 5334000"/>
                <a:gd name="csY1" fmla="*/ 0 h 2857500"/>
                <a:gd name="csX2" fmla="*/ 5334000 w 5334000"/>
                <a:gd name="csY2" fmla="*/ 76200 h 2857500"/>
                <a:gd name="csX3" fmla="*/ 5334000 w 5334000"/>
                <a:gd name="csY3" fmla="*/ 2781300 h 2857500"/>
                <a:gd name="csX4" fmla="*/ 5257800 w 5334000"/>
                <a:gd name="csY4" fmla="*/ 2857500 h 2857500"/>
                <a:gd name="csX5" fmla="*/ 76200 w 5334000"/>
                <a:gd name="csY5" fmla="*/ 2857500 h 2857500"/>
                <a:gd name="csX6" fmla="*/ 0 w 5334000"/>
                <a:gd name="csY6" fmla="*/ 2781300 h 2857500"/>
                <a:gd name="csX7" fmla="*/ 0 w 5334000"/>
                <a:gd name="csY7" fmla="*/ 76200 h 2857500"/>
                <a:gd name="csX8" fmla="*/ 76200 w 5334000"/>
                <a:gd name="csY8" fmla="*/ 0 h 2857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2857500">
                  <a:moveTo>
                    <a:pt x="76200" y="0"/>
                  </a:moveTo>
                  <a:lnTo>
                    <a:pt x="5257800" y="0"/>
                  </a:lnTo>
                  <a:cubicBezTo>
                    <a:pt x="5299885" y="0"/>
                    <a:pt x="5334000" y="34116"/>
                    <a:pt x="5334000" y="76200"/>
                  </a:cubicBezTo>
                  <a:lnTo>
                    <a:pt x="5334000" y="2781300"/>
                  </a:lnTo>
                  <a:cubicBezTo>
                    <a:pt x="5334000" y="2823384"/>
                    <a:pt x="5299885" y="2857500"/>
                    <a:pt x="52578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9" name="文本框 48">
              <a:extLst>
                <a:ext uri="{FF2B5EF4-FFF2-40B4-BE49-F238E27FC236}">
                  <a16:creationId xmlns:a16="http://schemas.microsoft.com/office/drawing/2014/main" id="{A7CCD3FA-C291-E418-BCE0-BBD727D1965B}"/>
                </a:ext>
              </a:extLst>
            </p:cNvPr>
            <p:cNvSpPr txBox="1"/>
            <p:nvPr/>
          </p:nvSpPr>
          <p:spPr>
            <a:xfrm>
              <a:off x="6480810" y="1412274"/>
              <a:ext cx="159004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近10年财政收入趋势</a:t>
              </a:r>
            </a:p>
          </p:txBody>
        </p:sp>
        <p:sp>
          <p:nvSpPr>
            <p:cNvPr id="50" name="任意形状 49">
              <a:extLst>
                <a:ext uri="{FF2B5EF4-FFF2-40B4-BE49-F238E27FC236}">
                  <a16:creationId xmlns:a16="http://schemas.microsoft.com/office/drawing/2014/main" id="{C264C9B7-1850-7943-38D4-999A1188BFE7}"/>
                </a:ext>
              </a:extLst>
            </p:cNvPr>
            <p:cNvSpPr/>
            <p:nvPr/>
          </p:nvSpPr>
          <p:spPr>
            <a:xfrm>
              <a:off x="6572250" y="1809750"/>
              <a:ext cx="4762500" cy="304800"/>
            </a:xfrm>
            <a:custGeom>
              <a:avLst/>
              <a:gdLst>
                <a:gd name="csX0" fmla="*/ 38100 w 4762500"/>
                <a:gd name="csY0" fmla="*/ 0 h 304800"/>
                <a:gd name="csX1" fmla="*/ 4724400 w 4762500"/>
                <a:gd name="csY1" fmla="*/ 0 h 304800"/>
                <a:gd name="csX2" fmla="*/ 4762500 w 4762500"/>
                <a:gd name="csY2" fmla="*/ 38100 h 304800"/>
                <a:gd name="csX3" fmla="*/ 4762500 w 4762500"/>
                <a:gd name="csY3" fmla="*/ 266700 h 304800"/>
                <a:gd name="csX4" fmla="*/ 4724400 w 4762500"/>
                <a:gd name="csY4" fmla="*/ 304800 h 304800"/>
                <a:gd name="csX5" fmla="*/ 38100 w 4762500"/>
                <a:gd name="csY5" fmla="*/ 304800 h 304800"/>
                <a:gd name="csX6" fmla="*/ 0 w 4762500"/>
                <a:gd name="csY6" fmla="*/ 266700 h 304800"/>
                <a:gd name="csX7" fmla="*/ 0 w 4762500"/>
                <a:gd name="csY7" fmla="*/ 38100 h 304800"/>
                <a:gd name="csX8" fmla="*/ 38100 w 4762500"/>
                <a:gd name="csY8"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304800">
                  <a:moveTo>
                    <a:pt x="38100" y="0"/>
                  </a:moveTo>
                  <a:lnTo>
                    <a:pt x="4724400" y="0"/>
                  </a:lnTo>
                  <a:cubicBezTo>
                    <a:pt x="4745442" y="0"/>
                    <a:pt x="4762500" y="17058"/>
                    <a:pt x="4762500" y="38100"/>
                  </a:cubicBezTo>
                  <a:lnTo>
                    <a:pt x="4762500" y="266700"/>
                  </a:lnTo>
                  <a:cubicBezTo>
                    <a:pt x="4762500" y="287742"/>
                    <a:pt x="4745442" y="304800"/>
                    <a:pt x="4724400" y="304800"/>
                  </a:cubicBezTo>
                  <a:lnTo>
                    <a:pt x="38100" y="304800"/>
                  </a:lnTo>
                  <a:cubicBezTo>
                    <a:pt x="17058" y="304800"/>
                    <a:pt x="0" y="287742"/>
                    <a:pt x="0" y="2667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51" name="文本框 50">
              <a:extLst>
                <a:ext uri="{FF2B5EF4-FFF2-40B4-BE49-F238E27FC236}">
                  <a16:creationId xmlns:a16="http://schemas.microsoft.com/office/drawing/2014/main" id="{2B71043F-48F2-343C-18C8-A0E465032988}"/>
                </a:ext>
              </a:extLst>
            </p:cNvPr>
            <p:cNvSpPr txBox="1"/>
            <p:nvPr/>
          </p:nvSpPr>
          <p:spPr>
            <a:xfrm>
              <a:off x="6938010" y="1852638"/>
              <a:ext cx="411480"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年份</a:t>
              </a:r>
            </a:p>
          </p:txBody>
        </p:sp>
        <p:sp>
          <p:nvSpPr>
            <p:cNvPr id="52" name="文本框 51">
              <a:extLst>
                <a:ext uri="{FF2B5EF4-FFF2-40B4-BE49-F238E27FC236}">
                  <a16:creationId xmlns:a16="http://schemas.microsoft.com/office/drawing/2014/main" id="{E5D54720-F77D-FE1B-39A6-6ABD17977D41}"/>
                </a:ext>
              </a:extLst>
            </p:cNvPr>
            <p:cNvSpPr txBox="1"/>
            <p:nvPr/>
          </p:nvSpPr>
          <p:spPr>
            <a:xfrm>
              <a:off x="7845973" y="1852638"/>
              <a:ext cx="1072053"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一般预算收入(亿)</a:t>
              </a:r>
            </a:p>
          </p:txBody>
        </p:sp>
        <p:sp>
          <p:nvSpPr>
            <p:cNvPr id="53" name="文本框 52">
              <a:extLst>
                <a:ext uri="{FF2B5EF4-FFF2-40B4-BE49-F238E27FC236}">
                  <a16:creationId xmlns:a16="http://schemas.microsoft.com/office/drawing/2014/main" id="{604A2DD6-DF44-8EC7-2378-189FC00E72D1}"/>
                </a:ext>
              </a:extLst>
            </p:cNvPr>
            <p:cNvSpPr txBox="1"/>
            <p:nvPr/>
          </p:nvSpPr>
          <p:spPr>
            <a:xfrm>
              <a:off x="9312823" y="1852638"/>
              <a:ext cx="1186353"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政府性基金收入(亿)</a:t>
              </a:r>
            </a:p>
          </p:txBody>
        </p:sp>
        <p:sp>
          <p:nvSpPr>
            <p:cNvPr id="54" name="矩形 53">
              <a:extLst>
                <a:ext uri="{FF2B5EF4-FFF2-40B4-BE49-F238E27FC236}">
                  <a16:creationId xmlns:a16="http://schemas.microsoft.com/office/drawing/2014/main" id="{E5E85C59-F550-46F3-5339-C779F1D8BEFE}"/>
                </a:ext>
              </a:extLst>
            </p:cNvPr>
            <p:cNvSpPr/>
            <p:nvPr/>
          </p:nvSpPr>
          <p:spPr>
            <a:xfrm>
              <a:off x="6572250" y="2114550"/>
              <a:ext cx="4762500" cy="266700"/>
            </a:xfrm>
            <a:prstGeom prst="rect">
              <a:avLst/>
            </a:prstGeom>
            <a:solidFill>
              <a:srgbClr val="EBF4FF"/>
            </a:solidFill>
            <a:ln w="9525" cap="flat">
              <a:noFill/>
              <a:prstDash val="solid"/>
              <a:miter/>
            </a:ln>
          </p:spPr>
          <p:txBody>
            <a:bodyPr/>
            <a:lstStyle/>
            <a:p>
              <a:endParaRPr lang="zh-CN" altLang="en-US"/>
            </a:p>
          </p:txBody>
        </p:sp>
        <p:sp>
          <p:nvSpPr>
            <p:cNvPr id="55" name="文本框 54">
              <a:extLst>
                <a:ext uri="{FF2B5EF4-FFF2-40B4-BE49-F238E27FC236}">
                  <a16:creationId xmlns:a16="http://schemas.microsoft.com/office/drawing/2014/main" id="{F224A5D1-78A7-D2DB-C244-523DFF496788}"/>
                </a:ext>
              </a:extLst>
            </p:cNvPr>
            <p:cNvSpPr txBox="1"/>
            <p:nvPr/>
          </p:nvSpPr>
          <p:spPr>
            <a:xfrm>
              <a:off x="6911332" y="2138388"/>
              <a:ext cx="464834"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2024</a:t>
              </a:r>
            </a:p>
          </p:txBody>
        </p:sp>
        <p:sp>
          <p:nvSpPr>
            <p:cNvPr id="56" name="文本框 55">
              <a:extLst>
                <a:ext uri="{FF2B5EF4-FFF2-40B4-BE49-F238E27FC236}">
                  <a16:creationId xmlns:a16="http://schemas.microsoft.com/office/drawing/2014/main" id="{ED15F48D-0F24-F046-D519-2750C9311BCA}"/>
                </a:ext>
              </a:extLst>
            </p:cNvPr>
            <p:cNvSpPr txBox="1"/>
            <p:nvPr/>
          </p:nvSpPr>
          <p:spPr>
            <a:xfrm>
              <a:off x="8046444" y="2138388"/>
              <a:ext cx="671110"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2,595.55</a:t>
              </a:r>
            </a:p>
          </p:txBody>
        </p:sp>
        <p:sp>
          <p:nvSpPr>
            <p:cNvPr id="57" name="文本框 56">
              <a:extLst>
                <a:ext uri="{FF2B5EF4-FFF2-40B4-BE49-F238E27FC236}">
                  <a16:creationId xmlns:a16="http://schemas.microsoft.com/office/drawing/2014/main" id="{E96FAC89-778B-1C68-75EE-E1BFB0E5DFC8}"/>
                </a:ext>
              </a:extLst>
            </p:cNvPr>
            <p:cNvSpPr txBox="1"/>
            <p:nvPr/>
          </p:nvSpPr>
          <p:spPr>
            <a:xfrm>
              <a:off x="9570444" y="2138388"/>
              <a:ext cx="671110"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1,722.60</a:t>
              </a:r>
            </a:p>
          </p:txBody>
        </p:sp>
        <p:sp>
          <p:nvSpPr>
            <p:cNvPr id="58" name="矩形 57">
              <a:extLst>
                <a:ext uri="{FF2B5EF4-FFF2-40B4-BE49-F238E27FC236}">
                  <a16:creationId xmlns:a16="http://schemas.microsoft.com/office/drawing/2014/main" id="{2B1B4C02-7296-D844-62A5-8228A42115D0}"/>
                </a:ext>
              </a:extLst>
            </p:cNvPr>
            <p:cNvSpPr/>
            <p:nvPr/>
          </p:nvSpPr>
          <p:spPr>
            <a:xfrm>
              <a:off x="6572250" y="2381250"/>
              <a:ext cx="4762500" cy="266700"/>
            </a:xfrm>
            <a:prstGeom prst="rect">
              <a:avLst/>
            </a:prstGeom>
            <a:solidFill>
              <a:srgbClr val="FFFFFF"/>
            </a:solidFill>
            <a:ln w="9525" cap="flat">
              <a:noFill/>
              <a:prstDash val="solid"/>
              <a:miter/>
            </a:ln>
          </p:spPr>
          <p:txBody>
            <a:bodyPr/>
            <a:lstStyle/>
            <a:p>
              <a:endParaRPr lang="zh-CN" altLang="en-US"/>
            </a:p>
          </p:txBody>
        </p:sp>
        <p:sp>
          <p:nvSpPr>
            <p:cNvPr id="59" name="文本框 58">
              <a:extLst>
                <a:ext uri="{FF2B5EF4-FFF2-40B4-BE49-F238E27FC236}">
                  <a16:creationId xmlns:a16="http://schemas.microsoft.com/office/drawing/2014/main" id="{A314E0EC-5E5F-F531-0D4A-09C63D60E68F}"/>
                </a:ext>
              </a:extLst>
            </p:cNvPr>
            <p:cNvSpPr txBox="1"/>
            <p:nvPr/>
          </p:nvSpPr>
          <p:spPr>
            <a:xfrm>
              <a:off x="6918253" y="2405088"/>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2023</a:t>
              </a:r>
            </a:p>
          </p:txBody>
        </p:sp>
        <p:sp>
          <p:nvSpPr>
            <p:cNvPr id="60" name="文本框 59">
              <a:extLst>
                <a:ext uri="{FF2B5EF4-FFF2-40B4-BE49-F238E27FC236}">
                  <a16:creationId xmlns:a16="http://schemas.microsoft.com/office/drawing/2014/main" id="{0D0E5DB8-85C2-0093-254B-BA87FA07AAB8}"/>
                </a:ext>
              </a:extLst>
            </p:cNvPr>
            <p:cNvSpPr txBox="1"/>
            <p:nvPr/>
          </p:nvSpPr>
          <p:spPr>
            <a:xfrm>
              <a:off x="8061960" y="24050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2,440.77</a:t>
              </a:r>
            </a:p>
          </p:txBody>
        </p:sp>
        <p:sp>
          <p:nvSpPr>
            <p:cNvPr id="61" name="文本框 60">
              <a:extLst>
                <a:ext uri="{FF2B5EF4-FFF2-40B4-BE49-F238E27FC236}">
                  <a16:creationId xmlns:a16="http://schemas.microsoft.com/office/drawing/2014/main" id="{8E1C6CCF-1CA8-C64C-6AD3-56B556139C88}"/>
                </a:ext>
              </a:extLst>
            </p:cNvPr>
            <p:cNvSpPr txBox="1"/>
            <p:nvPr/>
          </p:nvSpPr>
          <p:spPr>
            <a:xfrm>
              <a:off x="9585960" y="24050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1,878.62</a:t>
              </a:r>
            </a:p>
          </p:txBody>
        </p:sp>
        <p:sp>
          <p:nvSpPr>
            <p:cNvPr id="62" name="矩形 61">
              <a:extLst>
                <a:ext uri="{FF2B5EF4-FFF2-40B4-BE49-F238E27FC236}">
                  <a16:creationId xmlns:a16="http://schemas.microsoft.com/office/drawing/2014/main" id="{EEB1E8FC-8002-C912-8B51-3354D732EAC7}"/>
                </a:ext>
              </a:extLst>
            </p:cNvPr>
            <p:cNvSpPr/>
            <p:nvPr/>
          </p:nvSpPr>
          <p:spPr>
            <a:xfrm>
              <a:off x="6572250" y="2647950"/>
              <a:ext cx="4762500" cy="266700"/>
            </a:xfrm>
            <a:prstGeom prst="rect">
              <a:avLst/>
            </a:prstGeom>
            <a:solidFill>
              <a:srgbClr val="EBF4FF"/>
            </a:solidFill>
            <a:ln w="9525" cap="flat">
              <a:noFill/>
              <a:prstDash val="solid"/>
              <a:miter/>
            </a:ln>
          </p:spPr>
          <p:txBody>
            <a:bodyPr/>
            <a:lstStyle/>
            <a:p>
              <a:endParaRPr lang="zh-CN" altLang="en-US"/>
            </a:p>
          </p:txBody>
        </p:sp>
        <p:sp>
          <p:nvSpPr>
            <p:cNvPr id="63" name="文本框 62">
              <a:extLst>
                <a:ext uri="{FF2B5EF4-FFF2-40B4-BE49-F238E27FC236}">
                  <a16:creationId xmlns:a16="http://schemas.microsoft.com/office/drawing/2014/main" id="{E41EFAE5-B632-7958-A7F1-B56755DA323F}"/>
                </a:ext>
              </a:extLst>
            </p:cNvPr>
            <p:cNvSpPr txBox="1"/>
            <p:nvPr/>
          </p:nvSpPr>
          <p:spPr>
            <a:xfrm>
              <a:off x="6918253" y="2671788"/>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2022</a:t>
              </a:r>
            </a:p>
          </p:txBody>
        </p:sp>
        <p:sp>
          <p:nvSpPr>
            <p:cNvPr id="64" name="文本框 63">
              <a:extLst>
                <a:ext uri="{FF2B5EF4-FFF2-40B4-BE49-F238E27FC236}">
                  <a16:creationId xmlns:a16="http://schemas.microsoft.com/office/drawing/2014/main" id="{DE21BD71-D505-57C2-BDAF-EA79F099402C}"/>
                </a:ext>
              </a:extLst>
            </p:cNvPr>
            <p:cNvSpPr txBox="1"/>
            <p:nvPr/>
          </p:nvSpPr>
          <p:spPr>
            <a:xfrm>
              <a:off x="8061960" y="26717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2,103.42</a:t>
              </a:r>
            </a:p>
          </p:txBody>
        </p:sp>
        <p:sp>
          <p:nvSpPr>
            <p:cNvPr id="65" name="文本框 64">
              <a:extLst>
                <a:ext uri="{FF2B5EF4-FFF2-40B4-BE49-F238E27FC236}">
                  <a16:creationId xmlns:a16="http://schemas.microsoft.com/office/drawing/2014/main" id="{22711CA1-0A8C-F6E5-EB85-E0B7D9DE2EDA}"/>
                </a:ext>
              </a:extLst>
            </p:cNvPr>
            <p:cNvSpPr txBox="1"/>
            <p:nvPr/>
          </p:nvSpPr>
          <p:spPr>
            <a:xfrm>
              <a:off x="9585960" y="26717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1,753.95</a:t>
              </a:r>
            </a:p>
          </p:txBody>
        </p:sp>
        <p:sp>
          <p:nvSpPr>
            <p:cNvPr id="66" name="矩形 65">
              <a:extLst>
                <a:ext uri="{FF2B5EF4-FFF2-40B4-BE49-F238E27FC236}">
                  <a16:creationId xmlns:a16="http://schemas.microsoft.com/office/drawing/2014/main" id="{E5BFB9E0-2FD6-9CAD-43F2-F4DA2A856EA2}"/>
                </a:ext>
              </a:extLst>
            </p:cNvPr>
            <p:cNvSpPr/>
            <p:nvPr/>
          </p:nvSpPr>
          <p:spPr>
            <a:xfrm>
              <a:off x="6572250" y="2914650"/>
              <a:ext cx="4762500" cy="266700"/>
            </a:xfrm>
            <a:prstGeom prst="rect">
              <a:avLst/>
            </a:prstGeom>
            <a:solidFill>
              <a:srgbClr val="FFFFFF"/>
            </a:solidFill>
            <a:ln w="9525" cap="flat">
              <a:noFill/>
              <a:prstDash val="solid"/>
              <a:miter/>
            </a:ln>
          </p:spPr>
          <p:txBody>
            <a:bodyPr/>
            <a:lstStyle/>
            <a:p>
              <a:endParaRPr lang="zh-CN" altLang="en-US"/>
            </a:p>
          </p:txBody>
        </p:sp>
        <p:sp>
          <p:nvSpPr>
            <p:cNvPr id="67" name="文本框 66">
              <a:extLst>
                <a:ext uri="{FF2B5EF4-FFF2-40B4-BE49-F238E27FC236}">
                  <a16:creationId xmlns:a16="http://schemas.microsoft.com/office/drawing/2014/main" id="{9BEC9773-81C2-AAA2-2959-F8F4A4C23193}"/>
                </a:ext>
              </a:extLst>
            </p:cNvPr>
            <p:cNvSpPr txBox="1"/>
            <p:nvPr/>
          </p:nvSpPr>
          <p:spPr>
            <a:xfrm>
              <a:off x="6918253" y="2938488"/>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2021</a:t>
              </a:r>
            </a:p>
          </p:txBody>
        </p:sp>
        <p:sp>
          <p:nvSpPr>
            <p:cNvPr id="68" name="文本框 67">
              <a:extLst>
                <a:ext uri="{FF2B5EF4-FFF2-40B4-BE49-F238E27FC236}">
                  <a16:creationId xmlns:a16="http://schemas.microsoft.com/office/drawing/2014/main" id="{19A6D72B-536E-1670-FC3C-2DC27EF599DB}"/>
                </a:ext>
              </a:extLst>
            </p:cNvPr>
            <p:cNvSpPr txBox="1"/>
            <p:nvPr/>
          </p:nvSpPr>
          <p:spPr>
            <a:xfrm>
              <a:off x="8061960" y="29384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2,285.45</a:t>
              </a:r>
            </a:p>
          </p:txBody>
        </p:sp>
        <p:sp>
          <p:nvSpPr>
            <p:cNvPr id="69" name="文本框 68">
              <a:extLst>
                <a:ext uri="{FF2B5EF4-FFF2-40B4-BE49-F238E27FC236}">
                  <a16:creationId xmlns:a16="http://schemas.microsoft.com/office/drawing/2014/main" id="{1FC297F6-1CB6-45AE-A53F-E68B05E11E9C}"/>
                </a:ext>
              </a:extLst>
            </p:cNvPr>
            <p:cNvSpPr txBox="1"/>
            <p:nvPr/>
          </p:nvSpPr>
          <p:spPr>
            <a:xfrm>
              <a:off x="9585960" y="29384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2,357.94</a:t>
              </a:r>
            </a:p>
          </p:txBody>
        </p:sp>
        <p:sp>
          <p:nvSpPr>
            <p:cNvPr id="70" name="矩形 69">
              <a:extLst>
                <a:ext uri="{FF2B5EF4-FFF2-40B4-BE49-F238E27FC236}">
                  <a16:creationId xmlns:a16="http://schemas.microsoft.com/office/drawing/2014/main" id="{6D397E50-D5B9-3EC9-3F25-919177931131}"/>
                </a:ext>
              </a:extLst>
            </p:cNvPr>
            <p:cNvSpPr/>
            <p:nvPr/>
          </p:nvSpPr>
          <p:spPr>
            <a:xfrm>
              <a:off x="6572250" y="3181350"/>
              <a:ext cx="4762500" cy="266700"/>
            </a:xfrm>
            <a:prstGeom prst="rect">
              <a:avLst/>
            </a:prstGeom>
            <a:solidFill>
              <a:srgbClr val="EBF4FF"/>
            </a:solidFill>
            <a:ln w="9525" cap="flat">
              <a:noFill/>
              <a:prstDash val="solid"/>
              <a:miter/>
            </a:ln>
          </p:spPr>
          <p:txBody>
            <a:bodyPr/>
            <a:lstStyle/>
            <a:p>
              <a:endParaRPr lang="zh-CN" altLang="en-US"/>
            </a:p>
          </p:txBody>
        </p:sp>
        <p:sp>
          <p:nvSpPr>
            <p:cNvPr id="71" name="文本框 70">
              <a:extLst>
                <a:ext uri="{FF2B5EF4-FFF2-40B4-BE49-F238E27FC236}">
                  <a16:creationId xmlns:a16="http://schemas.microsoft.com/office/drawing/2014/main" id="{DCD4EAE1-0C09-5F7C-F49D-D4DD78440652}"/>
                </a:ext>
              </a:extLst>
            </p:cNvPr>
            <p:cNvSpPr txBox="1"/>
            <p:nvPr/>
          </p:nvSpPr>
          <p:spPr>
            <a:xfrm>
              <a:off x="6918253" y="3205188"/>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2020</a:t>
              </a:r>
            </a:p>
          </p:txBody>
        </p:sp>
        <p:sp>
          <p:nvSpPr>
            <p:cNvPr id="72" name="文本框 71">
              <a:extLst>
                <a:ext uri="{FF2B5EF4-FFF2-40B4-BE49-F238E27FC236}">
                  <a16:creationId xmlns:a16="http://schemas.microsoft.com/office/drawing/2014/main" id="{B89A3606-CEEA-FCEF-1D16-485A78ABD97D}"/>
                </a:ext>
              </a:extLst>
            </p:cNvPr>
            <p:cNvSpPr txBox="1"/>
            <p:nvPr/>
          </p:nvSpPr>
          <p:spPr>
            <a:xfrm>
              <a:off x="8061960" y="32051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2,094.85</a:t>
              </a:r>
            </a:p>
          </p:txBody>
        </p:sp>
        <p:sp>
          <p:nvSpPr>
            <p:cNvPr id="73" name="文本框 72">
              <a:extLst>
                <a:ext uri="{FF2B5EF4-FFF2-40B4-BE49-F238E27FC236}">
                  <a16:creationId xmlns:a16="http://schemas.microsoft.com/office/drawing/2014/main" id="{4FED1237-4A7C-9582-73A0-63FF65E3D900}"/>
                </a:ext>
              </a:extLst>
            </p:cNvPr>
            <p:cNvSpPr txBox="1"/>
            <p:nvPr/>
          </p:nvSpPr>
          <p:spPr>
            <a:xfrm>
              <a:off x="9585960" y="32051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2,457.86</a:t>
              </a:r>
            </a:p>
          </p:txBody>
        </p:sp>
        <p:sp>
          <p:nvSpPr>
            <p:cNvPr id="74" name="矩形 73">
              <a:extLst>
                <a:ext uri="{FF2B5EF4-FFF2-40B4-BE49-F238E27FC236}">
                  <a16:creationId xmlns:a16="http://schemas.microsoft.com/office/drawing/2014/main" id="{35D58E99-0FB7-42F7-13CD-A916AB5C7817}"/>
                </a:ext>
              </a:extLst>
            </p:cNvPr>
            <p:cNvSpPr/>
            <p:nvPr/>
          </p:nvSpPr>
          <p:spPr>
            <a:xfrm>
              <a:off x="6572250" y="3448050"/>
              <a:ext cx="4762500" cy="266700"/>
            </a:xfrm>
            <a:prstGeom prst="rect">
              <a:avLst/>
            </a:prstGeom>
            <a:solidFill>
              <a:srgbClr val="FFFFFF"/>
            </a:solidFill>
            <a:ln w="9525" cap="flat">
              <a:noFill/>
              <a:prstDash val="solid"/>
              <a:miter/>
            </a:ln>
          </p:spPr>
          <p:txBody>
            <a:bodyPr/>
            <a:lstStyle/>
            <a:p>
              <a:endParaRPr lang="zh-CN" altLang="en-US"/>
            </a:p>
          </p:txBody>
        </p:sp>
        <p:sp>
          <p:nvSpPr>
            <p:cNvPr id="75" name="文本框 74">
              <a:extLst>
                <a:ext uri="{FF2B5EF4-FFF2-40B4-BE49-F238E27FC236}">
                  <a16:creationId xmlns:a16="http://schemas.microsoft.com/office/drawing/2014/main" id="{4D9A3C9D-44C0-6FCD-BD2B-A2E48451019C}"/>
                </a:ext>
              </a:extLst>
            </p:cNvPr>
            <p:cNvSpPr txBox="1"/>
            <p:nvPr/>
          </p:nvSpPr>
          <p:spPr>
            <a:xfrm>
              <a:off x="6918253" y="3471888"/>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2019</a:t>
              </a:r>
            </a:p>
          </p:txBody>
        </p:sp>
        <p:sp>
          <p:nvSpPr>
            <p:cNvPr id="76" name="文本框 75">
              <a:extLst>
                <a:ext uri="{FF2B5EF4-FFF2-40B4-BE49-F238E27FC236}">
                  <a16:creationId xmlns:a16="http://schemas.microsoft.com/office/drawing/2014/main" id="{0D377142-F15B-4CAC-0BD8-5EC37E08E7D6}"/>
                </a:ext>
              </a:extLst>
            </p:cNvPr>
            <p:cNvSpPr txBox="1"/>
            <p:nvPr/>
          </p:nvSpPr>
          <p:spPr>
            <a:xfrm>
              <a:off x="8061960" y="34718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2,134.93</a:t>
              </a:r>
            </a:p>
          </p:txBody>
        </p:sp>
        <p:sp>
          <p:nvSpPr>
            <p:cNvPr id="77" name="文本框 76">
              <a:extLst>
                <a:ext uri="{FF2B5EF4-FFF2-40B4-BE49-F238E27FC236}">
                  <a16:creationId xmlns:a16="http://schemas.microsoft.com/office/drawing/2014/main" id="{0D19783E-F4EC-1295-1C4C-2B1F28497FAA}"/>
                </a:ext>
              </a:extLst>
            </p:cNvPr>
            <p:cNvSpPr txBox="1"/>
            <p:nvPr/>
          </p:nvSpPr>
          <p:spPr>
            <a:xfrm>
              <a:off x="9585960" y="34718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2,247.93</a:t>
              </a:r>
            </a:p>
          </p:txBody>
        </p:sp>
        <p:sp>
          <p:nvSpPr>
            <p:cNvPr id="78" name="矩形 77">
              <a:extLst>
                <a:ext uri="{FF2B5EF4-FFF2-40B4-BE49-F238E27FC236}">
                  <a16:creationId xmlns:a16="http://schemas.microsoft.com/office/drawing/2014/main" id="{E4549FFC-D573-4678-B381-C12780F3F5DA}"/>
                </a:ext>
              </a:extLst>
            </p:cNvPr>
            <p:cNvSpPr/>
            <p:nvPr/>
          </p:nvSpPr>
          <p:spPr>
            <a:xfrm>
              <a:off x="6572250" y="3714750"/>
              <a:ext cx="4762500" cy="266700"/>
            </a:xfrm>
            <a:prstGeom prst="rect">
              <a:avLst/>
            </a:prstGeom>
            <a:solidFill>
              <a:srgbClr val="EBF4FF"/>
            </a:solidFill>
            <a:ln w="9525" cap="flat">
              <a:noFill/>
              <a:prstDash val="solid"/>
              <a:miter/>
            </a:ln>
          </p:spPr>
          <p:txBody>
            <a:bodyPr/>
            <a:lstStyle/>
            <a:p>
              <a:endParaRPr lang="zh-CN" altLang="en-US"/>
            </a:p>
          </p:txBody>
        </p:sp>
        <p:sp>
          <p:nvSpPr>
            <p:cNvPr id="79" name="文本框 78">
              <a:extLst>
                <a:ext uri="{FF2B5EF4-FFF2-40B4-BE49-F238E27FC236}">
                  <a16:creationId xmlns:a16="http://schemas.microsoft.com/office/drawing/2014/main" id="{A252B44C-932B-A3E8-7FA0-5D3F401732D8}"/>
                </a:ext>
              </a:extLst>
            </p:cNvPr>
            <p:cNvSpPr txBox="1"/>
            <p:nvPr/>
          </p:nvSpPr>
          <p:spPr>
            <a:xfrm>
              <a:off x="6918253" y="3738588"/>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2015</a:t>
              </a:r>
            </a:p>
          </p:txBody>
        </p:sp>
        <p:sp>
          <p:nvSpPr>
            <p:cNvPr id="80" name="文本框 79">
              <a:extLst>
                <a:ext uri="{FF2B5EF4-FFF2-40B4-BE49-F238E27FC236}">
                  <a16:creationId xmlns:a16="http://schemas.microsoft.com/office/drawing/2014/main" id="{635FD9A8-75F7-B88D-7BF4-E1F5F4AC2A81}"/>
                </a:ext>
              </a:extLst>
            </p:cNvPr>
            <p:cNvSpPr txBox="1"/>
            <p:nvPr/>
          </p:nvSpPr>
          <p:spPr>
            <a:xfrm>
              <a:off x="8061960" y="37385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2,080.62</a:t>
              </a:r>
            </a:p>
          </p:txBody>
        </p:sp>
        <p:sp>
          <p:nvSpPr>
            <p:cNvPr id="81" name="文本框 80">
              <a:extLst>
                <a:ext uri="{FF2B5EF4-FFF2-40B4-BE49-F238E27FC236}">
                  <a16:creationId xmlns:a16="http://schemas.microsoft.com/office/drawing/2014/main" id="{72E5D9DD-63F4-3160-D536-43947E9E9346}"/>
                </a:ext>
              </a:extLst>
            </p:cNvPr>
            <p:cNvSpPr txBox="1"/>
            <p:nvPr/>
          </p:nvSpPr>
          <p:spPr>
            <a:xfrm>
              <a:off x="9585960" y="373858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1,664.20</a:t>
              </a:r>
            </a:p>
          </p:txBody>
        </p:sp>
      </p:grpSp>
      <p:grpSp>
        <p:nvGrpSpPr>
          <p:cNvPr id="82" name="SVG Image 8">
            <a:extLst>
              <a:ext uri="{FF2B5EF4-FFF2-40B4-BE49-F238E27FC236}">
                <a16:creationId xmlns:a16="http://schemas.microsoft.com/office/drawing/2014/main" id="{B4636D29-2595-49B2-FF8B-DA9E8B7E8618}"/>
              </a:ext>
            </a:extLst>
          </p:cNvPr>
          <p:cNvGrpSpPr/>
          <p:nvPr/>
        </p:nvGrpSpPr>
        <p:grpSpPr>
          <a:xfrm>
            <a:off x="571500" y="4333875"/>
            <a:ext cx="11049000" cy="1952625"/>
            <a:chOff x="571500" y="4333875"/>
            <a:chExt cx="11049000" cy="1952625"/>
          </a:xfrm>
        </p:grpSpPr>
        <p:sp>
          <p:nvSpPr>
            <p:cNvPr id="83" name="任意形状 82">
              <a:extLst>
                <a:ext uri="{FF2B5EF4-FFF2-40B4-BE49-F238E27FC236}">
                  <a16:creationId xmlns:a16="http://schemas.microsoft.com/office/drawing/2014/main" id="{2CD23103-6F92-298C-37B0-274D91216234}"/>
                </a:ext>
              </a:extLst>
            </p:cNvPr>
            <p:cNvSpPr/>
            <p:nvPr/>
          </p:nvSpPr>
          <p:spPr>
            <a:xfrm>
              <a:off x="571500" y="4333875"/>
              <a:ext cx="11049000" cy="1952625"/>
            </a:xfrm>
            <a:custGeom>
              <a:avLst/>
              <a:gdLst>
                <a:gd name="csX0" fmla="*/ 76200 w 11049000"/>
                <a:gd name="csY0" fmla="*/ 0 h 1952625"/>
                <a:gd name="csX1" fmla="*/ 10972800 w 11049000"/>
                <a:gd name="csY1" fmla="*/ 0 h 1952625"/>
                <a:gd name="csX2" fmla="*/ 11049000 w 11049000"/>
                <a:gd name="csY2" fmla="*/ 76200 h 1952625"/>
                <a:gd name="csX3" fmla="*/ 11049000 w 11049000"/>
                <a:gd name="csY3" fmla="*/ 1876425 h 1952625"/>
                <a:gd name="csX4" fmla="*/ 10972800 w 11049000"/>
                <a:gd name="csY4" fmla="*/ 1952625 h 1952625"/>
                <a:gd name="csX5" fmla="*/ 76200 w 11049000"/>
                <a:gd name="csY5" fmla="*/ 1952625 h 1952625"/>
                <a:gd name="csX6" fmla="*/ 0 w 11049000"/>
                <a:gd name="csY6" fmla="*/ 1876425 h 1952625"/>
                <a:gd name="csX7" fmla="*/ 0 w 11049000"/>
                <a:gd name="csY7" fmla="*/ 76200 h 1952625"/>
                <a:gd name="csX8" fmla="*/ 76200 w 11049000"/>
                <a:gd name="csY8" fmla="*/ 0 h 1952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1952625">
                  <a:moveTo>
                    <a:pt x="76200" y="0"/>
                  </a:moveTo>
                  <a:lnTo>
                    <a:pt x="10972800" y="0"/>
                  </a:lnTo>
                  <a:cubicBezTo>
                    <a:pt x="11014885" y="0"/>
                    <a:pt x="11049000" y="34116"/>
                    <a:pt x="11049000" y="76200"/>
                  </a:cubicBezTo>
                  <a:lnTo>
                    <a:pt x="11049000" y="1876425"/>
                  </a:lnTo>
                  <a:cubicBezTo>
                    <a:pt x="11049000" y="1918509"/>
                    <a:pt x="11014885" y="1952625"/>
                    <a:pt x="10972800" y="1952625"/>
                  </a:cubicBezTo>
                  <a:lnTo>
                    <a:pt x="76200" y="1952625"/>
                  </a:lnTo>
                  <a:cubicBezTo>
                    <a:pt x="34116" y="1952625"/>
                    <a:pt x="0" y="1918509"/>
                    <a:pt x="0" y="1876425"/>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84" name="文本框 83">
              <a:extLst>
                <a:ext uri="{FF2B5EF4-FFF2-40B4-BE49-F238E27FC236}">
                  <a16:creationId xmlns:a16="http://schemas.microsoft.com/office/drawing/2014/main" id="{27CCC6B5-A71C-8217-DDFD-610718A9BE58}"/>
                </a:ext>
              </a:extLst>
            </p:cNvPr>
            <p:cNvSpPr txBox="1"/>
            <p:nvPr/>
          </p:nvSpPr>
          <p:spPr>
            <a:xfrm>
              <a:off x="765810" y="4440117"/>
              <a:ext cx="2950190"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2.2 税收情况 &amp; 2.3 土地财政依赖度</a:t>
              </a:r>
            </a:p>
          </p:txBody>
        </p:sp>
        <p:sp>
          <p:nvSpPr>
            <p:cNvPr id="85" name="任意形状 84">
              <a:extLst>
                <a:ext uri="{FF2B5EF4-FFF2-40B4-BE49-F238E27FC236}">
                  <a16:creationId xmlns:a16="http://schemas.microsoft.com/office/drawing/2014/main" id="{83905CB4-A23A-10E1-8851-AE74B98627C4}"/>
                </a:ext>
              </a:extLst>
            </p:cNvPr>
            <p:cNvSpPr/>
            <p:nvPr/>
          </p:nvSpPr>
          <p:spPr>
            <a:xfrm>
              <a:off x="857250" y="4857750"/>
              <a:ext cx="2476500" cy="1238250"/>
            </a:xfrm>
            <a:custGeom>
              <a:avLst/>
              <a:gdLst>
                <a:gd name="csX0" fmla="*/ 57150 w 2476500"/>
                <a:gd name="csY0" fmla="*/ 0 h 1238250"/>
                <a:gd name="csX1" fmla="*/ 2419350 w 2476500"/>
                <a:gd name="csY1" fmla="*/ 0 h 1238250"/>
                <a:gd name="csX2" fmla="*/ 2476500 w 2476500"/>
                <a:gd name="csY2" fmla="*/ 57150 h 1238250"/>
                <a:gd name="csX3" fmla="*/ 2476500 w 2476500"/>
                <a:gd name="csY3" fmla="*/ 1181100 h 1238250"/>
                <a:gd name="csX4" fmla="*/ 2419350 w 2476500"/>
                <a:gd name="csY4" fmla="*/ 1238250 h 1238250"/>
                <a:gd name="csX5" fmla="*/ 57150 w 2476500"/>
                <a:gd name="csY5" fmla="*/ 1238250 h 1238250"/>
                <a:gd name="csX6" fmla="*/ 0 w 2476500"/>
                <a:gd name="csY6" fmla="*/ 1181100 h 1238250"/>
                <a:gd name="csX7" fmla="*/ 0 w 2476500"/>
                <a:gd name="csY7" fmla="*/ 57150 h 1238250"/>
                <a:gd name="csX8" fmla="*/ 57150 w 24765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238250">
                  <a:moveTo>
                    <a:pt x="57150" y="0"/>
                  </a:moveTo>
                  <a:lnTo>
                    <a:pt x="2419350" y="0"/>
                  </a:lnTo>
                  <a:cubicBezTo>
                    <a:pt x="2450913" y="0"/>
                    <a:pt x="2476500" y="25587"/>
                    <a:pt x="2476500" y="57150"/>
                  </a:cubicBezTo>
                  <a:lnTo>
                    <a:pt x="2476500" y="1181100"/>
                  </a:lnTo>
                  <a:cubicBezTo>
                    <a:pt x="2476500" y="1212663"/>
                    <a:pt x="2450913" y="1238250"/>
                    <a:pt x="2419350" y="1238250"/>
                  </a:cubicBezTo>
                  <a:lnTo>
                    <a:pt x="57150" y="1238250"/>
                  </a:lnTo>
                  <a:cubicBezTo>
                    <a:pt x="25587" y="1238250"/>
                    <a:pt x="0" y="1212663"/>
                    <a:pt x="0" y="118110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86" name="文本框 85">
              <a:extLst>
                <a:ext uri="{FF2B5EF4-FFF2-40B4-BE49-F238E27FC236}">
                  <a16:creationId xmlns:a16="http://schemas.microsoft.com/office/drawing/2014/main" id="{D6FABF3E-D279-770D-F63F-035D2E0E49DD}"/>
                </a:ext>
              </a:extLst>
            </p:cNvPr>
            <p:cNvSpPr txBox="1"/>
            <p:nvPr/>
          </p:nvSpPr>
          <p:spPr>
            <a:xfrm>
              <a:off x="956310" y="4966760"/>
              <a:ext cx="678180"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税收收入</a:t>
              </a:r>
            </a:p>
          </p:txBody>
        </p:sp>
        <p:sp>
          <p:nvSpPr>
            <p:cNvPr id="87" name="文本框 86">
              <a:extLst>
                <a:ext uri="{FF2B5EF4-FFF2-40B4-BE49-F238E27FC236}">
                  <a16:creationId xmlns:a16="http://schemas.microsoft.com/office/drawing/2014/main" id="{DF98B549-9DC7-EF8C-3FCB-BC2B86EDF308}"/>
                </a:ext>
              </a:extLst>
            </p:cNvPr>
            <p:cNvSpPr txBox="1"/>
            <p:nvPr/>
          </p:nvSpPr>
          <p:spPr>
            <a:xfrm>
              <a:off x="956310" y="5163580"/>
              <a:ext cx="1647571"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1,521.52</a:t>
              </a:r>
            </a:p>
          </p:txBody>
        </p:sp>
        <p:sp>
          <p:nvSpPr>
            <p:cNvPr id="88" name="文本框 87">
              <a:extLst>
                <a:ext uri="{FF2B5EF4-FFF2-40B4-BE49-F238E27FC236}">
                  <a16:creationId xmlns:a16="http://schemas.microsoft.com/office/drawing/2014/main" id="{577F5FF3-FE22-32F6-447E-17FB6A6BE8CF}"/>
                </a:ext>
              </a:extLst>
            </p:cNvPr>
            <p:cNvSpPr txBox="1"/>
            <p:nvPr/>
          </p:nvSpPr>
          <p:spPr>
            <a:xfrm>
              <a:off x="2385060" y="5385306"/>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亿元</a:t>
              </a:r>
            </a:p>
          </p:txBody>
        </p:sp>
        <p:sp>
          <p:nvSpPr>
            <p:cNvPr id="89" name="文本框 88">
              <a:extLst>
                <a:ext uri="{FF2B5EF4-FFF2-40B4-BE49-F238E27FC236}">
                  <a16:creationId xmlns:a16="http://schemas.microsoft.com/office/drawing/2014/main" id="{06176C6F-6976-35DA-EC2C-1AC49C3F726B}"/>
                </a:ext>
              </a:extLst>
            </p:cNvPr>
            <p:cNvSpPr txBox="1"/>
            <p:nvPr/>
          </p:nvSpPr>
          <p:spPr>
            <a:xfrm>
              <a:off x="956310" y="5691213"/>
              <a:ext cx="973492"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同比+3.08%</a:t>
              </a:r>
            </a:p>
          </p:txBody>
        </p:sp>
        <p:sp>
          <p:nvSpPr>
            <p:cNvPr id="90" name="任意形状 89">
              <a:extLst>
                <a:ext uri="{FF2B5EF4-FFF2-40B4-BE49-F238E27FC236}">
                  <a16:creationId xmlns:a16="http://schemas.microsoft.com/office/drawing/2014/main" id="{A5288283-7131-2B62-40F5-F730C6B6149D}"/>
                </a:ext>
              </a:extLst>
            </p:cNvPr>
            <p:cNvSpPr/>
            <p:nvPr/>
          </p:nvSpPr>
          <p:spPr>
            <a:xfrm>
              <a:off x="3524250" y="4857750"/>
              <a:ext cx="2476500" cy="1238250"/>
            </a:xfrm>
            <a:custGeom>
              <a:avLst/>
              <a:gdLst>
                <a:gd name="csX0" fmla="*/ 57150 w 2476500"/>
                <a:gd name="csY0" fmla="*/ 0 h 1238250"/>
                <a:gd name="csX1" fmla="*/ 2419350 w 2476500"/>
                <a:gd name="csY1" fmla="*/ 0 h 1238250"/>
                <a:gd name="csX2" fmla="*/ 2476500 w 2476500"/>
                <a:gd name="csY2" fmla="*/ 57150 h 1238250"/>
                <a:gd name="csX3" fmla="*/ 2476500 w 2476500"/>
                <a:gd name="csY3" fmla="*/ 1181100 h 1238250"/>
                <a:gd name="csX4" fmla="*/ 2419350 w 2476500"/>
                <a:gd name="csY4" fmla="*/ 1238250 h 1238250"/>
                <a:gd name="csX5" fmla="*/ 57150 w 2476500"/>
                <a:gd name="csY5" fmla="*/ 1238250 h 1238250"/>
                <a:gd name="csX6" fmla="*/ 0 w 2476500"/>
                <a:gd name="csY6" fmla="*/ 1181100 h 1238250"/>
                <a:gd name="csX7" fmla="*/ 0 w 2476500"/>
                <a:gd name="csY7" fmla="*/ 57150 h 1238250"/>
                <a:gd name="csX8" fmla="*/ 57150 w 24765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238250">
                  <a:moveTo>
                    <a:pt x="57150" y="0"/>
                  </a:moveTo>
                  <a:lnTo>
                    <a:pt x="2419350" y="0"/>
                  </a:lnTo>
                  <a:cubicBezTo>
                    <a:pt x="2450913" y="0"/>
                    <a:pt x="2476500" y="25587"/>
                    <a:pt x="2476500" y="57150"/>
                  </a:cubicBezTo>
                  <a:lnTo>
                    <a:pt x="2476500" y="1181100"/>
                  </a:lnTo>
                  <a:cubicBezTo>
                    <a:pt x="2476500" y="1212663"/>
                    <a:pt x="2450913" y="1238250"/>
                    <a:pt x="2419350" y="1238250"/>
                  </a:cubicBezTo>
                  <a:lnTo>
                    <a:pt x="57150" y="1238250"/>
                  </a:lnTo>
                  <a:cubicBezTo>
                    <a:pt x="25587" y="1238250"/>
                    <a:pt x="0" y="1212663"/>
                    <a:pt x="0" y="118110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91" name="文本框 90">
              <a:extLst>
                <a:ext uri="{FF2B5EF4-FFF2-40B4-BE49-F238E27FC236}">
                  <a16:creationId xmlns:a16="http://schemas.microsoft.com/office/drawing/2014/main" id="{4440872B-F280-43B5-2BB1-D69EB15C6B46}"/>
                </a:ext>
              </a:extLst>
            </p:cNvPr>
            <p:cNvSpPr txBox="1"/>
            <p:nvPr/>
          </p:nvSpPr>
          <p:spPr>
            <a:xfrm>
              <a:off x="3623310" y="4966760"/>
              <a:ext cx="678180"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税收占比</a:t>
              </a:r>
            </a:p>
          </p:txBody>
        </p:sp>
        <p:sp>
          <p:nvSpPr>
            <p:cNvPr id="92" name="文本框 91">
              <a:extLst>
                <a:ext uri="{FF2B5EF4-FFF2-40B4-BE49-F238E27FC236}">
                  <a16:creationId xmlns:a16="http://schemas.microsoft.com/office/drawing/2014/main" id="{BF96BDB3-079F-3F19-49CD-B00536FAB7EC}"/>
                </a:ext>
              </a:extLst>
            </p:cNvPr>
            <p:cNvSpPr txBox="1"/>
            <p:nvPr/>
          </p:nvSpPr>
          <p:spPr>
            <a:xfrm>
              <a:off x="3623310" y="5163580"/>
              <a:ext cx="1126692" cy="544007"/>
            </a:xfrm>
            <a:prstGeom prst="rect">
              <a:avLst/>
            </a:prstGeom>
            <a:noFill/>
          </p:spPr>
          <p:txBody>
            <a:bodyPr wrap="none" rtlCol="0">
              <a:spAutoFit/>
            </a:bodyPr>
            <a:lstStyle/>
            <a:p>
              <a:pPr algn="l"/>
              <a:r>
                <a:rPr lang="zh-CN" altLang="en-US" sz="2700" b="1" spc="0" baseline="0">
                  <a:ln/>
                  <a:solidFill>
                    <a:srgbClr val="F59E0B"/>
                  </a:solidFill>
                  <a:latin typeface="微软雅黑"/>
                  <a:ea typeface="微软雅黑"/>
                  <a:sym typeface="微软雅黑"/>
                  <a:rtl val="0"/>
                </a:rPr>
                <a:t>58.62</a:t>
              </a:r>
            </a:p>
          </p:txBody>
        </p:sp>
        <p:sp>
          <p:nvSpPr>
            <p:cNvPr id="93" name="文本框 92">
              <a:extLst>
                <a:ext uri="{FF2B5EF4-FFF2-40B4-BE49-F238E27FC236}">
                  <a16:creationId xmlns:a16="http://schemas.microsoft.com/office/drawing/2014/main" id="{EF068293-7A3C-25A0-51F2-D7FD15275B01}"/>
                </a:ext>
              </a:extLst>
            </p:cNvPr>
            <p:cNvSpPr txBox="1"/>
            <p:nvPr/>
          </p:nvSpPr>
          <p:spPr>
            <a:xfrm>
              <a:off x="4575810" y="5385306"/>
              <a:ext cx="301514"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a:t>
              </a:r>
            </a:p>
          </p:txBody>
        </p:sp>
        <p:sp>
          <p:nvSpPr>
            <p:cNvPr id="94" name="文本框 93">
              <a:extLst>
                <a:ext uri="{FF2B5EF4-FFF2-40B4-BE49-F238E27FC236}">
                  <a16:creationId xmlns:a16="http://schemas.microsoft.com/office/drawing/2014/main" id="{A8E1D6C5-562C-88DF-61C6-523B23EB1247}"/>
                </a:ext>
              </a:extLst>
            </p:cNvPr>
            <p:cNvSpPr txBox="1"/>
            <p:nvPr/>
          </p:nvSpPr>
          <p:spPr>
            <a:xfrm>
              <a:off x="3623310" y="5691213"/>
              <a:ext cx="1231336"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全国第28位（偏低）</a:t>
              </a:r>
            </a:p>
          </p:txBody>
        </p:sp>
        <p:sp>
          <p:nvSpPr>
            <p:cNvPr id="95" name="任意形状 94">
              <a:extLst>
                <a:ext uri="{FF2B5EF4-FFF2-40B4-BE49-F238E27FC236}">
                  <a16:creationId xmlns:a16="http://schemas.microsoft.com/office/drawing/2014/main" id="{842F2FA9-8F74-57AD-F616-B346453C5AF6}"/>
                </a:ext>
              </a:extLst>
            </p:cNvPr>
            <p:cNvSpPr/>
            <p:nvPr/>
          </p:nvSpPr>
          <p:spPr>
            <a:xfrm>
              <a:off x="6191250" y="4857750"/>
              <a:ext cx="2476500" cy="1238250"/>
            </a:xfrm>
            <a:custGeom>
              <a:avLst/>
              <a:gdLst>
                <a:gd name="csX0" fmla="*/ 57150 w 2476500"/>
                <a:gd name="csY0" fmla="*/ 0 h 1238250"/>
                <a:gd name="csX1" fmla="*/ 2419350 w 2476500"/>
                <a:gd name="csY1" fmla="*/ 0 h 1238250"/>
                <a:gd name="csX2" fmla="*/ 2476500 w 2476500"/>
                <a:gd name="csY2" fmla="*/ 57150 h 1238250"/>
                <a:gd name="csX3" fmla="*/ 2476500 w 2476500"/>
                <a:gd name="csY3" fmla="*/ 1181100 h 1238250"/>
                <a:gd name="csX4" fmla="*/ 2419350 w 2476500"/>
                <a:gd name="csY4" fmla="*/ 1238250 h 1238250"/>
                <a:gd name="csX5" fmla="*/ 57150 w 2476500"/>
                <a:gd name="csY5" fmla="*/ 1238250 h 1238250"/>
                <a:gd name="csX6" fmla="*/ 0 w 2476500"/>
                <a:gd name="csY6" fmla="*/ 1181100 h 1238250"/>
                <a:gd name="csX7" fmla="*/ 0 w 2476500"/>
                <a:gd name="csY7" fmla="*/ 57150 h 1238250"/>
                <a:gd name="csX8" fmla="*/ 57150 w 24765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238250">
                  <a:moveTo>
                    <a:pt x="57150" y="0"/>
                  </a:moveTo>
                  <a:lnTo>
                    <a:pt x="2419350" y="0"/>
                  </a:lnTo>
                  <a:cubicBezTo>
                    <a:pt x="2450913" y="0"/>
                    <a:pt x="2476500" y="25587"/>
                    <a:pt x="2476500" y="57150"/>
                  </a:cubicBezTo>
                  <a:lnTo>
                    <a:pt x="2476500" y="1181100"/>
                  </a:lnTo>
                  <a:cubicBezTo>
                    <a:pt x="2476500" y="1212663"/>
                    <a:pt x="2450913" y="1238250"/>
                    <a:pt x="2419350" y="1238250"/>
                  </a:cubicBezTo>
                  <a:lnTo>
                    <a:pt x="57150" y="1238250"/>
                  </a:lnTo>
                  <a:cubicBezTo>
                    <a:pt x="25587" y="1238250"/>
                    <a:pt x="0" y="1212663"/>
                    <a:pt x="0" y="118110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96" name="文本框 95">
              <a:extLst>
                <a:ext uri="{FF2B5EF4-FFF2-40B4-BE49-F238E27FC236}">
                  <a16:creationId xmlns:a16="http://schemas.microsoft.com/office/drawing/2014/main" id="{188E2E2F-0A1F-EB19-B1DF-D0811A57A0B3}"/>
                </a:ext>
              </a:extLst>
            </p:cNvPr>
            <p:cNvSpPr txBox="1"/>
            <p:nvPr/>
          </p:nvSpPr>
          <p:spPr>
            <a:xfrm>
              <a:off x="6290310" y="4966760"/>
              <a:ext cx="925830"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土地出让收入</a:t>
              </a:r>
            </a:p>
          </p:txBody>
        </p:sp>
        <p:sp>
          <p:nvSpPr>
            <p:cNvPr id="97" name="文本框 96">
              <a:extLst>
                <a:ext uri="{FF2B5EF4-FFF2-40B4-BE49-F238E27FC236}">
                  <a16:creationId xmlns:a16="http://schemas.microsoft.com/office/drawing/2014/main" id="{598A26E0-0970-D533-5CD0-FDEE5F63214B}"/>
                </a:ext>
              </a:extLst>
            </p:cNvPr>
            <p:cNvSpPr txBox="1"/>
            <p:nvPr/>
          </p:nvSpPr>
          <p:spPr>
            <a:xfrm>
              <a:off x="6290310" y="5163580"/>
              <a:ext cx="1647571"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1,527.75</a:t>
              </a:r>
            </a:p>
          </p:txBody>
        </p:sp>
        <p:sp>
          <p:nvSpPr>
            <p:cNvPr id="98" name="文本框 97">
              <a:extLst>
                <a:ext uri="{FF2B5EF4-FFF2-40B4-BE49-F238E27FC236}">
                  <a16:creationId xmlns:a16="http://schemas.microsoft.com/office/drawing/2014/main" id="{8BB5A2A0-9E38-D07C-36DF-99DABF13F501}"/>
                </a:ext>
              </a:extLst>
            </p:cNvPr>
            <p:cNvSpPr txBox="1"/>
            <p:nvPr/>
          </p:nvSpPr>
          <p:spPr>
            <a:xfrm>
              <a:off x="7814310" y="5385306"/>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亿元</a:t>
              </a:r>
            </a:p>
          </p:txBody>
        </p:sp>
        <p:sp>
          <p:nvSpPr>
            <p:cNvPr id="99" name="文本框 98">
              <a:extLst>
                <a:ext uri="{FF2B5EF4-FFF2-40B4-BE49-F238E27FC236}">
                  <a16:creationId xmlns:a16="http://schemas.microsoft.com/office/drawing/2014/main" id="{D118D194-D6AC-03A3-29D2-24F95B555806}"/>
                </a:ext>
              </a:extLst>
            </p:cNvPr>
            <p:cNvSpPr txBox="1"/>
            <p:nvPr/>
          </p:nvSpPr>
          <p:spPr>
            <a:xfrm>
              <a:off x="6290310" y="5691213"/>
              <a:ext cx="1284915"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 -9.86% | 全国13位</a:t>
              </a:r>
            </a:p>
          </p:txBody>
        </p:sp>
        <p:sp>
          <p:nvSpPr>
            <p:cNvPr id="100" name="任意形状 99">
              <a:extLst>
                <a:ext uri="{FF2B5EF4-FFF2-40B4-BE49-F238E27FC236}">
                  <a16:creationId xmlns:a16="http://schemas.microsoft.com/office/drawing/2014/main" id="{151E5420-9786-9DEB-76C4-1AC0F03BDE83}"/>
                </a:ext>
              </a:extLst>
            </p:cNvPr>
            <p:cNvSpPr/>
            <p:nvPr/>
          </p:nvSpPr>
          <p:spPr>
            <a:xfrm>
              <a:off x="8858250" y="4857750"/>
              <a:ext cx="2476500" cy="1238250"/>
            </a:xfrm>
            <a:custGeom>
              <a:avLst/>
              <a:gdLst>
                <a:gd name="csX0" fmla="*/ 57150 w 2476500"/>
                <a:gd name="csY0" fmla="*/ 0 h 1238250"/>
                <a:gd name="csX1" fmla="*/ 2419350 w 2476500"/>
                <a:gd name="csY1" fmla="*/ 0 h 1238250"/>
                <a:gd name="csX2" fmla="*/ 2476500 w 2476500"/>
                <a:gd name="csY2" fmla="*/ 57150 h 1238250"/>
                <a:gd name="csX3" fmla="*/ 2476500 w 2476500"/>
                <a:gd name="csY3" fmla="*/ 1181100 h 1238250"/>
                <a:gd name="csX4" fmla="*/ 2419350 w 2476500"/>
                <a:gd name="csY4" fmla="*/ 1238250 h 1238250"/>
                <a:gd name="csX5" fmla="*/ 57150 w 2476500"/>
                <a:gd name="csY5" fmla="*/ 1238250 h 1238250"/>
                <a:gd name="csX6" fmla="*/ 0 w 2476500"/>
                <a:gd name="csY6" fmla="*/ 1181100 h 1238250"/>
                <a:gd name="csX7" fmla="*/ 0 w 2476500"/>
                <a:gd name="csY7" fmla="*/ 57150 h 1238250"/>
                <a:gd name="csX8" fmla="*/ 57150 w 24765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238250">
                  <a:moveTo>
                    <a:pt x="57150" y="0"/>
                  </a:moveTo>
                  <a:lnTo>
                    <a:pt x="2419350" y="0"/>
                  </a:lnTo>
                  <a:cubicBezTo>
                    <a:pt x="2450913" y="0"/>
                    <a:pt x="2476500" y="25587"/>
                    <a:pt x="2476500" y="57150"/>
                  </a:cubicBezTo>
                  <a:lnTo>
                    <a:pt x="2476500" y="1181100"/>
                  </a:lnTo>
                  <a:cubicBezTo>
                    <a:pt x="2476500" y="1212663"/>
                    <a:pt x="2450913" y="1238250"/>
                    <a:pt x="2419350" y="1238250"/>
                  </a:cubicBezTo>
                  <a:lnTo>
                    <a:pt x="57150" y="1238250"/>
                  </a:lnTo>
                  <a:cubicBezTo>
                    <a:pt x="25587" y="1238250"/>
                    <a:pt x="0" y="1212663"/>
                    <a:pt x="0" y="1181100"/>
                  </a:cubicBezTo>
                  <a:lnTo>
                    <a:pt x="0" y="57150"/>
                  </a:lnTo>
                  <a:cubicBezTo>
                    <a:pt x="0" y="25587"/>
                    <a:pt x="25587" y="0"/>
                    <a:pt x="57150" y="0"/>
                  </a:cubicBezTo>
                  <a:close/>
                </a:path>
              </a:pathLst>
            </a:custGeom>
            <a:solidFill>
              <a:srgbClr val="FEF3C7"/>
            </a:solidFill>
            <a:ln w="9525" cap="flat">
              <a:noFill/>
              <a:prstDash val="solid"/>
              <a:miter/>
            </a:ln>
          </p:spPr>
          <p:txBody>
            <a:bodyPr/>
            <a:lstStyle/>
            <a:p>
              <a:endParaRPr lang="zh-CN" altLang="en-US"/>
            </a:p>
          </p:txBody>
        </p:sp>
        <p:sp>
          <p:nvSpPr>
            <p:cNvPr id="101" name="文本框 100">
              <a:extLst>
                <a:ext uri="{FF2B5EF4-FFF2-40B4-BE49-F238E27FC236}">
                  <a16:creationId xmlns:a16="http://schemas.microsoft.com/office/drawing/2014/main" id="{A17DC6B8-E6DA-036E-00B6-DA8F7AE7BB4A}"/>
                </a:ext>
              </a:extLst>
            </p:cNvPr>
            <p:cNvSpPr txBox="1"/>
            <p:nvPr/>
          </p:nvSpPr>
          <p:spPr>
            <a:xfrm>
              <a:off x="8957310" y="4966760"/>
              <a:ext cx="1226383"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土地出让/一般预算</a:t>
              </a:r>
            </a:p>
          </p:txBody>
        </p:sp>
        <p:sp>
          <p:nvSpPr>
            <p:cNvPr id="102" name="文本框 101">
              <a:extLst>
                <a:ext uri="{FF2B5EF4-FFF2-40B4-BE49-F238E27FC236}">
                  <a16:creationId xmlns:a16="http://schemas.microsoft.com/office/drawing/2014/main" id="{538C4E4B-0CD5-BF8B-1697-2A96C85958A9}"/>
                </a:ext>
              </a:extLst>
            </p:cNvPr>
            <p:cNvSpPr txBox="1"/>
            <p:nvPr/>
          </p:nvSpPr>
          <p:spPr>
            <a:xfrm>
              <a:off x="8957310" y="5163580"/>
              <a:ext cx="1126692" cy="544007"/>
            </a:xfrm>
            <a:prstGeom prst="rect">
              <a:avLst/>
            </a:prstGeom>
            <a:noFill/>
          </p:spPr>
          <p:txBody>
            <a:bodyPr wrap="none" rtlCol="0">
              <a:spAutoFit/>
            </a:bodyPr>
            <a:lstStyle/>
            <a:p>
              <a:pPr algn="l"/>
              <a:r>
                <a:rPr lang="zh-CN" altLang="en-US" sz="2700" b="1" spc="0" baseline="0">
                  <a:ln/>
                  <a:solidFill>
                    <a:srgbClr val="E63946"/>
                  </a:solidFill>
                  <a:latin typeface="微软雅黑"/>
                  <a:ea typeface="微软雅黑"/>
                  <a:sym typeface="微软雅黑"/>
                  <a:rtl val="0"/>
                </a:rPr>
                <a:t>58.86</a:t>
              </a:r>
            </a:p>
          </p:txBody>
        </p:sp>
        <p:sp>
          <p:nvSpPr>
            <p:cNvPr id="103" name="文本框 102">
              <a:extLst>
                <a:ext uri="{FF2B5EF4-FFF2-40B4-BE49-F238E27FC236}">
                  <a16:creationId xmlns:a16="http://schemas.microsoft.com/office/drawing/2014/main" id="{30E20ED0-EB83-F0E1-BA1A-D7D4FB9A3773}"/>
                </a:ext>
              </a:extLst>
            </p:cNvPr>
            <p:cNvSpPr txBox="1"/>
            <p:nvPr/>
          </p:nvSpPr>
          <p:spPr>
            <a:xfrm>
              <a:off x="9957435" y="5385306"/>
              <a:ext cx="301514"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a:t>
              </a:r>
            </a:p>
          </p:txBody>
        </p:sp>
        <p:sp>
          <p:nvSpPr>
            <p:cNvPr id="104" name="文本框 103">
              <a:extLst>
                <a:ext uri="{FF2B5EF4-FFF2-40B4-BE49-F238E27FC236}">
                  <a16:creationId xmlns:a16="http://schemas.microsoft.com/office/drawing/2014/main" id="{5447255C-3921-BBD7-B1B2-A6D61E378534}"/>
                </a:ext>
              </a:extLst>
            </p:cNvPr>
            <p:cNvSpPr txBox="1"/>
            <p:nvPr/>
          </p:nvSpPr>
          <p:spPr>
            <a:xfrm>
              <a:off x="8957310" y="5691213"/>
              <a:ext cx="1426729" cy="248100"/>
            </a:xfrm>
            <a:prstGeom prst="rect">
              <a:avLst/>
            </a:prstGeom>
            <a:noFill/>
          </p:spPr>
          <p:txBody>
            <a:bodyPr wrap="none" rtlCol="0">
              <a:spAutoFit/>
            </a:bodyPr>
            <a:lstStyle/>
            <a:p>
              <a:pPr algn="l"/>
              <a:r>
                <a:rPr lang="zh-CN" altLang="en-US" sz="900" spc="0" baseline="0">
                  <a:ln/>
                  <a:solidFill>
                    <a:srgbClr val="E63946"/>
                  </a:solidFill>
                  <a:latin typeface="Apple Color Emoji"/>
                  <a:ea typeface="Apple Color Emoji"/>
                  <a:sym typeface="Apple Color Emoji"/>
                  <a:rtl val="0"/>
                </a:rPr>
                <a:t>⚠️</a:t>
              </a:r>
              <a:r>
                <a:rPr lang="zh-CN" altLang="en-US" sz="900" spc="0" baseline="0">
                  <a:ln/>
                  <a:solidFill>
                    <a:srgbClr val="E63946"/>
                  </a:solidFill>
                  <a:latin typeface="微软雅黑"/>
                  <a:ea typeface="微软雅黑"/>
                  <a:sym typeface="微软雅黑"/>
                  <a:rtl val="0"/>
                </a:rPr>
                <a:t> 全国第4位（高依赖）</a:t>
              </a:r>
            </a:p>
          </p:txBody>
        </p:sp>
      </p:grpSp>
      <p:sp>
        <p:nvSpPr>
          <p:cNvPr id="105" name="矩形 104">
            <a:extLst>
              <a:ext uri="{FF2B5EF4-FFF2-40B4-BE49-F238E27FC236}">
                <a16:creationId xmlns:a16="http://schemas.microsoft.com/office/drawing/2014/main" id="{C7CAB189-91E4-491C-37DF-6CDA2260C431}"/>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3DEF1A7-F38F-4709-3286-B8A0E2E40F68}"/>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A5A94374-7391-6D76-25D9-03F49C02A262}"/>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017B576F-F3E2-A6DE-DD4C-7FA91287FF60}"/>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0C787482-99E7-5E5C-5629-B961F6931371}"/>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A5F49086-C062-3628-08F4-F1E9589C31E4}"/>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247BA8D6-DE1F-BD55-7C75-934509642882}"/>
              </a:ext>
            </a:extLst>
          </p:cNvPr>
          <p:cNvSpPr txBox="1"/>
          <p:nvPr/>
        </p:nvSpPr>
        <p:spPr>
          <a:xfrm>
            <a:off x="2004060" y="175131"/>
            <a:ext cx="104548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02 财政及债务</a:t>
            </a:r>
          </a:p>
        </p:txBody>
      </p:sp>
      <p:sp>
        <p:nvSpPr>
          <p:cNvPr id="10" name="文本框 9">
            <a:extLst>
              <a:ext uri="{FF2B5EF4-FFF2-40B4-BE49-F238E27FC236}">
                <a16:creationId xmlns:a16="http://schemas.microsoft.com/office/drawing/2014/main" id="{7AEA41B8-5B13-9A3A-9D88-B348A2F9F82A}"/>
              </a:ext>
            </a:extLst>
          </p:cNvPr>
          <p:cNvSpPr txBox="1"/>
          <p:nvPr/>
        </p:nvSpPr>
        <p:spPr>
          <a:xfrm>
            <a:off x="11158570" y="175131"/>
            <a:ext cx="55336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9 / 20</a:t>
            </a:r>
          </a:p>
        </p:txBody>
      </p:sp>
      <p:sp>
        <p:nvSpPr>
          <p:cNvPr id="11" name="矩形 10">
            <a:extLst>
              <a:ext uri="{FF2B5EF4-FFF2-40B4-BE49-F238E27FC236}">
                <a16:creationId xmlns:a16="http://schemas.microsoft.com/office/drawing/2014/main" id="{52191E56-DB83-5CD8-4A4E-0BC192FDBD3E}"/>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65C7FFC4-57FD-7F33-7264-ACE658E77E67}"/>
              </a:ext>
            </a:extLst>
          </p:cNvPr>
          <p:cNvSpPr txBox="1"/>
          <p:nvPr/>
        </p:nvSpPr>
        <p:spPr>
          <a:xfrm>
            <a:off x="480060" y="672208"/>
            <a:ext cx="1734245"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2.4 债务负担</a:t>
            </a:r>
          </a:p>
        </p:txBody>
      </p:sp>
      <p:grpSp>
        <p:nvGrpSpPr>
          <p:cNvPr id="13" name="SVG Image 9">
            <a:extLst>
              <a:ext uri="{FF2B5EF4-FFF2-40B4-BE49-F238E27FC236}">
                <a16:creationId xmlns:a16="http://schemas.microsoft.com/office/drawing/2014/main" id="{8738A866-0F79-D171-9057-28F93897FFEA}"/>
              </a:ext>
            </a:extLst>
          </p:cNvPr>
          <p:cNvGrpSpPr/>
          <p:nvPr/>
        </p:nvGrpSpPr>
        <p:grpSpPr>
          <a:xfrm>
            <a:off x="571500" y="1238250"/>
            <a:ext cx="2667000" cy="1428750"/>
            <a:chOff x="571500" y="1238250"/>
            <a:chExt cx="2667000" cy="1428750"/>
          </a:xfrm>
        </p:grpSpPr>
        <p:sp>
          <p:nvSpPr>
            <p:cNvPr id="14" name="任意形状 13">
              <a:extLst>
                <a:ext uri="{FF2B5EF4-FFF2-40B4-BE49-F238E27FC236}">
                  <a16:creationId xmlns:a16="http://schemas.microsoft.com/office/drawing/2014/main" id="{3675CD58-982E-823F-E161-85BF3F3CAC64}"/>
                </a:ext>
              </a:extLst>
            </p:cNvPr>
            <p:cNvSpPr/>
            <p:nvPr/>
          </p:nvSpPr>
          <p:spPr>
            <a:xfrm>
              <a:off x="571500" y="123825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5" name="任意形状 14">
              <a:extLst>
                <a:ext uri="{FF2B5EF4-FFF2-40B4-BE49-F238E27FC236}">
                  <a16:creationId xmlns:a16="http://schemas.microsoft.com/office/drawing/2014/main" id="{CF77908B-C0BB-AE6F-38D9-D481503C65C5}"/>
                </a:ext>
              </a:extLst>
            </p:cNvPr>
            <p:cNvSpPr/>
            <p:nvPr/>
          </p:nvSpPr>
          <p:spPr>
            <a:xfrm>
              <a:off x="571500" y="1238250"/>
              <a:ext cx="38100" cy="1428750"/>
            </a:xfrm>
            <a:custGeom>
              <a:avLst/>
              <a:gdLst>
                <a:gd name="csX0" fmla="*/ 19050 w 38100"/>
                <a:gd name="csY0" fmla="*/ 0 h 1428750"/>
                <a:gd name="csX1" fmla="*/ 19050 w 38100"/>
                <a:gd name="csY1" fmla="*/ 0 h 1428750"/>
                <a:gd name="csX2" fmla="*/ 38100 w 38100"/>
                <a:gd name="csY2" fmla="*/ 19050 h 1428750"/>
                <a:gd name="csX3" fmla="*/ 38100 w 38100"/>
                <a:gd name="csY3" fmla="*/ 1409700 h 1428750"/>
                <a:gd name="csX4" fmla="*/ 19050 w 38100"/>
                <a:gd name="csY4" fmla="*/ 1428750 h 1428750"/>
                <a:gd name="csX5" fmla="*/ 19050 w 38100"/>
                <a:gd name="csY5" fmla="*/ 1428750 h 1428750"/>
                <a:gd name="csX6" fmla="*/ 0 w 38100"/>
                <a:gd name="csY6" fmla="*/ 1409700 h 1428750"/>
                <a:gd name="csX7" fmla="*/ 0 w 38100"/>
                <a:gd name="csY7" fmla="*/ 19050 h 1428750"/>
                <a:gd name="csX8" fmla="*/ 19050 w 381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428750">
                  <a:moveTo>
                    <a:pt x="19050" y="0"/>
                  </a:moveTo>
                  <a:lnTo>
                    <a:pt x="19050" y="0"/>
                  </a:lnTo>
                  <a:cubicBezTo>
                    <a:pt x="29571" y="0"/>
                    <a:pt x="38100" y="8529"/>
                    <a:pt x="38100" y="19050"/>
                  </a:cubicBezTo>
                  <a:lnTo>
                    <a:pt x="38100" y="1409700"/>
                  </a:lnTo>
                  <a:cubicBezTo>
                    <a:pt x="38100" y="1420221"/>
                    <a:pt x="29571" y="1428750"/>
                    <a:pt x="19050" y="1428750"/>
                  </a:cubicBezTo>
                  <a:lnTo>
                    <a:pt x="19050" y="1428750"/>
                  </a:lnTo>
                  <a:cubicBezTo>
                    <a:pt x="8529" y="1428750"/>
                    <a:pt x="0" y="1420221"/>
                    <a:pt x="0" y="1409700"/>
                  </a:cubicBezTo>
                  <a:lnTo>
                    <a:pt x="0" y="19050"/>
                  </a:lnTo>
                  <a:cubicBezTo>
                    <a:pt x="0" y="8529"/>
                    <a:pt x="8529" y="0"/>
                    <a:pt x="19050" y="0"/>
                  </a:cubicBezTo>
                  <a:close/>
                </a:path>
              </a:pathLst>
            </a:custGeom>
            <a:solidFill>
              <a:srgbClr val="E63946"/>
            </a:solidFill>
            <a:ln w="9525" cap="flat">
              <a:noFill/>
              <a:prstDash val="solid"/>
              <a:miter/>
            </a:ln>
          </p:spPr>
          <p:txBody>
            <a:bodyPr/>
            <a:lstStyle/>
            <a:p>
              <a:endParaRPr lang="zh-CN" altLang="en-US"/>
            </a:p>
          </p:txBody>
        </p:sp>
        <p:sp>
          <p:nvSpPr>
            <p:cNvPr id="16" name="文本框 15">
              <a:extLst>
                <a:ext uri="{FF2B5EF4-FFF2-40B4-BE49-F238E27FC236}">
                  <a16:creationId xmlns:a16="http://schemas.microsoft.com/office/drawing/2014/main" id="{B4B43A16-D49F-6AAF-A33B-BBCF311F44D7}"/>
                </a:ext>
              </a:extLst>
            </p:cNvPr>
            <p:cNvSpPr txBox="1"/>
            <p:nvPr/>
          </p:nvSpPr>
          <p:spPr>
            <a:xfrm>
              <a:off x="718185" y="1384806"/>
              <a:ext cx="12496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地方政府债务余额</a:t>
              </a:r>
            </a:p>
          </p:txBody>
        </p:sp>
        <p:sp>
          <p:nvSpPr>
            <p:cNvPr id="17" name="文本框 16">
              <a:extLst>
                <a:ext uri="{FF2B5EF4-FFF2-40B4-BE49-F238E27FC236}">
                  <a16:creationId xmlns:a16="http://schemas.microsoft.com/office/drawing/2014/main" id="{A1A23C25-24CC-48DA-EFB1-4EAD67B58BC5}"/>
                </a:ext>
              </a:extLst>
            </p:cNvPr>
            <p:cNvSpPr txBox="1"/>
            <p:nvPr/>
          </p:nvSpPr>
          <p:spPr>
            <a:xfrm>
              <a:off x="718185" y="1674109"/>
              <a:ext cx="2138397"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14,425.36</a:t>
              </a:r>
            </a:p>
          </p:txBody>
        </p:sp>
        <p:sp>
          <p:nvSpPr>
            <p:cNvPr id="18" name="文本框 17">
              <a:extLst>
                <a:ext uri="{FF2B5EF4-FFF2-40B4-BE49-F238E27FC236}">
                  <a16:creationId xmlns:a16="http://schemas.microsoft.com/office/drawing/2014/main" id="{48A960C4-1D59-65C6-D74B-0DFF45565C93}"/>
                </a:ext>
              </a:extLst>
            </p:cNvPr>
            <p:cNvSpPr txBox="1"/>
            <p:nvPr/>
          </p:nvSpPr>
          <p:spPr>
            <a:xfrm>
              <a:off x="2718435" y="1956306"/>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亿元</a:t>
              </a:r>
            </a:p>
          </p:txBody>
        </p:sp>
        <p:sp>
          <p:nvSpPr>
            <p:cNvPr id="19" name="任意形状 18">
              <a:extLst>
                <a:ext uri="{FF2B5EF4-FFF2-40B4-BE49-F238E27FC236}">
                  <a16:creationId xmlns:a16="http://schemas.microsoft.com/office/drawing/2014/main" id="{68A9BB59-0C06-CCF8-80C9-D961F8CB258A}"/>
                </a:ext>
              </a:extLst>
            </p:cNvPr>
            <p:cNvSpPr/>
            <p:nvPr/>
          </p:nvSpPr>
          <p:spPr>
            <a:xfrm>
              <a:off x="809625" y="2333625"/>
              <a:ext cx="762000" cy="209550"/>
            </a:xfrm>
            <a:custGeom>
              <a:avLst/>
              <a:gdLst>
                <a:gd name="csX0" fmla="*/ 38100 w 762000"/>
                <a:gd name="csY0" fmla="*/ 0 h 209550"/>
                <a:gd name="csX1" fmla="*/ 723900 w 762000"/>
                <a:gd name="csY1" fmla="*/ 0 h 209550"/>
                <a:gd name="csX2" fmla="*/ 762000 w 762000"/>
                <a:gd name="csY2" fmla="*/ 38100 h 209550"/>
                <a:gd name="csX3" fmla="*/ 762000 w 762000"/>
                <a:gd name="csY3" fmla="*/ 171450 h 209550"/>
                <a:gd name="csX4" fmla="*/ 723900 w 762000"/>
                <a:gd name="csY4" fmla="*/ 209550 h 209550"/>
                <a:gd name="csX5" fmla="*/ 38100 w 762000"/>
                <a:gd name="csY5" fmla="*/ 209550 h 209550"/>
                <a:gd name="csX6" fmla="*/ 0 w 762000"/>
                <a:gd name="csY6" fmla="*/ 171450 h 209550"/>
                <a:gd name="csX7" fmla="*/ 0 w 762000"/>
                <a:gd name="csY7" fmla="*/ 38100 h 209550"/>
                <a:gd name="csX8" fmla="*/ 38100 w 7620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0" h="209550">
                  <a:moveTo>
                    <a:pt x="38100" y="0"/>
                  </a:moveTo>
                  <a:lnTo>
                    <a:pt x="723900" y="0"/>
                  </a:lnTo>
                  <a:cubicBezTo>
                    <a:pt x="744942" y="0"/>
                    <a:pt x="762000" y="17058"/>
                    <a:pt x="762000" y="38100"/>
                  </a:cubicBezTo>
                  <a:lnTo>
                    <a:pt x="762000" y="171450"/>
                  </a:lnTo>
                  <a:cubicBezTo>
                    <a:pt x="762000" y="192492"/>
                    <a:pt x="744942" y="209550"/>
                    <a:pt x="723900" y="209550"/>
                  </a:cubicBezTo>
                  <a:lnTo>
                    <a:pt x="38100" y="209550"/>
                  </a:lnTo>
                  <a:cubicBezTo>
                    <a:pt x="17058" y="209550"/>
                    <a:pt x="0" y="192492"/>
                    <a:pt x="0" y="1714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20" name="文本框 19">
              <a:extLst>
                <a:ext uri="{FF2B5EF4-FFF2-40B4-BE49-F238E27FC236}">
                  <a16:creationId xmlns:a16="http://schemas.microsoft.com/office/drawing/2014/main" id="{51062B78-CDFF-B3F8-B6C8-57C574F977BA}"/>
                </a:ext>
              </a:extLst>
            </p:cNvPr>
            <p:cNvSpPr txBox="1"/>
            <p:nvPr/>
          </p:nvSpPr>
          <p:spPr>
            <a:xfrm>
              <a:off x="803556" y="2319363"/>
              <a:ext cx="774136"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全国第15位</a:t>
              </a:r>
            </a:p>
          </p:txBody>
        </p:sp>
        <p:sp>
          <p:nvSpPr>
            <p:cNvPr id="21" name="文本框 20">
              <a:extLst>
                <a:ext uri="{FF2B5EF4-FFF2-40B4-BE49-F238E27FC236}">
                  <a16:creationId xmlns:a16="http://schemas.microsoft.com/office/drawing/2014/main" id="{D710C4A9-D1F3-4644-17D1-C2E4AA6AB617}"/>
                </a:ext>
              </a:extLst>
            </p:cNvPr>
            <p:cNvSpPr txBox="1"/>
            <p:nvPr/>
          </p:nvSpPr>
          <p:spPr>
            <a:xfrm>
              <a:off x="1623060" y="2319363"/>
              <a:ext cx="811920"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 +17.69%</a:t>
              </a:r>
            </a:p>
          </p:txBody>
        </p:sp>
      </p:grpSp>
      <p:grpSp>
        <p:nvGrpSpPr>
          <p:cNvPr id="22" name="SVG Image 9">
            <a:extLst>
              <a:ext uri="{FF2B5EF4-FFF2-40B4-BE49-F238E27FC236}">
                <a16:creationId xmlns:a16="http://schemas.microsoft.com/office/drawing/2014/main" id="{2C8C19E4-1024-F7DA-4439-5F2862411156}"/>
              </a:ext>
            </a:extLst>
          </p:cNvPr>
          <p:cNvGrpSpPr/>
          <p:nvPr/>
        </p:nvGrpSpPr>
        <p:grpSpPr>
          <a:xfrm>
            <a:off x="3429000" y="1238250"/>
            <a:ext cx="2667000" cy="1428750"/>
            <a:chOff x="3429000" y="1238250"/>
            <a:chExt cx="2667000" cy="1428750"/>
          </a:xfrm>
        </p:grpSpPr>
        <p:sp>
          <p:nvSpPr>
            <p:cNvPr id="23" name="任意形状 22">
              <a:extLst>
                <a:ext uri="{FF2B5EF4-FFF2-40B4-BE49-F238E27FC236}">
                  <a16:creationId xmlns:a16="http://schemas.microsoft.com/office/drawing/2014/main" id="{45491EAE-9FD1-5483-D042-CB027F1DD2C1}"/>
                </a:ext>
              </a:extLst>
            </p:cNvPr>
            <p:cNvSpPr/>
            <p:nvPr/>
          </p:nvSpPr>
          <p:spPr>
            <a:xfrm>
              <a:off x="3429000" y="123825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4" name="任意形状 23">
              <a:extLst>
                <a:ext uri="{FF2B5EF4-FFF2-40B4-BE49-F238E27FC236}">
                  <a16:creationId xmlns:a16="http://schemas.microsoft.com/office/drawing/2014/main" id="{45D30E66-107D-185A-8917-2AD92A383EB1}"/>
                </a:ext>
              </a:extLst>
            </p:cNvPr>
            <p:cNvSpPr/>
            <p:nvPr/>
          </p:nvSpPr>
          <p:spPr>
            <a:xfrm>
              <a:off x="3429000" y="1238250"/>
              <a:ext cx="38100" cy="1428750"/>
            </a:xfrm>
            <a:custGeom>
              <a:avLst/>
              <a:gdLst>
                <a:gd name="csX0" fmla="*/ 19050 w 38100"/>
                <a:gd name="csY0" fmla="*/ 0 h 1428750"/>
                <a:gd name="csX1" fmla="*/ 19050 w 38100"/>
                <a:gd name="csY1" fmla="*/ 0 h 1428750"/>
                <a:gd name="csX2" fmla="*/ 38100 w 38100"/>
                <a:gd name="csY2" fmla="*/ 19050 h 1428750"/>
                <a:gd name="csX3" fmla="*/ 38100 w 38100"/>
                <a:gd name="csY3" fmla="*/ 1409700 h 1428750"/>
                <a:gd name="csX4" fmla="*/ 19050 w 38100"/>
                <a:gd name="csY4" fmla="*/ 1428750 h 1428750"/>
                <a:gd name="csX5" fmla="*/ 19050 w 38100"/>
                <a:gd name="csY5" fmla="*/ 1428750 h 1428750"/>
                <a:gd name="csX6" fmla="*/ 0 w 38100"/>
                <a:gd name="csY6" fmla="*/ 1409700 h 1428750"/>
                <a:gd name="csX7" fmla="*/ 0 w 38100"/>
                <a:gd name="csY7" fmla="*/ 19050 h 1428750"/>
                <a:gd name="csX8" fmla="*/ 19050 w 381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428750">
                  <a:moveTo>
                    <a:pt x="19050" y="0"/>
                  </a:moveTo>
                  <a:lnTo>
                    <a:pt x="19050" y="0"/>
                  </a:lnTo>
                  <a:cubicBezTo>
                    <a:pt x="29571" y="0"/>
                    <a:pt x="38100" y="8529"/>
                    <a:pt x="38100" y="19050"/>
                  </a:cubicBezTo>
                  <a:lnTo>
                    <a:pt x="38100" y="1409700"/>
                  </a:lnTo>
                  <a:cubicBezTo>
                    <a:pt x="38100" y="1420221"/>
                    <a:pt x="29571" y="1428750"/>
                    <a:pt x="19050" y="1428750"/>
                  </a:cubicBezTo>
                  <a:lnTo>
                    <a:pt x="19050" y="1428750"/>
                  </a:lnTo>
                  <a:cubicBezTo>
                    <a:pt x="8529" y="1428750"/>
                    <a:pt x="0" y="1420221"/>
                    <a:pt x="0" y="1409700"/>
                  </a:cubicBezTo>
                  <a:lnTo>
                    <a:pt x="0" y="19050"/>
                  </a:lnTo>
                  <a:cubicBezTo>
                    <a:pt x="0" y="8529"/>
                    <a:pt x="8529" y="0"/>
                    <a:pt x="19050" y="0"/>
                  </a:cubicBezTo>
                  <a:close/>
                </a:path>
              </a:pathLst>
            </a:custGeom>
            <a:solidFill>
              <a:srgbClr val="F59E0B"/>
            </a:solidFill>
            <a:ln w="9525" cap="flat">
              <a:noFill/>
              <a:prstDash val="solid"/>
              <a:miter/>
            </a:ln>
          </p:spPr>
          <p:txBody>
            <a:bodyPr/>
            <a:lstStyle/>
            <a:p>
              <a:endParaRPr lang="zh-CN" altLang="en-US"/>
            </a:p>
          </p:txBody>
        </p:sp>
        <p:sp>
          <p:nvSpPr>
            <p:cNvPr id="25" name="文本框 24">
              <a:extLst>
                <a:ext uri="{FF2B5EF4-FFF2-40B4-BE49-F238E27FC236}">
                  <a16:creationId xmlns:a16="http://schemas.microsoft.com/office/drawing/2014/main" id="{427B8366-C15C-96B4-5B45-4790E0E6F632}"/>
                </a:ext>
              </a:extLst>
            </p:cNvPr>
            <p:cNvSpPr txBox="1"/>
            <p:nvPr/>
          </p:nvSpPr>
          <p:spPr>
            <a:xfrm>
              <a:off x="3575685" y="1384806"/>
              <a:ext cx="12496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城投平台有息债务</a:t>
              </a:r>
            </a:p>
          </p:txBody>
        </p:sp>
        <p:sp>
          <p:nvSpPr>
            <p:cNvPr id="26" name="文本框 25">
              <a:extLst>
                <a:ext uri="{FF2B5EF4-FFF2-40B4-BE49-F238E27FC236}">
                  <a16:creationId xmlns:a16="http://schemas.microsoft.com/office/drawing/2014/main" id="{D1DA039A-B0A4-135D-E52F-00DAA47740FE}"/>
                </a:ext>
              </a:extLst>
            </p:cNvPr>
            <p:cNvSpPr txBox="1"/>
            <p:nvPr/>
          </p:nvSpPr>
          <p:spPr>
            <a:xfrm>
              <a:off x="3575685" y="1674109"/>
              <a:ext cx="2138397"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18,520.18</a:t>
              </a:r>
            </a:p>
          </p:txBody>
        </p:sp>
        <p:sp>
          <p:nvSpPr>
            <p:cNvPr id="27" name="文本框 26">
              <a:extLst>
                <a:ext uri="{FF2B5EF4-FFF2-40B4-BE49-F238E27FC236}">
                  <a16:creationId xmlns:a16="http://schemas.microsoft.com/office/drawing/2014/main" id="{24B7F653-6FB2-7A3A-4AA5-44D5ED8B3CCB}"/>
                </a:ext>
              </a:extLst>
            </p:cNvPr>
            <p:cNvSpPr txBox="1"/>
            <p:nvPr/>
          </p:nvSpPr>
          <p:spPr>
            <a:xfrm>
              <a:off x="5575935" y="1956306"/>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亿元</a:t>
              </a:r>
            </a:p>
          </p:txBody>
        </p:sp>
        <p:sp>
          <p:nvSpPr>
            <p:cNvPr id="28" name="文本框 27">
              <a:extLst>
                <a:ext uri="{FF2B5EF4-FFF2-40B4-BE49-F238E27FC236}">
                  <a16:creationId xmlns:a16="http://schemas.microsoft.com/office/drawing/2014/main" id="{5A45F478-21E7-7FEA-C3D6-C608A3939F28}"/>
                </a:ext>
              </a:extLst>
            </p:cNvPr>
            <p:cNvSpPr txBox="1"/>
            <p:nvPr/>
          </p:nvSpPr>
          <p:spPr>
            <a:xfrm>
              <a:off x="3575685" y="2319363"/>
              <a:ext cx="1220621"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-0.21% | 小幅压降</a:t>
              </a:r>
            </a:p>
          </p:txBody>
        </p:sp>
      </p:grpSp>
      <p:grpSp>
        <p:nvGrpSpPr>
          <p:cNvPr id="29" name="SVG Image 9">
            <a:extLst>
              <a:ext uri="{FF2B5EF4-FFF2-40B4-BE49-F238E27FC236}">
                <a16:creationId xmlns:a16="http://schemas.microsoft.com/office/drawing/2014/main" id="{D673BFD6-17F6-5D2C-B462-DA2FC72405FD}"/>
              </a:ext>
            </a:extLst>
          </p:cNvPr>
          <p:cNvGrpSpPr/>
          <p:nvPr/>
        </p:nvGrpSpPr>
        <p:grpSpPr>
          <a:xfrm>
            <a:off x="6286500" y="1238250"/>
            <a:ext cx="2667000" cy="1428750"/>
            <a:chOff x="6286500" y="1238250"/>
            <a:chExt cx="2667000" cy="1428750"/>
          </a:xfrm>
        </p:grpSpPr>
        <p:sp>
          <p:nvSpPr>
            <p:cNvPr id="30" name="任意形状 29">
              <a:extLst>
                <a:ext uri="{FF2B5EF4-FFF2-40B4-BE49-F238E27FC236}">
                  <a16:creationId xmlns:a16="http://schemas.microsoft.com/office/drawing/2014/main" id="{012567A9-1317-7E21-5682-7754E8D6D463}"/>
                </a:ext>
              </a:extLst>
            </p:cNvPr>
            <p:cNvSpPr/>
            <p:nvPr/>
          </p:nvSpPr>
          <p:spPr>
            <a:xfrm>
              <a:off x="6286500" y="123825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1" name="任意形状 30">
              <a:extLst>
                <a:ext uri="{FF2B5EF4-FFF2-40B4-BE49-F238E27FC236}">
                  <a16:creationId xmlns:a16="http://schemas.microsoft.com/office/drawing/2014/main" id="{85F296A4-C19C-F105-C655-39775E2707BA}"/>
                </a:ext>
              </a:extLst>
            </p:cNvPr>
            <p:cNvSpPr/>
            <p:nvPr/>
          </p:nvSpPr>
          <p:spPr>
            <a:xfrm>
              <a:off x="6286500" y="1238250"/>
              <a:ext cx="38100" cy="1428750"/>
            </a:xfrm>
            <a:custGeom>
              <a:avLst/>
              <a:gdLst>
                <a:gd name="csX0" fmla="*/ 19050 w 38100"/>
                <a:gd name="csY0" fmla="*/ 0 h 1428750"/>
                <a:gd name="csX1" fmla="*/ 19050 w 38100"/>
                <a:gd name="csY1" fmla="*/ 0 h 1428750"/>
                <a:gd name="csX2" fmla="*/ 38100 w 38100"/>
                <a:gd name="csY2" fmla="*/ 19050 h 1428750"/>
                <a:gd name="csX3" fmla="*/ 38100 w 38100"/>
                <a:gd name="csY3" fmla="*/ 1409700 h 1428750"/>
                <a:gd name="csX4" fmla="*/ 19050 w 38100"/>
                <a:gd name="csY4" fmla="*/ 1428750 h 1428750"/>
                <a:gd name="csX5" fmla="*/ 19050 w 38100"/>
                <a:gd name="csY5" fmla="*/ 1428750 h 1428750"/>
                <a:gd name="csX6" fmla="*/ 0 w 38100"/>
                <a:gd name="csY6" fmla="*/ 1409700 h 1428750"/>
                <a:gd name="csX7" fmla="*/ 0 w 38100"/>
                <a:gd name="csY7" fmla="*/ 19050 h 1428750"/>
                <a:gd name="csX8" fmla="*/ 19050 w 381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428750">
                  <a:moveTo>
                    <a:pt x="19050" y="0"/>
                  </a:moveTo>
                  <a:lnTo>
                    <a:pt x="19050" y="0"/>
                  </a:lnTo>
                  <a:cubicBezTo>
                    <a:pt x="29571" y="0"/>
                    <a:pt x="38100" y="8529"/>
                    <a:pt x="38100" y="19050"/>
                  </a:cubicBezTo>
                  <a:lnTo>
                    <a:pt x="38100" y="1409700"/>
                  </a:lnTo>
                  <a:cubicBezTo>
                    <a:pt x="38100" y="1420221"/>
                    <a:pt x="29571" y="1428750"/>
                    <a:pt x="19050" y="1428750"/>
                  </a:cubicBezTo>
                  <a:lnTo>
                    <a:pt x="19050" y="1428750"/>
                  </a:lnTo>
                  <a:cubicBezTo>
                    <a:pt x="8529" y="1428750"/>
                    <a:pt x="0" y="1420221"/>
                    <a:pt x="0" y="1409700"/>
                  </a:cubicBezTo>
                  <a:lnTo>
                    <a:pt x="0" y="19050"/>
                  </a:lnTo>
                  <a:cubicBezTo>
                    <a:pt x="0" y="8529"/>
                    <a:pt x="8529" y="0"/>
                    <a:pt x="19050" y="0"/>
                  </a:cubicBezTo>
                  <a:close/>
                </a:path>
              </a:pathLst>
            </a:custGeom>
            <a:solidFill>
              <a:srgbClr val="4A90D9"/>
            </a:solidFill>
            <a:ln w="9525" cap="flat">
              <a:noFill/>
              <a:prstDash val="solid"/>
              <a:miter/>
            </a:ln>
          </p:spPr>
          <p:txBody>
            <a:bodyPr/>
            <a:lstStyle/>
            <a:p>
              <a:endParaRPr lang="zh-CN" altLang="en-US"/>
            </a:p>
          </p:txBody>
        </p:sp>
        <p:sp>
          <p:nvSpPr>
            <p:cNvPr id="32" name="文本框 31">
              <a:extLst>
                <a:ext uri="{FF2B5EF4-FFF2-40B4-BE49-F238E27FC236}">
                  <a16:creationId xmlns:a16="http://schemas.microsoft.com/office/drawing/2014/main" id="{AEC469DA-D923-8F43-1919-73CD1538323C}"/>
                </a:ext>
              </a:extLst>
            </p:cNvPr>
            <p:cNvSpPr txBox="1"/>
            <p:nvPr/>
          </p:nvSpPr>
          <p:spPr>
            <a:xfrm>
              <a:off x="6433185" y="1384806"/>
              <a:ext cx="14556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负债率（债务/GDP）</a:t>
              </a:r>
            </a:p>
          </p:txBody>
        </p:sp>
        <p:sp>
          <p:nvSpPr>
            <p:cNvPr id="33" name="文本框 32">
              <a:extLst>
                <a:ext uri="{FF2B5EF4-FFF2-40B4-BE49-F238E27FC236}">
                  <a16:creationId xmlns:a16="http://schemas.microsoft.com/office/drawing/2014/main" id="{040AF02E-F71F-4985-8F12-7292B0658D73}"/>
                </a:ext>
              </a:extLst>
            </p:cNvPr>
            <p:cNvSpPr txBox="1"/>
            <p:nvPr/>
          </p:nvSpPr>
          <p:spPr>
            <a:xfrm>
              <a:off x="6433185" y="1674109"/>
              <a:ext cx="1283994" cy="619435"/>
            </a:xfrm>
            <a:prstGeom prst="rect">
              <a:avLst/>
            </a:prstGeom>
            <a:noFill/>
          </p:spPr>
          <p:txBody>
            <a:bodyPr wrap="none" rtlCol="0">
              <a:spAutoFit/>
            </a:bodyPr>
            <a:lstStyle/>
            <a:p>
              <a:pPr algn="l"/>
              <a:r>
                <a:rPr lang="zh-CN" altLang="en-US" sz="3150" b="1" spc="0" baseline="0">
                  <a:ln/>
                  <a:solidFill>
                    <a:srgbClr val="F59E0B"/>
                  </a:solidFill>
                  <a:latin typeface="微软雅黑"/>
                  <a:ea typeface="微软雅黑"/>
                  <a:sym typeface="微软雅黑"/>
                  <a:rtl val="0"/>
                </a:rPr>
                <a:t>44.81</a:t>
              </a:r>
            </a:p>
          </p:txBody>
        </p:sp>
        <p:sp>
          <p:nvSpPr>
            <p:cNvPr id="34" name="文本框 33">
              <a:extLst>
                <a:ext uri="{FF2B5EF4-FFF2-40B4-BE49-F238E27FC236}">
                  <a16:creationId xmlns:a16="http://schemas.microsoft.com/office/drawing/2014/main" id="{7591DA9F-DB90-F489-2882-AF44A47D6835}"/>
                </a:ext>
              </a:extLst>
            </p:cNvPr>
            <p:cNvSpPr txBox="1"/>
            <p:nvPr/>
          </p:nvSpPr>
          <p:spPr>
            <a:xfrm>
              <a:off x="7433310" y="1956306"/>
              <a:ext cx="301514"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a:t>
              </a:r>
            </a:p>
          </p:txBody>
        </p:sp>
        <p:sp>
          <p:nvSpPr>
            <p:cNvPr id="35" name="文本框 34">
              <a:extLst>
                <a:ext uri="{FF2B5EF4-FFF2-40B4-BE49-F238E27FC236}">
                  <a16:creationId xmlns:a16="http://schemas.microsoft.com/office/drawing/2014/main" id="{318A7A35-3709-0476-5452-DA19E52B37C9}"/>
                </a:ext>
              </a:extLst>
            </p:cNvPr>
            <p:cNvSpPr txBox="1"/>
            <p:nvPr/>
          </p:nvSpPr>
          <p:spPr>
            <a:xfrm>
              <a:off x="6433185" y="2319363"/>
              <a:ext cx="990123"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低于60%警戒线</a:t>
              </a:r>
            </a:p>
          </p:txBody>
        </p:sp>
      </p:grpSp>
      <p:grpSp>
        <p:nvGrpSpPr>
          <p:cNvPr id="36" name="SVG Image 9">
            <a:extLst>
              <a:ext uri="{FF2B5EF4-FFF2-40B4-BE49-F238E27FC236}">
                <a16:creationId xmlns:a16="http://schemas.microsoft.com/office/drawing/2014/main" id="{109D4D2D-E171-859A-7648-E1E4173116A5}"/>
              </a:ext>
            </a:extLst>
          </p:cNvPr>
          <p:cNvGrpSpPr/>
          <p:nvPr/>
        </p:nvGrpSpPr>
        <p:grpSpPr>
          <a:xfrm>
            <a:off x="9144000" y="1238250"/>
            <a:ext cx="2476500" cy="1428750"/>
            <a:chOff x="9144000" y="1238250"/>
            <a:chExt cx="2476500" cy="1428750"/>
          </a:xfrm>
        </p:grpSpPr>
        <p:sp>
          <p:nvSpPr>
            <p:cNvPr id="37" name="任意形状 36">
              <a:extLst>
                <a:ext uri="{FF2B5EF4-FFF2-40B4-BE49-F238E27FC236}">
                  <a16:creationId xmlns:a16="http://schemas.microsoft.com/office/drawing/2014/main" id="{5521FA8F-E74B-8A51-176A-0854D44BFCEC}"/>
                </a:ext>
              </a:extLst>
            </p:cNvPr>
            <p:cNvSpPr/>
            <p:nvPr/>
          </p:nvSpPr>
          <p:spPr>
            <a:xfrm>
              <a:off x="9144000" y="1238250"/>
              <a:ext cx="2476500" cy="1428750"/>
            </a:xfrm>
            <a:custGeom>
              <a:avLst/>
              <a:gdLst>
                <a:gd name="csX0" fmla="*/ 76200 w 2476500"/>
                <a:gd name="csY0" fmla="*/ 0 h 1428750"/>
                <a:gd name="csX1" fmla="*/ 2400300 w 2476500"/>
                <a:gd name="csY1" fmla="*/ 0 h 1428750"/>
                <a:gd name="csX2" fmla="*/ 2476500 w 2476500"/>
                <a:gd name="csY2" fmla="*/ 76200 h 1428750"/>
                <a:gd name="csX3" fmla="*/ 2476500 w 2476500"/>
                <a:gd name="csY3" fmla="*/ 1352550 h 1428750"/>
                <a:gd name="csX4" fmla="*/ 2400300 w 2476500"/>
                <a:gd name="csY4" fmla="*/ 1428750 h 1428750"/>
                <a:gd name="csX5" fmla="*/ 76200 w 2476500"/>
                <a:gd name="csY5" fmla="*/ 1428750 h 1428750"/>
                <a:gd name="csX6" fmla="*/ 0 w 2476500"/>
                <a:gd name="csY6" fmla="*/ 1352550 h 1428750"/>
                <a:gd name="csX7" fmla="*/ 0 w 2476500"/>
                <a:gd name="csY7" fmla="*/ 76200 h 1428750"/>
                <a:gd name="csX8" fmla="*/ 76200 w 24765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428750">
                  <a:moveTo>
                    <a:pt x="76200" y="0"/>
                  </a:moveTo>
                  <a:lnTo>
                    <a:pt x="2400300" y="0"/>
                  </a:lnTo>
                  <a:cubicBezTo>
                    <a:pt x="2442385" y="0"/>
                    <a:pt x="2476500" y="34116"/>
                    <a:pt x="2476500" y="76200"/>
                  </a:cubicBezTo>
                  <a:lnTo>
                    <a:pt x="2476500" y="1352550"/>
                  </a:lnTo>
                  <a:cubicBezTo>
                    <a:pt x="2476500" y="1394634"/>
                    <a:pt x="2442385" y="1428750"/>
                    <a:pt x="2400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EF3C7"/>
            </a:solidFill>
            <a:ln w="9525" cap="flat">
              <a:noFill/>
              <a:prstDash val="solid"/>
              <a:miter/>
            </a:ln>
          </p:spPr>
          <p:txBody>
            <a:bodyPr/>
            <a:lstStyle/>
            <a:p>
              <a:endParaRPr lang="zh-CN" altLang="en-US"/>
            </a:p>
          </p:txBody>
        </p:sp>
        <p:sp>
          <p:nvSpPr>
            <p:cNvPr id="38" name="任意形状 37">
              <a:extLst>
                <a:ext uri="{FF2B5EF4-FFF2-40B4-BE49-F238E27FC236}">
                  <a16:creationId xmlns:a16="http://schemas.microsoft.com/office/drawing/2014/main" id="{4AC5B8D7-3A86-3E87-9AC5-5A1AA755293E}"/>
                </a:ext>
              </a:extLst>
            </p:cNvPr>
            <p:cNvSpPr/>
            <p:nvPr/>
          </p:nvSpPr>
          <p:spPr>
            <a:xfrm>
              <a:off x="9144000" y="1238250"/>
              <a:ext cx="38100" cy="1428750"/>
            </a:xfrm>
            <a:custGeom>
              <a:avLst/>
              <a:gdLst>
                <a:gd name="csX0" fmla="*/ 19050 w 38100"/>
                <a:gd name="csY0" fmla="*/ 0 h 1428750"/>
                <a:gd name="csX1" fmla="*/ 19050 w 38100"/>
                <a:gd name="csY1" fmla="*/ 0 h 1428750"/>
                <a:gd name="csX2" fmla="*/ 38100 w 38100"/>
                <a:gd name="csY2" fmla="*/ 19050 h 1428750"/>
                <a:gd name="csX3" fmla="*/ 38100 w 38100"/>
                <a:gd name="csY3" fmla="*/ 1409700 h 1428750"/>
                <a:gd name="csX4" fmla="*/ 19050 w 38100"/>
                <a:gd name="csY4" fmla="*/ 1428750 h 1428750"/>
                <a:gd name="csX5" fmla="*/ 19050 w 38100"/>
                <a:gd name="csY5" fmla="*/ 1428750 h 1428750"/>
                <a:gd name="csX6" fmla="*/ 0 w 38100"/>
                <a:gd name="csY6" fmla="*/ 1409700 h 1428750"/>
                <a:gd name="csX7" fmla="*/ 0 w 38100"/>
                <a:gd name="csY7" fmla="*/ 19050 h 1428750"/>
                <a:gd name="csX8" fmla="*/ 19050 w 381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428750">
                  <a:moveTo>
                    <a:pt x="19050" y="0"/>
                  </a:moveTo>
                  <a:lnTo>
                    <a:pt x="19050" y="0"/>
                  </a:lnTo>
                  <a:cubicBezTo>
                    <a:pt x="29571" y="0"/>
                    <a:pt x="38100" y="8529"/>
                    <a:pt x="38100" y="19050"/>
                  </a:cubicBezTo>
                  <a:lnTo>
                    <a:pt x="38100" y="1409700"/>
                  </a:lnTo>
                  <a:cubicBezTo>
                    <a:pt x="38100" y="1420221"/>
                    <a:pt x="29571" y="1428750"/>
                    <a:pt x="19050" y="1428750"/>
                  </a:cubicBezTo>
                  <a:lnTo>
                    <a:pt x="19050" y="1428750"/>
                  </a:lnTo>
                  <a:cubicBezTo>
                    <a:pt x="8529" y="1428750"/>
                    <a:pt x="0" y="1420221"/>
                    <a:pt x="0" y="1409700"/>
                  </a:cubicBezTo>
                  <a:lnTo>
                    <a:pt x="0" y="19050"/>
                  </a:lnTo>
                  <a:cubicBezTo>
                    <a:pt x="0" y="8529"/>
                    <a:pt x="8529" y="0"/>
                    <a:pt x="19050" y="0"/>
                  </a:cubicBezTo>
                  <a:close/>
                </a:path>
              </a:pathLst>
            </a:custGeom>
            <a:solidFill>
              <a:srgbClr val="E63946"/>
            </a:solidFill>
            <a:ln w="9525" cap="flat">
              <a:noFill/>
              <a:prstDash val="solid"/>
              <a:miter/>
            </a:ln>
          </p:spPr>
          <p:txBody>
            <a:bodyPr/>
            <a:lstStyle/>
            <a:p>
              <a:endParaRPr lang="zh-CN" altLang="en-US"/>
            </a:p>
          </p:txBody>
        </p:sp>
        <p:sp>
          <p:nvSpPr>
            <p:cNvPr id="39" name="文本框 38">
              <a:extLst>
                <a:ext uri="{FF2B5EF4-FFF2-40B4-BE49-F238E27FC236}">
                  <a16:creationId xmlns:a16="http://schemas.microsoft.com/office/drawing/2014/main" id="{B91BD012-42C0-94D7-7903-9F9F8AAA8D8C}"/>
                </a:ext>
              </a:extLst>
            </p:cNvPr>
            <p:cNvSpPr txBox="1"/>
            <p:nvPr/>
          </p:nvSpPr>
          <p:spPr>
            <a:xfrm>
              <a:off x="9290685" y="1384806"/>
              <a:ext cx="12496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债务率（宽口径）</a:t>
              </a:r>
            </a:p>
          </p:txBody>
        </p:sp>
        <p:sp>
          <p:nvSpPr>
            <p:cNvPr id="40" name="文本框 39">
              <a:extLst>
                <a:ext uri="{FF2B5EF4-FFF2-40B4-BE49-F238E27FC236}">
                  <a16:creationId xmlns:a16="http://schemas.microsoft.com/office/drawing/2014/main" id="{F32B122B-7E90-5C06-3FDA-B718FC968D52}"/>
                </a:ext>
              </a:extLst>
            </p:cNvPr>
            <p:cNvSpPr txBox="1"/>
            <p:nvPr/>
          </p:nvSpPr>
          <p:spPr>
            <a:xfrm>
              <a:off x="9290685" y="1674109"/>
              <a:ext cx="1530704" cy="619435"/>
            </a:xfrm>
            <a:prstGeom prst="rect">
              <a:avLst/>
            </a:prstGeom>
            <a:noFill/>
          </p:spPr>
          <p:txBody>
            <a:bodyPr wrap="none" rtlCol="0">
              <a:spAutoFit/>
            </a:bodyPr>
            <a:lstStyle/>
            <a:p>
              <a:pPr algn="l"/>
              <a:r>
                <a:rPr lang="zh-CN" altLang="en-US" sz="3150" b="1" spc="0" baseline="0">
                  <a:ln/>
                  <a:solidFill>
                    <a:srgbClr val="E63946"/>
                  </a:solidFill>
                  <a:latin typeface="微软雅黑"/>
                  <a:ea typeface="微软雅黑"/>
                  <a:sym typeface="微软雅黑"/>
                  <a:rtl val="0"/>
                </a:rPr>
                <a:t>363.32</a:t>
              </a:r>
            </a:p>
          </p:txBody>
        </p:sp>
        <p:sp>
          <p:nvSpPr>
            <p:cNvPr id="41" name="文本框 40">
              <a:extLst>
                <a:ext uri="{FF2B5EF4-FFF2-40B4-BE49-F238E27FC236}">
                  <a16:creationId xmlns:a16="http://schemas.microsoft.com/office/drawing/2014/main" id="{4D9F6904-1BED-E615-8D36-443E701C0187}"/>
                </a:ext>
              </a:extLst>
            </p:cNvPr>
            <p:cNvSpPr txBox="1"/>
            <p:nvPr/>
          </p:nvSpPr>
          <p:spPr>
            <a:xfrm>
              <a:off x="10576560" y="1956306"/>
              <a:ext cx="301514"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a:t>
              </a:r>
            </a:p>
          </p:txBody>
        </p:sp>
        <p:sp>
          <p:nvSpPr>
            <p:cNvPr id="42" name="文本框 41">
              <a:extLst>
                <a:ext uri="{FF2B5EF4-FFF2-40B4-BE49-F238E27FC236}">
                  <a16:creationId xmlns:a16="http://schemas.microsoft.com/office/drawing/2014/main" id="{A16ED521-BCC7-3D4F-9E16-C749C9EFEBB8}"/>
                </a:ext>
              </a:extLst>
            </p:cNvPr>
            <p:cNvSpPr txBox="1"/>
            <p:nvPr/>
          </p:nvSpPr>
          <p:spPr>
            <a:xfrm>
              <a:off x="9290685" y="2319363"/>
              <a:ext cx="902501" cy="248100"/>
            </a:xfrm>
            <a:prstGeom prst="rect">
              <a:avLst/>
            </a:prstGeom>
            <a:noFill/>
          </p:spPr>
          <p:txBody>
            <a:bodyPr wrap="none" rtlCol="0">
              <a:spAutoFit/>
            </a:bodyPr>
            <a:lstStyle/>
            <a:p>
              <a:pPr algn="l"/>
              <a:r>
                <a:rPr lang="zh-CN" altLang="en-US" sz="900" spc="0" baseline="0">
                  <a:ln/>
                  <a:solidFill>
                    <a:srgbClr val="E63946"/>
                  </a:solidFill>
                  <a:latin typeface="Apple Color Emoji"/>
                  <a:ea typeface="Apple Color Emoji"/>
                  <a:sym typeface="Apple Color Emoji"/>
                  <a:rtl val="0"/>
                </a:rPr>
                <a:t>⚠️</a:t>
              </a:r>
              <a:r>
                <a:rPr lang="zh-CN" altLang="en-US" sz="900" spc="0" baseline="0">
                  <a:ln/>
                  <a:solidFill>
                    <a:srgbClr val="E63946"/>
                  </a:solidFill>
                  <a:latin typeface="微软雅黑"/>
                  <a:ea typeface="微软雅黑"/>
                  <a:sym typeface="微软雅黑"/>
                  <a:rtl val="0"/>
                </a:rPr>
                <a:t> 需持续关注</a:t>
              </a:r>
            </a:p>
          </p:txBody>
        </p:sp>
      </p:grpSp>
      <p:grpSp>
        <p:nvGrpSpPr>
          <p:cNvPr id="43" name="SVG Image 9">
            <a:extLst>
              <a:ext uri="{FF2B5EF4-FFF2-40B4-BE49-F238E27FC236}">
                <a16:creationId xmlns:a16="http://schemas.microsoft.com/office/drawing/2014/main" id="{7C2DB2C5-640A-791F-278B-C018DC201FBA}"/>
              </a:ext>
            </a:extLst>
          </p:cNvPr>
          <p:cNvGrpSpPr/>
          <p:nvPr/>
        </p:nvGrpSpPr>
        <p:grpSpPr>
          <a:xfrm>
            <a:off x="571500" y="2857500"/>
            <a:ext cx="6667500" cy="3429000"/>
            <a:chOff x="571500" y="2857500"/>
            <a:chExt cx="6667500" cy="3429000"/>
          </a:xfrm>
        </p:grpSpPr>
        <p:sp>
          <p:nvSpPr>
            <p:cNvPr id="44" name="任意形状 43">
              <a:extLst>
                <a:ext uri="{FF2B5EF4-FFF2-40B4-BE49-F238E27FC236}">
                  <a16:creationId xmlns:a16="http://schemas.microsoft.com/office/drawing/2014/main" id="{E258C2CC-CD6E-9B24-2933-1CD563505F60}"/>
                </a:ext>
              </a:extLst>
            </p:cNvPr>
            <p:cNvSpPr/>
            <p:nvPr/>
          </p:nvSpPr>
          <p:spPr>
            <a:xfrm>
              <a:off x="571500" y="2857500"/>
              <a:ext cx="6667500" cy="3429000"/>
            </a:xfrm>
            <a:custGeom>
              <a:avLst/>
              <a:gdLst>
                <a:gd name="csX0" fmla="*/ 76200 w 6667500"/>
                <a:gd name="csY0" fmla="*/ 0 h 3429000"/>
                <a:gd name="csX1" fmla="*/ 6591300 w 6667500"/>
                <a:gd name="csY1" fmla="*/ 0 h 3429000"/>
                <a:gd name="csX2" fmla="*/ 6667500 w 6667500"/>
                <a:gd name="csY2" fmla="*/ 76200 h 3429000"/>
                <a:gd name="csX3" fmla="*/ 6667500 w 6667500"/>
                <a:gd name="csY3" fmla="*/ 3352800 h 3429000"/>
                <a:gd name="csX4" fmla="*/ 6591300 w 6667500"/>
                <a:gd name="csY4" fmla="*/ 3429000 h 3429000"/>
                <a:gd name="csX5" fmla="*/ 76200 w 6667500"/>
                <a:gd name="csY5" fmla="*/ 3429000 h 3429000"/>
                <a:gd name="csX6" fmla="*/ 0 w 6667500"/>
                <a:gd name="csY6" fmla="*/ 3352800 h 3429000"/>
                <a:gd name="csX7" fmla="*/ 0 w 6667500"/>
                <a:gd name="csY7" fmla="*/ 76200 h 3429000"/>
                <a:gd name="csX8" fmla="*/ 76200 w 6667500"/>
                <a:gd name="csY8" fmla="*/ 0 h 3429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67500" h="3429000">
                  <a:moveTo>
                    <a:pt x="76200" y="0"/>
                  </a:moveTo>
                  <a:lnTo>
                    <a:pt x="6591300" y="0"/>
                  </a:lnTo>
                  <a:cubicBezTo>
                    <a:pt x="6633384" y="0"/>
                    <a:pt x="6667500" y="34116"/>
                    <a:pt x="6667500" y="76200"/>
                  </a:cubicBezTo>
                  <a:lnTo>
                    <a:pt x="6667500" y="3352800"/>
                  </a:lnTo>
                  <a:cubicBezTo>
                    <a:pt x="6667500" y="3394884"/>
                    <a:pt x="6633384" y="3429000"/>
                    <a:pt x="659130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5" name="文本框 44">
              <a:extLst>
                <a:ext uri="{FF2B5EF4-FFF2-40B4-BE49-F238E27FC236}">
                  <a16:creationId xmlns:a16="http://schemas.microsoft.com/office/drawing/2014/main" id="{609D67B5-14E3-4730-74E6-5A39ECB0D420}"/>
                </a:ext>
              </a:extLst>
            </p:cNvPr>
            <p:cNvSpPr txBox="1"/>
            <p:nvPr/>
          </p:nvSpPr>
          <p:spPr>
            <a:xfrm>
              <a:off x="765810" y="2983899"/>
              <a:ext cx="2372885"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债务规模趋势（2015-2024年）</a:t>
              </a:r>
            </a:p>
          </p:txBody>
        </p:sp>
        <p:sp>
          <p:nvSpPr>
            <p:cNvPr id="46" name="任意形状 45">
              <a:extLst>
                <a:ext uri="{FF2B5EF4-FFF2-40B4-BE49-F238E27FC236}">
                  <a16:creationId xmlns:a16="http://schemas.microsoft.com/office/drawing/2014/main" id="{C906D0DE-A0C0-89EA-1C48-BC733389F7D4}"/>
                </a:ext>
              </a:extLst>
            </p:cNvPr>
            <p:cNvSpPr/>
            <p:nvPr/>
          </p:nvSpPr>
          <p:spPr>
            <a:xfrm>
              <a:off x="857250" y="3381375"/>
              <a:ext cx="6096000" cy="304800"/>
            </a:xfrm>
            <a:custGeom>
              <a:avLst/>
              <a:gdLst>
                <a:gd name="csX0" fmla="*/ 38100 w 6096000"/>
                <a:gd name="csY0" fmla="*/ 0 h 304800"/>
                <a:gd name="csX1" fmla="*/ 6057900 w 6096000"/>
                <a:gd name="csY1" fmla="*/ 0 h 304800"/>
                <a:gd name="csX2" fmla="*/ 6096000 w 6096000"/>
                <a:gd name="csY2" fmla="*/ 38100 h 304800"/>
                <a:gd name="csX3" fmla="*/ 6096000 w 6096000"/>
                <a:gd name="csY3" fmla="*/ 266700 h 304800"/>
                <a:gd name="csX4" fmla="*/ 6057900 w 6096000"/>
                <a:gd name="csY4" fmla="*/ 304800 h 304800"/>
                <a:gd name="csX5" fmla="*/ 38100 w 6096000"/>
                <a:gd name="csY5" fmla="*/ 304800 h 304800"/>
                <a:gd name="csX6" fmla="*/ 0 w 6096000"/>
                <a:gd name="csY6" fmla="*/ 266700 h 304800"/>
                <a:gd name="csX7" fmla="*/ 0 w 6096000"/>
                <a:gd name="csY7" fmla="*/ 38100 h 304800"/>
                <a:gd name="csX8" fmla="*/ 38100 w 6096000"/>
                <a:gd name="csY8"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096000" h="304800">
                  <a:moveTo>
                    <a:pt x="38100" y="0"/>
                  </a:moveTo>
                  <a:lnTo>
                    <a:pt x="6057900" y="0"/>
                  </a:lnTo>
                  <a:cubicBezTo>
                    <a:pt x="6078943" y="0"/>
                    <a:pt x="6096000" y="17058"/>
                    <a:pt x="6096000" y="38100"/>
                  </a:cubicBezTo>
                  <a:lnTo>
                    <a:pt x="6096000" y="266700"/>
                  </a:lnTo>
                  <a:cubicBezTo>
                    <a:pt x="6096000" y="287742"/>
                    <a:pt x="6078943" y="304800"/>
                    <a:pt x="6057900" y="304800"/>
                  </a:cubicBezTo>
                  <a:lnTo>
                    <a:pt x="38100" y="304800"/>
                  </a:lnTo>
                  <a:cubicBezTo>
                    <a:pt x="17058" y="304800"/>
                    <a:pt x="0" y="287742"/>
                    <a:pt x="0" y="2667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47" name="文本框 46">
              <a:extLst>
                <a:ext uri="{FF2B5EF4-FFF2-40B4-BE49-F238E27FC236}">
                  <a16:creationId xmlns:a16="http://schemas.microsoft.com/office/drawing/2014/main" id="{5743A4C8-C0A1-5B84-23C1-7C8FDF6A4D77}"/>
                </a:ext>
              </a:extLst>
            </p:cNvPr>
            <p:cNvSpPr txBox="1"/>
            <p:nvPr/>
          </p:nvSpPr>
          <p:spPr>
            <a:xfrm>
              <a:off x="1127760" y="3424263"/>
              <a:ext cx="411480"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年份</a:t>
              </a:r>
            </a:p>
          </p:txBody>
        </p:sp>
        <p:sp>
          <p:nvSpPr>
            <p:cNvPr id="48" name="文本框 47">
              <a:extLst>
                <a:ext uri="{FF2B5EF4-FFF2-40B4-BE49-F238E27FC236}">
                  <a16:creationId xmlns:a16="http://schemas.microsoft.com/office/drawing/2014/main" id="{753EE258-3460-7553-44B8-BD6CFD2EB85D}"/>
                </a:ext>
              </a:extLst>
            </p:cNvPr>
            <p:cNvSpPr txBox="1"/>
            <p:nvPr/>
          </p:nvSpPr>
          <p:spPr>
            <a:xfrm>
              <a:off x="2245273" y="3424263"/>
              <a:ext cx="843453"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政府债务(亿)</a:t>
              </a:r>
            </a:p>
          </p:txBody>
        </p:sp>
        <p:sp>
          <p:nvSpPr>
            <p:cNvPr id="49" name="文本框 48">
              <a:extLst>
                <a:ext uri="{FF2B5EF4-FFF2-40B4-BE49-F238E27FC236}">
                  <a16:creationId xmlns:a16="http://schemas.microsoft.com/office/drawing/2014/main" id="{187665D8-58A0-EDE2-3476-F7EA701582F2}"/>
                </a:ext>
              </a:extLst>
            </p:cNvPr>
            <p:cNvSpPr txBox="1"/>
            <p:nvPr/>
          </p:nvSpPr>
          <p:spPr>
            <a:xfrm>
              <a:off x="3654973" y="3424263"/>
              <a:ext cx="1072053"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城投有息债务(亿)</a:t>
              </a:r>
            </a:p>
          </p:txBody>
        </p:sp>
        <p:sp>
          <p:nvSpPr>
            <p:cNvPr id="50" name="文本框 49">
              <a:extLst>
                <a:ext uri="{FF2B5EF4-FFF2-40B4-BE49-F238E27FC236}">
                  <a16:creationId xmlns:a16="http://schemas.microsoft.com/office/drawing/2014/main" id="{6CD428B0-77EC-CE11-C2F0-522FEC292E28}"/>
                </a:ext>
              </a:extLst>
            </p:cNvPr>
            <p:cNvSpPr txBox="1"/>
            <p:nvPr/>
          </p:nvSpPr>
          <p:spPr>
            <a:xfrm>
              <a:off x="5182907" y="3424263"/>
              <a:ext cx="1064184" cy="242295"/>
            </a:xfrm>
            <a:prstGeom prst="rect">
              <a:avLst/>
            </a:prstGeom>
            <a:noFill/>
          </p:spPr>
          <p:txBody>
            <a:bodyPr wrap="none" rtlCol="0">
              <a:spAutoFit/>
            </a:bodyPr>
            <a:lstStyle/>
            <a:p>
              <a:pPr algn="l"/>
              <a:r>
                <a:rPr lang="zh-CN" altLang="en-US" sz="900" b="1" spc="0" baseline="0">
                  <a:ln/>
                  <a:solidFill>
                    <a:srgbClr val="FFFFFF"/>
                  </a:solidFill>
                  <a:latin typeface="微软雅黑"/>
                  <a:ea typeface="微软雅黑"/>
                  <a:sym typeface="微软雅黑"/>
                  <a:rtl val="0"/>
                </a:rPr>
                <a:t>宽口径债务率(%)</a:t>
              </a:r>
            </a:p>
          </p:txBody>
        </p:sp>
        <p:sp>
          <p:nvSpPr>
            <p:cNvPr id="51" name="矩形 50">
              <a:extLst>
                <a:ext uri="{FF2B5EF4-FFF2-40B4-BE49-F238E27FC236}">
                  <a16:creationId xmlns:a16="http://schemas.microsoft.com/office/drawing/2014/main" id="{FC12B20F-B04B-EE73-4AA5-68F458803AFF}"/>
                </a:ext>
              </a:extLst>
            </p:cNvPr>
            <p:cNvSpPr/>
            <p:nvPr/>
          </p:nvSpPr>
          <p:spPr>
            <a:xfrm>
              <a:off x="857250" y="3686175"/>
              <a:ext cx="6096000" cy="266700"/>
            </a:xfrm>
            <a:prstGeom prst="rect">
              <a:avLst/>
            </a:prstGeom>
            <a:solidFill>
              <a:srgbClr val="EBF4FF"/>
            </a:solidFill>
            <a:ln w="9525" cap="flat">
              <a:noFill/>
              <a:prstDash val="solid"/>
              <a:miter/>
            </a:ln>
          </p:spPr>
          <p:txBody>
            <a:bodyPr/>
            <a:lstStyle/>
            <a:p>
              <a:endParaRPr lang="zh-CN" altLang="en-US"/>
            </a:p>
          </p:txBody>
        </p:sp>
        <p:sp>
          <p:nvSpPr>
            <p:cNvPr id="52" name="文本框 51">
              <a:extLst>
                <a:ext uri="{FF2B5EF4-FFF2-40B4-BE49-F238E27FC236}">
                  <a16:creationId xmlns:a16="http://schemas.microsoft.com/office/drawing/2014/main" id="{7538545D-7961-CB9D-8732-7179659CDE6A}"/>
                </a:ext>
              </a:extLst>
            </p:cNvPr>
            <p:cNvSpPr txBox="1"/>
            <p:nvPr/>
          </p:nvSpPr>
          <p:spPr>
            <a:xfrm>
              <a:off x="1101082" y="3710013"/>
              <a:ext cx="464834"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2024</a:t>
              </a:r>
            </a:p>
          </p:txBody>
        </p:sp>
        <p:sp>
          <p:nvSpPr>
            <p:cNvPr id="53" name="文本框 52">
              <a:extLst>
                <a:ext uri="{FF2B5EF4-FFF2-40B4-BE49-F238E27FC236}">
                  <a16:creationId xmlns:a16="http://schemas.microsoft.com/office/drawing/2014/main" id="{DD2DC14E-0A28-7EEB-FCD1-12D65658C4C7}"/>
                </a:ext>
              </a:extLst>
            </p:cNvPr>
            <p:cNvSpPr txBox="1"/>
            <p:nvPr/>
          </p:nvSpPr>
          <p:spPr>
            <a:xfrm>
              <a:off x="2296200" y="3710013"/>
              <a:ext cx="741599"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14,425.36</a:t>
              </a:r>
            </a:p>
          </p:txBody>
        </p:sp>
        <p:sp>
          <p:nvSpPr>
            <p:cNvPr id="54" name="文本框 53">
              <a:extLst>
                <a:ext uri="{FF2B5EF4-FFF2-40B4-BE49-F238E27FC236}">
                  <a16:creationId xmlns:a16="http://schemas.microsoft.com/office/drawing/2014/main" id="{8B00A99B-71C6-96A4-18DC-CAD29E205577}"/>
                </a:ext>
              </a:extLst>
            </p:cNvPr>
            <p:cNvSpPr txBox="1"/>
            <p:nvPr/>
          </p:nvSpPr>
          <p:spPr>
            <a:xfrm>
              <a:off x="3820200" y="3710013"/>
              <a:ext cx="741599"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18,520.18</a:t>
              </a:r>
            </a:p>
          </p:txBody>
        </p:sp>
        <p:sp>
          <p:nvSpPr>
            <p:cNvPr id="55" name="文本框 54">
              <a:extLst>
                <a:ext uri="{FF2B5EF4-FFF2-40B4-BE49-F238E27FC236}">
                  <a16:creationId xmlns:a16="http://schemas.microsoft.com/office/drawing/2014/main" id="{D0371F51-F716-119E-482A-6493B03F8F3F}"/>
                </a:ext>
              </a:extLst>
            </p:cNvPr>
            <p:cNvSpPr txBox="1"/>
            <p:nvPr/>
          </p:nvSpPr>
          <p:spPr>
            <a:xfrm>
              <a:off x="5431013" y="3710013"/>
              <a:ext cx="567972" cy="242295"/>
            </a:xfrm>
            <a:prstGeom prst="rect">
              <a:avLst/>
            </a:prstGeom>
            <a:noFill/>
          </p:spPr>
          <p:txBody>
            <a:bodyPr wrap="none" rtlCol="0">
              <a:spAutoFit/>
            </a:bodyPr>
            <a:lstStyle/>
            <a:p>
              <a:pPr algn="l"/>
              <a:r>
                <a:rPr lang="zh-CN" altLang="en-US" sz="900" b="1" spc="0" baseline="0">
                  <a:ln/>
                  <a:solidFill>
                    <a:srgbClr val="E63946"/>
                  </a:solidFill>
                  <a:latin typeface="微软雅黑"/>
                  <a:ea typeface="微软雅黑"/>
                  <a:sym typeface="微软雅黑"/>
                  <a:rtl val="0"/>
                </a:rPr>
                <a:t>363.32</a:t>
              </a:r>
            </a:p>
          </p:txBody>
        </p:sp>
        <p:sp>
          <p:nvSpPr>
            <p:cNvPr id="56" name="矩形 55">
              <a:extLst>
                <a:ext uri="{FF2B5EF4-FFF2-40B4-BE49-F238E27FC236}">
                  <a16:creationId xmlns:a16="http://schemas.microsoft.com/office/drawing/2014/main" id="{8A10F800-9B53-3132-0412-671B328FDAFA}"/>
                </a:ext>
              </a:extLst>
            </p:cNvPr>
            <p:cNvSpPr/>
            <p:nvPr/>
          </p:nvSpPr>
          <p:spPr>
            <a:xfrm>
              <a:off x="857250" y="3952875"/>
              <a:ext cx="6096000" cy="266700"/>
            </a:xfrm>
            <a:prstGeom prst="rect">
              <a:avLst/>
            </a:prstGeom>
            <a:solidFill>
              <a:srgbClr val="FFFFFF"/>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A568ACC4-621E-75EF-7F0E-4DCDF4B19236}"/>
                </a:ext>
              </a:extLst>
            </p:cNvPr>
            <p:cNvSpPr txBox="1"/>
            <p:nvPr/>
          </p:nvSpPr>
          <p:spPr>
            <a:xfrm>
              <a:off x="1108003" y="3976713"/>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2023</a:t>
              </a:r>
            </a:p>
          </p:txBody>
        </p:sp>
        <p:sp>
          <p:nvSpPr>
            <p:cNvPr id="58" name="文本框 57">
              <a:extLst>
                <a:ext uri="{FF2B5EF4-FFF2-40B4-BE49-F238E27FC236}">
                  <a16:creationId xmlns:a16="http://schemas.microsoft.com/office/drawing/2014/main" id="{586E352A-ADC5-618B-0D69-24CAEF39B62C}"/>
                </a:ext>
              </a:extLst>
            </p:cNvPr>
            <p:cNvSpPr txBox="1"/>
            <p:nvPr/>
          </p:nvSpPr>
          <p:spPr>
            <a:xfrm>
              <a:off x="2313445" y="39767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12,258.00</a:t>
              </a:r>
            </a:p>
          </p:txBody>
        </p:sp>
        <p:sp>
          <p:nvSpPr>
            <p:cNvPr id="59" name="文本框 58">
              <a:extLst>
                <a:ext uri="{FF2B5EF4-FFF2-40B4-BE49-F238E27FC236}">
                  <a16:creationId xmlns:a16="http://schemas.microsoft.com/office/drawing/2014/main" id="{9A6029A8-749E-0DC5-4112-119E6A27BB67}"/>
                </a:ext>
              </a:extLst>
            </p:cNvPr>
            <p:cNvSpPr txBox="1"/>
            <p:nvPr/>
          </p:nvSpPr>
          <p:spPr>
            <a:xfrm>
              <a:off x="3837445" y="39767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18,558.60</a:t>
              </a:r>
            </a:p>
          </p:txBody>
        </p:sp>
        <p:sp>
          <p:nvSpPr>
            <p:cNvPr id="60" name="文本框 59">
              <a:extLst>
                <a:ext uri="{FF2B5EF4-FFF2-40B4-BE49-F238E27FC236}">
                  <a16:creationId xmlns:a16="http://schemas.microsoft.com/office/drawing/2014/main" id="{3884F93C-777F-A080-5A4F-6EC5C72005A6}"/>
                </a:ext>
              </a:extLst>
            </p:cNvPr>
            <p:cNvSpPr txBox="1"/>
            <p:nvPr/>
          </p:nvSpPr>
          <p:spPr>
            <a:xfrm>
              <a:off x="5442231" y="3976713"/>
              <a:ext cx="54553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329.90</a:t>
              </a:r>
            </a:p>
          </p:txBody>
        </p:sp>
        <p:sp>
          <p:nvSpPr>
            <p:cNvPr id="61" name="矩形 60">
              <a:extLst>
                <a:ext uri="{FF2B5EF4-FFF2-40B4-BE49-F238E27FC236}">
                  <a16:creationId xmlns:a16="http://schemas.microsoft.com/office/drawing/2014/main" id="{4BBEE42D-A933-3CDF-983F-08882CFB73AF}"/>
                </a:ext>
              </a:extLst>
            </p:cNvPr>
            <p:cNvSpPr/>
            <p:nvPr/>
          </p:nvSpPr>
          <p:spPr>
            <a:xfrm>
              <a:off x="857250" y="4219575"/>
              <a:ext cx="6096000" cy="266700"/>
            </a:xfrm>
            <a:prstGeom prst="rect">
              <a:avLst/>
            </a:prstGeom>
            <a:solidFill>
              <a:srgbClr val="EBF4FF"/>
            </a:solidFill>
            <a:ln w="9525" cap="flat">
              <a:noFill/>
              <a:prstDash val="solid"/>
              <a:miter/>
            </a:ln>
          </p:spPr>
          <p:txBody>
            <a:bodyPr/>
            <a:lstStyle/>
            <a:p>
              <a:endParaRPr lang="zh-CN" altLang="en-US"/>
            </a:p>
          </p:txBody>
        </p:sp>
        <p:sp>
          <p:nvSpPr>
            <p:cNvPr id="62" name="文本框 61">
              <a:extLst>
                <a:ext uri="{FF2B5EF4-FFF2-40B4-BE49-F238E27FC236}">
                  <a16:creationId xmlns:a16="http://schemas.microsoft.com/office/drawing/2014/main" id="{09CCA7AF-3F2F-2759-E058-8AA6DE77FA04}"/>
                </a:ext>
              </a:extLst>
            </p:cNvPr>
            <p:cNvSpPr txBox="1"/>
            <p:nvPr/>
          </p:nvSpPr>
          <p:spPr>
            <a:xfrm>
              <a:off x="1108003" y="4243413"/>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2022</a:t>
              </a:r>
            </a:p>
          </p:txBody>
        </p:sp>
        <p:sp>
          <p:nvSpPr>
            <p:cNvPr id="63" name="文本框 62">
              <a:extLst>
                <a:ext uri="{FF2B5EF4-FFF2-40B4-BE49-F238E27FC236}">
                  <a16:creationId xmlns:a16="http://schemas.microsoft.com/office/drawing/2014/main" id="{AEDB2E9A-C1DB-15D4-49ED-F153AB531647}"/>
                </a:ext>
              </a:extLst>
            </p:cNvPr>
            <p:cNvSpPr txBox="1"/>
            <p:nvPr/>
          </p:nvSpPr>
          <p:spPr>
            <a:xfrm>
              <a:off x="2313445" y="42434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10,071.00</a:t>
              </a:r>
            </a:p>
          </p:txBody>
        </p:sp>
        <p:sp>
          <p:nvSpPr>
            <p:cNvPr id="64" name="文本框 63">
              <a:extLst>
                <a:ext uri="{FF2B5EF4-FFF2-40B4-BE49-F238E27FC236}">
                  <a16:creationId xmlns:a16="http://schemas.microsoft.com/office/drawing/2014/main" id="{A166E0E3-95D3-DC2F-A88D-7BB6D7BF0D0A}"/>
                </a:ext>
              </a:extLst>
            </p:cNvPr>
            <p:cNvSpPr txBox="1"/>
            <p:nvPr/>
          </p:nvSpPr>
          <p:spPr>
            <a:xfrm>
              <a:off x="3837445" y="42434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16,254.80</a:t>
              </a:r>
            </a:p>
          </p:txBody>
        </p:sp>
        <p:sp>
          <p:nvSpPr>
            <p:cNvPr id="65" name="文本框 64">
              <a:extLst>
                <a:ext uri="{FF2B5EF4-FFF2-40B4-BE49-F238E27FC236}">
                  <a16:creationId xmlns:a16="http://schemas.microsoft.com/office/drawing/2014/main" id="{7515E82E-C5A9-681D-4F12-B7585792EDE6}"/>
                </a:ext>
              </a:extLst>
            </p:cNvPr>
            <p:cNvSpPr txBox="1"/>
            <p:nvPr/>
          </p:nvSpPr>
          <p:spPr>
            <a:xfrm>
              <a:off x="5442231" y="4243413"/>
              <a:ext cx="54553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326.82</a:t>
              </a:r>
            </a:p>
          </p:txBody>
        </p:sp>
        <p:sp>
          <p:nvSpPr>
            <p:cNvPr id="66" name="矩形 65">
              <a:extLst>
                <a:ext uri="{FF2B5EF4-FFF2-40B4-BE49-F238E27FC236}">
                  <a16:creationId xmlns:a16="http://schemas.microsoft.com/office/drawing/2014/main" id="{AB4F8213-0D65-78A7-2C10-CDE7B90AF601}"/>
                </a:ext>
              </a:extLst>
            </p:cNvPr>
            <p:cNvSpPr/>
            <p:nvPr/>
          </p:nvSpPr>
          <p:spPr>
            <a:xfrm>
              <a:off x="857250" y="4486275"/>
              <a:ext cx="6096000" cy="266700"/>
            </a:xfrm>
            <a:prstGeom prst="rect">
              <a:avLst/>
            </a:prstGeom>
            <a:solidFill>
              <a:srgbClr val="FFFFFF"/>
            </a:solidFill>
            <a:ln w="9525" cap="flat">
              <a:noFill/>
              <a:prstDash val="solid"/>
              <a:miter/>
            </a:ln>
          </p:spPr>
          <p:txBody>
            <a:bodyPr/>
            <a:lstStyle/>
            <a:p>
              <a:endParaRPr lang="zh-CN" altLang="en-US"/>
            </a:p>
          </p:txBody>
        </p:sp>
        <p:sp>
          <p:nvSpPr>
            <p:cNvPr id="67" name="文本框 66">
              <a:extLst>
                <a:ext uri="{FF2B5EF4-FFF2-40B4-BE49-F238E27FC236}">
                  <a16:creationId xmlns:a16="http://schemas.microsoft.com/office/drawing/2014/main" id="{249493E5-9A14-C040-B033-DFD39EC29DCA}"/>
                </a:ext>
              </a:extLst>
            </p:cNvPr>
            <p:cNvSpPr txBox="1"/>
            <p:nvPr/>
          </p:nvSpPr>
          <p:spPr>
            <a:xfrm>
              <a:off x="1108003" y="4510113"/>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2021</a:t>
              </a:r>
            </a:p>
          </p:txBody>
        </p:sp>
        <p:sp>
          <p:nvSpPr>
            <p:cNvPr id="68" name="文本框 67">
              <a:extLst>
                <a:ext uri="{FF2B5EF4-FFF2-40B4-BE49-F238E27FC236}">
                  <a16:creationId xmlns:a16="http://schemas.microsoft.com/office/drawing/2014/main" id="{3D2F5642-34B6-B924-CD86-18EF44857358}"/>
                </a:ext>
              </a:extLst>
            </p:cNvPr>
            <p:cNvSpPr txBox="1"/>
            <p:nvPr/>
          </p:nvSpPr>
          <p:spPr>
            <a:xfrm>
              <a:off x="2346960" y="451011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8,610.00</a:t>
              </a:r>
            </a:p>
          </p:txBody>
        </p:sp>
        <p:sp>
          <p:nvSpPr>
            <p:cNvPr id="69" name="文本框 68">
              <a:extLst>
                <a:ext uri="{FF2B5EF4-FFF2-40B4-BE49-F238E27FC236}">
                  <a16:creationId xmlns:a16="http://schemas.microsoft.com/office/drawing/2014/main" id="{6CBFE121-377D-79D8-FCBC-7BA3EF90CC9C}"/>
                </a:ext>
              </a:extLst>
            </p:cNvPr>
            <p:cNvSpPr txBox="1"/>
            <p:nvPr/>
          </p:nvSpPr>
          <p:spPr>
            <a:xfrm>
              <a:off x="3837445" y="45101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14,840.69</a:t>
              </a:r>
            </a:p>
          </p:txBody>
        </p:sp>
        <p:sp>
          <p:nvSpPr>
            <p:cNvPr id="70" name="文本框 69">
              <a:extLst>
                <a:ext uri="{FF2B5EF4-FFF2-40B4-BE49-F238E27FC236}">
                  <a16:creationId xmlns:a16="http://schemas.microsoft.com/office/drawing/2014/main" id="{87A74309-C600-A3D3-875D-62BC12B2F7E0}"/>
                </a:ext>
              </a:extLst>
            </p:cNvPr>
            <p:cNvSpPr txBox="1"/>
            <p:nvPr/>
          </p:nvSpPr>
          <p:spPr>
            <a:xfrm>
              <a:off x="5442231" y="4510113"/>
              <a:ext cx="545536"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493.97</a:t>
              </a:r>
            </a:p>
          </p:txBody>
        </p:sp>
        <p:sp>
          <p:nvSpPr>
            <p:cNvPr id="71" name="矩形 70">
              <a:extLst>
                <a:ext uri="{FF2B5EF4-FFF2-40B4-BE49-F238E27FC236}">
                  <a16:creationId xmlns:a16="http://schemas.microsoft.com/office/drawing/2014/main" id="{183B5CE7-39AD-73A1-A26D-81955C670AC1}"/>
                </a:ext>
              </a:extLst>
            </p:cNvPr>
            <p:cNvSpPr/>
            <p:nvPr/>
          </p:nvSpPr>
          <p:spPr>
            <a:xfrm>
              <a:off x="857250" y="4752975"/>
              <a:ext cx="6096000" cy="266700"/>
            </a:xfrm>
            <a:prstGeom prst="rect">
              <a:avLst/>
            </a:prstGeom>
            <a:solidFill>
              <a:srgbClr val="EBF4FF"/>
            </a:solidFill>
            <a:ln w="9525" cap="flat">
              <a:noFill/>
              <a:prstDash val="solid"/>
              <a:miter/>
            </a:ln>
          </p:spPr>
          <p:txBody>
            <a:bodyPr/>
            <a:lstStyle/>
            <a:p>
              <a:endParaRPr lang="zh-CN" altLang="en-US"/>
            </a:p>
          </p:txBody>
        </p:sp>
        <p:sp>
          <p:nvSpPr>
            <p:cNvPr id="72" name="文本框 71">
              <a:extLst>
                <a:ext uri="{FF2B5EF4-FFF2-40B4-BE49-F238E27FC236}">
                  <a16:creationId xmlns:a16="http://schemas.microsoft.com/office/drawing/2014/main" id="{F8C4A4FD-A62D-8EF5-0387-1F21F7B2F24B}"/>
                </a:ext>
              </a:extLst>
            </p:cNvPr>
            <p:cNvSpPr txBox="1"/>
            <p:nvPr/>
          </p:nvSpPr>
          <p:spPr>
            <a:xfrm>
              <a:off x="1108003" y="4776813"/>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2020</a:t>
              </a:r>
            </a:p>
          </p:txBody>
        </p:sp>
        <p:sp>
          <p:nvSpPr>
            <p:cNvPr id="73" name="文本框 72">
              <a:extLst>
                <a:ext uri="{FF2B5EF4-FFF2-40B4-BE49-F238E27FC236}">
                  <a16:creationId xmlns:a16="http://schemas.microsoft.com/office/drawing/2014/main" id="{74600D77-B743-19A2-7961-04F1C0559D11}"/>
                </a:ext>
              </a:extLst>
            </p:cNvPr>
            <p:cNvSpPr txBox="1"/>
            <p:nvPr/>
          </p:nvSpPr>
          <p:spPr>
            <a:xfrm>
              <a:off x="2346960" y="477681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6,799.20</a:t>
              </a:r>
            </a:p>
          </p:txBody>
        </p:sp>
        <p:sp>
          <p:nvSpPr>
            <p:cNvPr id="74" name="文本框 73">
              <a:extLst>
                <a:ext uri="{FF2B5EF4-FFF2-40B4-BE49-F238E27FC236}">
                  <a16:creationId xmlns:a16="http://schemas.microsoft.com/office/drawing/2014/main" id="{F3DFDAC0-1E89-90A3-D176-CED620015294}"/>
                </a:ext>
              </a:extLst>
            </p:cNvPr>
            <p:cNvSpPr txBox="1"/>
            <p:nvPr/>
          </p:nvSpPr>
          <p:spPr>
            <a:xfrm>
              <a:off x="3837445" y="47768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13,339.05</a:t>
              </a:r>
            </a:p>
          </p:txBody>
        </p:sp>
        <p:sp>
          <p:nvSpPr>
            <p:cNvPr id="75" name="文本框 74">
              <a:extLst>
                <a:ext uri="{FF2B5EF4-FFF2-40B4-BE49-F238E27FC236}">
                  <a16:creationId xmlns:a16="http://schemas.microsoft.com/office/drawing/2014/main" id="{2C8DC145-0337-C6F5-3EF9-F11EA62D3D4A}"/>
                </a:ext>
              </a:extLst>
            </p:cNvPr>
            <p:cNvSpPr txBox="1"/>
            <p:nvPr/>
          </p:nvSpPr>
          <p:spPr>
            <a:xfrm>
              <a:off x="5442231" y="4776813"/>
              <a:ext cx="54553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238.27</a:t>
              </a:r>
            </a:p>
          </p:txBody>
        </p:sp>
        <p:sp>
          <p:nvSpPr>
            <p:cNvPr id="76" name="矩形 75">
              <a:extLst>
                <a:ext uri="{FF2B5EF4-FFF2-40B4-BE49-F238E27FC236}">
                  <a16:creationId xmlns:a16="http://schemas.microsoft.com/office/drawing/2014/main" id="{2054F20D-6E03-E1FB-612E-A2A8358E1255}"/>
                </a:ext>
              </a:extLst>
            </p:cNvPr>
            <p:cNvSpPr/>
            <p:nvPr/>
          </p:nvSpPr>
          <p:spPr>
            <a:xfrm>
              <a:off x="857250" y="5019675"/>
              <a:ext cx="6096000" cy="266700"/>
            </a:xfrm>
            <a:prstGeom prst="rect">
              <a:avLst/>
            </a:prstGeom>
            <a:solidFill>
              <a:srgbClr val="FFFFFF"/>
            </a:solidFill>
            <a:ln w="9525" cap="flat">
              <a:noFill/>
              <a:prstDash val="solid"/>
              <a:miter/>
            </a:ln>
          </p:spPr>
          <p:txBody>
            <a:bodyPr/>
            <a:lstStyle/>
            <a:p>
              <a:endParaRPr lang="zh-CN" altLang="en-US"/>
            </a:p>
          </p:txBody>
        </p:sp>
        <p:sp>
          <p:nvSpPr>
            <p:cNvPr id="77" name="文本框 76">
              <a:extLst>
                <a:ext uri="{FF2B5EF4-FFF2-40B4-BE49-F238E27FC236}">
                  <a16:creationId xmlns:a16="http://schemas.microsoft.com/office/drawing/2014/main" id="{2FAFF49E-5228-C111-7731-47F58745A333}"/>
                </a:ext>
              </a:extLst>
            </p:cNvPr>
            <p:cNvSpPr txBox="1"/>
            <p:nvPr/>
          </p:nvSpPr>
          <p:spPr>
            <a:xfrm>
              <a:off x="1108003" y="5043513"/>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2019</a:t>
              </a:r>
            </a:p>
          </p:txBody>
        </p:sp>
        <p:sp>
          <p:nvSpPr>
            <p:cNvPr id="78" name="文本框 77">
              <a:extLst>
                <a:ext uri="{FF2B5EF4-FFF2-40B4-BE49-F238E27FC236}">
                  <a16:creationId xmlns:a16="http://schemas.microsoft.com/office/drawing/2014/main" id="{FFD4A8C6-CB45-F6C5-704D-662ECBE309E8}"/>
                </a:ext>
              </a:extLst>
            </p:cNvPr>
            <p:cNvSpPr txBox="1"/>
            <p:nvPr/>
          </p:nvSpPr>
          <p:spPr>
            <a:xfrm>
              <a:off x="2346960" y="504351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5,603.70</a:t>
              </a:r>
            </a:p>
          </p:txBody>
        </p:sp>
        <p:sp>
          <p:nvSpPr>
            <p:cNvPr id="79" name="文本框 78">
              <a:extLst>
                <a:ext uri="{FF2B5EF4-FFF2-40B4-BE49-F238E27FC236}">
                  <a16:creationId xmlns:a16="http://schemas.microsoft.com/office/drawing/2014/main" id="{99B64F57-F1E0-DB08-523D-12234AFF8B62}"/>
                </a:ext>
              </a:extLst>
            </p:cNvPr>
            <p:cNvSpPr txBox="1"/>
            <p:nvPr/>
          </p:nvSpPr>
          <p:spPr>
            <a:xfrm>
              <a:off x="3837445" y="5043513"/>
              <a:ext cx="707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12,237.62</a:t>
              </a:r>
            </a:p>
          </p:txBody>
        </p:sp>
        <p:sp>
          <p:nvSpPr>
            <p:cNvPr id="80" name="文本框 79">
              <a:extLst>
                <a:ext uri="{FF2B5EF4-FFF2-40B4-BE49-F238E27FC236}">
                  <a16:creationId xmlns:a16="http://schemas.microsoft.com/office/drawing/2014/main" id="{11CADE85-BFAD-1219-9F41-F3ECBF4E4485}"/>
                </a:ext>
              </a:extLst>
            </p:cNvPr>
            <p:cNvSpPr txBox="1"/>
            <p:nvPr/>
          </p:nvSpPr>
          <p:spPr>
            <a:xfrm>
              <a:off x="5442231" y="5043513"/>
              <a:ext cx="54553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227.09</a:t>
              </a:r>
            </a:p>
          </p:txBody>
        </p:sp>
        <p:sp>
          <p:nvSpPr>
            <p:cNvPr id="81" name="矩形 80">
              <a:extLst>
                <a:ext uri="{FF2B5EF4-FFF2-40B4-BE49-F238E27FC236}">
                  <a16:creationId xmlns:a16="http://schemas.microsoft.com/office/drawing/2014/main" id="{00181F65-1E32-5E49-AE82-43EA3F5C8DCE}"/>
                </a:ext>
              </a:extLst>
            </p:cNvPr>
            <p:cNvSpPr/>
            <p:nvPr/>
          </p:nvSpPr>
          <p:spPr>
            <a:xfrm>
              <a:off x="857250" y="5286375"/>
              <a:ext cx="6096000" cy="266700"/>
            </a:xfrm>
            <a:prstGeom prst="rect">
              <a:avLst/>
            </a:prstGeom>
            <a:solidFill>
              <a:srgbClr val="EBF4FF"/>
            </a:solidFill>
            <a:ln w="9525" cap="flat">
              <a:noFill/>
              <a:prstDash val="solid"/>
              <a:miter/>
            </a:ln>
          </p:spPr>
          <p:txBody>
            <a:bodyPr/>
            <a:lstStyle/>
            <a:p>
              <a:endParaRPr lang="zh-CN" altLang="en-US"/>
            </a:p>
          </p:txBody>
        </p:sp>
        <p:sp>
          <p:nvSpPr>
            <p:cNvPr id="82" name="文本框 81">
              <a:extLst>
                <a:ext uri="{FF2B5EF4-FFF2-40B4-BE49-F238E27FC236}">
                  <a16:creationId xmlns:a16="http://schemas.microsoft.com/office/drawing/2014/main" id="{347358FA-3266-D046-F481-53BCB6B0993E}"/>
                </a:ext>
              </a:extLst>
            </p:cNvPr>
            <p:cNvSpPr txBox="1"/>
            <p:nvPr/>
          </p:nvSpPr>
          <p:spPr>
            <a:xfrm>
              <a:off x="1108003" y="5310213"/>
              <a:ext cx="45099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2015</a:t>
              </a:r>
            </a:p>
          </p:txBody>
        </p:sp>
        <p:sp>
          <p:nvSpPr>
            <p:cNvPr id="83" name="文本框 82">
              <a:extLst>
                <a:ext uri="{FF2B5EF4-FFF2-40B4-BE49-F238E27FC236}">
                  <a16:creationId xmlns:a16="http://schemas.microsoft.com/office/drawing/2014/main" id="{E18FD5B0-C8E2-8796-3E6C-13AF4FF5645B}"/>
                </a:ext>
              </a:extLst>
            </p:cNvPr>
            <p:cNvSpPr txBox="1"/>
            <p:nvPr/>
          </p:nvSpPr>
          <p:spPr>
            <a:xfrm>
              <a:off x="2346960" y="531021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3,379.20</a:t>
              </a:r>
            </a:p>
          </p:txBody>
        </p:sp>
        <p:sp>
          <p:nvSpPr>
            <p:cNvPr id="84" name="文本框 83">
              <a:extLst>
                <a:ext uri="{FF2B5EF4-FFF2-40B4-BE49-F238E27FC236}">
                  <a16:creationId xmlns:a16="http://schemas.microsoft.com/office/drawing/2014/main" id="{B6D02E65-FC25-DC54-EABB-305407EF344C}"/>
                </a:ext>
              </a:extLst>
            </p:cNvPr>
            <p:cNvSpPr txBox="1"/>
            <p:nvPr/>
          </p:nvSpPr>
          <p:spPr>
            <a:xfrm>
              <a:off x="3870960" y="531021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6,610.22</a:t>
              </a:r>
            </a:p>
          </p:txBody>
        </p:sp>
        <p:sp>
          <p:nvSpPr>
            <p:cNvPr id="85" name="文本框 84">
              <a:extLst>
                <a:ext uri="{FF2B5EF4-FFF2-40B4-BE49-F238E27FC236}">
                  <a16:creationId xmlns:a16="http://schemas.microsoft.com/office/drawing/2014/main" id="{ADBFC028-2C6C-277F-BEAE-F219672D9000}"/>
                </a:ext>
              </a:extLst>
            </p:cNvPr>
            <p:cNvSpPr txBox="1"/>
            <p:nvPr/>
          </p:nvSpPr>
          <p:spPr>
            <a:xfrm>
              <a:off x="5442231" y="5310213"/>
              <a:ext cx="545536"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155.62</a:t>
              </a:r>
            </a:p>
          </p:txBody>
        </p:sp>
        <p:sp>
          <p:nvSpPr>
            <p:cNvPr id="86" name="文本框 85">
              <a:extLst>
                <a:ext uri="{FF2B5EF4-FFF2-40B4-BE49-F238E27FC236}">
                  <a16:creationId xmlns:a16="http://schemas.microsoft.com/office/drawing/2014/main" id="{BD466356-D973-C79D-85B4-6EB54038782D}"/>
                </a:ext>
              </a:extLst>
            </p:cNvPr>
            <p:cNvSpPr txBox="1"/>
            <p:nvPr/>
          </p:nvSpPr>
          <p:spPr>
            <a:xfrm>
              <a:off x="765810" y="5844166"/>
              <a:ext cx="351076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注：宽口径债务率 = (地方政府债务+城投有息债务) / 地方政府综合财力</a:t>
              </a:r>
            </a:p>
          </p:txBody>
        </p:sp>
      </p:grpSp>
      <p:grpSp>
        <p:nvGrpSpPr>
          <p:cNvPr id="87" name="SVG Image 9">
            <a:extLst>
              <a:ext uri="{FF2B5EF4-FFF2-40B4-BE49-F238E27FC236}">
                <a16:creationId xmlns:a16="http://schemas.microsoft.com/office/drawing/2014/main" id="{DBBB5A43-4923-2E24-40FE-6ADAD3D93B0D}"/>
              </a:ext>
            </a:extLst>
          </p:cNvPr>
          <p:cNvGrpSpPr/>
          <p:nvPr/>
        </p:nvGrpSpPr>
        <p:grpSpPr>
          <a:xfrm>
            <a:off x="7429500" y="2857500"/>
            <a:ext cx="4191000" cy="1666875"/>
            <a:chOff x="7429500" y="2857500"/>
            <a:chExt cx="4191000" cy="1666875"/>
          </a:xfrm>
        </p:grpSpPr>
        <p:sp>
          <p:nvSpPr>
            <p:cNvPr id="88" name="任意形状 87">
              <a:extLst>
                <a:ext uri="{FF2B5EF4-FFF2-40B4-BE49-F238E27FC236}">
                  <a16:creationId xmlns:a16="http://schemas.microsoft.com/office/drawing/2014/main" id="{222582E9-FAB8-2C31-13DC-FE142B433A3A}"/>
                </a:ext>
              </a:extLst>
            </p:cNvPr>
            <p:cNvSpPr/>
            <p:nvPr/>
          </p:nvSpPr>
          <p:spPr>
            <a:xfrm>
              <a:off x="7429500" y="2857500"/>
              <a:ext cx="4191000" cy="1666875"/>
            </a:xfrm>
            <a:custGeom>
              <a:avLst/>
              <a:gdLst>
                <a:gd name="csX0" fmla="*/ 76200 w 4191000"/>
                <a:gd name="csY0" fmla="*/ 0 h 1666875"/>
                <a:gd name="csX1" fmla="*/ 4114800 w 4191000"/>
                <a:gd name="csY1" fmla="*/ 0 h 1666875"/>
                <a:gd name="csX2" fmla="*/ 4191000 w 4191000"/>
                <a:gd name="csY2" fmla="*/ 76200 h 1666875"/>
                <a:gd name="csX3" fmla="*/ 4191000 w 4191000"/>
                <a:gd name="csY3" fmla="*/ 1590675 h 1666875"/>
                <a:gd name="csX4" fmla="*/ 4114800 w 4191000"/>
                <a:gd name="csY4" fmla="*/ 1666875 h 1666875"/>
                <a:gd name="csX5" fmla="*/ 76200 w 4191000"/>
                <a:gd name="csY5" fmla="*/ 1666875 h 1666875"/>
                <a:gd name="csX6" fmla="*/ 0 w 4191000"/>
                <a:gd name="csY6" fmla="*/ 1590675 h 1666875"/>
                <a:gd name="csX7" fmla="*/ 0 w 4191000"/>
                <a:gd name="csY7" fmla="*/ 76200 h 1666875"/>
                <a:gd name="csX8" fmla="*/ 76200 w 4191000"/>
                <a:gd name="csY8" fmla="*/ 0 h 1666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1000" h="1666875">
                  <a:moveTo>
                    <a:pt x="76200" y="0"/>
                  </a:moveTo>
                  <a:lnTo>
                    <a:pt x="4114800" y="0"/>
                  </a:lnTo>
                  <a:cubicBezTo>
                    <a:pt x="4156885" y="0"/>
                    <a:pt x="4191000" y="34116"/>
                    <a:pt x="4191000" y="76200"/>
                  </a:cubicBezTo>
                  <a:lnTo>
                    <a:pt x="4191000" y="1590675"/>
                  </a:lnTo>
                  <a:cubicBezTo>
                    <a:pt x="4191000" y="1632759"/>
                    <a:pt x="4156885" y="1666875"/>
                    <a:pt x="4114800" y="1666875"/>
                  </a:cubicBezTo>
                  <a:lnTo>
                    <a:pt x="76200" y="1666875"/>
                  </a:lnTo>
                  <a:cubicBezTo>
                    <a:pt x="34116" y="1666875"/>
                    <a:pt x="0" y="1632759"/>
                    <a:pt x="0" y="1590675"/>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89" name="文本框 88">
              <a:extLst>
                <a:ext uri="{FF2B5EF4-FFF2-40B4-BE49-F238E27FC236}">
                  <a16:creationId xmlns:a16="http://schemas.microsoft.com/office/drawing/2014/main" id="{13A02301-AC81-EF01-80EC-0F1B97B1C451}"/>
                </a:ext>
              </a:extLst>
            </p:cNvPr>
            <p:cNvSpPr txBox="1"/>
            <p:nvPr/>
          </p:nvSpPr>
          <p:spPr>
            <a:xfrm>
              <a:off x="7623810" y="2983899"/>
              <a:ext cx="1097280" cy="292581"/>
            </a:xfrm>
            <a:prstGeom prst="rect">
              <a:avLst/>
            </a:prstGeom>
            <a:noFill/>
          </p:spPr>
          <p:txBody>
            <a:bodyPr wrap="none" rtlCol="0">
              <a:spAutoFit/>
            </a:bodyPr>
            <a:lstStyle/>
            <a:p>
              <a:pPr algn="l"/>
              <a:r>
                <a:rPr lang="zh-CN" altLang="en-US" sz="1200" b="1" spc="0" baseline="0">
                  <a:ln/>
                  <a:solidFill>
                    <a:srgbClr val="FFFFFF"/>
                  </a:solidFill>
                  <a:latin typeface="微软雅黑"/>
                  <a:ea typeface="微软雅黑"/>
                  <a:sym typeface="微软雅黑"/>
                  <a:rtl val="0"/>
                </a:rPr>
                <a:t>债务分析洞见</a:t>
              </a:r>
            </a:p>
          </p:txBody>
        </p:sp>
        <p:sp>
          <p:nvSpPr>
            <p:cNvPr id="90" name="文本框 89">
              <a:extLst>
                <a:ext uri="{FF2B5EF4-FFF2-40B4-BE49-F238E27FC236}">
                  <a16:creationId xmlns:a16="http://schemas.microsoft.com/office/drawing/2014/main" id="{721E56D9-C5C5-C05B-C414-E407C46D84E0}"/>
                </a:ext>
              </a:extLst>
            </p:cNvPr>
            <p:cNvSpPr txBox="1"/>
            <p:nvPr/>
          </p:nvSpPr>
          <p:spPr>
            <a:xfrm>
              <a:off x="7623810" y="3347510"/>
              <a:ext cx="2273333" cy="261155"/>
            </a:xfrm>
            <a:prstGeom prst="rect">
              <a:avLst/>
            </a:prstGeom>
            <a:noFill/>
          </p:spPr>
          <p:txBody>
            <a:bodyPr wrap="none" rtlCol="0">
              <a:spAutoFit/>
            </a:bodyPr>
            <a:lstStyle/>
            <a:p>
              <a:pPr algn="l"/>
              <a:r>
                <a:rPr lang="zh-CN" altLang="en-US" sz="975" spc="0" baseline="0">
                  <a:ln/>
                  <a:solidFill>
                    <a:srgbClr val="FFFFFF">
                      <a:alpha val="90000"/>
                    </a:srgbClr>
                  </a:solidFill>
                  <a:latin typeface="Apple Color Emoji"/>
                  <a:ea typeface="Apple Color Emoji"/>
                  <a:sym typeface="Apple Color Emoji"/>
                  <a:rtl val="0"/>
                </a:rPr>
                <a:t>📊</a:t>
              </a:r>
              <a:r>
                <a:rPr lang="zh-CN" altLang="en-US" sz="975" spc="0" baseline="0">
                  <a:ln/>
                  <a:solidFill>
                    <a:srgbClr val="FFFFFF">
                      <a:alpha val="90000"/>
                    </a:srgbClr>
                  </a:solidFill>
                  <a:latin typeface="微软雅黑"/>
                  <a:ea typeface="微软雅黑"/>
                  <a:sym typeface="微软雅黑"/>
                  <a:rtl val="0"/>
                </a:rPr>
                <a:t> 政府债务快速增长，10年增长3.3倍</a:t>
              </a:r>
            </a:p>
          </p:txBody>
        </p:sp>
        <p:sp>
          <p:nvSpPr>
            <p:cNvPr id="91" name="文本框 90">
              <a:extLst>
                <a:ext uri="{FF2B5EF4-FFF2-40B4-BE49-F238E27FC236}">
                  <a16:creationId xmlns:a16="http://schemas.microsoft.com/office/drawing/2014/main" id="{496ECBD8-3F8B-7871-C057-40132C8D9F28}"/>
                </a:ext>
              </a:extLst>
            </p:cNvPr>
            <p:cNvSpPr txBox="1"/>
            <p:nvPr/>
          </p:nvSpPr>
          <p:spPr>
            <a:xfrm>
              <a:off x="7623810" y="3614210"/>
              <a:ext cx="2615001" cy="261155"/>
            </a:xfrm>
            <a:prstGeom prst="rect">
              <a:avLst/>
            </a:prstGeom>
            <a:noFill/>
          </p:spPr>
          <p:txBody>
            <a:bodyPr wrap="none" rtlCol="0">
              <a:spAutoFit/>
            </a:bodyPr>
            <a:lstStyle/>
            <a:p>
              <a:pPr algn="l"/>
              <a:r>
                <a:rPr lang="zh-CN" altLang="en-US" sz="975" spc="0" baseline="0">
                  <a:ln/>
                  <a:solidFill>
                    <a:srgbClr val="FFFFFF">
                      <a:alpha val="90000"/>
                    </a:srgbClr>
                  </a:solidFill>
                  <a:latin typeface="Apple Color Emoji"/>
                  <a:ea typeface="Apple Color Emoji"/>
                  <a:sym typeface="Apple Color Emoji"/>
                  <a:rtl val="0"/>
                </a:rPr>
                <a:t>📉</a:t>
              </a:r>
              <a:r>
                <a:rPr lang="zh-CN" altLang="en-US" sz="975" spc="0" baseline="0">
                  <a:ln/>
                  <a:solidFill>
                    <a:srgbClr val="FFFFFF">
                      <a:alpha val="90000"/>
                    </a:srgbClr>
                  </a:solidFill>
                  <a:latin typeface="微软雅黑"/>
                  <a:ea typeface="微软雅黑"/>
                  <a:sym typeface="微软雅黑"/>
                  <a:rtl val="0"/>
                </a:rPr>
                <a:t> 城投债务规模已现拐点，2024年小幅下降</a:t>
              </a:r>
            </a:p>
          </p:txBody>
        </p:sp>
        <p:sp>
          <p:nvSpPr>
            <p:cNvPr id="92" name="文本框 91">
              <a:extLst>
                <a:ext uri="{FF2B5EF4-FFF2-40B4-BE49-F238E27FC236}">
                  <a16:creationId xmlns:a16="http://schemas.microsoft.com/office/drawing/2014/main" id="{FCA83AA8-B9B9-328F-0672-870DC74CDFEE}"/>
                </a:ext>
              </a:extLst>
            </p:cNvPr>
            <p:cNvSpPr txBox="1"/>
            <p:nvPr/>
          </p:nvSpPr>
          <p:spPr>
            <a:xfrm>
              <a:off x="7623810" y="3880910"/>
              <a:ext cx="2615001" cy="261155"/>
            </a:xfrm>
            <a:prstGeom prst="rect">
              <a:avLst/>
            </a:prstGeom>
            <a:noFill/>
          </p:spPr>
          <p:txBody>
            <a:bodyPr wrap="none" rtlCol="0">
              <a:spAutoFit/>
            </a:bodyPr>
            <a:lstStyle/>
            <a:p>
              <a:pPr algn="l"/>
              <a:r>
                <a:rPr lang="zh-CN" altLang="en-US" sz="975" spc="0" baseline="0">
                  <a:ln/>
                  <a:solidFill>
                    <a:srgbClr val="FFFFFF">
                      <a:alpha val="90000"/>
                    </a:srgbClr>
                  </a:solidFill>
                  <a:latin typeface="Apple Color Emoji"/>
                  <a:ea typeface="Apple Color Emoji"/>
                  <a:sym typeface="Apple Color Emoji"/>
                  <a:rtl val="0"/>
                </a:rPr>
                <a:t>⚠️</a:t>
              </a:r>
              <a:r>
                <a:rPr lang="zh-CN" altLang="en-US" sz="975" spc="0" baseline="0">
                  <a:ln/>
                  <a:solidFill>
                    <a:srgbClr val="FFFFFF">
                      <a:alpha val="90000"/>
                    </a:srgbClr>
                  </a:solidFill>
                  <a:latin typeface="微软雅黑"/>
                  <a:ea typeface="微软雅黑"/>
                  <a:sym typeface="微软雅黑"/>
                  <a:rtl val="0"/>
                </a:rPr>
                <a:t> 宽口径债务率较高，但较2021年峰值回落</a:t>
              </a:r>
            </a:p>
          </p:txBody>
        </p:sp>
        <p:sp>
          <p:nvSpPr>
            <p:cNvPr id="93" name="文本框 92">
              <a:extLst>
                <a:ext uri="{FF2B5EF4-FFF2-40B4-BE49-F238E27FC236}">
                  <a16:creationId xmlns:a16="http://schemas.microsoft.com/office/drawing/2014/main" id="{6994925C-1BF9-54D9-3D1F-5B0FF5444E81}"/>
                </a:ext>
              </a:extLst>
            </p:cNvPr>
            <p:cNvSpPr txBox="1"/>
            <p:nvPr/>
          </p:nvSpPr>
          <p:spPr>
            <a:xfrm>
              <a:off x="7623810" y="4147610"/>
              <a:ext cx="2135844" cy="261155"/>
            </a:xfrm>
            <a:prstGeom prst="rect">
              <a:avLst/>
            </a:prstGeom>
            <a:noFill/>
          </p:spPr>
          <p:txBody>
            <a:bodyPr wrap="none" rtlCol="0">
              <a:spAutoFit/>
            </a:bodyPr>
            <a:lstStyle/>
            <a:p>
              <a:pPr algn="l"/>
              <a:r>
                <a:rPr lang="zh-CN" altLang="en-US" sz="975" spc="0" baseline="0">
                  <a:ln/>
                  <a:solidFill>
                    <a:srgbClr val="FFFFFF">
                      <a:alpha val="90000"/>
                    </a:srgbClr>
                  </a:solidFill>
                  <a:latin typeface="Apple Color Emoji"/>
                  <a:ea typeface="Apple Color Emoji"/>
                  <a:sym typeface="Apple Color Emoji"/>
                  <a:rtl val="0"/>
                </a:rPr>
                <a:t>✅</a:t>
              </a:r>
              <a:r>
                <a:rPr lang="zh-CN" altLang="en-US" sz="975" spc="0" baseline="0">
                  <a:ln/>
                  <a:solidFill>
                    <a:srgbClr val="FFFFFF">
                      <a:alpha val="90000"/>
                    </a:srgbClr>
                  </a:solidFill>
                  <a:latin typeface="微软雅黑"/>
                  <a:ea typeface="微软雅黑"/>
                  <a:sym typeface="微软雅黑"/>
                  <a:rtl val="0"/>
                </a:rPr>
                <a:t> 负债率44.81%，仍在安全区间内</a:t>
              </a:r>
            </a:p>
          </p:txBody>
        </p:sp>
      </p:grpSp>
      <p:grpSp>
        <p:nvGrpSpPr>
          <p:cNvPr id="94" name="SVG Image 9">
            <a:extLst>
              <a:ext uri="{FF2B5EF4-FFF2-40B4-BE49-F238E27FC236}">
                <a16:creationId xmlns:a16="http://schemas.microsoft.com/office/drawing/2014/main" id="{9B84F4EA-79D3-F8C0-FF28-DB3359A8F293}"/>
              </a:ext>
            </a:extLst>
          </p:cNvPr>
          <p:cNvGrpSpPr/>
          <p:nvPr/>
        </p:nvGrpSpPr>
        <p:grpSpPr>
          <a:xfrm>
            <a:off x="7429500" y="4667250"/>
            <a:ext cx="4191000" cy="1619250"/>
            <a:chOff x="7429500" y="4667250"/>
            <a:chExt cx="4191000" cy="1619250"/>
          </a:xfrm>
        </p:grpSpPr>
        <p:sp>
          <p:nvSpPr>
            <p:cNvPr id="95" name="任意形状 94">
              <a:extLst>
                <a:ext uri="{FF2B5EF4-FFF2-40B4-BE49-F238E27FC236}">
                  <a16:creationId xmlns:a16="http://schemas.microsoft.com/office/drawing/2014/main" id="{58F60098-3B31-BF4B-4BE4-7AA84B719D79}"/>
                </a:ext>
              </a:extLst>
            </p:cNvPr>
            <p:cNvSpPr/>
            <p:nvPr/>
          </p:nvSpPr>
          <p:spPr>
            <a:xfrm>
              <a:off x="7429500" y="4667250"/>
              <a:ext cx="4191000" cy="1619250"/>
            </a:xfrm>
            <a:custGeom>
              <a:avLst/>
              <a:gdLst>
                <a:gd name="csX0" fmla="*/ 76200 w 4191000"/>
                <a:gd name="csY0" fmla="*/ 0 h 1619250"/>
                <a:gd name="csX1" fmla="*/ 4114800 w 4191000"/>
                <a:gd name="csY1" fmla="*/ 0 h 1619250"/>
                <a:gd name="csX2" fmla="*/ 4191000 w 4191000"/>
                <a:gd name="csY2" fmla="*/ 76200 h 1619250"/>
                <a:gd name="csX3" fmla="*/ 4191000 w 4191000"/>
                <a:gd name="csY3" fmla="*/ 1543050 h 1619250"/>
                <a:gd name="csX4" fmla="*/ 4114800 w 4191000"/>
                <a:gd name="csY4" fmla="*/ 1619250 h 1619250"/>
                <a:gd name="csX5" fmla="*/ 76200 w 4191000"/>
                <a:gd name="csY5" fmla="*/ 1619250 h 1619250"/>
                <a:gd name="csX6" fmla="*/ 0 w 4191000"/>
                <a:gd name="csY6" fmla="*/ 1543050 h 1619250"/>
                <a:gd name="csX7" fmla="*/ 0 w 4191000"/>
                <a:gd name="csY7" fmla="*/ 76200 h 1619250"/>
                <a:gd name="csX8" fmla="*/ 76200 w 4191000"/>
                <a:gd name="csY8" fmla="*/ 0 h 1619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1000" h="1619250">
                  <a:moveTo>
                    <a:pt x="76200" y="0"/>
                  </a:moveTo>
                  <a:lnTo>
                    <a:pt x="4114800" y="0"/>
                  </a:lnTo>
                  <a:cubicBezTo>
                    <a:pt x="4156885" y="0"/>
                    <a:pt x="4191000" y="34116"/>
                    <a:pt x="4191000" y="76200"/>
                  </a:cubicBezTo>
                  <a:lnTo>
                    <a:pt x="4191000" y="1543050"/>
                  </a:lnTo>
                  <a:cubicBezTo>
                    <a:pt x="4191000" y="1585134"/>
                    <a:pt x="4156885" y="1619250"/>
                    <a:pt x="41148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96" name="文本框 95">
              <a:extLst>
                <a:ext uri="{FF2B5EF4-FFF2-40B4-BE49-F238E27FC236}">
                  <a16:creationId xmlns:a16="http://schemas.microsoft.com/office/drawing/2014/main" id="{8133D01A-192D-6FD9-5A8F-D3444EEB36BF}"/>
                </a:ext>
              </a:extLst>
            </p:cNvPr>
            <p:cNvSpPr txBox="1"/>
            <p:nvPr/>
          </p:nvSpPr>
          <p:spPr>
            <a:xfrm>
              <a:off x="7623810" y="4793649"/>
              <a:ext cx="7924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债务结构</a:t>
              </a:r>
            </a:p>
          </p:txBody>
        </p:sp>
        <p:sp>
          <p:nvSpPr>
            <p:cNvPr id="97" name="任意形状 96">
              <a:extLst>
                <a:ext uri="{FF2B5EF4-FFF2-40B4-BE49-F238E27FC236}">
                  <a16:creationId xmlns:a16="http://schemas.microsoft.com/office/drawing/2014/main" id="{F10B4395-22CC-3C4B-EAA5-1DB2F142076D}"/>
                </a:ext>
              </a:extLst>
            </p:cNvPr>
            <p:cNvSpPr/>
            <p:nvPr/>
          </p:nvSpPr>
          <p:spPr>
            <a:xfrm>
              <a:off x="7715250" y="5191125"/>
              <a:ext cx="1714500" cy="476250"/>
            </a:xfrm>
            <a:custGeom>
              <a:avLst/>
              <a:gdLst>
                <a:gd name="csX0" fmla="*/ 38100 w 1714500"/>
                <a:gd name="csY0" fmla="*/ 0 h 476250"/>
                <a:gd name="csX1" fmla="*/ 1676400 w 1714500"/>
                <a:gd name="csY1" fmla="*/ 0 h 476250"/>
                <a:gd name="csX2" fmla="*/ 1714500 w 1714500"/>
                <a:gd name="csY2" fmla="*/ 38100 h 476250"/>
                <a:gd name="csX3" fmla="*/ 1714500 w 1714500"/>
                <a:gd name="csY3" fmla="*/ 438150 h 476250"/>
                <a:gd name="csX4" fmla="*/ 1676400 w 1714500"/>
                <a:gd name="csY4" fmla="*/ 476250 h 476250"/>
                <a:gd name="csX5" fmla="*/ 38100 w 1714500"/>
                <a:gd name="csY5" fmla="*/ 476250 h 476250"/>
                <a:gd name="csX6" fmla="*/ 0 w 1714500"/>
                <a:gd name="csY6" fmla="*/ 438150 h 476250"/>
                <a:gd name="csX7" fmla="*/ 0 w 1714500"/>
                <a:gd name="csY7" fmla="*/ 38100 h 476250"/>
                <a:gd name="csX8" fmla="*/ 38100 w 1714500"/>
                <a:gd name="csY8" fmla="*/ 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4500" h="476250">
                  <a:moveTo>
                    <a:pt x="38100" y="0"/>
                  </a:moveTo>
                  <a:lnTo>
                    <a:pt x="1676400" y="0"/>
                  </a:lnTo>
                  <a:cubicBezTo>
                    <a:pt x="1697442" y="0"/>
                    <a:pt x="1714500" y="17058"/>
                    <a:pt x="1714500" y="38100"/>
                  </a:cubicBezTo>
                  <a:lnTo>
                    <a:pt x="1714500" y="438150"/>
                  </a:lnTo>
                  <a:cubicBezTo>
                    <a:pt x="1714500" y="459192"/>
                    <a:pt x="1697442" y="476250"/>
                    <a:pt x="1676400" y="476250"/>
                  </a:cubicBezTo>
                  <a:lnTo>
                    <a:pt x="38100" y="476250"/>
                  </a:lnTo>
                  <a:cubicBezTo>
                    <a:pt x="17058" y="476250"/>
                    <a:pt x="0" y="459192"/>
                    <a:pt x="0" y="4381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98" name="文本框 97">
              <a:extLst>
                <a:ext uri="{FF2B5EF4-FFF2-40B4-BE49-F238E27FC236}">
                  <a16:creationId xmlns:a16="http://schemas.microsoft.com/office/drawing/2014/main" id="{BAE8AF5C-1DA7-70C6-2D40-5FFFEA27B85D}"/>
                </a:ext>
              </a:extLst>
            </p:cNvPr>
            <p:cNvSpPr txBox="1"/>
            <p:nvPr/>
          </p:nvSpPr>
          <p:spPr>
            <a:xfrm>
              <a:off x="8195310" y="5243538"/>
              <a:ext cx="7543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一般债余额</a:t>
              </a:r>
            </a:p>
          </p:txBody>
        </p:sp>
        <p:sp>
          <p:nvSpPr>
            <p:cNvPr id="99" name="文本框 98">
              <a:extLst>
                <a:ext uri="{FF2B5EF4-FFF2-40B4-BE49-F238E27FC236}">
                  <a16:creationId xmlns:a16="http://schemas.microsoft.com/office/drawing/2014/main" id="{A38C62E5-DEBF-3A88-220C-5F483EB747FA}"/>
                </a:ext>
              </a:extLst>
            </p:cNvPr>
            <p:cNvSpPr txBox="1"/>
            <p:nvPr/>
          </p:nvSpPr>
          <p:spPr>
            <a:xfrm>
              <a:off x="8079372" y="5393724"/>
              <a:ext cx="986254"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3,856.26亿</a:t>
              </a:r>
            </a:p>
          </p:txBody>
        </p:sp>
        <p:sp>
          <p:nvSpPr>
            <p:cNvPr id="100" name="任意形状 99">
              <a:extLst>
                <a:ext uri="{FF2B5EF4-FFF2-40B4-BE49-F238E27FC236}">
                  <a16:creationId xmlns:a16="http://schemas.microsoft.com/office/drawing/2014/main" id="{15CF721D-2691-BC09-6238-DA2B65AC4E76}"/>
                </a:ext>
              </a:extLst>
            </p:cNvPr>
            <p:cNvSpPr/>
            <p:nvPr/>
          </p:nvSpPr>
          <p:spPr>
            <a:xfrm>
              <a:off x="9620250" y="5191125"/>
              <a:ext cx="1714500" cy="476250"/>
            </a:xfrm>
            <a:custGeom>
              <a:avLst/>
              <a:gdLst>
                <a:gd name="csX0" fmla="*/ 38100 w 1714500"/>
                <a:gd name="csY0" fmla="*/ 0 h 476250"/>
                <a:gd name="csX1" fmla="*/ 1676400 w 1714500"/>
                <a:gd name="csY1" fmla="*/ 0 h 476250"/>
                <a:gd name="csX2" fmla="*/ 1714500 w 1714500"/>
                <a:gd name="csY2" fmla="*/ 38100 h 476250"/>
                <a:gd name="csX3" fmla="*/ 1714500 w 1714500"/>
                <a:gd name="csY3" fmla="*/ 438150 h 476250"/>
                <a:gd name="csX4" fmla="*/ 1676400 w 1714500"/>
                <a:gd name="csY4" fmla="*/ 476250 h 476250"/>
                <a:gd name="csX5" fmla="*/ 38100 w 1714500"/>
                <a:gd name="csY5" fmla="*/ 476250 h 476250"/>
                <a:gd name="csX6" fmla="*/ 0 w 1714500"/>
                <a:gd name="csY6" fmla="*/ 438150 h 476250"/>
                <a:gd name="csX7" fmla="*/ 0 w 1714500"/>
                <a:gd name="csY7" fmla="*/ 38100 h 476250"/>
                <a:gd name="csX8" fmla="*/ 38100 w 1714500"/>
                <a:gd name="csY8" fmla="*/ 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4500" h="476250">
                  <a:moveTo>
                    <a:pt x="38100" y="0"/>
                  </a:moveTo>
                  <a:lnTo>
                    <a:pt x="1676400" y="0"/>
                  </a:lnTo>
                  <a:cubicBezTo>
                    <a:pt x="1697442" y="0"/>
                    <a:pt x="1714500" y="17058"/>
                    <a:pt x="1714500" y="38100"/>
                  </a:cubicBezTo>
                  <a:lnTo>
                    <a:pt x="1714500" y="438150"/>
                  </a:lnTo>
                  <a:cubicBezTo>
                    <a:pt x="1714500" y="459192"/>
                    <a:pt x="1697442" y="476250"/>
                    <a:pt x="1676400" y="476250"/>
                  </a:cubicBezTo>
                  <a:lnTo>
                    <a:pt x="38100" y="476250"/>
                  </a:lnTo>
                  <a:cubicBezTo>
                    <a:pt x="17058" y="476250"/>
                    <a:pt x="0" y="459192"/>
                    <a:pt x="0" y="4381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101" name="文本框 100">
              <a:extLst>
                <a:ext uri="{FF2B5EF4-FFF2-40B4-BE49-F238E27FC236}">
                  <a16:creationId xmlns:a16="http://schemas.microsoft.com/office/drawing/2014/main" id="{CDDA355B-9172-7595-075D-41310BD82660}"/>
                </a:ext>
              </a:extLst>
            </p:cNvPr>
            <p:cNvSpPr txBox="1"/>
            <p:nvPr/>
          </p:nvSpPr>
          <p:spPr>
            <a:xfrm>
              <a:off x="10100310" y="5243538"/>
              <a:ext cx="7543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专项债余额</a:t>
              </a:r>
            </a:p>
          </p:txBody>
        </p:sp>
        <p:sp>
          <p:nvSpPr>
            <p:cNvPr id="102" name="文本框 101">
              <a:extLst>
                <a:ext uri="{FF2B5EF4-FFF2-40B4-BE49-F238E27FC236}">
                  <a16:creationId xmlns:a16="http://schemas.microsoft.com/office/drawing/2014/main" id="{79F2269A-DF62-C7DC-B7E5-70097516FF8B}"/>
                </a:ext>
              </a:extLst>
            </p:cNvPr>
            <p:cNvSpPr txBox="1"/>
            <p:nvPr/>
          </p:nvSpPr>
          <p:spPr>
            <a:xfrm>
              <a:off x="9937380" y="5393724"/>
              <a:ext cx="108023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10,569.10亿</a:t>
              </a:r>
            </a:p>
          </p:txBody>
        </p:sp>
        <p:sp>
          <p:nvSpPr>
            <p:cNvPr id="103" name="任意形状 102">
              <a:extLst>
                <a:ext uri="{FF2B5EF4-FFF2-40B4-BE49-F238E27FC236}">
                  <a16:creationId xmlns:a16="http://schemas.microsoft.com/office/drawing/2014/main" id="{B8E3F930-43DF-33AA-EE5F-B9D6105D7692}"/>
                </a:ext>
              </a:extLst>
            </p:cNvPr>
            <p:cNvSpPr/>
            <p:nvPr/>
          </p:nvSpPr>
          <p:spPr>
            <a:xfrm>
              <a:off x="7715250" y="5810250"/>
              <a:ext cx="3619500" cy="190500"/>
            </a:xfrm>
            <a:custGeom>
              <a:avLst/>
              <a:gdLst>
                <a:gd name="csX0" fmla="*/ 38100 w 3619500"/>
                <a:gd name="csY0" fmla="*/ 0 h 190500"/>
                <a:gd name="csX1" fmla="*/ 3581400 w 3619500"/>
                <a:gd name="csY1" fmla="*/ 0 h 190500"/>
                <a:gd name="csX2" fmla="*/ 3619500 w 3619500"/>
                <a:gd name="csY2" fmla="*/ 38100 h 190500"/>
                <a:gd name="csX3" fmla="*/ 3619500 w 3619500"/>
                <a:gd name="csY3" fmla="*/ 152400 h 190500"/>
                <a:gd name="csX4" fmla="*/ 3581400 w 3619500"/>
                <a:gd name="csY4" fmla="*/ 190500 h 190500"/>
                <a:gd name="csX5" fmla="*/ 38100 w 3619500"/>
                <a:gd name="csY5" fmla="*/ 190500 h 190500"/>
                <a:gd name="csX6" fmla="*/ 0 w 3619500"/>
                <a:gd name="csY6" fmla="*/ 152400 h 190500"/>
                <a:gd name="csX7" fmla="*/ 0 w 3619500"/>
                <a:gd name="csY7" fmla="*/ 38100 h 190500"/>
                <a:gd name="csX8" fmla="*/ 38100 w 36195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19500" h="190500">
                  <a:moveTo>
                    <a:pt x="38100" y="0"/>
                  </a:moveTo>
                  <a:lnTo>
                    <a:pt x="3581400" y="0"/>
                  </a:lnTo>
                  <a:cubicBezTo>
                    <a:pt x="3602442" y="0"/>
                    <a:pt x="3619500" y="17058"/>
                    <a:pt x="3619500" y="38100"/>
                  </a:cubicBezTo>
                  <a:lnTo>
                    <a:pt x="3619500" y="152400"/>
                  </a:lnTo>
                  <a:cubicBezTo>
                    <a:pt x="3619500" y="173442"/>
                    <a:pt x="3602442" y="190500"/>
                    <a:pt x="3581400" y="190500"/>
                  </a:cubicBezTo>
                  <a:lnTo>
                    <a:pt x="38100" y="190500"/>
                  </a:lnTo>
                  <a:cubicBezTo>
                    <a:pt x="17058" y="190500"/>
                    <a:pt x="0" y="173442"/>
                    <a:pt x="0" y="1524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104" name="任意形状 103">
              <a:extLst>
                <a:ext uri="{FF2B5EF4-FFF2-40B4-BE49-F238E27FC236}">
                  <a16:creationId xmlns:a16="http://schemas.microsoft.com/office/drawing/2014/main" id="{969F01F6-3298-C506-059B-CA5D9DDF3E78}"/>
                </a:ext>
              </a:extLst>
            </p:cNvPr>
            <p:cNvSpPr/>
            <p:nvPr/>
          </p:nvSpPr>
          <p:spPr>
            <a:xfrm>
              <a:off x="7715250" y="5810250"/>
              <a:ext cx="971550" cy="190500"/>
            </a:xfrm>
            <a:custGeom>
              <a:avLst/>
              <a:gdLst>
                <a:gd name="csX0" fmla="*/ 38100 w 971550"/>
                <a:gd name="csY0" fmla="*/ 0 h 190500"/>
                <a:gd name="csX1" fmla="*/ 933450 w 971550"/>
                <a:gd name="csY1" fmla="*/ 0 h 190500"/>
                <a:gd name="csX2" fmla="*/ 971550 w 971550"/>
                <a:gd name="csY2" fmla="*/ 38100 h 190500"/>
                <a:gd name="csX3" fmla="*/ 971550 w 971550"/>
                <a:gd name="csY3" fmla="*/ 152400 h 190500"/>
                <a:gd name="csX4" fmla="*/ 933450 w 971550"/>
                <a:gd name="csY4" fmla="*/ 190500 h 190500"/>
                <a:gd name="csX5" fmla="*/ 38100 w 971550"/>
                <a:gd name="csY5" fmla="*/ 190500 h 190500"/>
                <a:gd name="csX6" fmla="*/ 0 w 971550"/>
                <a:gd name="csY6" fmla="*/ 152400 h 190500"/>
                <a:gd name="csX7" fmla="*/ 0 w 971550"/>
                <a:gd name="csY7" fmla="*/ 38100 h 190500"/>
                <a:gd name="csX8" fmla="*/ 38100 w 97155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1550" h="190500">
                  <a:moveTo>
                    <a:pt x="38100" y="0"/>
                  </a:moveTo>
                  <a:lnTo>
                    <a:pt x="933450" y="0"/>
                  </a:lnTo>
                  <a:cubicBezTo>
                    <a:pt x="954492" y="0"/>
                    <a:pt x="971550" y="17058"/>
                    <a:pt x="971550" y="38100"/>
                  </a:cubicBezTo>
                  <a:lnTo>
                    <a:pt x="971550" y="152400"/>
                  </a:lnTo>
                  <a:cubicBezTo>
                    <a:pt x="971550" y="173442"/>
                    <a:pt x="954492" y="190500"/>
                    <a:pt x="933450" y="190500"/>
                  </a:cubicBezTo>
                  <a:lnTo>
                    <a:pt x="38100" y="190500"/>
                  </a:lnTo>
                  <a:cubicBezTo>
                    <a:pt x="17058" y="190500"/>
                    <a:pt x="0" y="173442"/>
                    <a:pt x="0" y="152400"/>
                  </a:cubicBezTo>
                  <a:lnTo>
                    <a:pt x="0" y="38100"/>
                  </a:lnTo>
                  <a:cubicBezTo>
                    <a:pt x="0" y="17058"/>
                    <a:pt x="17058" y="0"/>
                    <a:pt x="38100" y="0"/>
                  </a:cubicBezTo>
                  <a:close/>
                </a:path>
              </a:pathLst>
            </a:custGeom>
            <a:solidFill>
              <a:srgbClr val="4A90D9"/>
            </a:solidFill>
            <a:ln w="9525" cap="flat">
              <a:noFill/>
              <a:prstDash val="solid"/>
              <a:miter/>
            </a:ln>
          </p:spPr>
          <p:txBody>
            <a:bodyPr/>
            <a:lstStyle/>
            <a:p>
              <a:endParaRPr lang="zh-CN" altLang="en-US"/>
            </a:p>
          </p:txBody>
        </p:sp>
        <p:sp>
          <p:nvSpPr>
            <p:cNvPr id="105" name="任意形状 104">
              <a:extLst>
                <a:ext uri="{FF2B5EF4-FFF2-40B4-BE49-F238E27FC236}">
                  <a16:creationId xmlns:a16="http://schemas.microsoft.com/office/drawing/2014/main" id="{9E08DBEF-54B3-36A7-FE13-6D11B365B677}"/>
                </a:ext>
              </a:extLst>
            </p:cNvPr>
            <p:cNvSpPr/>
            <p:nvPr/>
          </p:nvSpPr>
          <p:spPr>
            <a:xfrm>
              <a:off x="8686800" y="5810250"/>
              <a:ext cx="2647950" cy="190500"/>
            </a:xfrm>
            <a:custGeom>
              <a:avLst/>
              <a:gdLst>
                <a:gd name="csX0" fmla="*/ 38100 w 2647950"/>
                <a:gd name="csY0" fmla="*/ 0 h 190500"/>
                <a:gd name="csX1" fmla="*/ 2609850 w 2647950"/>
                <a:gd name="csY1" fmla="*/ 0 h 190500"/>
                <a:gd name="csX2" fmla="*/ 2647950 w 2647950"/>
                <a:gd name="csY2" fmla="*/ 38100 h 190500"/>
                <a:gd name="csX3" fmla="*/ 2647950 w 2647950"/>
                <a:gd name="csY3" fmla="*/ 152400 h 190500"/>
                <a:gd name="csX4" fmla="*/ 2609850 w 2647950"/>
                <a:gd name="csY4" fmla="*/ 190500 h 190500"/>
                <a:gd name="csX5" fmla="*/ 38100 w 2647950"/>
                <a:gd name="csY5" fmla="*/ 190500 h 190500"/>
                <a:gd name="csX6" fmla="*/ 0 w 2647950"/>
                <a:gd name="csY6" fmla="*/ 152400 h 190500"/>
                <a:gd name="csX7" fmla="*/ 0 w 2647950"/>
                <a:gd name="csY7" fmla="*/ 38100 h 190500"/>
                <a:gd name="csX8" fmla="*/ 38100 w 264795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7950" h="190500">
                  <a:moveTo>
                    <a:pt x="38100" y="0"/>
                  </a:moveTo>
                  <a:lnTo>
                    <a:pt x="2609850" y="0"/>
                  </a:lnTo>
                  <a:cubicBezTo>
                    <a:pt x="2630892" y="0"/>
                    <a:pt x="2647950" y="17058"/>
                    <a:pt x="2647950" y="38100"/>
                  </a:cubicBezTo>
                  <a:lnTo>
                    <a:pt x="2647950" y="152400"/>
                  </a:lnTo>
                  <a:cubicBezTo>
                    <a:pt x="2647950" y="173442"/>
                    <a:pt x="2630892" y="190500"/>
                    <a:pt x="2609850" y="190500"/>
                  </a:cubicBezTo>
                  <a:lnTo>
                    <a:pt x="38100" y="190500"/>
                  </a:lnTo>
                  <a:cubicBezTo>
                    <a:pt x="17058" y="190500"/>
                    <a:pt x="0" y="173442"/>
                    <a:pt x="0" y="1524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106" name="文本框 105">
              <a:extLst>
                <a:ext uri="{FF2B5EF4-FFF2-40B4-BE49-F238E27FC236}">
                  <a16:creationId xmlns:a16="http://schemas.microsoft.com/office/drawing/2014/main" id="{B3555069-1020-B7C0-C9A7-804F82725591}"/>
                </a:ext>
              </a:extLst>
            </p:cNvPr>
            <p:cNvSpPr txBox="1"/>
            <p:nvPr/>
          </p:nvSpPr>
          <p:spPr>
            <a:xfrm>
              <a:off x="7962440" y="5806620"/>
              <a:ext cx="458119" cy="217153"/>
            </a:xfrm>
            <a:prstGeom prst="rect">
              <a:avLst/>
            </a:prstGeom>
            <a:noFill/>
          </p:spPr>
          <p:txBody>
            <a:bodyPr wrap="none" rtlCol="0">
              <a:spAutoFit/>
            </a:bodyPr>
            <a:lstStyle/>
            <a:p>
              <a:pPr algn="l"/>
              <a:r>
                <a:rPr lang="zh-CN" altLang="en-US" sz="750" spc="0" baseline="0">
                  <a:ln/>
                  <a:solidFill>
                    <a:srgbClr val="FFFFFF"/>
                  </a:solidFill>
                  <a:latin typeface="微软雅黑"/>
                  <a:ea typeface="微软雅黑"/>
                  <a:sym typeface="微软雅黑"/>
                  <a:rtl val="0"/>
                </a:rPr>
                <a:t>26.7%</a:t>
              </a:r>
            </a:p>
          </p:txBody>
        </p:sp>
        <p:sp>
          <p:nvSpPr>
            <p:cNvPr id="107" name="文本框 106">
              <a:extLst>
                <a:ext uri="{FF2B5EF4-FFF2-40B4-BE49-F238E27FC236}">
                  <a16:creationId xmlns:a16="http://schemas.microsoft.com/office/drawing/2014/main" id="{7A97E14B-293B-09F2-46C6-96FE015D0F67}"/>
                </a:ext>
              </a:extLst>
            </p:cNvPr>
            <p:cNvSpPr txBox="1"/>
            <p:nvPr/>
          </p:nvSpPr>
          <p:spPr>
            <a:xfrm>
              <a:off x="9772190" y="5806620"/>
              <a:ext cx="458119" cy="217153"/>
            </a:xfrm>
            <a:prstGeom prst="rect">
              <a:avLst/>
            </a:prstGeom>
            <a:noFill/>
          </p:spPr>
          <p:txBody>
            <a:bodyPr wrap="none" rtlCol="0">
              <a:spAutoFit/>
            </a:bodyPr>
            <a:lstStyle/>
            <a:p>
              <a:pPr algn="l"/>
              <a:r>
                <a:rPr lang="zh-CN" altLang="en-US" sz="750" spc="0" baseline="0">
                  <a:ln/>
                  <a:solidFill>
                    <a:srgbClr val="FFFFFF"/>
                  </a:solidFill>
                  <a:latin typeface="微软雅黑"/>
                  <a:ea typeface="微软雅黑"/>
                  <a:sym typeface="微软雅黑"/>
                  <a:rtl val="0"/>
                </a:rPr>
                <a:t>73.3%</a:t>
              </a:r>
            </a:p>
          </p:txBody>
        </p:sp>
        <p:sp>
          <p:nvSpPr>
            <p:cNvPr id="108" name="文本框 107">
              <a:extLst>
                <a:ext uri="{FF2B5EF4-FFF2-40B4-BE49-F238E27FC236}">
                  <a16:creationId xmlns:a16="http://schemas.microsoft.com/office/drawing/2014/main" id="{683DAACC-463D-168C-BAD6-869CB873953B}"/>
                </a:ext>
              </a:extLst>
            </p:cNvPr>
            <p:cNvSpPr txBox="1"/>
            <p:nvPr/>
          </p:nvSpPr>
          <p:spPr>
            <a:xfrm>
              <a:off x="7623810" y="6034666"/>
              <a:ext cx="217360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专项债占比较高，与基础设施投资需求相关</a:t>
              </a:r>
            </a:p>
          </p:txBody>
        </p:sp>
      </p:grpSp>
      <p:sp>
        <p:nvSpPr>
          <p:cNvPr id="109" name="矩形 108">
            <a:extLst>
              <a:ext uri="{FF2B5EF4-FFF2-40B4-BE49-F238E27FC236}">
                <a16:creationId xmlns:a16="http://schemas.microsoft.com/office/drawing/2014/main" id="{7133DC54-8392-70D8-3971-D833A3F01EE2}"/>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7E69B96-D5BF-80C9-906F-802FD43F6F4C}"/>
              </a:ext>
            </a:extLst>
          </p:cNvPr>
          <p:cNvSpPr/>
          <p:nvPr/>
        </p:nvSpPr>
        <p:spPr>
          <a:xfrm>
            <a:off x="0" y="0"/>
            <a:ext cx="12192000" cy="6858000"/>
          </a:xfrm>
          <a:prstGeom prst="rect">
            <a:avLst/>
          </a:prstGeom>
          <a:gradFill>
            <a:gsLst>
              <a:gs pos="0">
                <a:srgbClr val="1E3A5F"/>
              </a:gs>
              <a:gs pos="50000">
                <a:srgbClr val="264A75"/>
              </a:gs>
              <a:gs pos="100000">
                <a:srgbClr val="2E5A8B"/>
              </a:gs>
            </a:gsLst>
            <a:lin ang="2700000" scaled="1"/>
          </a:gradFill>
          <a:ln w="9525" cap="flat">
            <a:noFill/>
            <a:prstDash val="solid"/>
            <a:miter/>
          </a:ln>
        </p:spPr>
        <p:txBody>
          <a:bodyPr/>
          <a:lstStyle/>
          <a:p>
            <a:endParaRPr lang="zh-CN" altLang="en-US"/>
          </a:p>
        </p:txBody>
      </p:sp>
      <p:sp>
        <p:nvSpPr>
          <p:cNvPr id="5" name="文本框 4">
            <a:extLst>
              <a:ext uri="{FF2B5EF4-FFF2-40B4-BE49-F238E27FC236}">
                <a16:creationId xmlns:a16="http://schemas.microsoft.com/office/drawing/2014/main" id="{21B4389F-DC10-FA13-E961-0030E21DA77E}"/>
              </a:ext>
            </a:extLst>
          </p:cNvPr>
          <p:cNvSpPr txBox="1"/>
          <p:nvPr/>
        </p:nvSpPr>
        <p:spPr>
          <a:xfrm>
            <a:off x="8036435" y="685398"/>
            <a:ext cx="4882128" cy="5119970"/>
          </a:xfrm>
          <a:prstGeom prst="rect">
            <a:avLst/>
          </a:prstGeom>
          <a:noFill/>
        </p:spPr>
        <p:txBody>
          <a:bodyPr wrap="none" rtlCol="0">
            <a:spAutoFit/>
          </a:bodyPr>
          <a:lstStyle/>
          <a:p>
            <a:pPr algn="l"/>
            <a:r>
              <a:rPr lang="zh-CN" altLang="en-US" sz="30000" b="1" spc="0" baseline="0">
                <a:ln/>
                <a:solidFill>
                  <a:srgbClr val="FFFFFF">
                    <a:alpha val="5000"/>
                  </a:srgbClr>
                </a:solidFill>
                <a:latin typeface="微软雅黑"/>
                <a:ea typeface="微软雅黑"/>
                <a:sym typeface="微软雅黑"/>
                <a:rtl val="0"/>
              </a:rPr>
              <a:t>03</a:t>
            </a:r>
          </a:p>
        </p:txBody>
      </p:sp>
      <p:sp>
        <p:nvSpPr>
          <p:cNvPr id="6" name="矩形 5">
            <a:extLst>
              <a:ext uri="{FF2B5EF4-FFF2-40B4-BE49-F238E27FC236}">
                <a16:creationId xmlns:a16="http://schemas.microsoft.com/office/drawing/2014/main" id="{A381D449-FC29-F5B3-7758-14895189D1EC}"/>
              </a:ext>
            </a:extLst>
          </p:cNvPr>
          <p:cNvSpPr/>
          <p:nvPr/>
        </p:nvSpPr>
        <p:spPr>
          <a:xfrm>
            <a:off x="762000" y="2857500"/>
            <a:ext cx="57150" cy="1143000"/>
          </a:xfrm>
          <a:prstGeom prst="rect">
            <a:avLst/>
          </a:prstGeom>
          <a:solidFill>
            <a:srgbClr val="4A90D9"/>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A506D6DE-79AF-E56B-BCE3-299369ED36C8}"/>
              </a:ext>
            </a:extLst>
          </p:cNvPr>
          <p:cNvSpPr txBox="1"/>
          <p:nvPr/>
        </p:nvSpPr>
        <p:spPr>
          <a:xfrm>
            <a:off x="1051560" y="2562381"/>
            <a:ext cx="1028744" cy="996575"/>
          </a:xfrm>
          <a:prstGeom prst="rect">
            <a:avLst/>
          </a:prstGeom>
          <a:noFill/>
        </p:spPr>
        <p:txBody>
          <a:bodyPr wrap="none" rtlCol="0">
            <a:spAutoFit/>
          </a:bodyPr>
          <a:lstStyle/>
          <a:p>
            <a:pPr algn="l"/>
            <a:r>
              <a:rPr lang="zh-CN" altLang="en-US" sz="5400" b="1" spc="0" baseline="0">
                <a:ln/>
                <a:solidFill>
                  <a:srgbClr val="FFFFFF"/>
                </a:solidFill>
                <a:latin typeface="微软雅黑"/>
                <a:ea typeface="微软雅黑"/>
                <a:sym typeface="微软雅黑"/>
                <a:rtl val="0"/>
              </a:rPr>
              <a:t>03</a:t>
            </a:r>
          </a:p>
        </p:txBody>
      </p:sp>
      <p:sp>
        <p:nvSpPr>
          <p:cNvPr id="8" name="文本框 7">
            <a:extLst>
              <a:ext uri="{FF2B5EF4-FFF2-40B4-BE49-F238E27FC236}">
                <a16:creationId xmlns:a16="http://schemas.microsoft.com/office/drawing/2014/main" id="{D3280FE0-78EA-3605-815F-D1D057295EC3}"/>
              </a:ext>
            </a:extLst>
          </p:cNvPr>
          <p:cNvSpPr txBox="1"/>
          <p:nvPr/>
        </p:nvSpPr>
        <p:spPr>
          <a:xfrm>
            <a:off x="2575560" y="2804264"/>
            <a:ext cx="2011680" cy="694863"/>
          </a:xfrm>
          <a:prstGeom prst="rect">
            <a:avLst/>
          </a:prstGeom>
          <a:noFill/>
        </p:spPr>
        <p:txBody>
          <a:bodyPr wrap="none" rtlCol="0">
            <a:spAutoFit/>
          </a:bodyPr>
          <a:lstStyle/>
          <a:p>
            <a:pPr algn="l"/>
            <a:r>
              <a:rPr lang="zh-CN" altLang="en-US" sz="3600" b="1" spc="0" baseline="0">
                <a:ln/>
                <a:solidFill>
                  <a:srgbClr val="FFFFFF"/>
                </a:solidFill>
                <a:latin typeface="微软雅黑"/>
                <a:ea typeface="微软雅黑"/>
                <a:sym typeface="微软雅黑"/>
                <a:rtl val="0"/>
              </a:rPr>
              <a:t>区域城投</a:t>
            </a:r>
          </a:p>
        </p:txBody>
      </p:sp>
      <p:sp>
        <p:nvSpPr>
          <p:cNvPr id="9" name="文本框 8">
            <a:extLst>
              <a:ext uri="{FF2B5EF4-FFF2-40B4-BE49-F238E27FC236}">
                <a16:creationId xmlns:a16="http://schemas.microsoft.com/office/drawing/2014/main" id="{8925693A-80ED-0C35-C799-599B52574B12}"/>
              </a:ext>
            </a:extLst>
          </p:cNvPr>
          <p:cNvSpPr txBox="1"/>
          <p:nvPr/>
        </p:nvSpPr>
        <p:spPr>
          <a:xfrm>
            <a:off x="1051560" y="3773367"/>
            <a:ext cx="3428793"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城投平台375家（含下属辖区），本级54家</a:t>
            </a:r>
          </a:p>
        </p:txBody>
      </p:sp>
      <p:sp>
        <p:nvSpPr>
          <p:cNvPr id="10" name="文本框 9">
            <a:extLst>
              <a:ext uri="{FF2B5EF4-FFF2-40B4-BE49-F238E27FC236}">
                <a16:creationId xmlns:a16="http://schemas.microsoft.com/office/drawing/2014/main" id="{F8967109-4D67-04D9-938C-E4EB682E7B8F}"/>
              </a:ext>
            </a:extLst>
          </p:cNvPr>
          <p:cNvSpPr txBox="1"/>
          <p:nvPr/>
        </p:nvSpPr>
        <p:spPr>
          <a:xfrm>
            <a:off x="1051560" y="4059117"/>
            <a:ext cx="3588523"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存量债余额5,791.08亿元，城投利差72.21bp</a:t>
            </a:r>
          </a:p>
        </p:txBody>
      </p:sp>
      <p:grpSp>
        <p:nvGrpSpPr>
          <p:cNvPr id="11" name="SVG Image 10">
            <a:extLst>
              <a:ext uri="{FF2B5EF4-FFF2-40B4-BE49-F238E27FC236}">
                <a16:creationId xmlns:a16="http://schemas.microsoft.com/office/drawing/2014/main" id="{B6DF5707-6B9D-1575-CB82-5815CFFEDE1E}"/>
              </a:ext>
            </a:extLst>
          </p:cNvPr>
          <p:cNvGrpSpPr/>
          <p:nvPr/>
        </p:nvGrpSpPr>
        <p:grpSpPr>
          <a:xfrm>
            <a:off x="1143000" y="4762500"/>
            <a:ext cx="1905000" cy="762000"/>
            <a:chOff x="1143000" y="4762500"/>
            <a:chExt cx="1905000" cy="762000"/>
          </a:xfrm>
        </p:grpSpPr>
        <p:sp>
          <p:nvSpPr>
            <p:cNvPr id="12" name="任意形状 11">
              <a:extLst>
                <a:ext uri="{FF2B5EF4-FFF2-40B4-BE49-F238E27FC236}">
                  <a16:creationId xmlns:a16="http://schemas.microsoft.com/office/drawing/2014/main" id="{B08E8B7D-FC42-8392-890E-552B15DDEEAD}"/>
                </a:ext>
              </a:extLst>
            </p:cNvPr>
            <p:cNvSpPr/>
            <p:nvPr/>
          </p:nvSpPr>
          <p:spPr>
            <a:xfrm>
              <a:off x="11430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13" name="文本框 12">
              <a:extLst>
                <a:ext uri="{FF2B5EF4-FFF2-40B4-BE49-F238E27FC236}">
                  <a16:creationId xmlns:a16="http://schemas.microsoft.com/office/drawing/2014/main" id="{167E5940-2307-81AD-D0F1-C1EE64A61009}"/>
                </a:ext>
              </a:extLst>
            </p:cNvPr>
            <p:cNvSpPr txBox="1"/>
            <p:nvPr/>
          </p:nvSpPr>
          <p:spPr>
            <a:xfrm>
              <a:off x="1632585" y="4919135"/>
              <a:ext cx="92583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城投平台数量</a:t>
              </a:r>
            </a:p>
          </p:txBody>
        </p:sp>
        <p:sp>
          <p:nvSpPr>
            <p:cNvPr id="14" name="文本框 13">
              <a:extLst>
                <a:ext uri="{FF2B5EF4-FFF2-40B4-BE49-F238E27FC236}">
                  <a16:creationId xmlns:a16="http://schemas.microsoft.com/office/drawing/2014/main" id="{BEA16EF9-F3ED-1B19-0896-57C63308636E}"/>
                </a:ext>
              </a:extLst>
            </p:cNvPr>
            <p:cNvSpPr txBox="1"/>
            <p:nvPr/>
          </p:nvSpPr>
          <p:spPr>
            <a:xfrm>
              <a:off x="1678293" y="5094022"/>
              <a:ext cx="834412"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375家</a:t>
              </a:r>
            </a:p>
          </p:txBody>
        </p:sp>
      </p:grpSp>
      <p:grpSp>
        <p:nvGrpSpPr>
          <p:cNvPr id="15" name="SVG Image 10">
            <a:extLst>
              <a:ext uri="{FF2B5EF4-FFF2-40B4-BE49-F238E27FC236}">
                <a16:creationId xmlns:a16="http://schemas.microsoft.com/office/drawing/2014/main" id="{E47201AC-E9C7-72E0-8987-11808AF00678}"/>
              </a:ext>
            </a:extLst>
          </p:cNvPr>
          <p:cNvGrpSpPr/>
          <p:nvPr/>
        </p:nvGrpSpPr>
        <p:grpSpPr>
          <a:xfrm>
            <a:off x="3238500" y="4762500"/>
            <a:ext cx="1905000" cy="762000"/>
            <a:chOff x="3238500" y="4762500"/>
            <a:chExt cx="1905000" cy="762000"/>
          </a:xfrm>
        </p:grpSpPr>
        <p:sp>
          <p:nvSpPr>
            <p:cNvPr id="16" name="任意形状 15">
              <a:extLst>
                <a:ext uri="{FF2B5EF4-FFF2-40B4-BE49-F238E27FC236}">
                  <a16:creationId xmlns:a16="http://schemas.microsoft.com/office/drawing/2014/main" id="{8C920743-E1AB-1B2B-9CA7-F79004D3CC2C}"/>
                </a:ext>
              </a:extLst>
            </p:cNvPr>
            <p:cNvSpPr/>
            <p:nvPr/>
          </p:nvSpPr>
          <p:spPr>
            <a:xfrm>
              <a:off x="32385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17" name="文本框 16">
              <a:extLst>
                <a:ext uri="{FF2B5EF4-FFF2-40B4-BE49-F238E27FC236}">
                  <a16:creationId xmlns:a16="http://schemas.microsoft.com/office/drawing/2014/main" id="{4FD58F8A-9D54-0CCB-4F34-12EC3685F98D}"/>
                </a:ext>
              </a:extLst>
            </p:cNvPr>
            <p:cNvSpPr txBox="1"/>
            <p:nvPr/>
          </p:nvSpPr>
          <p:spPr>
            <a:xfrm>
              <a:off x="3789997" y="4919135"/>
              <a:ext cx="802005"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存量债余额</a:t>
              </a:r>
            </a:p>
          </p:txBody>
        </p:sp>
        <p:sp>
          <p:nvSpPr>
            <p:cNvPr id="18" name="文本框 17">
              <a:extLst>
                <a:ext uri="{FF2B5EF4-FFF2-40B4-BE49-F238E27FC236}">
                  <a16:creationId xmlns:a16="http://schemas.microsoft.com/office/drawing/2014/main" id="{754549B1-2AEB-0508-C119-5AFF33DB19AC}"/>
                </a:ext>
              </a:extLst>
            </p:cNvPr>
            <p:cNvSpPr txBox="1"/>
            <p:nvPr/>
          </p:nvSpPr>
          <p:spPr>
            <a:xfrm>
              <a:off x="3670655" y="5094022"/>
              <a:ext cx="1040688"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5,791亿</a:t>
              </a:r>
            </a:p>
          </p:txBody>
        </p:sp>
      </p:grpSp>
      <p:grpSp>
        <p:nvGrpSpPr>
          <p:cNvPr id="19" name="SVG Image 10">
            <a:extLst>
              <a:ext uri="{FF2B5EF4-FFF2-40B4-BE49-F238E27FC236}">
                <a16:creationId xmlns:a16="http://schemas.microsoft.com/office/drawing/2014/main" id="{DA18A9FC-27A0-7BCA-604C-6BD460936192}"/>
              </a:ext>
            </a:extLst>
          </p:cNvPr>
          <p:cNvGrpSpPr/>
          <p:nvPr/>
        </p:nvGrpSpPr>
        <p:grpSpPr>
          <a:xfrm>
            <a:off x="5334000" y="4762500"/>
            <a:ext cx="1905000" cy="762000"/>
            <a:chOff x="5334000" y="4762500"/>
            <a:chExt cx="1905000" cy="762000"/>
          </a:xfrm>
        </p:grpSpPr>
        <p:sp>
          <p:nvSpPr>
            <p:cNvPr id="20" name="任意形状 19">
              <a:extLst>
                <a:ext uri="{FF2B5EF4-FFF2-40B4-BE49-F238E27FC236}">
                  <a16:creationId xmlns:a16="http://schemas.microsoft.com/office/drawing/2014/main" id="{C02C3A78-E096-F26C-E452-93840E706B19}"/>
                </a:ext>
              </a:extLst>
            </p:cNvPr>
            <p:cNvSpPr/>
            <p:nvPr/>
          </p:nvSpPr>
          <p:spPr>
            <a:xfrm>
              <a:off x="53340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21" name="文本框 20">
              <a:extLst>
                <a:ext uri="{FF2B5EF4-FFF2-40B4-BE49-F238E27FC236}">
                  <a16:creationId xmlns:a16="http://schemas.microsoft.com/office/drawing/2014/main" id="{4850FA82-D560-6B67-922E-E7A97D9B271C}"/>
                </a:ext>
              </a:extLst>
            </p:cNvPr>
            <p:cNvSpPr txBox="1"/>
            <p:nvPr/>
          </p:nvSpPr>
          <p:spPr>
            <a:xfrm>
              <a:off x="5802181" y="4919135"/>
              <a:ext cx="968636"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2024年净融资</a:t>
              </a:r>
            </a:p>
          </p:txBody>
        </p:sp>
        <p:sp>
          <p:nvSpPr>
            <p:cNvPr id="22" name="文本框 21">
              <a:extLst>
                <a:ext uri="{FF2B5EF4-FFF2-40B4-BE49-F238E27FC236}">
                  <a16:creationId xmlns:a16="http://schemas.microsoft.com/office/drawing/2014/main" id="{FE76BE11-2570-F6EE-13CC-DD7DD92FA3A8}"/>
                </a:ext>
              </a:extLst>
            </p:cNvPr>
            <p:cNvSpPr txBox="1"/>
            <p:nvPr/>
          </p:nvSpPr>
          <p:spPr>
            <a:xfrm>
              <a:off x="5819399" y="5094022"/>
              <a:ext cx="934201" cy="393151"/>
            </a:xfrm>
            <a:prstGeom prst="rect">
              <a:avLst/>
            </a:prstGeom>
            <a:noFill/>
          </p:spPr>
          <p:txBody>
            <a:bodyPr wrap="none" rtlCol="0">
              <a:spAutoFit/>
            </a:bodyPr>
            <a:lstStyle/>
            <a:p>
              <a:pPr algn="l"/>
              <a:r>
                <a:rPr lang="zh-CN" altLang="en-US" sz="1800" b="1" spc="0" baseline="0">
                  <a:ln/>
                  <a:solidFill>
                    <a:srgbClr val="E63946"/>
                  </a:solidFill>
                  <a:latin typeface="微软雅黑"/>
                  <a:ea typeface="微软雅黑"/>
                  <a:sym typeface="微软雅黑"/>
                  <a:rtl val="0"/>
                </a:rPr>
                <a:t>-187亿</a:t>
              </a:r>
            </a:p>
          </p:txBody>
        </p:sp>
      </p:grpSp>
      <p:grpSp>
        <p:nvGrpSpPr>
          <p:cNvPr id="23" name="SVG Image 10">
            <a:extLst>
              <a:ext uri="{FF2B5EF4-FFF2-40B4-BE49-F238E27FC236}">
                <a16:creationId xmlns:a16="http://schemas.microsoft.com/office/drawing/2014/main" id="{73FAA888-5B4A-7410-4FFE-DC74006D5DD8}"/>
              </a:ext>
            </a:extLst>
          </p:cNvPr>
          <p:cNvGrpSpPr/>
          <p:nvPr/>
        </p:nvGrpSpPr>
        <p:grpSpPr>
          <a:xfrm>
            <a:off x="7429500" y="4762500"/>
            <a:ext cx="1905000" cy="762000"/>
            <a:chOff x="7429500" y="4762500"/>
            <a:chExt cx="1905000" cy="762000"/>
          </a:xfrm>
        </p:grpSpPr>
        <p:sp>
          <p:nvSpPr>
            <p:cNvPr id="24" name="任意形状 23">
              <a:extLst>
                <a:ext uri="{FF2B5EF4-FFF2-40B4-BE49-F238E27FC236}">
                  <a16:creationId xmlns:a16="http://schemas.microsoft.com/office/drawing/2014/main" id="{0A09C992-11E8-3E82-3A89-14854217B446}"/>
                </a:ext>
              </a:extLst>
            </p:cNvPr>
            <p:cNvSpPr/>
            <p:nvPr/>
          </p:nvSpPr>
          <p:spPr>
            <a:xfrm>
              <a:off x="74295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25" name="文本框 24">
              <a:extLst>
                <a:ext uri="{FF2B5EF4-FFF2-40B4-BE49-F238E27FC236}">
                  <a16:creationId xmlns:a16="http://schemas.microsoft.com/office/drawing/2014/main" id="{DB513AE2-485C-20EE-962C-7421709C05EA}"/>
                </a:ext>
              </a:extLst>
            </p:cNvPr>
            <p:cNvSpPr txBox="1"/>
            <p:nvPr/>
          </p:nvSpPr>
          <p:spPr>
            <a:xfrm>
              <a:off x="8042910" y="4919135"/>
              <a:ext cx="6781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城投利差</a:t>
              </a:r>
            </a:p>
          </p:txBody>
        </p:sp>
        <p:sp>
          <p:nvSpPr>
            <p:cNvPr id="26" name="文本框 25">
              <a:extLst>
                <a:ext uri="{FF2B5EF4-FFF2-40B4-BE49-F238E27FC236}">
                  <a16:creationId xmlns:a16="http://schemas.microsoft.com/office/drawing/2014/main" id="{1FEE92BC-39F1-05A8-C548-CF4228D47874}"/>
                </a:ext>
              </a:extLst>
            </p:cNvPr>
            <p:cNvSpPr txBox="1"/>
            <p:nvPr/>
          </p:nvSpPr>
          <p:spPr>
            <a:xfrm>
              <a:off x="7823704" y="5094022"/>
              <a:ext cx="1116590" cy="393151"/>
            </a:xfrm>
            <a:prstGeom prst="rect">
              <a:avLst/>
            </a:prstGeom>
            <a:noFill/>
          </p:spPr>
          <p:txBody>
            <a:bodyPr wrap="none" rtlCol="0">
              <a:spAutoFit/>
            </a:bodyPr>
            <a:lstStyle/>
            <a:p>
              <a:pPr algn="l"/>
              <a:r>
                <a:rPr lang="zh-CN" altLang="en-US" sz="1800" b="1" spc="0" baseline="0">
                  <a:ln/>
                  <a:solidFill>
                    <a:srgbClr val="2ECC71"/>
                  </a:solidFill>
                  <a:latin typeface="微软雅黑"/>
                  <a:ea typeface="微软雅黑"/>
                  <a:sym typeface="微软雅黑"/>
                  <a:rtl val="0"/>
                </a:rPr>
                <a:t>72.21bp</a:t>
              </a:r>
            </a:p>
          </p:txBody>
        </p:sp>
      </p:grpSp>
      <p:sp>
        <p:nvSpPr>
          <p:cNvPr id="27" name="文本框 26">
            <a:extLst>
              <a:ext uri="{FF2B5EF4-FFF2-40B4-BE49-F238E27FC236}">
                <a16:creationId xmlns:a16="http://schemas.microsoft.com/office/drawing/2014/main" id="{E23BEE30-9D12-B0ED-9F65-1913152D500B}"/>
              </a:ext>
            </a:extLst>
          </p:cNvPr>
          <p:cNvSpPr txBox="1"/>
          <p:nvPr/>
        </p:nvSpPr>
        <p:spPr>
          <a:xfrm>
            <a:off x="5926360" y="6290181"/>
            <a:ext cx="339279" cy="267438"/>
          </a:xfrm>
          <a:prstGeom prst="rect">
            <a:avLst/>
          </a:prstGeom>
          <a:noFill/>
        </p:spPr>
        <p:txBody>
          <a:bodyPr wrap="none" rtlCol="0">
            <a:spAutoFit/>
          </a:bodyPr>
          <a:lstStyle/>
          <a:p>
            <a:pPr algn="l"/>
            <a:r>
              <a:rPr lang="zh-CN" altLang="en-US" sz="1050" spc="0" baseline="0">
                <a:ln/>
                <a:solidFill>
                  <a:srgbClr val="FFFFFF">
                    <a:alpha val="50000"/>
                  </a:srgbClr>
                </a:solidFill>
                <a:latin typeface="微软雅黑"/>
                <a:ea typeface="微软雅黑"/>
                <a:sym typeface="微软雅黑"/>
                <a:rtl val="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ADC1742-BE95-5554-F403-307D76C0AF44}"/>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2E603BEB-80B3-CEA3-9B00-888120D5DC2B}"/>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C87E1FCF-31C4-1237-90E9-0B5D210618C0}"/>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DBE9B3ED-ADEE-D501-9D15-04DAC376B174}"/>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1835A7DA-6247-C3DA-8254-C6419ACA2378}"/>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B5648BB0-ED90-6A45-DAE7-76C316E27C1B}"/>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03 区域城投</a:t>
            </a:r>
          </a:p>
        </p:txBody>
      </p:sp>
      <p:sp>
        <p:nvSpPr>
          <p:cNvPr id="10" name="文本框 9">
            <a:extLst>
              <a:ext uri="{FF2B5EF4-FFF2-40B4-BE49-F238E27FC236}">
                <a16:creationId xmlns:a16="http://schemas.microsoft.com/office/drawing/2014/main" id="{2D8BE6DA-67E1-624E-AA3C-12E52B7EB3F1}"/>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11 / 20</a:t>
            </a:r>
          </a:p>
        </p:txBody>
      </p:sp>
      <p:sp>
        <p:nvSpPr>
          <p:cNvPr id="11" name="矩形 10">
            <a:extLst>
              <a:ext uri="{FF2B5EF4-FFF2-40B4-BE49-F238E27FC236}">
                <a16:creationId xmlns:a16="http://schemas.microsoft.com/office/drawing/2014/main" id="{7DCD6C9D-E57B-95ED-A8CE-00C8EA0EE550}"/>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5479758B-7E1F-1B49-CB04-50B36DB17E02}"/>
              </a:ext>
            </a:extLst>
          </p:cNvPr>
          <p:cNvSpPr txBox="1"/>
          <p:nvPr/>
        </p:nvSpPr>
        <p:spPr>
          <a:xfrm>
            <a:off x="480060" y="672208"/>
            <a:ext cx="2267645"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3.1 区域城投概览</a:t>
            </a:r>
          </a:p>
        </p:txBody>
      </p:sp>
      <p:grpSp>
        <p:nvGrpSpPr>
          <p:cNvPr id="13" name="SVG Image 11">
            <a:extLst>
              <a:ext uri="{FF2B5EF4-FFF2-40B4-BE49-F238E27FC236}">
                <a16:creationId xmlns:a16="http://schemas.microsoft.com/office/drawing/2014/main" id="{5D5D71AE-3AC0-E39E-CEFF-E2CEB454E4EB}"/>
              </a:ext>
            </a:extLst>
          </p:cNvPr>
          <p:cNvGrpSpPr/>
          <p:nvPr/>
        </p:nvGrpSpPr>
        <p:grpSpPr>
          <a:xfrm>
            <a:off x="571500" y="1238250"/>
            <a:ext cx="1905000" cy="952500"/>
            <a:chOff x="571500" y="1238250"/>
            <a:chExt cx="1905000" cy="952500"/>
          </a:xfrm>
        </p:grpSpPr>
        <p:sp>
          <p:nvSpPr>
            <p:cNvPr id="14" name="任意形状 13">
              <a:extLst>
                <a:ext uri="{FF2B5EF4-FFF2-40B4-BE49-F238E27FC236}">
                  <a16:creationId xmlns:a16="http://schemas.microsoft.com/office/drawing/2014/main" id="{61AEC89B-82F3-263B-27C8-FFAAB65419D2}"/>
                </a:ext>
              </a:extLst>
            </p:cNvPr>
            <p:cNvSpPr/>
            <p:nvPr/>
          </p:nvSpPr>
          <p:spPr>
            <a:xfrm>
              <a:off x="571500" y="1238250"/>
              <a:ext cx="1905000" cy="952500"/>
            </a:xfrm>
            <a:custGeom>
              <a:avLst/>
              <a:gdLst>
                <a:gd name="csX0" fmla="*/ 76200 w 1905000"/>
                <a:gd name="csY0" fmla="*/ 0 h 952500"/>
                <a:gd name="csX1" fmla="*/ 1828800 w 1905000"/>
                <a:gd name="csY1" fmla="*/ 0 h 952500"/>
                <a:gd name="csX2" fmla="*/ 1905000 w 1905000"/>
                <a:gd name="csY2" fmla="*/ 76200 h 952500"/>
                <a:gd name="csX3" fmla="*/ 1905000 w 1905000"/>
                <a:gd name="csY3" fmla="*/ 876300 h 952500"/>
                <a:gd name="csX4" fmla="*/ 1828800 w 1905000"/>
                <a:gd name="csY4" fmla="*/ 952500 h 952500"/>
                <a:gd name="csX5" fmla="*/ 76200 w 1905000"/>
                <a:gd name="csY5" fmla="*/ 952500 h 952500"/>
                <a:gd name="csX6" fmla="*/ 0 w 1905000"/>
                <a:gd name="csY6" fmla="*/ 876300 h 952500"/>
                <a:gd name="csX7" fmla="*/ 0 w 1905000"/>
                <a:gd name="csY7" fmla="*/ 76200 h 952500"/>
                <a:gd name="csX8" fmla="*/ 76200 w 1905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952500">
                  <a:moveTo>
                    <a:pt x="76200" y="0"/>
                  </a:moveTo>
                  <a:lnTo>
                    <a:pt x="1828800" y="0"/>
                  </a:lnTo>
                  <a:cubicBezTo>
                    <a:pt x="1870884" y="0"/>
                    <a:pt x="1905000" y="34116"/>
                    <a:pt x="1905000" y="76200"/>
                  </a:cubicBezTo>
                  <a:lnTo>
                    <a:pt x="1905000" y="876300"/>
                  </a:lnTo>
                  <a:cubicBezTo>
                    <a:pt x="1905000" y="918384"/>
                    <a:pt x="1870884" y="952500"/>
                    <a:pt x="1828800" y="952500"/>
                  </a:cubicBezTo>
                  <a:lnTo>
                    <a:pt x="76200" y="952500"/>
                  </a:lnTo>
                  <a:cubicBezTo>
                    <a:pt x="34116" y="952500"/>
                    <a:pt x="0" y="918384"/>
                    <a:pt x="0" y="8763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5" name="文本框 14">
              <a:extLst>
                <a:ext uri="{FF2B5EF4-FFF2-40B4-BE49-F238E27FC236}">
                  <a16:creationId xmlns:a16="http://schemas.microsoft.com/office/drawing/2014/main" id="{DD9F13DE-8E20-DB35-0ABB-4A3E4F09B2DE}"/>
                </a:ext>
              </a:extLst>
            </p:cNvPr>
            <p:cNvSpPr txBox="1"/>
            <p:nvPr/>
          </p:nvSpPr>
          <p:spPr>
            <a:xfrm>
              <a:off x="1032510" y="1432431"/>
              <a:ext cx="982980" cy="267438"/>
            </a:xfrm>
            <a:prstGeom prst="rect">
              <a:avLst/>
            </a:prstGeom>
            <a:noFill/>
          </p:spPr>
          <p:txBody>
            <a:bodyPr wrap="none" rtlCol="0">
              <a:spAutoFit/>
            </a:bodyPr>
            <a:lstStyle/>
            <a:p>
              <a:pPr algn="l"/>
              <a:r>
                <a:rPr lang="zh-CN" altLang="en-US" sz="1050" spc="0" baseline="0">
                  <a:ln/>
                  <a:solidFill>
                    <a:srgbClr val="FFFFFF">
                      <a:alpha val="80000"/>
                    </a:srgbClr>
                  </a:solidFill>
                  <a:latin typeface="微软雅黑"/>
                  <a:ea typeface="微软雅黑"/>
                  <a:sym typeface="微软雅黑"/>
                  <a:rtl val="0"/>
                </a:rPr>
                <a:t>城投平台总数</a:t>
              </a:r>
            </a:p>
          </p:txBody>
        </p:sp>
        <p:sp>
          <p:nvSpPr>
            <p:cNvPr id="16" name="文本框 15">
              <a:extLst>
                <a:ext uri="{FF2B5EF4-FFF2-40B4-BE49-F238E27FC236}">
                  <a16:creationId xmlns:a16="http://schemas.microsoft.com/office/drawing/2014/main" id="{6DDEDE65-FB7B-AFC1-C9FC-8C63AAE39F21}"/>
                </a:ext>
              </a:extLst>
            </p:cNvPr>
            <p:cNvSpPr txBox="1"/>
            <p:nvPr/>
          </p:nvSpPr>
          <p:spPr>
            <a:xfrm>
              <a:off x="943910" y="1591705"/>
              <a:ext cx="1160178"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375家</a:t>
              </a:r>
            </a:p>
          </p:txBody>
        </p:sp>
      </p:grpSp>
      <p:grpSp>
        <p:nvGrpSpPr>
          <p:cNvPr id="17" name="SVG Image 11">
            <a:extLst>
              <a:ext uri="{FF2B5EF4-FFF2-40B4-BE49-F238E27FC236}">
                <a16:creationId xmlns:a16="http://schemas.microsoft.com/office/drawing/2014/main" id="{070676F6-DBE5-E1D3-22B4-A53C4B321910}"/>
              </a:ext>
            </a:extLst>
          </p:cNvPr>
          <p:cNvGrpSpPr/>
          <p:nvPr/>
        </p:nvGrpSpPr>
        <p:grpSpPr>
          <a:xfrm>
            <a:off x="2667000" y="1238250"/>
            <a:ext cx="1905000" cy="952500"/>
            <a:chOff x="2667000" y="1238250"/>
            <a:chExt cx="1905000" cy="952500"/>
          </a:xfrm>
        </p:grpSpPr>
        <p:sp>
          <p:nvSpPr>
            <p:cNvPr id="18" name="任意形状 17">
              <a:extLst>
                <a:ext uri="{FF2B5EF4-FFF2-40B4-BE49-F238E27FC236}">
                  <a16:creationId xmlns:a16="http://schemas.microsoft.com/office/drawing/2014/main" id="{4046884E-280C-1D08-32E9-B2479D436FD4}"/>
                </a:ext>
              </a:extLst>
            </p:cNvPr>
            <p:cNvSpPr/>
            <p:nvPr/>
          </p:nvSpPr>
          <p:spPr>
            <a:xfrm>
              <a:off x="2667000" y="1238250"/>
              <a:ext cx="1905000" cy="952500"/>
            </a:xfrm>
            <a:custGeom>
              <a:avLst/>
              <a:gdLst>
                <a:gd name="csX0" fmla="*/ 76200 w 1905000"/>
                <a:gd name="csY0" fmla="*/ 0 h 952500"/>
                <a:gd name="csX1" fmla="*/ 1828800 w 1905000"/>
                <a:gd name="csY1" fmla="*/ 0 h 952500"/>
                <a:gd name="csX2" fmla="*/ 1905000 w 1905000"/>
                <a:gd name="csY2" fmla="*/ 76200 h 952500"/>
                <a:gd name="csX3" fmla="*/ 1905000 w 1905000"/>
                <a:gd name="csY3" fmla="*/ 876300 h 952500"/>
                <a:gd name="csX4" fmla="*/ 1828800 w 1905000"/>
                <a:gd name="csY4" fmla="*/ 952500 h 952500"/>
                <a:gd name="csX5" fmla="*/ 76200 w 1905000"/>
                <a:gd name="csY5" fmla="*/ 952500 h 952500"/>
                <a:gd name="csX6" fmla="*/ 0 w 1905000"/>
                <a:gd name="csY6" fmla="*/ 876300 h 952500"/>
                <a:gd name="csX7" fmla="*/ 0 w 1905000"/>
                <a:gd name="csY7" fmla="*/ 76200 h 952500"/>
                <a:gd name="csX8" fmla="*/ 76200 w 1905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952500">
                  <a:moveTo>
                    <a:pt x="76200" y="0"/>
                  </a:moveTo>
                  <a:lnTo>
                    <a:pt x="1828800" y="0"/>
                  </a:lnTo>
                  <a:cubicBezTo>
                    <a:pt x="1870884" y="0"/>
                    <a:pt x="1905000" y="34116"/>
                    <a:pt x="1905000" y="76200"/>
                  </a:cubicBezTo>
                  <a:lnTo>
                    <a:pt x="1905000" y="876300"/>
                  </a:lnTo>
                  <a:cubicBezTo>
                    <a:pt x="1905000" y="918384"/>
                    <a:pt x="1870884" y="952500"/>
                    <a:pt x="1828800" y="952500"/>
                  </a:cubicBezTo>
                  <a:lnTo>
                    <a:pt x="76200" y="952500"/>
                  </a:lnTo>
                  <a:cubicBezTo>
                    <a:pt x="34116" y="952500"/>
                    <a:pt x="0" y="918384"/>
                    <a:pt x="0" y="876300"/>
                  </a:cubicBezTo>
                  <a:lnTo>
                    <a:pt x="0" y="76200"/>
                  </a:lnTo>
                  <a:cubicBezTo>
                    <a:pt x="0" y="34116"/>
                    <a:pt x="34116" y="0"/>
                    <a:pt x="76200" y="0"/>
                  </a:cubicBezTo>
                  <a:close/>
                </a:path>
              </a:pathLst>
            </a:custGeom>
            <a:solidFill>
              <a:srgbClr val="4A90D9"/>
            </a:solidFill>
            <a:ln w="9525" cap="flat">
              <a:noFill/>
              <a:prstDash val="solid"/>
              <a:miter/>
            </a:ln>
          </p:spPr>
          <p:txBody>
            <a:bodyPr/>
            <a:lstStyle/>
            <a:p>
              <a:endParaRPr lang="zh-CN" altLang="en-US"/>
            </a:p>
          </p:txBody>
        </p:sp>
        <p:sp>
          <p:nvSpPr>
            <p:cNvPr id="19" name="文本框 18">
              <a:extLst>
                <a:ext uri="{FF2B5EF4-FFF2-40B4-BE49-F238E27FC236}">
                  <a16:creationId xmlns:a16="http://schemas.microsoft.com/office/drawing/2014/main" id="{454D8D37-4B49-8B0C-2BDC-6CEBA5DA8E94}"/>
                </a:ext>
              </a:extLst>
            </p:cNvPr>
            <p:cNvSpPr txBox="1"/>
            <p:nvPr/>
          </p:nvSpPr>
          <p:spPr>
            <a:xfrm>
              <a:off x="3261360" y="1432431"/>
              <a:ext cx="716280" cy="267438"/>
            </a:xfrm>
            <a:prstGeom prst="rect">
              <a:avLst/>
            </a:prstGeom>
            <a:noFill/>
          </p:spPr>
          <p:txBody>
            <a:bodyPr wrap="none" rtlCol="0">
              <a:spAutoFit/>
            </a:bodyPr>
            <a:lstStyle/>
            <a:p>
              <a:pPr algn="l"/>
              <a:r>
                <a:rPr lang="zh-CN" altLang="en-US" sz="1050" spc="0" baseline="0">
                  <a:ln/>
                  <a:solidFill>
                    <a:srgbClr val="FFFFFF">
                      <a:alpha val="80000"/>
                    </a:srgbClr>
                  </a:solidFill>
                  <a:latin typeface="微软雅黑"/>
                  <a:ea typeface="微软雅黑"/>
                  <a:sym typeface="微软雅黑"/>
                  <a:rtl val="0"/>
                </a:rPr>
                <a:t>本级平台</a:t>
              </a:r>
            </a:p>
          </p:txBody>
        </p:sp>
        <p:sp>
          <p:nvSpPr>
            <p:cNvPr id="20" name="文本框 19">
              <a:extLst>
                <a:ext uri="{FF2B5EF4-FFF2-40B4-BE49-F238E27FC236}">
                  <a16:creationId xmlns:a16="http://schemas.microsoft.com/office/drawing/2014/main" id="{30171775-D50D-C952-160D-563661CC3FC9}"/>
                </a:ext>
              </a:extLst>
            </p:cNvPr>
            <p:cNvSpPr txBox="1"/>
            <p:nvPr/>
          </p:nvSpPr>
          <p:spPr>
            <a:xfrm>
              <a:off x="3145143" y="1591705"/>
              <a:ext cx="948712" cy="544007"/>
            </a:xfrm>
            <a:prstGeom prst="rect">
              <a:avLst/>
            </a:prstGeom>
            <a:noFill/>
          </p:spPr>
          <p:txBody>
            <a:bodyPr wrap="none" rtlCol="0">
              <a:spAutoFit/>
            </a:bodyPr>
            <a:lstStyle/>
            <a:p>
              <a:pPr algn="l"/>
              <a:r>
                <a:rPr lang="zh-CN" altLang="en-US" sz="2700" b="1" spc="0" baseline="0">
                  <a:ln/>
                  <a:solidFill>
                    <a:srgbClr val="FFFFFF"/>
                  </a:solidFill>
                  <a:latin typeface="微软雅黑"/>
                  <a:ea typeface="微软雅黑"/>
                  <a:sym typeface="微软雅黑"/>
                  <a:rtl val="0"/>
                </a:rPr>
                <a:t>54家</a:t>
              </a:r>
            </a:p>
          </p:txBody>
        </p:sp>
      </p:grpSp>
      <p:grpSp>
        <p:nvGrpSpPr>
          <p:cNvPr id="21" name="SVG Image 11">
            <a:extLst>
              <a:ext uri="{FF2B5EF4-FFF2-40B4-BE49-F238E27FC236}">
                <a16:creationId xmlns:a16="http://schemas.microsoft.com/office/drawing/2014/main" id="{79FDEFEE-7817-A860-8C3A-1A23B27A3E7A}"/>
              </a:ext>
            </a:extLst>
          </p:cNvPr>
          <p:cNvGrpSpPr/>
          <p:nvPr/>
        </p:nvGrpSpPr>
        <p:grpSpPr>
          <a:xfrm>
            <a:off x="4762500" y="1238250"/>
            <a:ext cx="1905000" cy="952500"/>
            <a:chOff x="4762500" y="1238250"/>
            <a:chExt cx="1905000" cy="952500"/>
          </a:xfrm>
        </p:grpSpPr>
        <p:sp>
          <p:nvSpPr>
            <p:cNvPr id="22" name="任意形状 21">
              <a:extLst>
                <a:ext uri="{FF2B5EF4-FFF2-40B4-BE49-F238E27FC236}">
                  <a16:creationId xmlns:a16="http://schemas.microsoft.com/office/drawing/2014/main" id="{5AC32895-2E70-03D9-357B-4473FD366893}"/>
                </a:ext>
              </a:extLst>
            </p:cNvPr>
            <p:cNvSpPr/>
            <p:nvPr/>
          </p:nvSpPr>
          <p:spPr>
            <a:xfrm>
              <a:off x="4762500" y="1238250"/>
              <a:ext cx="1905000" cy="952500"/>
            </a:xfrm>
            <a:custGeom>
              <a:avLst/>
              <a:gdLst>
                <a:gd name="csX0" fmla="*/ 76200 w 1905000"/>
                <a:gd name="csY0" fmla="*/ 0 h 952500"/>
                <a:gd name="csX1" fmla="*/ 1828800 w 1905000"/>
                <a:gd name="csY1" fmla="*/ 0 h 952500"/>
                <a:gd name="csX2" fmla="*/ 1905000 w 1905000"/>
                <a:gd name="csY2" fmla="*/ 76200 h 952500"/>
                <a:gd name="csX3" fmla="*/ 1905000 w 1905000"/>
                <a:gd name="csY3" fmla="*/ 876300 h 952500"/>
                <a:gd name="csX4" fmla="*/ 1828800 w 1905000"/>
                <a:gd name="csY4" fmla="*/ 952500 h 952500"/>
                <a:gd name="csX5" fmla="*/ 76200 w 1905000"/>
                <a:gd name="csY5" fmla="*/ 952500 h 952500"/>
                <a:gd name="csX6" fmla="*/ 0 w 1905000"/>
                <a:gd name="csY6" fmla="*/ 876300 h 952500"/>
                <a:gd name="csX7" fmla="*/ 0 w 1905000"/>
                <a:gd name="csY7" fmla="*/ 76200 h 952500"/>
                <a:gd name="csX8" fmla="*/ 76200 w 1905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952500">
                  <a:moveTo>
                    <a:pt x="76200" y="0"/>
                  </a:moveTo>
                  <a:lnTo>
                    <a:pt x="1828800" y="0"/>
                  </a:lnTo>
                  <a:cubicBezTo>
                    <a:pt x="1870884" y="0"/>
                    <a:pt x="1905000" y="34116"/>
                    <a:pt x="1905000" y="76200"/>
                  </a:cubicBezTo>
                  <a:lnTo>
                    <a:pt x="1905000" y="876300"/>
                  </a:lnTo>
                  <a:cubicBezTo>
                    <a:pt x="1905000" y="918384"/>
                    <a:pt x="1870884" y="952500"/>
                    <a:pt x="182880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3" name="文本框 22">
              <a:extLst>
                <a:ext uri="{FF2B5EF4-FFF2-40B4-BE49-F238E27FC236}">
                  <a16:creationId xmlns:a16="http://schemas.microsoft.com/office/drawing/2014/main" id="{86C2F960-32B9-E70F-9C0A-2C7D1C4CB887}"/>
                </a:ext>
              </a:extLst>
            </p:cNvPr>
            <p:cNvSpPr txBox="1"/>
            <p:nvPr/>
          </p:nvSpPr>
          <p:spPr>
            <a:xfrm>
              <a:off x="5356860" y="1432431"/>
              <a:ext cx="7162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下属辖区</a:t>
              </a:r>
            </a:p>
          </p:txBody>
        </p:sp>
        <p:sp>
          <p:nvSpPr>
            <p:cNvPr id="24" name="文本框 23">
              <a:extLst>
                <a:ext uri="{FF2B5EF4-FFF2-40B4-BE49-F238E27FC236}">
                  <a16:creationId xmlns:a16="http://schemas.microsoft.com/office/drawing/2014/main" id="{49668BA6-FBFC-8B94-C219-4DB2158F0F71}"/>
                </a:ext>
              </a:extLst>
            </p:cNvPr>
            <p:cNvSpPr txBox="1"/>
            <p:nvPr/>
          </p:nvSpPr>
          <p:spPr>
            <a:xfrm>
              <a:off x="5240643" y="1591705"/>
              <a:ext cx="948712"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38个</a:t>
              </a:r>
            </a:p>
          </p:txBody>
        </p:sp>
      </p:grpSp>
      <p:grpSp>
        <p:nvGrpSpPr>
          <p:cNvPr id="25" name="SVG Image 11">
            <a:extLst>
              <a:ext uri="{FF2B5EF4-FFF2-40B4-BE49-F238E27FC236}">
                <a16:creationId xmlns:a16="http://schemas.microsoft.com/office/drawing/2014/main" id="{1CE05D85-99D3-3682-64C9-EADCCE4FBACD}"/>
              </a:ext>
            </a:extLst>
          </p:cNvPr>
          <p:cNvGrpSpPr/>
          <p:nvPr/>
        </p:nvGrpSpPr>
        <p:grpSpPr>
          <a:xfrm>
            <a:off x="571500" y="2381250"/>
            <a:ext cx="3810000" cy="2667000"/>
            <a:chOff x="571500" y="2381250"/>
            <a:chExt cx="3810000" cy="2667000"/>
          </a:xfrm>
        </p:grpSpPr>
        <p:sp>
          <p:nvSpPr>
            <p:cNvPr id="26" name="任意形状 25">
              <a:extLst>
                <a:ext uri="{FF2B5EF4-FFF2-40B4-BE49-F238E27FC236}">
                  <a16:creationId xmlns:a16="http://schemas.microsoft.com/office/drawing/2014/main" id="{FC43DB22-671A-C6FA-887C-E42158C59C03}"/>
                </a:ext>
              </a:extLst>
            </p:cNvPr>
            <p:cNvSpPr/>
            <p:nvPr/>
          </p:nvSpPr>
          <p:spPr>
            <a:xfrm>
              <a:off x="571500" y="2381250"/>
              <a:ext cx="3429000" cy="2667000"/>
            </a:xfrm>
            <a:custGeom>
              <a:avLst/>
              <a:gdLst>
                <a:gd name="csX0" fmla="*/ 76200 w 3429000"/>
                <a:gd name="csY0" fmla="*/ 0 h 2667000"/>
                <a:gd name="csX1" fmla="*/ 3352800 w 3429000"/>
                <a:gd name="csY1" fmla="*/ 0 h 2667000"/>
                <a:gd name="csX2" fmla="*/ 3429000 w 3429000"/>
                <a:gd name="csY2" fmla="*/ 76200 h 2667000"/>
                <a:gd name="csX3" fmla="*/ 3429000 w 3429000"/>
                <a:gd name="csY3" fmla="*/ 2590800 h 2667000"/>
                <a:gd name="csX4" fmla="*/ 3352800 w 3429000"/>
                <a:gd name="csY4" fmla="*/ 2667000 h 2667000"/>
                <a:gd name="csX5" fmla="*/ 76200 w 3429000"/>
                <a:gd name="csY5" fmla="*/ 2667000 h 2667000"/>
                <a:gd name="csX6" fmla="*/ 0 w 3429000"/>
                <a:gd name="csY6" fmla="*/ 2590800 h 2667000"/>
                <a:gd name="csX7" fmla="*/ 0 w 3429000"/>
                <a:gd name="csY7" fmla="*/ 76200 h 2667000"/>
                <a:gd name="csX8" fmla="*/ 76200 w 3429000"/>
                <a:gd name="csY8" fmla="*/ 0 h 2667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29000" h="2667000">
                  <a:moveTo>
                    <a:pt x="76200" y="0"/>
                  </a:moveTo>
                  <a:lnTo>
                    <a:pt x="3352800" y="0"/>
                  </a:lnTo>
                  <a:cubicBezTo>
                    <a:pt x="3394884" y="0"/>
                    <a:pt x="3429000" y="34116"/>
                    <a:pt x="3429000" y="76200"/>
                  </a:cubicBezTo>
                  <a:lnTo>
                    <a:pt x="3429000" y="2590800"/>
                  </a:lnTo>
                  <a:cubicBezTo>
                    <a:pt x="3429000" y="2632884"/>
                    <a:pt x="3394884" y="2667000"/>
                    <a:pt x="3352800" y="2667000"/>
                  </a:cubicBezTo>
                  <a:lnTo>
                    <a:pt x="76200" y="2667000"/>
                  </a:lnTo>
                  <a:cubicBezTo>
                    <a:pt x="34116" y="2667000"/>
                    <a:pt x="0" y="2632884"/>
                    <a:pt x="0" y="2590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7" name="文本框 26">
              <a:extLst>
                <a:ext uri="{FF2B5EF4-FFF2-40B4-BE49-F238E27FC236}">
                  <a16:creationId xmlns:a16="http://schemas.microsoft.com/office/drawing/2014/main" id="{286561AE-F199-83BD-CCEA-8382D0BC2513}"/>
                </a:ext>
              </a:extLst>
            </p:cNvPr>
            <p:cNvSpPr txBox="1"/>
            <p:nvPr/>
          </p:nvSpPr>
          <p:spPr>
            <a:xfrm>
              <a:off x="765810" y="2507649"/>
              <a:ext cx="10972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主体评级分布</a:t>
              </a:r>
            </a:p>
          </p:txBody>
        </p:sp>
        <p:sp>
          <p:nvSpPr>
            <p:cNvPr id="28" name="文本框 27">
              <a:extLst>
                <a:ext uri="{FF2B5EF4-FFF2-40B4-BE49-F238E27FC236}">
                  <a16:creationId xmlns:a16="http://schemas.microsoft.com/office/drawing/2014/main" id="{B5282E75-5670-5523-AF9C-14D604FFA193}"/>
                </a:ext>
              </a:extLst>
            </p:cNvPr>
            <p:cNvSpPr txBox="1"/>
            <p:nvPr/>
          </p:nvSpPr>
          <p:spPr>
            <a:xfrm>
              <a:off x="3147060" y="2547963"/>
              <a:ext cx="13258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仅统计已披露评级平台</a:t>
              </a:r>
            </a:p>
          </p:txBody>
        </p:sp>
        <p:sp>
          <p:nvSpPr>
            <p:cNvPr id="29" name="文本框 28">
              <a:extLst>
                <a:ext uri="{FF2B5EF4-FFF2-40B4-BE49-F238E27FC236}">
                  <a16:creationId xmlns:a16="http://schemas.microsoft.com/office/drawing/2014/main" id="{B052BD15-0311-5CA9-EF77-44B411B3EEE3}"/>
                </a:ext>
              </a:extLst>
            </p:cNvPr>
            <p:cNvSpPr txBox="1"/>
            <p:nvPr/>
          </p:nvSpPr>
          <p:spPr>
            <a:xfrm>
              <a:off x="765810" y="2966510"/>
              <a:ext cx="444254"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AAA</a:t>
              </a:r>
            </a:p>
          </p:txBody>
        </p:sp>
        <p:sp>
          <p:nvSpPr>
            <p:cNvPr id="30" name="任意形状 29">
              <a:extLst>
                <a:ext uri="{FF2B5EF4-FFF2-40B4-BE49-F238E27FC236}">
                  <a16:creationId xmlns:a16="http://schemas.microsoft.com/office/drawing/2014/main" id="{F9CFDE95-2A6D-362B-7756-586096376C63}"/>
                </a:ext>
              </a:extLst>
            </p:cNvPr>
            <p:cNvSpPr/>
            <p:nvPr/>
          </p:nvSpPr>
          <p:spPr>
            <a:xfrm>
              <a:off x="1333500" y="3000375"/>
              <a:ext cx="1905000" cy="228600"/>
            </a:xfrm>
            <a:custGeom>
              <a:avLst/>
              <a:gdLst>
                <a:gd name="csX0" fmla="*/ 38100 w 1905000"/>
                <a:gd name="csY0" fmla="*/ 0 h 228600"/>
                <a:gd name="csX1" fmla="*/ 1866900 w 1905000"/>
                <a:gd name="csY1" fmla="*/ 0 h 228600"/>
                <a:gd name="csX2" fmla="*/ 1905000 w 1905000"/>
                <a:gd name="csY2" fmla="*/ 38100 h 228600"/>
                <a:gd name="csX3" fmla="*/ 1905000 w 1905000"/>
                <a:gd name="csY3" fmla="*/ 190500 h 228600"/>
                <a:gd name="csX4" fmla="*/ 1866900 w 1905000"/>
                <a:gd name="csY4" fmla="*/ 228600 h 228600"/>
                <a:gd name="csX5" fmla="*/ 38100 w 1905000"/>
                <a:gd name="csY5" fmla="*/ 228600 h 228600"/>
                <a:gd name="csX6" fmla="*/ 0 w 1905000"/>
                <a:gd name="csY6" fmla="*/ 190500 h 228600"/>
                <a:gd name="csX7" fmla="*/ 0 w 1905000"/>
                <a:gd name="csY7" fmla="*/ 38100 h 228600"/>
                <a:gd name="csX8" fmla="*/ 38100 w 1905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228600">
                  <a:moveTo>
                    <a:pt x="38100" y="0"/>
                  </a:moveTo>
                  <a:lnTo>
                    <a:pt x="1866900" y="0"/>
                  </a:lnTo>
                  <a:cubicBezTo>
                    <a:pt x="1887942" y="0"/>
                    <a:pt x="1905000" y="17058"/>
                    <a:pt x="1905000" y="38100"/>
                  </a:cubicBezTo>
                  <a:lnTo>
                    <a:pt x="1905000" y="190500"/>
                  </a:lnTo>
                  <a:cubicBezTo>
                    <a:pt x="1905000" y="211542"/>
                    <a:pt x="1887942" y="228600"/>
                    <a:pt x="1866900" y="228600"/>
                  </a:cubicBezTo>
                  <a:lnTo>
                    <a:pt x="38100" y="228600"/>
                  </a:lnTo>
                  <a:cubicBezTo>
                    <a:pt x="17058" y="228600"/>
                    <a:pt x="0" y="211542"/>
                    <a:pt x="0" y="1905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31" name="任意形状 30">
              <a:extLst>
                <a:ext uri="{FF2B5EF4-FFF2-40B4-BE49-F238E27FC236}">
                  <a16:creationId xmlns:a16="http://schemas.microsoft.com/office/drawing/2014/main" id="{875DC20E-D700-B71D-511C-8C914449E74A}"/>
                </a:ext>
              </a:extLst>
            </p:cNvPr>
            <p:cNvSpPr/>
            <p:nvPr/>
          </p:nvSpPr>
          <p:spPr>
            <a:xfrm>
              <a:off x="1333500" y="3000375"/>
              <a:ext cx="381000" cy="228600"/>
            </a:xfrm>
            <a:custGeom>
              <a:avLst/>
              <a:gdLst>
                <a:gd name="csX0" fmla="*/ 38100 w 381000"/>
                <a:gd name="csY0" fmla="*/ 0 h 228600"/>
                <a:gd name="csX1" fmla="*/ 342900 w 381000"/>
                <a:gd name="csY1" fmla="*/ 0 h 228600"/>
                <a:gd name="csX2" fmla="*/ 381000 w 381000"/>
                <a:gd name="csY2" fmla="*/ 38100 h 228600"/>
                <a:gd name="csX3" fmla="*/ 381000 w 381000"/>
                <a:gd name="csY3" fmla="*/ 190500 h 228600"/>
                <a:gd name="csX4" fmla="*/ 342900 w 381000"/>
                <a:gd name="csY4" fmla="*/ 228600 h 228600"/>
                <a:gd name="csX5" fmla="*/ 38100 w 381000"/>
                <a:gd name="csY5" fmla="*/ 228600 h 228600"/>
                <a:gd name="csX6" fmla="*/ 0 w 381000"/>
                <a:gd name="csY6" fmla="*/ 190500 h 228600"/>
                <a:gd name="csX7" fmla="*/ 0 w 381000"/>
                <a:gd name="csY7" fmla="*/ 38100 h 228600"/>
                <a:gd name="csX8" fmla="*/ 38100 w 381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0" h="228600">
                  <a:moveTo>
                    <a:pt x="38100" y="0"/>
                  </a:moveTo>
                  <a:lnTo>
                    <a:pt x="342900" y="0"/>
                  </a:lnTo>
                  <a:cubicBezTo>
                    <a:pt x="363942" y="0"/>
                    <a:pt x="381000" y="17058"/>
                    <a:pt x="381000" y="38100"/>
                  </a:cubicBezTo>
                  <a:lnTo>
                    <a:pt x="381000" y="190500"/>
                  </a:lnTo>
                  <a:cubicBezTo>
                    <a:pt x="381000" y="211542"/>
                    <a:pt x="363942" y="228600"/>
                    <a:pt x="342900" y="228600"/>
                  </a:cubicBezTo>
                  <a:lnTo>
                    <a:pt x="38100" y="228600"/>
                  </a:lnTo>
                  <a:cubicBezTo>
                    <a:pt x="17058" y="228600"/>
                    <a:pt x="0" y="211542"/>
                    <a:pt x="0" y="1905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32" name="文本框 31">
              <a:extLst>
                <a:ext uri="{FF2B5EF4-FFF2-40B4-BE49-F238E27FC236}">
                  <a16:creationId xmlns:a16="http://schemas.microsoft.com/office/drawing/2014/main" id="{96C7BBCD-2452-181E-CF38-BE71C0654DA4}"/>
                </a:ext>
              </a:extLst>
            </p:cNvPr>
            <p:cNvSpPr txBox="1"/>
            <p:nvPr/>
          </p:nvSpPr>
          <p:spPr>
            <a:xfrm>
              <a:off x="1765935" y="2995638"/>
              <a:ext cx="3642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8家</a:t>
              </a:r>
            </a:p>
          </p:txBody>
        </p:sp>
        <p:sp>
          <p:nvSpPr>
            <p:cNvPr id="33" name="文本框 32">
              <a:extLst>
                <a:ext uri="{FF2B5EF4-FFF2-40B4-BE49-F238E27FC236}">
                  <a16:creationId xmlns:a16="http://schemas.microsoft.com/office/drawing/2014/main" id="{1FFA3809-D00C-4485-01A4-EA5A4373182B}"/>
                </a:ext>
              </a:extLst>
            </p:cNvPr>
            <p:cNvSpPr txBox="1"/>
            <p:nvPr/>
          </p:nvSpPr>
          <p:spPr>
            <a:xfrm>
              <a:off x="765810" y="3395135"/>
              <a:ext cx="44897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AA+</a:t>
              </a:r>
            </a:p>
          </p:txBody>
        </p:sp>
        <p:sp>
          <p:nvSpPr>
            <p:cNvPr id="34" name="任意形状 33">
              <a:extLst>
                <a:ext uri="{FF2B5EF4-FFF2-40B4-BE49-F238E27FC236}">
                  <a16:creationId xmlns:a16="http://schemas.microsoft.com/office/drawing/2014/main" id="{6BE08D37-857B-FEC9-64EF-7438493039AE}"/>
                </a:ext>
              </a:extLst>
            </p:cNvPr>
            <p:cNvSpPr/>
            <p:nvPr/>
          </p:nvSpPr>
          <p:spPr>
            <a:xfrm>
              <a:off x="1333500" y="3429000"/>
              <a:ext cx="1905000" cy="228600"/>
            </a:xfrm>
            <a:custGeom>
              <a:avLst/>
              <a:gdLst>
                <a:gd name="csX0" fmla="*/ 38100 w 1905000"/>
                <a:gd name="csY0" fmla="*/ 0 h 228600"/>
                <a:gd name="csX1" fmla="*/ 1866900 w 1905000"/>
                <a:gd name="csY1" fmla="*/ 0 h 228600"/>
                <a:gd name="csX2" fmla="*/ 1905000 w 1905000"/>
                <a:gd name="csY2" fmla="*/ 38100 h 228600"/>
                <a:gd name="csX3" fmla="*/ 1905000 w 1905000"/>
                <a:gd name="csY3" fmla="*/ 190500 h 228600"/>
                <a:gd name="csX4" fmla="*/ 1866900 w 1905000"/>
                <a:gd name="csY4" fmla="*/ 228600 h 228600"/>
                <a:gd name="csX5" fmla="*/ 38100 w 1905000"/>
                <a:gd name="csY5" fmla="*/ 228600 h 228600"/>
                <a:gd name="csX6" fmla="*/ 0 w 1905000"/>
                <a:gd name="csY6" fmla="*/ 190500 h 228600"/>
                <a:gd name="csX7" fmla="*/ 0 w 1905000"/>
                <a:gd name="csY7" fmla="*/ 38100 h 228600"/>
                <a:gd name="csX8" fmla="*/ 38100 w 1905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228600">
                  <a:moveTo>
                    <a:pt x="38100" y="0"/>
                  </a:moveTo>
                  <a:lnTo>
                    <a:pt x="1866900" y="0"/>
                  </a:lnTo>
                  <a:cubicBezTo>
                    <a:pt x="1887942" y="0"/>
                    <a:pt x="1905000" y="17058"/>
                    <a:pt x="1905000" y="38100"/>
                  </a:cubicBezTo>
                  <a:lnTo>
                    <a:pt x="1905000" y="190500"/>
                  </a:lnTo>
                  <a:cubicBezTo>
                    <a:pt x="1905000" y="211542"/>
                    <a:pt x="1887942" y="228600"/>
                    <a:pt x="1866900" y="228600"/>
                  </a:cubicBezTo>
                  <a:lnTo>
                    <a:pt x="38100" y="228600"/>
                  </a:lnTo>
                  <a:cubicBezTo>
                    <a:pt x="17058" y="228600"/>
                    <a:pt x="0" y="211542"/>
                    <a:pt x="0" y="1905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35" name="任意形状 34">
              <a:extLst>
                <a:ext uri="{FF2B5EF4-FFF2-40B4-BE49-F238E27FC236}">
                  <a16:creationId xmlns:a16="http://schemas.microsoft.com/office/drawing/2014/main" id="{094108D2-8265-368D-305C-E830780AF851}"/>
                </a:ext>
              </a:extLst>
            </p:cNvPr>
            <p:cNvSpPr/>
            <p:nvPr/>
          </p:nvSpPr>
          <p:spPr>
            <a:xfrm>
              <a:off x="1333500" y="3429000"/>
              <a:ext cx="762000" cy="228600"/>
            </a:xfrm>
            <a:custGeom>
              <a:avLst/>
              <a:gdLst>
                <a:gd name="csX0" fmla="*/ 38100 w 762000"/>
                <a:gd name="csY0" fmla="*/ 0 h 228600"/>
                <a:gd name="csX1" fmla="*/ 723900 w 762000"/>
                <a:gd name="csY1" fmla="*/ 0 h 228600"/>
                <a:gd name="csX2" fmla="*/ 762000 w 762000"/>
                <a:gd name="csY2" fmla="*/ 38100 h 228600"/>
                <a:gd name="csX3" fmla="*/ 762000 w 762000"/>
                <a:gd name="csY3" fmla="*/ 190500 h 228600"/>
                <a:gd name="csX4" fmla="*/ 723900 w 762000"/>
                <a:gd name="csY4" fmla="*/ 228600 h 228600"/>
                <a:gd name="csX5" fmla="*/ 38100 w 762000"/>
                <a:gd name="csY5" fmla="*/ 228600 h 228600"/>
                <a:gd name="csX6" fmla="*/ 0 w 762000"/>
                <a:gd name="csY6" fmla="*/ 190500 h 228600"/>
                <a:gd name="csX7" fmla="*/ 0 w 762000"/>
                <a:gd name="csY7" fmla="*/ 38100 h 228600"/>
                <a:gd name="csX8" fmla="*/ 38100 w 762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0" h="228600">
                  <a:moveTo>
                    <a:pt x="38100" y="0"/>
                  </a:moveTo>
                  <a:lnTo>
                    <a:pt x="723900" y="0"/>
                  </a:lnTo>
                  <a:cubicBezTo>
                    <a:pt x="744942" y="0"/>
                    <a:pt x="762000" y="17058"/>
                    <a:pt x="762000" y="38100"/>
                  </a:cubicBezTo>
                  <a:lnTo>
                    <a:pt x="762000" y="190500"/>
                  </a:lnTo>
                  <a:cubicBezTo>
                    <a:pt x="762000" y="211542"/>
                    <a:pt x="744942" y="228600"/>
                    <a:pt x="723900" y="228600"/>
                  </a:cubicBezTo>
                  <a:lnTo>
                    <a:pt x="38100" y="228600"/>
                  </a:lnTo>
                  <a:cubicBezTo>
                    <a:pt x="17058" y="228600"/>
                    <a:pt x="0" y="211542"/>
                    <a:pt x="0" y="190500"/>
                  </a:cubicBezTo>
                  <a:lnTo>
                    <a:pt x="0" y="38100"/>
                  </a:lnTo>
                  <a:cubicBezTo>
                    <a:pt x="0" y="17058"/>
                    <a:pt x="17058" y="0"/>
                    <a:pt x="38100" y="0"/>
                  </a:cubicBezTo>
                  <a:close/>
                </a:path>
              </a:pathLst>
            </a:custGeom>
            <a:solidFill>
              <a:srgbClr val="4A90D9"/>
            </a:solidFill>
            <a:ln w="9525" cap="flat">
              <a:noFill/>
              <a:prstDash val="solid"/>
              <a:miter/>
            </a:ln>
          </p:spPr>
          <p:txBody>
            <a:bodyPr/>
            <a:lstStyle/>
            <a:p>
              <a:endParaRPr lang="zh-CN" altLang="en-US"/>
            </a:p>
          </p:txBody>
        </p:sp>
        <p:sp>
          <p:nvSpPr>
            <p:cNvPr id="36" name="文本框 35">
              <a:extLst>
                <a:ext uri="{FF2B5EF4-FFF2-40B4-BE49-F238E27FC236}">
                  <a16:creationId xmlns:a16="http://schemas.microsoft.com/office/drawing/2014/main" id="{F9A28316-3978-85CC-F508-4CACF81FD6E9}"/>
                </a:ext>
              </a:extLst>
            </p:cNvPr>
            <p:cNvSpPr txBox="1"/>
            <p:nvPr/>
          </p:nvSpPr>
          <p:spPr>
            <a:xfrm>
              <a:off x="2099310" y="3424263"/>
              <a:ext cx="43123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25家</a:t>
              </a:r>
            </a:p>
          </p:txBody>
        </p:sp>
        <p:sp>
          <p:nvSpPr>
            <p:cNvPr id="37" name="文本框 36">
              <a:extLst>
                <a:ext uri="{FF2B5EF4-FFF2-40B4-BE49-F238E27FC236}">
                  <a16:creationId xmlns:a16="http://schemas.microsoft.com/office/drawing/2014/main" id="{63B989F4-F131-72D3-E308-AA285FFA3BD5}"/>
                </a:ext>
              </a:extLst>
            </p:cNvPr>
            <p:cNvSpPr txBox="1"/>
            <p:nvPr/>
          </p:nvSpPr>
          <p:spPr>
            <a:xfrm>
              <a:off x="765810" y="3823760"/>
              <a:ext cx="357129"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AA</a:t>
              </a:r>
            </a:p>
          </p:txBody>
        </p:sp>
        <p:sp>
          <p:nvSpPr>
            <p:cNvPr id="38" name="任意形状 37">
              <a:extLst>
                <a:ext uri="{FF2B5EF4-FFF2-40B4-BE49-F238E27FC236}">
                  <a16:creationId xmlns:a16="http://schemas.microsoft.com/office/drawing/2014/main" id="{3802D8CA-6006-0F27-0C79-3ECB2B672D5F}"/>
                </a:ext>
              </a:extLst>
            </p:cNvPr>
            <p:cNvSpPr/>
            <p:nvPr/>
          </p:nvSpPr>
          <p:spPr>
            <a:xfrm>
              <a:off x="1333500" y="3857625"/>
              <a:ext cx="1905000" cy="228600"/>
            </a:xfrm>
            <a:custGeom>
              <a:avLst/>
              <a:gdLst>
                <a:gd name="csX0" fmla="*/ 38100 w 1905000"/>
                <a:gd name="csY0" fmla="*/ 0 h 228600"/>
                <a:gd name="csX1" fmla="*/ 1866900 w 1905000"/>
                <a:gd name="csY1" fmla="*/ 0 h 228600"/>
                <a:gd name="csX2" fmla="*/ 1905000 w 1905000"/>
                <a:gd name="csY2" fmla="*/ 38100 h 228600"/>
                <a:gd name="csX3" fmla="*/ 1905000 w 1905000"/>
                <a:gd name="csY3" fmla="*/ 190500 h 228600"/>
                <a:gd name="csX4" fmla="*/ 1866900 w 1905000"/>
                <a:gd name="csY4" fmla="*/ 228600 h 228600"/>
                <a:gd name="csX5" fmla="*/ 38100 w 1905000"/>
                <a:gd name="csY5" fmla="*/ 228600 h 228600"/>
                <a:gd name="csX6" fmla="*/ 0 w 1905000"/>
                <a:gd name="csY6" fmla="*/ 190500 h 228600"/>
                <a:gd name="csX7" fmla="*/ 0 w 1905000"/>
                <a:gd name="csY7" fmla="*/ 38100 h 228600"/>
                <a:gd name="csX8" fmla="*/ 38100 w 1905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228600">
                  <a:moveTo>
                    <a:pt x="38100" y="0"/>
                  </a:moveTo>
                  <a:lnTo>
                    <a:pt x="1866900" y="0"/>
                  </a:lnTo>
                  <a:cubicBezTo>
                    <a:pt x="1887942" y="0"/>
                    <a:pt x="1905000" y="17058"/>
                    <a:pt x="1905000" y="38100"/>
                  </a:cubicBezTo>
                  <a:lnTo>
                    <a:pt x="1905000" y="190500"/>
                  </a:lnTo>
                  <a:cubicBezTo>
                    <a:pt x="1905000" y="211542"/>
                    <a:pt x="1887942" y="228600"/>
                    <a:pt x="1866900" y="228600"/>
                  </a:cubicBezTo>
                  <a:lnTo>
                    <a:pt x="38100" y="228600"/>
                  </a:lnTo>
                  <a:cubicBezTo>
                    <a:pt x="17058" y="228600"/>
                    <a:pt x="0" y="211542"/>
                    <a:pt x="0" y="1905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39" name="任意形状 38">
              <a:extLst>
                <a:ext uri="{FF2B5EF4-FFF2-40B4-BE49-F238E27FC236}">
                  <a16:creationId xmlns:a16="http://schemas.microsoft.com/office/drawing/2014/main" id="{2B94739B-3CA7-CAF1-DA0F-4D281071DDD7}"/>
                </a:ext>
              </a:extLst>
            </p:cNvPr>
            <p:cNvSpPr/>
            <p:nvPr/>
          </p:nvSpPr>
          <p:spPr>
            <a:xfrm>
              <a:off x="1333500" y="3857625"/>
              <a:ext cx="1619250" cy="228600"/>
            </a:xfrm>
            <a:custGeom>
              <a:avLst/>
              <a:gdLst>
                <a:gd name="csX0" fmla="*/ 38100 w 1619250"/>
                <a:gd name="csY0" fmla="*/ 0 h 228600"/>
                <a:gd name="csX1" fmla="*/ 1581150 w 1619250"/>
                <a:gd name="csY1" fmla="*/ 0 h 228600"/>
                <a:gd name="csX2" fmla="*/ 1619250 w 1619250"/>
                <a:gd name="csY2" fmla="*/ 38100 h 228600"/>
                <a:gd name="csX3" fmla="*/ 1619250 w 1619250"/>
                <a:gd name="csY3" fmla="*/ 190500 h 228600"/>
                <a:gd name="csX4" fmla="*/ 1581150 w 1619250"/>
                <a:gd name="csY4" fmla="*/ 228600 h 228600"/>
                <a:gd name="csX5" fmla="*/ 38100 w 1619250"/>
                <a:gd name="csY5" fmla="*/ 228600 h 228600"/>
                <a:gd name="csX6" fmla="*/ 0 w 1619250"/>
                <a:gd name="csY6" fmla="*/ 190500 h 228600"/>
                <a:gd name="csX7" fmla="*/ 0 w 1619250"/>
                <a:gd name="csY7" fmla="*/ 38100 h 228600"/>
                <a:gd name="csX8" fmla="*/ 38100 w 161925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19250" h="228600">
                  <a:moveTo>
                    <a:pt x="38100" y="0"/>
                  </a:moveTo>
                  <a:lnTo>
                    <a:pt x="1581150" y="0"/>
                  </a:lnTo>
                  <a:cubicBezTo>
                    <a:pt x="1602192" y="0"/>
                    <a:pt x="1619250" y="17058"/>
                    <a:pt x="1619250" y="38100"/>
                  </a:cubicBezTo>
                  <a:lnTo>
                    <a:pt x="1619250" y="190500"/>
                  </a:lnTo>
                  <a:cubicBezTo>
                    <a:pt x="1619250" y="211542"/>
                    <a:pt x="1602192" y="228600"/>
                    <a:pt x="1581150" y="228600"/>
                  </a:cubicBezTo>
                  <a:lnTo>
                    <a:pt x="38100" y="228600"/>
                  </a:lnTo>
                  <a:cubicBezTo>
                    <a:pt x="17058" y="228600"/>
                    <a:pt x="0" y="211542"/>
                    <a:pt x="0" y="190500"/>
                  </a:cubicBezTo>
                  <a:lnTo>
                    <a:pt x="0" y="38100"/>
                  </a:lnTo>
                  <a:cubicBezTo>
                    <a:pt x="0" y="17058"/>
                    <a:pt x="17058" y="0"/>
                    <a:pt x="38100" y="0"/>
                  </a:cubicBezTo>
                  <a:close/>
                </a:path>
              </a:pathLst>
            </a:custGeom>
            <a:solidFill>
              <a:srgbClr val="2ECC71"/>
            </a:solidFill>
            <a:ln w="9525" cap="flat">
              <a:noFill/>
              <a:prstDash val="solid"/>
              <a:miter/>
            </a:ln>
          </p:spPr>
          <p:txBody>
            <a:bodyPr/>
            <a:lstStyle/>
            <a:p>
              <a:endParaRPr lang="zh-CN" altLang="en-US"/>
            </a:p>
          </p:txBody>
        </p:sp>
        <p:sp>
          <p:nvSpPr>
            <p:cNvPr id="40" name="文本框 39">
              <a:extLst>
                <a:ext uri="{FF2B5EF4-FFF2-40B4-BE49-F238E27FC236}">
                  <a16:creationId xmlns:a16="http://schemas.microsoft.com/office/drawing/2014/main" id="{1FD0E404-7E87-9325-39E6-4CC7716EBE9A}"/>
                </a:ext>
              </a:extLst>
            </p:cNvPr>
            <p:cNvSpPr txBox="1"/>
            <p:nvPr/>
          </p:nvSpPr>
          <p:spPr>
            <a:xfrm>
              <a:off x="2956560" y="3852888"/>
              <a:ext cx="982310" cy="242295"/>
            </a:xfrm>
            <a:prstGeom prst="rect">
              <a:avLst/>
            </a:prstGeom>
            <a:noFill/>
          </p:spPr>
          <p:txBody>
            <a:bodyPr wrap="none" rtlCol="0">
              <a:spAutoFit/>
            </a:bodyPr>
            <a:lstStyle/>
            <a:p>
              <a:pPr algn="l"/>
              <a:r>
                <a:rPr lang="zh-CN" altLang="en-US" sz="900" b="1" spc="0" baseline="0">
                  <a:ln/>
                  <a:solidFill>
                    <a:srgbClr val="1E3A5F"/>
                  </a:solidFill>
                  <a:latin typeface="微软雅黑"/>
                  <a:ea typeface="微软雅黑"/>
                  <a:sym typeface="微软雅黑"/>
                  <a:rtl val="0"/>
                </a:rPr>
                <a:t>85家 (63.91%)</a:t>
              </a:r>
            </a:p>
          </p:txBody>
        </p:sp>
        <p:sp>
          <p:nvSpPr>
            <p:cNvPr id="41" name="文本框 40">
              <a:extLst>
                <a:ext uri="{FF2B5EF4-FFF2-40B4-BE49-F238E27FC236}">
                  <a16:creationId xmlns:a16="http://schemas.microsoft.com/office/drawing/2014/main" id="{AE2AB44B-E91B-61AF-258D-EFE7E8E06DDF}"/>
                </a:ext>
              </a:extLst>
            </p:cNvPr>
            <p:cNvSpPr txBox="1"/>
            <p:nvPr/>
          </p:nvSpPr>
          <p:spPr>
            <a:xfrm>
              <a:off x="765810" y="4252385"/>
              <a:ext cx="410698"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AA-</a:t>
              </a:r>
            </a:p>
          </p:txBody>
        </p:sp>
        <p:sp>
          <p:nvSpPr>
            <p:cNvPr id="42" name="任意形状 41">
              <a:extLst>
                <a:ext uri="{FF2B5EF4-FFF2-40B4-BE49-F238E27FC236}">
                  <a16:creationId xmlns:a16="http://schemas.microsoft.com/office/drawing/2014/main" id="{760C31F8-E264-1474-964E-740BD4DFC6B9}"/>
                </a:ext>
              </a:extLst>
            </p:cNvPr>
            <p:cNvSpPr/>
            <p:nvPr/>
          </p:nvSpPr>
          <p:spPr>
            <a:xfrm>
              <a:off x="1333500" y="4286250"/>
              <a:ext cx="1905000" cy="228600"/>
            </a:xfrm>
            <a:custGeom>
              <a:avLst/>
              <a:gdLst>
                <a:gd name="csX0" fmla="*/ 38100 w 1905000"/>
                <a:gd name="csY0" fmla="*/ 0 h 228600"/>
                <a:gd name="csX1" fmla="*/ 1866900 w 1905000"/>
                <a:gd name="csY1" fmla="*/ 0 h 228600"/>
                <a:gd name="csX2" fmla="*/ 1905000 w 1905000"/>
                <a:gd name="csY2" fmla="*/ 38100 h 228600"/>
                <a:gd name="csX3" fmla="*/ 1905000 w 1905000"/>
                <a:gd name="csY3" fmla="*/ 190500 h 228600"/>
                <a:gd name="csX4" fmla="*/ 1866900 w 1905000"/>
                <a:gd name="csY4" fmla="*/ 228600 h 228600"/>
                <a:gd name="csX5" fmla="*/ 38100 w 1905000"/>
                <a:gd name="csY5" fmla="*/ 228600 h 228600"/>
                <a:gd name="csX6" fmla="*/ 0 w 1905000"/>
                <a:gd name="csY6" fmla="*/ 190500 h 228600"/>
                <a:gd name="csX7" fmla="*/ 0 w 1905000"/>
                <a:gd name="csY7" fmla="*/ 38100 h 228600"/>
                <a:gd name="csX8" fmla="*/ 38100 w 1905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228600">
                  <a:moveTo>
                    <a:pt x="38100" y="0"/>
                  </a:moveTo>
                  <a:lnTo>
                    <a:pt x="1866900" y="0"/>
                  </a:lnTo>
                  <a:cubicBezTo>
                    <a:pt x="1887942" y="0"/>
                    <a:pt x="1905000" y="17058"/>
                    <a:pt x="1905000" y="38100"/>
                  </a:cubicBezTo>
                  <a:lnTo>
                    <a:pt x="1905000" y="190500"/>
                  </a:lnTo>
                  <a:cubicBezTo>
                    <a:pt x="1905000" y="211542"/>
                    <a:pt x="1887942" y="228600"/>
                    <a:pt x="1866900" y="228600"/>
                  </a:cubicBezTo>
                  <a:lnTo>
                    <a:pt x="38100" y="228600"/>
                  </a:lnTo>
                  <a:cubicBezTo>
                    <a:pt x="17058" y="228600"/>
                    <a:pt x="0" y="211542"/>
                    <a:pt x="0" y="1905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43" name="任意形状 42">
              <a:extLst>
                <a:ext uri="{FF2B5EF4-FFF2-40B4-BE49-F238E27FC236}">
                  <a16:creationId xmlns:a16="http://schemas.microsoft.com/office/drawing/2014/main" id="{1C4F63A6-8AEA-7A38-DAFA-5744AFA86605}"/>
                </a:ext>
              </a:extLst>
            </p:cNvPr>
            <p:cNvSpPr/>
            <p:nvPr/>
          </p:nvSpPr>
          <p:spPr>
            <a:xfrm>
              <a:off x="1333500" y="4286250"/>
              <a:ext cx="285750" cy="228600"/>
            </a:xfrm>
            <a:custGeom>
              <a:avLst/>
              <a:gdLst>
                <a:gd name="csX0" fmla="*/ 38100 w 285750"/>
                <a:gd name="csY0" fmla="*/ 0 h 228600"/>
                <a:gd name="csX1" fmla="*/ 247650 w 285750"/>
                <a:gd name="csY1" fmla="*/ 0 h 228600"/>
                <a:gd name="csX2" fmla="*/ 285750 w 285750"/>
                <a:gd name="csY2" fmla="*/ 38100 h 228600"/>
                <a:gd name="csX3" fmla="*/ 285750 w 285750"/>
                <a:gd name="csY3" fmla="*/ 190500 h 228600"/>
                <a:gd name="csX4" fmla="*/ 247650 w 285750"/>
                <a:gd name="csY4" fmla="*/ 228600 h 228600"/>
                <a:gd name="csX5" fmla="*/ 38100 w 285750"/>
                <a:gd name="csY5" fmla="*/ 228600 h 228600"/>
                <a:gd name="csX6" fmla="*/ 0 w 285750"/>
                <a:gd name="csY6" fmla="*/ 190500 h 228600"/>
                <a:gd name="csX7" fmla="*/ 0 w 285750"/>
                <a:gd name="csY7" fmla="*/ 38100 h 228600"/>
                <a:gd name="csX8" fmla="*/ 38100 w 28575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750" h="228600">
                  <a:moveTo>
                    <a:pt x="38100" y="0"/>
                  </a:moveTo>
                  <a:lnTo>
                    <a:pt x="247650" y="0"/>
                  </a:lnTo>
                  <a:cubicBezTo>
                    <a:pt x="268692" y="0"/>
                    <a:pt x="285750" y="17058"/>
                    <a:pt x="285750" y="38100"/>
                  </a:cubicBezTo>
                  <a:lnTo>
                    <a:pt x="285750" y="190500"/>
                  </a:lnTo>
                  <a:cubicBezTo>
                    <a:pt x="285750" y="211542"/>
                    <a:pt x="268692" y="228600"/>
                    <a:pt x="247650" y="228600"/>
                  </a:cubicBezTo>
                  <a:lnTo>
                    <a:pt x="38100" y="228600"/>
                  </a:lnTo>
                  <a:cubicBezTo>
                    <a:pt x="17058" y="228600"/>
                    <a:pt x="0" y="211542"/>
                    <a:pt x="0" y="190500"/>
                  </a:cubicBezTo>
                  <a:lnTo>
                    <a:pt x="0" y="38100"/>
                  </a:lnTo>
                  <a:cubicBezTo>
                    <a:pt x="0" y="17058"/>
                    <a:pt x="17058" y="0"/>
                    <a:pt x="38100" y="0"/>
                  </a:cubicBezTo>
                  <a:close/>
                </a:path>
              </a:pathLst>
            </a:custGeom>
            <a:solidFill>
              <a:srgbClr val="F59E0B"/>
            </a:solidFill>
            <a:ln w="9525" cap="flat">
              <a:noFill/>
              <a:prstDash val="solid"/>
              <a:miter/>
            </a:ln>
          </p:spPr>
          <p:txBody>
            <a:bodyPr/>
            <a:lstStyle/>
            <a:p>
              <a:endParaRPr lang="zh-CN" altLang="en-US"/>
            </a:p>
          </p:txBody>
        </p:sp>
        <p:sp>
          <p:nvSpPr>
            <p:cNvPr id="44" name="文本框 43">
              <a:extLst>
                <a:ext uri="{FF2B5EF4-FFF2-40B4-BE49-F238E27FC236}">
                  <a16:creationId xmlns:a16="http://schemas.microsoft.com/office/drawing/2014/main" id="{303F8890-425C-0B02-5F6A-6AA4D5C30E18}"/>
                </a:ext>
              </a:extLst>
            </p:cNvPr>
            <p:cNvSpPr txBox="1"/>
            <p:nvPr/>
          </p:nvSpPr>
          <p:spPr>
            <a:xfrm>
              <a:off x="1623060" y="4281513"/>
              <a:ext cx="43123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15家</a:t>
              </a:r>
            </a:p>
          </p:txBody>
        </p:sp>
        <p:sp>
          <p:nvSpPr>
            <p:cNvPr id="45" name="文本框 44">
              <a:extLst>
                <a:ext uri="{FF2B5EF4-FFF2-40B4-BE49-F238E27FC236}">
                  <a16:creationId xmlns:a16="http://schemas.microsoft.com/office/drawing/2014/main" id="{F1D32F0C-140F-2A76-275B-45DC0508BD32}"/>
                </a:ext>
              </a:extLst>
            </p:cNvPr>
            <p:cNvSpPr txBox="1"/>
            <p:nvPr/>
          </p:nvSpPr>
          <p:spPr>
            <a:xfrm>
              <a:off x="765810" y="4681010"/>
              <a:ext cx="43053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其他</a:t>
              </a:r>
            </a:p>
          </p:txBody>
        </p:sp>
        <p:sp>
          <p:nvSpPr>
            <p:cNvPr id="46" name="任意形状 45">
              <a:extLst>
                <a:ext uri="{FF2B5EF4-FFF2-40B4-BE49-F238E27FC236}">
                  <a16:creationId xmlns:a16="http://schemas.microsoft.com/office/drawing/2014/main" id="{638FC288-B9FC-72B0-3F34-D81EFC64C662}"/>
                </a:ext>
              </a:extLst>
            </p:cNvPr>
            <p:cNvSpPr/>
            <p:nvPr/>
          </p:nvSpPr>
          <p:spPr>
            <a:xfrm>
              <a:off x="1333500" y="4714875"/>
              <a:ext cx="1905000" cy="228600"/>
            </a:xfrm>
            <a:custGeom>
              <a:avLst/>
              <a:gdLst>
                <a:gd name="csX0" fmla="*/ 38100 w 1905000"/>
                <a:gd name="csY0" fmla="*/ 0 h 228600"/>
                <a:gd name="csX1" fmla="*/ 1866900 w 1905000"/>
                <a:gd name="csY1" fmla="*/ 0 h 228600"/>
                <a:gd name="csX2" fmla="*/ 1905000 w 1905000"/>
                <a:gd name="csY2" fmla="*/ 38100 h 228600"/>
                <a:gd name="csX3" fmla="*/ 1905000 w 1905000"/>
                <a:gd name="csY3" fmla="*/ 190500 h 228600"/>
                <a:gd name="csX4" fmla="*/ 1866900 w 1905000"/>
                <a:gd name="csY4" fmla="*/ 228600 h 228600"/>
                <a:gd name="csX5" fmla="*/ 38100 w 1905000"/>
                <a:gd name="csY5" fmla="*/ 228600 h 228600"/>
                <a:gd name="csX6" fmla="*/ 0 w 1905000"/>
                <a:gd name="csY6" fmla="*/ 190500 h 228600"/>
                <a:gd name="csX7" fmla="*/ 0 w 1905000"/>
                <a:gd name="csY7" fmla="*/ 38100 h 228600"/>
                <a:gd name="csX8" fmla="*/ 38100 w 19050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228600">
                  <a:moveTo>
                    <a:pt x="38100" y="0"/>
                  </a:moveTo>
                  <a:lnTo>
                    <a:pt x="1866900" y="0"/>
                  </a:lnTo>
                  <a:cubicBezTo>
                    <a:pt x="1887942" y="0"/>
                    <a:pt x="1905000" y="17058"/>
                    <a:pt x="1905000" y="38100"/>
                  </a:cubicBezTo>
                  <a:lnTo>
                    <a:pt x="1905000" y="190500"/>
                  </a:lnTo>
                  <a:cubicBezTo>
                    <a:pt x="1905000" y="211542"/>
                    <a:pt x="1887942" y="228600"/>
                    <a:pt x="1866900" y="228600"/>
                  </a:cubicBezTo>
                  <a:lnTo>
                    <a:pt x="38100" y="228600"/>
                  </a:lnTo>
                  <a:cubicBezTo>
                    <a:pt x="17058" y="228600"/>
                    <a:pt x="0" y="211542"/>
                    <a:pt x="0" y="1905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47" name="任意形状 46">
              <a:extLst>
                <a:ext uri="{FF2B5EF4-FFF2-40B4-BE49-F238E27FC236}">
                  <a16:creationId xmlns:a16="http://schemas.microsoft.com/office/drawing/2014/main" id="{0EE79CAB-AB8E-A927-795A-118D9A175532}"/>
                </a:ext>
              </a:extLst>
            </p:cNvPr>
            <p:cNvSpPr/>
            <p:nvPr/>
          </p:nvSpPr>
          <p:spPr>
            <a:xfrm>
              <a:off x="1333500" y="4714875"/>
              <a:ext cx="76200" cy="228600"/>
            </a:xfrm>
            <a:custGeom>
              <a:avLst/>
              <a:gdLst>
                <a:gd name="csX0" fmla="*/ 38100 w 76200"/>
                <a:gd name="csY0" fmla="*/ 0 h 228600"/>
                <a:gd name="csX1" fmla="*/ 38100 w 76200"/>
                <a:gd name="csY1" fmla="*/ 0 h 228600"/>
                <a:gd name="csX2" fmla="*/ 76200 w 76200"/>
                <a:gd name="csY2" fmla="*/ 38100 h 228600"/>
                <a:gd name="csX3" fmla="*/ 76200 w 76200"/>
                <a:gd name="csY3" fmla="*/ 190500 h 228600"/>
                <a:gd name="csX4" fmla="*/ 38100 w 76200"/>
                <a:gd name="csY4" fmla="*/ 228600 h 228600"/>
                <a:gd name="csX5" fmla="*/ 38100 w 76200"/>
                <a:gd name="csY5" fmla="*/ 228600 h 228600"/>
                <a:gd name="csX6" fmla="*/ 0 w 76200"/>
                <a:gd name="csY6" fmla="*/ 190500 h 228600"/>
                <a:gd name="csX7" fmla="*/ 0 w 76200"/>
                <a:gd name="csY7" fmla="*/ 38100 h 228600"/>
                <a:gd name="csX8" fmla="*/ 38100 w 76200"/>
                <a:gd name="csY8" fmla="*/ 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200" h="228600">
                  <a:moveTo>
                    <a:pt x="38100" y="0"/>
                  </a:moveTo>
                  <a:lnTo>
                    <a:pt x="38100" y="0"/>
                  </a:lnTo>
                  <a:cubicBezTo>
                    <a:pt x="59142" y="0"/>
                    <a:pt x="76200" y="17058"/>
                    <a:pt x="76200" y="38100"/>
                  </a:cubicBezTo>
                  <a:lnTo>
                    <a:pt x="76200" y="190500"/>
                  </a:lnTo>
                  <a:cubicBezTo>
                    <a:pt x="76200" y="211542"/>
                    <a:pt x="59142" y="228600"/>
                    <a:pt x="38100" y="228600"/>
                  </a:cubicBezTo>
                  <a:lnTo>
                    <a:pt x="38100" y="228600"/>
                  </a:lnTo>
                  <a:cubicBezTo>
                    <a:pt x="17058" y="228600"/>
                    <a:pt x="0" y="211542"/>
                    <a:pt x="0" y="190500"/>
                  </a:cubicBezTo>
                  <a:lnTo>
                    <a:pt x="0" y="38100"/>
                  </a:lnTo>
                  <a:cubicBezTo>
                    <a:pt x="0" y="17058"/>
                    <a:pt x="17058" y="0"/>
                    <a:pt x="38100" y="0"/>
                  </a:cubicBezTo>
                  <a:close/>
                </a:path>
              </a:pathLst>
            </a:custGeom>
            <a:solidFill>
              <a:srgbClr val="64748B"/>
            </a:solidFill>
            <a:ln w="9525" cap="flat">
              <a:noFill/>
              <a:prstDash val="solid"/>
              <a:miter/>
            </a:ln>
          </p:spPr>
          <p:txBody>
            <a:bodyPr/>
            <a:lstStyle/>
            <a:p>
              <a:endParaRPr lang="zh-CN" altLang="en-US"/>
            </a:p>
          </p:txBody>
        </p:sp>
        <p:sp>
          <p:nvSpPr>
            <p:cNvPr id="48" name="文本框 47">
              <a:extLst>
                <a:ext uri="{FF2B5EF4-FFF2-40B4-BE49-F238E27FC236}">
                  <a16:creationId xmlns:a16="http://schemas.microsoft.com/office/drawing/2014/main" id="{A37F5FA2-CD48-14E6-46C3-781D3571D08E}"/>
                </a:ext>
              </a:extLst>
            </p:cNvPr>
            <p:cNvSpPr txBox="1"/>
            <p:nvPr/>
          </p:nvSpPr>
          <p:spPr>
            <a:xfrm>
              <a:off x="1432560" y="4710138"/>
              <a:ext cx="4114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少量</a:t>
              </a:r>
            </a:p>
          </p:txBody>
        </p:sp>
      </p:grpSp>
      <p:grpSp>
        <p:nvGrpSpPr>
          <p:cNvPr id="49" name="SVG Image 11">
            <a:extLst>
              <a:ext uri="{FF2B5EF4-FFF2-40B4-BE49-F238E27FC236}">
                <a16:creationId xmlns:a16="http://schemas.microsoft.com/office/drawing/2014/main" id="{7F0B53FE-DF0F-17A3-FBCF-9B45FCC53A19}"/>
              </a:ext>
            </a:extLst>
          </p:cNvPr>
          <p:cNvGrpSpPr/>
          <p:nvPr/>
        </p:nvGrpSpPr>
        <p:grpSpPr>
          <a:xfrm>
            <a:off x="4191000" y="2381250"/>
            <a:ext cx="3429000" cy="2667000"/>
            <a:chOff x="4191000" y="2381250"/>
            <a:chExt cx="3429000" cy="2667000"/>
          </a:xfrm>
        </p:grpSpPr>
        <p:sp>
          <p:nvSpPr>
            <p:cNvPr id="50" name="任意形状 49">
              <a:extLst>
                <a:ext uri="{FF2B5EF4-FFF2-40B4-BE49-F238E27FC236}">
                  <a16:creationId xmlns:a16="http://schemas.microsoft.com/office/drawing/2014/main" id="{7102130D-F296-F93D-87D3-AE6E1801ED88}"/>
                </a:ext>
              </a:extLst>
            </p:cNvPr>
            <p:cNvSpPr/>
            <p:nvPr/>
          </p:nvSpPr>
          <p:spPr>
            <a:xfrm>
              <a:off x="4191000" y="2381250"/>
              <a:ext cx="3429000" cy="2667000"/>
            </a:xfrm>
            <a:custGeom>
              <a:avLst/>
              <a:gdLst>
                <a:gd name="csX0" fmla="*/ 76200 w 3429000"/>
                <a:gd name="csY0" fmla="*/ 0 h 2667000"/>
                <a:gd name="csX1" fmla="*/ 3352800 w 3429000"/>
                <a:gd name="csY1" fmla="*/ 0 h 2667000"/>
                <a:gd name="csX2" fmla="*/ 3429000 w 3429000"/>
                <a:gd name="csY2" fmla="*/ 76200 h 2667000"/>
                <a:gd name="csX3" fmla="*/ 3429000 w 3429000"/>
                <a:gd name="csY3" fmla="*/ 2590800 h 2667000"/>
                <a:gd name="csX4" fmla="*/ 3352800 w 3429000"/>
                <a:gd name="csY4" fmla="*/ 2667000 h 2667000"/>
                <a:gd name="csX5" fmla="*/ 76200 w 3429000"/>
                <a:gd name="csY5" fmla="*/ 2667000 h 2667000"/>
                <a:gd name="csX6" fmla="*/ 0 w 3429000"/>
                <a:gd name="csY6" fmla="*/ 2590800 h 2667000"/>
                <a:gd name="csX7" fmla="*/ 0 w 3429000"/>
                <a:gd name="csY7" fmla="*/ 76200 h 2667000"/>
                <a:gd name="csX8" fmla="*/ 76200 w 3429000"/>
                <a:gd name="csY8" fmla="*/ 0 h 2667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29000" h="2667000">
                  <a:moveTo>
                    <a:pt x="76200" y="0"/>
                  </a:moveTo>
                  <a:lnTo>
                    <a:pt x="3352800" y="0"/>
                  </a:lnTo>
                  <a:cubicBezTo>
                    <a:pt x="3394884" y="0"/>
                    <a:pt x="3429000" y="34116"/>
                    <a:pt x="3429000" y="76200"/>
                  </a:cubicBezTo>
                  <a:lnTo>
                    <a:pt x="3429000" y="2590800"/>
                  </a:lnTo>
                  <a:cubicBezTo>
                    <a:pt x="3429000" y="2632884"/>
                    <a:pt x="3394884" y="2667000"/>
                    <a:pt x="3352800" y="2667000"/>
                  </a:cubicBezTo>
                  <a:lnTo>
                    <a:pt x="76200" y="2667000"/>
                  </a:lnTo>
                  <a:cubicBezTo>
                    <a:pt x="34116" y="2667000"/>
                    <a:pt x="0" y="2632884"/>
                    <a:pt x="0" y="2590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51" name="文本框 50">
              <a:extLst>
                <a:ext uri="{FF2B5EF4-FFF2-40B4-BE49-F238E27FC236}">
                  <a16:creationId xmlns:a16="http://schemas.microsoft.com/office/drawing/2014/main" id="{35C8462D-1C7F-6174-8160-7EA464725247}"/>
                </a:ext>
              </a:extLst>
            </p:cNvPr>
            <p:cNvSpPr txBox="1"/>
            <p:nvPr/>
          </p:nvSpPr>
          <p:spPr>
            <a:xfrm>
              <a:off x="4385310" y="2507649"/>
              <a:ext cx="10972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业务类型分布</a:t>
              </a:r>
            </a:p>
          </p:txBody>
        </p:sp>
        <p:sp>
          <p:nvSpPr>
            <p:cNvPr id="52" name="文本框 51">
              <a:extLst>
                <a:ext uri="{FF2B5EF4-FFF2-40B4-BE49-F238E27FC236}">
                  <a16:creationId xmlns:a16="http://schemas.microsoft.com/office/drawing/2014/main" id="{5F1F06E1-40E4-53CC-C5C4-08B0DF2A089A}"/>
                </a:ext>
              </a:extLst>
            </p:cNvPr>
            <p:cNvSpPr txBox="1"/>
            <p:nvPr/>
          </p:nvSpPr>
          <p:spPr>
            <a:xfrm>
              <a:off x="4385310" y="2976588"/>
              <a:ext cx="8686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基础设施建设</a:t>
              </a:r>
            </a:p>
          </p:txBody>
        </p:sp>
        <p:sp>
          <p:nvSpPr>
            <p:cNvPr id="53" name="任意形状 52">
              <a:extLst>
                <a:ext uri="{FF2B5EF4-FFF2-40B4-BE49-F238E27FC236}">
                  <a16:creationId xmlns:a16="http://schemas.microsoft.com/office/drawing/2014/main" id="{F77BA10F-9F47-195F-28AE-E5184FD8A6AF}"/>
                </a:ext>
              </a:extLst>
            </p:cNvPr>
            <p:cNvSpPr/>
            <p:nvPr/>
          </p:nvSpPr>
          <p:spPr>
            <a:xfrm>
              <a:off x="4476750" y="3238500"/>
              <a:ext cx="2857500" cy="190500"/>
            </a:xfrm>
            <a:custGeom>
              <a:avLst/>
              <a:gdLst>
                <a:gd name="csX0" fmla="*/ 38100 w 2857500"/>
                <a:gd name="csY0" fmla="*/ 0 h 190500"/>
                <a:gd name="csX1" fmla="*/ 2819400 w 2857500"/>
                <a:gd name="csY1" fmla="*/ 0 h 190500"/>
                <a:gd name="csX2" fmla="*/ 2857500 w 2857500"/>
                <a:gd name="csY2" fmla="*/ 38100 h 190500"/>
                <a:gd name="csX3" fmla="*/ 2857500 w 2857500"/>
                <a:gd name="csY3" fmla="*/ 152400 h 190500"/>
                <a:gd name="csX4" fmla="*/ 2819400 w 2857500"/>
                <a:gd name="csY4" fmla="*/ 190500 h 190500"/>
                <a:gd name="csX5" fmla="*/ 38100 w 2857500"/>
                <a:gd name="csY5" fmla="*/ 190500 h 190500"/>
                <a:gd name="csX6" fmla="*/ 0 w 2857500"/>
                <a:gd name="csY6" fmla="*/ 152400 h 190500"/>
                <a:gd name="csX7" fmla="*/ 0 w 2857500"/>
                <a:gd name="csY7" fmla="*/ 38100 h 190500"/>
                <a:gd name="csX8" fmla="*/ 38100 w 28575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7500" h="190500">
                  <a:moveTo>
                    <a:pt x="38100" y="0"/>
                  </a:moveTo>
                  <a:lnTo>
                    <a:pt x="2819400" y="0"/>
                  </a:lnTo>
                  <a:cubicBezTo>
                    <a:pt x="2840442" y="0"/>
                    <a:pt x="2857500" y="17058"/>
                    <a:pt x="2857500" y="38100"/>
                  </a:cubicBezTo>
                  <a:lnTo>
                    <a:pt x="2857500" y="152400"/>
                  </a:lnTo>
                  <a:cubicBezTo>
                    <a:pt x="2857500" y="173442"/>
                    <a:pt x="2840442" y="190500"/>
                    <a:pt x="2819400" y="190500"/>
                  </a:cubicBezTo>
                  <a:lnTo>
                    <a:pt x="38100" y="190500"/>
                  </a:lnTo>
                  <a:cubicBezTo>
                    <a:pt x="17058" y="190500"/>
                    <a:pt x="0" y="173442"/>
                    <a:pt x="0" y="1524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54" name="任意形状 53">
              <a:extLst>
                <a:ext uri="{FF2B5EF4-FFF2-40B4-BE49-F238E27FC236}">
                  <a16:creationId xmlns:a16="http://schemas.microsoft.com/office/drawing/2014/main" id="{858B2356-BA3A-C7B5-FBF6-45756F65B8EE}"/>
                </a:ext>
              </a:extLst>
            </p:cNvPr>
            <p:cNvSpPr/>
            <p:nvPr/>
          </p:nvSpPr>
          <p:spPr>
            <a:xfrm>
              <a:off x="4476750" y="3238500"/>
              <a:ext cx="1066800" cy="190500"/>
            </a:xfrm>
            <a:custGeom>
              <a:avLst/>
              <a:gdLst>
                <a:gd name="csX0" fmla="*/ 38100 w 1066800"/>
                <a:gd name="csY0" fmla="*/ 0 h 190500"/>
                <a:gd name="csX1" fmla="*/ 1028700 w 1066800"/>
                <a:gd name="csY1" fmla="*/ 0 h 190500"/>
                <a:gd name="csX2" fmla="*/ 1066800 w 1066800"/>
                <a:gd name="csY2" fmla="*/ 38100 h 190500"/>
                <a:gd name="csX3" fmla="*/ 1066800 w 1066800"/>
                <a:gd name="csY3" fmla="*/ 152400 h 190500"/>
                <a:gd name="csX4" fmla="*/ 1028700 w 1066800"/>
                <a:gd name="csY4" fmla="*/ 190500 h 190500"/>
                <a:gd name="csX5" fmla="*/ 38100 w 1066800"/>
                <a:gd name="csY5" fmla="*/ 190500 h 190500"/>
                <a:gd name="csX6" fmla="*/ 0 w 1066800"/>
                <a:gd name="csY6" fmla="*/ 152400 h 190500"/>
                <a:gd name="csX7" fmla="*/ 0 w 1066800"/>
                <a:gd name="csY7" fmla="*/ 38100 h 190500"/>
                <a:gd name="csX8" fmla="*/ 38100 w 10668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66800" h="190500">
                  <a:moveTo>
                    <a:pt x="38100" y="0"/>
                  </a:moveTo>
                  <a:lnTo>
                    <a:pt x="1028700" y="0"/>
                  </a:lnTo>
                  <a:cubicBezTo>
                    <a:pt x="1049742" y="0"/>
                    <a:pt x="1066800" y="17058"/>
                    <a:pt x="1066800" y="38100"/>
                  </a:cubicBezTo>
                  <a:lnTo>
                    <a:pt x="1066800" y="152400"/>
                  </a:lnTo>
                  <a:cubicBezTo>
                    <a:pt x="1066800" y="173442"/>
                    <a:pt x="1049742" y="190500"/>
                    <a:pt x="1028700" y="190500"/>
                  </a:cubicBezTo>
                  <a:lnTo>
                    <a:pt x="38100" y="190500"/>
                  </a:lnTo>
                  <a:cubicBezTo>
                    <a:pt x="17058" y="190500"/>
                    <a:pt x="0" y="173442"/>
                    <a:pt x="0" y="1524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55" name="文本框 54">
              <a:extLst>
                <a:ext uri="{FF2B5EF4-FFF2-40B4-BE49-F238E27FC236}">
                  <a16:creationId xmlns:a16="http://schemas.microsoft.com/office/drawing/2014/main" id="{BF4DB0DE-08CD-4CB3-B27A-4CF7903F9FB8}"/>
                </a:ext>
              </a:extLst>
            </p:cNvPr>
            <p:cNvSpPr txBox="1"/>
            <p:nvPr/>
          </p:nvSpPr>
          <p:spPr>
            <a:xfrm>
              <a:off x="5575935" y="3224791"/>
              <a:ext cx="568828"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37.40%</a:t>
              </a:r>
            </a:p>
          </p:txBody>
        </p:sp>
        <p:sp>
          <p:nvSpPr>
            <p:cNvPr id="56" name="文本框 55">
              <a:extLst>
                <a:ext uri="{FF2B5EF4-FFF2-40B4-BE49-F238E27FC236}">
                  <a16:creationId xmlns:a16="http://schemas.microsoft.com/office/drawing/2014/main" id="{32E9662D-0717-A61E-B1B2-966A9CD12DC5}"/>
                </a:ext>
              </a:extLst>
            </p:cNvPr>
            <p:cNvSpPr txBox="1"/>
            <p:nvPr/>
          </p:nvSpPr>
          <p:spPr>
            <a:xfrm>
              <a:off x="4385310" y="350046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产投平台</a:t>
              </a:r>
            </a:p>
          </p:txBody>
        </p:sp>
        <p:sp>
          <p:nvSpPr>
            <p:cNvPr id="57" name="任意形状 56">
              <a:extLst>
                <a:ext uri="{FF2B5EF4-FFF2-40B4-BE49-F238E27FC236}">
                  <a16:creationId xmlns:a16="http://schemas.microsoft.com/office/drawing/2014/main" id="{DA37A2EA-98B6-5AA4-B181-4CED9956A15D}"/>
                </a:ext>
              </a:extLst>
            </p:cNvPr>
            <p:cNvSpPr/>
            <p:nvPr/>
          </p:nvSpPr>
          <p:spPr>
            <a:xfrm>
              <a:off x="4476750" y="3762375"/>
              <a:ext cx="2857500" cy="190500"/>
            </a:xfrm>
            <a:custGeom>
              <a:avLst/>
              <a:gdLst>
                <a:gd name="csX0" fmla="*/ 38100 w 2857500"/>
                <a:gd name="csY0" fmla="*/ 0 h 190500"/>
                <a:gd name="csX1" fmla="*/ 2819400 w 2857500"/>
                <a:gd name="csY1" fmla="*/ 0 h 190500"/>
                <a:gd name="csX2" fmla="*/ 2857500 w 2857500"/>
                <a:gd name="csY2" fmla="*/ 38100 h 190500"/>
                <a:gd name="csX3" fmla="*/ 2857500 w 2857500"/>
                <a:gd name="csY3" fmla="*/ 152400 h 190500"/>
                <a:gd name="csX4" fmla="*/ 2819400 w 2857500"/>
                <a:gd name="csY4" fmla="*/ 190500 h 190500"/>
                <a:gd name="csX5" fmla="*/ 38100 w 2857500"/>
                <a:gd name="csY5" fmla="*/ 190500 h 190500"/>
                <a:gd name="csX6" fmla="*/ 0 w 2857500"/>
                <a:gd name="csY6" fmla="*/ 152400 h 190500"/>
                <a:gd name="csX7" fmla="*/ 0 w 2857500"/>
                <a:gd name="csY7" fmla="*/ 38100 h 190500"/>
                <a:gd name="csX8" fmla="*/ 38100 w 28575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7500" h="190500">
                  <a:moveTo>
                    <a:pt x="38100" y="0"/>
                  </a:moveTo>
                  <a:lnTo>
                    <a:pt x="2819400" y="0"/>
                  </a:lnTo>
                  <a:cubicBezTo>
                    <a:pt x="2840442" y="0"/>
                    <a:pt x="2857500" y="17058"/>
                    <a:pt x="2857500" y="38100"/>
                  </a:cubicBezTo>
                  <a:lnTo>
                    <a:pt x="2857500" y="152400"/>
                  </a:lnTo>
                  <a:cubicBezTo>
                    <a:pt x="2857500" y="173442"/>
                    <a:pt x="2840442" y="190500"/>
                    <a:pt x="2819400" y="190500"/>
                  </a:cubicBezTo>
                  <a:lnTo>
                    <a:pt x="38100" y="190500"/>
                  </a:lnTo>
                  <a:cubicBezTo>
                    <a:pt x="17058" y="190500"/>
                    <a:pt x="0" y="173442"/>
                    <a:pt x="0" y="1524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58" name="任意形状 57">
              <a:extLst>
                <a:ext uri="{FF2B5EF4-FFF2-40B4-BE49-F238E27FC236}">
                  <a16:creationId xmlns:a16="http://schemas.microsoft.com/office/drawing/2014/main" id="{F86ECE84-4E07-D1D5-45DC-D53C0606DAFA}"/>
                </a:ext>
              </a:extLst>
            </p:cNvPr>
            <p:cNvSpPr/>
            <p:nvPr/>
          </p:nvSpPr>
          <p:spPr>
            <a:xfrm>
              <a:off x="4476750" y="3762375"/>
              <a:ext cx="714375" cy="190500"/>
            </a:xfrm>
            <a:custGeom>
              <a:avLst/>
              <a:gdLst>
                <a:gd name="csX0" fmla="*/ 38100 w 714375"/>
                <a:gd name="csY0" fmla="*/ 0 h 190500"/>
                <a:gd name="csX1" fmla="*/ 676275 w 714375"/>
                <a:gd name="csY1" fmla="*/ 0 h 190500"/>
                <a:gd name="csX2" fmla="*/ 714375 w 714375"/>
                <a:gd name="csY2" fmla="*/ 38100 h 190500"/>
                <a:gd name="csX3" fmla="*/ 714375 w 714375"/>
                <a:gd name="csY3" fmla="*/ 152400 h 190500"/>
                <a:gd name="csX4" fmla="*/ 676275 w 714375"/>
                <a:gd name="csY4" fmla="*/ 190500 h 190500"/>
                <a:gd name="csX5" fmla="*/ 38100 w 714375"/>
                <a:gd name="csY5" fmla="*/ 190500 h 190500"/>
                <a:gd name="csX6" fmla="*/ 0 w 714375"/>
                <a:gd name="csY6" fmla="*/ 152400 h 190500"/>
                <a:gd name="csX7" fmla="*/ 0 w 714375"/>
                <a:gd name="csY7" fmla="*/ 38100 h 190500"/>
                <a:gd name="csX8" fmla="*/ 38100 w 714375"/>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14375" h="190500">
                  <a:moveTo>
                    <a:pt x="38100" y="0"/>
                  </a:moveTo>
                  <a:lnTo>
                    <a:pt x="676275" y="0"/>
                  </a:lnTo>
                  <a:cubicBezTo>
                    <a:pt x="697317" y="0"/>
                    <a:pt x="714375" y="17058"/>
                    <a:pt x="714375" y="38100"/>
                  </a:cubicBezTo>
                  <a:lnTo>
                    <a:pt x="714375" y="152400"/>
                  </a:lnTo>
                  <a:cubicBezTo>
                    <a:pt x="714375" y="173442"/>
                    <a:pt x="697317" y="190500"/>
                    <a:pt x="676275" y="190500"/>
                  </a:cubicBezTo>
                  <a:lnTo>
                    <a:pt x="38100" y="190500"/>
                  </a:lnTo>
                  <a:cubicBezTo>
                    <a:pt x="17058" y="190500"/>
                    <a:pt x="0" y="173442"/>
                    <a:pt x="0" y="152400"/>
                  </a:cubicBezTo>
                  <a:lnTo>
                    <a:pt x="0" y="38100"/>
                  </a:lnTo>
                  <a:cubicBezTo>
                    <a:pt x="0" y="17058"/>
                    <a:pt x="17058" y="0"/>
                    <a:pt x="38100" y="0"/>
                  </a:cubicBezTo>
                  <a:close/>
                </a:path>
              </a:pathLst>
            </a:custGeom>
            <a:solidFill>
              <a:srgbClr val="4A90D9"/>
            </a:solidFill>
            <a:ln w="9525" cap="flat">
              <a:noFill/>
              <a:prstDash val="solid"/>
              <a:miter/>
            </a:ln>
          </p:spPr>
          <p:txBody>
            <a:bodyPr/>
            <a:lstStyle/>
            <a:p>
              <a:endParaRPr lang="zh-CN" altLang="en-US"/>
            </a:p>
          </p:txBody>
        </p:sp>
        <p:sp>
          <p:nvSpPr>
            <p:cNvPr id="59" name="文本框 58">
              <a:extLst>
                <a:ext uri="{FF2B5EF4-FFF2-40B4-BE49-F238E27FC236}">
                  <a16:creationId xmlns:a16="http://schemas.microsoft.com/office/drawing/2014/main" id="{98FED89D-00AC-6464-0F6E-77AA5C8D008A}"/>
                </a:ext>
              </a:extLst>
            </p:cNvPr>
            <p:cNvSpPr txBox="1"/>
            <p:nvPr/>
          </p:nvSpPr>
          <p:spPr>
            <a:xfrm>
              <a:off x="5242560" y="3748666"/>
              <a:ext cx="48564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25.0%</a:t>
              </a:r>
            </a:p>
          </p:txBody>
        </p:sp>
        <p:sp>
          <p:nvSpPr>
            <p:cNvPr id="60" name="文本框 59">
              <a:extLst>
                <a:ext uri="{FF2B5EF4-FFF2-40B4-BE49-F238E27FC236}">
                  <a16:creationId xmlns:a16="http://schemas.microsoft.com/office/drawing/2014/main" id="{65F040F2-336A-D300-E71E-0A8F4FA3A9B5}"/>
                </a:ext>
              </a:extLst>
            </p:cNvPr>
            <p:cNvSpPr txBox="1"/>
            <p:nvPr/>
          </p:nvSpPr>
          <p:spPr>
            <a:xfrm>
              <a:off x="4385310" y="4024338"/>
              <a:ext cx="8686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土地开发整理</a:t>
              </a:r>
            </a:p>
          </p:txBody>
        </p:sp>
        <p:sp>
          <p:nvSpPr>
            <p:cNvPr id="61" name="任意形状 60">
              <a:extLst>
                <a:ext uri="{FF2B5EF4-FFF2-40B4-BE49-F238E27FC236}">
                  <a16:creationId xmlns:a16="http://schemas.microsoft.com/office/drawing/2014/main" id="{A3821E68-D6FF-1DF3-52E0-D1E24AB1C479}"/>
                </a:ext>
              </a:extLst>
            </p:cNvPr>
            <p:cNvSpPr/>
            <p:nvPr/>
          </p:nvSpPr>
          <p:spPr>
            <a:xfrm>
              <a:off x="4476750" y="4286250"/>
              <a:ext cx="2857500" cy="190500"/>
            </a:xfrm>
            <a:custGeom>
              <a:avLst/>
              <a:gdLst>
                <a:gd name="csX0" fmla="*/ 38100 w 2857500"/>
                <a:gd name="csY0" fmla="*/ 0 h 190500"/>
                <a:gd name="csX1" fmla="*/ 2819400 w 2857500"/>
                <a:gd name="csY1" fmla="*/ 0 h 190500"/>
                <a:gd name="csX2" fmla="*/ 2857500 w 2857500"/>
                <a:gd name="csY2" fmla="*/ 38100 h 190500"/>
                <a:gd name="csX3" fmla="*/ 2857500 w 2857500"/>
                <a:gd name="csY3" fmla="*/ 152400 h 190500"/>
                <a:gd name="csX4" fmla="*/ 2819400 w 2857500"/>
                <a:gd name="csY4" fmla="*/ 190500 h 190500"/>
                <a:gd name="csX5" fmla="*/ 38100 w 2857500"/>
                <a:gd name="csY5" fmla="*/ 190500 h 190500"/>
                <a:gd name="csX6" fmla="*/ 0 w 2857500"/>
                <a:gd name="csY6" fmla="*/ 152400 h 190500"/>
                <a:gd name="csX7" fmla="*/ 0 w 2857500"/>
                <a:gd name="csY7" fmla="*/ 38100 h 190500"/>
                <a:gd name="csX8" fmla="*/ 38100 w 28575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7500" h="190500">
                  <a:moveTo>
                    <a:pt x="38100" y="0"/>
                  </a:moveTo>
                  <a:lnTo>
                    <a:pt x="2819400" y="0"/>
                  </a:lnTo>
                  <a:cubicBezTo>
                    <a:pt x="2840442" y="0"/>
                    <a:pt x="2857500" y="17058"/>
                    <a:pt x="2857500" y="38100"/>
                  </a:cubicBezTo>
                  <a:lnTo>
                    <a:pt x="2857500" y="152400"/>
                  </a:lnTo>
                  <a:cubicBezTo>
                    <a:pt x="2857500" y="173442"/>
                    <a:pt x="2840442" y="190500"/>
                    <a:pt x="2819400" y="190500"/>
                  </a:cubicBezTo>
                  <a:lnTo>
                    <a:pt x="38100" y="190500"/>
                  </a:lnTo>
                  <a:cubicBezTo>
                    <a:pt x="17058" y="190500"/>
                    <a:pt x="0" y="173442"/>
                    <a:pt x="0" y="1524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62" name="任意形状 61">
              <a:extLst>
                <a:ext uri="{FF2B5EF4-FFF2-40B4-BE49-F238E27FC236}">
                  <a16:creationId xmlns:a16="http://schemas.microsoft.com/office/drawing/2014/main" id="{82A16C06-D0C3-2151-EC7F-6190130F42D6}"/>
                </a:ext>
              </a:extLst>
            </p:cNvPr>
            <p:cNvSpPr/>
            <p:nvPr/>
          </p:nvSpPr>
          <p:spPr>
            <a:xfrm>
              <a:off x="4476750" y="4286250"/>
              <a:ext cx="514350" cy="190500"/>
            </a:xfrm>
            <a:custGeom>
              <a:avLst/>
              <a:gdLst>
                <a:gd name="csX0" fmla="*/ 38100 w 514350"/>
                <a:gd name="csY0" fmla="*/ 0 h 190500"/>
                <a:gd name="csX1" fmla="*/ 476250 w 514350"/>
                <a:gd name="csY1" fmla="*/ 0 h 190500"/>
                <a:gd name="csX2" fmla="*/ 514350 w 514350"/>
                <a:gd name="csY2" fmla="*/ 38100 h 190500"/>
                <a:gd name="csX3" fmla="*/ 514350 w 514350"/>
                <a:gd name="csY3" fmla="*/ 152400 h 190500"/>
                <a:gd name="csX4" fmla="*/ 476250 w 514350"/>
                <a:gd name="csY4" fmla="*/ 190500 h 190500"/>
                <a:gd name="csX5" fmla="*/ 38100 w 514350"/>
                <a:gd name="csY5" fmla="*/ 190500 h 190500"/>
                <a:gd name="csX6" fmla="*/ 0 w 514350"/>
                <a:gd name="csY6" fmla="*/ 152400 h 190500"/>
                <a:gd name="csX7" fmla="*/ 0 w 514350"/>
                <a:gd name="csY7" fmla="*/ 38100 h 190500"/>
                <a:gd name="csX8" fmla="*/ 38100 w 51435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14350" h="190500">
                  <a:moveTo>
                    <a:pt x="38100" y="0"/>
                  </a:moveTo>
                  <a:lnTo>
                    <a:pt x="476250" y="0"/>
                  </a:lnTo>
                  <a:cubicBezTo>
                    <a:pt x="497292" y="0"/>
                    <a:pt x="514350" y="17058"/>
                    <a:pt x="514350" y="38100"/>
                  </a:cubicBezTo>
                  <a:lnTo>
                    <a:pt x="514350" y="152400"/>
                  </a:lnTo>
                  <a:cubicBezTo>
                    <a:pt x="514350" y="173442"/>
                    <a:pt x="497292" y="190500"/>
                    <a:pt x="476250" y="190500"/>
                  </a:cubicBezTo>
                  <a:lnTo>
                    <a:pt x="38100" y="190500"/>
                  </a:lnTo>
                  <a:cubicBezTo>
                    <a:pt x="17058" y="190500"/>
                    <a:pt x="0" y="173442"/>
                    <a:pt x="0" y="152400"/>
                  </a:cubicBezTo>
                  <a:lnTo>
                    <a:pt x="0" y="38100"/>
                  </a:lnTo>
                  <a:cubicBezTo>
                    <a:pt x="0" y="17058"/>
                    <a:pt x="17058" y="0"/>
                    <a:pt x="38100" y="0"/>
                  </a:cubicBezTo>
                  <a:close/>
                </a:path>
              </a:pathLst>
            </a:custGeom>
            <a:solidFill>
              <a:srgbClr val="2ECC71"/>
            </a:solidFill>
            <a:ln w="9525" cap="flat">
              <a:noFill/>
              <a:prstDash val="solid"/>
              <a:miter/>
            </a:ln>
          </p:spPr>
          <p:txBody>
            <a:bodyPr/>
            <a:lstStyle/>
            <a:p>
              <a:endParaRPr lang="zh-CN" altLang="en-US"/>
            </a:p>
          </p:txBody>
        </p:sp>
        <p:sp>
          <p:nvSpPr>
            <p:cNvPr id="63" name="文本框 62">
              <a:extLst>
                <a:ext uri="{FF2B5EF4-FFF2-40B4-BE49-F238E27FC236}">
                  <a16:creationId xmlns:a16="http://schemas.microsoft.com/office/drawing/2014/main" id="{A80A159C-902F-C958-6AA5-3B79A34B4E8A}"/>
                </a:ext>
              </a:extLst>
            </p:cNvPr>
            <p:cNvSpPr txBox="1"/>
            <p:nvPr/>
          </p:nvSpPr>
          <p:spPr>
            <a:xfrm>
              <a:off x="5004435" y="4272541"/>
              <a:ext cx="48564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18.0%</a:t>
              </a:r>
            </a:p>
          </p:txBody>
        </p:sp>
        <p:sp>
          <p:nvSpPr>
            <p:cNvPr id="64" name="文本框 63">
              <a:extLst>
                <a:ext uri="{FF2B5EF4-FFF2-40B4-BE49-F238E27FC236}">
                  <a16:creationId xmlns:a16="http://schemas.microsoft.com/office/drawing/2014/main" id="{03A23DC0-51BB-A233-DED9-9CB42C8489D3}"/>
                </a:ext>
              </a:extLst>
            </p:cNvPr>
            <p:cNvSpPr txBox="1"/>
            <p:nvPr/>
          </p:nvSpPr>
          <p:spPr>
            <a:xfrm>
              <a:off x="4385310" y="4548213"/>
              <a:ext cx="1031814"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公用事业/综合性</a:t>
              </a:r>
            </a:p>
          </p:txBody>
        </p:sp>
        <p:sp>
          <p:nvSpPr>
            <p:cNvPr id="65" name="任意形状 64">
              <a:extLst>
                <a:ext uri="{FF2B5EF4-FFF2-40B4-BE49-F238E27FC236}">
                  <a16:creationId xmlns:a16="http://schemas.microsoft.com/office/drawing/2014/main" id="{D5D8E79F-7F0A-AE69-7B8D-D5158AB4DCA3}"/>
                </a:ext>
              </a:extLst>
            </p:cNvPr>
            <p:cNvSpPr/>
            <p:nvPr/>
          </p:nvSpPr>
          <p:spPr>
            <a:xfrm>
              <a:off x="4476750" y="4810125"/>
              <a:ext cx="2857500" cy="190500"/>
            </a:xfrm>
            <a:custGeom>
              <a:avLst/>
              <a:gdLst>
                <a:gd name="csX0" fmla="*/ 38100 w 2857500"/>
                <a:gd name="csY0" fmla="*/ 0 h 190500"/>
                <a:gd name="csX1" fmla="*/ 2819400 w 2857500"/>
                <a:gd name="csY1" fmla="*/ 0 h 190500"/>
                <a:gd name="csX2" fmla="*/ 2857500 w 2857500"/>
                <a:gd name="csY2" fmla="*/ 38100 h 190500"/>
                <a:gd name="csX3" fmla="*/ 2857500 w 2857500"/>
                <a:gd name="csY3" fmla="*/ 152400 h 190500"/>
                <a:gd name="csX4" fmla="*/ 2819400 w 2857500"/>
                <a:gd name="csY4" fmla="*/ 190500 h 190500"/>
                <a:gd name="csX5" fmla="*/ 38100 w 2857500"/>
                <a:gd name="csY5" fmla="*/ 190500 h 190500"/>
                <a:gd name="csX6" fmla="*/ 0 w 2857500"/>
                <a:gd name="csY6" fmla="*/ 152400 h 190500"/>
                <a:gd name="csX7" fmla="*/ 0 w 2857500"/>
                <a:gd name="csY7" fmla="*/ 38100 h 190500"/>
                <a:gd name="csX8" fmla="*/ 38100 w 28575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7500" h="190500">
                  <a:moveTo>
                    <a:pt x="38100" y="0"/>
                  </a:moveTo>
                  <a:lnTo>
                    <a:pt x="2819400" y="0"/>
                  </a:lnTo>
                  <a:cubicBezTo>
                    <a:pt x="2840442" y="0"/>
                    <a:pt x="2857500" y="17058"/>
                    <a:pt x="2857500" y="38100"/>
                  </a:cubicBezTo>
                  <a:lnTo>
                    <a:pt x="2857500" y="152400"/>
                  </a:lnTo>
                  <a:cubicBezTo>
                    <a:pt x="2857500" y="173442"/>
                    <a:pt x="2840442" y="190500"/>
                    <a:pt x="2819400" y="190500"/>
                  </a:cubicBezTo>
                  <a:lnTo>
                    <a:pt x="38100" y="190500"/>
                  </a:lnTo>
                  <a:cubicBezTo>
                    <a:pt x="17058" y="190500"/>
                    <a:pt x="0" y="173442"/>
                    <a:pt x="0" y="15240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66" name="任意形状 65">
              <a:extLst>
                <a:ext uri="{FF2B5EF4-FFF2-40B4-BE49-F238E27FC236}">
                  <a16:creationId xmlns:a16="http://schemas.microsoft.com/office/drawing/2014/main" id="{385AD77A-F4DA-D15F-FE78-3A730D7793C9}"/>
                </a:ext>
              </a:extLst>
            </p:cNvPr>
            <p:cNvSpPr/>
            <p:nvPr/>
          </p:nvSpPr>
          <p:spPr>
            <a:xfrm>
              <a:off x="4476750" y="4810125"/>
              <a:ext cx="571500" cy="190500"/>
            </a:xfrm>
            <a:custGeom>
              <a:avLst/>
              <a:gdLst>
                <a:gd name="csX0" fmla="*/ 38100 w 571500"/>
                <a:gd name="csY0" fmla="*/ 0 h 190500"/>
                <a:gd name="csX1" fmla="*/ 533400 w 571500"/>
                <a:gd name="csY1" fmla="*/ 0 h 190500"/>
                <a:gd name="csX2" fmla="*/ 571500 w 571500"/>
                <a:gd name="csY2" fmla="*/ 38100 h 190500"/>
                <a:gd name="csX3" fmla="*/ 571500 w 571500"/>
                <a:gd name="csY3" fmla="*/ 152400 h 190500"/>
                <a:gd name="csX4" fmla="*/ 533400 w 571500"/>
                <a:gd name="csY4" fmla="*/ 190500 h 190500"/>
                <a:gd name="csX5" fmla="*/ 38100 w 571500"/>
                <a:gd name="csY5" fmla="*/ 190500 h 190500"/>
                <a:gd name="csX6" fmla="*/ 0 w 571500"/>
                <a:gd name="csY6" fmla="*/ 152400 h 190500"/>
                <a:gd name="csX7" fmla="*/ 0 w 571500"/>
                <a:gd name="csY7" fmla="*/ 38100 h 190500"/>
                <a:gd name="csX8" fmla="*/ 38100 w 571500"/>
                <a:gd name="csY8"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500" h="190500">
                  <a:moveTo>
                    <a:pt x="38100" y="0"/>
                  </a:moveTo>
                  <a:lnTo>
                    <a:pt x="533400" y="0"/>
                  </a:lnTo>
                  <a:cubicBezTo>
                    <a:pt x="554442" y="0"/>
                    <a:pt x="571500" y="17058"/>
                    <a:pt x="571500" y="38100"/>
                  </a:cubicBezTo>
                  <a:lnTo>
                    <a:pt x="571500" y="152400"/>
                  </a:lnTo>
                  <a:cubicBezTo>
                    <a:pt x="571500" y="173442"/>
                    <a:pt x="554442" y="190500"/>
                    <a:pt x="533400" y="190500"/>
                  </a:cubicBezTo>
                  <a:lnTo>
                    <a:pt x="38100" y="190500"/>
                  </a:lnTo>
                  <a:cubicBezTo>
                    <a:pt x="17058" y="190500"/>
                    <a:pt x="0" y="173442"/>
                    <a:pt x="0" y="152400"/>
                  </a:cubicBezTo>
                  <a:lnTo>
                    <a:pt x="0" y="38100"/>
                  </a:lnTo>
                  <a:cubicBezTo>
                    <a:pt x="0" y="17058"/>
                    <a:pt x="17058" y="0"/>
                    <a:pt x="38100" y="0"/>
                  </a:cubicBezTo>
                  <a:close/>
                </a:path>
              </a:pathLst>
            </a:custGeom>
            <a:solidFill>
              <a:srgbClr val="F59E0B"/>
            </a:solidFill>
            <a:ln w="9525" cap="flat">
              <a:noFill/>
              <a:prstDash val="solid"/>
              <a:miter/>
            </a:ln>
          </p:spPr>
          <p:txBody>
            <a:bodyPr/>
            <a:lstStyle/>
            <a:p>
              <a:endParaRPr lang="zh-CN" altLang="en-US"/>
            </a:p>
          </p:txBody>
        </p:sp>
        <p:sp>
          <p:nvSpPr>
            <p:cNvPr id="67" name="文本框 66">
              <a:extLst>
                <a:ext uri="{FF2B5EF4-FFF2-40B4-BE49-F238E27FC236}">
                  <a16:creationId xmlns:a16="http://schemas.microsoft.com/office/drawing/2014/main" id="{999258AF-6E4B-A73D-9156-D7AA6757E313}"/>
                </a:ext>
              </a:extLst>
            </p:cNvPr>
            <p:cNvSpPr txBox="1"/>
            <p:nvPr/>
          </p:nvSpPr>
          <p:spPr>
            <a:xfrm>
              <a:off x="5099685" y="4796416"/>
              <a:ext cx="48564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19.6%</a:t>
              </a:r>
            </a:p>
          </p:txBody>
        </p:sp>
      </p:grpSp>
      <p:grpSp>
        <p:nvGrpSpPr>
          <p:cNvPr id="68" name="SVG Image 11">
            <a:extLst>
              <a:ext uri="{FF2B5EF4-FFF2-40B4-BE49-F238E27FC236}">
                <a16:creationId xmlns:a16="http://schemas.microsoft.com/office/drawing/2014/main" id="{681FF414-2F21-2FB1-1329-75B8B796D2EE}"/>
              </a:ext>
            </a:extLst>
          </p:cNvPr>
          <p:cNvGrpSpPr/>
          <p:nvPr/>
        </p:nvGrpSpPr>
        <p:grpSpPr>
          <a:xfrm>
            <a:off x="7810500" y="1238250"/>
            <a:ext cx="3810000" cy="3810000"/>
            <a:chOff x="7810500" y="1238250"/>
            <a:chExt cx="3810000" cy="3810000"/>
          </a:xfrm>
        </p:grpSpPr>
        <p:sp>
          <p:nvSpPr>
            <p:cNvPr id="69" name="任意形状 68">
              <a:extLst>
                <a:ext uri="{FF2B5EF4-FFF2-40B4-BE49-F238E27FC236}">
                  <a16:creationId xmlns:a16="http://schemas.microsoft.com/office/drawing/2014/main" id="{864B66AD-819B-1F77-726A-DF445D25A49B}"/>
                </a:ext>
              </a:extLst>
            </p:cNvPr>
            <p:cNvSpPr/>
            <p:nvPr/>
          </p:nvSpPr>
          <p:spPr>
            <a:xfrm>
              <a:off x="7810500" y="1238250"/>
              <a:ext cx="3810000" cy="3810000"/>
            </a:xfrm>
            <a:custGeom>
              <a:avLst/>
              <a:gdLst>
                <a:gd name="csX0" fmla="*/ 76200 w 3810000"/>
                <a:gd name="csY0" fmla="*/ 0 h 3810000"/>
                <a:gd name="csX1" fmla="*/ 3733800 w 3810000"/>
                <a:gd name="csY1" fmla="*/ 0 h 3810000"/>
                <a:gd name="csX2" fmla="*/ 3810000 w 3810000"/>
                <a:gd name="csY2" fmla="*/ 76200 h 3810000"/>
                <a:gd name="csX3" fmla="*/ 3810000 w 3810000"/>
                <a:gd name="csY3" fmla="*/ 3733800 h 3810000"/>
                <a:gd name="csX4" fmla="*/ 3733800 w 3810000"/>
                <a:gd name="csY4" fmla="*/ 3810000 h 3810000"/>
                <a:gd name="csX5" fmla="*/ 76200 w 3810000"/>
                <a:gd name="csY5" fmla="*/ 3810000 h 3810000"/>
                <a:gd name="csX6" fmla="*/ 0 w 3810000"/>
                <a:gd name="csY6" fmla="*/ 3733800 h 3810000"/>
                <a:gd name="csX7" fmla="*/ 0 w 3810000"/>
                <a:gd name="csY7" fmla="*/ 76200 h 3810000"/>
                <a:gd name="csX8" fmla="*/ 76200 w 3810000"/>
                <a:gd name="csY8" fmla="*/ 0 h 381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00" h="3810000">
                  <a:moveTo>
                    <a:pt x="76200" y="0"/>
                  </a:moveTo>
                  <a:lnTo>
                    <a:pt x="3733800" y="0"/>
                  </a:lnTo>
                  <a:cubicBezTo>
                    <a:pt x="3775885" y="0"/>
                    <a:pt x="3810000" y="34116"/>
                    <a:pt x="3810000" y="76200"/>
                  </a:cubicBezTo>
                  <a:lnTo>
                    <a:pt x="3810000" y="3733800"/>
                  </a:lnTo>
                  <a:cubicBezTo>
                    <a:pt x="3810000" y="3775884"/>
                    <a:pt x="3775885" y="3810000"/>
                    <a:pt x="3733800" y="3810000"/>
                  </a:cubicBezTo>
                  <a:lnTo>
                    <a:pt x="76200" y="3810000"/>
                  </a:lnTo>
                  <a:cubicBezTo>
                    <a:pt x="34116" y="3810000"/>
                    <a:pt x="0" y="3775884"/>
                    <a:pt x="0" y="3733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70" name="文本框 69">
              <a:extLst>
                <a:ext uri="{FF2B5EF4-FFF2-40B4-BE49-F238E27FC236}">
                  <a16:creationId xmlns:a16="http://schemas.microsoft.com/office/drawing/2014/main" id="{9349E507-59B6-F59B-5E2D-113D5E616CDA}"/>
                </a:ext>
              </a:extLst>
            </p:cNvPr>
            <p:cNvSpPr txBox="1"/>
            <p:nvPr/>
          </p:nvSpPr>
          <p:spPr>
            <a:xfrm>
              <a:off x="8004810" y="1364649"/>
              <a:ext cx="1511468"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本级TOP5城投平台</a:t>
              </a:r>
            </a:p>
          </p:txBody>
        </p:sp>
        <p:sp>
          <p:nvSpPr>
            <p:cNvPr id="71" name="任意形状 70">
              <a:extLst>
                <a:ext uri="{FF2B5EF4-FFF2-40B4-BE49-F238E27FC236}">
                  <a16:creationId xmlns:a16="http://schemas.microsoft.com/office/drawing/2014/main" id="{D5813DAF-69A3-50AB-5A85-FBB3B02A3FC4}"/>
                </a:ext>
              </a:extLst>
            </p:cNvPr>
            <p:cNvSpPr/>
            <p:nvPr/>
          </p:nvSpPr>
          <p:spPr>
            <a:xfrm>
              <a:off x="8096250" y="1762125"/>
              <a:ext cx="3238500" cy="304800"/>
            </a:xfrm>
            <a:custGeom>
              <a:avLst/>
              <a:gdLst>
                <a:gd name="csX0" fmla="*/ 38100 w 3238500"/>
                <a:gd name="csY0" fmla="*/ 0 h 304800"/>
                <a:gd name="csX1" fmla="*/ 3200400 w 3238500"/>
                <a:gd name="csY1" fmla="*/ 0 h 304800"/>
                <a:gd name="csX2" fmla="*/ 3238500 w 3238500"/>
                <a:gd name="csY2" fmla="*/ 38100 h 304800"/>
                <a:gd name="csX3" fmla="*/ 3238500 w 3238500"/>
                <a:gd name="csY3" fmla="*/ 266700 h 304800"/>
                <a:gd name="csX4" fmla="*/ 3200400 w 3238500"/>
                <a:gd name="csY4" fmla="*/ 304800 h 304800"/>
                <a:gd name="csX5" fmla="*/ 38100 w 3238500"/>
                <a:gd name="csY5" fmla="*/ 304800 h 304800"/>
                <a:gd name="csX6" fmla="*/ 0 w 3238500"/>
                <a:gd name="csY6" fmla="*/ 266700 h 304800"/>
                <a:gd name="csX7" fmla="*/ 0 w 3238500"/>
                <a:gd name="csY7" fmla="*/ 38100 h 304800"/>
                <a:gd name="csX8" fmla="*/ 38100 w 3238500"/>
                <a:gd name="csY8"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38500" h="304800">
                  <a:moveTo>
                    <a:pt x="38100" y="0"/>
                  </a:moveTo>
                  <a:lnTo>
                    <a:pt x="3200400" y="0"/>
                  </a:lnTo>
                  <a:cubicBezTo>
                    <a:pt x="3221442" y="0"/>
                    <a:pt x="3238500" y="17058"/>
                    <a:pt x="3238500" y="38100"/>
                  </a:cubicBezTo>
                  <a:lnTo>
                    <a:pt x="3238500" y="266700"/>
                  </a:lnTo>
                  <a:cubicBezTo>
                    <a:pt x="3238500" y="287742"/>
                    <a:pt x="3221442" y="304800"/>
                    <a:pt x="3200400" y="304800"/>
                  </a:cubicBezTo>
                  <a:lnTo>
                    <a:pt x="38100" y="304800"/>
                  </a:lnTo>
                  <a:cubicBezTo>
                    <a:pt x="17058" y="304800"/>
                    <a:pt x="0" y="287742"/>
                    <a:pt x="0" y="2667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72" name="文本框 71">
              <a:extLst>
                <a:ext uri="{FF2B5EF4-FFF2-40B4-BE49-F238E27FC236}">
                  <a16:creationId xmlns:a16="http://schemas.microsoft.com/office/drawing/2014/main" id="{DCED1A19-EC3F-74C5-2A6F-53995560CADF}"/>
                </a:ext>
              </a:extLst>
            </p:cNvPr>
            <p:cNvSpPr txBox="1"/>
            <p:nvPr/>
          </p:nvSpPr>
          <p:spPr>
            <a:xfrm>
              <a:off x="8195310" y="1815091"/>
              <a:ext cx="60198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平台名称</a:t>
              </a:r>
            </a:p>
          </p:txBody>
        </p:sp>
        <p:sp>
          <p:nvSpPr>
            <p:cNvPr id="73" name="文本框 72">
              <a:extLst>
                <a:ext uri="{FF2B5EF4-FFF2-40B4-BE49-F238E27FC236}">
                  <a16:creationId xmlns:a16="http://schemas.microsoft.com/office/drawing/2014/main" id="{2F269D97-ACFB-BD47-EFFB-F0672A4F3458}"/>
                </a:ext>
              </a:extLst>
            </p:cNvPr>
            <p:cNvSpPr txBox="1"/>
            <p:nvPr/>
          </p:nvSpPr>
          <p:spPr>
            <a:xfrm>
              <a:off x="9900285" y="1815091"/>
              <a:ext cx="3924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评级</a:t>
              </a:r>
            </a:p>
          </p:txBody>
        </p:sp>
        <p:sp>
          <p:nvSpPr>
            <p:cNvPr id="74" name="文本框 73">
              <a:extLst>
                <a:ext uri="{FF2B5EF4-FFF2-40B4-BE49-F238E27FC236}">
                  <a16:creationId xmlns:a16="http://schemas.microsoft.com/office/drawing/2014/main" id="{88F4779F-0EDF-EAB9-BF8D-A3DEE69A2E60}"/>
                </a:ext>
              </a:extLst>
            </p:cNvPr>
            <p:cNvSpPr txBox="1"/>
            <p:nvPr/>
          </p:nvSpPr>
          <p:spPr>
            <a:xfrm>
              <a:off x="10516684" y="1815091"/>
              <a:ext cx="6836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总资产(亿)</a:t>
              </a:r>
            </a:p>
          </p:txBody>
        </p:sp>
        <p:sp>
          <p:nvSpPr>
            <p:cNvPr id="75" name="矩形 74">
              <a:extLst>
                <a:ext uri="{FF2B5EF4-FFF2-40B4-BE49-F238E27FC236}">
                  <a16:creationId xmlns:a16="http://schemas.microsoft.com/office/drawing/2014/main" id="{3A9500B8-389D-A3FD-D533-510AAFBAFDA5}"/>
                </a:ext>
              </a:extLst>
            </p:cNvPr>
            <p:cNvSpPr/>
            <p:nvPr/>
          </p:nvSpPr>
          <p:spPr>
            <a:xfrm>
              <a:off x="8096250" y="2066925"/>
              <a:ext cx="3238500" cy="381000"/>
            </a:xfrm>
            <a:prstGeom prst="rect">
              <a:avLst/>
            </a:prstGeom>
            <a:solidFill>
              <a:srgbClr val="EBF4FF"/>
            </a:solidFill>
            <a:ln w="9525" cap="flat">
              <a:noFill/>
              <a:prstDash val="solid"/>
              <a:miter/>
            </a:ln>
          </p:spPr>
          <p:txBody>
            <a:bodyPr/>
            <a:lstStyle/>
            <a:p>
              <a:endParaRPr lang="zh-CN" altLang="en-US"/>
            </a:p>
          </p:txBody>
        </p:sp>
        <p:sp>
          <p:nvSpPr>
            <p:cNvPr id="76" name="文本框 75">
              <a:extLst>
                <a:ext uri="{FF2B5EF4-FFF2-40B4-BE49-F238E27FC236}">
                  <a16:creationId xmlns:a16="http://schemas.microsoft.com/office/drawing/2014/main" id="{308417CF-6FF5-8C34-E23B-1FE78215DD0C}"/>
                </a:ext>
              </a:extLst>
            </p:cNvPr>
            <p:cNvSpPr txBox="1"/>
            <p:nvPr/>
          </p:nvSpPr>
          <p:spPr>
            <a:xfrm>
              <a:off x="8195310" y="2081791"/>
              <a:ext cx="1230630"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重庆城市交通开发投资</a:t>
              </a:r>
            </a:p>
          </p:txBody>
        </p:sp>
        <p:sp>
          <p:nvSpPr>
            <p:cNvPr id="77" name="文本框 76">
              <a:extLst>
                <a:ext uri="{FF2B5EF4-FFF2-40B4-BE49-F238E27FC236}">
                  <a16:creationId xmlns:a16="http://schemas.microsoft.com/office/drawing/2014/main" id="{FAF20D56-3E96-EA68-2B05-552AF966E955}"/>
                </a:ext>
              </a:extLst>
            </p:cNvPr>
            <p:cNvSpPr txBox="1"/>
            <p:nvPr/>
          </p:nvSpPr>
          <p:spPr>
            <a:xfrm>
              <a:off x="8195310" y="2234745"/>
              <a:ext cx="818004" cy="217153"/>
            </a:xfrm>
            <a:prstGeom prst="rect">
              <a:avLst/>
            </a:prstGeom>
            <a:noFill/>
          </p:spPr>
          <p:txBody>
            <a:bodyPr wrap="none" rtlCol="0">
              <a:spAutoFit/>
            </a:bodyPr>
            <a:lstStyle/>
            <a:p>
              <a:pPr algn="l"/>
              <a:r>
                <a:rPr lang="zh-CN" altLang="en-US" sz="750" spc="0" baseline="0">
                  <a:ln/>
                  <a:solidFill>
                    <a:srgbClr val="64748B"/>
                  </a:solidFill>
                  <a:latin typeface="微软雅黑"/>
                  <a:ea typeface="微软雅黑"/>
                  <a:sym typeface="微软雅黑"/>
                  <a:rtl val="0"/>
                </a:rPr>
                <a:t>(集团)有限公司</a:t>
              </a:r>
            </a:p>
          </p:txBody>
        </p:sp>
        <p:sp>
          <p:nvSpPr>
            <p:cNvPr id="78" name="文本框 77">
              <a:extLst>
                <a:ext uri="{FF2B5EF4-FFF2-40B4-BE49-F238E27FC236}">
                  <a16:creationId xmlns:a16="http://schemas.microsoft.com/office/drawing/2014/main" id="{09623452-A20D-C41F-33D3-96BC0F3021D7}"/>
                </a:ext>
              </a:extLst>
            </p:cNvPr>
            <p:cNvSpPr txBox="1"/>
            <p:nvPr/>
          </p:nvSpPr>
          <p:spPr>
            <a:xfrm>
              <a:off x="9894478" y="2148466"/>
              <a:ext cx="404043" cy="229724"/>
            </a:xfrm>
            <a:prstGeom prst="rect">
              <a:avLst/>
            </a:prstGeom>
            <a:noFill/>
          </p:spPr>
          <p:txBody>
            <a:bodyPr wrap="none" rtlCol="0">
              <a:spAutoFit/>
            </a:bodyPr>
            <a:lstStyle/>
            <a:p>
              <a:pPr algn="l"/>
              <a:r>
                <a:rPr lang="zh-CN" altLang="en-US" sz="825" spc="0" baseline="0">
                  <a:ln/>
                  <a:solidFill>
                    <a:srgbClr val="1E3A5F"/>
                  </a:solidFill>
                  <a:latin typeface="微软雅黑"/>
                  <a:ea typeface="微软雅黑"/>
                  <a:sym typeface="微软雅黑"/>
                  <a:rtl val="0"/>
                </a:rPr>
                <a:t>AAA</a:t>
              </a:r>
            </a:p>
          </p:txBody>
        </p:sp>
        <p:sp>
          <p:nvSpPr>
            <p:cNvPr id="79" name="文本框 78">
              <a:extLst>
                <a:ext uri="{FF2B5EF4-FFF2-40B4-BE49-F238E27FC236}">
                  <a16:creationId xmlns:a16="http://schemas.microsoft.com/office/drawing/2014/main" id="{8AAF26B8-E24A-1198-289B-DFF925ABCEA8}"/>
                </a:ext>
              </a:extLst>
            </p:cNvPr>
            <p:cNvSpPr txBox="1"/>
            <p:nvPr/>
          </p:nvSpPr>
          <p:spPr>
            <a:xfrm>
              <a:off x="10543287" y="2148466"/>
              <a:ext cx="630424"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3,846.33</a:t>
              </a:r>
            </a:p>
          </p:txBody>
        </p:sp>
        <p:sp>
          <p:nvSpPr>
            <p:cNvPr id="80" name="矩形 79">
              <a:extLst>
                <a:ext uri="{FF2B5EF4-FFF2-40B4-BE49-F238E27FC236}">
                  <a16:creationId xmlns:a16="http://schemas.microsoft.com/office/drawing/2014/main" id="{A0C857F5-CDB1-598D-E41F-AE10A38220F7}"/>
                </a:ext>
              </a:extLst>
            </p:cNvPr>
            <p:cNvSpPr/>
            <p:nvPr/>
          </p:nvSpPr>
          <p:spPr>
            <a:xfrm>
              <a:off x="8096250" y="2447925"/>
              <a:ext cx="3238500" cy="381000"/>
            </a:xfrm>
            <a:prstGeom prst="rect">
              <a:avLst/>
            </a:prstGeom>
            <a:solidFill>
              <a:srgbClr val="FFFFFF"/>
            </a:solidFill>
            <a:ln w="9525" cap="flat">
              <a:noFill/>
              <a:prstDash val="solid"/>
              <a:miter/>
            </a:ln>
          </p:spPr>
          <p:txBody>
            <a:bodyPr/>
            <a:lstStyle/>
            <a:p>
              <a:endParaRPr lang="zh-CN" altLang="en-US"/>
            </a:p>
          </p:txBody>
        </p:sp>
        <p:sp>
          <p:nvSpPr>
            <p:cNvPr id="81" name="文本框 80">
              <a:extLst>
                <a:ext uri="{FF2B5EF4-FFF2-40B4-BE49-F238E27FC236}">
                  <a16:creationId xmlns:a16="http://schemas.microsoft.com/office/drawing/2014/main" id="{5C5D2806-0E62-FB8B-BCE3-9386EC0050F3}"/>
                </a:ext>
              </a:extLst>
            </p:cNvPr>
            <p:cNvSpPr txBox="1"/>
            <p:nvPr/>
          </p:nvSpPr>
          <p:spPr>
            <a:xfrm>
              <a:off x="8195310" y="2462791"/>
              <a:ext cx="10210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重庆渝富控股集团</a:t>
              </a:r>
            </a:p>
          </p:txBody>
        </p:sp>
        <p:sp>
          <p:nvSpPr>
            <p:cNvPr id="82" name="文本框 81">
              <a:extLst>
                <a:ext uri="{FF2B5EF4-FFF2-40B4-BE49-F238E27FC236}">
                  <a16:creationId xmlns:a16="http://schemas.microsoft.com/office/drawing/2014/main" id="{50B3A29D-6AD6-166F-DDDC-BCFB2FF81054}"/>
                </a:ext>
              </a:extLst>
            </p:cNvPr>
            <p:cNvSpPr txBox="1"/>
            <p:nvPr/>
          </p:nvSpPr>
          <p:spPr>
            <a:xfrm>
              <a:off x="8195310" y="2615745"/>
              <a:ext cx="563880" cy="217153"/>
            </a:xfrm>
            <a:prstGeom prst="rect">
              <a:avLst/>
            </a:prstGeom>
            <a:noFill/>
          </p:spPr>
          <p:txBody>
            <a:bodyPr wrap="none" rtlCol="0">
              <a:spAutoFit/>
            </a:bodyPr>
            <a:lstStyle/>
            <a:p>
              <a:pPr algn="l"/>
              <a:r>
                <a:rPr lang="zh-CN" altLang="en-US" sz="750" spc="0" baseline="0">
                  <a:ln/>
                  <a:solidFill>
                    <a:srgbClr val="64748B"/>
                  </a:solidFill>
                  <a:latin typeface="微软雅黑"/>
                  <a:ea typeface="微软雅黑"/>
                  <a:sym typeface="微软雅黑"/>
                  <a:rtl val="0"/>
                </a:rPr>
                <a:t>有限公司</a:t>
              </a:r>
            </a:p>
          </p:txBody>
        </p:sp>
        <p:sp>
          <p:nvSpPr>
            <p:cNvPr id="83" name="文本框 82">
              <a:extLst>
                <a:ext uri="{FF2B5EF4-FFF2-40B4-BE49-F238E27FC236}">
                  <a16:creationId xmlns:a16="http://schemas.microsoft.com/office/drawing/2014/main" id="{E74FC6B6-4110-3F99-58D5-116A720B3FFD}"/>
                </a:ext>
              </a:extLst>
            </p:cNvPr>
            <p:cNvSpPr txBox="1"/>
            <p:nvPr/>
          </p:nvSpPr>
          <p:spPr>
            <a:xfrm>
              <a:off x="9894478" y="2529466"/>
              <a:ext cx="404043" cy="229724"/>
            </a:xfrm>
            <a:prstGeom prst="rect">
              <a:avLst/>
            </a:prstGeom>
            <a:noFill/>
          </p:spPr>
          <p:txBody>
            <a:bodyPr wrap="none" rtlCol="0">
              <a:spAutoFit/>
            </a:bodyPr>
            <a:lstStyle/>
            <a:p>
              <a:pPr algn="l"/>
              <a:r>
                <a:rPr lang="zh-CN" altLang="en-US" sz="825" spc="0" baseline="0">
                  <a:ln/>
                  <a:solidFill>
                    <a:srgbClr val="1E3A5F"/>
                  </a:solidFill>
                  <a:latin typeface="微软雅黑"/>
                  <a:ea typeface="微软雅黑"/>
                  <a:sym typeface="微软雅黑"/>
                  <a:rtl val="0"/>
                </a:rPr>
                <a:t>AAA</a:t>
              </a:r>
            </a:p>
          </p:txBody>
        </p:sp>
        <p:sp>
          <p:nvSpPr>
            <p:cNvPr id="84" name="文本框 83">
              <a:extLst>
                <a:ext uri="{FF2B5EF4-FFF2-40B4-BE49-F238E27FC236}">
                  <a16:creationId xmlns:a16="http://schemas.microsoft.com/office/drawing/2014/main" id="{8E357F7C-0B74-906F-3191-CA98B725AFCB}"/>
                </a:ext>
              </a:extLst>
            </p:cNvPr>
            <p:cNvSpPr txBox="1"/>
            <p:nvPr/>
          </p:nvSpPr>
          <p:spPr>
            <a:xfrm>
              <a:off x="10557510" y="252946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3,548.39</a:t>
              </a:r>
            </a:p>
          </p:txBody>
        </p:sp>
        <p:sp>
          <p:nvSpPr>
            <p:cNvPr id="85" name="矩形 84">
              <a:extLst>
                <a:ext uri="{FF2B5EF4-FFF2-40B4-BE49-F238E27FC236}">
                  <a16:creationId xmlns:a16="http://schemas.microsoft.com/office/drawing/2014/main" id="{56B21128-483A-24F9-DC5B-BA3096ACD82E}"/>
                </a:ext>
              </a:extLst>
            </p:cNvPr>
            <p:cNvSpPr/>
            <p:nvPr/>
          </p:nvSpPr>
          <p:spPr>
            <a:xfrm>
              <a:off x="8096250" y="2828925"/>
              <a:ext cx="3238500" cy="381000"/>
            </a:xfrm>
            <a:prstGeom prst="rect">
              <a:avLst/>
            </a:prstGeom>
            <a:solidFill>
              <a:srgbClr val="EBF4FF"/>
            </a:solidFill>
            <a:ln w="9525" cap="flat">
              <a:noFill/>
              <a:prstDash val="solid"/>
              <a:miter/>
            </a:ln>
          </p:spPr>
          <p:txBody>
            <a:bodyPr/>
            <a:lstStyle/>
            <a:p>
              <a:endParaRPr lang="zh-CN" altLang="en-US"/>
            </a:p>
          </p:txBody>
        </p:sp>
        <p:sp>
          <p:nvSpPr>
            <p:cNvPr id="86" name="文本框 85">
              <a:extLst>
                <a:ext uri="{FF2B5EF4-FFF2-40B4-BE49-F238E27FC236}">
                  <a16:creationId xmlns:a16="http://schemas.microsoft.com/office/drawing/2014/main" id="{992844C2-F432-EB2A-9CE1-094ACD244FD4}"/>
                </a:ext>
              </a:extLst>
            </p:cNvPr>
            <p:cNvSpPr txBox="1"/>
            <p:nvPr/>
          </p:nvSpPr>
          <p:spPr>
            <a:xfrm>
              <a:off x="8195310" y="2843791"/>
              <a:ext cx="1195841"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重庆市轨道交通(集团)</a:t>
              </a:r>
            </a:p>
          </p:txBody>
        </p:sp>
        <p:sp>
          <p:nvSpPr>
            <p:cNvPr id="87" name="文本框 86">
              <a:extLst>
                <a:ext uri="{FF2B5EF4-FFF2-40B4-BE49-F238E27FC236}">
                  <a16:creationId xmlns:a16="http://schemas.microsoft.com/office/drawing/2014/main" id="{D7D5BBF8-47AE-53A2-BF97-858819EE8CEB}"/>
                </a:ext>
              </a:extLst>
            </p:cNvPr>
            <p:cNvSpPr txBox="1"/>
            <p:nvPr/>
          </p:nvSpPr>
          <p:spPr>
            <a:xfrm>
              <a:off x="8195310" y="2996745"/>
              <a:ext cx="563880" cy="217153"/>
            </a:xfrm>
            <a:prstGeom prst="rect">
              <a:avLst/>
            </a:prstGeom>
            <a:noFill/>
          </p:spPr>
          <p:txBody>
            <a:bodyPr wrap="none" rtlCol="0">
              <a:spAutoFit/>
            </a:bodyPr>
            <a:lstStyle/>
            <a:p>
              <a:pPr algn="l"/>
              <a:r>
                <a:rPr lang="zh-CN" altLang="en-US" sz="750" spc="0" baseline="0">
                  <a:ln/>
                  <a:solidFill>
                    <a:srgbClr val="64748B"/>
                  </a:solidFill>
                  <a:latin typeface="微软雅黑"/>
                  <a:ea typeface="微软雅黑"/>
                  <a:sym typeface="微软雅黑"/>
                  <a:rtl val="0"/>
                </a:rPr>
                <a:t>有限公司</a:t>
              </a:r>
            </a:p>
          </p:txBody>
        </p:sp>
        <p:sp>
          <p:nvSpPr>
            <p:cNvPr id="88" name="文本框 87">
              <a:extLst>
                <a:ext uri="{FF2B5EF4-FFF2-40B4-BE49-F238E27FC236}">
                  <a16:creationId xmlns:a16="http://schemas.microsoft.com/office/drawing/2014/main" id="{B4C43AE6-51B6-9D2A-35DA-629584503562}"/>
                </a:ext>
              </a:extLst>
            </p:cNvPr>
            <p:cNvSpPr txBox="1"/>
            <p:nvPr/>
          </p:nvSpPr>
          <p:spPr>
            <a:xfrm>
              <a:off x="9894478" y="2910466"/>
              <a:ext cx="404043" cy="229724"/>
            </a:xfrm>
            <a:prstGeom prst="rect">
              <a:avLst/>
            </a:prstGeom>
            <a:noFill/>
          </p:spPr>
          <p:txBody>
            <a:bodyPr wrap="none" rtlCol="0">
              <a:spAutoFit/>
            </a:bodyPr>
            <a:lstStyle/>
            <a:p>
              <a:pPr algn="l"/>
              <a:r>
                <a:rPr lang="zh-CN" altLang="en-US" sz="825" spc="0" baseline="0">
                  <a:ln/>
                  <a:solidFill>
                    <a:srgbClr val="1E3A5F"/>
                  </a:solidFill>
                  <a:latin typeface="微软雅黑"/>
                  <a:ea typeface="微软雅黑"/>
                  <a:sym typeface="微软雅黑"/>
                  <a:rtl val="0"/>
                </a:rPr>
                <a:t>AAA</a:t>
              </a:r>
            </a:p>
          </p:txBody>
        </p:sp>
        <p:sp>
          <p:nvSpPr>
            <p:cNvPr id="89" name="文本框 88">
              <a:extLst>
                <a:ext uri="{FF2B5EF4-FFF2-40B4-BE49-F238E27FC236}">
                  <a16:creationId xmlns:a16="http://schemas.microsoft.com/office/drawing/2014/main" id="{F4D01257-77EC-B6A6-60BC-61836F6DE0D4}"/>
                </a:ext>
              </a:extLst>
            </p:cNvPr>
            <p:cNvSpPr txBox="1"/>
            <p:nvPr/>
          </p:nvSpPr>
          <p:spPr>
            <a:xfrm>
              <a:off x="10557510" y="291046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2,550.72</a:t>
              </a:r>
            </a:p>
          </p:txBody>
        </p:sp>
        <p:sp>
          <p:nvSpPr>
            <p:cNvPr id="90" name="矩形 89">
              <a:extLst>
                <a:ext uri="{FF2B5EF4-FFF2-40B4-BE49-F238E27FC236}">
                  <a16:creationId xmlns:a16="http://schemas.microsoft.com/office/drawing/2014/main" id="{07C6ED5E-0F22-B1B5-86EF-18C1019DE526}"/>
                </a:ext>
              </a:extLst>
            </p:cNvPr>
            <p:cNvSpPr/>
            <p:nvPr/>
          </p:nvSpPr>
          <p:spPr>
            <a:xfrm>
              <a:off x="8096250" y="3209925"/>
              <a:ext cx="3238500" cy="381000"/>
            </a:xfrm>
            <a:prstGeom prst="rect">
              <a:avLst/>
            </a:prstGeom>
            <a:solidFill>
              <a:srgbClr val="FFFFFF"/>
            </a:solidFill>
            <a:ln w="9525" cap="flat">
              <a:noFill/>
              <a:prstDash val="solid"/>
              <a:miter/>
            </a:ln>
          </p:spPr>
          <p:txBody>
            <a:bodyPr/>
            <a:lstStyle/>
            <a:p>
              <a:endParaRPr lang="zh-CN" altLang="en-US"/>
            </a:p>
          </p:txBody>
        </p:sp>
        <p:sp>
          <p:nvSpPr>
            <p:cNvPr id="91" name="文本框 90">
              <a:extLst>
                <a:ext uri="{FF2B5EF4-FFF2-40B4-BE49-F238E27FC236}">
                  <a16:creationId xmlns:a16="http://schemas.microsoft.com/office/drawing/2014/main" id="{226DE3F1-397E-BF1E-ECA7-4E9C6F330A9D}"/>
                </a:ext>
              </a:extLst>
            </p:cNvPr>
            <p:cNvSpPr txBox="1"/>
            <p:nvPr/>
          </p:nvSpPr>
          <p:spPr>
            <a:xfrm>
              <a:off x="8195310" y="3224791"/>
              <a:ext cx="112585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重庆市城市建设投资</a:t>
              </a:r>
            </a:p>
          </p:txBody>
        </p:sp>
        <p:sp>
          <p:nvSpPr>
            <p:cNvPr id="92" name="文本框 91">
              <a:extLst>
                <a:ext uri="{FF2B5EF4-FFF2-40B4-BE49-F238E27FC236}">
                  <a16:creationId xmlns:a16="http://schemas.microsoft.com/office/drawing/2014/main" id="{EC793F75-EA32-84D8-C303-F9DB616CCB36}"/>
                </a:ext>
              </a:extLst>
            </p:cNvPr>
            <p:cNvSpPr txBox="1"/>
            <p:nvPr/>
          </p:nvSpPr>
          <p:spPr>
            <a:xfrm>
              <a:off x="8195310" y="3377745"/>
              <a:ext cx="818004" cy="217153"/>
            </a:xfrm>
            <a:prstGeom prst="rect">
              <a:avLst/>
            </a:prstGeom>
            <a:noFill/>
          </p:spPr>
          <p:txBody>
            <a:bodyPr wrap="none" rtlCol="0">
              <a:spAutoFit/>
            </a:bodyPr>
            <a:lstStyle/>
            <a:p>
              <a:pPr algn="l"/>
              <a:r>
                <a:rPr lang="zh-CN" altLang="en-US" sz="750" spc="0" baseline="0">
                  <a:ln/>
                  <a:solidFill>
                    <a:srgbClr val="64748B"/>
                  </a:solidFill>
                  <a:latin typeface="微软雅黑"/>
                  <a:ea typeface="微软雅黑"/>
                  <a:sym typeface="微软雅黑"/>
                  <a:rtl val="0"/>
                </a:rPr>
                <a:t>(集团)有限公司</a:t>
              </a:r>
            </a:p>
          </p:txBody>
        </p:sp>
        <p:sp>
          <p:nvSpPr>
            <p:cNvPr id="93" name="文本框 92">
              <a:extLst>
                <a:ext uri="{FF2B5EF4-FFF2-40B4-BE49-F238E27FC236}">
                  <a16:creationId xmlns:a16="http://schemas.microsoft.com/office/drawing/2014/main" id="{F25333B1-AE7A-95F8-01A2-114E8FED1444}"/>
                </a:ext>
              </a:extLst>
            </p:cNvPr>
            <p:cNvSpPr txBox="1"/>
            <p:nvPr/>
          </p:nvSpPr>
          <p:spPr>
            <a:xfrm>
              <a:off x="9894478" y="3291466"/>
              <a:ext cx="404043" cy="229724"/>
            </a:xfrm>
            <a:prstGeom prst="rect">
              <a:avLst/>
            </a:prstGeom>
            <a:noFill/>
          </p:spPr>
          <p:txBody>
            <a:bodyPr wrap="none" rtlCol="0">
              <a:spAutoFit/>
            </a:bodyPr>
            <a:lstStyle/>
            <a:p>
              <a:pPr algn="l"/>
              <a:r>
                <a:rPr lang="zh-CN" altLang="en-US" sz="825" spc="0" baseline="0">
                  <a:ln/>
                  <a:solidFill>
                    <a:srgbClr val="1E3A5F"/>
                  </a:solidFill>
                  <a:latin typeface="微软雅黑"/>
                  <a:ea typeface="微软雅黑"/>
                  <a:sym typeface="微软雅黑"/>
                  <a:rtl val="0"/>
                </a:rPr>
                <a:t>AAA</a:t>
              </a:r>
            </a:p>
          </p:txBody>
        </p:sp>
        <p:sp>
          <p:nvSpPr>
            <p:cNvPr id="94" name="文本框 93">
              <a:extLst>
                <a:ext uri="{FF2B5EF4-FFF2-40B4-BE49-F238E27FC236}">
                  <a16:creationId xmlns:a16="http://schemas.microsoft.com/office/drawing/2014/main" id="{BD567D94-09D5-95FE-BF42-B6A909EED653}"/>
                </a:ext>
              </a:extLst>
            </p:cNvPr>
            <p:cNvSpPr txBox="1"/>
            <p:nvPr/>
          </p:nvSpPr>
          <p:spPr>
            <a:xfrm>
              <a:off x="10557510" y="329146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1,839.72</a:t>
              </a:r>
            </a:p>
          </p:txBody>
        </p:sp>
        <p:sp>
          <p:nvSpPr>
            <p:cNvPr id="95" name="矩形 94">
              <a:extLst>
                <a:ext uri="{FF2B5EF4-FFF2-40B4-BE49-F238E27FC236}">
                  <a16:creationId xmlns:a16="http://schemas.microsoft.com/office/drawing/2014/main" id="{B35CC328-26B8-4AD0-98BA-F94101F9B0EC}"/>
                </a:ext>
              </a:extLst>
            </p:cNvPr>
            <p:cNvSpPr/>
            <p:nvPr/>
          </p:nvSpPr>
          <p:spPr>
            <a:xfrm>
              <a:off x="8096250" y="3590925"/>
              <a:ext cx="3238500" cy="381000"/>
            </a:xfrm>
            <a:prstGeom prst="rect">
              <a:avLst/>
            </a:prstGeom>
            <a:solidFill>
              <a:srgbClr val="EBF4FF"/>
            </a:solidFill>
            <a:ln w="9525" cap="flat">
              <a:noFill/>
              <a:prstDash val="solid"/>
              <a:miter/>
            </a:ln>
          </p:spPr>
          <p:txBody>
            <a:bodyPr/>
            <a:lstStyle/>
            <a:p>
              <a:endParaRPr lang="zh-CN" altLang="en-US"/>
            </a:p>
          </p:txBody>
        </p:sp>
        <p:sp>
          <p:nvSpPr>
            <p:cNvPr id="96" name="文本框 95">
              <a:extLst>
                <a:ext uri="{FF2B5EF4-FFF2-40B4-BE49-F238E27FC236}">
                  <a16:creationId xmlns:a16="http://schemas.microsoft.com/office/drawing/2014/main" id="{2FDA2C1B-1E77-9105-0646-B2B15CA73035}"/>
                </a:ext>
              </a:extLst>
            </p:cNvPr>
            <p:cNvSpPr txBox="1"/>
            <p:nvPr/>
          </p:nvSpPr>
          <p:spPr>
            <a:xfrm>
              <a:off x="8195310" y="3605791"/>
              <a:ext cx="12306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重庆高新开发建设投资</a:t>
              </a:r>
            </a:p>
          </p:txBody>
        </p:sp>
        <p:sp>
          <p:nvSpPr>
            <p:cNvPr id="97" name="文本框 96">
              <a:extLst>
                <a:ext uri="{FF2B5EF4-FFF2-40B4-BE49-F238E27FC236}">
                  <a16:creationId xmlns:a16="http://schemas.microsoft.com/office/drawing/2014/main" id="{09D6DB15-6CAE-D658-DC8C-88EEA990F778}"/>
                </a:ext>
              </a:extLst>
            </p:cNvPr>
            <p:cNvSpPr txBox="1"/>
            <p:nvPr/>
          </p:nvSpPr>
          <p:spPr>
            <a:xfrm>
              <a:off x="8195310" y="3758745"/>
              <a:ext cx="754380" cy="217153"/>
            </a:xfrm>
            <a:prstGeom prst="rect">
              <a:avLst/>
            </a:prstGeom>
            <a:noFill/>
          </p:spPr>
          <p:txBody>
            <a:bodyPr wrap="none" rtlCol="0">
              <a:spAutoFit/>
            </a:bodyPr>
            <a:lstStyle/>
            <a:p>
              <a:pPr algn="l"/>
              <a:r>
                <a:rPr lang="zh-CN" altLang="en-US" sz="750" spc="0" baseline="0">
                  <a:ln/>
                  <a:solidFill>
                    <a:srgbClr val="64748B"/>
                  </a:solidFill>
                  <a:latin typeface="微软雅黑"/>
                  <a:ea typeface="微软雅黑"/>
                  <a:sym typeface="微软雅黑"/>
                  <a:rtl val="0"/>
                </a:rPr>
                <a:t>集团有限公司</a:t>
              </a:r>
            </a:p>
          </p:txBody>
        </p:sp>
        <p:sp>
          <p:nvSpPr>
            <p:cNvPr id="98" name="文本框 97">
              <a:extLst>
                <a:ext uri="{FF2B5EF4-FFF2-40B4-BE49-F238E27FC236}">
                  <a16:creationId xmlns:a16="http://schemas.microsoft.com/office/drawing/2014/main" id="{EA15396A-28E4-7FB8-B7C0-DE5CFD09C251}"/>
                </a:ext>
              </a:extLst>
            </p:cNvPr>
            <p:cNvSpPr txBox="1"/>
            <p:nvPr/>
          </p:nvSpPr>
          <p:spPr>
            <a:xfrm>
              <a:off x="9894478" y="3672466"/>
              <a:ext cx="404043" cy="229724"/>
            </a:xfrm>
            <a:prstGeom prst="rect">
              <a:avLst/>
            </a:prstGeom>
            <a:noFill/>
          </p:spPr>
          <p:txBody>
            <a:bodyPr wrap="none" rtlCol="0">
              <a:spAutoFit/>
            </a:bodyPr>
            <a:lstStyle/>
            <a:p>
              <a:pPr algn="l"/>
              <a:r>
                <a:rPr lang="zh-CN" altLang="en-US" sz="825" spc="0" baseline="0">
                  <a:ln/>
                  <a:solidFill>
                    <a:srgbClr val="1E3A5F"/>
                  </a:solidFill>
                  <a:latin typeface="微软雅黑"/>
                  <a:ea typeface="微软雅黑"/>
                  <a:sym typeface="微软雅黑"/>
                  <a:rtl val="0"/>
                </a:rPr>
                <a:t>AAA</a:t>
              </a:r>
            </a:p>
          </p:txBody>
        </p:sp>
        <p:sp>
          <p:nvSpPr>
            <p:cNvPr id="99" name="文本框 98">
              <a:extLst>
                <a:ext uri="{FF2B5EF4-FFF2-40B4-BE49-F238E27FC236}">
                  <a16:creationId xmlns:a16="http://schemas.microsoft.com/office/drawing/2014/main" id="{F0C703F9-DB57-6443-8D08-F0AAD23E923D}"/>
                </a:ext>
              </a:extLst>
            </p:cNvPr>
            <p:cNvSpPr txBox="1"/>
            <p:nvPr/>
          </p:nvSpPr>
          <p:spPr>
            <a:xfrm>
              <a:off x="10557510" y="367246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1,654.95</a:t>
              </a:r>
            </a:p>
          </p:txBody>
        </p:sp>
        <p:sp>
          <p:nvSpPr>
            <p:cNvPr id="100" name="文本框 99">
              <a:extLst>
                <a:ext uri="{FF2B5EF4-FFF2-40B4-BE49-F238E27FC236}">
                  <a16:creationId xmlns:a16="http://schemas.microsoft.com/office/drawing/2014/main" id="{8B0CD7E9-4644-F6EF-9ACD-DFF37C24FBBB}"/>
                </a:ext>
              </a:extLst>
            </p:cNvPr>
            <p:cNvSpPr txBox="1"/>
            <p:nvPr/>
          </p:nvSpPr>
          <p:spPr>
            <a:xfrm>
              <a:off x="8004810" y="4139745"/>
              <a:ext cx="1950539" cy="217153"/>
            </a:xfrm>
            <a:prstGeom prst="rect">
              <a:avLst/>
            </a:prstGeom>
            <a:noFill/>
          </p:spPr>
          <p:txBody>
            <a:bodyPr wrap="none" rtlCol="0">
              <a:spAutoFit/>
            </a:bodyPr>
            <a:lstStyle/>
            <a:p>
              <a:pPr algn="l"/>
              <a:r>
                <a:rPr lang="zh-CN" altLang="en-US" sz="750" spc="0" baseline="0">
                  <a:ln/>
                  <a:solidFill>
                    <a:srgbClr val="64748B"/>
                  </a:solidFill>
                  <a:latin typeface="微软雅黑"/>
                  <a:ea typeface="微软雅黑"/>
                  <a:sym typeface="微软雅黑"/>
                  <a:rtl val="0"/>
                </a:rPr>
                <a:t>按总资产规模排序 | TOP5均为AAA级平台</a:t>
              </a:r>
            </a:p>
          </p:txBody>
        </p:sp>
      </p:grpSp>
      <p:grpSp>
        <p:nvGrpSpPr>
          <p:cNvPr id="101" name="SVG Image 11">
            <a:extLst>
              <a:ext uri="{FF2B5EF4-FFF2-40B4-BE49-F238E27FC236}">
                <a16:creationId xmlns:a16="http://schemas.microsoft.com/office/drawing/2014/main" id="{BC01E8BA-C6DE-CFF3-0111-F1C5844FD82B}"/>
              </a:ext>
            </a:extLst>
          </p:cNvPr>
          <p:cNvGrpSpPr/>
          <p:nvPr/>
        </p:nvGrpSpPr>
        <p:grpSpPr>
          <a:xfrm>
            <a:off x="571500" y="5238750"/>
            <a:ext cx="11049000" cy="1047750"/>
            <a:chOff x="571500" y="5238750"/>
            <a:chExt cx="11049000" cy="1047750"/>
          </a:xfrm>
        </p:grpSpPr>
        <p:sp>
          <p:nvSpPr>
            <p:cNvPr id="102" name="任意形状 101">
              <a:extLst>
                <a:ext uri="{FF2B5EF4-FFF2-40B4-BE49-F238E27FC236}">
                  <a16:creationId xmlns:a16="http://schemas.microsoft.com/office/drawing/2014/main" id="{AF090905-CAB5-4507-0616-2B13C4442633}"/>
                </a:ext>
              </a:extLst>
            </p:cNvPr>
            <p:cNvSpPr/>
            <p:nvPr/>
          </p:nvSpPr>
          <p:spPr>
            <a:xfrm>
              <a:off x="571500" y="5238750"/>
              <a:ext cx="11049000" cy="1047750"/>
            </a:xfrm>
            <a:custGeom>
              <a:avLst/>
              <a:gdLst>
                <a:gd name="csX0" fmla="*/ 76200 w 11049000"/>
                <a:gd name="csY0" fmla="*/ 0 h 1047750"/>
                <a:gd name="csX1" fmla="*/ 10972800 w 11049000"/>
                <a:gd name="csY1" fmla="*/ 0 h 1047750"/>
                <a:gd name="csX2" fmla="*/ 11049000 w 11049000"/>
                <a:gd name="csY2" fmla="*/ 76200 h 1047750"/>
                <a:gd name="csX3" fmla="*/ 11049000 w 11049000"/>
                <a:gd name="csY3" fmla="*/ 971550 h 1047750"/>
                <a:gd name="csX4" fmla="*/ 10972800 w 11049000"/>
                <a:gd name="csY4" fmla="*/ 1047750 h 1047750"/>
                <a:gd name="csX5" fmla="*/ 76200 w 11049000"/>
                <a:gd name="csY5" fmla="*/ 1047750 h 1047750"/>
                <a:gd name="csX6" fmla="*/ 0 w 11049000"/>
                <a:gd name="csY6" fmla="*/ 971550 h 1047750"/>
                <a:gd name="csX7" fmla="*/ 0 w 11049000"/>
                <a:gd name="csY7" fmla="*/ 76200 h 1047750"/>
                <a:gd name="csX8" fmla="*/ 76200 w 1104900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1047750">
                  <a:moveTo>
                    <a:pt x="76200" y="0"/>
                  </a:moveTo>
                  <a:lnTo>
                    <a:pt x="10972800" y="0"/>
                  </a:lnTo>
                  <a:cubicBezTo>
                    <a:pt x="11014885" y="0"/>
                    <a:pt x="11049000" y="34116"/>
                    <a:pt x="11049000" y="76200"/>
                  </a:cubicBezTo>
                  <a:lnTo>
                    <a:pt x="11049000" y="971550"/>
                  </a:lnTo>
                  <a:cubicBezTo>
                    <a:pt x="11049000" y="1013634"/>
                    <a:pt x="11014885" y="1047750"/>
                    <a:pt x="10972800" y="1047750"/>
                  </a:cubicBezTo>
                  <a:lnTo>
                    <a:pt x="76200" y="1047750"/>
                  </a:lnTo>
                  <a:cubicBezTo>
                    <a:pt x="34116" y="1047750"/>
                    <a:pt x="0" y="1013634"/>
                    <a:pt x="0" y="9715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03" name="文本框 102">
              <a:extLst>
                <a:ext uri="{FF2B5EF4-FFF2-40B4-BE49-F238E27FC236}">
                  <a16:creationId xmlns:a16="http://schemas.microsoft.com/office/drawing/2014/main" id="{E6741935-D824-E3C1-1908-5F4ECBCD0E24}"/>
                </a:ext>
              </a:extLst>
            </p:cNvPr>
            <p:cNvSpPr txBox="1"/>
            <p:nvPr/>
          </p:nvSpPr>
          <p:spPr>
            <a:xfrm>
              <a:off x="765810" y="5385306"/>
              <a:ext cx="1249680" cy="267438"/>
            </a:xfrm>
            <a:prstGeom prst="rect">
              <a:avLst/>
            </a:prstGeom>
            <a:noFill/>
          </p:spPr>
          <p:txBody>
            <a:bodyPr wrap="none" rtlCol="0">
              <a:spAutoFit/>
            </a:bodyPr>
            <a:lstStyle/>
            <a:p>
              <a:pPr algn="l"/>
              <a:r>
                <a:rPr lang="zh-CN" altLang="en-US" sz="1050" b="1" spc="0" baseline="0">
                  <a:ln/>
                  <a:solidFill>
                    <a:srgbClr val="4A90D9"/>
                  </a:solidFill>
                  <a:latin typeface="微软雅黑"/>
                  <a:ea typeface="微软雅黑"/>
                  <a:sym typeface="微软雅黑"/>
                  <a:rtl val="0"/>
                </a:rPr>
                <a:t>城投平台特征分析</a:t>
              </a:r>
            </a:p>
          </p:txBody>
        </p:sp>
        <p:sp>
          <p:nvSpPr>
            <p:cNvPr id="104" name="文本框 103">
              <a:extLst>
                <a:ext uri="{FF2B5EF4-FFF2-40B4-BE49-F238E27FC236}">
                  <a16:creationId xmlns:a16="http://schemas.microsoft.com/office/drawing/2014/main" id="{E4265F6B-60B5-57D2-07E8-6FE98F5F4CC2}"/>
                </a:ext>
              </a:extLst>
            </p:cNvPr>
            <p:cNvSpPr txBox="1"/>
            <p:nvPr/>
          </p:nvSpPr>
          <p:spPr>
            <a:xfrm>
              <a:off x="765810" y="5728760"/>
              <a:ext cx="3944668"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评级结构：AA级占比超6成，高评级(AAA/AA+)平台集中于市本级 </a:t>
              </a:r>
            </a:p>
          </p:txBody>
        </p:sp>
        <p:sp>
          <p:nvSpPr>
            <p:cNvPr id="105" name="文本框 104">
              <a:extLst>
                <a:ext uri="{FF2B5EF4-FFF2-40B4-BE49-F238E27FC236}">
                  <a16:creationId xmlns:a16="http://schemas.microsoft.com/office/drawing/2014/main" id="{7D3ED3CB-2FB5-653A-C797-658A68771417}"/>
                </a:ext>
              </a:extLst>
            </p:cNvPr>
            <p:cNvSpPr txBox="1"/>
            <p:nvPr/>
          </p:nvSpPr>
          <p:spPr>
            <a:xfrm>
              <a:off x="5242560" y="5728760"/>
              <a:ext cx="2998084"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业务结构：基础设施建设为主，产投平台占比提升</a:t>
              </a:r>
            </a:p>
          </p:txBody>
        </p:sp>
        <p:sp>
          <p:nvSpPr>
            <p:cNvPr id="106" name="文本框 105">
              <a:extLst>
                <a:ext uri="{FF2B5EF4-FFF2-40B4-BE49-F238E27FC236}">
                  <a16:creationId xmlns:a16="http://schemas.microsoft.com/office/drawing/2014/main" id="{A7D1A2BD-EFD0-0682-A69F-BD97589F26DB}"/>
                </a:ext>
              </a:extLst>
            </p:cNvPr>
            <p:cNvSpPr txBox="1"/>
            <p:nvPr/>
          </p:nvSpPr>
          <p:spPr>
            <a:xfrm>
              <a:off x="765810" y="5966885"/>
              <a:ext cx="4156888"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头部集中：TOP5平台总资产超1.3万亿，占市本级城投总资产50%以上 </a:t>
              </a:r>
            </a:p>
          </p:txBody>
        </p:sp>
        <p:sp>
          <p:nvSpPr>
            <p:cNvPr id="107" name="文本框 106">
              <a:extLst>
                <a:ext uri="{FF2B5EF4-FFF2-40B4-BE49-F238E27FC236}">
                  <a16:creationId xmlns:a16="http://schemas.microsoft.com/office/drawing/2014/main" id="{B19B3B6B-E1B8-4D43-A48C-EC474EA76C8A}"/>
                </a:ext>
              </a:extLst>
            </p:cNvPr>
            <p:cNvSpPr txBox="1"/>
            <p:nvPr/>
          </p:nvSpPr>
          <p:spPr>
            <a:xfrm>
              <a:off x="5242560" y="5966885"/>
              <a:ext cx="2998084"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资产规模：城交投、渝富控股领衔，规模优势明显</a:t>
              </a:r>
            </a:p>
          </p:txBody>
        </p:sp>
      </p:grpSp>
      <p:sp>
        <p:nvSpPr>
          <p:cNvPr id="108" name="矩形 107">
            <a:extLst>
              <a:ext uri="{FF2B5EF4-FFF2-40B4-BE49-F238E27FC236}">
                <a16:creationId xmlns:a16="http://schemas.microsoft.com/office/drawing/2014/main" id="{458F0C7D-016A-667B-0B3E-68C23521DDF8}"/>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C42EF68-DE29-4E29-7D4C-B0AF98742E5B}"/>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E8E3F0A5-3D40-13E9-B610-9D502C1C596C}"/>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ACE6FAFA-B2FF-588B-6E68-4E1DA8762412}"/>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22DEFCE4-37BC-FCEF-342E-168DC347CE71}"/>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ABE1AE4E-747A-CB42-811A-2789B484775C}"/>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22528804-7355-DE17-8303-4A49F88742A3}"/>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03 区域城投</a:t>
            </a:r>
          </a:p>
        </p:txBody>
      </p:sp>
      <p:sp>
        <p:nvSpPr>
          <p:cNvPr id="10" name="文本框 9">
            <a:extLst>
              <a:ext uri="{FF2B5EF4-FFF2-40B4-BE49-F238E27FC236}">
                <a16:creationId xmlns:a16="http://schemas.microsoft.com/office/drawing/2014/main" id="{7BC4933F-DF39-FC36-CF4B-612C36538547}"/>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12 / 20</a:t>
            </a:r>
          </a:p>
        </p:txBody>
      </p:sp>
      <p:sp>
        <p:nvSpPr>
          <p:cNvPr id="11" name="矩形 10">
            <a:extLst>
              <a:ext uri="{FF2B5EF4-FFF2-40B4-BE49-F238E27FC236}">
                <a16:creationId xmlns:a16="http://schemas.microsoft.com/office/drawing/2014/main" id="{D95F55D7-CC2F-3880-3D69-BCDFBC49B8A9}"/>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BFDF0595-7A13-3C66-E4AD-5FE025961E71}"/>
              </a:ext>
            </a:extLst>
          </p:cNvPr>
          <p:cNvSpPr txBox="1"/>
          <p:nvPr/>
        </p:nvSpPr>
        <p:spPr>
          <a:xfrm>
            <a:off x="480060" y="672208"/>
            <a:ext cx="1467545"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3.2 城投债</a:t>
            </a:r>
          </a:p>
        </p:txBody>
      </p:sp>
      <p:sp>
        <p:nvSpPr>
          <p:cNvPr id="13" name="文本框 12">
            <a:extLst>
              <a:ext uri="{FF2B5EF4-FFF2-40B4-BE49-F238E27FC236}">
                <a16:creationId xmlns:a16="http://schemas.microsoft.com/office/drawing/2014/main" id="{EAA8E6D5-3F8B-B2BC-C418-BDEC1AC9CD3F}"/>
              </a:ext>
            </a:extLst>
          </p:cNvPr>
          <p:cNvSpPr txBox="1"/>
          <p:nvPr/>
        </p:nvSpPr>
        <p:spPr>
          <a:xfrm>
            <a:off x="2289810" y="813306"/>
            <a:ext cx="147522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截至2025年12月12日</a:t>
            </a:r>
          </a:p>
        </p:txBody>
      </p:sp>
      <p:grpSp>
        <p:nvGrpSpPr>
          <p:cNvPr id="14" name="SVG Image 12">
            <a:extLst>
              <a:ext uri="{FF2B5EF4-FFF2-40B4-BE49-F238E27FC236}">
                <a16:creationId xmlns:a16="http://schemas.microsoft.com/office/drawing/2014/main" id="{D1E2CF89-ACBF-C8C7-1B78-CBB5F0BB3E6A}"/>
              </a:ext>
            </a:extLst>
          </p:cNvPr>
          <p:cNvGrpSpPr/>
          <p:nvPr/>
        </p:nvGrpSpPr>
        <p:grpSpPr>
          <a:xfrm>
            <a:off x="571500" y="1238250"/>
            <a:ext cx="2095500" cy="952500"/>
            <a:chOff x="571500" y="1238250"/>
            <a:chExt cx="2095500" cy="952500"/>
          </a:xfrm>
        </p:grpSpPr>
        <p:sp>
          <p:nvSpPr>
            <p:cNvPr id="15" name="任意形状 14">
              <a:extLst>
                <a:ext uri="{FF2B5EF4-FFF2-40B4-BE49-F238E27FC236}">
                  <a16:creationId xmlns:a16="http://schemas.microsoft.com/office/drawing/2014/main" id="{8281CEF4-F9BD-EA3E-6F56-6007E1B48AAB}"/>
                </a:ext>
              </a:extLst>
            </p:cNvPr>
            <p:cNvSpPr/>
            <p:nvPr/>
          </p:nvSpPr>
          <p:spPr>
            <a:xfrm>
              <a:off x="571500" y="1238250"/>
              <a:ext cx="2095500" cy="952500"/>
            </a:xfrm>
            <a:custGeom>
              <a:avLst/>
              <a:gdLst>
                <a:gd name="csX0" fmla="*/ 76200 w 2095500"/>
                <a:gd name="csY0" fmla="*/ 0 h 952500"/>
                <a:gd name="csX1" fmla="*/ 2019300 w 2095500"/>
                <a:gd name="csY1" fmla="*/ 0 h 952500"/>
                <a:gd name="csX2" fmla="*/ 2095500 w 2095500"/>
                <a:gd name="csY2" fmla="*/ 76200 h 952500"/>
                <a:gd name="csX3" fmla="*/ 2095500 w 2095500"/>
                <a:gd name="csY3" fmla="*/ 876300 h 952500"/>
                <a:gd name="csX4" fmla="*/ 2019300 w 2095500"/>
                <a:gd name="csY4" fmla="*/ 952500 h 952500"/>
                <a:gd name="csX5" fmla="*/ 76200 w 2095500"/>
                <a:gd name="csY5" fmla="*/ 952500 h 952500"/>
                <a:gd name="csX6" fmla="*/ 0 w 2095500"/>
                <a:gd name="csY6" fmla="*/ 876300 h 952500"/>
                <a:gd name="csX7" fmla="*/ 0 w 2095500"/>
                <a:gd name="csY7" fmla="*/ 76200 h 952500"/>
                <a:gd name="csX8" fmla="*/ 76200 w 20955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952500">
                  <a:moveTo>
                    <a:pt x="76200" y="0"/>
                  </a:moveTo>
                  <a:lnTo>
                    <a:pt x="2019300" y="0"/>
                  </a:lnTo>
                  <a:cubicBezTo>
                    <a:pt x="2061384" y="0"/>
                    <a:pt x="2095500" y="34116"/>
                    <a:pt x="2095500" y="76200"/>
                  </a:cubicBezTo>
                  <a:lnTo>
                    <a:pt x="2095500" y="876300"/>
                  </a:lnTo>
                  <a:cubicBezTo>
                    <a:pt x="2095500" y="918384"/>
                    <a:pt x="2061384" y="952500"/>
                    <a:pt x="2019300" y="952500"/>
                  </a:cubicBezTo>
                  <a:lnTo>
                    <a:pt x="76200" y="952500"/>
                  </a:lnTo>
                  <a:cubicBezTo>
                    <a:pt x="34116" y="952500"/>
                    <a:pt x="0" y="918384"/>
                    <a:pt x="0" y="8763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6" name="文本框 15">
              <a:extLst>
                <a:ext uri="{FF2B5EF4-FFF2-40B4-BE49-F238E27FC236}">
                  <a16:creationId xmlns:a16="http://schemas.microsoft.com/office/drawing/2014/main" id="{667C4190-2B76-CD41-C412-A9B062043792}"/>
                </a:ext>
              </a:extLst>
            </p:cNvPr>
            <p:cNvSpPr txBox="1"/>
            <p:nvPr/>
          </p:nvSpPr>
          <p:spPr>
            <a:xfrm>
              <a:off x="1218247" y="1394885"/>
              <a:ext cx="802005" cy="254867"/>
            </a:xfrm>
            <a:prstGeom prst="rect">
              <a:avLst/>
            </a:prstGeom>
            <a:noFill/>
          </p:spPr>
          <p:txBody>
            <a:bodyPr wrap="none" rtlCol="0">
              <a:spAutoFit/>
            </a:bodyPr>
            <a:lstStyle/>
            <a:p>
              <a:pPr algn="l"/>
              <a:r>
                <a:rPr lang="zh-CN" altLang="en-US" sz="975" spc="0" baseline="0">
                  <a:ln/>
                  <a:solidFill>
                    <a:srgbClr val="FFFFFF">
                      <a:alpha val="80000"/>
                    </a:srgbClr>
                  </a:solidFill>
                  <a:latin typeface="微软雅黑"/>
                  <a:ea typeface="微软雅黑"/>
                  <a:sym typeface="微软雅黑"/>
                  <a:rtl val="0"/>
                </a:rPr>
                <a:t>存量债余额</a:t>
              </a:r>
            </a:p>
          </p:txBody>
        </p:sp>
        <p:sp>
          <p:nvSpPr>
            <p:cNvPr id="17" name="文本框 16">
              <a:extLst>
                <a:ext uri="{FF2B5EF4-FFF2-40B4-BE49-F238E27FC236}">
                  <a16:creationId xmlns:a16="http://schemas.microsoft.com/office/drawing/2014/main" id="{F1850092-B515-C798-AAD2-854B7BD8CF3E}"/>
                </a:ext>
              </a:extLst>
            </p:cNvPr>
            <p:cNvSpPr txBox="1"/>
            <p:nvPr/>
          </p:nvSpPr>
          <p:spPr>
            <a:xfrm>
              <a:off x="724435" y="1584394"/>
              <a:ext cx="1789628" cy="493722"/>
            </a:xfrm>
            <a:prstGeom prst="rect">
              <a:avLst/>
            </a:prstGeom>
            <a:noFill/>
          </p:spPr>
          <p:txBody>
            <a:bodyPr wrap="none" rtlCol="0">
              <a:spAutoFit/>
            </a:bodyPr>
            <a:lstStyle/>
            <a:p>
              <a:pPr algn="l"/>
              <a:r>
                <a:rPr lang="zh-CN" altLang="en-US" sz="2400" b="1" spc="0" baseline="0">
                  <a:ln/>
                  <a:solidFill>
                    <a:srgbClr val="FFFFFF"/>
                  </a:solidFill>
                  <a:latin typeface="微软雅黑"/>
                  <a:ea typeface="微软雅黑"/>
                  <a:sym typeface="微软雅黑"/>
                  <a:rtl val="0"/>
                </a:rPr>
                <a:t>5,791.08亿</a:t>
              </a:r>
            </a:p>
          </p:txBody>
        </p:sp>
      </p:grpSp>
      <p:grpSp>
        <p:nvGrpSpPr>
          <p:cNvPr id="18" name="SVG Image 12">
            <a:extLst>
              <a:ext uri="{FF2B5EF4-FFF2-40B4-BE49-F238E27FC236}">
                <a16:creationId xmlns:a16="http://schemas.microsoft.com/office/drawing/2014/main" id="{A2897248-8F3C-BBFF-EA26-9D69640E8EC6}"/>
              </a:ext>
            </a:extLst>
          </p:cNvPr>
          <p:cNvGrpSpPr/>
          <p:nvPr/>
        </p:nvGrpSpPr>
        <p:grpSpPr>
          <a:xfrm>
            <a:off x="2857500" y="1238250"/>
            <a:ext cx="2095500" cy="952500"/>
            <a:chOff x="2857500" y="1238250"/>
            <a:chExt cx="2095500" cy="952500"/>
          </a:xfrm>
        </p:grpSpPr>
        <p:sp>
          <p:nvSpPr>
            <p:cNvPr id="19" name="任意形状 18">
              <a:extLst>
                <a:ext uri="{FF2B5EF4-FFF2-40B4-BE49-F238E27FC236}">
                  <a16:creationId xmlns:a16="http://schemas.microsoft.com/office/drawing/2014/main" id="{6735D5EE-B99C-316D-6F9C-A25B93F52B36}"/>
                </a:ext>
              </a:extLst>
            </p:cNvPr>
            <p:cNvSpPr/>
            <p:nvPr/>
          </p:nvSpPr>
          <p:spPr>
            <a:xfrm>
              <a:off x="2857500" y="1238250"/>
              <a:ext cx="2095500" cy="952500"/>
            </a:xfrm>
            <a:custGeom>
              <a:avLst/>
              <a:gdLst>
                <a:gd name="csX0" fmla="*/ 76200 w 2095500"/>
                <a:gd name="csY0" fmla="*/ 0 h 952500"/>
                <a:gd name="csX1" fmla="*/ 2019300 w 2095500"/>
                <a:gd name="csY1" fmla="*/ 0 h 952500"/>
                <a:gd name="csX2" fmla="*/ 2095500 w 2095500"/>
                <a:gd name="csY2" fmla="*/ 76200 h 952500"/>
                <a:gd name="csX3" fmla="*/ 2095500 w 2095500"/>
                <a:gd name="csY3" fmla="*/ 876300 h 952500"/>
                <a:gd name="csX4" fmla="*/ 2019300 w 2095500"/>
                <a:gd name="csY4" fmla="*/ 952500 h 952500"/>
                <a:gd name="csX5" fmla="*/ 76200 w 2095500"/>
                <a:gd name="csY5" fmla="*/ 952500 h 952500"/>
                <a:gd name="csX6" fmla="*/ 0 w 2095500"/>
                <a:gd name="csY6" fmla="*/ 876300 h 952500"/>
                <a:gd name="csX7" fmla="*/ 0 w 2095500"/>
                <a:gd name="csY7" fmla="*/ 76200 h 952500"/>
                <a:gd name="csX8" fmla="*/ 76200 w 20955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952500">
                  <a:moveTo>
                    <a:pt x="76200" y="0"/>
                  </a:moveTo>
                  <a:lnTo>
                    <a:pt x="2019300" y="0"/>
                  </a:lnTo>
                  <a:cubicBezTo>
                    <a:pt x="2061384" y="0"/>
                    <a:pt x="2095500" y="34116"/>
                    <a:pt x="2095500" y="76200"/>
                  </a:cubicBezTo>
                  <a:lnTo>
                    <a:pt x="2095500" y="876300"/>
                  </a:lnTo>
                  <a:cubicBezTo>
                    <a:pt x="2095500" y="918384"/>
                    <a:pt x="2061384" y="952500"/>
                    <a:pt x="201930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0" name="文本框 19">
              <a:extLst>
                <a:ext uri="{FF2B5EF4-FFF2-40B4-BE49-F238E27FC236}">
                  <a16:creationId xmlns:a16="http://schemas.microsoft.com/office/drawing/2014/main" id="{78A13101-EFC6-E1F5-A032-2C2FCADFE6B7}"/>
                </a:ext>
              </a:extLst>
            </p:cNvPr>
            <p:cNvSpPr txBox="1"/>
            <p:nvPr/>
          </p:nvSpPr>
          <p:spPr>
            <a:xfrm>
              <a:off x="3420931" y="1394885"/>
              <a:ext cx="968636"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2024年发行量</a:t>
              </a:r>
            </a:p>
          </p:txBody>
        </p:sp>
        <p:sp>
          <p:nvSpPr>
            <p:cNvPr id="21" name="文本框 20">
              <a:extLst>
                <a:ext uri="{FF2B5EF4-FFF2-40B4-BE49-F238E27FC236}">
                  <a16:creationId xmlns:a16="http://schemas.microsoft.com/office/drawing/2014/main" id="{741E5901-589C-15FE-747F-EDAB251A5643}"/>
                </a:ext>
              </a:extLst>
            </p:cNvPr>
            <p:cNvSpPr txBox="1"/>
            <p:nvPr/>
          </p:nvSpPr>
          <p:spPr>
            <a:xfrm>
              <a:off x="3010435" y="1584394"/>
              <a:ext cx="1789628" cy="493722"/>
            </a:xfrm>
            <a:prstGeom prst="rect">
              <a:avLst/>
            </a:prstGeom>
            <a:noFill/>
          </p:spPr>
          <p:txBody>
            <a:bodyPr wrap="none" rtlCol="0">
              <a:spAutoFit/>
            </a:bodyPr>
            <a:lstStyle/>
            <a:p>
              <a:pPr algn="l"/>
              <a:r>
                <a:rPr lang="zh-CN" altLang="en-US" sz="2400" b="1" spc="0" baseline="0">
                  <a:ln/>
                  <a:solidFill>
                    <a:srgbClr val="1E3A5F"/>
                  </a:solidFill>
                  <a:latin typeface="微软雅黑"/>
                  <a:ea typeface="微软雅黑"/>
                  <a:sym typeface="微软雅黑"/>
                  <a:rtl val="0"/>
                </a:rPr>
                <a:t>2,121.47亿</a:t>
              </a:r>
            </a:p>
          </p:txBody>
        </p:sp>
      </p:grpSp>
      <p:grpSp>
        <p:nvGrpSpPr>
          <p:cNvPr id="22" name="SVG Image 12">
            <a:extLst>
              <a:ext uri="{FF2B5EF4-FFF2-40B4-BE49-F238E27FC236}">
                <a16:creationId xmlns:a16="http://schemas.microsoft.com/office/drawing/2014/main" id="{22F496B2-E7FB-1211-3517-6A9D9FEC6533}"/>
              </a:ext>
            </a:extLst>
          </p:cNvPr>
          <p:cNvGrpSpPr/>
          <p:nvPr/>
        </p:nvGrpSpPr>
        <p:grpSpPr>
          <a:xfrm>
            <a:off x="5143500" y="1238250"/>
            <a:ext cx="2095500" cy="952500"/>
            <a:chOff x="5143500" y="1238250"/>
            <a:chExt cx="2095500" cy="952500"/>
          </a:xfrm>
        </p:grpSpPr>
        <p:sp>
          <p:nvSpPr>
            <p:cNvPr id="23" name="任意形状 22">
              <a:extLst>
                <a:ext uri="{FF2B5EF4-FFF2-40B4-BE49-F238E27FC236}">
                  <a16:creationId xmlns:a16="http://schemas.microsoft.com/office/drawing/2014/main" id="{CC62F69D-9FF7-5D86-DF96-122F821012D1}"/>
                </a:ext>
              </a:extLst>
            </p:cNvPr>
            <p:cNvSpPr/>
            <p:nvPr/>
          </p:nvSpPr>
          <p:spPr>
            <a:xfrm>
              <a:off x="5143500" y="1238250"/>
              <a:ext cx="2095500" cy="952500"/>
            </a:xfrm>
            <a:custGeom>
              <a:avLst/>
              <a:gdLst>
                <a:gd name="csX0" fmla="*/ 76200 w 2095500"/>
                <a:gd name="csY0" fmla="*/ 0 h 952500"/>
                <a:gd name="csX1" fmla="*/ 2019300 w 2095500"/>
                <a:gd name="csY1" fmla="*/ 0 h 952500"/>
                <a:gd name="csX2" fmla="*/ 2095500 w 2095500"/>
                <a:gd name="csY2" fmla="*/ 76200 h 952500"/>
                <a:gd name="csX3" fmla="*/ 2095500 w 2095500"/>
                <a:gd name="csY3" fmla="*/ 876300 h 952500"/>
                <a:gd name="csX4" fmla="*/ 2019300 w 2095500"/>
                <a:gd name="csY4" fmla="*/ 952500 h 952500"/>
                <a:gd name="csX5" fmla="*/ 76200 w 2095500"/>
                <a:gd name="csY5" fmla="*/ 952500 h 952500"/>
                <a:gd name="csX6" fmla="*/ 0 w 2095500"/>
                <a:gd name="csY6" fmla="*/ 876300 h 952500"/>
                <a:gd name="csX7" fmla="*/ 0 w 2095500"/>
                <a:gd name="csY7" fmla="*/ 76200 h 952500"/>
                <a:gd name="csX8" fmla="*/ 76200 w 20955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952500">
                  <a:moveTo>
                    <a:pt x="76200" y="0"/>
                  </a:moveTo>
                  <a:lnTo>
                    <a:pt x="2019300" y="0"/>
                  </a:lnTo>
                  <a:cubicBezTo>
                    <a:pt x="2061384" y="0"/>
                    <a:pt x="2095500" y="34116"/>
                    <a:pt x="2095500" y="76200"/>
                  </a:cubicBezTo>
                  <a:lnTo>
                    <a:pt x="2095500" y="876300"/>
                  </a:lnTo>
                  <a:cubicBezTo>
                    <a:pt x="2095500" y="918384"/>
                    <a:pt x="2061384" y="952500"/>
                    <a:pt x="201930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4" name="文本框 23">
              <a:extLst>
                <a:ext uri="{FF2B5EF4-FFF2-40B4-BE49-F238E27FC236}">
                  <a16:creationId xmlns:a16="http://schemas.microsoft.com/office/drawing/2014/main" id="{D815F680-31A7-94BE-DF24-0E4393A4BF8D}"/>
                </a:ext>
              </a:extLst>
            </p:cNvPr>
            <p:cNvSpPr txBox="1"/>
            <p:nvPr/>
          </p:nvSpPr>
          <p:spPr>
            <a:xfrm>
              <a:off x="5706931" y="1394885"/>
              <a:ext cx="968636"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2024年偿还量</a:t>
              </a:r>
            </a:p>
          </p:txBody>
        </p:sp>
        <p:sp>
          <p:nvSpPr>
            <p:cNvPr id="25" name="文本框 24">
              <a:extLst>
                <a:ext uri="{FF2B5EF4-FFF2-40B4-BE49-F238E27FC236}">
                  <a16:creationId xmlns:a16="http://schemas.microsoft.com/office/drawing/2014/main" id="{1FBD8241-702C-FBF7-8724-B11DBA323956}"/>
                </a:ext>
              </a:extLst>
            </p:cNvPr>
            <p:cNvSpPr txBox="1"/>
            <p:nvPr/>
          </p:nvSpPr>
          <p:spPr>
            <a:xfrm>
              <a:off x="5296435" y="1584394"/>
              <a:ext cx="1789628" cy="493722"/>
            </a:xfrm>
            <a:prstGeom prst="rect">
              <a:avLst/>
            </a:prstGeom>
            <a:noFill/>
          </p:spPr>
          <p:txBody>
            <a:bodyPr wrap="none" rtlCol="0">
              <a:spAutoFit/>
            </a:bodyPr>
            <a:lstStyle/>
            <a:p>
              <a:pPr algn="l"/>
              <a:r>
                <a:rPr lang="zh-CN" altLang="en-US" sz="2400" b="1" spc="0" baseline="0">
                  <a:ln/>
                  <a:solidFill>
                    <a:srgbClr val="1E3A5F"/>
                  </a:solidFill>
                  <a:latin typeface="微软雅黑"/>
                  <a:ea typeface="微软雅黑"/>
                  <a:sym typeface="微软雅黑"/>
                  <a:rtl val="0"/>
                </a:rPr>
                <a:t>2,308.62亿</a:t>
              </a:r>
            </a:p>
          </p:txBody>
        </p:sp>
      </p:grpSp>
      <p:grpSp>
        <p:nvGrpSpPr>
          <p:cNvPr id="26" name="SVG Image 12">
            <a:extLst>
              <a:ext uri="{FF2B5EF4-FFF2-40B4-BE49-F238E27FC236}">
                <a16:creationId xmlns:a16="http://schemas.microsoft.com/office/drawing/2014/main" id="{4DE21892-7082-E4AE-47B9-0E251876E2CA}"/>
              </a:ext>
            </a:extLst>
          </p:cNvPr>
          <p:cNvGrpSpPr/>
          <p:nvPr/>
        </p:nvGrpSpPr>
        <p:grpSpPr>
          <a:xfrm>
            <a:off x="7429500" y="1238250"/>
            <a:ext cx="2095500" cy="952500"/>
            <a:chOff x="7429500" y="1238250"/>
            <a:chExt cx="2095500" cy="952500"/>
          </a:xfrm>
        </p:grpSpPr>
        <p:sp>
          <p:nvSpPr>
            <p:cNvPr id="27" name="任意形状 26">
              <a:extLst>
                <a:ext uri="{FF2B5EF4-FFF2-40B4-BE49-F238E27FC236}">
                  <a16:creationId xmlns:a16="http://schemas.microsoft.com/office/drawing/2014/main" id="{6D9299DD-7C6A-2332-BF09-FE5EAD810B8D}"/>
                </a:ext>
              </a:extLst>
            </p:cNvPr>
            <p:cNvSpPr/>
            <p:nvPr/>
          </p:nvSpPr>
          <p:spPr>
            <a:xfrm>
              <a:off x="7429500" y="1238250"/>
              <a:ext cx="2095500" cy="952500"/>
            </a:xfrm>
            <a:custGeom>
              <a:avLst/>
              <a:gdLst>
                <a:gd name="csX0" fmla="*/ 76200 w 2095500"/>
                <a:gd name="csY0" fmla="*/ 0 h 952500"/>
                <a:gd name="csX1" fmla="*/ 2019300 w 2095500"/>
                <a:gd name="csY1" fmla="*/ 0 h 952500"/>
                <a:gd name="csX2" fmla="*/ 2095500 w 2095500"/>
                <a:gd name="csY2" fmla="*/ 76200 h 952500"/>
                <a:gd name="csX3" fmla="*/ 2095500 w 2095500"/>
                <a:gd name="csY3" fmla="*/ 876300 h 952500"/>
                <a:gd name="csX4" fmla="*/ 2019300 w 2095500"/>
                <a:gd name="csY4" fmla="*/ 952500 h 952500"/>
                <a:gd name="csX5" fmla="*/ 76200 w 2095500"/>
                <a:gd name="csY5" fmla="*/ 952500 h 952500"/>
                <a:gd name="csX6" fmla="*/ 0 w 2095500"/>
                <a:gd name="csY6" fmla="*/ 876300 h 952500"/>
                <a:gd name="csX7" fmla="*/ 0 w 2095500"/>
                <a:gd name="csY7" fmla="*/ 76200 h 952500"/>
                <a:gd name="csX8" fmla="*/ 76200 w 20955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952500">
                  <a:moveTo>
                    <a:pt x="76200" y="0"/>
                  </a:moveTo>
                  <a:lnTo>
                    <a:pt x="2019300" y="0"/>
                  </a:lnTo>
                  <a:cubicBezTo>
                    <a:pt x="2061384" y="0"/>
                    <a:pt x="2095500" y="34116"/>
                    <a:pt x="2095500" y="76200"/>
                  </a:cubicBezTo>
                  <a:lnTo>
                    <a:pt x="2095500" y="876300"/>
                  </a:lnTo>
                  <a:cubicBezTo>
                    <a:pt x="2095500" y="918384"/>
                    <a:pt x="2061384" y="952500"/>
                    <a:pt x="2019300" y="952500"/>
                  </a:cubicBezTo>
                  <a:lnTo>
                    <a:pt x="76200" y="952500"/>
                  </a:lnTo>
                  <a:cubicBezTo>
                    <a:pt x="34116" y="952500"/>
                    <a:pt x="0" y="918384"/>
                    <a:pt x="0" y="876300"/>
                  </a:cubicBezTo>
                  <a:lnTo>
                    <a:pt x="0" y="76200"/>
                  </a:lnTo>
                  <a:cubicBezTo>
                    <a:pt x="0" y="34116"/>
                    <a:pt x="34116" y="0"/>
                    <a:pt x="76200" y="0"/>
                  </a:cubicBezTo>
                  <a:close/>
                </a:path>
              </a:pathLst>
            </a:custGeom>
            <a:solidFill>
              <a:srgbClr val="FEF3C7"/>
            </a:solidFill>
            <a:ln w="9525" cap="flat">
              <a:noFill/>
              <a:prstDash val="solid"/>
              <a:miter/>
            </a:ln>
          </p:spPr>
          <p:txBody>
            <a:bodyPr/>
            <a:lstStyle/>
            <a:p>
              <a:endParaRPr lang="zh-CN" altLang="en-US"/>
            </a:p>
          </p:txBody>
        </p:sp>
        <p:sp>
          <p:nvSpPr>
            <p:cNvPr id="28" name="文本框 27">
              <a:extLst>
                <a:ext uri="{FF2B5EF4-FFF2-40B4-BE49-F238E27FC236}">
                  <a16:creationId xmlns:a16="http://schemas.microsoft.com/office/drawing/2014/main" id="{3DE7E776-B509-1D3B-2385-B97F679BADEB}"/>
                </a:ext>
              </a:extLst>
            </p:cNvPr>
            <p:cNvSpPr txBox="1"/>
            <p:nvPr/>
          </p:nvSpPr>
          <p:spPr>
            <a:xfrm>
              <a:off x="7992931" y="1394885"/>
              <a:ext cx="968636"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2024年净融资</a:t>
              </a:r>
            </a:p>
          </p:txBody>
        </p:sp>
        <p:sp>
          <p:nvSpPr>
            <p:cNvPr id="29" name="文本框 28">
              <a:extLst>
                <a:ext uri="{FF2B5EF4-FFF2-40B4-BE49-F238E27FC236}">
                  <a16:creationId xmlns:a16="http://schemas.microsoft.com/office/drawing/2014/main" id="{3EBC281B-05FA-EB15-A563-A5024759BDC2}"/>
                </a:ext>
              </a:extLst>
            </p:cNvPr>
            <p:cNvSpPr txBox="1"/>
            <p:nvPr/>
          </p:nvSpPr>
          <p:spPr>
            <a:xfrm>
              <a:off x="7653426" y="1584394"/>
              <a:ext cx="1647646" cy="493722"/>
            </a:xfrm>
            <a:prstGeom prst="rect">
              <a:avLst/>
            </a:prstGeom>
            <a:noFill/>
          </p:spPr>
          <p:txBody>
            <a:bodyPr wrap="none" rtlCol="0">
              <a:spAutoFit/>
            </a:bodyPr>
            <a:lstStyle/>
            <a:p>
              <a:pPr algn="l"/>
              <a:r>
                <a:rPr lang="zh-CN" altLang="en-US" sz="2400" b="1" spc="0" baseline="0">
                  <a:ln/>
                  <a:solidFill>
                    <a:srgbClr val="E63946"/>
                  </a:solidFill>
                  <a:latin typeface="微软雅黑"/>
                  <a:ea typeface="微软雅黑"/>
                  <a:sym typeface="微软雅黑"/>
                  <a:rtl val="0"/>
                </a:rPr>
                <a:t>-187.15亿</a:t>
              </a:r>
            </a:p>
          </p:txBody>
        </p:sp>
      </p:grpSp>
      <p:grpSp>
        <p:nvGrpSpPr>
          <p:cNvPr id="30" name="SVG Image 12">
            <a:extLst>
              <a:ext uri="{FF2B5EF4-FFF2-40B4-BE49-F238E27FC236}">
                <a16:creationId xmlns:a16="http://schemas.microsoft.com/office/drawing/2014/main" id="{ECD94B02-AF8B-9769-3947-22C31EC102CF}"/>
              </a:ext>
            </a:extLst>
          </p:cNvPr>
          <p:cNvGrpSpPr/>
          <p:nvPr/>
        </p:nvGrpSpPr>
        <p:grpSpPr>
          <a:xfrm>
            <a:off x="9715500" y="1238250"/>
            <a:ext cx="1905000" cy="952500"/>
            <a:chOff x="9715500" y="1238250"/>
            <a:chExt cx="1905000" cy="952500"/>
          </a:xfrm>
        </p:grpSpPr>
        <p:sp>
          <p:nvSpPr>
            <p:cNvPr id="31" name="任意形状 30">
              <a:extLst>
                <a:ext uri="{FF2B5EF4-FFF2-40B4-BE49-F238E27FC236}">
                  <a16:creationId xmlns:a16="http://schemas.microsoft.com/office/drawing/2014/main" id="{D45418AA-D562-9B7B-0FB0-CA589E783125}"/>
                </a:ext>
              </a:extLst>
            </p:cNvPr>
            <p:cNvSpPr/>
            <p:nvPr/>
          </p:nvSpPr>
          <p:spPr>
            <a:xfrm>
              <a:off x="9715500" y="1238250"/>
              <a:ext cx="1905000" cy="952500"/>
            </a:xfrm>
            <a:custGeom>
              <a:avLst/>
              <a:gdLst>
                <a:gd name="csX0" fmla="*/ 76200 w 1905000"/>
                <a:gd name="csY0" fmla="*/ 0 h 952500"/>
                <a:gd name="csX1" fmla="*/ 1828800 w 1905000"/>
                <a:gd name="csY1" fmla="*/ 0 h 952500"/>
                <a:gd name="csX2" fmla="*/ 1905000 w 1905000"/>
                <a:gd name="csY2" fmla="*/ 76200 h 952500"/>
                <a:gd name="csX3" fmla="*/ 1905000 w 1905000"/>
                <a:gd name="csY3" fmla="*/ 876300 h 952500"/>
                <a:gd name="csX4" fmla="*/ 1828800 w 1905000"/>
                <a:gd name="csY4" fmla="*/ 952500 h 952500"/>
                <a:gd name="csX5" fmla="*/ 76200 w 1905000"/>
                <a:gd name="csY5" fmla="*/ 952500 h 952500"/>
                <a:gd name="csX6" fmla="*/ 0 w 1905000"/>
                <a:gd name="csY6" fmla="*/ 876300 h 952500"/>
                <a:gd name="csX7" fmla="*/ 0 w 1905000"/>
                <a:gd name="csY7" fmla="*/ 76200 h 952500"/>
                <a:gd name="csX8" fmla="*/ 76200 w 1905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952500">
                  <a:moveTo>
                    <a:pt x="76200" y="0"/>
                  </a:moveTo>
                  <a:lnTo>
                    <a:pt x="1828800" y="0"/>
                  </a:lnTo>
                  <a:cubicBezTo>
                    <a:pt x="1870885" y="0"/>
                    <a:pt x="1905000" y="34116"/>
                    <a:pt x="1905000" y="76200"/>
                  </a:cubicBezTo>
                  <a:lnTo>
                    <a:pt x="1905000" y="876300"/>
                  </a:lnTo>
                  <a:cubicBezTo>
                    <a:pt x="1905000" y="918384"/>
                    <a:pt x="1870885" y="952500"/>
                    <a:pt x="182880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2" name="文本框 31">
              <a:extLst>
                <a:ext uri="{FF2B5EF4-FFF2-40B4-BE49-F238E27FC236}">
                  <a16:creationId xmlns:a16="http://schemas.microsoft.com/office/drawing/2014/main" id="{07783227-3B4B-95FA-7572-936E8A1F382B}"/>
                </a:ext>
              </a:extLst>
            </p:cNvPr>
            <p:cNvSpPr txBox="1"/>
            <p:nvPr/>
          </p:nvSpPr>
          <p:spPr>
            <a:xfrm>
              <a:off x="10121769" y="1394885"/>
              <a:ext cx="1092461" cy="254867"/>
            </a:xfrm>
            <a:prstGeom prst="rect">
              <a:avLst/>
            </a:prstGeom>
            <a:noFill/>
          </p:spPr>
          <p:txBody>
            <a:bodyPr wrap="none" rtlCol="0">
              <a:spAutoFit/>
            </a:bodyPr>
            <a:lstStyle/>
            <a:p>
              <a:pPr algn="l"/>
              <a:r>
                <a:rPr lang="zh-CN" altLang="en-US" sz="975" spc="0" baseline="0">
                  <a:ln/>
                  <a:solidFill>
                    <a:srgbClr val="64748B"/>
                  </a:solidFill>
                  <a:latin typeface="微软雅黑"/>
                  <a:ea typeface="微软雅黑"/>
                  <a:sym typeface="微软雅黑"/>
                  <a:rtl val="0"/>
                </a:rPr>
                <a:t>2029年偿还压力</a:t>
              </a:r>
            </a:p>
          </p:txBody>
        </p:sp>
        <p:sp>
          <p:nvSpPr>
            <p:cNvPr id="33" name="文本框 32">
              <a:extLst>
                <a:ext uri="{FF2B5EF4-FFF2-40B4-BE49-F238E27FC236}">
                  <a16:creationId xmlns:a16="http://schemas.microsoft.com/office/drawing/2014/main" id="{D40622DD-887C-A2E6-171A-BF7455531B33}"/>
                </a:ext>
              </a:extLst>
            </p:cNvPr>
            <p:cNvSpPr txBox="1"/>
            <p:nvPr/>
          </p:nvSpPr>
          <p:spPr>
            <a:xfrm>
              <a:off x="10004687" y="1584394"/>
              <a:ext cx="1326624" cy="493722"/>
            </a:xfrm>
            <a:prstGeom prst="rect">
              <a:avLst/>
            </a:prstGeom>
            <a:noFill/>
          </p:spPr>
          <p:txBody>
            <a:bodyPr wrap="none" rtlCol="0">
              <a:spAutoFit/>
            </a:bodyPr>
            <a:lstStyle/>
            <a:p>
              <a:pPr algn="l"/>
              <a:r>
                <a:rPr lang="zh-CN" altLang="en-US" sz="2400" b="1" spc="0" baseline="0">
                  <a:ln/>
                  <a:solidFill>
                    <a:srgbClr val="F59E0B"/>
                  </a:solidFill>
                  <a:latin typeface="微软雅黑"/>
                  <a:ea typeface="微软雅黑"/>
                  <a:sym typeface="微软雅黑"/>
                  <a:rtl val="0"/>
                </a:rPr>
                <a:t>1,276亿</a:t>
              </a:r>
            </a:p>
          </p:txBody>
        </p:sp>
      </p:grpSp>
      <p:grpSp>
        <p:nvGrpSpPr>
          <p:cNvPr id="34" name="SVG Image 12">
            <a:extLst>
              <a:ext uri="{FF2B5EF4-FFF2-40B4-BE49-F238E27FC236}">
                <a16:creationId xmlns:a16="http://schemas.microsoft.com/office/drawing/2014/main" id="{68F18446-51A9-A8A1-BCC8-D82507F56D93}"/>
              </a:ext>
            </a:extLst>
          </p:cNvPr>
          <p:cNvGrpSpPr/>
          <p:nvPr/>
        </p:nvGrpSpPr>
        <p:grpSpPr>
          <a:xfrm>
            <a:off x="571500" y="2381250"/>
            <a:ext cx="3619500" cy="2952750"/>
            <a:chOff x="571500" y="2381250"/>
            <a:chExt cx="3619500" cy="2952750"/>
          </a:xfrm>
        </p:grpSpPr>
        <p:sp>
          <p:nvSpPr>
            <p:cNvPr id="35" name="任意形状 34">
              <a:extLst>
                <a:ext uri="{FF2B5EF4-FFF2-40B4-BE49-F238E27FC236}">
                  <a16:creationId xmlns:a16="http://schemas.microsoft.com/office/drawing/2014/main" id="{4360D017-B199-BAFC-B67D-B69467EFA49A}"/>
                </a:ext>
              </a:extLst>
            </p:cNvPr>
            <p:cNvSpPr/>
            <p:nvPr/>
          </p:nvSpPr>
          <p:spPr>
            <a:xfrm>
              <a:off x="571500" y="2381250"/>
              <a:ext cx="3619500" cy="2952750"/>
            </a:xfrm>
            <a:custGeom>
              <a:avLst/>
              <a:gdLst>
                <a:gd name="csX0" fmla="*/ 76200 w 3619500"/>
                <a:gd name="csY0" fmla="*/ 0 h 2952750"/>
                <a:gd name="csX1" fmla="*/ 3543300 w 3619500"/>
                <a:gd name="csY1" fmla="*/ 0 h 2952750"/>
                <a:gd name="csX2" fmla="*/ 3619500 w 3619500"/>
                <a:gd name="csY2" fmla="*/ 76200 h 2952750"/>
                <a:gd name="csX3" fmla="*/ 3619500 w 3619500"/>
                <a:gd name="csY3" fmla="*/ 2876550 h 2952750"/>
                <a:gd name="csX4" fmla="*/ 3543300 w 3619500"/>
                <a:gd name="csY4" fmla="*/ 2952750 h 2952750"/>
                <a:gd name="csX5" fmla="*/ 76200 w 3619500"/>
                <a:gd name="csY5" fmla="*/ 2952750 h 2952750"/>
                <a:gd name="csX6" fmla="*/ 0 w 3619500"/>
                <a:gd name="csY6" fmla="*/ 2876550 h 2952750"/>
                <a:gd name="csX7" fmla="*/ 0 w 3619500"/>
                <a:gd name="csY7" fmla="*/ 76200 h 2952750"/>
                <a:gd name="csX8" fmla="*/ 76200 w 3619500"/>
                <a:gd name="csY8" fmla="*/ 0 h 295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19500" h="2952750">
                  <a:moveTo>
                    <a:pt x="76200" y="0"/>
                  </a:moveTo>
                  <a:lnTo>
                    <a:pt x="3543300" y="0"/>
                  </a:lnTo>
                  <a:cubicBezTo>
                    <a:pt x="3585384" y="0"/>
                    <a:pt x="3619500" y="34116"/>
                    <a:pt x="3619500" y="76200"/>
                  </a:cubicBezTo>
                  <a:lnTo>
                    <a:pt x="3619500" y="2876550"/>
                  </a:lnTo>
                  <a:cubicBezTo>
                    <a:pt x="3619500" y="2918634"/>
                    <a:pt x="3585384" y="2952750"/>
                    <a:pt x="3543300" y="2952750"/>
                  </a:cubicBezTo>
                  <a:lnTo>
                    <a:pt x="76200" y="2952750"/>
                  </a:lnTo>
                  <a:cubicBezTo>
                    <a:pt x="34116" y="2952750"/>
                    <a:pt x="0" y="2918634"/>
                    <a:pt x="0" y="2876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6" name="文本框 35">
              <a:extLst>
                <a:ext uri="{FF2B5EF4-FFF2-40B4-BE49-F238E27FC236}">
                  <a16:creationId xmlns:a16="http://schemas.microsoft.com/office/drawing/2014/main" id="{05F1CF07-49EF-29DF-91AB-0194015AF1F1}"/>
                </a:ext>
              </a:extLst>
            </p:cNvPr>
            <p:cNvSpPr txBox="1"/>
            <p:nvPr/>
          </p:nvSpPr>
          <p:spPr>
            <a:xfrm>
              <a:off x="765810" y="2507649"/>
              <a:ext cx="12496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存量债类型分布</a:t>
              </a:r>
            </a:p>
          </p:txBody>
        </p:sp>
        <p:sp>
          <p:nvSpPr>
            <p:cNvPr id="37" name="文本框 36">
              <a:extLst>
                <a:ext uri="{FF2B5EF4-FFF2-40B4-BE49-F238E27FC236}">
                  <a16:creationId xmlns:a16="http://schemas.microsoft.com/office/drawing/2014/main" id="{E844B16E-C079-E69A-9298-249031BFD296}"/>
                </a:ext>
              </a:extLst>
            </p:cNvPr>
            <p:cNvSpPr txBox="1"/>
            <p:nvPr/>
          </p:nvSpPr>
          <p:spPr>
            <a:xfrm>
              <a:off x="765810" y="2928963"/>
              <a:ext cx="5257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私募债</a:t>
              </a:r>
            </a:p>
          </p:txBody>
        </p:sp>
        <p:sp>
          <p:nvSpPr>
            <p:cNvPr id="38" name="任意形状 37">
              <a:extLst>
                <a:ext uri="{FF2B5EF4-FFF2-40B4-BE49-F238E27FC236}">
                  <a16:creationId xmlns:a16="http://schemas.microsoft.com/office/drawing/2014/main" id="{F1C2856B-66C0-3AEA-80BD-A2A3B15C331C}"/>
                </a:ext>
              </a:extLst>
            </p:cNvPr>
            <p:cNvSpPr/>
            <p:nvPr/>
          </p:nvSpPr>
          <p:spPr>
            <a:xfrm>
              <a:off x="1524000" y="2952750"/>
              <a:ext cx="2095500" cy="209550"/>
            </a:xfrm>
            <a:custGeom>
              <a:avLst/>
              <a:gdLst>
                <a:gd name="csX0" fmla="*/ 38100 w 2095500"/>
                <a:gd name="csY0" fmla="*/ 0 h 209550"/>
                <a:gd name="csX1" fmla="*/ 2057400 w 2095500"/>
                <a:gd name="csY1" fmla="*/ 0 h 209550"/>
                <a:gd name="csX2" fmla="*/ 2095500 w 2095500"/>
                <a:gd name="csY2" fmla="*/ 38100 h 209550"/>
                <a:gd name="csX3" fmla="*/ 2095500 w 2095500"/>
                <a:gd name="csY3" fmla="*/ 171450 h 209550"/>
                <a:gd name="csX4" fmla="*/ 2057400 w 2095500"/>
                <a:gd name="csY4" fmla="*/ 209550 h 209550"/>
                <a:gd name="csX5" fmla="*/ 38100 w 2095500"/>
                <a:gd name="csY5" fmla="*/ 209550 h 209550"/>
                <a:gd name="csX6" fmla="*/ 0 w 2095500"/>
                <a:gd name="csY6" fmla="*/ 171450 h 209550"/>
                <a:gd name="csX7" fmla="*/ 0 w 2095500"/>
                <a:gd name="csY7" fmla="*/ 38100 h 209550"/>
                <a:gd name="csX8" fmla="*/ 38100 w 20955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209550">
                  <a:moveTo>
                    <a:pt x="38100" y="0"/>
                  </a:moveTo>
                  <a:lnTo>
                    <a:pt x="2057400" y="0"/>
                  </a:lnTo>
                  <a:cubicBezTo>
                    <a:pt x="2078442" y="0"/>
                    <a:pt x="2095500" y="17058"/>
                    <a:pt x="2095500" y="38100"/>
                  </a:cubicBezTo>
                  <a:lnTo>
                    <a:pt x="2095500" y="171450"/>
                  </a:lnTo>
                  <a:cubicBezTo>
                    <a:pt x="2095500" y="192492"/>
                    <a:pt x="2078442" y="209550"/>
                    <a:pt x="205740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39" name="任意形状 38">
              <a:extLst>
                <a:ext uri="{FF2B5EF4-FFF2-40B4-BE49-F238E27FC236}">
                  <a16:creationId xmlns:a16="http://schemas.microsoft.com/office/drawing/2014/main" id="{BB32E3B9-288D-5A20-E778-2CB3F6D8065A}"/>
                </a:ext>
              </a:extLst>
            </p:cNvPr>
            <p:cNvSpPr/>
            <p:nvPr/>
          </p:nvSpPr>
          <p:spPr>
            <a:xfrm>
              <a:off x="1524000" y="2952750"/>
              <a:ext cx="1571625" cy="209550"/>
            </a:xfrm>
            <a:custGeom>
              <a:avLst/>
              <a:gdLst>
                <a:gd name="csX0" fmla="*/ 38100 w 1571625"/>
                <a:gd name="csY0" fmla="*/ 0 h 209550"/>
                <a:gd name="csX1" fmla="*/ 1533525 w 1571625"/>
                <a:gd name="csY1" fmla="*/ 0 h 209550"/>
                <a:gd name="csX2" fmla="*/ 1571625 w 1571625"/>
                <a:gd name="csY2" fmla="*/ 38100 h 209550"/>
                <a:gd name="csX3" fmla="*/ 1571625 w 1571625"/>
                <a:gd name="csY3" fmla="*/ 171450 h 209550"/>
                <a:gd name="csX4" fmla="*/ 1533525 w 1571625"/>
                <a:gd name="csY4" fmla="*/ 209550 h 209550"/>
                <a:gd name="csX5" fmla="*/ 38100 w 1571625"/>
                <a:gd name="csY5" fmla="*/ 209550 h 209550"/>
                <a:gd name="csX6" fmla="*/ 0 w 1571625"/>
                <a:gd name="csY6" fmla="*/ 171450 h 209550"/>
                <a:gd name="csX7" fmla="*/ 0 w 1571625"/>
                <a:gd name="csY7" fmla="*/ 38100 h 209550"/>
                <a:gd name="csX8" fmla="*/ 38100 w 157162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71625" h="209550">
                  <a:moveTo>
                    <a:pt x="38100" y="0"/>
                  </a:moveTo>
                  <a:lnTo>
                    <a:pt x="1533525" y="0"/>
                  </a:lnTo>
                  <a:cubicBezTo>
                    <a:pt x="1554567" y="0"/>
                    <a:pt x="1571625" y="17058"/>
                    <a:pt x="1571625" y="38100"/>
                  </a:cubicBezTo>
                  <a:lnTo>
                    <a:pt x="1571625" y="171450"/>
                  </a:lnTo>
                  <a:cubicBezTo>
                    <a:pt x="1571625" y="192492"/>
                    <a:pt x="1554567" y="209550"/>
                    <a:pt x="1533525" y="209550"/>
                  </a:cubicBezTo>
                  <a:lnTo>
                    <a:pt x="38100" y="209550"/>
                  </a:lnTo>
                  <a:cubicBezTo>
                    <a:pt x="17058" y="209550"/>
                    <a:pt x="0" y="192492"/>
                    <a:pt x="0" y="17145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40" name="文本框 39">
              <a:extLst>
                <a:ext uri="{FF2B5EF4-FFF2-40B4-BE49-F238E27FC236}">
                  <a16:creationId xmlns:a16="http://schemas.microsoft.com/office/drawing/2014/main" id="{1F159A5C-5378-7AAB-B7DB-247EB117DC0E}"/>
                </a:ext>
              </a:extLst>
            </p:cNvPr>
            <p:cNvSpPr txBox="1"/>
            <p:nvPr/>
          </p:nvSpPr>
          <p:spPr>
            <a:xfrm>
              <a:off x="3147060" y="2948566"/>
              <a:ext cx="1060165"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37.94% | 2,197亿</a:t>
              </a:r>
            </a:p>
          </p:txBody>
        </p:sp>
        <p:sp>
          <p:nvSpPr>
            <p:cNvPr id="41" name="文本框 40">
              <a:extLst>
                <a:ext uri="{FF2B5EF4-FFF2-40B4-BE49-F238E27FC236}">
                  <a16:creationId xmlns:a16="http://schemas.microsoft.com/office/drawing/2014/main" id="{9195BDB0-0771-711F-3AEF-FCEE99D00E05}"/>
                </a:ext>
              </a:extLst>
            </p:cNvPr>
            <p:cNvSpPr txBox="1"/>
            <p:nvPr/>
          </p:nvSpPr>
          <p:spPr>
            <a:xfrm>
              <a:off x="765810" y="3309963"/>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中期票据</a:t>
              </a:r>
            </a:p>
          </p:txBody>
        </p:sp>
        <p:sp>
          <p:nvSpPr>
            <p:cNvPr id="42" name="任意形状 41">
              <a:extLst>
                <a:ext uri="{FF2B5EF4-FFF2-40B4-BE49-F238E27FC236}">
                  <a16:creationId xmlns:a16="http://schemas.microsoft.com/office/drawing/2014/main" id="{FA532CE5-0448-38AE-99F7-73F36059FA50}"/>
                </a:ext>
              </a:extLst>
            </p:cNvPr>
            <p:cNvSpPr/>
            <p:nvPr/>
          </p:nvSpPr>
          <p:spPr>
            <a:xfrm>
              <a:off x="1524000" y="3333750"/>
              <a:ext cx="2095500" cy="209550"/>
            </a:xfrm>
            <a:custGeom>
              <a:avLst/>
              <a:gdLst>
                <a:gd name="csX0" fmla="*/ 38100 w 2095500"/>
                <a:gd name="csY0" fmla="*/ 0 h 209550"/>
                <a:gd name="csX1" fmla="*/ 2057400 w 2095500"/>
                <a:gd name="csY1" fmla="*/ 0 h 209550"/>
                <a:gd name="csX2" fmla="*/ 2095500 w 2095500"/>
                <a:gd name="csY2" fmla="*/ 38100 h 209550"/>
                <a:gd name="csX3" fmla="*/ 2095500 w 2095500"/>
                <a:gd name="csY3" fmla="*/ 171450 h 209550"/>
                <a:gd name="csX4" fmla="*/ 2057400 w 2095500"/>
                <a:gd name="csY4" fmla="*/ 209550 h 209550"/>
                <a:gd name="csX5" fmla="*/ 38100 w 2095500"/>
                <a:gd name="csY5" fmla="*/ 209550 h 209550"/>
                <a:gd name="csX6" fmla="*/ 0 w 2095500"/>
                <a:gd name="csY6" fmla="*/ 171450 h 209550"/>
                <a:gd name="csX7" fmla="*/ 0 w 2095500"/>
                <a:gd name="csY7" fmla="*/ 38100 h 209550"/>
                <a:gd name="csX8" fmla="*/ 38100 w 20955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209550">
                  <a:moveTo>
                    <a:pt x="38100" y="0"/>
                  </a:moveTo>
                  <a:lnTo>
                    <a:pt x="2057400" y="0"/>
                  </a:lnTo>
                  <a:cubicBezTo>
                    <a:pt x="2078442" y="0"/>
                    <a:pt x="2095500" y="17058"/>
                    <a:pt x="2095500" y="38100"/>
                  </a:cubicBezTo>
                  <a:lnTo>
                    <a:pt x="2095500" y="171450"/>
                  </a:lnTo>
                  <a:cubicBezTo>
                    <a:pt x="2095500" y="192492"/>
                    <a:pt x="2078442" y="209550"/>
                    <a:pt x="205740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43" name="任意形状 42">
              <a:extLst>
                <a:ext uri="{FF2B5EF4-FFF2-40B4-BE49-F238E27FC236}">
                  <a16:creationId xmlns:a16="http://schemas.microsoft.com/office/drawing/2014/main" id="{46E8AA32-9015-6721-B4C6-6B163BFCCE89}"/>
                </a:ext>
              </a:extLst>
            </p:cNvPr>
            <p:cNvSpPr/>
            <p:nvPr/>
          </p:nvSpPr>
          <p:spPr>
            <a:xfrm>
              <a:off x="1524000" y="3333750"/>
              <a:ext cx="1304925" cy="209550"/>
            </a:xfrm>
            <a:custGeom>
              <a:avLst/>
              <a:gdLst>
                <a:gd name="csX0" fmla="*/ 38100 w 1304925"/>
                <a:gd name="csY0" fmla="*/ 0 h 209550"/>
                <a:gd name="csX1" fmla="*/ 1266825 w 1304925"/>
                <a:gd name="csY1" fmla="*/ 0 h 209550"/>
                <a:gd name="csX2" fmla="*/ 1304925 w 1304925"/>
                <a:gd name="csY2" fmla="*/ 38100 h 209550"/>
                <a:gd name="csX3" fmla="*/ 1304925 w 1304925"/>
                <a:gd name="csY3" fmla="*/ 171450 h 209550"/>
                <a:gd name="csX4" fmla="*/ 1266825 w 1304925"/>
                <a:gd name="csY4" fmla="*/ 209550 h 209550"/>
                <a:gd name="csX5" fmla="*/ 38100 w 1304925"/>
                <a:gd name="csY5" fmla="*/ 209550 h 209550"/>
                <a:gd name="csX6" fmla="*/ 0 w 1304925"/>
                <a:gd name="csY6" fmla="*/ 171450 h 209550"/>
                <a:gd name="csX7" fmla="*/ 0 w 1304925"/>
                <a:gd name="csY7" fmla="*/ 38100 h 209550"/>
                <a:gd name="csX8" fmla="*/ 38100 w 130492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04925" h="209550">
                  <a:moveTo>
                    <a:pt x="38100" y="0"/>
                  </a:moveTo>
                  <a:lnTo>
                    <a:pt x="1266825" y="0"/>
                  </a:lnTo>
                  <a:cubicBezTo>
                    <a:pt x="1287867" y="0"/>
                    <a:pt x="1304925" y="17058"/>
                    <a:pt x="1304925" y="38100"/>
                  </a:cubicBezTo>
                  <a:lnTo>
                    <a:pt x="1304925" y="171450"/>
                  </a:lnTo>
                  <a:cubicBezTo>
                    <a:pt x="1304925" y="192492"/>
                    <a:pt x="1287867" y="209550"/>
                    <a:pt x="1266825" y="209550"/>
                  </a:cubicBezTo>
                  <a:lnTo>
                    <a:pt x="38100" y="209550"/>
                  </a:lnTo>
                  <a:cubicBezTo>
                    <a:pt x="17058" y="209550"/>
                    <a:pt x="0" y="192492"/>
                    <a:pt x="0" y="171450"/>
                  </a:cubicBezTo>
                  <a:lnTo>
                    <a:pt x="0" y="38100"/>
                  </a:lnTo>
                  <a:cubicBezTo>
                    <a:pt x="0" y="17058"/>
                    <a:pt x="17058" y="0"/>
                    <a:pt x="38100" y="0"/>
                  </a:cubicBezTo>
                  <a:close/>
                </a:path>
              </a:pathLst>
            </a:custGeom>
            <a:solidFill>
              <a:srgbClr val="4A90D9"/>
            </a:solidFill>
            <a:ln w="9525" cap="flat">
              <a:noFill/>
              <a:prstDash val="solid"/>
              <a:miter/>
            </a:ln>
          </p:spPr>
          <p:txBody>
            <a:bodyPr/>
            <a:lstStyle/>
            <a:p>
              <a:endParaRPr lang="zh-CN" altLang="en-US"/>
            </a:p>
          </p:txBody>
        </p:sp>
        <p:sp>
          <p:nvSpPr>
            <p:cNvPr id="44" name="文本框 43">
              <a:extLst>
                <a:ext uri="{FF2B5EF4-FFF2-40B4-BE49-F238E27FC236}">
                  <a16:creationId xmlns:a16="http://schemas.microsoft.com/office/drawing/2014/main" id="{089B3954-63C9-444D-1A47-256DD352BA09}"/>
                </a:ext>
              </a:extLst>
            </p:cNvPr>
            <p:cNvSpPr txBox="1"/>
            <p:nvPr/>
          </p:nvSpPr>
          <p:spPr>
            <a:xfrm>
              <a:off x="2861310" y="3329566"/>
              <a:ext cx="101304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31.44% | 1,821亿</a:t>
              </a:r>
            </a:p>
          </p:txBody>
        </p:sp>
        <p:sp>
          <p:nvSpPr>
            <p:cNvPr id="45" name="文本框 44">
              <a:extLst>
                <a:ext uri="{FF2B5EF4-FFF2-40B4-BE49-F238E27FC236}">
                  <a16:creationId xmlns:a16="http://schemas.microsoft.com/office/drawing/2014/main" id="{DEF2221C-7100-1E3B-2AD1-183D6CDD9344}"/>
                </a:ext>
              </a:extLst>
            </p:cNvPr>
            <p:cNvSpPr txBox="1"/>
            <p:nvPr/>
          </p:nvSpPr>
          <p:spPr>
            <a:xfrm>
              <a:off x="765810" y="3690963"/>
              <a:ext cx="872865"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定向工具PPN</a:t>
              </a:r>
            </a:p>
          </p:txBody>
        </p:sp>
        <p:sp>
          <p:nvSpPr>
            <p:cNvPr id="46" name="任意形状 45">
              <a:extLst>
                <a:ext uri="{FF2B5EF4-FFF2-40B4-BE49-F238E27FC236}">
                  <a16:creationId xmlns:a16="http://schemas.microsoft.com/office/drawing/2014/main" id="{6AEC718D-054F-F1A2-BAE5-473A4A7F142D}"/>
                </a:ext>
              </a:extLst>
            </p:cNvPr>
            <p:cNvSpPr/>
            <p:nvPr/>
          </p:nvSpPr>
          <p:spPr>
            <a:xfrm>
              <a:off x="1524000" y="3714750"/>
              <a:ext cx="2095500" cy="209550"/>
            </a:xfrm>
            <a:custGeom>
              <a:avLst/>
              <a:gdLst>
                <a:gd name="csX0" fmla="*/ 38100 w 2095500"/>
                <a:gd name="csY0" fmla="*/ 0 h 209550"/>
                <a:gd name="csX1" fmla="*/ 2057400 w 2095500"/>
                <a:gd name="csY1" fmla="*/ 0 h 209550"/>
                <a:gd name="csX2" fmla="*/ 2095500 w 2095500"/>
                <a:gd name="csY2" fmla="*/ 38100 h 209550"/>
                <a:gd name="csX3" fmla="*/ 2095500 w 2095500"/>
                <a:gd name="csY3" fmla="*/ 171450 h 209550"/>
                <a:gd name="csX4" fmla="*/ 2057400 w 2095500"/>
                <a:gd name="csY4" fmla="*/ 209550 h 209550"/>
                <a:gd name="csX5" fmla="*/ 38100 w 2095500"/>
                <a:gd name="csY5" fmla="*/ 209550 h 209550"/>
                <a:gd name="csX6" fmla="*/ 0 w 2095500"/>
                <a:gd name="csY6" fmla="*/ 171450 h 209550"/>
                <a:gd name="csX7" fmla="*/ 0 w 2095500"/>
                <a:gd name="csY7" fmla="*/ 38100 h 209550"/>
                <a:gd name="csX8" fmla="*/ 38100 w 20955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209550">
                  <a:moveTo>
                    <a:pt x="38100" y="0"/>
                  </a:moveTo>
                  <a:lnTo>
                    <a:pt x="2057400" y="0"/>
                  </a:lnTo>
                  <a:cubicBezTo>
                    <a:pt x="2078442" y="0"/>
                    <a:pt x="2095500" y="17058"/>
                    <a:pt x="2095500" y="38100"/>
                  </a:cubicBezTo>
                  <a:lnTo>
                    <a:pt x="2095500" y="171450"/>
                  </a:lnTo>
                  <a:cubicBezTo>
                    <a:pt x="2095500" y="192492"/>
                    <a:pt x="2078442" y="209550"/>
                    <a:pt x="205740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47" name="任意形状 46">
              <a:extLst>
                <a:ext uri="{FF2B5EF4-FFF2-40B4-BE49-F238E27FC236}">
                  <a16:creationId xmlns:a16="http://schemas.microsoft.com/office/drawing/2014/main" id="{F9E0F408-FF99-1497-4704-AFCA9BA7D848}"/>
                </a:ext>
              </a:extLst>
            </p:cNvPr>
            <p:cNvSpPr/>
            <p:nvPr/>
          </p:nvSpPr>
          <p:spPr>
            <a:xfrm>
              <a:off x="1524000" y="3714750"/>
              <a:ext cx="685800" cy="209550"/>
            </a:xfrm>
            <a:custGeom>
              <a:avLst/>
              <a:gdLst>
                <a:gd name="csX0" fmla="*/ 38100 w 685800"/>
                <a:gd name="csY0" fmla="*/ 0 h 209550"/>
                <a:gd name="csX1" fmla="*/ 647700 w 685800"/>
                <a:gd name="csY1" fmla="*/ 0 h 209550"/>
                <a:gd name="csX2" fmla="*/ 685800 w 685800"/>
                <a:gd name="csY2" fmla="*/ 38100 h 209550"/>
                <a:gd name="csX3" fmla="*/ 685800 w 685800"/>
                <a:gd name="csY3" fmla="*/ 171450 h 209550"/>
                <a:gd name="csX4" fmla="*/ 647700 w 685800"/>
                <a:gd name="csY4" fmla="*/ 209550 h 209550"/>
                <a:gd name="csX5" fmla="*/ 38100 w 685800"/>
                <a:gd name="csY5" fmla="*/ 209550 h 209550"/>
                <a:gd name="csX6" fmla="*/ 0 w 685800"/>
                <a:gd name="csY6" fmla="*/ 171450 h 209550"/>
                <a:gd name="csX7" fmla="*/ 0 w 685800"/>
                <a:gd name="csY7" fmla="*/ 38100 h 209550"/>
                <a:gd name="csX8" fmla="*/ 38100 w 6858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0" h="209550">
                  <a:moveTo>
                    <a:pt x="38100" y="0"/>
                  </a:moveTo>
                  <a:lnTo>
                    <a:pt x="647700" y="0"/>
                  </a:lnTo>
                  <a:cubicBezTo>
                    <a:pt x="668742" y="0"/>
                    <a:pt x="685800" y="17058"/>
                    <a:pt x="685800" y="38100"/>
                  </a:cubicBezTo>
                  <a:lnTo>
                    <a:pt x="685800" y="171450"/>
                  </a:lnTo>
                  <a:cubicBezTo>
                    <a:pt x="685800" y="192492"/>
                    <a:pt x="668742" y="209550"/>
                    <a:pt x="647700" y="209550"/>
                  </a:cubicBezTo>
                  <a:lnTo>
                    <a:pt x="38100" y="209550"/>
                  </a:lnTo>
                  <a:cubicBezTo>
                    <a:pt x="17058" y="209550"/>
                    <a:pt x="0" y="192492"/>
                    <a:pt x="0" y="171450"/>
                  </a:cubicBezTo>
                  <a:lnTo>
                    <a:pt x="0" y="38100"/>
                  </a:lnTo>
                  <a:cubicBezTo>
                    <a:pt x="0" y="17058"/>
                    <a:pt x="17058" y="0"/>
                    <a:pt x="38100" y="0"/>
                  </a:cubicBezTo>
                  <a:close/>
                </a:path>
              </a:pathLst>
            </a:custGeom>
            <a:solidFill>
              <a:srgbClr val="2ECC71"/>
            </a:solidFill>
            <a:ln w="9525" cap="flat">
              <a:noFill/>
              <a:prstDash val="solid"/>
              <a:miter/>
            </a:ln>
          </p:spPr>
          <p:txBody>
            <a:bodyPr/>
            <a:lstStyle/>
            <a:p>
              <a:endParaRPr lang="zh-CN" altLang="en-US"/>
            </a:p>
          </p:txBody>
        </p:sp>
        <p:sp>
          <p:nvSpPr>
            <p:cNvPr id="48" name="文本框 47">
              <a:extLst>
                <a:ext uri="{FF2B5EF4-FFF2-40B4-BE49-F238E27FC236}">
                  <a16:creationId xmlns:a16="http://schemas.microsoft.com/office/drawing/2014/main" id="{A3709FCF-5575-3B97-1AA9-CC4FE5BACADD}"/>
                </a:ext>
              </a:extLst>
            </p:cNvPr>
            <p:cNvSpPr txBox="1"/>
            <p:nvPr/>
          </p:nvSpPr>
          <p:spPr>
            <a:xfrm>
              <a:off x="2242185" y="3710566"/>
              <a:ext cx="926383"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16.62% | 962亿</a:t>
              </a:r>
            </a:p>
          </p:txBody>
        </p:sp>
        <p:sp>
          <p:nvSpPr>
            <p:cNvPr id="49" name="文本框 48">
              <a:extLst>
                <a:ext uri="{FF2B5EF4-FFF2-40B4-BE49-F238E27FC236}">
                  <a16:creationId xmlns:a16="http://schemas.microsoft.com/office/drawing/2014/main" id="{BB0C3C7A-4AFC-78F8-C262-3FBD06FFC279}"/>
                </a:ext>
              </a:extLst>
            </p:cNvPr>
            <p:cNvSpPr txBox="1"/>
            <p:nvPr/>
          </p:nvSpPr>
          <p:spPr>
            <a:xfrm>
              <a:off x="765810" y="4071963"/>
              <a:ext cx="5257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公司债</a:t>
              </a:r>
            </a:p>
          </p:txBody>
        </p:sp>
        <p:sp>
          <p:nvSpPr>
            <p:cNvPr id="50" name="任意形状 49">
              <a:extLst>
                <a:ext uri="{FF2B5EF4-FFF2-40B4-BE49-F238E27FC236}">
                  <a16:creationId xmlns:a16="http://schemas.microsoft.com/office/drawing/2014/main" id="{537A06A9-431D-396E-8155-866F7B7888D8}"/>
                </a:ext>
              </a:extLst>
            </p:cNvPr>
            <p:cNvSpPr/>
            <p:nvPr/>
          </p:nvSpPr>
          <p:spPr>
            <a:xfrm>
              <a:off x="1524000" y="4095750"/>
              <a:ext cx="2095500" cy="209550"/>
            </a:xfrm>
            <a:custGeom>
              <a:avLst/>
              <a:gdLst>
                <a:gd name="csX0" fmla="*/ 38100 w 2095500"/>
                <a:gd name="csY0" fmla="*/ 0 h 209550"/>
                <a:gd name="csX1" fmla="*/ 2057400 w 2095500"/>
                <a:gd name="csY1" fmla="*/ 0 h 209550"/>
                <a:gd name="csX2" fmla="*/ 2095500 w 2095500"/>
                <a:gd name="csY2" fmla="*/ 38100 h 209550"/>
                <a:gd name="csX3" fmla="*/ 2095500 w 2095500"/>
                <a:gd name="csY3" fmla="*/ 171450 h 209550"/>
                <a:gd name="csX4" fmla="*/ 2057400 w 2095500"/>
                <a:gd name="csY4" fmla="*/ 209550 h 209550"/>
                <a:gd name="csX5" fmla="*/ 38100 w 2095500"/>
                <a:gd name="csY5" fmla="*/ 209550 h 209550"/>
                <a:gd name="csX6" fmla="*/ 0 w 2095500"/>
                <a:gd name="csY6" fmla="*/ 171450 h 209550"/>
                <a:gd name="csX7" fmla="*/ 0 w 2095500"/>
                <a:gd name="csY7" fmla="*/ 38100 h 209550"/>
                <a:gd name="csX8" fmla="*/ 38100 w 20955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209550">
                  <a:moveTo>
                    <a:pt x="38100" y="0"/>
                  </a:moveTo>
                  <a:lnTo>
                    <a:pt x="2057400" y="0"/>
                  </a:lnTo>
                  <a:cubicBezTo>
                    <a:pt x="2078442" y="0"/>
                    <a:pt x="2095500" y="17058"/>
                    <a:pt x="2095500" y="38100"/>
                  </a:cubicBezTo>
                  <a:lnTo>
                    <a:pt x="2095500" y="171450"/>
                  </a:lnTo>
                  <a:cubicBezTo>
                    <a:pt x="2095500" y="192492"/>
                    <a:pt x="2078442" y="209550"/>
                    <a:pt x="205740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51" name="任意形状 50">
              <a:extLst>
                <a:ext uri="{FF2B5EF4-FFF2-40B4-BE49-F238E27FC236}">
                  <a16:creationId xmlns:a16="http://schemas.microsoft.com/office/drawing/2014/main" id="{0637CA20-616F-E326-C84A-19D32E4C988A}"/>
                </a:ext>
              </a:extLst>
            </p:cNvPr>
            <p:cNvSpPr/>
            <p:nvPr/>
          </p:nvSpPr>
          <p:spPr>
            <a:xfrm>
              <a:off x="1524000" y="4095750"/>
              <a:ext cx="238125" cy="209550"/>
            </a:xfrm>
            <a:custGeom>
              <a:avLst/>
              <a:gdLst>
                <a:gd name="csX0" fmla="*/ 38100 w 238125"/>
                <a:gd name="csY0" fmla="*/ 0 h 209550"/>
                <a:gd name="csX1" fmla="*/ 200025 w 238125"/>
                <a:gd name="csY1" fmla="*/ 0 h 209550"/>
                <a:gd name="csX2" fmla="*/ 238125 w 238125"/>
                <a:gd name="csY2" fmla="*/ 38100 h 209550"/>
                <a:gd name="csX3" fmla="*/ 238125 w 238125"/>
                <a:gd name="csY3" fmla="*/ 171450 h 209550"/>
                <a:gd name="csX4" fmla="*/ 200025 w 238125"/>
                <a:gd name="csY4" fmla="*/ 209550 h 209550"/>
                <a:gd name="csX5" fmla="*/ 38100 w 238125"/>
                <a:gd name="csY5" fmla="*/ 209550 h 209550"/>
                <a:gd name="csX6" fmla="*/ 0 w 238125"/>
                <a:gd name="csY6" fmla="*/ 171450 h 209550"/>
                <a:gd name="csX7" fmla="*/ 0 w 238125"/>
                <a:gd name="csY7" fmla="*/ 38100 h 209550"/>
                <a:gd name="csX8" fmla="*/ 38100 w 23812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8125" h="209550">
                  <a:moveTo>
                    <a:pt x="38100" y="0"/>
                  </a:moveTo>
                  <a:lnTo>
                    <a:pt x="200025" y="0"/>
                  </a:lnTo>
                  <a:cubicBezTo>
                    <a:pt x="221067" y="0"/>
                    <a:pt x="238125" y="17058"/>
                    <a:pt x="238125" y="38100"/>
                  </a:cubicBezTo>
                  <a:lnTo>
                    <a:pt x="238125" y="171450"/>
                  </a:lnTo>
                  <a:cubicBezTo>
                    <a:pt x="238125" y="192492"/>
                    <a:pt x="221067" y="209550"/>
                    <a:pt x="200025" y="209550"/>
                  </a:cubicBezTo>
                  <a:lnTo>
                    <a:pt x="38100" y="209550"/>
                  </a:lnTo>
                  <a:cubicBezTo>
                    <a:pt x="17058" y="209550"/>
                    <a:pt x="0" y="192492"/>
                    <a:pt x="0" y="171450"/>
                  </a:cubicBezTo>
                  <a:lnTo>
                    <a:pt x="0" y="38100"/>
                  </a:lnTo>
                  <a:cubicBezTo>
                    <a:pt x="0" y="17058"/>
                    <a:pt x="17058" y="0"/>
                    <a:pt x="38100" y="0"/>
                  </a:cubicBezTo>
                  <a:close/>
                </a:path>
              </a:pathLst>
            </a:custGeom>
            <a:solidFill>
              <a:srgbClr val="F59E0B"/>
            </a:solidFill>
            <a:ln w="9525" cap="flat">
              <a:noFill/>
              <a:prstDash val="solid"/>
              <a:miter/>
            </a:ln>
          </p:spPr>
          <p:txBody>
            <a:bodyPr/>
            <a:lstStyle/>
            <a:p>
              <a:endParaRPr lang="zh-CN" altLang="en-US"/>
            </a:p>
          </p:txBody>
        </p:sp>
        <p:sp>
          <p:nvSpPr>
            <p:cNvPr id="52" name="文本框 51">
              <a:extLst>
                <a:ext uri="{FF2B5EF4-FFF2-40B4-BE49-F238E27FC236}">
                  <a16:creationId xmlns:a16="http://schemas.microsoft.com/office/drawing/2014/main" id="{F40F461F-A597-6EFA-F973-E6FF72318F92}"/>
                </a:ext>
              </a:extLst>
            </p:cNvPr>
            <p:cNvSpPr txBox="1"/>
            <p:nvPr/>
          </p:nvSpPr>
          <p:spPr>
            <a:xfrm>
              <a:off x="1813560" y="4091566"/>
              <a:ext cx="86494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5.79% | 336亿</a:t>
              </a:r>
            </a:p>
          </p:txBody>
        </p:sp>
        <p:sp>
          <p:nvSpPr>
            <p:cNvPr id="53" name="文本框 52">
              <a:extLst>
                <a:ext uri="{FF2B5EF4-FFF2-40B4-BE49-F238E27FC236}">
                  <a16:creationId xmlns:a16="http://schemas.microsoft.com/office/drawing/2014/main" id="{8C48D3C4-1FD1-218A-50A7-A5F3209720A5}"/>
                </a:ext>
              </a:extLst>
            </p:cNvPr>
            <p:cNvSpPr txBox="1"/>
            <p:nvPr/>
          </p:nvSpPr>
          <p:spPr>
            <a:xfrm>
              <a:off x="765810" y="4452963"/>
              <a:ext cx="5257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企业债</a:t>
              </a:r>
            </a:p>
          </p:txBody>
        </p:sp>
        <p:sp>
          <p:nvSpPr>
            <p:cNvPr id="54" name="任意形状 53">
              <a:extLst>
                <a:ext uri="{FF2B5EF4-FFF2-40B4-BE49-F238E27FC236}">
                  <a16:creationId xmlns:a16="http://schemas.microsoft.com/office/drawing/2014/main" id="{8A16A496-2FF4-D89C-7A2B-509A351F1B2E}"/>
                </a:ext>
              </a:extLst>
            </p:cNvPr>
            <p:cNvSpPr/>
            <p:nvPr/>
          </p:nvSpPr>
          <p:spPr>
            <a:xfrm>
              <a:off x="1524000" y="4476750"/>
              <a:ext cx="2095500" cy="209550"/>
            </a:xfrm>
            <a:custGeom>
              <a:avLst/>
              <a:gdLst>
                <a:gd name="csX0" fmla="*/ 38100 w 2095500"/>
                <a:gd name="csY0" fmla="*/ 0 h 209550"/>
                <a:gd name="csX1" fmla="*/ 2057400 w 2095500"/>
                <a:gd name="csY1" fmla="*/ 0 h 209550"/>
                <a:gd name="csX2" fmla="*/ 2095500 w 2095500"/>
                <a:gd name="csY2" fmla="*/ 38100 h 209550"/>
                <a:gd name="csX3" fmla="*/ 2095500 w 2095500"/>
                <a:gd name="csY3" fmla="*/ 171450 h 209550"/>
                <a:gd name="csX4" fmla="*/ 2057400 w 2095500"/>
                <a:gd name="csY4" fmla="*/ 209550 h 209550"/>
                <a:gd name="csX5" fmla="*/ 38100 w 2095500"/>
                <a:gd name="csY5" fmla="*/ 209550 h 209550"/>
                <a:gd name="csX6" fmla="*/ 0 w 2095500"/>
                <a:gd name="csY6" fmla="*/ 171450 h 209550"/>
                <a:gd name="csX7" fmla="*/ 0 w 2095500"/>
                <a:gd name="csY7" fmla="*/ 38100 h 209550"/>
                <a:gd name="csX8" fmla="*/ 38100 w 20955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209550">
                  <a:moveTo>
                    <a:pt x="38100" y="0"/>
                  </a:moveTo>
                  <a:lnTo>
                    <a:pt x="2057400" y="0"/>
                  </a:lnTo>
                  <a:cubicBezTo>
                    <a:pt x="2078442" y="0"/>
                    <a:pt x="2095500" y="17058"/>
                    <a:pt x="2095500" y="38100"/>
                  </a:cubicBezTo>
                  <a:lnTo>
                    <a:pt x="2095500" y="171450"/>
                  </a:lnTo>
                  <a:cubicBezTo>
                    <a:pt x="2095500" y="192492"/>
                    <a:pt x="2078442" y="209550"/>
                    <a:pt x="205740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55" name="任意形状 54">
              <a:extLst>
                <a:ext uri="{FF2B5EF4-FFF2-40B4-BE49-F238E27FC236}">
                  <a16:creationId xmlns:a16="http://schemas.microsoft.com/office/drawing/2014/main" id="{A1452B44-43CD-E2BF-6D7A-30490DEE078A}"/>
                </a:ext>
              </a:extLst>
            </p:cNvPr>
            <p:cNvSpPr/>
            <p:nvPr/>
          </p:nvSpPr>
          <p:spPr>
            <a:xfrm>
              <a:off x="1524000" y="4476750"/>
              <a:ext cx="180975" cy="209550"/>
            </a:xfrm>
            <a:custGeom>
              <a:avLst/>
              <a:gdLst>
                <a:gd name="csX0" fmla="*/ 38100 w 180975"/>
                <a:gd name="csY0" fmla="*/ 0 h 209550"/>
                <a:gd name="csX1" fmla="*/ 142875 w 180975"/>
                <a:gd name="csY1" fmla="*/ 0 h 209550"/>
                <a:gd name="csX2" fmla="*/ 180975 w 180975"/>
                <a:gd name="csY2" fmla="*/ 38100 h 209550"/>
                <a:gd name="csX3" fmla="*/ 180975 w 180975"/>
                <a:gd name="csY3" fmla="*/ 171450 h 209550"/>
                <a:gd name="csX4" fmla="*/ 142875 w 180975"/>
                <a:gd name="csY4" fmla="*/ 209550 h 209550"/>
                <a:gd name="csX5" fmla="*/ 38100 w 180975"/>
                <a:gd name="csY5" fmla="*/ 209550 h 209550"/>
                <a:gd name="csX6" fmla="*/ 0 w 180975"/>
                <a:gd name="csY6" fmla="*/ 171450 h 209550"/>
                <a:gd name="csX7" fmla="*/ 0 w 180975"/>
                <a:gd name="csY7" fmla="*/ 38100 h 209550"/>
                <a:gd name="csX8" fmla="*/ 38100 w 18097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975" h="209550">
                  <a:moveTo>
                    <a:pt x="38100" y="0"/>
                  </a:moveTo>
                  <a:lnTo>
                    <a:pt x="142875" y="0"/>
                  </a:lnTo>
                  <a:cubicBezTo>
                    <a:pt x="163917" y="0"/>
                    <a:pt x="180975" y="17058"/>
                    <a:pt x="180975" y="38100"/>
                  </a:cubicBezTo>
                  <a:lnTo>
                    <a:pt x="180975" y="171450"/>
                  </a:lnTo>
                  <a:cubicBezTo>
                    <a:pt x="180975" y="192492"/>
                    <a:pt x="163917" y="209550"/>
                    <a:pt x="142875" y="209550"/>
                  </a:cubicBezTo>
                  <a:lnTo>
                    <a:pt x="38100" y="209550"/>
                  </a:lnTo>
                  <a:cubicBezTo>
                    <a:pt x="17058" y="209550"/>
                    <a:pt x="0" y="192492"/>
                    <a:pt x="0" y="171450"/>
                  </a:cubicBezTo>
                  <a:lnTo>
                    <a:pt x="0" y="38100"/>
                  </a:lnTo>
                  <a:cubicBezTo>
                    <a:pt x="0" y="17058"/>
                    <a:pt x="17058" y="0"/>
                    <a:pt x="38100" y="0"/>
                  </a:cubicBezTo>
                  <a:close/>
                </a:path>
              </a:pathLst>
            </a:custGeom>
            <a:solidFill>
              <a:srgbClr val="64748B"/>
            </a:solidFill>
            <a:ln w="9525" cap="flat">
              <a:noFill/>
              <a:prstDash val="solid"/>
              <a:miter/>
            </a:ln>
          </p:spPr>
          <p:txBody>
            <a:bodyPr/>
            <a:lstStyle/>
            <a:p>
              <a:endParaRPr lang="zh-CN" altLang="en-US"/>
            </a:p>
          </p:txBody>
        </p:sp>
        <p:sp>
          <p:nvSpPr>
            <p:cNvPr id="56" name="文本框 55">
              <a:extLst>
                <a:ext uri="{FF2B5EF4-FFF2-40B4-BE49-F238E27FC236}">
                  <a16:creationId xmlns:a16="http://schemas.microsoft.com/office/drawing/2014/main" id="{732D0397-2078-B4CF-8D28-987C29A5B004}"/>
                </a:ext>
              </a:extLst>
            </p:cNvPr>
            <p:cNvSpPr txBox="1"/>
            <p:nvPr/>
          </p:nvSpPr>
          <p:spPr>
            <a:xfrm>
              <a:off x="1718310" y="4472566"/>
              <a:ext cx="86494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4.30% | 249亿</a:t>
              </a:r>
            </a:p>
          </p:txBody>
        </p:sp>
        <p:sp>
          <p:nvSpPr>
            <p:cNvPr id="57" name="文本框 56">
              <a:extLst>
                <a:ext uri="{FF2B5EF4-FFF2-40B4-BE49-F238E27FC236}">
                  <a16:creationId xmlns:a16="http://schemas.microsoft.com/office/drawing/2014/main" id="{50369620-B82A-9DD5-AE5D-0110E02C1738}"/>
                </a:ext>
              </a:extLst>
            </p:cNvPr>
            <p:cNvSpPr txBox="1"/>
            <p:nvPr/>
          </p:nvSpPr>
          <p:spPr>
            <a:xfrm>
              <a:off x="765810" y="4833963"/>
              <a:ext cx="803214"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短融/超短融</a:t>
              </a:r>
            </a:p>
          </p:txBody>
        </p:sp>
        <p:sp>
          <p:nvSpPr>
            <p:cNvPr id="58" name="任意形状 57">
              <a:extLst>
                <a:ext uri="{FF2B5EF4-FFF2-40B4-BE49-F238E27FC236}">
                  <a16:creationId xmlns:a16="http://schemas.microsoft.com/office/drawing/2014/main" id="{90191206-72A4-9F38-16C8-C061CF0C45BB}"/>
                </a:ext>
              </a:extLst>
            </p:cNvPr>
            <p:cNvSpPr/>
            <p:nvPr/>
          </p:nvSpPr>
          <p:spPr>
            <a:xfrm>
              <a:off x="1524000" y="4857750"/>
              <a:ext cx="2095500" cy="209550"/>
            </a:xfrm>
            <a:custGeom>
              <a:avLst/>
              <a:gdLst>
                <a:gd name="csX0" fmla="*/ 38100 w 2095500"/>
                <a:gd name="csY0" fmla="*/ 0 h 209550"/>
                <a:gd name="csX1" fmla="*/ 2057400 w 2095500"/>
                <a:gd name="csY1" fmla="*/ 0 h 209550"/>
                <a:gd name="csX2" fmla="*/ 2095500 w 2095500"/>
                <a:gd name="csY2" fmla="*/ 38100 h 209550"/>
                <a:gd name="csX3" fmla="*/ 2095500 w 2095500"/>
                <a:gd name="csY3" fmla="*/ 171450 h 209550"/>
                <a:gd name="csX4" fmla="*/ 2057400 w 2095500"/>
                <a:gd name="csY4" fmla="*/ 209550 h 209550"/>
                <a:gd name="csX5" fmla="*/ 38100 w 2095500"/>
                <a:gd name="csY5" fmla="*/ 209550 h 209550"/>
                <a:gd name="csX6" fmla="*/ 0 w 2095500"/>
                <a:gd name="csY6" fmla="*/ 171450 h 209550"/>
                <a:gd name="csX7" fmla="*/ 0 w 2095500"/>
                <a:gd name="csY7" fmla="*/ 38100 h 209550"/>
                <a:gd name="csX8" fmla="*/ 38100 w 20955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5500" h="209550">
                  <a:moveTo>
                    <a:pt x="38100" y="0"/>
                  </a:moveTo>
                  <a:lnTo>
                    <a:pt x="2057400" y="0"/>
                  </a:lnTo>
                  <a:cubicBezTo>
                    <a:pt x="2078442" y="0"/>
                    <a:pt x="2095500" y="17058"/>
                    <a:pt x="2095500" y="38100"/>
                  </a:cubicBezTo>
                  <a:lnTo>
                    <a:pt x="2095500" y="171450"/>
                  </a:lnTo>
                  <a:cubicBezTo>
                    <a:pt x="2095500" y="192492"/>
                    <a:pt x="2078442" y="209550"/>
                    <a:pt x="205740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59" name="任意形状 58">
              <a:extLst>
                <a:ext uri="{FF2B5EF4-FFF2-40B4-BE49-F238E27FC236}">
                  <a16:creationId xmlns:a16="http://schemas.microsoft.com/office/drawing/2014/main" id="{2E93B601-0B9A-D1BA-A340-BFAF85EA009E}"/>
                </a:ext>
              </a:extLst>
            </p:cNvPr>
            <p:cNvSpPr/>
            <p:nvPr/>
          </p:nvSpPr>
          <p:spPr>
            <a:xfrm>
              <a:off x="1524000" y="4857750"/>
              <a:ext cx="161925" cy="209550"/>
            </a:xfrm>
            <a:custGeom>
              <a:avLst/>
              <a:gdLst>
                <a:gd name="csX0" fmla="*/ 38100 w 161925"/>
                <a:gd name="csY0" fmla="*/ 0 h 209550"/>
                <a:gd name="csX1" fmla="*/ 123825 w 161925"/>
                <a:gd name="csY1" fmla="*/ 0 h 209550"/>
                <a:gd name="csX2" fmla="*/ 161925 w 161925"/>
                <a:gd name="csY2" fmla="*/ 38100 h 209550"/>
                <a:gd name="csX3" fmla="*/ 161925 w 161925"/>
                <a:gd name="csY3" fmla="*/ 171450 h 209550"/>
                <a:gd name="csX4" fmla="*/ 123825 w 161925"/>
                <a:gd name="csY4" fmla="*/ 209550 h 209550"/>
                <a:gd name="csX5" fmla="*/ 38100 w 161925"/>
                <a:gd name="csY5" fmla="*/ 209550 h 209550"/>
                <a:gd name="csX6" fmla="*/ 0 w 161925"/>
                <a:gd name="csY6" fmla="*/ 171450 h 209550"/>
                <a:gd name="csX7" fmla="*/ 0 w 161925"/>
                <a:gd name="csY7" fmla="*/ 38100 h 209550"/>
                <a:gd name="csX8" fmla="*/ 38100 w 16192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1925" h="209550">
                  <a:moveTo>
                    <a:pt x="38100" y="0"/>
                  </a:moveTo>
                  <a:lnTo>
                    <a:pt x="123825" y="0"/>
                  </a:lnTo>
                  <a:cubicBezTo>
                    <a:pt x="144867" y="0"/>
                    <a:pt x="161925" y="17058"/>
                    <a:pt x="161925" y="38100"/>
                  </a:cubicBezTo>
                  <a:lnTo>
                    <a:pt x="161925" y="171450"/>
                  </a:lnTo>
                  <a:cubicBezTo>
                    <a:pt x="161925" y="192492"/>
                    <a:pt x="144867" y="209550"/>
                    <a:pt x="123825" y="209550"/>
                  </a:cubicBezTo>
                  <a:lnTo>
                    <a:pt x="38100" y="209550"/>
                  </a:lnTo>
                  <a:cubicBezTo>
                    <a:pt x="17058" y="209550"/>
                    <a:pt x="0" y="192492"/>
                    <a:pt x="0" y="171450"/>
                  </a:cubicBezTo>
                  <a:lnTo>
                    <a:pt x="0" y="38100"/>
                  </a:lnTo>
                  <a:cubicBezTo>
                    <a:pt x="0" y="17058"/>
                    <a:pt x="17058" y="0"/>
                    <a:pt x="38100" y="0"/>
                  </a:cubicBezTo>
                  <a:close/>
                </a:path>
              </a:pathLst>
            </a:custGeom>
            <a:solidFill>
              <a:srgbClr val="94A3B8"/>
            </a:solidFill>
            <a:ln w="9525" cap="flat">
              <a:noFill/>
              <a:prstDash val="solid"/>
              <a:miter/>
            </a:ln>
          </p:spPr>
          <p:txBody>
            <a:bodyPr/>
            <a:lstStyle/>
            <a:p>
              <a:endParaRPr lang="zh-CN" altLang="en-US"/>
            </a:p>
          </p:txBody>
        </p:sp>
        <p:sp>
          <p:nvSpPr>
            <p:cNvPr id="60" name="文本框 59">
              <a:extLst>
                <a:ext uri="{FF2B5EF4-FFF2-40B4-BE49-F238E27FC236}">
                  <a16:creationId xmlns:a16="http://schemas.microsoft.com/office/drawing/2014/main" id="{1E1BA92B-0427-EE07-3B8D-7B295D5A1C87}"/>
                </a:ext>
              </a:extLst>
            </p:cNvPr>
            <p:cNvSpPr txBox="1"/>
            <p:nvPr/>
          </p:nvSpPr>
          <p:spPr>
            <a:xfrm>
              <a:off x="1718310" y="4853566"/>
              <a:ext cx="86494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3.90% | 226亿</a:t>
              </a:r>
            </a:p>
          </p:txBody>
        </p:sp>
      </p:grpSp>
      <p:grpSp>
        <p:nvGrpSpPr>
          <p:cNvPr id="61" name="SVG Image 12">
            <a:extLst>
              <a:ext uri="{FF2B5EF4-FFF2-40B4-BE49-F238E27FC236}">
                <a16:creationId xmlns:a16="http://schemas.microsoft.com/office/drawing/2014/main" id="{51BDF783-540A-F229-DB43-B64144CA48CC}"/>
              </a:ext>
            </a:extLst>
          </p:cNvPr>
          <p:cNvGrpSpPr/>
          <p:nvPr/>
        </p:nvGrpSpPr>
        <p:grpSpPr>
          <a:xfrm>
            <a:off x="4381500" y="2381250"/>
            <a:ext cx="7239000" cy="2952750"/>
            <a:chOff x="4381500" y="2381250"/>
            <a:chExt cx="7239000" cy="2952750"/>
          </a:xfrm>
        </p:grpSpPr>
        <p:sp>
          <p:nvSpPr>
            <p:cNvPr id="62" name="任意形状 61">
              <a:extLst>
                <a:ext uri="{FF2B5EF4-FFF2-40B4-BE49-F238E27FC236}">
                  <a16:creationId xmlns:a16="http://schemas.microsoft.com/office/drawing/2014/main" id="{0A308439-2D12-1936-A701-56307F6A8EB7}"/>
                </a:ext>
              </a:extLst>
            </p:cNvPr>
            <p:cNvSpPr/>
            <p:nvPr/>
          </p:nvSpPr>
          <p:spPr>
            <a:xfrm>
              <a:off x="4381500" y="2381250"/>
              <a:ext cx="7239000" cy="2952750"/>
            </a:xfrm>
            <a:custGeom>
              <a:avLst/>
              <a:gdLst>
                <a:gd name="csX0" fmla="*/ 76200 w 7239000"/>
                <a:gd name="csY0" fmla="*/ 0 h 2952750"/>
                <a:gd name="csX1" fmla="*/ 7162800 w 7239000"/>
                <a:gd name="csY1" fmla="*/ 0 h 2952750"/>
                <a:gd name="csX2" fmla="*/ 7239000 w 7239000"/>
                <a:gd name="csY2" fmla="*/ 76200 h 2952750"/>
                <a:gd name="csX3" fmla="*/ 7239000 w 7239000"/>
                <a:gd name="csY3" fmla="*/ 2876550 h 2952750"/>
                <a:gd name="csX4" fmla="*/ 7162800 w 7239000"/>
                <a:gd name="csY4" fmla="*/ 2952750 h 2952750"/>
                <a:gd name="csX5" fmla="*/ 76200 w 7239000"/>
                <a:gd name="csY5" fmla="*/ 2952750 h 2952750"/>
                <a:gd name="csX6" fmla="*/ 0 w 7239000"/>
                <a:gd name="csY6" fmla="*/ 2876550 h 2952750"/>
                <a:gd name="csX7" fmla="*/ 0 w 7239000"/>
                <a:gd name="csY7" fmla="*/ 76200 h 2952750"/>
                <a:gd name="csX8" fmla="*/ 76200 w 7239000"/>
                <a:gd name="csY8" fmla="*/ 0 h 295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239000" h="2952750">
                  <a:moveTo>
                    <a:pt x="76200" y="0"/>
                  </a:moveTo>
                  <a:lnTo>
                    <a:pt x="7162800" y="0"/>
                  </a:lnTo>
                  <a:cubicBezTo>
                    <a:pt x="7204885" y="0"/>
                    <a:pt x="7239000" y="34116"/>
                    <a:pt x="7239000" y="76200"/>
                  </a:cubicBezTo>
                  <a:lnTo>
                    <a:pt x="7239000" y="2876550"/>
                  </a:lnTo>
                  <a:cubicBezTo>
                    <a:pt x="7239000" y="2918634"/>
                    <a:pt x="7204885" y="2952750"/>
                    <a:pt x="7162800" y="2952750"/>
                  </a:cubicBezTo>
                  <a:lnTo>
                    <a:pt x="76200" y="2952750"/>
                  </a:lnTo>
                  <a:cubicBezTo>
                    <a:pt x="34116" y="2952750"/>
                    <a:pt x="0" y="2918634"/>
                    <a:pt x="0" y="2876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63" name="文本框 62">
              <a:extLst>
                <a:ext uri="{FF2B5EF4-FFF2-40B4-BE49-F238E27FC236}">
                  <a16:creationId xmlns:a16="http://schemas.microsoft.com/office/drawing/2014/main" id="{22D7A67D-D40A-50A7-7F54-CD37F9F8798C}"/>
                </a:ext>
              </a:extLst>
            </p:cNvPr>
            <p:cNvSpPr txBox="1"/>
            <p:nvPr/>
          </p:nvSpPr>
          <p:spPr>
            <a:xfrm>
              <a:off x="4575810" y="2507649"/>
              <a:ext cx="2677685"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城投债净融资趋势（2015-2024年）</a:t>
              </a:r>
            </a:p>
          </p:txBody>
        </p:sp>
        <p:sp>
          <p:nvSpPr>
            <p:cNvPr id="64" name="任意形状 63">
              <a:extLst>
                <a:ext uri="{FF2B5EF4-FFF2-40B4-BE49-F238E27FC236}">
                  <a16:creationId xmlns:a16="http://schemas.microsoft.com/office/drawing/2014/main" id="{2D8C820D-43F6-F6F6-98E0-68C04BC21A2D}"/>
                </a:ext>
              </a:extLst>
            </p:cNvPr>
            <p:cNvSpPr/>
            <p:nvPr/>
          </p:nvSpPr>
          <p:spPr>
            <a:xfrm>
              <a:off x="4667250" y="2905125"/>
              <a:ext cx="6667500" cy="266700"/>
            </a:xfrm>
            <a:custGeom>
              <a:avLst/>
              <a:gdLst>
                <a:gd name="csX0" fmla="*/ 38100 w 6667500"/>
                <a:gd name="csY0" fmla="*/ 0 h 266700"/>
                <a:gd name="csX1" fmla="*/ 6629400 w 6667500"/>
                <a:gd name="csY1" fmla="*/ 0 h 266700"/>
                <a:gd name="csX2" fmla="*/ 6667500 w 6667500"/>
                <a:gd name="csY2" fmla="*/ 38100 h 266700"/>
                <a:gd name="csX3" fmla="*/ 6667500 w 6667500"/>
                <a:gd name="csY3" fmla="*/ 228600 h 266700"/>
                <a:gd name="csX4" fmla="*/ 6629400 w 6667500"/>
                <a:gd name="csY4" fmla="*/ 266700 h 266700"/>
                <a:gd name="csX5" fmla="*/ 38100 w 6667500"/>
                <a:gd name="csY5" fmla="*/ 266700 h 266700"/>
                <a:gd name="csX6" fmla="*/ 0 w 6667500"/>
                <a:gd name="csY6" fmla="*/ 228600 h 266700"/>
                <a:gd name="csX7" fmla="*/ 0 w 6667500"/>
                <a:gd name="csY7" fmla="*/ 38100 h 266700"/>
                <a:gd name="csX8" fmla="*/ 38100 w 6667500"/>
                <a:gd name="csY8" fmla="*/ 0 h 266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67500" h="266700">
                  <a:moveTo>
                    <a:pt x="38100" y="0"/>
                  </a:moveTo>
                  <a:lnTo>
                    <a:pt x="6629400" y="0"/>
                  </a:lnTo>
                  <a:cubicBezTo>
                    <a:pt x="6650442" y="0"/>
                    <a:pt x="6667500" y="17058"/>
                    <a:pt x="6667500" y="38100"/>
                  </a:cubicBezTo>
                  <a:lnTo>
                    <a:pt x="6667500" y="228600"/>
                  </a:lnTo>
                  <a:cubicBezTo>
                    <a:pt x="6667500" y="249642"/>
                    <a:pt x="6650442" y="266700"/>
                    <a:pt x="6629400" y="266700"/>
                  </a:cubicBezTo>
                  <a:lnTo>
                    <a:pt x="38100" y="266700"/>
                  </a:lnTo>
                  <a:cubicBezTo>
                    <a:pt x="17058" y="266700"/>
                    <a:pt x="0" y="249642"/>
                    <a:pt x="0" y="2286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65" name="文本框 64">
              <a:extLst>
                <a:ext uri="{FF2B5EF4-FFF2-40B4-BE49-F238E27FC236}">
                  <a16:creationId xmlns:a16="http://schemas.microsoft.com/office/drawing/2014/main" id="{E7D46430-B293-5A98-9611-275DD56459F9}"/>
                </a:ext>
              </a:extLst>
            </p:cNvPr>
            <p:cNvSpPr txBox="1"/>
            <p:nvPr/>
          </p:nvSpPr>
          <p:spPr>
            <a:xfrm>
              <a:off x="4947285" y="2939041"/>
              <a:ext cx="3924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年份</a:t>
              </a:r>
            </a:p>
          </p:txBody>
        </p:sp>
        <p:sp>
          <p:nvSpPr>
            <p:cNvPr id="66" name="文本框 65">
              <a:extLst>
                <a:ext uri="{FF2B5EF4-FFF2-40B4-BE49-F238E27FC236}">
                  <a16:creationId xmlns:a16="http://schemas.microsoft.com/office/drawing/2014/main" id="{0D07361C-81B0-13A6-8213-3CCB928C55B1}"/>
                </a:ext>
              </a:extLst>
            </p:cNvPr>
            <p:cNvSpPr txBox="1"/>
            <p:nvPr/>
          </p:nvSpPr>
          <p:spPr>
            <a:xfrm>
              <a:off x="5944684" y="2939041"/>
              <a:ext cx="6836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净融资(亿)</a:t>
              </a:r>
            </a:p>
          </p:txBody>
        </p:sp>
        <p:sp>
          <p:nvSpPr>
            <p:cNvPr id="67" name="文本框 66">
              <a:extLst>
                <a:ext uri="{FF2B5EF4-FFF2-40B4-BE49-F238E27FC236}">
                  <a16:creationId xmlns:a16="http://schemas.microsoft.com/office/drawing/2014/main" id="{731C3DA1-3CFE-ADD6-E561-8C696E39BEFA}"/>
                </a:ext>
              </a:extLst>
            </p:cNvPr>
            <p:cNvSpPr txBox="1"/>
            <p:nvPr/>
          </p:nvSpPr>
          <p:spPr>
            <a:xfrm>
              <a:off x="7278184" y="2939041"/>
              <a:ext cx="6836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发行量(亿)</a:t>
              </a:r>
            </a:p>
          </p:txBody>
        </p:sp>
        <p:sp>
          <p:nvSpPr>
            <p:cNvPr id="68" name="文本框 67">
              <a:extLst>
                <a:ext uri="{FF2B5EF4-FFF2-40B4-BE49-F238E27FC236}">
                  <a16:creationId xmlns:a16="http://schemas.microsoft.com/office/drawing/2014/main" id="{623AE0B7-DA58-9713-42C3-FBAAEEBDF2E8}"/>
                </a:ext>
              </a:extLst>
            </p:cNvPr>
            <p:cNvSpPr txBox="1"/>
            <p:nvPr/>
          </p:nvSpPr>
          <p:spPr>
            <a:xfrm>
              <a:off x="8611684" y="2939041"/>
              <a:ext cx="6836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偿还量(亿)</a:t>
              </a:r>
            </a:p>
          </p:txBody>
        </p:sp>
        <p:sp>
          <p:nvSpPr>
            <p:cNvPr id="69" name="文本框 68">
              <a:extLst>
                <a:ext uri="{FF2B5EF4-FFF2-40B4-BE49-F238E27FC236}">
                  <a16:creationId xmlns:a16="http://schemas.microsoft.com/office/drawing/2014/main" id="{A06E99CC-F1BB-0C79-2462-45EB1521B26F}"/>
                </a:ext>
              </a:extLst>
            </p:cNvPr>
            <p:cNvSpPr txBox="1"/>
            <p:nvPr/>
          </p:nvSpPr>
          <p:spPr>
            <a:xfrm>
              <a:off x="10090785" y="2939041"/>
              <a:ext cx="3924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趋势</a:t>
              </a:r>
            </a:p>
          </p:txBody>
        </p:sp>
        <p:sp>
          <p:nvSpPr>
            <p:cNvPr id="70" name="矩形 69">
              <a:extLst>
                <a:ext uri="{FF2B5EF4-FFF2-40B4-BE49-F238E27FC236}">
                  <a16:creationId xmlns:a16="http://schemas.microsoft.com/office/drawing/2014/main" id="{1A900BBB-0F16-BE71-51D1-59708CBAEE8E}"/>
                </a:ext>
              </a:extLst>
            </p:cNvPr>
            <p:cNvSpPr/>
            <p:nvPr/>
          </p:nvSpPr>
          <p:spPr>
            <a:xfrm>
              <a:off x="4667250" y="3171825"/>
              <a:ext cx="6667500" cy="247650"/>
            </a:xfrm>
            <a:prstGeom prst="rect">
              <a:avLst/>
            </a:prstGeom>
            <a:solidFill>
              <a:srgbClr val="FEF3C7"/>
            </a:solidFill>
            <a:ln w="9525" cap="flat">
              <a:noFill/>
              <a:prstDash val="solid"/>
              <a:miter/>
            </a:ln>
          </p:spPr>
          <p:txBody>
            <a:bodyPr/>
            <a:lstStyle/>
            <a:p>
              <a:endParaRPr lang="zh-CN" altLang="en-US"/>
            </a:p>
          </p:txBody>
        </p:sp>
        <p:sp>
          <p:nvSpPr>
            <p:cNvPr id="71" name="文本框 70">
              <a:extLst>
                <a:ext uri="{FF2B5EF4-FFF2-40B4-BE49-F238E27FC236}">
                  <a16:creationId xmlns:a16="http://schemas.microsoft.com/office/drawing/2014/main" id="{B8CBB53E-C3E6-3735-8EE1-3DA6901CF99B}"/>
                </a:ext>
              </a:extLst>
            </p:cNvPr>
            <p:cNvSpPr txBox="1"/>
            <p:nvPr/>
          </p:nvSpPr>
          <p:spPr>
            <a:xfrm>
              <a:off x="4922830" y="3186691"/>
              <a:ext cx="441338"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2024</a:t>
              </a:r>
            </a:p>
          </p:txBody>
        </p:sp>
        <p:sp>
          <p:nvSpPr>
            <p:cNvPr id="72" name="文本框 71">
              <a:extLst>
                <a:ext uri="{FF2B5EF4-FFF2-40B4-BE49-F238E27FC236}">
                  <a16:creationId xmlns:a16="http://schemas.microsoft.com/office/drawing/2014/main" id="{FCD0A7C3-F579-D640-1AC4-04B92C3D436F}"/>
                </a:ext>
              </a:extLst>
            </p:cNvPr>
            <p:cNvSpPr txBox="1"/>
            <p:nvPr/>
          </p:nvSpPr>
          <p:spPr>
            <a:xfrm>
              <a:off x="5995690" y="3186691"/>
              <a:ext cx="581618" cy="229724"/>
            </a:xfrm>
            <a:prstGeom prst="rect">
              <a:avLst/>
            </a:prstGeom>
            <a:noFill/>
          </p:spPr>
          <p:txBody>
            <a:bodyPr wrap="none" rtlCol="0">
              <a:spAutoFit/>
            </a:bodyPr>
            <a:lstStyle/>
            <a:p>
              <a:pPr algn="l"/>
              <a:r>
                <a:rPr lang="zh-CN" altLang="en-US" sz="825" b="1" spc="0" baseline="0">
                  <a:ln/>
                  <a:solidFill>
                    <a:srgbClr val="E63946"/>
                  </a:solidFill>
                  <a:latin typeface="微软雅黑"/>
                  <a:ea typeface="微软雅黑"/>
                  <a:sym typeface="微软雅黑"/>
                  <a:rtl val="0"/>
                </a:rPr>
                <a:t>-187.15</a:t>
              </a:r>
            </a:p>
          </p:txBody>
        </p:sp>
        <p:sp>
          <p:nvSpPr>
            <p:cNvPr id="73" name="文本框 72">
              <a:extLst>
                <a:ext uri="{FF2B5EF4-FFF2-40B4-BE49-F238E27FC236}">
                  <a16:creationId xmlns:a16="http://schemas.microsoft.com/office/drawing/2014/main" id="{6F16408A-F4F2-356F-4858-7FDDDCE11734}"/>
                </a:ext>
              </a:extLst>
            </p:cNvPr>
            <p:cNvSpPr txBox="1"/>
            <p:nvPr/>
          </p:nvSpPr>
          <p:spPr>
            <a:xfrm>
              <a:off x="7319010" y="318669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2,121.47</a:t>
              </a:r>
            </a:p>
          </p:txBody>
        </p:sp>
        <p:sp>
          <p:nvSpPr>
            <p:cNvPr id="74" name="文本框 73">
              <a:extLst>
                <a:ext uri="{FF2B5EF4-FFF2-40B4-BE49-F238E27FC236}">
                  <a16:creationId xmlns:a16="http://schemas.microsoft.com/office/drawing/2014/main" id="{CA26D104-0FCD-DFD9-3C8A-4A10AF22A434}"/>
                </a:ext>
              </a:extLst>
            </p:cNvPr>
            <p:cNvSpPr txBox="1"/>
            <p:nvPr/>
          </p:nvSpPr>
          <p:spPr>
            <a:xfrm>
              <a:off x="8652510" y="318669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2,308.62</a:t>
              </a:r>
            </a:p>
          </p:txBody>
        </p:sp>
        <p:sp>
          <p:nvSpPr>
            <p:cNvPr id="75" name="文本框 74">
              <a:extLst>
                <a:ext uri="{FF2B5EF4-FFF2-40B4-BE49-F238E27FC236}">
                  <a16:creationId xmlns:a16="http://schemas.microsoft.com/office/drawing/2014/main" id="{80E05D44-A8AB-7445-AB4C-14471FA33FCC}"/>
                </a:ext>
              </a:extLst>
            </p:cNvPr>
            <p:cNvSpPr txBox="1"/>
            <p:nvPr/>
          </p:nvSpPr>
          <p:spPr>
            <a:xfrm>
              <a:off x="9866270" y="3186691"/>
              <a:ext cx="841458" cy="229724"/>
            </a:xfrm>
            <a:prstGeom prst="rect">
              <a:avLst/>
            </a:prstGeom>
            <a:noFill/>
          </p:spPr>
          <p:txBody>
            <a:bodyPr wrap="none" rtlCol="0">
              <a:spAutoFit/>
            </a:bodyPr>
            <a:lstStyle/>
            <a:p>
              <a:pPr algn="l"/>
              <a:r>
                <a:rPr lang="zh-CN" altLang="en-US" sz="825" spc="0" baseline="0">
                  <a:ln/>
                  <a:solidFill>
                    <a:srgbClr val="E63946"/>
                  </a:solidFill>
                  <a:latin typeface="微软雅黑"/>
                  <a:ea typeface="微软雅黑"/>
                  <a:sym typeface="微软雅黑"/>
                  <a:rtl val="0"/>
                </a:rPr>
                <a:t>▼ 首次净流出</a:t>
              </a:r>
            </a:p>
          </p:txBody>
        </p:sp>
        <p:sp>
          <p:nvSpPr>
            <p:cNvPr id="76" name="矩形 75">
              <a:extLst>
                <a:ext uri="{FF2B5EF4-FFF2-40B4-BE49-F238E27FC236}">
                  <a16:creationId xmlns:a16="http://schemas.microsoft.com/office/drawing/2014/main" id="{59812024-8257-4EB5-C4A1-860B84C08D27}"/>
                </a:ext>
              </a:extLst>
            </p:cNvPr>
            <p:cNvSpPr/>
            <p:nvPr/>
          </p:nvSpPr>
          <p:spPr>
            <a:xfrm>
              <a:off x="4667250" y="3419475"/>
              <a:ext cx="6667500" cy="247650"/>
            </a:xfrm>
            <a:prstGeom prst="rect">
              <a:avLst/>
            </a:prstGeom>
            <a:solidFill>
              <a:srgbClr val="FFFFFF"/>
            </a:solidFill>
            <a:ln w="9525" cap="flat">
              <a:noFill/>
              <a:prstDash val="solid"/>
              <a:miter/>
            </a:ln>
          </p:spPr>
          <p:txBody>
            <a:bodyPr/>
            <a:lstStyle/>
            <a:p>
              <a:endParaRPr lang="zh-CN" altLang="en-US"/>
            </a:p>
          </p:txBody>
        </p:sp>
        <p:sp>
          <p:nvSpPr>
            <p:cNvPr id="77" name="文本框 76">
              <a:extLst>
                <a:ext uri="{FF2B5EF4-FFF2-40B4-BE49-F238E27FC236}">
                  <a16:creationId xmlns:a16="http://schemas.microsoft.com/office/drawing/2014/main" id="{06C59251-7BAE-4FAE-1239-81917F350AC3}"/>
                </a:ext>
              </a:extLst>
            </p:cNvPr>
            <p:cNvSpPr txBox="1"/>
            <p:nvPr/>
          </p:nvSpPr>
          <p:spPr>
            <a:xfrm>
              <a:off x="4929174" y="3434341"/>
              <a:ext cx="428651"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2023</a:t>
              </a:r>
            </a:p>
          </p:txBody>
        </p:sp>
        <p:sp>
          <p:nvSpPr>
            <p:cNvPr id="78" name="文本框 77">
              <a:extLst>
                <a:ext uri="{FF2B5EF4-FFF2-40B4-BE49-F238E27FC236}">
                  <a16:creationId xmlns:a16="http://schemas.microsoft.com/office/drawing/2014/main" id="{9DC0D563-F096-3E86-46D3-20C90665CDF9}"/>
                </a:ext>
              </a:extLst>
            </p:cNvPr>
            <p:cNvSpPr txBox="1"/>
            <p:nvPr/>
          </p:nvSpPr>
          <p:spPr>
            <a:xfrm>
              <a:off x="6028842" y="3434341"/>
              <a:ext cx="515315"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668.93</a:t>
              </a:r>
            </a:p>
          </p:txBody>
        </p:sp>
        <p:sp>
          <p:nvSpPr>
            <p:cNvPr id="79" name="文本框 78">
              <a:extLst>
                <a:ext uri="{FF2B5EF4-FFF2-40B4-BE49-F238E27FC236}">
                  <a16:creationId xmlns:a16="http://schemas.microsoft.com/office/drawing/2014/main" id="{3C1CDFDC-73C0-A6BA-9F7F-3A1FDED5983B}"/>
                </a:ext>
              </a:extLst>
            </p:cNvPr>
            <p:cNvSpPr txBox="1"/>
            <p:nvPr/>
          </p:nvSpPr>
          <p:spPr>
            <a:xfrm>
              <a:off x="7319010" y="343434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2,174.44</a:t>
              </a:r>
            </a:p>
          </p:txBody>
        </p:sp>
        <p:sp>
          <p:nvSpPr>
            <p:cNvPr id="80" name="文本框 79">
              <a:extLst>
                <a:ext uri="{FF2B5EF4-FFF2-40B4-BE49-F238E27FC236}">
                  <a16:creationId xmlns:a16="http://schemas.microsoft.com/office/drawing/2014/main" id="{A41EB834-18FD-6DB2-733E-2772642ADD23}"/>
                </a:ext>
              </a:extLst>
            </p:cNvPr>
            <p:cNvSpPr txBox="1"/>
            <p:nvPr/>
          </p:nvSpPr>
          <p:spPr>
            <a:xfrm>
              <a:off x="8652510" y="343434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1,505.51</a:t>
              </a:r>
            </a:p>
          </p:txBody>
        </p:sp>
        <p:sp>
          <p:nvSpPr>
            <p:cNvPr id="81" name="文本框 80">
              <a:extLst>
                <a:ext uri="{FF2B5EF4-FFF2-40B4-BE49-F238E27FC236}">
                  <a16:creationId xmlns:a16="http://schemas.microsoft.com/office/drawing/2014/main" id="{825F0111-92CC-1421-EACA-88704212C495}"/>
                </a:ext>
              </a:extLst>
            </p:cNvPr>
            <p:cNvSpPr txBox="1"/>
            <p:nvPr/>
          </p:nvSpPr>
          <p:spPr>
            <a:xfrm>
              <a:off x="10172896" y="3434341"/>
              <a:ext cx="22820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a:t>
              </a:r>
            </a:p>
          </p:txBody>
        </p:sp>
        <p:sp>
          <p:nvSpPr>
            <p:cNvPr id="82" name="矩形 81">
              <a:extLst>
                <a:ext uri="{FF2B5EF4-FFF2-40B4-BE49-F238E27FC236}">
                  <a16:creationId xmlns:a16="http://schemas.microsoft.com/office/drawing/2014/main" id="{6040E1B5-9F04-19BA-7D5C-A24FED2986DD}"/>
                </a:ext>
              </a:extLst>
            </p:cNvPr>
            <p:cNvSpPr/>
            <p:nvPr/>
          </p:nvSpPr>
          <p:spPr>
            <a:xfrm>
              <a:off x="4667250" y="3667125"/>
              <a:ext cx="6667500" cy="247650"/>
            </a:xfrm>
            <a:prstGeom prst="rect">
              <a:avLst/>
            </a:prstGeom>
            <a:solidFill>
              <a:srgbClr val="EBF4FF"/>
            </a:solidFill>
            <a:ln w="9525" cap="flat">
              <a:noFill/>
              <a:prstDash val="solid"/>
              <a:miter/>
            </a:ln>
          </p:spPr>
          <p:txBody>
            <a:bodyPr/>
            <a:lstStyle/>
            <a:p>
              <a:endParaRPr lang="zh-CN" altLang="en-US"/>
            </a:p>
          </p:txBody>
        </p:sp>
        <p:sp>
          <p:nvSpPr>
            <p:cNvPr id="83" name="文本框 82">
              <a:extLst>
                <a:ext uri="{FF2B5EF4-FFF2-40B4-BE49-F238E27FC236}">
                  <a16:creationId xmlns:a16="http://schemas.microsoft.com/office/drawing/2014/main" id="{EA9EF179-AD18-4EA4-0A59-3DF938A9E04F}"/>
                </a:ext>
              </a:extLst>
            </p:cNvPr>
            <p:cNvSpPr txBox="1"/>
            <p:nvPr/>
          </p:nvSpPr>
          <p:spPr>
            <a:xfrm>
              <a:off x="4929174" y="3681991"/>
              <a:ext cx="428651"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2022</a:t>
              </a:r>
            </a:p>
          </p:txBody>
        </p:sp>
        <p:sp>
          <p:nvSpPr>
            <p:cNvPr id="84" name="文本框 83">
              <a:extLst>
                <a:ext uri="{FF2B5EF4-FFF2-40B4-BE49-F238E27FC236}">
                  <a16:creationId xmlns:a16="http://schemas.microsoft.com/office/drawing/2014/main" id="{419FD5C0-2B33-2218-9E88-3E0A5573C88E}"/>
                </a:ext>
              </a:extLst>
            </p:cNvPr>
            <p:cNvSpPr txBox="1"/>
            <p:nvPr/>
          </p:nvSpPr>
          <p:spPr>
            <a:xfrm>
              <a:off x="6028842" y="3681991"/>
              <a:ext cx="515315"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387.50</a:t>
              </a:r>
            </a:p>
          </p:txBody>
        </p:sp>
        <p:sp>
          <p:nvSpPr>
            <p:cNvPr id="85" name="文本框 84">
              <a:extLst>
                <a:ext uri="{FF2B5EF4-FFF2-40B4-BE49-F238E27FC236}">
                  <a16:creationId xmlns:a16="http://schemas.microsoft.com/office/drawing/2014/main" id="{A1E71656-216C-BA35-25AC-6982145952C0}"/>
                </a:ext>
              </a:extLst>
            </p:cNvPr>
            <p:cNvSpPr txBox="1"/>
            <p:nvPr/>
          </p:nvSpPr>
          <p:spPr>
            <a:xfrm>
              <a:off x="7319010" y="368199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1,703.58</a:t>
              </a:r>
            </a:p>
          </p:txBody>
        </p:sp>
        <p:sp>
          <p:nvSpPr>
            <p:cNvPr id="86" name="文本框 85">
              <a:extLst>
                <a:ext uri="{FF2B5EF4-FFF2-40B4-BE49-F238E27FC236}">
                  <a16:creationId xmlns:a16="http://schemas.microsoft.com/office/drawing/2014/main" id="{3473C778-FB15-EC28-B630-BF4F02B3540A}"/>
                </a:ext>
              </a:extLst>
            </p:cNvPr>
            <p:cNvSpPr txBox="1"/>
            <p:nvPr/>
          </p:nvSpPr>
          <p:spPr>
            <a:xfrm>
              <a:off x="8652510" y="368199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1,316.07</a:t>
              </a:r>
            </a:p>
          </p:txBody>
        </p:sp>
        <p:sp>
          <p:nvSpPr>
            <p:cNvPr id="87" name="文本框 86">
              <a:extLst>
                <a:ext uri="{FF2B5EF4-FFF2-40B4-BE49-F238E27FC236}">
                  <a16:creationId xmlns:a16="http://schemas.microsoft.com/office/drawing/2014/main" id="{8C48B167-9ABA-4BE2-12D3-9CBD516D8FDE}"/>
                </a:ext>
              </a:extLst>
            </p:cNvPr>
            <p:cNvSpPr txBox="1"/>
            <p:nvPr/>
          </p:nvSpPr>
          <p:spPr>
            <a:xfrm>
              <a:off x="10172896" y="3681991"/>
              <a:ext cx="22820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a:t>
              </a:r>
            </a:p>
          </p:txBody>
        </p:sp>
        <p:sp>
          <p:nvSpPr>
            <p:cNvPr id="88" name="矩形 87">
              <a:extLst>
                <a:ext uri="{FF2B5EF4-FFF2-40B4-BE49-F238E27FC236}">
                  <a16:creationId xmlns:a16="http://schemas.microsoft.com/office/drawing/2014/main" id="{B6DD355A-CD48-AD36-41EF-D1E276E53D8C}"/>
                </a:ext>
              </a:extLst>
            </p:cNvPr>
            <p:cNvSpPr/>
            <p:nvPr/>
          </p:nvSpPr>
          <p:spPr>
            <a:xfrm>
              <a:off x="4667250" y="3914775"/>
              <a:ext cx="6667500" cy="247650"/>
            </a:xfrm>
            <a:prstGeom prst="rect">
              <a:avLst/>
            </a:prstGeom>
            <a:solidFill>
              <a:srgbClr val="FFFFFF"/>
            </a:solidFill>
            <a:ln w="9525" cap="flat">
              <a:noFill/>
              <a:prstDash val="solid"/>
              <a:miter/>
            </a:ln>
          </p:spPr>
          <p:txBody>
            <a:bodyPr/>
            <a:lstStyle/>
            <a:p>
              <a:endParaRPr lang="zh-CN" altLang="en-US"/>
            </a:p>
          </p:txBody>
        </p:sp>
        <p:sp>
          <p:nvSpPr>
            <p:cNvPr id="89" name="文本框 88">
              <a:extLst>
                <a:ext uri="{FF2B5EF4-FFF2-40B4-BE49-F238E27FC236}">
                  <a16:creationId xmlns:a16="http://schemas.microsoft.com/office/drawing/2014/main" id="{68FFD1AF-03D9-1069-E492-94A39B369DF9}"/>
                </a:ext>
              </a:extLst>
            </p:cNvPr>
            <p:cNvSpPr txBox="1"/>
            <p:nvPr/>
          </p:nvSpPr>
          <p:spPr>
            <a:xfrm>
              <a:off x="4929174" y="3929641"/>
              <a:ext cx="428651"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2021</a:t>
              </a:r>
            </a:p>
          </p:txBody>
        </p:sp>
        <p:sp>
          <p:nvSpPr>
            <p:cNvPr id="90" name="文本框 89">
              <a:extLst>
                <a:ext uri="{FF2B5EF4-FFF2-40B4-BE49-F238E27FC236}">
                  <a16:creationId xmlns:a16="http://schemas.microsoft.com/office/drawing/2014/main" id="{59B53149-11AE-8553-1D4E-EA1131E5F98E}"/>
                </a:ext>
              </a:extLst>
            </p:cNvPr>
            <p:cNvSpPr txBox="1"/>
            <p:nvPr/>
          </p:nvSpPr>
          <p:spPr>
            <a:xfrm>
              <a:off x="6018559" y="3929641"/>
              <a:ext cx="535881" cy="229724"/>
            </a:xfrm>
            <a:prstGeom prst="rect">
              <a:avLst/>
            </a:prstGeom>
            <a:noFill/>
          </p:spPr>
          <p:txBody>
            <a:bodyPr wrap="none" rtlCol="0">
              <a:spAutoFit/>
            </a:bodyPr>
            <a:lstStyle/>
            <a:p>
              <a:pPr algn="l"/>
              <a:r>
                <a:rPr lang="zh-CN" altLang="en-US" sz="825" b="1" spc="0" baseline="0">
                  <a:ln/>
                  <a:solidFill>
                    <a:srgbClr val="2ECC71"/>
                  </a:solidFill>
                  <a:latin typeface="微软雅黑"/>
                  <a:ea typeface="微软雅黑"/>
                  <a:sym typeface="微软雅黑"/>
                  <a:rtl val="0"/>
                </a:rPr>
                <a:t>824.58</a:t>
              </a:r>
            </a:p>
          </p:txBody>
        </p:sp>
        <p:sp>
          <p:nvSpPr>
            <p:cNvPr id="91" name="文本框 90">
              <a:extLst>
                <a:ext uri="{FF2B5EF4-FFF2-40B4-BE49-F238E27FC236}">
                  <a16:creationId xmlns:a16="http://schemas.microsoft.com/office/drawing/2014/main" id="{7AC0B4A1-3C14-D557-65B0-439D7E409C58}"/>
                </a:ext>
              </a:extLst>
            </p:cNvPr>
            <p:cNvSpPr txBox="1"/>
            <p:nvPr/>
          </p:nvSpPr>
          <p:spPr>
            <a:xfrm>
              <a:off x="7319010" y="392964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2,103.33</a:t>
              </a:r>
            </a:p>
          </p:txBody>
        </p:sp>
        <p:sp>
          <p:nvSpPr>
            <p:cNvPr id="92" name="文本框 91">
              <a:extLst>
                <a:ext uri="{FF2B5EF4-FFF2-40B4-BE49-F238E27FC236}">
                  <a16:creationId xmlns:a16="http://schemas.microsoft.com/office/drawing/2014/main" id="{D0399853-FD37-D53E-D2EE-58CA424D6185}"/>
                </a:ext>
              </a:extLst>
            </p:cNvPr>
            <p:cNvSpPr txBox="1"/>
            <p:nvPr/>
          </p:nvSpPr>
          <p:spPr>
            <a:xfrm>
              <a:off x="8652510" y="392964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1,278.75</a:t>
              </a:r>
            </a:p>
          </p:txBody>
        </p:sp>
        <p:sp>
          <p:nvSpPr>
            <p:cNvPr id="93" name="文本框 92">
              <a:extLst>
                <a:ext uri="{FF2B5EF4-FFF2-40B4-BE49-F238E27FC236}">
                  <a16:creationId xmlns:a16="http://schemas.microsoft.com/office/drawing/2014/main" id="{376EBA2C-7640-3EE8-42A5-302F24061EF3}"/>
                </a:ext>
              </a:extLst>
            </p:cNvPr>
            <p:cNvSpPr txBox="1"/>
            <p:nvPr/>
          </p:nvSpPr>
          <p:spPr>
            <a:xfrm>
              <a:off x="9971045" y="3929641"/>
              <a:ext cx="631908"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 峰值年</a:t>
              </a:r>
            </a:p>
          </p:txBody>
        </p:sp>
        <p:sp>
          <p:nvSpPr>
            <p:cNvPr id="94" name="矩形 93">
              <a:extLst>
                <a:ext uri="{FF2B5EF4-FFF2-40B4-BE49-F238E27FC236}">
                  <a16:creationId xmlns:a16="http://schemas.microsoft.com/office/drawing/2014/main" id="{73B8E944-F31F-6AE7-365C-1AAC8DB080C8}"/>
                </a:ext>
              </a:extLst>
            </p:cNvPr>
            <p:cNvSpPr/>
            <p:nvPr/>
          </p:nvSpPr>
          <p:spPr>
            <a:xfrm>
              <a:off x="4667250" y="4162425"/>
              <a:ext cx="6667500" cy="247650"/>
            </a:xfrm>
            <a:prstGeom prst="rect">
              <a:avLst/>
            </a:prstGeom>
            <a:solidFill>
              <a:srgbClr val="EBF4FF"/>
            </a:solidFill>
            <a:ln w="9525" cap="flat">
              <a:noFill/>
              <a:prstDash val="solid"/>
              <a:miter/>
            </a:ln>
          </p:spPr>
          <p:txBody>
            <a:bodyPr/>
            <a:lstStyle/>
            <a:p>
              <a:endParaRPr lang="zh-CN" altLang="en-US"/>
            </a:p>
          </p:txBody>
        </p:sp>
        <p:sp>
          <p:nvSpPr>
            <p:cNvPr id="95" name="文本框 94">
              <a:extLst>
                <a:ext uri="{FF2B5EF4-FFF2-40B4-BE49-F238E27FC236}">
                  <a16:creationId xmlns:a16="http://schemas.microsoft.com/office/drawing/2014/main" id="{37344CE4-9D33-2EC4-E6FA-1B92DAA17278}"/>
                </a:ext>
              </a:extLst>
            </p:cNvPr>
            <p:cNvSpPr txBox="1"/>
            <p:nvPr/>
          </p:nvSpPr>
          <p:spPr>
            <a:xfrm>
              <a:off x="4929174" y="4177291"/>
              <a:ext cx="428651"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2020</a:t>
              </a:r>
            </a:p>
          </p:txBody>
        </p:sp>
        <p:sp>
          <p:nvSpPr>
            <p:cNvPr id="96" name="文本框 95">
              <a:extLst>
                <a:ext uri="{FF2B5EF4-FFF2-40B4-BE49-F238E27FC236}">
                  <a16:creationId xmlns:a16="http://schemas.microsoft.com/office/drawing/2014/main" id="{22CB12A9-E010-1185-CC86-8AC00628CE3B}"/>
                </a:ext>
              </a:extLst>
            </p:cNvPr>
            <p:cNvSpPr txBox="1"/>
            <p:nvPr/>
          </p:nvSpPr>
          <p:spPr>
            <a:xfrm>
              <a:off x="6028842" y="4177291"/>
              <a:ext cx="515315"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748.25</a:t>
              </a:r>
            </a:p>
          </p:txBody>
        </p:sp>
        <p:sp>
          <p:nvSpPr>
            <p:cNvPr id="97" name="文本框 96">
              <a:extLst>
                <a:ext uri="{FF2B5EF4-FFF2-40B4-BE49-F238E27FC236}">
                  <a16:creationId xmlns:a16="http://schemas.microsoft.com/office/drawing/2014/main" id="{D3AD456E-35F1-4EB9-AD61-DB92C0BDF4BE}"/>
                </a:ext>
              </a:extLst>
            </p:cNvPr>
            <p:cNvSpPr txBox="1"/>
            <p:nvPr/>
          </p:nvSpPr>
          <p:spPr>
            <a:xfrm>
              <a:off x="7319010" y="417729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1,578.29</a:t>
              </a:r>
            </a:p>
          </p:txBody>
        </p:sp>
        <p:sp>
          <p:nvSpPr>
            <p:cNvPr id="98" name="文本框 97">
              <a:extLst>
                <a:ext uri="{FF2B5EF4-FFF2-40B4-BE49-F238E27FC236}">
                  <a16:creationId xmlns:a16="http://schemas.microsoft.com/office/drawing/2014/main" id="{987E334B-98E2-2C86-71D7-19BD4D2CBA2F}"/>
                </a:ext>
              </a:extLst>
            </p:cNvPr>
            <p:cNvSpPr txBox="1"/>
            <p:nvPr/>
          </p:nvSpPr>
          <p:spPr>
            <a:xfrm>
              <a:off x="8695842" y="4177291"/>
              <a:ext cx="51531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830.04</a:t>
              </a:r>
            </a:p>
          </p:txBody>
        </p:sp>
        <p:sp>
          <p:nvSpPr>
            <p:cNvPr id="99" name="文本框 98">
              <a:extLst>
                <a:ext uri="{FF2B5EF4-FFF2-40B4-BE49-F238E27FC236}">
                  <a16:creationId xmlns:a16="http://schemas.microsoft.com/office/drawing/2014/main" id="{F356FA98-0955-4B2D-308C-C3F6B06ACC5F}"/>
                </a:ext>
              </a:extLst>
            </p:cNvPr>
            <p:cNvSpPr txBox="1"/>
            <p:nvPr/>
          </p:nvSpPr>
          <p:spPr>
            <a:xfrm>
              <a:off x="10172896" y="4177291"/>
              <a:ext cx="22820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a:t>
              </a:r>
            </a:p>
          </p:txBody>
        </p:sp>
        <p:sp>
          <p:nvSpPr>
            <p:cNvPr id="100" name="矩形 99">
              <a:extLst>
                <a:ext uri="{FF2B5EF4-FFF2-40B4-BE49-F238E27FC236}">
                  <a16:creationId xmlns:a16="http://schemas.microsoft.com/office/drawing/2014/main" id="{85F4DEB9-B27F-EB53-2D8F-64E9CA5BCBEA}"/>
                </a:ext>
              </a:extLst>
            </p:cNvPr>
            <p:cNvSpPr/>
            <p:nvPr/>
          </p:nvSpPr>
          <p:spPr>
            <a:xfrm>
              <a:off x="4667250" y="4410075"/>
              <a:ext cx="6667500" cy="247650"/>
            </a:xfrm>
            <a:prstGeom prst="rect">
              <a:avLst/>
            </a:prstGeom>
            <a:solidFill>
              <a:srgbClr val="FFFFFF"/>
            </a:solidFill>
            <a:ln w="9525" cap="flat">
              <a:noFill/>
              <a:prstDash val="solid"/>
              <a:miter/>
            </a:ln>
          </p:spPr>
          <p:txBody>
            <a:bodyPr/>
            <a:lstStyle/>
            <a:p>
              <a:endParaRPr lang="zh-CN" altLang="en-US"/>
            </a:p>
          </p:txBody>
        </p:sp>
        <p:sp>
          <p:nvSpPr>
            <p:cNvPr id="101" name="文本框 100">
              <a:extLst>
                <a:ext uri="{FF2B5EF4-FFF2-40B4-BE49-F238E27FC236}">
                  <a16:creationId xmlns:a16="http://schemas.microsoft.com/office/drawing/2014/main" id="{311C10EA-6167-A7A3-BBBD-8F28F4F15359}"/>
                </a:ext>
              </a:extLst>
            </p:cNvPr>
            <p:cNvSpPr txBox="1"/>
            <p:nvPr/>
          </p:nvSpPr>
          <p:spPr>
            <a:xfrm>
              <a:off x="4929174" y="4424941"/>
              <a:ext cx="428651"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2016</a:t>
              </a:r>
            </a:p>
          </p:txBody>
        </p:sp>
        <p:sp>
          <p:nvSpPr>
            <p:cNvPr id="102" name="文本框 101">
              <a:extLst>
                <a:ext uri="{FF2B5EF4-FFF2-40B4-BE49-F238E27FC236}">
                  <a16:creationId xmlns:a16="http://schemas.microsoft.com/office/drawing/2014/main" id="{0E4EF57C-F680-A778-69AD-02847BCAE095}"/>
                </a:ext>
              </a:extLst>
            </p:cNvPr>
            <p:cNvSpPr txBox="1"/>
            <p:nvPr/>
          </p:nvSpPr>
          <p:spPr>
            <a:xfrm>
              <a:off x="6018559" y="4424941"/>
              <a:ext cx="535881" cy="229724"/>
            </a:xfrm>
            <a:prstGeom prst="rect">
              <a:avLst/>
            </a:prstGeom>
            <a:noFill/>
          </p:spPr>
          <p:txBody>
            <a:bodyPr wrap="none" rtlCol="0">
              <a:spAutoFit/>
            </a:bodyPr>
            <a:lstStyle/>
            <a:p>
              <a:pPr algn="l"/>
              <a:r>
                <a:rPr lang="zh-CN" altLang="en-US" sz="825" b="1" spc="0" baseline="0">
                  <a:ln/>
                  <a:solidFill>
                    <a:srgbClr val="2ECC71"/>
                  </a:solidFill>
                  <a:latin typeface="微软雅黑"/>
                  <a:ea typeface="微软雅黑"/>
                  <a:sym typeface="微软雅黑"/>
                  <a:rtl val="0"/>
                </a:rPr>
                <a:t>906.82</a:t>
              </a:r>
            </a:p>
          </p:txBody>
        </p:sp>
        <p:sp>
          <p:nvSpPr>
            <p:cNvPr id="103" name="文本框 102">
              <a:extLst>
                <a:ext uri="{FF2B5EF4-FFF2-40B4-BE49-F238E27FC236}">
                  <a16:creationId xmlns:a16="http://schemas.microsoft.com/office/drawing/2014/main" id="{A11DDC6C-49D0-2DD3-A932-6FCA994778C3}"/>
                </a:ext>
              </a:extLst>
            </p:cNvPr>
            <p:cNvSpPr txBox="1"/>
            <p:nvPr/>
          </p:nvSpPr>
          <p:spPr>
            <a:xfrm>
              <a:off x="7319010" y="4424941"/>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1,217.20</a:t>
              </a:r>
            </a:p>
          </p:txBody>
        </p:sp>
        <p:sp>
          <p:nvSpPr>
            <p:cNvPr id="104" name="文本框 103">
              <a:extLst>
                <a:ext uri="{FF2B5EF4-FFF2-40B4-BE49-F238E27FC236}">
                  <a16:creationId xmlns:a16="http://schemas.microsoft.com/office/drawing/2014/main" id="{A8480768-B0B0-8FEF-ABDF-EB678ED4396A}"/>
                </a:ext>
              </a:extLst>
            </p:cNvPr>
            <p:cNvSpPr txBox="1"/>
            <p:nvPr/>
          </p:nvSpPr>
          <p:spPr>
            <a:xfrm>
              <a:off x="8695842" y="4424941"/>
              <a:ext cx="51531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310.38</a:t>
              </a:r>
            </a:p>
          </p:txBody>
        </p:sp>
        <p:sp>
          <p:nvSpPr>
            <p:cNvPr id="105" name="文本框 104">
              <a:extLst>
                <a:ext uri="{FF2B5EF4-FFF2-40B4-BE49-F238E27FC236}">
                  <a16:creationId xmlns:a16="http://schemas.microsoft.com/office/drawing/2014/main" id="{AC5926C7-A8A4-93D6-0A2D-46CEDF78241D}"/>
                </a:ext>
              </a:extLst>
            </p:cNvPr>
            <p:cNvSpPr txBox="1"/>
            <p:nvPr/>
          </p:nvSpPr>
          <p:spPr>
            <a:xfrm>
              <a:off x="9918658" y="4424941"/>
              <a:ext cx="736683"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 历史峰值</a:t>
              </a:r>
            </a:p>
          </p:txBody>
        </p:sp>
        <p:sp>
          <p:nvSpPr>
            <p:cNvPr id="106" name="任意形状 105">
              <a:extLst>
                <a:ext uri="{FF2B5EF4-FFF2-40B4-BE49-F238E27FC236}">
                  <a16:creationId xmlns:a16="http://schemas.microsoft.com/office/drawing/2014/main" id="{9EDD03A1-628B-4A5C-43BE-3D75CBBDB40C}"/>
                </a:ext>
              </a:extLst>
            </p:cNvPr>
            <p:cNvSpPr/>
            <p:nvPr/>
          </p:nvSpPr>
          <p:spPr>
            <a:xfrm>
              <a:off x="4667250" y="4762500"/>
              <a:ext cx="6667500" cy="428625"/>
            </a:xfrm>
            <a:custGeom>
              <a:avLst/>
              <a:gdLst>
                <a:gd name="csX0" fmla="*/ 38100 w 6667500"/>
                <a:gd name="csY0" fmla="*/ 0 h 428625"/>
                <a:gd name="csX1" fmla="*/ 6629400 w 6667500"/>
                <a:gd name="csY1" fmla="*/ 0 h 428625"/>
                <a:gd name="csX2" fmla="*/ 6667500 w 6667500"/>
                <a:gd name="csY2" fmla="*/ 38100 h 428625"/>
                <a:gd name="csX3" fmla="*/ 6667500 w 6667500"/>
                <a:gd name="csY3" fmla="*/ 390525 h 428625"/>
                <a:gd name="csX4" fmla="*/ 6629400 w 6667500"/>
                <a:gd name="csY4" fmla="*/ 428625 h 428625"/>
                <a:gd name="csX5" fmla="*/ 38100 w 6667500"/>
                <a:gd name="csY5" fmla="*/ 428625 h 428625"/>
                <a:gd name="csX6" fmla="*/ 0 w 6667500"/>
                <a:gd name="csY6" fmla="*/ 390525 h 428625"/>
                <a:gd name="csX7" fmla="*/ 0 w 6667500"/>
                <a:gd name="csY7" fmla="*/ 38100 h 428625"/>
                <a:gd name="csX8" fmla="*/ 38100 w 6667500"/>
                <a:gd name="csY8" fmla="*/ 0 h 428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67500" h="428625">
                  <a:moveTo>
                    <a:pt x="38100" y="0"/>
                  </a:moveTo>
                  <a:lnTo>
                    <a:pt x="6629400" y="0"/>
                  </a:lnTo>
                  <a:cubicBezTo>
                    <a:pt x="6650442" y="0"/>
                    <a:pt x="6667500" y="17058"/>
                    <a:pt x="6667500" y="38100"/>
                  </a:cubicBezTo>
                  <a:lnTo>
                    <a:pt x="6667500" y="390525"/>
                  </a:lnTo>
                  <a:cubicBezTo>
                    <a:pt x="6667500" y="411567"/>
                    <a:pt x="6650442" y="428625"/>
                    <a:pt x="6629400" y="428625"/>
                  </a:cubicBezTo>
                  <a:lnTo>
                    <a:pt x="38100" y="428625"/>
                  </a:lnTo>
                  <a:cubicBezTo>
                    <a:pt x="17058" y="428625"/>
                    <a:pt x="0" y="411567"/>
                    <a:pt x="0" y="39052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107" name="文本框 106">
              <a:extLst>
                <a:ext uri="{FF2B5EF4-FFF2-40B4-BE49-F238E27FC236}">
                  <a16:creationId xmlns:a16="http://schemas.microsoft.com/office/drawing/2014/main" id="{96980A59-F740-8605-AEE4-889808A32C2B}"/>
                </a:ext>
              </a:extLst>
            </p:cNvPr>
            <p:cNvSpPr txBox="1"/>
            <p:nvPr/>
          </p:nvSpPr>
          <p:spPr>
            <a:xfrm>
              <a:off x="4766310" y="4862538"/>
              <a:ext cx="4524828" cy="248100"/>
            </a:xfrm>
            <a:prstGeom prst="rect">
              <a:avLst/>
            </a:prstGeom>
            <a:noFill/>
          </p:spPr>
          <p:txBody>
            <a:bodyPr wrap="none" rtlCol="0">
              <a:spAutoFit/>
            </a:bodyPr>
            <a:lstStyle/>
            <a:p>
              <a:pPr algn="l"/>
              <a:r>
                <a:rPr lang="zh-CN" altLang="en-US" sz="900" spc="0" baseline="0">
                  <a:ln/>
                  <a:solidFill>
                    <a:srgbClr val="4A90D9"/>
                  </a:solidFill>
                  <a:latin typeface="Apple Color Emoji"/>
                  <a:ea typeface="Apple Color Emoji"/>
                  <a:sym typeface="Apple Color Emoji"/>
                  <a:rtl val="0"/>
                </a:rPr>
                <a:t>💡</a:t>
              </a:r>
              <a:r>
                <a:rPr lang="zh-CN" altLang="en-US" sz="900" spc="0" baseline="0">
                  <a:ln/>
                  <a:solidFill>
                    <a:srgbClr val="4A90D9"/>
                  </a:solidFill>
                  <a:latin typeface="微软雅黑"/>
                  <a:ea typeface="微软雅黑"/>
                  <a:sym typeface="微软雅黑"/>
                  <a:rtl val="0"/>
                </a:rPr>
                <a:t> 2024年城投债首次转为净流出，反映去杠杆政策效果显现，偿还压力集中于2029年</a:t>
              </a:r>
            </a:p>
          </p:txBody>
        </p:sp>
      </p:grpSp>
      <p:grpSp>
        <p:nvGrpSpPr>
          <p:cNvPr id="108" name="SVG Image 12">
            <a:extLst>
              <a:ext uri="{FF2B5EF4-FFF2-40B4-BE49-F238E27FC236}">
                <a16:creationId xmlns:a16="http://schemas.microsoft.com/office/drawing/2014/main" id="{B52E7E02-6E64-4948-3239-FEE9FE45A338}"/>
              </a:ext>
            </a:extLst>
          </p:cNvPr>
          <p:cNvGrpSpPr/>
          <p:nvPr/>
        </p:nvGrpSpPr>
        <p:grpSpPr>
          <a:xfrm>
            <a:off x="571500" y="5524500"/>
            <a:ext cx="11049000" cy="762000"/>
            <a:chOff x="571500" y="5524500"/>
            <a:chExt cx="11049000" cy="762000"/>
          </a:xfrm>
        </p:grpSpPr>
        <p:sp>
          <p:nvSpPr>
            <p:cNvPr id="109" name="任意形状 108">
              <a:extLst>
                <a:ext uri="{FF2B5EF4-FFF2-40B4-BE49-F238E27FC236}">
                  <a16:creationId xmlns:a16="http://schemas.microsoft.com/office/drawing/2014/main" id="{FC6C3A3E-FC78-08EC-20DC-536786A6A470}"/>
                </a:ext>
              </a:extLst>
            </p:cNvPr>
            <p:cNvSpPr/>
            <p:nvPr/>
          </p:nvSpPr>
          <p:spPr>
            <a:xfrm>
              <a:off x="571500" y="5524500"/>
              <a:ext cx="11049000" cy="762000"/>
            </a:xfrm>
            <a:custGeom>
              <a:avLst/>
              <a:gdLst>
                <a:gd name="csX0" fmla="*/ 76200 w 11049000"/>
                <a:gd name="csY0" fmla="*/ 0 h 762000"/>
                <a:gd name="csX1" fmla="*/ 10972800 w 11049000"/>
                <a:gd name="csY1" fmla="*/ 0 h 762000"/>
                <a:gd name="csX2" fmla="*/ 11049000 w 11049000"/>
                <a:gd name="csY2" fmla="*/ 76200 h 762000"/>
                <a:gd name="csX3" fmla="*/ 11049000 w 11049000"/>
                <a:gd name="csY3" fmla="*/ 685800 h 762000"/>
                <a:gd name="csX4" fmla="*/ 10972800 w 11049000"/>
                <a:gd name="csY4" fmla="*/ 762000 h 762000"/>
                <a:gd name="csX5" fmla="*/ 76200 w 11049000"/>
                <a:gd name="csY5" fmla="*/ 762000 h 762000"/>
                <a:gd name="csX6" fmla="*/ 0 w 11049000"/>
                <a:gd name="csY6" fmla="*/ 685800 h 762000"/>
                <a:gd name="csX7" fmla="*/ 0 w 11049000"/>
                <a:gd name="csY7" fmla="*/ 76200 h 762000"/>
                <a:gd name="csX8" fmla="*/ 76200 w 11049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762000">
                  <a:moveTo>
                    <a:pt x="76200" y="0"/>
                  </a:moveTo>
                  <a:lnTo>
                    <a:pt x="10972800" y="0"/>
                  </a:lnTo>
                  <a:cubicBezTo>
                    <a:pt x="11014885" y="0"/>
                    <a:pt x="11049000" y="34116"/>
                    <a:pt x="11049000" y="76200"/>
                  </a:cubicBezTo>
                  <a:lnTo>
                    <a:pt x="11049000" y="685800"/>
                  </a:lnTo>
                  <a:cubicBezTo>
                    <a:pt x="11049000" y="727884"/>
                    <a:pt x="11014885" y="762000"/>
                    <a:pt x="10972800" y="762000"/>
                  </a:cubicBezTo>
                  <a:lnTo>
                    <a:pt x="76200" y="762000"/>
                  </a:lnTo>
                  <a:cubicBezTo>
                    <a:pt x="34116" y="762000"/>
                    <a:pt x="0" y="727884"/>
                    <a:pt x="0" y="6858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10" name="文本框 109">
              <a:extLst>
                <a:ext uri="{FF2B5EF4-FFF2-40B4-BE49-F238E27FC236}">
                  <a16:creationId xmlns:a16="http://schemas.microsoft.com/office/drawing/2014/main" id="{07E7A0DB-F86D-97A4-2287-09F0D380E5F0}"/>
                </a:ext>
              </a:extLst>
            </p:cNvPr>
            <p:cNvSpPr txBox="1"/>
            <p:nvPr/>
          </p:nvSpPr>
          <p:spPr>
            <a:xfrm>
              <a:off x="765810" y="5671056"/>
              <a:ext cx="1225262" cy="267438"/>
            </a:xfrm>
            <a:prstGeom prst="rect">
              <a:avLst/>
            </a:prstGeom>
            <a:noFill/>
          </p:spPr>
          <p:txBody>
            <a:bodyPr wrap="none" rtlCol="0">
              <a:spAutoFit/>
            </a:bodyPr>
            <a:lstStyle/>
            <a:p>
              <a:pPr algn="l"/>
              <a:r>
                <a:rPr lang="zh-CN" altLang="en-US" sz="1050" b="1" spc="0" baseline="0">
                  <a:ln/>
                  <a:solidFill>
                    <a:srgbClr val="FFFFFF"/>
                  </a:solidFill>
                  <a:latin typeface="微软雅黑"/>
                  <a:ea typeface="微软雅黑"/>
                  <a:sym typeface="微软雅黑"/>
                  <a:rtl val="0"/>
                </a:rPr>
                <a:t>3.3 城投利差快览</a:t>
              </a:r>
            </a:p>
          </p:txBody>
        </p:sp>
        <p:sp>
          <p:nvSpPr>
            <p:cNvPr id="111" name="文本框 110">
              <a:extLst>
                <a:ext uri="{FF2B5EF4-FFF2-40B4-BE49-F238E27FC236}">
                  <a16:creationId xmlns:a16="http://schemas.microsoft.com/office/drawing/2014/main" id="{419248DE-1880-8FD7-C5E3-B12AF4ACEE1C}"/>
                </a:ext>
              </a:extLst>
            </p:cNvPr>
            <p:cNvSpPr txBox="1"/>
            <p:nvPr/>
          </p:nvSpPr>
          <p:spPr>
            <a:xfrm>
              <a:off x="2575560" y="5643588"/>
              <a:ext cx="640080" cy="242295"/>
            </a:xfrm>
            <a:prstGeom prst="rect">
              <a:avLst/>
            </a:prstGeom>
            <a:noFill/>
          </p:spPr>
          <p:txBody>
            <a:bodyPr wrap="none" rtlCol="0">
              <a:spAutoFit/>
            </a:bodyPr>
            <a:lstStyle/>
            <a:p>
              <a:pPr algn="l"/>
              <a:r>
                <a:rPr lang="zh-CN" altLang="en-US" sz="900" spc="0" baseline="0">
                  <a:ln/>
                  <a:solidFill>
                    <a:srgbClr val="FFFFFF">
                      <a:alpha val="70000"/>
                    </a:srgbClr>
                  </a:solidFill>
                  <a:latin typeface="微软雅黑"/>
                  <a:ea typeface="微软雅黑"/>
                  <a:sym typeface="微软雅黑"/>
                  <a:rtl val="0"/>
                </a:rPr>
                <a:t>当前利差</a:t>
              </a:r>
            </a:p>
          </p:txBody>
        </p:sp>
        <p:sp>
          <p:nvSpPr>
            <p:cNvPr id="112" name="文本框 111">
              <a:extLst>
                <a:ext uri="{FF2B5EF4-FFF2-40B4-BE49-F238E27FC236}">
                  <a16:creationId xmlns:a16="http://schemas.microsoft.com/office/drawing/2014/main" id="{8D4E41C0-7288-A0FD-6FFC-B85E0C34836C}"/>
                </a:ext>
              </a:extLst>
            </p:cNvPr>
            <p:cNvSpPr txBox="1"/>
            <p:nvPr/>
          </p:nvSpPr>
          <p:spPr>
            <a:xfrm>
              <a:off x="2575560" y="5760772"/>
              <a:ext cx="1116590"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72.21bp</a:t>
              </a:r>
            </a:p>
          </p:txBody>
        </p:sp>
        <p:sp>
          <p:nvSpPr>
            <p:cNvPr id="113" name="文本框 112">
              <a:extLst>
                <a:ext uri="{FF2B5EF4-FFF2-40B4-BE49-F238E27FC236}">
                  <a16:creationId xmlns:a16="http://schemas.microsoft.com/office/drawing/2014/main" id="{78502ECC-EACF-A023-D112-C93B3A1CC578}"/>
                </a:ext>
              </a:extLst>
            </p:cNvPr>
            <p:cNvSpPr txBox="1"/>
            <p:nvPr/>
          </p:nvSpPr>
          <p:spPr>
            <a:xfrm>
              <a:off x="4194810" y="5643588"/>
              <a:ext cx="754380" cy="242295"/>
            </a:xfrm>
            <a:prstGeom prst="rect">
              <a:avLst/>
            </a:prstGeom>
            <a:noFill/>
          </p:spPr>
          <p:txBody>
            <a:bodyPr wrap="none" rtlCol="0">
              <a:spAutoFit/>
            </a:bodyPr>
            <a:lstStyle/>
            <a:p>
              <a:pPr algn="l"/>
              <a:r>
                <a:rPr lang="zh-CN" altLang="en-US" sz="900" spc="0" baseline="0">
                  <a:ln/>
                  <a:solidFill>
                    <a:srgbClr val="FFFFFF">
                      <a:alpha val="70000"/>
                    </a:srgbClr>
                  </a:solidFill>
                  <a:latin typeface="微软雅黑"/>
                  <a:ea typeface="微软雅黑"/>
                  <a:sym typeface="微软雅黑"/>
                  <a:rtl val="0"/>
                </a:rPr>
                <a:t>较年初变动</a:t>
              </a:r>
            </a:p>
          </p:txBody>
        </p:sp>
        <p:sp>
          <p:nvSpPr>
            <p:cNvPr id="114" name="文本框 113">
              <a:extLst>
                <a:ext uri="{FF2B5EF4-FFF2-40B4-BE49-F238E27FC236}">
                  <a16:creationId xmlns:a16="http://schemas.microsoft.com/office/drawing/2014/main" id="{A8787C78-C7B8-D53A-15D3-5DDF2CAE3FF2}"/>
                </a:ext>
              </a:extLst>
            </p:cNvPr>
            <p:cNvSpPr txBox="1"/>
            <p:nvPr/>
          </p:nvSpPr>
          <p:spPr>
            <a:xfrm>
              <a:off x="4194810" y="5760772"/>
              <a:ext cx="1216379" cy="393151"/>
            </a:xfrm>
            <a:prstGeom prst="rect">
              <a:avLst/>
            </a:prstGeom>
            <a:noFill/>
          </p:spPr>
          <p:txBody>
            <a:bodyPr wrap="none" rtlCol="0">
              <a:spAutoFit/>
            </a:bodyPr>
            <a:lstStyle/>
            <a:p>
              <a:pPr algn="l"/>
              <a:r>
                <a:rPr lang="zh-CN" altLang="en-US" sz="1800" b="1" spc="0" baseline="0">
                  <a:ln/>
                  <a:solidFill>
                    <a:srgbClr val="2ECC71"/>
                  </a:solidFill>
                  <a:latin typeface="微软雅黑"/>
                  <a:ea typeface="微软雅黑"/>
                  <a:sym typeface="微软雅黑"/>
                  <a:rtl val="0"/>
                </a:rPr>
                <a:t>-38.62bp</a:t>
              </a:r>
            </a:p>
          </p:txBody>
        </p:sp>
        <p:sp>
          <p:nvSpPr>
            <p:cNvPr id="115" name="文本框 114">
              <a:extLst>
                <a:ext uri="{FF2B5EF4-FFF2-40B4-BE49-F238E27FC236}">
                  <a16:creationId xmlns:a16="http://schemas.microsoft.com/office/drawing/2014/main" id="{45162031-4BEB-2059-DEBB-C9F1D4F8B614}"/>
                </a:ext>
              </a:extLst>
            </p:cNvPr>
            <p:cNvSpPr txBox="1"/>
            <p:nvPr/>
          </p:nvSpPr>
          <p:spPr>
            <a:xfrm>
              <a:off x="5909310" y="5643588"/>
              <a:ext cx="640080" cy="242295"/>
            </a:xfrm>
            <a:prstGeom prst="rect">
              <a:avLst/>
            </a:prstGeom>
            <a:noFill/>
          </p:spPr>
          <p:txBody>
            <a:bodyPr wrap="none" rtlCol="0">
              <a:spAutoFit/>
            </a:bodyPr>
            <a:lstStyle/>
            <a:p>
              <a:pPr algn="l"/>
              <a:r>
                <a:rPr lang="zh-CN" altLang="en-US" sz="900" spc="0" baseline="0">
                  <a:ln/>
                  <a:solidFill>
                    <a:srgbClr val="FFFFFF">
                      <a:alpha val="70000"/>
                    </a:srgbClr>
                  </a:solidFill>
                  <a:latin typeface="微软雅黑"/>
                  <a:ea typeface="微软雅黑"/>
                  <a:sym typeface="微软雅黑"/>
                  <a:rtl val="0"/>
                </a:rPr>
                <a:t>历史分位</a:t>
              </a:r>
            </a:p>
          </p:txBody>
        </p:sp>
        <p:sp>
          <p:nvSpPr>
            <p:cNvPr id="116" name="文本框 115">
              <a:extLst>
                <a:ext uri="{FF2B5EF4-FFF2-40B4-BE49-F238E27FC236}">
                  <a16:creationId xmlns:a16="http://schemas.microsoft.com/office/drawing/2014/main" id="{97CCFE50-5C44-23DB-C200-5335AFCE9B48}"/>
                </a:ext>
              </a:extLst>
            </p:cNvPr>
            <p:cNvSpPr txBox="1"/>
            <p:nvPr/>
          </p:nvSpPr>
          <p:spPr>
            <a:xfrm>
              <a:off x="5909310" y="5760772"/>
              <a:ext cx="883972" cy="393151"/>
            </a:xfrm>
            <a:prstGeom prst="rect">
              <a:avLst/>
            </a:prstGeom>
            <a:noFill/>
          </p:spPr>
          <p:txBody>
            <a:bodyPr wrap="none" rtlCol="0">
              <a:spAutoFit/>
            </a:bodyPr>
            <a:lstStyle/>
            <a:p>
              <a:pPr algn="l"/>
              <a:r>
                <a:rPr lang="zh-CN" altLang="en-US" sz="1800" b="1" spc="0" baseline="0">
                  <a:ln/>
                  <a:solidFill>
                    <a:srgbClr val="2ECC71"/>
                  </a:solidFill>
                  <a:latin typeface="微软雅黑"/>
                  <a:ea typeface="微软雅黑"/>
                  <a:sym typeface="微软雅黑"/>
                  <a:rtl val="0"/>
                </a:rPr>
                <a:t>2.95%</a:t>
              </a:r>
            </a:p>
          </p:txBody>
        </p:sp>
        <p:sp>
          <p:nvSpPr>
            <p:cNvPr id="117" name="任意形状 116">
              <a:extLst>
                <a:ext uri="{FF2B5EF4-FFF2-40B4-BE49-F238E27FC236}">
                  <a16:creationId xmlns:a16="http://schemas.microsoft.com/office/drawing/2014/main" id="{89773D67-888F-8248-F318-3759E0FF1C63}"/>
                </a:ext>
              </a:extLst>
            </p:cNvPr>
            <p:cNvSpPr/>
            <p:nvPr/>
          </p:nvSpPr>
          <p:spPr>
            <a:xfrm>
              <a:off x="7620000" y="5667375"/>
              <a:ext cx="3810000" cy="476250"/>
            </a:xfrm>
            <a:custGeom>
              <a:avLst/>
              <a:gdLst>
                <a:gd name="csX0" fmla="*/ 57150 w 3810000"/>
                <a:gd name="csY0" fmla="*/ 0 h 476250"/>
                <a:gd name="csX1" fmla="*/ 3752850 w 3810000"/>
                <a:gd name="csY1" fmla="*/ 0 h 476250"/>
                <a:gd name="csX2" fmla="*/ 3810000 w 3810000"/>
                <a:gd name="csY2" fmla="*/ 57150 h 476250"/>
                <a:gd name="csX3" fmla="*/ 3810000 w 3810000"/>
                <a:gd name="csY3" fmla="*/ 419100 h 476250"/>
                <a:gd name="csX4" fmla="*/ 3752850 w 3810000"/>
                <a:gd name="csY4" fmla="*/ 476250 h 476250"/>
                <a:gd name="csX5" fmla="*/ 57150 w 3810000"/>
                <a:gd name="csY5" fmla="*/ 476250 h 476250"/>
                <a:gd name="csX6" fmla="*/ 0 w 3810000"/>
                <a:gd name="csY6" fmla="*/ 419100 h 476250"/>
                <a:gd name="csX7" fmla="*/ 0 w 3810000"/>
                <a:gd name="csY7" fmla="*/ 57150 h 476250"/>
                <a:gd name="csX8" fmla="*/ 57150 w 3810000"/>
                <a:gd name="csY8" fmla="*/ 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00" h="476250">
                  <a:moveTo>
                    <a:pt x="57150" y="0"/>
                  </a:moveTo>
                  <a:lnTo>
                    <a:pt x="3752850" y="0"/>
                  </a:lnTo>
                  <a:cubicBezTo>
                    <a:pt x="3784413" y="0"/>
                    <a:pt x="3810000" y="25587"/>
                    <a:pt x="3810000" y="57150"/>
                  </a:cubicBezTo>
                  <a:lnTo>
                    <a:pt x="3810000" y="419100"/>
                  </a:lnTo>
                  <a:cubicBezTo>
                    <a:pt x="3810000" y="450663"/>
                    <a:pt x="3784413" y="476250"/>
                    <a:pt x="3752850" y="476250"/>
                  </a:cubicBezTo>
                  <a:lnTo>
                    <a:pt x="57150" y="476250"/>
                  </a:lnTo>
                  <a:cubicBezTo>
                    <a:pt x="25587" y="476250"/>
                    <a:pt x="0" y="450663"/>
                    <a:pt x="0" y="419100"/>
                  </a:cubicBezTo>
                  <a:lnTo>
                    <a:pt x="0" y="57150"/>
                  </a:lnTo>
                  <a:cubicBezTo>
                    <a:pt x="0" y="25587"/>
                    <a:pt x="25587" y="0"/>
                    <a:pt x="57150" y="0"/>
                  </a:cubicBezTo>
                  <a:close/>
                </a:path>
              </a:pathLst>
            </a:custGeom>
            <a:solidFill>
              <a:srgbClr val="FFFFFF">
                <a:alpha val="10000"/>
              </a:srgbClr>
            </a:solidFill>
            <a:ln w="9525" cap="flat">
              <a:noFill/>
              <a:prstDash val="solid"/>
              <a:miter/>
            </a:ln>
          </p:spPr>
          <p:txBody>
            <a:bodyPr/>
            <a:lstStyle/>
            <a:p>
              <a:endParaRPr lang="zh-CN" altLang="en-US"/>
            </a:p>
          </p:txBody>
        </p:sp>
        <p:sp>
          <p:nvSpPr>
            <p:cNvPr id="118" name="文本框 117">
              <a:extLst>
                <a:ext uri="{FF2B5EF4-FFF2-40B4-BE49-F238E27FC236}">
                  <a16:creationId xmlns:a16="http://schemas.microsoft.com/office/drawing/2014/main" id="{3E2FD7AF-2E0F-FF9E-A73F-0DD756B604F2}"/>
                </a:ext>
              </a:extLst>
            </p:cNvPr>
            <p:cNvSpPr txBox="1"/>
            <p:nvPr/>
          </p:nvSpPr>
          <p:spPr>
            <a:xfrm>
              <a:off x="8100060" y="5766306"/>
              <a:ext cx="2849880" cy="267438"/>
            </a:xfrm>
            <a:prstGeom prst="rect">
              <a:avLst/>
            </a:prstGeom>
            <a:noFill/>
          </p:spPr>
          <p:txBody>
            <a:bodyPr wrap="none" rtlCol="0">
              <a:spAutoFit/>
            </a:bodyPr>
            <a:lstStyle/>
            <a:p>
              <a:pPr algn="l"/>
              <a:r>
                <a:rPr lang="zh-CN" altLang="en-US" sz="1050" spc="0" baseline="0">
                  <a:ln/>
                  <a:solidFill>
                    <a:srgbClr val="FFFFFF"/>
                  </a:solidFill>
                  <a:latin typeface="微软雅黑"/>
                  <a:ea typeface="微软雅黑"/>
                  <a:sym typeface="微软雅黑"/>
                  <a:rtl val="0"/>
                </a:rPr>
                <a:t>利差处于历史极低位，信用风险定价显著改善</a:t>
              </a:r>
            </a:p>
          </p:txBody>
        </p:sp>
      </p:grpSp>
      <p:sp>
        <p:nvSpPr>
          <p:cNvPr id="119" name="矩形 118">
            <a:extLst>
              <a:ext uri="{FF2B5EF4-FFF2-40B4-BE49-F238E27FC236}">
                <a16:creationId xmlns:a16="http://schemas.microsoft.com/office/drawing/2014/main" id="{07D8F46E-EBA2-4088-3F9C-43A216D232C0}"/>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75CF671-4AA4-0EE7-C61D-157B9D4EE9C0}"/>
              </a:ext>
            </a:extLst>
          </p:cNvPr>
          <p:cNvSpPr/>
          <p:nvPr/>
        </p:nvSpPr>
        <p:spPr>
          <a:xfrm>
            <a:off x="0" y="0"/>
            <a:ext cx="12192000" cy="6858000"/>
          </a:xfrm>
          <a:prstGeom prst="rect">
            <a:avLst/>
          </a:prstGeom>
          <a:gradFill>
            <a:gsLst>
              <a:gs pos="0">
                <a:srgbClr val="1E3A5F"/>
              </a:gs>
              <a:gs pos="50000">
                <a:srgbClr val="264A75"/>
              </a:gs>
              <a:gs pos="100000">
                <a:srgbClr val="2E5A8B"/>
              </a:gs>
            </a:gsLst>
            <a:lin ang="2700000" scaled="1"/>
          </a:gradFill>
          <a:ln w="9525" cap="flat">
            <a:noFill/>
            <a:prstDash val="solid"/>
            <a:miter/>
          </a:ln>
        </p:spPr>
        <p:txBody>
          <a:bodyPr/>
          <a:lstStyle/>
          <a:p>
            <a:endParaRPr lang="zh-CN" altLang="en-US"/>
          </a:p>
        </p:txBody>
      </p:sp>
      <p:sp>
        <p:nvSpPr>
          <p:cNvPr id="5" name="文本框 4">
            <a:extLst>
              <a:ext uri="{FF2B5EF4-FFF2-40B4-BE49-F238E27FC236}">
                <a16:creationId xmlns:a16="http://schemas.microsoft.com/office/drawing/2014/main" id="{A1941168-20CC-597A-3158-6154B0D28C71}"/>
              </a:ext>
            </a:extLst>
          </p:cNvPr>
          <p:cNvSpPr txBox="1"/>
          <p:nvPr/>
        </p:nvSpPr>
        <p:spPr>
          <a:xfrm>
            <a:off x="8036435" y="685398"/>
            <a:ext cx="4882128" cy="5119970"/>
          </a:xfrm>
          <a:prstGeom prst="rect">
            <a:avLst/>
          </a:prstGeom>
          <a:noFill/>
        </p:spPr>
        <p:txBody>
          <a:bodyPr wrap="none" rtlCol="0">
            <a:spAutoFit/>
          </a:bodyPr>
          <a:lstStyle/>
          <a:p>
            <a:pPr algn="l"/>
            <a:r>
              <a:rPr lang="zh-CN" altLang="en-US" sz="30000" b="1" spc="0" baseline="0">
                <a:ln/>
                <a:solidFill>
                  <a:srgbClr val="FFFFFF">
                    <a:alpha val="5000"/>
                  </a:srgbClr>
                </a:solidFill>
                <a:latin typeface="微软雅黑"/>
                <a:ea typeface="微软雅黑"/>
                <a:sym typeface="微软雅黑"/>
                <a:rtl val="0"/>
              </a:rPr>
              <a:t>04</a:t>
            </a:r>
          </a:p>
        </p:txBody>
      </p:sp>
      <p:sp>
        <p:nvSpPr>
          <p:cNvPr id="6" name="矩形 5">
            <a:extLst>
              <a:ext uri="{FF2B5EF4-FFF2-40B4-BE49-F238E27FC236}">
                <a16:creationId xmlns:a16="http://schemas.microsoft.com/office/drawing/2014/main" id="{48427BB8-4EEB-91A8-4B39-392237B8CB98}"/>
              </a:ext>
            </a:extLst>
          </p:cNvPr>
          <p:cNvSpPr/>
          <p:nvPr/>
        </p:nvSpPr>
        <p:spPr>
          <a:xfrm>
            <a:off x="762000" y="2857500"/>
            <a:ext cx="57150" cy="1143000"/>
          </a:xfrm>
          <a:prstGeom prst="rect">
            <a:avLst/>
          </a:prstGeom>
          <a:solidFill>
            <a:srgbClr val="2ECC71"/>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842F0BA0-0176-3913-7FBB-A71E5742B306}"/>
              </a:ext>
            </a:extLst>
          </p:cNvPr>
          <p:cNvSpPr txBox="1"/>
          <p:nvPr/>
        </p:nvSpPr>
        <p:spPr>
          <a:xfrm>
            <a:off x="1051560" y="2562381"/>
            <a:ext cx="1028744" cy="996575"/>
          </a:xfrm>
          <a:prstGeom prst="rect">
            <a:avLst/>
          </a:prstGeom>
          <a:noFill/>
        </p:spPr>
        <p:txBody>
          <a:bodyPr wrap="none" rtlCol="0">
            <a:spAutoFit/>
          </a:bodyPr>
          <a:lstStyle/>
          <a:p>
            <a:pPr algn="l"/>
            <a:r>
              <a:rPr lang="zh-CN" altLang="en-US" sz="5400" b="1" spc="0" baseline="0">
                <a:ln/>
                <a:solidFill>
                  <a:srgbClr val="FFFFFF"/>
                </a:solidFill>
                <a:latin typeface="微软雅黑"/>
                <a:ea typeface="微软雅黑"/>
                <a:sym typeface="微软雅黑"/>
                <a:rtl val="0"/>
              </a:rPr>
              <a:t>04</a:t>
            </a:r>
          </a:p>
        </p:txBody>
      </p:sp>
      <p:sp>
        <p:nvSpPr>
          <p:cNvPr id="8" name="文本框 7">
            <a:extLst>
              <a:ext uri="{FF2B5EF4-FFF2-40B4-BE49-F238E27FC236}">
                <a16:creationId xmlns:a16="http://schemas.microsoft.com/office/drawing/2014/main" id="{F7164AE1-BE75-CA9C-2685-0A3BB248E4BF}"/>
              </a:ext>
            </a:extLst>
          </p:cNvPr>
          <p:cNvSpPr txBox="1"/>
          <p:nvPr/>
        </p:nvSpPr>
        <p:spPr>
          <a:xfrm>
            <a:off x="2575560" y="2804264"/>
            <a:ext cx="3383280" cy="694863"/>
          </a:xfrm>
          <a:prstGeom prst="rect">
            <a:avLst/>
          </a:prstGeom>
          <a:noFill/>
        </p:spPr>
        <p:txBody>
          <a:bodyPr wrap="none" rtlCol="0">
            <a:spAutoFit/>
          </a:bodyPr>
          <a:lstStyle/>
          <a:p>
            <a:pPr algn="l"/>
            <a:r>
              <a:rPr lang="zh-CN" altLang="en-US" sz="3600" b="1" spc="0" baseline="0">
                <a:ln/>
                <a:solidFill>
                  <a:srgbClr val="FFFFFF"/>
                </a:solidFill>
                <a:latin typeface="微软雅黑"/>
                <a:ea typeface="微软雅黑"/>
                <a:sym typeface="微软雅黑"/>
                <a:rtl val="0"/>
              </a:rPr>
              <a:t>银行业金融资源</a:t>
            </a:r>
          </a:p>
        </p:txBody>
      </p:sp>
      <p:sp>
        <p:nvSpPr>
          <p:cNvPr id="9" name="文本框 8">
            <a:extLst>
              <a:ext uri="{FF2B5EF4-FFF2-40B4-BE49-F238E27FC236}">
                <a16:creationId xmlns:a16="http://schemas.microsoft.com/office/drawing/2014/main" id="{1CE727DB-EF4A-CFBB-2F87-CE92D9E3A03A}"/>
              </a:ext>
            </a:extLst>
          </p:cNvPr>
          <p:cNvSpPr txBox="1"/>
          <p:nvPr/>
        </p:nvSpPr>
        <p:spPr>
          <a:xfrm>
            <a:off x="1051560" y="3773367"/>
            <a:ext cx="3421510"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银行业总资产8.12万亿，不良贷款率1.14%</a:t>
            </a:r>
          </a:p>
        </p:txBody>
      </p:sp>
      <p:sp>
        <p:nvSpPr>
          <p:cNvPr id="10" name="文本框 9">
            <a:extLst>
              <a:ext uri="{FF2B5EF4-FFF2-40B4-BE49-F238E27FC236}">
                <a16:creationId xmlns:a16="http://schemas.microsoft.com/office/drawing/2014/main" id="{8080AEF7-6F85-9B34-B1B1-13E488C7C35D}"/>
              </a:ext>
            </a:extLst>
          </p:cNvPr>
          <p:cNvSpPr txBox="1"/>
          <p:nvPr/>
        </p:nvSpPr>
        <p:spPr>
          <a:xfrm>
            <a:off x="1051560" y="4059117"/>
            <a:ext cx="3742058"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37家银行法人机构，5,438个营业网点覆盖全域</a:t>
            </a:r>
          </a:p>
        </p:txBody>
      </p:sp>
      <p:grpSp>
        <p:nvGrpSpPr>
          <p:cNvPr id="11" name="SVG Image 13">
            <a:extLst>
              <a:ext uri="{FF2B5EF4-FFF2-40B4-BE49-F238E27FC236}">
                <a16:creationId xmlns:a16="http://schemas.microsoft.com/office/drawing/2014/main" id="{6CF59804-7B20-72A4-0082-7C71D3A8AD2F}"/>
              </a:ext>
            </a:extLst>
          </p:cNvPr>
          <p:cNvGrpSpPr/>
          <p:nvPr/>
        </p:nvGrpSpPr>
        <p:grpSpPr>
          <a:xfrm>
            <a:off x="1143000" y="4762500"/>
            <a:ext cx="1905000" cy="762000"/>
            <a:chOff x="1143000" y="4762500"/>
            <a:chExt cx="1905000" cy="762000"/>
          </a:xfrm>
        </p:grpSpPr>
        <p:sp>
          <p:nvSpPr>
            <p:cNvPr id="12" name="任意形状 11">
              <a:extLst>
                <a:ext uri="{FF2B5EF4-FFF2-40B4-BE49-F238E27FC236}">
                  <a16:creationId xmlns:a16="http://schemas.microsoft.com/office/drawing/2014/main" id="{5BBA6656-15E5-3F33-655C-E9826AE83091}"/>
                </a:ext>
              </a:extLst>
            </p:cNvPr>
            <p:cNvSpPr/>
            <p:nvPr/>
          </p:nvSpPr>
          <p:spPr>
            <a:xfrm>
              <a:off x="11430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13" name="文本框 12">
              <a:extLst>
                <a:ext uri="{FF2B5EF4-FFF2-40B4-BE49-F238E27FC236}">
                  <a16:creationId xmlns:a16="http://schemas.microsoft.com/office/drawing/2014/main" id="{BE22D905-EE48-EC45-7DC7-C6C2AF6FA297}"/>
                </a:ext>
              </a:extLst>
            </p:cNvPr>
            <p:cNvSpPr txBox="1"/>
            <p:nvPr/>
          </p:nvSpPr>
          <p:spPr>
            <a:xfrm>
              <a:off x="1632585" y="4919135"/>
              <a:ext cx="92583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银行业总资产</a:t>
              </a:r>
            </a:p>
          </p:txBody>
        </p:sp>
        <p:sp>
          <p:nvSpPr>
            <p:cNvPr id="14" name="文本框 13">
              <a:extLst>
                <a:ext uri="{FF2B5EF4-FFF2-40B4-BE49-F238E27FC236}">
                  <a16:creationId xmlns:a16="http://schemas.microsoft.com/office/drawing/2014/main" id="{0A85F569-E8E2-3475-8579-220FDF16E198}"/>
                </a:ext>
              </a:extLst>
            </p:cNvPr>
            <p:cNvSpPr txBox="1"/>
            <p:nvPr/>
          </p:nvSpPr>
          <p:spPr>
            <a:xfrm>
              <a:off x="1531344" y="5094022"/>
              <a:ext cx="1128310"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8.12万亿</a:t>
              </a:r>
            </a:p>
          </p:txBody>
        </p:sp>
      </p:grpSp>
      <p:grpSp>
        <p:nvGrpSpPr>
          <p:cNvPr id="15" name="SVG Image 13">
            <a:extLst>
              <a:ext uri="{FF2B5EF4-FFF2-40B4-BE49-F238E27FC236}">
                <a16:creationId xmlns:a16="http://schemas.microsoft.com/office/drawing/2014/main" id="{3F648173-FFF8-3F32-363A-5E153289DF1B}"/>
              </a:ext>
            </a:extLst>
          </p:cNvPr>
          <p:cNvGrpSpPr/>
          <p:nvPr/>
        </p:nvGrpSpPr>
        <p:grpSpPr>
          <a:xfrm>
            <a:off x="3238500" y="4762500"/>
            <a:ext cx="1905000" cy="762000"/>
            <a:chOff x="3238500" y="4762500"/>
            <a:chExt cx="1905000" cy="762000"/>
          </a:xfrm>
        </p:grpSpPr>
        <p:sp>
          <p:nvSpPr>
            <p:cNvPr id="16" name="任意形状 15">
              <a:extLst>
                <a:ext uri="{FF2B5EF4-FFF2-40B4-BE49-F238E27FC236}">
                  <a16:creationId xmlns:a16="http://schemas.microsoft.com/office/drawing/2014/main" id="{40574704-CD72-3726-6236-8B8B7D4A46AF}"/>
                </a:ext>
              </a:extLst>
            </p:cNvPr>
            <p:cNvSpPr/>
            <p:nvPr/>
          </p:nvSpPr>
          <p:spPr>
            <a:xfrm>
              <a:off x="32385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17" name="文本框 16">
              <a:extLst>
                <a:ext uri="{FF2B5EF4-FFF2-40B4-BE49-F238E27FC236}">
                  <a16:creationId xmlns:a16="http://schemas.microsoft.com/office/drawing/2014/main" id="{A06F5116-6ED0-64F6-DBA1-6C36E8280ADA}"/>
                </a:ext>
              </a:extLst>
            </p:cNvPr>
            <p:cNvSpPr txBox="1"/>
            <p:nvPr/>
          </p:nvSpPr>
          <p:spPr>
            <a:xfrm>
              <a:off x="3789997" y="4919135"/>
              <a:ext cx="802005"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不良贷款率</a:t>
              </a:r>
            </a:p>
          </p:txBody>
        </p:sp>
        <p:sp>
          <p:nvSpPr>
            <p:cNvPr id="18" name="文本框 17">
              <a:extLst>
                <a:ext uri="{FF2B5EF4-FFF2-40B4-BE49-F238E27FC236}">
                  <a16:creationId xmlns:a16="http://schemas.microsoft.com/office/drawing/2014/main" id="{DEBD2179-84D9-7DFB-60B9-4EDAAC5C5FAF}"/>
                </a:ext>
              </a:extLst>
            </p:cNvPr>
            <p:cNvSpPr txBox="1"/>
            <p:nvPr/>
          </p:nvSpPr>
          <p:spPr>
            <a:xfrm>
              <a:off x="3749013" y="5094022"/>
              <a:ext cx="883972" cy="393151"/>
            </a:xfrm>
            <a:prstGeom prst="rect">
              <a:avLst/>
            </a:prstGeom>
            <a:noFill/>
          </p:spPr>
          <p:txBody>
            <a:bodyPr wrap="none" rtlCol="0">
              <a:spAutoFit/>
            </a:bodyPr>
            <a:lstStyle/>
            <a:p>
              <a:pPr algn="l"/>
              <a:r>
                <a:rPr lang="zh-CN" altLang="en-US" sz="1800" b="1" spc="0" baseline="0">
                  <a:ln/>
                  <a:solidFill>
                    <a:srgbClr val="2ECC71"/>
                  </a:solidFill>
                  <a:latin typeface="微软雅黑"/>
                  <a:ea typeface="微软雅黑"/>
                  <a:sym typeface="微软雅黑"/>
                  <a:rtl val="0"/>
                </a:rPr>
                <a:t>1.14%</a:t>
              </a:r>
            </a:p>
          </p:txBody>
        </p:sp>
      </p:grpSp>
      <p:grpSp>
        <p:nvGrpSpPr>
          <p:cNvPr id="19" name="SVG Image 13">
            <a:extLst>
              <a:ext uri="{FF2B5EF4-FFF2-40B4-BE49-F238E27FC236}">
                <a16:creationId xmlns:a16="http://schemas.microsoft.com/office/drawing/2014/main" id="{C0C93D74-7B86-DD9F-C9B8-8A22000AF323}"/>
              </a:ext>
            </a:extLst>
          </p:cNvPr>
          <p:cNvGrpSpPr/>
          <p:nvPr/>
        </p:nvGrpSpPr>
        <p:grpSpPr>
          <a:xfrm>
            <a:off x="5334000" y="4762500"/>
            <a:ext cx="1905000" cy="762000"/>
            <a:chOff x="5334000" y="4762500"/>
            <a:chExt cx="1905000" cy="762000"/>
          </a:xfrm>
        </p:grpSpPr>
        <p:sp>
          <p:nvSpPr>
            <p:cNvPr id="20" name="任意形状 19">
              <a:extLst>
                <a:ext uri="{FF2B5EF4-FFF2-40B4-BE49-F238E27FC236}">
                  <a16:creationId xmlns:a16="http://schemas.microsoft.com/office/drawing/2014/main" id="{9957725D-2CA8-D097-E55B-D3F6BACFBDC1}"/>
                </a:ext>
              </a:extLst>
            </p:cNvPr>
            <p:cNvSpPr/>
            <p:nvPr/>
          </p:nvSpPr>
          <p:spPr>
            <a:xfrm>
              <a:off x="53340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21" name="文本框 20">
              <a:extLst>
                <a:ext uri="{FF2B5EF4-FFF2-40B4-BE49-F238E27FC236}">
                  <a16:creationId xmlns:a16="http://schemas.microsoft.com/office/drawing/2014/main" id="{D79AADE9-DBF5-072D-3D64-7D3F4FBFEC3F}"/>
                </a:ext>
              </a:extLst>
            </p:cNvPr>
            <p:cNvSpPr txBox="1"/>
            <p:nvPr/>
          </p:nvSpPr>
          <p:spPr>
            <a:xfrm>
              <a:off x="5947410" y="4919135"/>
              <a:ext cx="6781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存款余额</a:t>
              </a:r>
            </a:p>
          </p:txBody>
        </p:sp>
        <p:sp>
          <p:nvSpPr>
            <p:cNvPr id="22" name="文本框 21">
              <a:extLst>
                <a:ext uri="{FF2B5EF4-FFF2-40B4-BE49-F238E27FC236}">
                  <a16:creationId xmlns:a16="http://schemas.microsoft.com/office/drawing/2014/main" id="{2CB73FD5-F0DE-F77A-AAED-06C85D871AF6}"/>
                </a:ext>
              </a:extLst>
            </p:cNvPr>
            <p:cNvSpPr txBox="1"/>
            <p:nvPr/>
          </p:nvSpPr>
          <p:spPr>
            <a:xfrm>
              <a:off x="5722344" y="5094022"/>
              <a:ext cx="1128310"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5.63万亿</a:t>
              </a:r>
            </a:p>
          </p:txBody>
        </p:sp>
      </p:grpSp>
      <p:grpSp>
        <p:nvGrpSpPr>
          <p:cNvPr id="23" name="SVG Image 13">
            <a:extLst>
              <a:ext uri="{FF2B5EF4-FFF2-40B4-BE49-F238E27FC236}">
                <a16:creationId xmlns:a16="http://schemas.microsoft.com/office/drawing/2014/main" id="{31A4FF9E-F38D-B156-CC28-A010D98551A3}"/>
              </a:ext>
            </a:extLst>
          </p:cNvPr>
          <p:cNvGrpSpPr/>
          <p:nvPr/>
        </p:nvGrpSpPr>
        <p:grpSpPr>
          <a:xfrm>
            <a:off x="7429500" y="4762500"/>
            <a:ext cx="1905000" cy="762000"/>
            <a:chOff x="7429500" y="4762500"/>
            <a:chExt cx="1905000" cy="762000"/>
          </a:xfrm>
        </p:grpSpPr>
        <p:sp>
          <p:nvSpPr>
            <p:cNvPr id="24" name="任意形状 23">
              <a:extLst>
                <a:ext uri="{FF2B5EF4-FFF2-40B4-BE49-F238E27FC236}">
                  <a16:creationId xmlns:a16="http://schemas.microsoft.com/office/drawing/2014/main" id="{65CE6020-7657-16AE-ED83-3973232B740C}"/>
                </a:ext>
              </a:extLst>
            </p:cNvPr>
            <p:cNvSpPr/>
            <p:nvPr/>
          </p:nvSpPr>
          <p:spPr>
            <a:xfrm>
              <a:off x="7429500" y="4762500"/>
              <a:ext cx="1905000" cy="762000"/>
            </a:xfrm>
            <a:custGeom>
              <a:avLst/>
              <a:gdLst>
                <a:gd name="csX0" fmla="*/ 76200 w 1905000"/>
                <a:gd name="csY0" fmla="*/ 0 h 762000"/>
                <a:gd name="csX1" fmla="*/ 1828800 w 1905000"/>
                <a:gd name="csY1" fmla="*/ 0 h 762000"/>
                <a:gd name="csX2" fmla="*/ 1905000 w 1905000"/>
                <a:gd name="csY2" fmla="*/ 76200 h 762000"/>
                <a:gd name="csX3" fmla="*/ 1905000 w 1905000"/>
                <a:gd name="csY3" fmla="*/ 685800 h 762000"/>
                <a:gd name="csX4" fmla="*/ 1828800 w 1905000"/>
                <a:gd name="csY4" fmla="*/ 762000 h 762000"/>
                <a:gd name="csX5" fmla="*/ 76200 w 1905000"/>
                <a:gd name="csY5" fmla="*/ 762000 h 762000"/>
                <a:gd name="csX6" fmla="*/ 0 w 1905000"/>
                <a:gd name="csY6" fmla="*/ 685800 h 762000"/>
                <a:gd name="csX7" fmla="*/ 0 w 1905000"/>
                <a:gd name="csY7" fmla="*/ 76200 h 762000"/>
                <a:gd name="csX8" fmla="*/ 76200 w 190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05000" h="762000">
                  <a:moveTo>
                    <a:pt x="76200" y="0"/>
                  </a:moveTo>
                  <a:lnTo>
                    <a:pt x="1828800" y="0"/>
                  </a:lnTo>
                  <a:cubicBezTo>
                    <a:pt x="1870884" y="0"/>
                    <a:pt x="1905000" y="34116"/>
                    <a:pt x="1905000" y="76200"/>
                  </a:cubicBezTo>
                  <a:lnTo>
                    <a:pt x="1905000" y="685800"/>
                  </a:lnTo>
                  <a:cubicBezTo>
                    <a:pt x="1905000" y="727884"/>
                    <a:pt x="1870884" y="762000"/>
                    <a:pt x="1828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25" name="文本框 24">
              <a:extLst>
                <a:ext uri="{FF2B5EF4-FFF2-40B4-BE49-F238E27FC236}">
                  <a16:creationId xmlns:a16="http://schemas.microsoft.com/office/drawing/2014/main" id="{F8F74FF1-F566-FAC8-7F60-6507930C9CCC}"/>
                </a:ext>
              </a:extLst>
            </p:cNvPr>
            <p:cNvSpPr txBox="1"/>
            <p:nvPr/>
          </p:nvSpPr>
          <p:spPr>
            <a:xfrm>
              <a:off x="8042910" y="4919135"/>
              <a:ext cx="678180" cy="254867"/>
            </a:xfrm>
            <a:prstGeom prst="rect">
              <a:avLst/>
            </a:prstGeom>
            <a:noFill/>
          </p:spPr>
          <p:txBody>
            <a:bodyPr wrap="none" rtlCol="0">
              <a:spAutoFit/>
            </a:bodyPr>
            <a:lstStyle/>
            <a:p>
              <a:pPr algn="l"/>
              <a:r>
                <a:rPr lang="zh-CN" altLang="en-US" sz="975" spc="0" baseline="0">
                  <a:ln/>
                  <a:solidFill>
                    <a:srgbClr val="FFFFFF">
                      <a:alpha val="70000"/>
                    </a:srgbClr>
                  </a:solidFill>
                  <a:latin typeface="微软雅黑"/>
                  <a:ea typeface="微软雅黑"/>
                  <a:sym typeface="微软雅黑"/>
                  <a:rtl val="0"/>
                </a:rPr>
                <a:t>贷款余额</a:t>
              </a:r>
            </a:p>
          </p:txBody>
        </p:sp>
        <p:sp>
          <p:nvSpPr>
            <p:cNvPr id="26" name="文本框 25">
              <a:extLst>
                <a:ext uri="{FF2B5EF4-FFF2-40B4-BE49-F238E27FC236}">
                  <a16:creationId xmlns:a16="http://schemas.microsoft.com/office/drawing/2014/main" id="{C410683C-7BBE-5662-D61C-D9FBD3DA2FCD}"/>
                </a:ext>
              </a:extLst>
            </p:cNvPr>
            <p:cNvSpPr txBox="1"/>
            <p:nvPr/>
          </p:nvSpPr>
          <p:spPr>
            <a:xfrm>
              <a:off x="7817844" y="5094022"/>
              <a:ext cx="1128310" cy="393151"/>
            </a:xfrm>
            <a:prstGeom prst="rect">
              <a:avLst/>
            </a:prstGeom>
            <a:noFill/>
          </p:spPr>
          <p:txBody>
            <a:bodyPr wrap="none" rtlCol="0">
              <a:spAutoFit/>
            </a:bodyPr>
            <a:lstStyle/>
            <a:p>
              <a:pPr algn="l"/>
              <a:r>
                <a:rPr lang="zh-CN" altLang="en-US" sz="1800" b="1" spc="0" baseline="0">
                  <a:ln/>
                  <a:solidFill>
                    <a:srgbClr val="FFFFFF"/>
                  </a:solidFill>
                  <a:latin typeface="微软雅黑"/>
                  <a:ea typeface="微软雅黑"/>
                  <a:sym typeface="微软雅黑"/>
                  <a:rtl val="0"/>
                </a:rPr>
                <a:t>6.01万亿</a:t>
              </a:r>
            </a:p>
          </p:txBody>
        </p:sp>
      </p:grpSp>
      <p:sp>
        <p:nvSpPr>
          <p:cNvPr id="27" name="文本框 26">
            <a:extLst>
              <a:ext uri="{FF2B5EF4-FFF2-40B4-BE49-F238E27FC236}">
                <a16:creationId xmlns:a16="http://schemas.microsoft.com/office/drawing/2014/main" id="{68C1371C-5926-AE0F-B96B-9251C488DBF9}"/>
              </a:ext>
            </a:extLst>
          </p:cNvPr>
          <p:cNvSpPr txBox="1"/>
          <p:nvPr/>
        </p:nvSpPr>
        <p:spPr>
          <a:xfrm>
            <a:off x="5926360" y="6290181"/>
            <a:ext cx="339279" cy="267438"/>
          </a:xfrm>
          <a:prstGeom prst="rect">
            <a:avLst/>
          </a:prstGeom>
          <a:noFill/>
        </p:spPr>
        <p:txBody>
          <a:bodyPr wrap="none" rtlCol="0">
            <a:spAutoFit/>
          </a:bodyPr>
          <a:lstStyle/>
          <a:p>
            <a:pPr algn="l"/>
            <a:r>
              <a:rPr lang="zh-CN" altLang="en-US" sz="1050" spc="0" baseline="0">
                <a:ln/>
                <a:solidFill>
                  <a:srgbClr val="FFFFFF">
                    <a:alpha val="50000"/>
                  </a:srgbClr>
                </a:solidFill>
                <a:latin typeface="微软雅黑"/>
                <a:ea typeface="微软雅黑"/>
                <a:sym typeface="微软雅黑"/>
                <a:rtl val="0"/>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45FAB82-2390-0369-A5CE-9C7F0FF8869C}"/>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7D3B5D1C-3516-F13B-4AC6-E4B51EF126BB}"/>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B6E42395-0890-098A-0295-20B8D66BB7A3}"/>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6C6FCB8D-5921-0B1E-3CBC-E0D11B1279EF}"/>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894EFCA6-580C-BAAE-4CB7-EE718CC85E13}"/>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B4C63B34-F5F1-BB9F-8473-CB88B5DA9BBA}"/>
              </a:ext>
            </a:extLst>
          </p:cNvPr>
          <p:cNvSpPr txBox="1"/>
          <p:nvPr/>
        </p:nvSpPr>
        <p:spPr>
          <a:xfrm>
            <a:off x="2004060" y="175131"/>
            <a:ext cx="131218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04 银行业金融资源</a:t>
            </a:r>
          </a:p>
        </p:txBody>
      </p:sp>
      <p:sp>
        <p:nvSpPr>
          <p:cNvPr id="10" name="文本框 9">
            <a:extLst>
              <a:ext uri="{FF2B5EF4-FFF2-40B4-BE49-F238E27FC236}">
                <a16:creationId xmlns:a16="http://schemas.microsoft.com/office/drawing/2014/main" id="{3C8040FE-39FD-23DC-AEDB-FB7FF5557F49}"/>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14 / 20</a:t>
            </a:r>
          </a:p>
        </p:txBody>
      </p:sp>
      <p:sp>
        <p:nvSpPr>
          <p:cNvPr id="11" name="矩形 10">
            <a:extLst>
              <a:ext uri="{FF2B5EF4-FFF2-40B4-BE49-F238E27FC236}">
                <a16:creationId xmlns:a16="http://schemas.microsoft.com/office/drawing/2014/main" id="{66E794C1-9FFE-1A4E-0D33-AEDB2067E04D}"/>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03FD65CE-DDC1-C6CA-F001-AC08E12EA5F1}"/>
              </a:ext>
            </a:extLst>
          </p:cNvPr>
          <p:cNvSpPr txBox="1"/>
          <p:nvPr/>
        </p:nvSpPr>
        <p:spPr>
          <a:xfrm>
            <a:off x="480060" y="672208"/>
            <a:ext cx="3954184"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4.1 存贷款规模 &amp; 4.2 银行分布</a:t>
            </a:r>
          </a:p>
        </p:txBody>
      </p:sp>
      <p:grpSp>
        <p:nvGrpSpPr>
          <p:cNvPr id="13" name="SVG Image 14">
            <a:extLst>
              <a:ext uri="{FF2B5EF4-FFF2-40B4-BE49-F238E27FC236}">
                <a16:creationId xmlns:a16="http://schemas.microsoft.com/office/drawing/2014/main" id="{0C789D3A-086E-06FF-8B5E-43090E7EB447}"/>
              </a:ext>
            </a:extLst>
          </p:cNvPr>
          <p:cNvGrpSpPr/>
          <p:nvPr/>
        </p:nvGrpSpPr>
        <p:grpSpPr>
          <a:xfrm>
            <a:off x="571500" y="1238250"/>
            <a:ext cx="1809750" cy="1047750"/>
            <a:chOff x="571500" y="1238250"/>
            <a:chExt cx="1809750" cy="1047750"/>
          </a:xfrm>
        </p:grpSpPr>
        <p:sp>
          <p:nvSpPr>
            <p:cNvPr id="14" name="任意形状 13">
              <a:extLst>
                <a:ext uri="{FF2B5EF4-FFF2-40B4-BE49-F238E27FC236}">
                  <a16:creationId xmlns:a16="http://schemas.microsoft.com/office/drawing/2014/main" id="{FCB523B0-788E-686E-26DA-04E50D0CA9FB}"/>
                </a:ext>
              </a:extLst>
            </p:cNvPr>
            <p:cNvSpPr/>
            <p:nvPr/>
          </p:nvSpPr>
          <p:spPr>
            <a:xfrm>
              <a:off x="571500" y="1238250"/>
              <a:ext cx="1809750" cy="1047750"/>
            </a:xfrm>
            <a:custGeom>
              <a:avLst/>
              <a:gdLst>
                <a:gd name="csX0" fmla="*/ 76200 w 1809750"/>
                <a:gd name="csY0" fmla="*/ 0 h 1047750"/>
                <a:gd name="csX1" fmla="*/ 1733550 w 1809750"/>
                <a:gd name="csY1" fmla="*/ 0 h 1047750"/>
                <a:gd name="csX2" fmla="*/ 1809750 w 1809750"/>
                <a:gd name="csY2" fmla="*/ 76200 h 1047750"/>
                <a:gd name="csX3" fmla="*/ 1809750 w 1809750"/>
                <a:gd name="csY3" fmla="*/ 971550 h 1047750"/>
                <a:gd name="csX4" fmla="*/ 1733550 w 1809750"/>
                <a:gd name="csY4" fmla="*/ 1047750 h 1047750"/>
                <a:gd name="csX5" fmla="*/ 76200 w 1809750"/>
                <a:gd name="csY5" fmla="*/ 1047750 h 1047750"/>
                <a:gd name="csX6" fmla="*/ 0 w 1809750"/>
                <a:gd name="csY6" fmla="*/ 971550 h 1047750"/>
                <a:gd name="csX7" fmla="*/ 0 w 1809750"/>
                <a:gd name="csY7" fmla="*/ 76200 h 1047750"/>
                <a:gd name="csX8" fmla="*/ 76200 w 18097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9750" h="1047750">
                  <a:moveTo>
                    <a:pt x="76200" y="0"/>
                  </a:moveTo>
                  <a:lnTo>
                    <a:pt x="1733550" y="0"/>
                  </a:lnTo>
                  <a:cubicBezTo>
                    <a:pt x="1775634" y="0"/>
                    <a:pt x="1809750" y="34116"/>
                    <a:pt x="1809750" y="76200"/>
                  </a:cubicBezTo>
                  <a:lnTo>
                    <a:pt x="1809750" y="971550"/>
                  </a:lnTo>
                  <a:cubicBezTo>
                    <a:pt x="1809750" y="1013634"/>
                    <a:pt x="1775634" y="1047750"/>
                    <a:pt x="1733550" y="1047750"/>
                  </a:cubicBezTo>
                  <a:lnTo>
                    <a:pt x="76200" y="1047750"/>
                  </a:lnTo>
                  <a:cubicBezTo>
                    <a:pt x="34116" y="1047750"/>
                    <a:pt x="0" y="1013634"/>
                    <a:pt x="0" y="9715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5" name="文本框 14">
              <a:extLst>
                <a:ext uri="{FF2B5EF4-FFF2-40B4-BE49-F238E27FC236}">
                  <a16:creationId xmlns:a16="http://schemas.microsoft.com/office/drawing/2014/main" id="{0C5ED09A-9204-F356-395F-F9994296D043}"/>
                </a:ext>
              </a:extLst>
            </p:cNvPr>
            <p:cNvSpPr txBox="1"/>
            <p:nvPr/>
          </p:nvSpPr>
          <p:spPr>
            <a:xfrm>
              <a:off x="1042035" y="1357338"/>
              <a:ext cx="868680" cy="242295"/>
            </a:xfrm>
            <a:prstGeom prst="rect">
              <a:avLst/>
            </a:prstGeom>
            <a:noFill/>
          </p:spPr>
          <p:txBody>
            <a:bodyPr wrap="none" rtlCol="0">
              <a:spAutoFit/>
            </a:bodyPr>
            <a:lstStyle/>
            <a:p>
              <a:pPr algn="l"/>
              <a:r>
                <a:rPr lang="zh-CN" altLang="en-US" sz="900" spc="0" baseline="0">
                  <a:ln/>
                  <a:solidFill>
                    <a:srgbClr val="FFFFFF">
                      <a:alpha val="80000"/>
                    </a:srgbClr>
                  </a:solidFill>
                  <a:latin typeface="微软雅黑"/>
                  <a:ea typeface="微软雅黑"/>
                  <a:sym typeface="微软雅黑"/>
                  <a:rtl val="0"/>
                </a:rPr>
                <a:t>银行业总资产</a:t>
              </a:r>
            </a:p>
          </p:txBody>
        </p:sp>
        <p:sp>
          <p:nvSpPr>
            <p:cNvPr id="16" name="文本框 15">
              <a:extLst>
                <a:ext uri="{FF2B5EF4-FFF2-40B4-BE49-F238E27FC236}">
                  <a16:creationId xmlns:a16="http://schemas.microsoft.com/office/drawing/2014/main" id="{3B54448B-4349-0979-04D2-4E97D88FACC3}"/>
                </a:ext>
              </a:extLst>
            </p:cNvPr>
            <p:cNvSpPr txBox="1"/>
            <p:nvPr/>
          </p:nvSpPr>
          <p:spPr>
            <a:xfrm>
              <a:off x="935660" y="1577083"/>
              <a:ext cx="1081429" cy="443437"/>
            </a:xfrm>
            <a:prstGeom prst="rect">
              <a:avLst/>
            </a:prstGeom>
            <a:noFill/>
          </p:spPr>
          <p:txBody>
            <a:bodyPr wrap="none" rtlCol="0">
              <a:spAutoFit/>
            </a:bodyPr>
            <a:lstStyle/>
            <a:p>
              <a:pPr algn="l"/>
              <a:r>
                <a:rPr lang="zh-CN" altLang="en-US" sz="2100" b="1" spc="0" baseline="0">
                  <a:ln/>
                  <a:solidFill>
                    <a:srgbClr val="FFFFFF"/>
                  </a:solidFill>
                  <a:latin typeface="微软雅黑"/>
                  <a:ea typeface="微软雅黑"/>
                  <a:sym typeface="微软雅黑"/>
                  <a:rtl val="0"/>
                </a:rPr>
                <a:t>81,178</a:t>
              </a:r>
            </a:p>
          </p:txBody>
        </p:sp>
        <p:sp>
          <p:nvSpPr>
            <p:cNvPr id="17" name="文本框 16">
              <a:extLst>
                <a:ext uri="{FF2B5EF4-FFF2-40B4-BE49-F238E27FC236}">
                  <a16:creationId xmlns:a16="http://schemas.microsoft.com/office/drawing/2014/main" id="{9C318E26-2988-220C-09A6-1725CE317582}"/>
                </a:ext>
              </a:extLst>
            </p:cNvPr>
            <p:cNvSpPr txBox="1"/>
            <p:nvPr/>
          </p:nvSpPr>
          <p:spPr>
            <a:xfrm>
              <a:off x="1270635" y="1928838"/>
              <a:ext cx="411480" cy="242295"/>
            </a:xfrm>
            <a:prstGeom prst="rect">
              <a:avLst/>
            </a:prstGeom>
            <a:noFill/>
          </p:spPr>
          <p:txBody>
            <a:bodyPr wrap="none" rtlCol="0">
              <a:spAutoFit/>
            </a:bodyPr>
            <a:lstStyle/>
            <a:p>
              <a:pPr algn="l"/>
              <a:r>
                <a:rPr lang="zh-CN" altLang="en-US" sz="900" spc="0" baseline="0">
                  <a:ln/>
                  <a:solidFill>
                    <a:srgbClr val="FFFFFF">
                      <a:alpha val="70000"/>
                    </a:srgbClr>
                  </a:solidFill>
                  <a:latin typeface="微软雅黑"/>
                  <a:ea typeface="微软雅黑"/>
                  <a:sym typeface="微软雅黑"/>
                  <a:rtl val="0"/>
                </a:rPr>
                <a:t>亿元</a:t>
              </a:r>
            </a:p>
          </p:txBody>
        </p:sp>
      </p:grpSp>
      <p:grpSp>
        <p:nvGrpSpPr>
          <p:cNvPr id="18" name="SVG Image 14">
            <a:extLst>
              <a:ext uri="{FF2B5EF4-FFF2-40B4-BE49-F238E27FC236}">
                <a16:creationId xmlns:a16="http://schemas.microsoft.com/office/drawing/2014/main" id="{45F2B949-BBE5-9590-B4B5-C2ECC884B55B}"/>
              </a:ext>
            </a:extLst>
          </p:cNvPr>
          <p:cNvGrpSpPr/>
          <p:nvPr/>
        </p:nvGrpSpPr>
        <p:grpSpPr>
          <a:xfrm>
            <a:off x="2571750" y="1238250"/>
            <a:ext cx="1809750" cy="1047750"/>
            <a:chOff x="2571750" y="1238250"/>
            <a:chExt cx="1809750" cy="1047750"/>
          </a:xfrm>
        </p:grpSpPr>
        <p:sp>
          <p:nvSpPr>
            <p:cNvPr id="19" name="任意形状 18">
              <a:extLst>
                <a:ext uri="{FF2B5EF4-FFF2-40B4-BE49-F238E27FC236}">
                  <a16:creationId xmlns:a16="http://schemas.microsoft.com/office/drawing/2014/main" id="{A8143138-A7D5-7BB1-FB2A-6804C66E573F}"/>
                </a:ext>
              </a:extLst>
            </p:cNvPr>
            <p:cNvSpPr/>
            <p:nvPr/>
          </p:nvSpPr>
          <p:spPr>
            <a:xfrm>
              <a:off x="2571750" y="1238250"/>
              <a:ext cx="1809750" cy="1047750"/>
            </a:xfrm>
            <a:custGeom>
              <a:avLst/>
              <a:gdLst>
                <a:gd name="csX0" fmla="*/ 76200 w 1809750"/>
                <a:gd name="csY0" fmla="*/ 0 h 1047750"/>
                <a:gd name="csX1" fmla="*/ 1733550 w 1809750"/>
                <a:gd name="csY1" fmla="*/ 0 h 1047750"/>
                <a:gd name="csX2" fmla="*/ 1809750 w 1809750"/>
                <a:gd name="csY2" fmla="*/ 76200 h 1047750"/>
                <a:gd name="csX3" fmla="*/ 1809750 w 1809750"/>
                <a:gd name="csY3" fmla="*/ 971550 h 1047750"/>
                <a:gd name="csX4" fmla="*/ 1733550 w 1809750"/>
                <a:gd name="csY4" fmla="*/ 1047750 h 1047750"/>
                <a:gd name="csX5" fmla="*/ 76200 w 1809750"/>
                <a:gd name="csY5" fmla="*/ 1047750 h 1047750"/>
                <a:gd name="csX6" fmla="*/ 0 w 1809750"/>
                <a:gd name="csY6" fmla="*/ 971550 h 1047750"/>
                <a:gd name="csX7" fmla="*/ 0 w 1809750"/>
                <a:gd name="csY7" fmla="*/ 76200 h 1047750"/>
                <a:gd name="csX8" fmla="*/ 76200 w 18097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9750" h="1047750">
                  <a:moveTo>
                    <a:pt x="76200" y="0"/>
                  </a:moveTo>
                  <a:lnTo>
                    <a:pt x="1733550" y="0"/>
                  </a:lnTo>
                  <a:cubicBezTo>
                    <a:pt x="1775634" y="0"/>
                    <a:pt x="1809750" y="34116"/>
                    <a:pt x="1809750" y="76200"/>
                  </a:cubicBezTo>
                  <a:lnTo>
                    <a:pt x="1809750" y="971550"/>
                  </a:lnTo>
                  <a:cubicBezTo>
                    <a:pt x="1809750" y="1013634"/>
                    <a:pt x="1775634" y="1047750"/>
                    <a:pt x="17335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0" name="文本框 19">
              <a:extLst>
                <a:ext uri="{FF2B5EF4-FFF2-40B4-BE49-F238E27FC236}">
                  <a16:creationId xmlns:a16="http://schemas.microsoft.com/office/drawing/2014/main" id="{BB1635AF-09E6-67A7-5D32-33219CA44AD7}"/>
                </a:ext>
              </a:extLst>
            </p:cNvPr>
            <p:cNvSpPr txBox="1"/>
            <p:nvPr/>
          </p:nvSpPr>
          <p:spPr>
            <a:xfrm>
              <a:off x="2985135" y="1357338"/>
              <a:ext cx="9829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本外币存款余额</a:t>
              </a:r>
            </a:p>
          </p:txBody>
        </p:sp>
        <p:sp>
          <p:nvSpPr>
            <p:cNvPr id="21" name="文本框 20">
              <a:extLst>
                <a:ext uri="{FF2B5EF4-FFF2-40B4-BE49-F238E27FC236}">
                  <a16:creationId xmlns:a16="http://schemas.microsoft.com/office/drawing/2014/main" id="{13897447-DEC1-641E-70A1-61C461EFB998}"/>
                </a:ext>
              </a:extLst>
            </p:cNvPr>
            <p:cNvSpPr txBox="1"/>
            <p:nvPr/>
          </p:nvSpPr>
          <p:spPr>
            <a:xfrm>
              <a:off x="2935910" y="1577083"/>
              <a:ext cx="1081429"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56,328</a:t>
              </a:r>
            </a:p>
          </p:txBody>
        </p:sp>
        <p:sp>
          <p:nvSpPr>
            <p:cNvPr id="22" name="文本框 21">
              <a:extLst>
                <a:ext uri="{FF2B5EF4-FFF2-40B4-BE49-F238E27FC236}">
                  <a16:creationId xmlns:a16="http://schemas.microsoft.com/office/drawing/2014/main" id="{99555789-3AAC-9EFF-62F9-CE80559D1624}"/>
                </a:ext>
              </a:extLst>
            </p:cNvPr>
            <p:cNvSpPr txBox="1"/>
            <p:nvPr/>
          </p:nvSpPr>
          <p:spPr>
            <a:xfrm>
              <a:off x="3270885" y="1928838"/>
              <a:ext cx="4114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亿元</a:t>
              </a:r>
            </a:p>
          </p:txBody>
        </p:sp>
      </p:grpSp>
      <p:grpSp>
        <p:nvGrpSpPr>
          <p:cNvPr id="23" name="SVG Image 14">
            <a:extLst>
              <a:ext uri="{FF2B5EF4-FFF2-40B4-BE49-F238E27FC236}">
                <a16:creationId xmlns:a16="http://schemas.microsoft.com/office/drawing/2014/main" id="{F660E3B4-E85A-C247-4AEC-528A410DC86D}"/>
              </a:ext>
            </a:extLst>
          </p:cNvPr>
          <p:cNvGrpSpPr/>
          <p:nvPr/>
        </p:nvGrpSpPr>
        <p:grpSpPr>
          <a:xfrm>
            <a:off x="4572000" y="1238250"/>
            <a:ext cx="1809750" cy="1047750"/>
            <a:chOff x="4572000" y="1238250"/>
            <a:chExt cx="1809750" cy="1047750"/>
          </a:xfrm>
        </p:grpSpPr>
        <p:sp>
          <p:nvSpPr>
            <p:cNvPr id="24" name="任意形状 23">
              <a:extLst>
                <a:ext uri="{FF2B5EF4-FFF2-40B4-BE49-F238E27FC236}">
                  <a16:creationId xmlns:a16="http://schemas.microsoft.com/office/drawing/2014/main" id="{6A652FE7-B1F3-2346-BA83-A9ECED600C10}"/>
                </a:ext>
              </a:extLst>
            </p:cNvPr>
            <p:cNvSpPr/>
            <p:nvPr/>
          </p:nvSpPr>
          <p:spPr>
            <a:xfrm>
              <a:off x="4572000" y="1238250"/>
              <a:ext cx="1809750" cy="1047750"/>
            </a:xfrm>
            <a:custGeom>
              <a:avLst/>
              <a:gdLst>
                <a:gd name="csX0" fmla="*/ 76200 w 1809750"/>
                <a:gd name="csY0" fmla="*/ 0 h 1047750"/>
                <a:gd name="csX1" fmla="*/ 1733550 w 1809750"/>
                <a:gd name="csY1" fmla="*/ 0 h 1047750"/>
                <a:gd name="csX2" fmla="*/ 1809750 w 1809750"/>
                <a:gd name="csY2" fmla="*/ 76200 h 1047750"/>
                <a:gd name="csX3" fmla="*/ 1809750 w 1809750"/>
                <a:gd name="csY3" fmla="*/ 971550 h 1047750"/>
                <a:gd name="csX4" fmla="*/ 1733550 w 1809750"/>
                <a:gd name="csY4" fmla="*/ 1047750 h 1047750"/>
                <a:gd name="csX5" fmla="*/ 76200 w 1809750"/>
                <a:gd name="csY5" fmla="*/ 1047750 h 1047750"/>
                <a:gd name="csX6" fmla="*/ 0 w 1809750"/>
                <a:gd name="csY6" fmla="*/ 971550 h 1047750"/>
                <a:gd name="csX7" fmla="*/ 0 w 1809750"/>
                <a:gd name="csY7" fmla="*/ 76200 h 1047750"/>
                <a:gd name="csX8" fmla="*/ 76200 w 18097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9750" h="1047750">
                  <a:moveTo>
                    <a:pt x="76200" y="0"/>
                  </a:moveTo>
                  <a:lnTo>
                    <a:pt x="1733550" y="0"/>
                  </a:lnTo>
                  <a:cubicBezTo>
                    <a:pt x="1775634" y="0"/>
                    <a:pt x="1809750" y="34116"/>
                    <a:pt x="1809750" y="76200"/>
                  </a:cubicBezTo>
                  <a:lnTo>
                    <a:pt x="1809750" y="971550"/>
                  </a:lnTo>
                  <a:cubicBezTo>
                    <a:pt x="1809750" y="1013634"/>
                    <a:pt x="1775634" y="1047750"/>
                    <a:pt x="17335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5" name="文本框 24">
              <a:extLst>
                <a:ext uri="{FF2B5EF4-FFF2-40B4-BE49-F238E27FC236}">
                  <a16:creationId xmlns:a16="http://schemas.microsoft.com/office/drawing/2014/main" id="{38581962-C485-2365-6783-019FFD4378B0}"/>
                </a:ext>
              </a:extLst>
            </p:cNvPr>
            <p:cNvSpPr txBox="1"/>
            <p:nvPr/>
          </p:nvSpPr>
          <p:spPr>
            <a:xfrm>
              <a:off x="4985385" y="1357338"/>
              <a:ext cx="9829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本外币贷款余额</a:t>
              </a:r>
            </a:p>
          </p:txBody>
        </p:sp>
        <p:sp>
          <p:nvSpPr>
            <p:cNvPr id="26" name="文本框 25">
              <a:extLst>
                <a:ext uri="{FF2B5EF4-FFF2-40B4-BE49-F238E27FC236}">
                  <a16:creationId xmlns:a16="http://schemas.microsoft.com/office/drawing/2014/main" id="{C7B2AEA3-EF56-4674-E737-00D3B4C781A1}"/>
                </a:ext>
              </a:extLst>
            </p:cNvPr>
            <p:cNvSpPr txBox="1"/>
            <p:nvPr/>
          </p:nvSpPr>
          <p:spPr>
            <a:xfrm>
              <a:off x="4936160" y="1577083"/>
              <a:ext cx="1081429"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60,119</a:t>
              </a:r>
            </a:p>
          </p:txBody>
        </p:sp>
        <p:sp>
          <p:nvSpPr>
            <p:cNvPr id="27" name="文本框 26">
              <a:extLst>
                <a:ext uri="{FF2B5EF4-FFF2-40B4-BE49-F238E27FC236}">
                  <a16:creationId xmlns:a16="http://schemas.microsoft.com/office/drawing/2014/main" id="{7EA84D0D-1801-049D-CD58-4ECE66B29309}"/>
                </a:ext>
              </a:extLst>
            </p:cNvPr>
            <p:cNvSpPr txBox="1"/>
            <p:nvPr/>
          </p:nvSpPr>
          <p:spPr>
            <a:xfrm>
              <a:off x="5271135" y="1928838"/>
              <a:ext cx="4114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亿元</a:t>
              </a:r>
            </a:p>
          </p:txBody>
        </p:sp>
      </p:grpSp>
      <p:grpSp>
        <p:nvGrpSpPr>
          <p:cNvPr id="28" name="SVG Image 14">
            <a:extLst>
              <a:ext uri="{FF2B5EF4-FFF2-40B4-BE49-F238E27FC236}">
                <a16:creationId xmlns:a16="http://schemas.microsoft.com/office/drawing/2014/main" id="{E5D424DE-6D2C-3F91-E708-58CB9F48D980}"/>
              </a:ext>
            </a:extLst>
          </p:cNvPr>
          <p:cNvGrpSpPr/>
          <p:nvPr/>
        </p:nvGrpSpPr>
        <p:grpSpPr>
          <a:xfrm>
            <a:off x="6572250" y="1238250"/>
            <a:ext cx="1809750" cy="1047750"/>
            <a:chOff x="6572250" y="1238250"/>
            <a:chExt cx="1809750" cy="1047750"/>
          </a:xfrm>
        </p:grpSpPr>
        <p:sp>
          <p:nvSpPr>
            <p:cNvPr id="29" name="任意形状 28">
              <a:extLst>
                <a:ext uri="{FF2B5EF4-FFF2-40B4-BE49-F238E27FC236}">
                  <a16:creationId xmlns:a16="http://schemas.microsoft.com/office/drawing/2014/main" id="{509F0332-09E9-AACA-3B4E-678AF938B2CF}"/>
                </a:ext>
              </a:extLst>
            </p:cNvPr>
            <p:cNvSpPr/>
            <p:nvPr/>
          </p:nvSpPr>
          <p:spPr>
            <a:xfrm>
              <a:off x="6572250" y="1238250"/>
              <a:ext cx="1809750" cy="1047750"/>
            </a:xfrm>
            <a:custGeom>
              <a:avLst/>
              <a:gdLst>
                <a:gd name="csX0" fmla="*/ 76200 w 1809750"/>
                <a:gd name="csY0" fmla="*/ 0 h 1047750"/>
                <a:gd name="csX1" fmla="*/ 1733550 w 1809750"/>
                <a:gd name="csY1" fmla="*/ 0 h 1047750"/>
                <a:gd name="csX2" fmla="*/ 1809750 w 1809750"/>
                <a:gd name="csY2" fmla="*/ 76200 h 1047750"/>
                <a:gd name="csX3" fmla="*/ 1809750 w 1809750"/>
                <a:gd name="csY3" fmla="*/ 971550 h 1047750"/>
                <a:gd name="csX4" fmla="*/ 1733550 w 1809750"/>
                <a:gd name="csY4" fmla="*/ 1047750 h 1047750"/>
                <a:gd name="csX5" fmla="*/ 76200 w 1809750"/>
                <a:gd name="csY5" fmla="*/ 1047750 h 1047750"/>
                <a:gd name="csX6" fmla="*/ 0 w 1809750"/>
                <a:gd name="csY6" fmla="*/ 971550 h 1047750"/>
                <a:gd name="csX7" fmla="*/ 0 w 1809750"/>
                <a:gd name="csY7" fmla="*/ 76200 h 1047750"/>
                <a:gd name="csX8" fmla="*/ 76200 w 180975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9750" h="1047750">
                  <a:moveTo>
                    <a:pt x="76200" y="0"/>
                  </a:moveTo>
                  <a:lnTo>
                    <a:pt x="1733550" y="0"/>
                  </a:lnTo>
                  <a:cubicBezTo>
                    <a:pt x="1775634" y="0"/>
                    <a:pt x="1809750" y="34116"/>
                    <a:pt x="1809750" y="76200"/>
                  </a:cubicBezTo>
                  <a:lnTo>
                    <a:pt x="1809750" y="971550"/>
                  </a:lnTo>
                  <a:cubicBezTo>
                    <a:pt x="1809750" y="1013634"/>
                    <a:pt x="1775634" y="1047750"/>
                    <a:pt x="173355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0" name="文本框 29">
              <a:extLst>
                <a:ext uri="{FF2B5EF4-FFF2-40B4-BE49-F238E27FC236}">
                  <a16:creationId xmlns:a16="http://schemas.microsoft.com/office/drawing/2014/main" id="{0377DC0F-B13F-A70F-B163-8B6E631C10BF}"/>
                </a:ext>
              </a:extLst>
            </p:cNvPr>
            <p:cNvSpPr txBox="1"/>
            <p:nvPr/>
          </p:nvSpPr>
          <p:spPr>
            <a:xfrm>
              <a:off x="7099935" y="1357338"/>
              <a:ext cx="7543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不良贷款率</a:t>
              </a:r>
            </a:p>
          </p:txBody>
        </p:sp>
        <p:sp>
          <p:nvSpPr>
            <p:cNvPr id="31" name="文本框 30">
              <a:extLst>
                <a:ext uri="{FF2B5EF4-FFF2-40B4-BE49-F238E27FC236}">
                  <a16:creationId xmlns:a16="http://schemas.microsoft.com/office/drawing/2014/main" id="{EE87A55A-C1E6-F3CB-78B7-3C0E36E4CA9B}"/>
                </a:ext>
              </a:extLst>
            </p:cNvPr>
            <p:cNvSpPr txBox="1"/>
            <p:nvPr/>
          </p:nvSpPr>
          <p:spPr>
            <a:xfrm>
              <a:off x="6976714" y="1577083"/>
              <a:ext cx="1000820" cy="443437"/>
            </a:xfrm>
            <a:prstGeom prst="rect">
              <a:avLst/>
            </a:prstGeom>
            <a:noFill/>
          </p:spPr>
          <p:txBody>
            <a:bodyPr wrap="none" rtlCol="0">
              <a:spAutoFit/>
            </a:bodyPr>
            <a:lstStyle/>
            <a:p>
              <a:pPr algn="l"/>
              <a:r>
                <a:rPr lang="zh-CN" altLang="en-US" sz="2100" b="1" spc="0" baseline="0">
                  <a:ln/>
                  <a:solidFill>
                    <a:srgbClr val="2ECC71"/>
                  </a:solidFill>
                  <a:latin typeface="微软雅黑"/>
                  <a:ea typeface="微软雅黑"/>
                  <a:sym typeface="微软雅黑"/>
                  <a:rtl val="0"/>
                </a:rPr>
                <a:t>1.14%</a:t>
              </a:r>
            </a:p>
          </p:txBody>
        </p:sp>
        <p:sp>
          <p:nvSpPr>
            <p:cNvPr id="32" name="文本框 31">
              <a:extLst>
                <a:ext uri="{FF2B5EF4-FFF2-40B4-BE49-F238E27FC236}">
                  <a16:creationId xmlns:a16="http://schemas.microsoft.com/office/drawing/2014/main" id="{C88BC0B4-03E2-838A-34FF-C0AA9BEC0BCE}"/>
                </a:ext>
              </a:extLst>
            </p:cNvPr>
            <p:cNvSpPr txBox="1"/>
            <p:nvPr/>
          </p:nvSpPr>
          <p:spPr>
            <a:xfrm>
              <a:off x="7026460" y="1928838"/>
              <a:ext cx="901329"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较上年降低</a:t>
              </a:r>
            </a:p>
          </p:txBody>
        </p:sp>
      </p:grpSp>
      <p:grpSp>
        <p:nvGrpSpPr>
          <p:cNvPr id="33" name="SVG Image 14">
            <a:extLst>
              <a:ext uri="{FF2B5EF4-FFF2-40B4-BE49-F238E27FC236}">
                <a16:creationId xmlns:a16="http://schemas.microsoft.com/office/drawing/2014/main" id="{E0878AA8-53BA-41A6-B5BB-229E6EEF10B2}"/>
              </a:ext>
            </a:extLst>
          </p:cNvPr>
          <p:cNvGrpSpPr/>
          <p:nvPr/>
        </p:nvGrpSpPr>
        <p:grpSpPr>
          <a:xfrm>
            <a:off x="8572500" y="1238250"/>
            <a:ext cx="3048000" cy="1047750"/>
            <a:chOff x="8572500" y="1238250"/>
            <a:chExt cx="3048000" cy="1047750"/>
          </a:xfrm>
        </p:grpSpPr>
        <p:sp>
          <p:nvSpPr>
            <p:cNvPr id="34" name="任意形状 33">
              <a:extLst>
                <a:ext uri="{FF2B5EF4-FFF2-40B4-BE49-F238E27FC236}">
                  <a16:creationId xmlns:a16="http://schemas.microsoft.com/office/drawing/2014/main" id="{A036D376-967A-BEAC-B657-372DDCFE1AEA}"/>
                </a:ext>
              </a:extLst>
            </p:cNvPr>
            <p:cNvSpPr/>
            <p:nvPr/>
          </p:nvSpPr>
          <p:spPr>
            <a:xfrm>
              <a:off x="8572500" y="1238250"/>
              <a:ext cx="3048000" cy="1047750"/>
            </a:xfrm>
            <a:custGeom>
              <a:avLst/>
              <a:gdLst>
                <a:gd name="csX0" fmla="*/ 76200 w 3048000"/>
                <a:gd name="csY0" fmla="*/ 0 h 1047750"/>
                <a:gd name="csX1" fmla="*/ 2971800 w 3048000"/>
                <a:gd name="csY1" fmla="*/ 0 h 1047750"/>
                <a:gd name="csX2" fmla="*/ 3048000 w 3048000"/>
                <a:gd name="csY2" fmla="*/ 76200 h 1047750"/>
                <a:gd name="csX3" fmla="*/ 3048000 w 3048000"/>
                <a:gd name="csY3" fmla="*/ 971550 h 1047750"/>
                <a:gd name="csX4" fmla="*/ 2971800 w 3048000"/>
                <a:gd name="csY4" fmla="*/ 1047750 h 1047750"/>
                <a:gd name="csX5" fmla="*/ 76200 w 3048000"/>
                <a:gd name="csY5" fmla="*/ 1047750 h 1047750"/>
                <a:gd name="csX6" fmla="*/ 0 w 3048000"/>
                <a:gd name="csY6" fmla="*/ 971550 h 1047750"/>
                <a:gd name="csX7" fmla="*/ 0 w 3048000"/>
                <a:gd name="csY7" fmla="*/ 76200 h 1047750"/>
                <a:gd name="csX8" fmla="*/ 76200 w 304800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48000" h="1047750">
                  <a:moveTo>
                    <a:pt x="76200" y="0"/>
                  </a:moveTo>
                  <a:lnTo>
                    <a:pt x="2971800" y="0"/>
                  </a:lnTo>
                  <a:cubicBezTo>
                    <a:pt x="3013885" y="0"/>
                    <a:pt x="3048000" y="34116"/>
                    <a:pt x="3048000" y="76200"/>
                  </a:cubicBezTo>
                  <a:lnTo>
                    <a:pt x="3048000" y="971550"/>
                  </a:lnTo>
                  <a:cubicBezTo>
                    <a:pt x="3048000" y="1013634"/>
                    <a:pt x="3013885" y="1047750"/>
                    <a:pt x="2971800" y="1047750"/>
                  </a:cubicBezTo>
                  <a:lnTo>
                    <a:pt x="76200" y="1047750"/>
                  </a:lnTo>
                  <a:cubicBezTo>
                    <a:pt x="34116" y="1047750"/>
                    <a:pt x="0" y="1013634"/>
                    <a:pt x="0" y="971550"/>
                  </a:cubicBezTo>
                  <a:lnTo>
                    <a:pt x="0" y="76200"/>
                  </a:lnTo>
                  <a:cubicBezTo>
                    <a:pt x="0" y="34116"/>
                    <a:pt x="34116" y="0"/>
                    <a:pt x="76200" y="0"/>
                  </a:cubicBezTo>
                  <a:close/>
                </a:path>
              </a:pathLst>
            </a:custGeom>
            <a:solidFill>
              <a:srgbClr val="EBF4FF"/>
            </a:solidFill>
            <a:ln w="9525" cap="flat">
              <a:noFill/>
              <a:prstDash val="solid"/>
              <a:miter/>
            </a:ln>
          </p:spPr>
          <p:txBody>
            <a:bodyPr/>
            <a:lstStyle/>
            <a:p>
              <a:endParaRPr lang="zh-CN" altLang="en-US"/>
            </a:p>
          </p:txBody>
        </p:sp>
        <p:sp>
          <p:nvSpPr>
            <p:cNvPr id="35" name="文本框 34">
              <a:extLst>
                <a:ext uri="{FF2B5EF4-FFF2-40B4-BE49-F238E27FC236}">
                  <a16:creationId xmlns:a16="http://schemas.microsoft.com/office/drawing/2014/main" id="{56E206E9-33F0-747B-72C1-9D7B4E64DE2F}"/>
                </a:ext>
              </a:extLst>
            </p:cNvPr>
            <p:cNvSpPr txBox="1"/>
            <p:nvPr/>
          </p:nvSpPr>
          <p:spPr>
            <a:xfrm>
              <a:off x="9833610" y="1357338"/>
              <a:ext cx="5257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存贷比</a:t>
              </a:r>
            </a:p>
          </p:txBody>
        </p:sp>
        <p:sp>
          <p:nvSpPr>
            <p:cNvPr id="36" name="文本框 35">
              <a:extLst>
                <a:ext uri="{FF2B5EF4-FFF2-40B4-BE49-F238E27FC236}">
                  <a16:creationId xmlns:a16="http://schemas.microsoft.com/office/drawing/2014/main" id="{016E658C-88C0-2E56-458A-8676F3C81867}"/>
                </a:ext>
              </a:extLst>
            </p:cNvPr>
            <p:cNvSpPr txBox="1"/>
            <p:nvPr/>
          </p:nvSpPr>
          <p:spPr>
            <a:xfrm>
              <a:off x="9431615" y="1577083"/>
              <a:ext cx="1329768" cy="443437"/>
            </a:xfrm>
            <a:prstGeom prst="rect">
              <a:avLst/>
            </a:prstGeom>
            <a:noFill/>
          </p:spPr>
          <p:txBody>
            <a:bodyPr wrap="none" rtlCol="0">
              <a:spAutoFit/>
            </a:bodyPr>
            <a:lstStyle/>
            <a:p>
              <a:pPr algn="l"/>
              <a:r>
                <a:rPr lang="zh-CN" altLang="en-US" sz="2100" b="1" spc="0" baseline="0">
                  <a:ln/>
                  <a:solidFill>
                    <a:srgbClr val="4A90D9"/>
                  </a:solidFill>
                  <a:latin typeface="微软雅黑"/>
                  <a:ea typeface="微软雅黑"/>
                  <a:sym typeface="微软雅黑"/>
                  <a:rtl val="0"/>
                </a:rPr>
                <a:t>106.73%</a:t>
              </a:r>
            </a:p>
          </p:txBody>
        </p:sp>
        <p:sp>
          <p:nvSpPr>
            <p:cNvPr id="37" name="文本框 36">
              <a:extLst>
                <a:ext uri="{FF2B5EF4-FFF2-40B4-BE49-F238E27FC236}">
                  <a16:creationId xmlns:a16="http://schemas.microsoft.com/office/drawing/2014/main" id="{4DC07A83-1228-25A3-6DF0-A54F07850EE5}"/>
                </a:ext>
              </a:extLst>
            </p:cNvPr>
            <p:cNvSpPr txBox="1"/>
            <p:nvPr/>
          </p:nvSpPr>
          <p:spPr>
            <a:xfrm>
              <a:off x="8976360" y="1928838"/>
              <a:ext cx="22402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贷款规模超存款，金融支持实体经济有力</a:t>
              </a:r>
            </a:p>
          </p:txBody>
        </p:sp>
      </p:grpSp>
      <p:grpSp>
        <p:nvGrpSpPr>
          <p:cNvPr id="38" name="SVG Image 14">
            <a:extLst>
              <a:ext uri="{FF2B5EF4-FFF2-40B4-BE49-F238E27FC236}">
                <a16:creationId xmlns:a16="http://schemas.microsoft.com/office/drawing/2014/main" id="{712A56CD-883C-A9B7-78A7-E445EF4C5D60}"/>
              </a:ext>
            </a:extLst>
          </p:cNvPr>
          <p:cNvGrpSpPr/>
          <p:nvPr/>
        </p:nvGrpSpPr>
        <p:grpSpPr>
          <a:xfrm>
            <a:off x="571500" y="2476500"/>
            <a:ext cx="5524500" cy="2762250"/>
            <a:chOff x="571500" y="2476500"/>
            <a:chExt cx="5524500" cy="2762250"/>
          </a:xfrm>
        </p:grpSpPr>
        <p:sp>
          <p:nvSpPr>
            <p:cNvPr id="39" name="任意形状 38">
              <a:extLst>
                <a:ext uri="{FF2B5EF4-FFF2-40B4-BE49-F238E27FC236}">
                  <a16:creationId xmlns:a16="http://schemas.microsoft.com/office/drawing/2014/main" id="{9F14C2AD-5AD6-0110-F97C-A1E2E09C1C89}"/>
                </a:ext>
              </a:extLst>
            </p:cNvPr>
            <p:cNvSpPr/>
            <p:nvPr/>
          </p:nvSpPr>
          <p:spPr>
            <a:xfrm>
              <a:off x="571500" y="2476500"/>
              <a:ext cx="5524500" cy="2762250"/>
            </a:xfrm>
            <a:custGeom>
              <a:avLst/>
              <a:gdLst>
                <a:gd name="csX0" fmla="*/ 76200 w 5524500"/>
                <a:gd name="csY0" fmla="*/ 0 h 2762250"/>
                <a:gd name="csX1" fmla="*/ 5448300 w 5524500"/>
                <a:gd name="csY1" fmla="*/ 0 h 2762250"/>
                <a:gd name="csX2" fmla="*/ 5524500 w 5524500"/>
                <a:gd name="csY2" fmla="*/ 76200 h 2762250"/>
                <a:gd name="csX3" fmla="*/ 5524500 w 5524500"/>
                <a:gd name="csY3" fmla="*/ 2686050 h 2762250"/>
                <a:gd name="csX4" fmla="*/ 5448300 w 5524500"/>
                <a:gd name="csY4" fmla="*/ 2762250 h 2762250"/>
                <a:gd name="csX5" fmla="*/ 76200 w 5524500"/>
                <a:gd name="csY5" fmla="*/ 2762250 h 2762250"/>
                <a:gd name="csX6" fmla="*/ 0 w 5524500"/>
                <a:gd name="csY6" fmla="*/ 2686050 h 2762250"/>
                <a:gd name="csX7" fmla="*/ 0 w 5524500"/>
                <a:gd name="csY7" fmla="*/ 76200 h 2762250"/>
                <a:gd name="csX8" fmla="*/ 76200 w 5524500"/>
                <a:gd name="csY8" fmla="*/ 0 h 2762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2762250">
                  <a:moveTo>
                    <a:pt x="76200" y="0"/>
                  </a:moveTo>
                  <a:lnTo>
                    <a:pt x="5448300" y="0"/>
                  </a:lnTo>
                  <a:cubicBezTo>
                    <a:pt x="5490384" y="0"/>
                    <a:pt x="5524500" y="34116"/>
                    <a:pt x="5524500" y="76200"/>
                  </a:cubicBezTo>
                  <a:lnTo>
                    <a:pt x="5524500" y="2686050"/>
                  </a:lnTo>
                  <a:cubicBezTo>
                    <a:pt x="5524500" y="2728134"/>
                    <a:pt x="5490384" y="2762250"/>
                    <a:pt x="5448300" y="2762250"/>
                  </a:cubicBezTo>
                  <a:lnTo>
                    <a:pt x="76200" y="2762250"/>
                  </a:lnTo>
                  <a:cubicBezTo>
                    <a:pt x="34116" y="2762250"/>
                    <a:pt x="0" y="2728134"/>
                    <a:pt x="0" y="2686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0" name="文本框 39">
              <a:extLst>
                <a:ext uri="{FF2B5EF4-FFF2-40B4-BE49-F238E27FC236}">
                  <a16:creationId xmlns:a16="http://schemas.microsoft.com/office/drawing/2014/main" id="{5EEB2FBC-E97B-C9AA-6379-4EEACE09B641}"/>
                </a:ext>
              </a:extLst>
            </p:cNvPr>
            <p:cNvSpPr txBox="1"/>
            <p:nvPr/>
          </p:nvSpPr>
          <p:spPr>
            <a:xfrm>
              <a:off x="765810" y="2602899"/>
              <a:ext cx="10972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银行机构分布</a:t>
              </a:r>
            </a:p>
          </p:txBody>
        </p:sp>
        <p:sp>
          <p:nvSpPr>
            <p:cNvPr id="41" name="任意形状 40">
              <a:extLst>
                <a:ext uri="{FF2B5EF4-FFF2-40B4-BE49-F238E27FC236}">
                  <a16:creationId xmlns:a16="http://schemas.microsoft.com/office/drawing/2014/main" id="{390A8588-1E32-0356-9B2F-6B531B76532B}"/>
                </a:ext>
              </a:extLst>
            </p:cNvPr>
            <p:cNvSpPr/>
            <p:nvPr/>
          </p:nvSpPr>
          <p:spPr>
            <a:xfrm>
              <a:off x="857250" y="3000375"/>
              <a:ext cx="4953000" cy="285750"/>
            </a:xfrm>
            <a:custGeom>
              <a:avLst/>
              <a:gdLst>
                <a:gd name="csX0" fmla="*/ 38100 w 4953000"/>
                <a:gd name="csY0" fmla="*/ 0 h 285750"/>
                <a:gd name="csX1" fmla="*/ 4914900 w 4953000"/>
                <a:gd name="csY1" fmla="*/ 0 h 285750"/>
                <a:gd name="csX2" fmla="*/ 4953000 w 4953000"/>
                <a:gd name="csY2" fmla="*/ 38100 h 285750"/>
                <a:gd name="csX3" fmla="*/ 4953000 w 4953000"/>
                <a:gd name="csY3" fmla="*/ 247650 h 285750"/>
                <a:gd name="csX4" fmla="*/ 4914900 w 4953000"/>
                <a:gd name="csY4" fmla="*/ 285750 h 285750"/>
                <a:gd name="csX5" fmla="*/ 38100 w 4953000"/>
                <a:gd name="csY5" fmla="*/ 285750 h 285750"/>
                <a:gd name="csX6" fmla="*/ 0 w 4953000"/>
                <a:gd name="csY6" fmla="*/ 247650 h 285750"/>
                <a:gd name="csX7" fmla="*/ 0 w 4953000"/>
                <a:gd name="csY7" fmla="*/ 38100 h 285750"/>
                <a:gd name="csX8" fmla="*/ 38100 w 4953000"/>
                <a:gd name="csY8" fmla="*/ 0 h 285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53000" h="285750">
                  <a:moveTo>
                    <a:pt x="38100" y="0"/>
                  </a:moveTo>
                  <a:lnTo>
                    <a:pt x="4914900" y="0"/>
                  </a:lnTo>
                  <a:cubicBezTo>
                    <a:pt x="4935943" y="0"/>
                    <a:pt x="4953000" y="17058"/>
                    <a:pt x="4953000" y="38100"/>
                  </a:cubicBezTo>
                  <a:lnTo>
                    <a:pt x="4953000" y="247650"/>
                  </a:lnTo>
                  <a:cubicBezTo>
                    <a:pt x="4953000" y="268692"/>
                    <a:pt x="4935943" y="285750"/>
                    <a:pt x="4914900" y="285750"/>
                  </a:cubicBezTo>
                  <a:lnTo>
                    <a:pt x="38100" y="285750"/>
                  </a:lnTo>
                  <a:cubicBezTo>
                    <a:pt x="17058" y="285750"/>
                    <a:pt x="0" y="268692"/>
                    <a:pt x="0" y="24765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42" name="文本框 41">
              <a:extLst>
                <a:ext uri="{FF2B5EF4-FFF2-40B4-BE49-F238E27FC236}">
                  <a16:creationId xmlns:a16="http://schemas.microsoft.com/office/drawing/2014/main" id="{AB9DCA68-E9FF-1633-FBDC-11FDE03232CC}"/>
                </a:ext>
              </a:extLst>
            </p:cNvPr>
            <p:cNvSpPr txBox="1"/>
            <p:nvPr/>
          </p:nvSpPr>
          <p:spPr>
            <a:xfrm>
              <a:off x="1413510" y="3043816"/>
              <a:ext cx="60198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银行类型</a:t>
              </a:r>
            </a:p>
          </p:txBody>
        </p:sp>
        <p:sp>
          <p:nvSpPr>
            <p:cNvPr id="43" name="文本框 42">
              <a:extLst>
                <a:ext uri="{FF2B5EF4-FFF2-40B4-BE49-F238E27FC236}">
                  <a16:creationId xmlns:a16="http://schemas.microsoft.com/office/drawing/2014/main" id="{737C7F32-7106-ADC0-A2A3-0FF15C100035}"/>
                </a:ext>
              </a:extLst>
            </p:cNvPr>
            <p:cNvSpPr txBox="1"/>
            <p:nvPr/>
          </p:nvSpPr>
          <p:spPr>
            <a:xfrm>
              <a:off x="2747010" y="3043816"/>
              <a:ext cx="60198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法人机构</a:t>
              </a:r>
            </a:p>
          </p:txBody>
        </p:sp>
        <p:sp>
          <p:nvSpPr>
            <p:cNvPr id="44" name="文本框 43">
              <a:extLst>
                <a:ext uri="{FF2B5EF4-FFF2-40B4-BE49-F238E27FC236}">
                  <a16:creationId xmlns:a16="http://schemas.microsoft.com/office/drawing/2014/main" id="{691C2AE6-D569-5F26-017F-B7C913AE6861}"/>
                </a:ext>
              </a:extLst>
            </p:cNvPr>
            <p:cNvSpPr txBox="1"/>
            <p:nvPr/>
          </p:nvSpPr>
          <p:spPr>
            <a:xfrm>
              <a:off x="3604260" y="3043816"/>
              <a:ext cx="60198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一级分行</a:t>
              </a:r>
            </a:p>
          </p:txBody>
        </p:sp>
        <p:sp>
          <p:nvSpPr>
            <p:cNvPr id="45" name="文本框 44">
              <a:extLst>
                <a:ext uri="{FF2B5EF4-FFF2-40B4-BE49-F238E27FC236}">
                  <a16:creationId xmlns:a16="http://schemas.microsoft.com/office/drawing/2014/main" id="{3EFBF89E-2539-78F8-DBF8-3D38FB0EB97E}"/>
                </a:ext>
              </a:extLst>
            </p:cNvPr>
            <p:cNvSpPr txBox="1"/>
            <p:nvPr/>
          </p:nvSpPr>
          <p:spPr>
            <a:xfrm>
              <a:off x="4461510" y="3043816"/>
              <a:ext cx="60198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营业网点</a:t>
              </a:r>
            </a:p>
          </p:txBody>
        </p:sp>
        <p:sp>
          <p:nvSpPr>
            <p:cNvPr id="46" name="矩形 45">
              <a:extLst>
                <a:ext uri="{FF2B5EF4-FFF2-40B4-BE49-F238E27FC236}">
                  <a16:creationId xmlns:a16="http://schemas.microsoft.com/office/drawing/2014/main" id="{D0F28A86-DDDB-2402-75FC-013D7A6F25C7}"/>
                </a:ext>
              </a:extLst>
            </p:cNvPr>
            <p:cNvSpPr/>
            <p:nvPr/>
          </p:nvSpPr>
          <p:spPr>
            <a:xfrm>
              <a:off x="857250" y="3286125"/>
              <a:ext cx="4953000" cy="266700"/>
            </a:xfrm>
            <a:prstGeom prst="rect">
              <a:avLst/>
            </a:prstGeom>
            <a:solidFill>
              <a:srgbClr val="EBF4FF"/>
            </a:solidFill>
            <a:ln w="9525" cap="flat">
              <a:noFill/>
              <a:prstDash val="solid"/>
              <a:miter/>
            </a:ln>
          </p:spPr>
          <p:txBody>
            <a:bodyPr/>
            <a:lstStyle/>
            <a:p>
              <a:endParaRPr lang="zh-CN" altLang="en-US"/>
            </a:p>
          </p:txBody>
        </p:sp>
        <p:sp>
          <p:nvSpPr>
            <p:cNvPr id="47" name="文本框 46">
              <a:extLst>
                <a:ext uri="{FF2B5EF4-FFF2-40B4-BE49-F238E27FC236}">
                  <a16:creationId xmlns:a16="http://schemas.microsoft.com/office/drawing/2014/main" id="{6B45A0DC-1870-B7AF-2367-6E427862908D}"/>
                </a:ext>
              </a:extLst>
            </p:cNvPr>
            <p:cNvSpPr txBox="1"/>
            <p:nvPr/>
          </p:nvSpPr>
          <p:spPr>
            <a:xfrm>
              <a:off x="1308735" y="3310516"/>
              <a:ext cx="8115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大型商业银行</a:t>
              </a:r>
            </a:p>
          </p:txBody>
        </p:sp>
        <p:sp>
          <p:nvSpPr>
            <p:cNvPr id="48" name="文本框 47">
              <a:extLst>
                <a:ext uri="{FF2B5EF4-FFF2-40B4-BE49-F238E27FC236}">
                  <a16:creationId xmlns:a16="http://schemas.microsoft.com/office/drawing/2014/main" id="{86BF94A2-E990-0579-FC6C-D84E663924DB}"/>
                </a:ext>
              </a:extLst>
            </p:cNvPr>
            <p:cNvSpPr txBox="1"/>
            <p:nvPr/>
          </p:nvSpPr>
          <p:spPr>
            <a:xfrm>
              <a:off x="2933896" y="3310516"/>
              <a:ext cx="22820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a:t>
              </a:r>
            </a:p>
          </p:txBody>
        </p:sp>
        <p:sp>
          <p:nvSpPr>
            <p:cNvPr id="49" name="文本框 48">
              <a:extLst>
                <a:ext uri="{FF2B5EF4-FFF2-40B4-BE49-F238E27FC236}">
                  <a16:creationId xmlns:a16="http://schemas.microsoft.com/office/drawing/2014/main" id="{EE1CD40E-02FA-C296-0938-32D830AC4818}"/>
                </a:ext>
              </a:extLst>
            </p:cNvPr>
            <p:cNvSpPr txBox="1"/>
            <p:nvPr/>
          </p:nvSpPr>
          <p:spPr>
            <a:xfrm>
              <a:off x="3783088" y="3310516"/>
              <a:ext cx="24432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6</a:t>
              </a:r>
            </a:p>
          </p:txBody>
        </p:sp>
        <p:sp>
          <p:nvSpPr>
            <p:cNvPr id="50" name="文本框 49">
              <a:extLst>
                <a:ext uri="{FF2B5EF4-FFF2-40B4-BE49-F238E27FC236}">
                  <a16:creationId xmlns:a16="http://schemas.microsoft.com/office/drawing/2014/main" id="{B0BFA52A-22D2-8C5D-D6E7-A1C09ED47CB5}"/>
                </a:ext>
              </a:extLst>
            </p:cNvPr>
            <p:cNvSpPr txBox="1"/>
            <p:nvPr/>
          </p:nvSpPr>
          <p:spPr>
            <a:xfrm>
              <a:off x="4526866" y="3310516"/>
              <a:ext cx="471267"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2,869</a:t>
              </a:r>
            </a:p>
          </p:txBody>
        </p:sp>
        <p:sp>
          <p:nvSpPr>
            <p:cNvPr id="51" name="矩形 50">
              <a:extLst>
                <a:ext uri="{FF2B5EF4-FFF2-40B4-BE49-F238E27FC236}">
                  <a16:creationId xmlns:a16="http://schemas.microsoft.com/office/drawing/2014/main" id="{20BD3DB6-88CA-FABB-007C-6212DA7EFD16}"/>
                </a:ext>
              </a:extLst>
            </p:cNvPr>
            <p:cNvSpPr/>
            <p:nvPr/>
          </p:nvSpPr>
          <p:spPr>
            <a:xfrm>
              <a:off x="857250" y="3552825"/>
              <a:ext cx="4953000" cy="266700"/>
            </a:xfrm>
            <a:prstGeom prst="rect">
              <a:avLst/>
            </a:prstGeom>
            <a:solidFill>
              <a:srgbClr val="FFFFFF"/>
            </a:solidFill>
            <a:ln w="9525" cap="flat">
              <a:noFill/>
              <a:prstDash val="solid"/>
              <a:miter/>
            </a:ln>
          </p:spPr>
          <p:txBody>
            <a:bodyPr/>
            <a:lstStyle/>
            <a:p>
              <a:endParaRPr lang="zh-CN" altLang="en-US"/>
            </a:p>
          </p:txBody>
        </p:sp>
        <p:sp>
          <p:nvSpPr>
            <p:cNvPr id="52" name="文本框 51">
              <a:extLst>
                <a:ext uri="{FF2B5EF4-FFF2-40B4-BE49-F238E27FC236}">
                  <a16:creationId xmlns:a16="http://schemas.microsoft.com/office/drawing/2014/main" id="{BC4DE965-E86B-E746-8EB5-A99F47188B5C}"/>
                </a:ext>
              </a:extLst>
            </p:cNvPr>
            <p:cNvSpPr txBox="1"/>
            <p:nvPr/>
          </p:nvSpPr>
          <p:spPr>
            <a:xfrm>
              <a:off x="1256347" y="3577216"/>
              <a:ext cx="91630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股份制商业银行</a:t>
              </a:r>
            </a:p>
          </p:txBody>
        </p:sp>
        <p:sp>
          <p:nvSpPr>
            <p:cNvPr id="53" name="文本框 52">
              <a:extLst>
                <a:ext uri="{FF2B5EF4-FFF2-40B4-BE49-F238E27FC236}">
                  <a16:creationId xmlns:a16="http://schemas.microsoft.com/office/drawing/2014/main" id="{D8BFD008-42DB-C604-1769-353C8E650F4E}"/>
                </a:ext>
              </a:extLst>
            </p:cNvPr>
            <p:cNvSpPr txBox="1"/>
            <p:nvPr/>
          </p:nvSpPr>
          <p:spPr>
            <a:xfrm>
              <a:off x="2933896" y="3577216"/>
              <a:ext cx="22820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a:t>
              </a:r>
            </a:p>
          </p:txBody>
        </p:sp>
        <p:sp>
          <p:nvSpPr>
            <p:cNvPr id="54" name="文本框 53">
              <a:extLst>
                <a:ext uri="{FF2B5EF4-FFF2-40B4-BE49-F238E27FC236}">
                  <a16:creationId xmlns:a16="http://schemas.microsoft.com/office/drawing/2014/main" id="{508E26FF-A479-0C14-F696-1BD99DE79477}"/>
                </a:ext>
              </a:extLst>
            </p:cNvPr>
            <p:cNvSpPr txBox="1"/>
            <p:nvPr/>
          </p:nvSpPr>
          <p:spPr>
            <a:xfrm>
              <a:off x="3752367" y="3577216"/>
              <a:ext cx="30576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12</a:t>
              </a:r>
            </a:p>
          </p:txBody>
        </p:sp>
        <p:sp>
          <p:nvSpPr>
            <p:cNvPr id="55" name="文本框 54">
              <a:extLst>
                <a:ext uri="{FF2B5EF4-FFF2-40B4-BE49-F238E27FC236}">
                  <a16:creationId xmlns:a16="http://schemas.microsoft.com/office/drawing/2014/main" id="{5F308A70-10E0-54F6-AA1D-A6D96C73E410}"/>
                </a:ext>
              </a:extLst>
            </p:cNvPr>
            <p:cNvSpPr txBox="1"/>
            <p:nvPr/>
          </p:nvSpPr>
          <p:spPr>
            <a:xfrm>
              <a:off x="4578895" y="3577216"/>
              <a:ext cx="367208"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388</a:t>
              </a:r>
            </a:p>
          </p:txBody>
        </p:sp>
        <p:sp>
          <p:nvSpPr>
            <p:cNvPr id="56" name="矩形 55">
              <a:extLst>
                <a:ext uri="{FF2B5EF4-FFF2-40B4-BE49-F238E27FC236}">
                  <a16:creationId xmlns:a16="http://schemas.microsoft.com/office/drawing/2014/main" id="{A8BF263B-3508-B3E2-43B6-9CC03C63BCC7}"/>
                </a:ext>
              </a:extLst>
            </p:cNvPr>
            <p:cNvSpPr/>
            <p:nvPr/>
          </p:nvSpPr>
          <p:spPr>
            <a:xfrm>
              <a:off x="857250" y="3819525"/>
              <a:ext cx="4953000" cy="266700"/>
            </a:xfrm>
            <a:prstGeom prst="rect">
              <a:avLst/>
            </a:prstGeom>
            <a:solidFill>
              <a:srgbClr val="EBF4FF"/>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D1732F10-E5BD-CE52-20B3-58732BC872A0}"/>
                </a:ext>
              </a:extLst>
            </p:cNvPr>
            <p:cNvSpPr txBox="1"/>
            <p:nvPr/>
          </p:nvSpPr>
          <p:spPr>
            <a:xfrm>
              <a:off x="1308735" y="3843916"/>
              <a:ext cx="8115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城市商业银行</a:t>
              </a:r>
            </a:p>
          </p:txBody>
        </p:sp>
        <p:sp>
          <p:nvSpPr>
            <p:cNvPr id="58" name="文本框 57">
              <a:extLst>
                <a:ext uri="{FF2B5EF4-FFF2-40B4-BE49-F238E27FC236}">
                  <a16:creationId xmlns:a16="http://schemas.microsoft.com/office/drawing/2014/main" id="{37FCCDAC-4AA8-DAAA-8D95-1DA194B9888F}"/>
                </a:ext>
              </a:extLst>
            </p:cNvPr>
            <p:cNvSpPr txBox="1"/>
            <p:nvPr/>
          </p:nvSpPr>
          <p:spPr>
            <a:xfrm>
              <a:off x="2924252" y="3843916"/>
              <a:ext cx="247494" cy="229724"/>
            </a:xfrm>
            <a:prstGeom prst="rect">
              <a:avLst/>
            </a:prstGeom>
            <a:noFill/>
          </p:spPr>
          <p:txBody>
            <a:bodyPr wrap="none" rtlCol="0">
              <a:spAutoFit/>
            </a:bodyPr>
            <a:lstStyle/>
            <a:p>
              <a:pPr algn="l"/>
              <a:r>
                <a:rPr lang="zh-CN" altLang="en-US" sz="825" b="1" spc="0" baseline="0">
                  <a:ln/>
                  <a:solidFill>
                    <a:srgbClr val="4A90D9"/>
                  </a:solidFill>
                  <a:latin typeface="微软雅黑"/>
                  <a:ea typeface="微软雅黑"/>
                  <a:sym typeface="微软雅黑"/>
                  <a:rtl val="0"/>
                </a:rPr>
                <a:t>2</a:t>
              </a:r>
            </a:p>
          </p:txBody>
        </p:sp>
        <p:sp>
          <p:nvSpPr>
            <p:cNvPr id="59" name="文本框 58">
              <a:extLst>
                <a:ext uri="{FF2B5EF4-FFF2-40B4-BE49-F238E27FC236}">
                  <a16:creationId xmlns:a16="http://schemas.microsoft.com/office/drawing/2014/main" id="{D64DA729-AD0A-B5E6-591A-2F1C30BEEADA}"/>
                </a:ext>
              </a:extLst>
            </p:cNvPr>
            <p:cNvSpPr txBox="1"/>
            <p:nvPr/>
          </p:nvSpPr>
          <p:spPr>
            <a:xfrm>
              <a:off x="3752367" y="3843916"/>
              <a:ext cx="30576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10</a:t>
              </a:r>
            </a:p>
          </p:txBody>
        </p:sp>
        <p:sp>
          <p:nvSpPr>
            <p:cNvPr id="60" name="文本框 59">
              <a:extLst>
                <a:ext uri="{FF2B5EF4-FFF2-40B4-BE49-F238E27FC236}">
                  <a16:creationId xmlns:a16="http://schemas.microsoft.com/office/drawing/2014/main" id="{6A9DF3D2-FFF5-AE60-B40B-8D1FAA341E2E}"/>
                </a:ext>
              </a:extLst>
            </p:cNvPr>
            <p:cNvSpPr txBox="1"/>
            <p:nvPr/>
          </p:nvSpPr>
          <p:spPr>
            <a:xfrm>
              <a:off x="4578895" y="3843916"/>
              <a:ext cx="367208"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338</a:t>
              </a:r>
            </a:p>
          </p:txBody>
        </p:sp>
        <p:sp>
          <p:nvSpPr>
            <p:cNvPr id="61" name="矩形 60">
              <a:extLst>
                <a:ext uri="{FF2B5EF4-FFF2-40B4-BE49-F238E27FC236}">
                  <a16:creationId xmlns:a16="http://schemas.microsoft.com/office/drawing/2014/main" id="{1E04B85D-7A0C-CE66-FC5D-4E8BE6B2BA82}"/>
                </a:ext>
              </a:extLst>
            </p:cNvPr>
            <p:cNvSpPr/>
            <p:nvPr/>
          </p:nvSpPr>
          <p:spPr>
            <a:xfrm>
              <a:off x="857250" y="4086225"/>
              <a:ext cx="4953000" cy="266700"/>
            </a:xfrm>
            <a:prstGeom prst="rect">
              <a:avLst/>
            </a:prstGeom>
            <a:solidFill>
              <a:srgbClr val="FFFFFF"/>
            </a:solidFill>
            <a:ln w="9525" cap="flat">
              <a:noFill/>
              <a:prstDash val="solid"/>
              <a:miter/>
            </a:ln>
          </p:spPr>
          <p:txBody>
            <a:bodyPr/>
            <a:lstStyle/>
            <a:p>
              <a:endParaRPr lang="zh-CN" altLang="en-US"/>
            </a:p>
          </p:txBody>
        </p:sp>
        <p:sp>
          <p:nvSpPr>
            <p:cNvPr id="62" name="文本框 61">
              <a:extLst>
                <a:ext uri="{FF2B5EF4-FFF2-40B4-BE49-F238E27FC236}">
                  <a16:creationId xmlns:a16="http://schemas.microsoft.com/office/drawing/2014/main" id="{45C87554-2BBF-52FA-16C7-AEB7137D5160}"/>
                </a:ext>
              </a:extLst>
            </p:cNvPr>
            <p:cNvSpPr txBox="1"/>
            <p:nvPr/>
          </p:nvSpPr>
          <p:spPr>
            <a:xfrm>
              <a:off x="1308735" y="4110616"/>
              <a:ext cx="8115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农村商业银行</a:t>
              </a:r>
            </a:p>
          </p:txBody>
        </p:sp>
        <p:sp>
          <p:nvSpPr>
            <p:cNvPr id="63" name="文本框 62">
              <a:extLst>
                <a:ext uri="{FF2B5EF4-FFF2-40B4-BE49-F238E27FC236}">
                  <a16:creationId xmlns:a16="http://schemas.microsoft.com/office/drawing/2014/main" id="{4E431A3D-DC21-302E-0B10-879269036870}"/>
                </a:ext>
              </a:extLst>
            </p:cNvPr>
            <p:cNvSpPr txBox="1"/>
            <p:nvPr/>
          </p:nvSpPr>
          <p:spPr>
            <a:xfrm>
              <a:off x="2924252" y="4110616"/>
              <a:ext cx="247494" cy="229724"/>
            </a:xfrm>
            <a:prstGeom prst="rect">
              <a:avLst/>
            </a:prstGeom>
            <a:noFill/>
          </p:spPr>
          <p:txBody>
            <a:bodyPr wrap="none" rtlCol="0">
              <a:spAutoFit/>
            </a:bodyPr>
            <a:lstStyle/>
            <a:p>
              <a:pPr algn="l"/>
              <a:r>
                <a:rPr lang="zh-CN" altLang="en-US" sz="825" b="1" spc="0" baseline="0">
                  <a:ln/>
                  <a:solidFill>
                    <a:srgbClr val="4A90D9"/>
                  </a:solidFill>
                  <a:latin typeface="微软雅黑"/>
                  <a:ea typeface="微软雅黑"/>
                  <a:sym typeface="微软雅黑"/>
                  <a:rtl val="0"/>
                </a:rPr>
                <a:t>1</a:t>
              </a:r>
            </a:p>
          </p:txBody>
        </p:sp>
        <p:sp>
          <p:nvSpPr>
            <p:cNvPr id="64" name="文本框 63">
              <a:extLst>
                <a:ext uri="{FF2B5EF4-FFF2-40B4-BE49-F238E27FC236}">
                  <a16:creationId xmlns:a16="http://schemas.microsoft.com/office/drawing/2014/main" id="{482F2EF8-F0CC-82E6-0C2A-EEF48AF3CD07}"/>
                </a:ext>
              </a:extLst>
            </p:cNvPr>
            <p:cNvSpPr txBox="1"/>
            <p:nvPr/>
          </p:nvSpPr>
          <p:spPr>
            <a:xfrm>
              <a:off x="3783088" y="4110616"/>
              <a:ext cx="24432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a:t>
              </a:r>
            </a:p>
          </p:txBody>
        </p:sp>
        <p:sp>
          <p:nvSpPr>
            <p:cNvPr id="65" name="文本框 64">
              <a:extLst>
                <a:ext uri="{FF2B5EF4-FFF2-40B4-BE49-F238E27FC236}">
                  <a16:creationId xmlns:a16="http://schemas.microsoft.com/office/drawing/2014/main" id="{769F6C12-919D-D8E0-6492-2ED3D9E52DE9}"/>
                </a:ext>
              </a:extLst>
            </p:cNvPr>
            <p:cNvSpPr txBox="1"/>
            <p:nvPr/>
          </p:nvSpPr>
          <p:spPr>
            <a:xfrm>
              <a:off x="4526866" y="4110616"/>
              <a:ext cx="471267"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1,720</a:t>
              </a:r>
            </a:p>
          </p:txBody>
        </p:sp>
        <p:sp>
          <p:nvSpPr>
            <p:cNvPr id="66" name="矩形 65">
              <a:extLst>
                <a:ext uri="{FF2B5EF4-FFF2-40B4-BE49-F238E27FC236}">
                  <a16:creationId xmlns:a16="http://schemas.microsoft.com/office/drawing/2014/main" id="{D7DBC476-804E-FECA-69E5-F5A1DE1A65CF}"/>
                </a:ext>
              </a:extLst>
            </p:cNvPr>
            <p:cNvSpPr/>
            <p:nvPr/>
          </p:nvSpPr>
          <p:spPr>
            <a:xfrm>
              <a:off x="857250" y="4352925"/>
              <a:ext cx="4953000" cy="266700"/>
            </a:xfrm>
            <a:prstGeom prst="rect">
              <a:avLst/>
            </a:prstGeom>
            <a:solidFill>
              <a:srgbClr val="EBF4FF"/>
            </a:solidFill>
            <a:ln w="9525" cap="flat">
              <a:noFill/>
              <a:prstDash val="solid"/>
              <a:miter/>
            </a:ln>
          </p:spPr>
          <p:txBody>
            <a:bodyPr/>
            <a:lstStyle/>
            <a:p>
              <a:endParaRPr lang="zh-CN" altLang="en-US"/>
            </a:p>
          </p:txBody>
        </p:sp>
        <p:sp>
          <p:nvSpPr>
            <p:cNvPr id="67" name="文本框 66">
              <a:extLst>
                <a:ext uri="{FF2B5EF4-FFF2-40B4-BE49-F238E27FC236}">
                  <a16:creationId xmlns:a16="http://schemas.microsoft.com/office/drawing/2014/main" id="{FF9CF9B8-4BCE-58FA-8565-43A8E62F1EFF}"/>
                </a:ext>
              </a:extLst>
            </p:cNvPr>
            <p:cNvSpPr txBox="1"/>
            <p:nvPr/>
          </p:nvSpPr>
          <p:spPr>
            <a:xfrm>
              <a:off x="1413510" y="437731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村镇银行</a:t>
              </a:r>
            </a:p>
          </p:txBody>
        </p:sp>
        <p:sp>
          <p:nvSpPr>
            <p:cNvPr id="68" name="文本框 67">
              <a:extLst>
                <a:ext uri="{FF2B5EF4-FFF2-40B4-BE49-F238E27FC236}">
                  <a16:creationId xmlns:a16="http://schemas.microsoft.com/office/drawing/2014/main" id="{D9ED60BE-24BD-CF8D-0085-ACAF9562C7E2}"/>
                </a:ext>
              </a:extLst>
            </p:cNvPr>
            <p:cNvSpPr txBox="1"/>
            <p:nvPr/>
          </p:nvSpPr>
          <p:spPr>
            <a:xfrm>
              <a:off x="2891945" y="4377316"/>
              <a:ext cx="312109" cy="229724"/>
            </a:xfrm>
            <a:prstGeom prst="rect">
              <a:avLst/>
            </a:prstGeom>
            <a:noFill/>
          </p:spPr>
          <p:txBody>
            <a:bodyPr wrap="none" rtlCol="0">
              <a:spAutoFit/>
            </a:bodyPr>
            <a:lstStyle/>
            <a:p>
              <a:pPr algn="l"/>
              <a:r>
                <a:rPr lang="zh-CN" altLang="en-US" sz="825" b="1" spc="0" baseline="0">
                  <a:ln/>
                  <a:solidFill>
                    <a:srgbClr val="4A90D9"/>
                  </a:solidFill>
                  <a:latin typeface="微软雅黑"/>
                  <a:ea typeface="微软雅黑"/>
                  <a:sym typeface="微软雅黑"/>
                  <a:rtl val="0"/>
                </a:rPr>
                <a:t>33</a:t>
              </a:r>
            </a:p>
          </p:txBody>
        </p:sp>
        <p:sp>
          <p:nvSpPr>
            <p:cNvPr id="69" name="文本框 68">
              <a:extLst>
                <a:ext uri="{FF2B5EF4-FFF2-40B4-BE49-F238E27FC236}">
                  <a16:creationId xmlns:a16="http://schemas.microsoft.com/office/drawing/2014/main" id="{9AEDB146-1ADA-234A-E392-86328384CE30}"/>
                </a:ext>
              </a:extLst>
            </p:cNvPr>
            <p:cNvSpPr txBox="1"/>
            <p:nvPr/>
          </p:nvSpPr>
          <p:spPr>
            <a:xfrm>
              <a:off x="3791146" y="4377316"/>
              <a:ext cx="22820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a:t>
              </a:r>
            </a:p>
          </p:txBody>
        </p:sp>
        <p:sp>
          <p:nvSpPr>
            <p:cNvPr id="70" name="文本框 69">
              <a:extLst>
                <a:ext uri="{FF2B5EF4-FFF2-40B4-BE49-F238E27FC236}">
                  <a16:creationId xmlns:a16="http://schemas.microsoft.com/office/drawing/2014/main" id="{6F37AA28-DEE2-80C8-1DF1-687BC54A27DE}"/>
                </a:ext>
              </a:extLst>
            </p:cNvPr>
            <p:cNvSpPr txBox="1"/>
            <p:nvPr/>
          </p:nvSpPr>
          <p:spPr>
            <a:xfrm>
              <a:off x="4609617" y="4377316"/>
              <a:ext cx="30576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86</a:t>
              </a:r>
            </a:p>
          </p:txBody>
        </p:sp>
        <p:sp>
          <p:nvSpPr>
            <p:cNvPr id="71" name="矩形 70">
              <a:extLst>
                <a:ext uri="{FF2B5EF4-FFF2-40B4-BE49-F238E27FC236}">
                  <a16:creationId xmlns:a16="http://schemas.microsoft.com/office/drawing/2014/main" id="{77F1D0B0-0FFD-4318-FD25-931C5E163F65}"/>
                </a:ext>
              </a:extLst>
            </p:cNvPr>
            <p:cNvSpPr/>
            <p:nvPr/>
          </p:nvSpPr>
          <p:spPr>
            <a:xfrm>
              <a:off x="857250" y="4619625"/>
              <a:ext cx="4953000" cy="266700"/>
            </a:xfrm>
            <a:prstGeom prst="rect">
              <a:avLst/>
            </a:prstGeom>
            <a:solidFill>
              <a:srgbClr val="FFFFFF"/>
            </a:solidFill>
            <a:ln w="9525" cap="flat">
              <a:noFill/>
              <a:prstDash val="solid"/>
              <a:miter/>
            </a:ln>
          </p:spPr>
          <p:txBody>
            <a:bodyPr/>
            <a:lstStyle/>
            <a:p>
              <a:endParaRPr lang="zh-CN" altLang="en-US"/>
            </a:p>
          </p:txBody>
        </p:sp>
        <p:sp>
          <p:nvSpPr>
            <p:cNvPr id="72" name="文本框 71">
              <a:extLst>
                <a:ext uri="{FF2B5EF4-FFF2-40B4-BE49-F238E27FC236}">
                  <a16:creationId xmlns:a16="http://schemas.microsoft.com/office/drawing/2014/main" id="{FDEBCBD9-5407-5518-B2C6-0AC07FEF4ADC}"/>
                </a:ext>
              </a:extLst>
            </p:cNvPr>
            <p:cNvSpPr txBox="1"/>
            <p:nvPr/>
          </p:nvSpPr>
          <p:spPr>
            <a:xfrm>
              <a:off x="1286352" y="4644016"/>
              <a:ext cx="856294"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外资/民营银行</a:t>
              </a:r>
            </a:p>
          </p:txBody>
        </p:sp>
        <p:sp>
          <p:nvSpPr>
            <p:cNvPr id="73" name="文本框 72">
              <a:extLst>
                <a:ext uri="{FF2B5EF4-FFF2-40B4-BE49-F238E27FC236}">
                  <a16:creationId xmlns:a16="http://schemas.microsoft.com/office/drawing/2014/main" id="{E43CFA3F-79AC-AC66-7BF9-F71A4CAC40F1}"/>
                </a:ext>
              </a:extLst>
            </p:cNvPr>
            <p:cNvSpPr txBox="1"/>
            <p:nvPr/>
          </p:nvSpPr>
          <p:spPr>
            <a:xfrm>
              <a:off x="2925838" y="4644016"/>
              <a:ext cx="24432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a:t>
              </a:r>
            </a:p>
          </p:txBody>
        </p:sp>
        <p:sp>
          <p:nvSpPr>
            <p:cNvPr id="74" name="文本框 73">
              <a:extLst>
                <a:ext uri="{FF2B5EF4-FFF2-40B4-BE49-F238E27FC236}">
                  <a16:creationId xmlns:a16="http://schemas.microsoft.com/office/drawing/2014/main" id="{B512005D-C0B3-2F5C-2A33-480464E1BAE9}"/>
                </a:ext>
              </a:extLst>
            </p:cNvPr>
            <p:cNvSpPr txBox="1"/>
            <p:nvPr/>
          </p:nvSpPr>
          <p:spPr>
            <a:xfrm>
              <a:off x="3752367" y="4644016"/>
              <a:ext cx="30576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15</a:t>
              </a:r>
            </a:p>
          </p:txBody>
        </p:sp>
        <p:sp>
          <p:nvSpPr>
            <p:cNvPr id="75" name="文本框 74">
              <a:extLst>
                <a:ext uri="{FF2B5EF4-FFF2-40B4-BE49-F238E27FC236}">
                  <a16:creationId xmlns:a16="http://schemas.microsoft.com/office/drawing/2014/main" id="{0824ADC8-323C-E6B6-D1C5-ADF0BF2E708B}"/>
                </a:ext>
              </a:extLst>
            </p:cNvPr>
            <p:cNvSpPr txBox="1"/>
            <p:nvPr/>
          </p:nvSpPr>
          <p:spPr>
            <a:xfrm>
              <a:off x="4640338" y="4644016"/>
              <a:ext cx="24432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4</a:t>
              </a:r>
            </a:p>
          </p:txBody>
        </p:sp>
        <p:sp>
          <p:nvSpPr>
            <p:cNvPr id="76" name="任意形状 75">
              <a:extLst>
                <a:ext uri="{FF2B5EF4-FFF2-40B4-BE49-F238E27FC236}">
                  <a16:creationId xmlns:a16="http://schemas.microsoft.com/office/drawing/2014/main" id="{BBD371FC-2CFF-8354-2403-A8F6EB6B8457}"/>
                </a:ext>
              </a:extLst>
            </p:cNvPr>
            <p:cNvSpPr/>
            <p:nvPr/>
          </p:nvSpPr>
          <p:spPr>
            <a:xfrm>
              <a:off x="857250" y="4886325"/>
              <a:ext cx="4953000" cy="266700"/>
            </a:xfrm>
            <a:custGeom>
              <a:avLst/>
              <a:gdLst>
                <a:gd name="csX0" fmla="*/ 38100 w 4953000"/>
                <a:gd name="csY0" fmla="*/ 0 h 266700"/>
                <a:gd name="csX1" fmla="*/ 4914900 w 4953000"/>
                <a:gd name="csY1" fmla="*/ 0 h 266700"/>
                <a:gd name="csX2" fmla="*/ 4953000 w 4953000"/>
                <a:gd name="csY2" fmla="*/ 38100 h 266700"/>
                <a:gd name="csX3" fmla="*/ 4953000 w 4953000"/>
                <a:gd name="csY3" fmla="*/ 228600 h 266700"/>
                <a:gd name="csX4" fmla="*/ 4914900 w 4953000"/>
                <a:gd name="csY4" fmla="*/ 266700 h 266700"/>
                <a:gd name="csX5" fmla="*/ 38100 w 4953000"/>
                <a:gd name="csY5" fmla="*/ 266700 h 266700"/>
                <a:gd name="csX6" fmla="*/ 0 w 4953000"/>
                <a:gd name="csY6" fmla="*/ 228600 h 266700"/>
                <a:gd name="csX7" fmla="*/ 0 w 4953000"/>
                <a:gd name="csY7" fmla="*/ 38100 h 266700"/>
                <a:gd name="csX8" fmla="*/ 38100 w 4953000"/>
                <a:gd name="csY8" fmla="*/ 0 h 266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53000" h="266700">
                  <a:moveTo>
                    <a:pt x="38100" y="0"/>
                  </a:moveTo>
                  <a:lnTo>
                    <a:pt x="4914900" y="0"/>
                  </a:lnTo>
                  <a:cubicBezTo>
                    <a:pt x="4935943" y="0"/>
                    <a:pt x="4953000" y="17058"/>
                    <a:pt x="4953000" y="38100"/>
                  </a:cubicBezTo>
                  <a:lnTo>
                    <a:pt x="4953000" y="228600"/>
                  </a:lnTo>
                  <a:cubicBezTo>
                    <a:pt x="4953000" y="249642"/>
                    <a:pt x="4935943" y="266700"/>
                    <a:pt x="4914900" y="266700"/>
                  </a:cubicBezTo>
                  <a:lnTo>
                    <a:pt x="38100" y="266700"/>
                  </a:lnTo>
                  <a:cubicBezTo>
                    <a:pt x="17058" y="266700"/>
                    <a:pt x="0" y="249642"/>
                    <a:pt x="0" y="2286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77" name="文本框 76">
              <a:extLst>
                <a:ext uri="{FF2B5EF4-FFF2-40B4-BE49-F238E27FC236}">
                  <a16:creationId xmlns:a16="http://schemas.microsoft.com/office/drawing/2014/main" id="{77008121-7F4B-2B3B-FE0C-4F6A06A36E06}"/>
                </a:ext>
              </a:extLst>
            </p:cNvPr>
            <p:cNvSpPr txBox="1"/>
            <p:nvPr/>
          </p:nvSpPr>
          <p:spPr>
            <a:xfrm>
              <a:off x="1518285" y="4910716"/>
              <a:ext cx="392430"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合计</a:t>
              </a:r>
            </a:p>
          </p:txBody>
        </p:sp>
        <p:sp>
          <p:nvSpPr>
            <p:cNvPr id="78" name="文本框 77">
              <a:extLst>
                <a:ext uri="{FF2B5EF4-FFF2-40B4-BE49-F238E27FC236}">
                  <a16:creationId xmlns:a16="http://schemas.microsoft.com/office/drawing/2014/main" id="{92B7682B-9E01-A803-E4FF-2310829C23B2}"/>
                </a:ext>
              </a:extLst>
            </p:cNvPr>
            <p:cNvSpPr txBox="1"/>
            <p:nvPr/>
          </p:nvSpPr>
          <p:spPr>
            <a:xfrm>
              <a:off x="2891945" y="4910716"/>
              <a:ext cx="312109"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37</a:t>
              </a:r>
            </a:p>
          </p:txBody>
        </p:sp>
        <p:sp>
          <p:nvSpPr>
            <p:cNvPr id="79" name="文本框 78">
              <a:extLst>
                <a:ext uri="{FF2B5EF4-FFF2-40B4-BE49-F238E27FC236}">
                  <a16:creationId xmlns:a16="http://schemas.microsoft.com/office/drawing/2014/main" id="{07A5848E-AF6C-12BF-59D5-6924DD4391AB}"/>
                </a:ext>
              </a:extLst>
            </p:cNvPr>
            <p:cNvSpPr txBox="1"/>
            <p:nvPr/>
          </p:nvSpPr>
          <p:spPr>
            <a:xfrm>
              <a:off x="3749195" y="4910716"/>
              <a:ext cx="312109"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48</a:t>
              </a:r>
            </a:p>
          </p:txBody>
        </p:sp>
        <p:sp>
          <p:nvSpPr>
            <p:cNvPr id="80" name="文本框 79">
              <a:extLst>
                <a:ext uri="{FF2B5EF4-FFF2-40B4-BE49-F238E27FC236}">
                  <a16:creationId xmlns:a16="http://schemas.microsoft.com/office/drawing/2014/main" id="{B10F44EF-4F0E-CEFF-E770-77646E14B18B}"/>
                </a:ext>
              </a:extLst>
            </p:cNvPr>
            <p:cNvSpPr txBox="1"/>
            <p:nvPr/>
          </p:nvSpPr>
          <p:spPr>
            <a:xfrm>
              <a:off x="4526866" y="4910716"/>
              <a:ext cx="471267" cy="229724"/>
            </a:xfrm>
            <a:prstGeom prst="rect">
              <a:avLst/>
            </a:prstGeom>
            <a:noFill/>
          </p:spPr>
          <p:txBody>
            <a:bodyPr wrap="none" rtlCol="0">
              <a:spAutoFit/>
            </a:bodyPr>
            <a:lstStyle/>
            <a:p>
              <a:pPr algn="l"/>
              <a:r>
                <a:rPr lang="zh-CN" altLang="en-US" sz="825" b="1" spc="0" baseline="0">
                  <a:ln/>
                  <a:solidFill>
                    <a:srgbClr val="FFFFFF"/>
                  </a:solidFill>
                  <a:latin typeface="微软雅黑"/>
                  <a:ea typeface="微软雅黑"/>
                  <a:sym typeface="微软雅黑"/>
                  <a:rtl val="0"/>
                </a:rPr>
                <a:t>5,438</a:t>
              </a:r>
            </a:p>
          </p:txBody>
        </p:sp>
      </p:grpSp>
      <p:grpSp>
        <p:nvGrpSpPr>
          <p:cNvPr id="81" name="SVG Image 14">
            <a:extLst>
              <a:ext uri="{FF2B5EF4-FFF2-40B4-BE49-F238E27FC236}">
                <a16:creationId xmlns:a16="http://schemas.microsoft.com/office/drawing/2014/main" id="{308F0DA1-8B3B-D358-5CD3-79E8C12FE8CB}"/>
              </a:ext>
            </a:extLst>
          </p:cNvPr>
          <p:cNvGrpSpPr/>
          <p:nvPr/>
        </p:nvGrpSpPr>
        <p:grpSpPr>
          <a:xfrm>
            <a:off x="6286500" y="2476500"/>
            <a:ext cx="5334000" cy="2762250"/>
            <a:chOff x="6286500" y="2476500"/>
            <a:chExt cx="5334000" cy="2762250"/>
          </a:xfrm>
        </p:grpSpPr>
        <p:sp>
          <p:nvSpPr>
            <p:cNvPr id="82" name="任意形状 81">
              <a:extLst>
                <a:ext uri="{FF2B5EF4-FFF2-40B4-BE49-F238E27FC236}">
                  <a16:creationId xmlns:a16="http://schemas.microsoft.com/office/drawing/2014/main" id="{46CC4C13-0E46-4C34-379E-A279D0B031EA}"/>
                </a:ext>
              </a:extLst>
            </p:cNvPr>
            <p:cNvSpPr/>
            <p:nvPr/>
          </p:nvSpPr>
          <p:spPr>
            <a:xfrm>
              <a:off x="6286500" y="2476500"/>
              <a:ext cx="5334000" cy="2762250"/>
            </a:xfrm>
            <a:custGeom>
              <a:avLst/>
              <a:gdLst>
                <a:gd name="csX0" fmla="*/ 76200 w 5334000"/>
                <a:gd name="csY0" fmla="*/ 0 h 2762250"/>
                <a:gd name="csX1" fmla="*/ 5257800 w 5334000"/>
                <a:gd name="csY1" fmla="*/ 0 h 2762250"/>
                <a:gd name="csX2" fmla="*/ 5334000 w 5334000"/>
                <a:gd name="csY2" fmla="*/ 76200 h 2762250"/>
                <a:gd name="csX3" fmla="*/ 5334000 w 5334000"/>
                <a:gd name="csY3" fmla="*/ 2686050 h 2762250"/>
                <a:gd name="csX4" fmla="*/ 5257800 w 5334000"/>
                <a:gd name="csY4" fmla="*/ 2762250 h 2762250"/>
                <a:gd name="csX5" fmla="*/ 76200 w 5334000"/>
                <a:gd name="csY5" fmla="*/ 2762250 h 2762250"/>
                <a:gd name="csX6" fmla="*/ 0 w 5334000"/>
                <a:gd name="csY6" fmla="*/ 2686050 h 2762250"/>
                <a:gd name="csX7" fmla="*/ 0 w 5334000"/>
                <a:gd name="csY7" fmla="*/ 76200 h 2762250"/>
                <a:gd name="csX8" fmla="*/ 76200 w 5334000"/>
                <a:gd name="csY8" fmla="*/ 0 h 2762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2762250">
                  <a:moveTo>
                    <a:pt x="76200" y="0"/>
                  </a:moveTo>
                  <a:lnTo>
                    <a:pt x="5257800" y="0"/>
                  </a:lnTo>
                  <a:cubicBezTo>
                    <a:pt x="5299885" y="0"/>
                    <a:pt x="5334000" y="34116"/>
                    <a:pt x="5334000" y="76200"/>
                  </a:cubicBezTo>
                  <a:lnTo>
                    <a:pt x="5334000" y="2686050"/>
                  </a:lnTo>
                  <a:cubicBezTo>
                    <a:pt x="5334000" y="2728134"/>
                    <a:pt x="5299885" y="2762250"/>
                    <a:pt x="5257800" y="2762250"/>
                  </a:cubicBezTo>
                  <a:lnTo>
                    <a:pt x="76200" y="2762250"/>
                  </a:lnTo>
                  <a:cubicBezTo>
                    <a:pt x="34116" y="2762250"/>
                    <a:pt x="0" y="2728134"/>
                    <a:pt x="0" y="2686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83" name="文本框 82">
              <a:extLst>
                <a:ext uri="{FF2B5EF4-FFF2-40B4-BE49-F238E27FC236}">
                  <a16:creationId xmlns:a16="http://schemas.microsoft.com/office/drawing/2014/main" id="{2FA314B4-8D46-A31A-EC6E-D4FAD25F82B6}"/>
                </a:ext>
              </a:extLst>
            </p:cNvPr>
            <p:cNvSpPr txBox="1"/>
            <p:nvPr/>
          </p:nvSpPr>
          <p:spPr>
            <a:xfrm>
              <a:off x="6480810" y="2602899"/>
              <a:ext cx="254001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属地主要银行财务指标（2024年）</a:t>
              </a:r>
            </a:p>
          </p:txBody>
        </p:sp>
        <p:sp>
          <p:nvSpPr>
            <p:cNvPr id="84" name="任意形状 83">
              <a:extLst>
                <a:ext uri="{FF2B5EF4-FFF2-40B4-BE49-F238E27FC236}">
                  <a16:creationId xmlns:a16="http://schemas.microsoft.com/office/drawing/2014/main" id="{FA0D6A35-A026-ADCC-05F4-B867AD02CA92}"/>
                </a:ext>
              </a:extLst>
            </p:cNvPr>
            <p:cNvSpPr/>
            <p:nvPr/>
          </p:nvSpPr>
          <p:spPr>
            <a:xfrm>
              <a:off x="6572250" y="3000375"/>
              <a:ext cx="4762500" cy="266700"/>
            </a:xfrm>
            <a:custGeom>
              <a:avLst/>
              <a:gdLst>
                <a:gd name="csX0" fmla="*/ 38100 w 4762500"/>
                <a:gd name="csY0" fmla="*/ 0 h 266700"/>
                <a:gd name="csX1" fmla="*/ 4724400 w 4762500"/>
                <a:gd name="csY1" fmla="*/ 0 h 266700"/>
                <a:gd name="csX2" fmla="*/ 4762500 w 4762500"/>
                <a:gd name="csY2" fmla="*/ 38100 h 266700"/>
                <a:gd name="csX3" fmla="*/ 4762500 w 4762500"/>
                <a:gd name="csY3" fmla="*/ 228600 h 266700"/>
                <a:gd name="csX4" fmla="*/ 4724400 w 4762500"/>
                <a:gd name="csY4" fmla="*/ 266700 h 266700"/>
                <a:gd name="csX5" fmla="*/ 38100 w 4762500"/>
                <a:gd name="csY5" fmla="*/ 266700 h 266700"/>
                <a:gd name="csX6" fmla="*/ 0 w 4762500"/>
                <a:gd name="csY6" fmla="*/ 228600 h 266700"/>
                <a:gd name="csX7" fmla="*/ 0 w 4762500"/>
                <a:gd name="csY7" fmla="*/ 38100 h 266700"/>
                <a:gd name="csX8" fmla="*/ 38100 w 4762500"/>
                <a:gd name="csY8" fmla="*/ 0 h 266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266700">
                  <a:moveTo>
                    <a:pt x="38100" y="0"/>
                  </a:moveTo>
                  <a:lnTo>
                    <a:pt x="4724400" y="0"/>
                  </a:lnTo>
                  <a:cubicBezTo>
                    <a:pt x="4745442" y="0"/>
                    <a:pt x="4762500" y="17058"/>
                    <a:pt x="4762500" y="38100"/>
                  </a:cubicBezTo>
                  <a:lnTo>
                    <a:pt x="4762500" y="228600"/>
                  </a:lnTo>
                  <a:cubicBezTo>
                    <a:pt x="4762500" y="249642"/>
                    <a:pt x="4745442" y="266700"/>
                    <a:pt x="4724400" y="266700"/>
                  </a:cubicBezTo>
                  <a:lnTo>
                    <a:pt x="38100" y="266700"/>
                  </a:lnTo>
                  <a:cubicBezTo>
                    <a:pt x="17058" y="266700"/>
                    <a:pt x="0" y="249642"/>
                    <a:pt x="0" y="2286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85" name="文本框 84">
              <a:extLst>
                <a:ext uri="{FF2B5EF4-FFF2-40B4-BE49-F238E27FC236}">
                  <a16:creationId xmlns:a16="http://schemas.microsoft.com/office/drawing/2014/main" id="{E4061B6B-886D-A466-9E8B-82E6B0887F2B}"/>
                </a:ext>
              </a:extLst>
            </p:cNvPr>
            <p:cNvSpPr txBox="1"/>
            <p:nvPr/>
          </p:nvSpPr>
          <p:spPr>
            <a:xfrm>
              <a:off x="7242810" y="3034845"/>
              <a:ext cx="563880"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银行名称</a:t>
              </a:r>
            </a:p>
          </p:txBody>
        </p:sp>
        <p:sp>
          <p:nvSpPr>
            <p:cNvPr id="86" name="文本框 85">
              <a:extLst>
                <a:ext uri="{FF2B5EF4-FFF2-40B4-BE49-F238E27FC236}">
                  <a16:creationId xmlns:a16="http://schemas.microsoft.com/office/drawing/2014/main" id="{0CD2B7A4-86FA-9A89-48E3-B7D32AF7CB0A}"/>
                </a:ext>
              </a:extLst>
            </p:cNvPr>
            <p:cNvSpPr txBox="1"/>
            <p:nvPr/>
          </p:nvSpPr>
          <p:spPr>
            <a:xfrm>
              <a:off x="8443945" y="3034845"/>
              <a:ext cx="638108"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总资产(亿)</a:t>
              </a:r>
            </a:p>
          </p:txBody>
        </p:sp>
        <p:sp>
          <p:nvSpPr>
            <p:cNvPr id="87" name="文本框 86">
              <a:extLst>
                <a:ext uri="{FF2B5EF4-FFF2-40B4-BE49-F238E27FC236}">
                  <a16:creationId xmlns:a16="http://schemas.microsoft.com/office/drawing/2014/main" id="{F6DC210D-113F-785D-28B4-BCD86A9E9976}"/>
                </a:ext>
              </a:extLst>
            </p:cNvPr>
            <p:cNvSpPr txBox="1"/>
            <p:nvPr/>
          </p:nvSpPr>
          <p:spPr>
            <a:xfrm>
              <a:off x="9301195" y="3034845"/>
              <a:ext cx="638108"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净利润(亿)</a:t>
              </a:r>
            </a:p>
          </p:txBody>
        </p:sp>
        <p:sp>
          <p:nvSpPr>
            <p:cNvPr id="88" name="文本框 87">
              <a:extLst>
                <a:ext uri="{FF2B5EF4-FFF2-40B4-BE49-F238E27FC236}">
                  <a16:creationId xmlns:a16="http://schemas.microsoft.com/office/drawing/2014/main" id="{7BAC69DC-FE6C-D106-349F-F6EF49FE466E}"/>
                </a:ext>
              </a:extLst>
            </p:cNvPr>
            <p:cNvSpPr txBox="1"/>
            <p:nvPr/>
          </p:nvSpPr>
          <p:spPr>
            <a:xfrm>
              <a:off x="10161724" y="3034845"/>
              <a:ext cx="631550"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不良率(%)</a:t>
              </a:r>
            </a:p>
          </p:txBody>
        </p:sp>
        <p:sp>
          <p:nvSpPr>
            <p:cNvPr id="89" name="矩形 88">
              <a:extLst>
                <a:ext uri="{FF2B5EF4-FFF2-40B4-BE49-F238E27FC236}">
                  <a16:creationId xmlns:a16="http://schemas.microsoft.com/office/drawing/2014/main" id="{A4506064-75FD-06BE-EB64-64ECF9B7AC30}"/>
                </a:ext>
              </a:extLst>
            </p:cNvPr>
            <p:cNvSpPr/>
            <p:nvPr/>
          </p:nvSpPr>
          <p:spPr>
            <a:xfrm>
              <a:off x="6572250" y="3267075"/>
              <a:ext cx="4762500" cy="304800"/>
            </a:xfrm>
            <a:prstGeom prst="rect">
              <a:avLst/>
            </a:prstGeom>
            <a:solidFill>
              <a:srgbClr val="EBF4FF"/>
            </a:solidFill>
            <a:ln w="9525" cap="flat">
              <a:noFill/>
              <a:prstDash val="solid"/>
              <a:miter/>
            </a:ln>
          </p:spPr>
          <p:txBody>
            <a:bodyPr/>
            <a:lstStyle/>
            <a:p>
              <a:endParaRPr lang="zh-CN" altLang="en-US"/>
            </a:p>
          </p:txBody>
        </p:sp>
        <p:sp>
          <p:nvSpPr>
            <p:cNvPr id="90" name="文本框 89">
              <a:extLst>
                <a:ext uri="{FF2B5EF4-FFF2-40B4-BE49-F238E27FC236}">
                  <a16:creationId xmlns:a16="http://schemas.microsoft.com/office/drawing/2014/main" id="{17FF9226-892F-9404-E9C1-A2E0F0FF9530}"/>
                </a:ext>
              </a:extLst>
            </p:cNvPr>
            <p:cNvSpPr txBox="1"/>
            <p:nvPr/>
          </p:nvSpPr>
          <p:spPr>
            <a:xfrm>
              <a:off x="7171372" y="3310516"/>
              <a:ext cx="706755"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重庆农商行</a:t>
              </a:r>
            </a:p>
          </p:txBody>
        </p:sp>
        <p:sp>
          <p:nvSpPr>
            <p:cNvPr id="91" name="文本框 90">
              <a:extLst>
                <a:ext uri="{FF2B5EF4-FFF2-40B4-BE49-F238E27FC236}">
                  <a16:creationId xmlns:a16="http://schemas.microsoft.com/office/drawing/2014/main" id="{25B7ECDF-8B6E-A5CF-6E7B-FAF806219FDE}"/>
                </a:ext>
              </a:extLst>
            </p:cNvPr>
            <p:cNvSpPr txBox="1"/>
            <p:nvPr/>
          </p:nvSpPr>
          <p:spPr>
            <a:xfrm>
              <a:off x="8415480" y="3310516"/>
              <a:ext cx="695039" cy="229724"/>
            </a:xfrm>
            <a:prstGeom prst="rect">
              <a:avLst/>
            </a:prstGeom>
            <a:noFill/>
          </p:spPr>
          <p:txBody>
            <a:bodyPr wrap="none" rtlCol="0">
              <a:spAutoFit/>
            </a:bodyPr>
            <a:lstStyle/>
            <a:p>
              <a:pPr algn="l"/>
              <a:r>
                <a:rPr lang="zh-CN" altLang="en-US" sz="825" b="1" spc="0" baseline="0">
                  <a:ln/>
                  <a:solidFill>
                    <a:srgbClr val="1E3A5F"/>
                  </a:solidFill>
                  <a:latin typeface="微软雅黑"/>
                  <a:ea typeface="微软雅黑"/>
                  <a:sym typeface="微软雅黑"/>
                  <a:rtl val="0"/>
                </a:rPr>
                <a:t>15,149.42</a:t>
              </a:r>
            </a:p>
          </p:txBody>
        </p:sp>
        <p:sp>
          <p:nvSpPr>
            <p:cNvPr id="92" name="文本框 91">
              <a:extLst>
                <a:ext uri="{FF2B5EF4-FFF2-40B4-BE49-F238E27FC236}">
                  <a16:creationId xmlns:a16="http://schemas.microsoft.com/office/drawing/2014/main" id="{6924E95C-B447-3547-9E75-DF70735CB107}"/>
                </a:ext>
              </a:extLst>
            </p:cNvPr>
            <p:cNvSpPr txBox="1"/>
            <p:nvPr/>
          </p:nvSpPr>
          <p:spPr>
            <a:xfrm>
              <a:off x="9352309" y="3310516"/>
              <a:ext cx="535881" cy="229724"/>
            </a:xfrm>
            <a:prstGeom prst="rect">
              <a:avLst/>
            </a:prstGeom>
            <a:noFill/>
          </p:spPr>
          <p:txBody>
            <a:bodyPr wrap="none" rtlCol="0">
              <a:spAutoFit/>
            </a:bodyPr>
            <a:lstStyle/>
            <a:p>
              <a:pPr algn="l"/>
              <a:r>
                <a:rPr lang="zh-CN" altLang="en-US" sz="825" b="1" spc="0" baseline="0">
                  <a:ln/>
                  <a:solidFill>
                    <a:srgbClr val="2ECC71"/>
                  </a:solidFill>
                  <a:latin typeface="微软雅黑"/>
                  <a:ea typeface="微软雅黑"/>
                  <a:sym typeface="微软雅黑"/>
                  <a:rtl val="0"/>
                </a:rPr>
                <a:t>115.13</a:t>
              </a:r>
            </a:p>
          </p:txBody>
        </p:sp>
        <p:sp>
          <p:nvSpPr>
            <p:cNvPr id="93" name="文本框 92">
              <a:extLst>
                <a:ext uri="{FF2B5EF4-FFF2-40B4-BE49-F238E27FC236}">
                  <a16:creationId xmlns:a16="http://schemas.microsoft.com/office/drawing/2014/main" id="{123C24A9-84DB-1B68-A7E5-70E9D7F5F78A}"/>
                </a:ext>
              </a:extLst>
            </p:cNvPr>
            <p:cNvSpPr txBox="1"/>
            <p:nvPr/>
          </p:nvSpPr>
          <p:spPr>
            <a:xfrm>
              <a:off x="10281285" y="3310516"/>
              <a:ext cx="392430"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1.18</a:t>
              </a:r>
            </a:p>
          </p:txBody>
        </p:sp>
        <p:sp>
          <p:nvSpPr>
            <p:cNvPr id="94" name="矩形 93">
              <a:extLst>
                <a:ext uri="{FF2B5EF4-FFF2-40B4-BE49-F238E27FC236}">
                  <a16:creationId xmlns:a16="http://schemas.microsoft.com/office/drawing/2014/main" id="{293CA1FE-F876-D8AE-1DD6-B1B77866D3C0}"/>
                </a:ext>
              </a:extLst>
            </p:cNvPr>
            <p:cNvSpPr/>
            <p:nvPr/>
          </p:nvSpPr>
          <p:spPr>
            <a:xfrm>
              <a:off x="6572250" y="3571875"/>
              <a:ext cx="4762500" cy="304800"/>
            </a:xfrm>
            <a:prstGeom prst="rect">
              <a:avLst/>
            </a:prstGeom>
            <a:solidFill>
              <a:srgbClr val="FFFFFF"/>
            </a:solidFill>
            <a:ln w="9525" cap="flat">
              <a:noFill/>
              <a:prstDash val="solid"/>
              <a:miter/>
            </a:ln>
          </p:spPr>
          <p:txBody>
            <a:bodyPr/>
            <a:lstStyle/>
            <a:p>
              <a:endParaRPr lang="zh-CN" altLang="en-US"/>
            </a:p>
          </p:txBody>
        </p:sp>
        <p:sp>
          <p:nvSpPr>
            <p:cNvPr id="95" name="文本框 94">
              <a:extLst>
                <a:ext uri="{FF2B5EF4-FFF2-40B4-BE49-F238E27FC236}">
                  <a16:creationId xmlns:a16="http://schemas.microsoft.com/office/drawing/2014/main" id="{2F15F86D-DF34-81E3-83BD-16A028A603F4}"/>
                </a:ext>
              </a:extLst>
            </p:cNvPr>
            <p:cNvSpPr txBox="1"/>
            <p:nvPr/>
          </p:nvSpPr>
          <p:spPr>
            <a:xfrm>
              <a:off x="7223760" y="361531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重庆银行</a:t>
              </a:r>
            </a:p>
          </p:txBody>
        </p:sp>
        <p:sp>
          <p:nvSpPr>
            <p:cNvPr id="96" name="文本框 95">
              <a:extLst>
                <a:ext uri="{FF2B5EF4-FFF2-40B4-BE49-F238E27FC236}">
                  <a16:creationId xmlns:a16="http://schemas.microsoft.com/office/drawing/2014/main" id="{49FE5412-8F3C-CB9E-9550-E98D61ADABC8}"/>
                </a:ext>
              </a:extLst>
            </p:cNvPr>
            <p:cNvSpPr txBox="1"/>
            <p:nvPr/>
          </p:nvSpPr>
          <p:spPr>
            <a:xfrm>
              <a:off x="8462010" y="361531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8,566.42</a:t>
              </a:r>
            </a:p>
          </p:txBody>
        </p:sp>
        <p:sp>
          <p:nvSpPr>
            <p:cNvPr id="97" name="文本框 96">
              <a:extLst>
                <a:ext uri="{FF2B5EF4-FFF2-40B4-BE49-F238E27FC236}">
                  <a16:creationId xmlns:a16="http://schemas.microsoft.com/office/drawing/2014/main" id="{C945DCEC-FB09-CBC5-D1B8-05C5D39E006A}"/>
                </a:ext>
              </a:extLst>
            </p:cNvPr>
            <p:cNvSpPr txBox="1"/>
            <p:nvPr/>
          </p:nvSpPr>
          <p:spPr>
            <a:xfrm>
              <a:off x="9393313" y="3615316"/>
              <a:ext cx="45387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51.17</a:t>
              </a:r>
            </a:p>
          </p:txBody>
        </p:sp>
        <p:sp>
          <p:nvSpPr>
            <p:cNvPr id="98" name="文本框 97">
              <a:extLst>
                <a:ext uri="{FF2B5EF4-FFF2-40B4-BE49-F238E27FC236}">
                  <a16:creationId xmlns:a16="http://schemas.microsoft.com/office/drawing/2014/main" id="{A55532FF-742A-02C9-67A8-1A57814D82FC}"/>
                </a:ext>
              </a:extLst>
            </p:cNvPr>
            <p:cNvSpPr txBox="1"/>
            <p:nvPr/>
          </p:nvSpPr>
          <p:spPr>
            <a:xfrm>
              <a:off x="10281285" y="3615316"/>
              <a:ext cx="3924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1.25</a:t>
              </a:r>
            </a:p>
          </p:txBody>
        </p:sp>
        <p:sp>
          <p:nvSpPr>
            <p:cNvPr id="99" name="矩形 98">
              <a:extLst>
                <a:ext uri="{FF2B5EF4-FFF2-40B4-BE49-F238E27FC236}">
                  <a16:creationId xmlns:a16="http://schemas.microsoft.com/office/drawing/2014/main" id="{A8052E07-983D-7738-F24F-8FBA7992E8EC}"/>
                </a:ext>
              </a:extLst>
            </p:cNvPr>
            <p:cNvSpPr/>
            <p:nvPr/>
          </p:nvSpPr>
          <p:spPr>
            <a:xfrm>
              <a:off x="6572250" y="3876675"/>
              <a:ext cx="4762500" cy="304800"/>
            </a:xfrm>
            <a:prstGeom prst="rect">
              <a:avLst/>
            </a:prstGeom>
            <a:solidFill>
              <a:srgbClr val="EBF4FF"/>
            </a:solidFill>
            <a:ln w="9525" cap="flat">
              <a:noFill/>
              <a:prstDash val="solid"/>
              <a:miter/>
            </a:ln>
          </p:spPr>
          <p:txBody>
            <a:bodyPr/>
            <a:lstStyle/>
            <a:p>
              <a:endParaRPr lang="zh-CN" altLang="en-US"/>
            </a:p>
          </p:txBody>
        </p:sp>
        <p:sp>
          <p:nvSpPr>
            <p:cNvPr id="100" name="文本框 99">
              <a:extLst>
                <a:ext uri="{FF2B5EF4-FFF2-40B4-BE49-F238E27FC236}">
                  <a16:creationId xmlns:a16="http://schemas.microsoft.com/office/drawing/2014/main" id="{267B6C16-E8D4-3385-754C-08A3874AE2EC}"/>
                </a:ext>
              </a:extLst>
            </p:cNvPr>
            <p:cNvSpPr txBox="1"/>
            <p:nvPr/>
          </p:nvSpPr>
          <p:spPr>
            <a:xfrm>
              <a:off x="7118985" y="3920116"/>
              <a:ext cx="8115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重庆三峡银行</a:t>
              </a:r>
            </a:p>
          </p:txBody>
        </p:sp>
        <p:sp>
          <p:nvSpPr>
            <p:cNvPr id="101" name="文本框 100">
              <a:extLst>
                <a:ext uri="{FF2B5EF4-FFF2-40B4-BE49-F238E27FC236}">
                  <a16:creationId xmlns:a16="http://schemas.microsoft.com/office/drawing/2014/main" id="{37111A3A-956B-3D91-C1EF-731A85D93D0A}"/>
                </a:ext>
              </a:extLst>
            </p:cNvPr>
            <p:cNvSpPr txBox="1"/>
            <p:nvPr/>
          </p:nvSpPr>
          <p:spPr>
            <a:xfrm>
              <a:off x="8462010" y="3920116"/>
              <a:ext cx="60198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3,360.55</a:t>
              </a:r>
            </a:p>
          </p:txBody>
        </p:sp>
        <p:sp>
          <p:nvSpPr>
            <p:cNvPr id="102" name="文本框 101">
              <a:extLst>
                <a:ext uri="{FF2B5EF4-FFF2-40B4-BE49-F238E27FC236}">
                  <a16:creationId xmlns:a16="http://schemas.microsoft.com/office/drawing/2014/main" id="{DAE6A043-ECCF-F568-119C-EAB3DBC6EB96}"/>
                </a:ext>
              </a:extLst>
            </p:cNvPr>
            <p:cNvSpPr txBox="1"/>
            <p:nvPr/>
          </p:nvSpPr>
          <p:spPr>
            <a:xfrm>
              <a:off x="9393313" y="3920116"/>
              <a:ext cx="453872"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13.23</a:t>
              </a:r>
            </a:p>
          </p:txBody>
        </p:sp>
        <p:sp>
          <p:nvSpPr>
            <p:cNvPr id="103" name="文本框 102">
              <a:extLst>
                <a:ext uri="{FF2B5EF4-FFF2-40B4-BE49-F238E27FC236}">
                  <a16:creationId xmlns:a16="http://schemas.microsoft.com/office/drawing/2014/main" id="{85B728FD-A339-3521-58AE-CF550D4F4CB1}"/>
                </a:ext>
              </a:extLst>
            </p:cNvPr>
            <p:cNvSpPr txBox="1"/>
            <p:nvPr/>
          </p:nvSpPr>
          <p:spPr>
            <a:xfrm>
              <a:off x="10281285" y="3920116"/>
              <a:ext cx="392430" cy="229724"/>
            </a:xfrm>
            <a:prstGeom prst="rect">
              <a:avLst/>
            </a:prstGeom>
            <a:noFill/>
          </p:spPr>
          <p:txBody>
            <a:bodyPr wrap="none" rtlCol="0">
              <a:spAutoFit/>
            </a:bodyPr>
            <a:lstStyle/>
            <a:p>
              <a:pPr algn="l"/>
              <a:r>
                <a:rPr lang="zh-CN" altLang="en-US" sz="825" spc="0" baseline="0">
                  <a:ln/>
                  <a:solidFill>
                    <a:srgbClr val="F59E0B"/>
                  </a:solidFill>
                  <a:latin typeface="微软雅黑"/>
                  <a:ea typeface="微软雅黑"/>
                  <a:sym typeface="微软雅黑"/>
                  <a:rtl val="0"/>
                </a:rPr>
                <a:t>1.66</a:t>
              </a:r>
            </a:p>
          </p:txBody>
        </p:sp>
        <p:sp>
          <p:nvSpPr>
            <p:cNvPr id="104" name="矩形 103">
              <a:extLst>
                <a:ext uri="{FF2B5EF4-FFF2-40B4-BE49-F238E27FC236}">
                  <a16:creationId xmlns:a16="http://schemas.microsoft.com/office/drawing/2014/main" id="{1162B943-D030-A5D2-A9EB-C67CEEC46A77}"/>
                </a:ext>
              </a:extLst>
            </p:cNvPr>
            <p:cNvSpPr/>
            <p:nvPr/>
          </p:nvSpPr>
          <p:spPr>
            <a:xfrm>
              <a:off x="6572250" y="4181475"/>
              <a:ext cx="4762500" cy="304800"/>
            </a:xfrm>
            <a:prstGeom prst="rect">
              <a:avLst/>
            </a:prstGeom>
            <a:solidFill>
              <a:srgbClr val="FFFFFF"/>
            </a:solidFill>
            <a:ln w="9525" cap="flat">
              <a:noFill/>
              <a:prstDash val="solid"/>
              <a:miter/>
            </a:ln>
          </p:spPr>
          <p:txBody>
            <a:bodyPr/>
            <a:lstStyle/>
            <a:p>
              <a:endParaRPr lang="zh-CN" altLang="en-US"/>
            </a:p>
          </p:txBody>
        </p:sp>
        <p:sp>
          <p:nvSpPr>
            <p:cNvPr id="105" name="文本框 104">
              <a:extLst>
                <a:ext uri="{FF2B5EF4-FFF2-40B4-BE49-F238E27FC236}">
                  <a16:creationId xmlns:a16="http://schemas.microsoft.com/office/drawing/2014/main" id="{E45E1C82-416B-1DD7-A325-AC68AA9F8AED}"/>
                </a:ext>
              </a:extLst>
            </p:cNvPr>
            <p:cNvSpPr txBox="1"/>
            <p:nvPr/>
          </p:nvSpPr>
          <p:spPr>
            <a:xfrm>
              <a:off x="6909435" y="4224916"/>
              <a:ext cx="12306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重庆富民银行（民营）</a:t>
              </a:r>
            </a:p>
          </p:txBody>
        </p:sp>
        <p:sp>
          <p:nvSpPr>
            <p:cNvPr id="106" name="文本框 105">
              <a:extLst>
                <a:ext uri="{FF2B5EF4-FFF2-40B4-BE49-F238E27FC236}">
                  <a16:creationId xmlns:a16="http://schemas.microsoft.com/office/drawing/2014/main" id="{DCE1DEEB-1D71-0D3A-5F71-FCE31D8D9CE2}"/>
                </a:ext>
              </a:extLst>
            </p:cNvPr>
            <p:cNvSpPr txBox="1"/>
            <p:nvPr/>
          </p:nvSpPr>
          <p:spPr>
            <a:xfrm>
              <a:off x="8505342" y="4224916"/>
              <a:ext cx="515315"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622.94</a:t>
              </a:r>
            </a:p>
          </p:txBody>
        </p:sp>
        <p:sp>
          <p:nvSpPr>
            <p:cNvPr id="107" name="文本框 106">
              <a:extLst>
                <a:ext uri="{FF2B5EF4-FFF2-40B4-BE49-F238E27FC236}">
                  <a16:creationId xmlns:a16="http://schemas.microsoft.com/office/drawing/2014/main" id="{2DF5136B-AF49-5436-C21B-F813AEFB6328}"/>
                </a:ext>
              </a:extLst>
            </p:cNvPr>
            <p:cNvSpPr txBox="1"/>
            <p:nvPr/>
          </p:nvSpPr>
          <p:spPr>
            <a:xfrm>
              <a:off x="9424035" y="4224916"/>
              <a:ext cx="3924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4.16</a:t>
              </a:r>
            </a:p>
          </p:txBody>
        </p:sp>
        <p:sp>
          <p:nvSpPr>
            <p:cNvPr id="108" name="文本框 107">
              <a:extLst>
                <a:ext uri="{FF2B5EF4-FFF2-40B4-BE49-F238E27FC236}">
                  <a16:creationId xmlns:a16="http://schemas.microsoft.com/office/drawing/2014/main" id="{16A3AAF3-BB5B-2625-7723-805AD09995BC}"/>
                </a:ext>
              </a:extLst>
            </p:cNvPr>
            <p:cNvSpPr txBox="1"/>
            <p:nvPr/>
          </p:nvSpPr>
          <p:spPr>
            <a:xfrm>
              <a:off x="10281285" y="4224916"/>
              <a:ext cx="392430"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1.44</a:t>
              </a:r>
            </a:p>
          </p:txBody>
        </p:sp>
        <p:sp>
          <p:nvSpPr>
            <p:cNvPr id="109" name="任意形状 108">
              <a:extLst>
                <a:ext uri="{FF2B5EF4-FFF2-40B4-BE49-F238E27FC236}">
                  <a16:creationId xmlns:a16="http://schemas.microsoft.com/office/drawing/2014/main" id="{3D18A497-3F61-3210-8EA8-FC0029555F31}"/>
                </a:ext>
              </a:extLst>
            </p:cNvPr>
            <p:cNvSpPr/>
            <p:nvPr/>
          </p:nvSpPr>
          <p:spPr>
            <a:xfrm>
              <a:off x="6572250" y="4619625"/>
              <a:ext cx="4762500" cy="476250"/>
            </a:xfrm>
            <a:custGeom>
              <a:avLst/>
              <a:gdLst>
                <a:gd name="csX0" fmla="*/ 38100 w 4762500"/>
                <a:gd name="csY0" fmla="*/ 0 h 476250"/>
                <a:gd name="csX1" fmla="*/ 4724400 w 4762500"/>
                <a:gd name="csY1" fmla="*/ 0 h 476250"/>
                <a:gd name="csX2" fmla="*/ 4762500 w 4762500"/>
                <a:gd name="csY2" fmla="*/ 38100 h 476250"/>
                <a:gd name="csX3" fmla="*/ 4762500 w 4762500"/>
                <a:gd name="csY3" fmla="*/ 438150 h 476250"/>
                <a:gd name="csX4" fmla="*/ 4724400 w 4762500"/>
                <a:gd name="csY4" fmla="*/ 476250 h 476250"/>
                <a:gd name="csX5" fmla="*/ 38100 w 4762500"/>
                <a:gd name="csY5" fmla="*/ 476250 h 476250"/>
                <a:gd name="csX6" fmla="*/ 0 w 4762500"/>
                <a:gd name="csY6" fmla="*/ 438150 h 476250"/>
                <a:gd name="csX7" fmla="*/ 0 w 4762500"/>
                <a:gd name="csY7" fmla="*/ 38100 h 476250"/>
                <a:gd name="csX8" fmla="*/ 38100 w 4762500"/>
                <a:gd name="csY8" fmla="*/ 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476250">
                  <a:moveTo>
                    <a:pt x="38100" y="0"/>
                  </a:moveTo>
                  <a:lnTo>
                    <a:pt x="4724400" y="0"/>
                  </a:lnTo>
                  <a:cubicBezTo>
                    <a:pt x="4745442" y="0"/>
                    <a:pt x="4762500" y="17058"/>
                    <a:pt x="4762500" y="38100"/>
                  </a:cubicBezTo>
                  <a:lnTo>
                    <a:pt x="4762500" y="438150"/>
                  </a:lnTo>
                  <a:cubicBezTo>
                    <a:pt x="4762500" y="459192"/>
                    <a:pt x="4745442" y="476250"/>
                    <a:pt x="4724400" y="476250"/>
                  </a:cubicBezTo>
                  <a:lnTo>
                    <a:pt x="38100" y="476250"/>
                  </a:lnTo>
                  <a:cubicBezTo>
                    <a:pt x="17058" y="476250"/>
                    <a:pt x="0" y="459192"/>
                    <a:pt x="0" y="438150"/>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110" name="文本框 109">
              <a:extLst>
                <a:ext uri="{FF2B5EF4-FFF2-40B4-BE49-F238E27FC236}">
                  <a16:creationId xmlns:a16="http://schemas.microsoft.com/office/drawing/2014/main" id="{01C17113-D3E7-E553-D39A-33A29AE1B3FA}"/>
                </a:ext>
              </a:extLst>
            </p:cNvPr>
            <p:cNvSpPr txBox="1"/>
            <p:nvPr/>
          </p:nvSpPr>
          <p:spPr>
            <a:xfrm>
              <a:off x="6671310" y="4691088"/>
              <a:ext cx="3369829" cy="248100"/>
            </a:xfrm>
            <a:prstGeom prst="rect">
              <a:avLst/>
            </a:prstGeom>
            <a:noFill/>
          </p:spPr>
          <p:txBody>
            <a:bodyPr wrap="none" rtlCol="0">
              <a:spAutoFit/>
            </a:bodyPr>
            <a:lstStyle/>
            <a:p>
              <a:pPr algn="l"/>
              <a:r>
                <a:rPr lang="zh-CN" altLang="en-US" sz="900" spc="0" baseline="0">
                  <a:ln/>
                  <a:solidFill>
                    <a:srgbClr val="4A90D9"/>
                  </a:solidFill>
                  <a:latin typeface="Apple Color Emoji"/>
                  <a:ea typeface="Apple Color Emoji"/>
                  <a:sym typeface="Apple Color Emoji"/>
                  <a:rtl val="0"/>
                </a:rPr>
                <a:t>💡</a:t>
              </a:r>
              <a:r>
                <a:rPr lang="zh-CN" altLang="en-US" sz="900" spc="0" baseline="0">
                  <a:ln/>
                  <a:solidFill>
                    <a:srgbClr val="4A90D9"/>
                  </a:solidFill>
                  <a:latin typeface="微软雅黑"/>
                  <a:ea typeface="微软雅黑"/>
                  <a:sym typeface="微软雅黑"/>
                  <a:rtl val="0"/>
                </a:rPr>
                <a:t> 重庆农商行为全国规模最大农商行之一，2家城商行经营稳健</a:t>
              </a:r>
            </a:p>
          </p:txBody>
        </p:sp>
        <p:sp>
          <p:nvSpPr>
            <p:cNvPr id="111" name="文本框 110">
              <a:extLst>
                <a:ext uri="{FF2B5EF4-FFF2-40B4-BE49-F238E27FC236}">
                  <a16:creationId xmlns:a16="http://schemas.microsoft.com/office/drawing/2014/main" id="{4A603B3A-D709-FF84-6DD8-5D46A2671E42}"/>
                </a:ext>
              </a:extLst>
            </p:cNvPr>
            <p:cNvSpPr txBox="1"/>
            <p:nvPr/>
          </p:nvSpPr>
          <p:spPr>
            <a:xfrm>
              <a:off x="6671310" y="4872616"/>
              <a:ext cx="248793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整体不良率可控，本地银行资源支撑区域经济发展</a:t>
              </a:r>
            </a:p>
          </p:txBody>
        </p:sp>
      </p:grpSp>
      <p:grpSp>
        <p:nvGrpSpPr>
          <p:cNvPr id="112" name="SVG Image 14">
            <a:extLst>
              <a:ext uri="{FF2B5EF4-FFF2-40B4-BE49-F238E27FC236}">
                <a16:creationId xmlns:a16="http://schemas.microsoft.com/office/drawing/2014/main" id="{2361EFFF-51A7-56DA-8608-CF6101EDE099}"/>
              </a:ext>
            </a:extLst>
          </p:cNvPr>
          <p:cNvGrpSpPr/>
          <p:nvPr/>
        </p:nvGrpSpPr>
        <p:grpSpPr>
          <a:xfrm>
            <a:off x="571500" y="5429250"/>
            <a:ext cx="11049000" cy="857250"/>
            <a:chOff x="571500" y="5429250"/>
            <a:chExt cx="11049000" cy="857250"/>
          </a:xfrm>
        </p:grpSpPr>
        <p:sp>
          <p:nvSpPr>
            <p:cNvPr id="113" name="任意形状 112">
              <a:extLst>
                <a:ext uri="{FF2B5EF4-FFF2-40B4-BE49-F238E27FC236}">
                  <a16:creationId xmlns:a16="http://schemas.microsoft.com/office/drawing/2014/main" id="{FB08F528-2EB7-C986-BB3D-24083028DF8E}"/>
                </a:ext>
              </a:extLst>
            </p:cNvPr>
            <p:cNvSpPr/>
            <p:nvPr/>
          </p:nvSpPr>
          <p:spPr>
            <a:xfrm>
              <a:off x="571500" y="5429250"/>
              <a:ext cx="11049000" cy="857250"/>
            </a:xfrm>
            <a:custGeom>
              <a:avLst/>
              <a:gdLst>
                <a:gd name="csX0" fmla="*/ 76200 w 11049000"/>
                <a:gd name="csY0" fmla="*/ 0 h 857250"/>
                <a:gd name="csX1" fmla="*/ 10972800 w 11049000"/>
                <a:gd name="csY1" fmla="*/ 0 h 857250"/>
                <a:gd name="csX2" fmla="*/ 11049000 w 11049000"/>
                <a:gd name="csY2" fmla="*/ 76200 h 857250"/>
                <a:gd name="csX3" fmla="*/ 11049000 w 11049000"/>
                <a:gd name="csY3" fmla="*/ 781050 h 857250"/>
                <a:gd name="csX4" fmla="*/ 10972800 w 11049000"/>
                <a:gd name="csY4" fmla="*/ 857250 h 857250"/>
                <a:gd name="csX5" fmla="*/ 76200 w 11049000"/>
                <a:gd name="csY5" fmla="*/ 857250 h 857250"/>
                <a:gd name="csX6" fmla="*/ 0 w 11049000"/>
                <a:gd name="csY6" fmla="*/ 781050 h 857250"/>
                <a:gd name="csX7" fmla="*/ 0 w 11049000"/>
                <a:gd name="csY7" fmla="*/ 76200 h 857250"/>
                <a:gd name="csX8" fmla="*/ 76200 w 11049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857250">
                  <a:moveTo>
                    <a:pt x="76200" y="0"/>
                  </a:moveTo>
                  <a:lnTo>
                    <a:pt x="10972800" y="0"/>
                  </a:lnTo>
                  <a:cubicBezTo>
                    <a:pt x="11014885" y="0"/>
                    <a:pt x="11049000" y="34116"/>
                    <a:pt x="11049000" y="76200"/>
                  </a:cubicBezTo>
                  <a:lnTo>
                    <a:pt x="11049000" y="781050"/>
                  </a:lnTo>
                  <a:cubicBezTo>
                    <a:pt x="11049000" y="823134"/>
                    <a:pt x="11014885" y="857250"/>
                    <a:pt x="10972800" y="857250"/>
                  </a:cubicBezTo>
                  <a:lnTo>
                    <a:pt x="76200" y="857250"/>
                  </a:lnTo>
                  <a:cubicBezTo>
                    <a:pt x="34116" y="857250"/>
                    <a:pt x="0" y="823134"/>
                    <a:pt x="0" y="7810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14" name="文本框 113">
              <a:extLst>
                <a:ext uri="{FF2B5EF4-FFF2-40B4-BE49-F238E27FC236}">
                  <a16:creationId xmlns:a16="http://schemas.microsoft.com/office/drawing/2014/main" id="{5E644D50-6E08-E12C-AE31-2D1AB5A39E20}"/>
                </a:ext>
              </a:extLst>
            </p:cNvPr>
            <p:cNvSpPr txBox="1"/>
            <p:nvPr/>
          </p:nvSpPr>
          <p:spPr>
            <a:xfrm>
              <a:off x="765810" y="5575806"/>
              <a:ext cx="982980" cy="267438"/>
            </a:xfrm>
            <a:prstGeom prst="rect">
              <a:avLst/>
            </a:prstGeom>
            <a:noFill/>
          </p:spPr>
          <p:txBody>
            <a:bodyPr wrap="none" rtlCol="0">
              <a:spAutoFit/>
            </a:bodyPr>
            <a:lstStyle/>
            <a:p>
              <a:pPr algn="l"/>
              <a:r>
                <a:rPr lang="zh-CN" altLang="en-US" sz="1050" b="1" spc="0" baseline="0">
                  <a:ln/>
                  <a:solidFill>
                    <a:srgbClr val="4A90D9"/>
                  </a:solidFill>
                  <a:latin typeface="微软雅黑"/>
                  <a:ea typeface="微软雅黑"/>
                  <a:sym typeface="微软雅黑"/>
                  <a:rtl val="0"/>
                </a:rPr>
                <a:t>金融资源评价</a:t>
              </a:r>
            </a:p>
          </p:txBody>
        </p:sp>
        <p:sp>
          <p:nvSpPr>
            <p:cNvPr id="115" name="文本框 114">
              <a:extLst>
                <a:ext uri="{FF2B5EF4-FFF2-40B4-BE49-F238E27FC236}">
                  <a16:creationId xmlns:a16="http://schemas.microsoft.com/office/drawing/2014/main" id="{8472ACB8-82DA-61C9-C5A4-555CDAC4FF37}"/>
                </a:ext>
              </a:extLst>
            </p:cNvPr>
            <p:cNvSpPr txBox="1"/>
            <p:nvPr/>
          </p:nvSpPr>
          <p:spPr>
            <a:xfrm>
              <a:off x="765810" y="5871635"/>
              <a:ext cx="4516513"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银行机构齐全：国有大行+股份行+城商行+农商行+村镇银行形成多层次体系 </a:t>
              </a:r>
            </a:p>
          </p:txBody>
        </p:sp>
        <p:sp>
          <p:nvSpPr>
            <p:cNvPr id="116" name="文本框 115">
              <a:extLst>
                <a:ext uri="{FF2B5EF4-FFF2-40B4-BE49-F238E27FC236}">
                  <a16:creationId xmlns:a16="http://schemas.microsoft.com/office/drawing/2014/main" id="{582E5461-62D4-26C3-9CAF-D4205FFF35F8}"/>
                </a:ext>
              </a:extLst>
            </p:cNvPr>
            <p:cNvSpPr txBox="1"/>
            <p:nvPr/>
          </p:nvSpPr>
          <p:spPr>
            <a:xfrm>
              <a:off x="6099810" y="5871635"/>
              <a:ext cx="2771838"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网点覆盖广泛：5,438个网点服务3,190万人口</a:t>
              </a:r>
            </a:p>
          </p:txBody>
        </p:sp>
        <p:sp>
          <p:nvSpPr>
            <p:cNvPr id="117" name="文本框 116">
              <a:extLst>
                <a:ext uri="{FF2B5EF4-FFF2-40B4-BE49-F238E27FC236}">
                  <a16:creationId xmlns:a16="http://schemas.microsoft.com/office/drawing/2014/main" id="{686A617D-D208-8A31-A938-ED5F0B07CFC3}"/>
                </a:ext>
              </a:extLst>
            </p:cNvPr>
            <p:cNvSpPr txBox="1"/>
            <p:nvPr/>
          </p:nvSpPr>
          <p:spPr>
            <a:xfrm>
              <a:off x="765810" y="6062135"/>
              <a:ext cx="3021060"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资产质量优良：不良率1.14%，低于全国平均水平 </a:t>
              </a:r>
            </a:p>
          </p:txBody>
        </p:sp>
        <p:sp>
          <p:nvSpPr>
            <p:cNvPr id="118" name="文本框 117">
              <a:extLst>
                <a:ext uri="{FF2B5EF4-FFF2-40B4-BE49-F238E27FC236}">
                  <a16:creationId xmlns:a16="http://schemas.microsoft.com/office/drawing/2014/main" id="{1F97E734-A014-BA3F-5924-B08856381DA7}"/>
                </a:ext>
              </a:extLst>
            </p:cNvPr>
            <p:cNvSpPr txBox="1"/>
            <p:nvPr/>
          </p:nvSpPr>
          <p:spPr>
            <a:xfrm>
              <a:off x="6099810" y="6062135"/>
              <a:ext cx="3129648"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信贷投放积极：存贷比106.73%，金融支持实体有力</a:t>
              </a:r>
            </a:p>
          </p:txBody>
        </p:sp>
      </p:grpSp>
      <p:sp>
        <p:nvSpPr>
          <p:cNvPr id="119" name="矩形 118">
            <a:extLst>
              <a:ext uri="{FF2B5EF4-FFF2-40B4-BE49-F238E27FC236}">
                <a16:creationId xmlns:a16="http://schemas.microsoft.com/office/drawing/2014/main" id="{66128C54-3118-5D5F-7F39-02B972995126}"/>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6F0E59C-EEBE-D41F-752C-4FD6C3BFAE33}"/>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8F4E81D2-BED5-951F-7013-0771E7BCE04A}"/>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9A0D9F13-FF31-7252-6861-7DE3BAE1B88F}"/>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E4291BE1-8DFB-E136-0365-7C1D27E79263}"/>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4BE34779-38EB-C980-E00B-0B73B6094399}"/>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8F386AAD-D236-DE41-BDE5-EA459D442D22}"/>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05 区域融资</a:t>
            </a:r>
          </a:p>
        </p:txBody>
      </p:sp>
      <p:sp>
        <p:nvSpPr>
          <p:cNvPr id="10" name="文本框 9">
            <a:extLst>
              <a:ext uri="{FF2B5EF4-FFF2-40B4-BE49-F238E27FC236}">
                <a16:creationId xmlns:a16="http://schemas.microsoft.com/office/drawing/2014/main" id="{8339F27A-89C6-3BA2-1B2E-F80415155058}"/>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15 / 20</a:t>
            </a:r>
          </a:p>
        </p:txBody>
      </p:sp>
      <p:sp>
        <p:nvSpPr>
          <p:cNvPr id="11" name="矩形 10">
            <a:extLst>
              <a:ext uri="{FF2B5EF4-FFF2-40B4-BE49-F238E27FC236}">
                <a16:creationId xmlns:a16="http://schemas.microsoft.com/office/drawing/2014/main" id="{5972BAB8-A709-64D1-8980-FEF13F1F5CB6}"/>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013F982A-893C-9518-FB38-CA9F04CA66E7}"/>
              </a:ext>
            </a:extLst>
          </p:cNvPr>
          <p:cNvSpPr txBox="1"/>
          <p:nvPr/>
        </p:nvSpPr>
        <p:spPr>
          <a:xfrm>
            <a:off x="480060" y="672208"/>
            <a:ext cx="2316480"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五、区域融资概览</a:t>
            </a:r>
          </a:p>
        </p:txBody>
      </p:sp>
      <p:sp>
        <p:nvSpPr>
          <p:cNvPr id="13" name="文本框 12">
            <a:extLst>
              <a:ext uri="{FF2B5EF4-FFF2-40B4-BE49-F238E27FC236}">
                <a16:creationId xmlns:a16="http://schemas.microsoft.com/office/drawing/2014/main" id="{25B51C4F-1CDB-8C0E-507C-F44D0310B5D6}"/>
              </a:ext>
            </a:extLst>
          </p:cNvPr>
          <p:cNvSpPr txBox="1"/>
          <p:nvPr/>
        </p:nvSpPr>
        <p:spPr>
          <a:xfrm>
            <a:off x="3051810" y="813306"/>
            <a:ext cx="895729"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2024年数据</a:t>
            </a:r>
          </a:p>
        </p:txBody>
      </p:sp>
      <p:grpSp>
        <p:nvGrpSpPr>
          <p:cNvPr id="14" name="SVG Image 15">
            <a:extLst>
              <a:ext uri="{FF2B5EF4-FFF2-40B4-BE49-F238E27FC236}">
                <a16:creationId xmlns:a16="http://schemas.microsoft.com/office/drawing/2014/main" id="{A44A2257-AC14-CFDA-2DC4-74E71E194AFA}"/>
              </a:ext>
            </a:extLst>
          </p:cNvPr>
          <p:cNvGrpSpPr/>
          <p:nvPr/>
        </p:nvGrpSpPr>
        <p:grpSpPr>
          <a:xfrm>
            <a:off x="571500" y="1238250"/>
            <a:ext cx="2667000" cy="1428750"/>
            <a:chOff x="571500" y="1238250"/>
            <a:chExt cx="2667000" cy="1428750"/>
          </a:xfrm>
        </p:grpSpPr>
        <p:sp>
          <p:nvSpPr>
            <p:cNvPr id="15" name="任意形状 14">
              <a:extLst>
                <a:ext uri="{FF2B5EF4-FFF2-40B4-BE49-F238E27FC236}">
                  <a16:creationId xmlns:a16="http://schemas.microsoft.com/office/drawing/2014/main" id="{1DBD5AE9-2AB4-26A7-B228-D8FDEE9D30B4}"/>
                </a:ext>
              </a:extLst>
            </p:cNvPr>
            <p:cNvSpPr/>
            <p:nvPr/>
          </p:nvSpPr>
          <p:spPr>
            <a:xfrm>
              <a:off x="571500" y="123825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16" name="文本框 15">
              <a:extLst>
                <a:ext uri="{FF2B5EF4-FFF2-40B4-BE49-F238E27FC236}">
                  <a16:creationId xmlns:a16="http://schemas.microsoft.com/office/drawing/2014/main" id="{65580B92-F6DE-946B-9869-8BF646259F22}"/>
                </a:ext>
              </a:extLst>
            </p:cNvPr>
            <p:cNvSpPr txBox="1"/>
            <p:nvPr/>
          </p:nvSpPr>
          <p:spPr>
            <a:xfrm>
              <a:off x="765810" y="1384806"/>
              <a:ext cx="1210938" cy="267438"/>
            </a:xfrm>
            <a:prstGeom prst="rect">
              <a:avLst/>
            </a:prstGeom>
            <a:noFill/>
          </p:spPr>
          <p:txBody>
            <a:bodyPr wrap="none" rtlCol="0">
              <a:spAutoFit/>
            </a:bodyPr>
            <a:lstStyle/>
            <a:p>
              <a:pPr algn="l"/>
              <a:r>
                <a:rPr lang="zh-CN" altLang="en-US" sz="1050" spc="0" baseline="0">
                  <a:ln/>
                  <a:solidFill>
                    <a:srgbClr val="FFFFFF">
                      <a:alpha val="80000"/>
                    </a:srgbClr>
                  </a:solidFill>
                  <a:latin typeface="微软雅黑"/>
                  <a:ea typeface="微软雅黑"/>
                  <a:sym typeface="微软雅黑"/>
                  <a:rtl val="0"/>
                </a:rPr>
                <a:t>5.1 区域社融增量</a:t>
              </a:r>
            </a:p>
          </p:txBody>
        </p:sp>
        <p:sp>
          <p:nvSpPr>
            <p:cNvPr id="17" name="文本框 16">
              <a:extLst>
                <a:ext uri="{FF2B5EF4-FFF2-40B4-BE49-F238E27FC236}">
                  <a16:creationId xmlns:a16="http://schemas.microsoft.com/office/drawing/2014/main" id="{4F1F8E30-27F9-335E-FEDA-4E4E2892A042}"/>
                </a:ext>
              </a:extLst>
            </p:cNvPr>
            <p:cNvSpPr txBox="1"/>
            <p:nvPr/>
          </p:nvSpPr>
          <p:spPr>
            <a:xfrm>
              <a:off x="765810" y="1626484"/>
              <a:ext cx="1283994" cy="619435"/>
            </a:xfrm>
            <a:prstGeom prst="rect">
              <a:avLst/>
            </a:prstGeom>
            <a:noFill/>
          </p:spPr>
          <p:txBody>
            <a:bodyPr wrap="none" rtlCol="0">
              <a:spAutoFit/>
            </a:bodyPr>
            <a:lstStyle/>
            <a:p>
              <a:pPr algn="l"/>
              <a:r>
                <a:rPr lang="zh-CN" altLang="en-US" sz="3150" b="1" spc="0" baseline="0">
                  <a:ln/>
                  <a:solidFill>
                    <a:srgbClr val="FFFFFF"/>
                  </a:solidFill>
                  <a:latin typeface="微软雅黑"/>
                  <a:ea typeface="微软雅黑"/>
                  <a:sym typeface="微软雅黑"/>
                  <a:rtl val="0"/>
                </a:rPr>
                <a:t>7,565</a:t>
              </a:r>
            </a:p>
          </p:txBody>
        </p:sp>
        <p:sp>
          <p:nvSpPr>
            <p:cNvPr id="18" name="文本框 17">
              <a:extLst>
                <a:ext uri="{FF2B5EF4-FFF2-40B4-BE49-F238E27FC236}">
                  <a16:creationId xmlns:a16="http://schemas.microsoft.com/office/drawing/2014/main" id="{1DB3BF76-8CC3-9B7C-8597-F3290529D9DB}"/>
                </a:ext>
              </a:extLst>
            </p:cNvPr>
            <p:cNvSpPr txBox="1"/>
            <p:nvPr/>
          </p:nvSpPr>
          <p:spPr>
            <a:xfrm>
              <a:off x="2051685" y="1888524"/>
              <a:ext cx="487680" cy="292581"/>
            </a:xfrm>
            <a:prstGeom prst="rect">
              <a:avLst/>
            </a:prstGeom>
            <a:noFill/>
          </p:spPr>
          <p:txBody>
            <a:bodyPr wrap="none" rtlCol="0">
              <a:spAutoFit/>
            </a:bodyPr>
            <a:lstStyle/>
            <a:p>
              <a:pPr algn="l"/>
              <a:r>
                <a:rPr lang="zh-CN" altLang="en-US" sz="1200" spc="0" baseline="0">
                  <a:ln/>
                  <a:solidFill>
                    <a:srgbClr val="FFFFFF">
                      <a:alpha val="80000"/>
                    </a:srgbClr>
                  </a:solidFill>
                  <a:latin typeface="微软雅黑"/>
                  <a:ea typeface="微软雅黑"/>
                  <a:sym typeface="微软雅黑"/>
                  <a:rtl val="0"/>
                </a:rPr>
                <a:t>亿元</a:t>
              </a:r>
            </a:p>
          </p:txBody>
        </p:sp>
        <p:sp>
          <p:nvSpPr>
            <p:cNvPr id="19" name="文本框 18">
              <a:extLst>
                <a:ext uri="{FF2B5EF4-FFF2-40B4-BE49-F238E27FC236}">
                  <a16:creationId xmlns:a16="http://schemas.microsoft.com/office/drawing/2014/main" id="{48E5945E-8F49-7000-FF95-F598039F918E}"/>
                </a:ext>
              </a:extLst>
            </p:cNvPr>
            <p:cNvSpPr txBox="1"/>
            <p:nvPr/>
          </p:nvSpPr>
          <p:spPr>
            <a:xfrm>
              <a:off x="765810" y="2262213"/>
              <a:ext cx="971985"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 -1.30% 同比</a:t>
              </a:r>
            </a:p>
          </p:txBody>
        </p:sp>
        <p:sp>
          <p:nvSpPr>
            <p:cNvPr id="20" name="文本框 19">
              <a:extLst>
                <a:ext uri="{FF2B5EF4-FFF2-40B4-BE49-F238E27FC236}">
                  <a16:creationId xmlns:a16="http://schemas.microsoft.com/office/drawing/2014/main" id="{45F2741D-2128-237F-5542-84BD7A981437}"/>
                </a:ext>
              </a:extLst>
            </p:cNvPr>
            <p:cNvSpPr txBox="1"/>
            <p:nvPr/>
          </p:nvSpPr>
          <p:spPr>
            <a:xfrm>
              <a:off x="1813560" y="2272291"/>
              <a:ext cx="811530" cy="229724"/>
            </a:xfrm>
            <a:prstGeom prst="rect">
              <a:avLst/>
            </a:prstGeom>
            <a:noFill/>
          </p:spPr>
          <p:txBody>
            <a:bodyPr wrap="none" rtlCol="0">
              <a:spAutoFit/>
            </a:bodyPr>
            <a:lstStyle/>
            <a:p>
              <a:pPr algn="l"/>
              <a:r>
                <a:rPr lang="zh-CN" altLang="en-US" sz="825" spc="0" baseline="0">
                  <a:ln/>
                  <a:solidFill>
                    <a:srgbClr val="FFFFFF">
                      <a:alpha val="60000"/>
                    </a:srgbClr>
                  </a:solidFill>
                  <a:latin typeface="微软雅黑"/>
                  <a:ea typeface="微软雅黑"/>
                  <a:sym typeface="微软雅黑"/>
                  <a:rtl val="0"/>
                </a:rPr>
                <a:t>央行统计口径</a:t>
              </a:r>
            </a:p>
          </p:txBody>
        </p:sp>
      </p:grpSp>
      <p:grpSp>
        <p:nvGrpSpPr>
          <p:cNvPr id="21" name="SVG Image 15">
            <a:extLst>
              <a:ext uri="{FF2B5EF4-FFF2-40B4-BE49-F238E27FC236}">
                <a16:creationId xmlns:a16="http://schemas.microsoft.com/office/drawing/2014/main" id="{2421EE9E-B76B-03CA-B668-785FD2C39320}"/>
              </a:ext>
            </a:extLst>
          </p:cNvPr>
          <p:cNvGrpSpPr/>
          <p:nvPr/>
        </p:nvGrpSpPr>
        <p:grpSpPr>
          <a:xfrm>
            <a:off x="3429000" y="1238250"/>
            <a:ext cx="2667000" cy="1428750"/>
            <a:chOff x="3429000" y="1238250"/>
            <a:chExt cx="2667000" cy="1428750"/>
          </a:xfrm>
        </p:grpSpPr>
        <p:sp>
          <p:nvSpPr>
            <p:cNvPr id="22" name="任意形状 21">
              <a:extLst>
                <a:ext uri="{FF2B5EF4-FFF2-40B4-BE49-F238E27FC236}">
                  <a16:creationId xmlns:a16="http://schemas.microsoft.com/office/drawing/2014/main" id="{E1690CB6-E645-04D5-C13C-3E7E2FBBDE88}"/>
                </a:ext>
              </a:extLst>
            </p:cNvPr>
            <p:cNvSpPr/>
            <p:nvPr/>
          </p:nvSpPr>
          <p:spPr>
            <a:xfrm>
              <a:off x="3429000" y="123825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3" name="文本框 22">
              <a:extLst>
                <a:ext uri="{FF2B5EF4-FFF2-40B4-BE49-F238E27FC236}">
                  <a16:creationId xmlns:a16="http://schemas.microsoft.com/office/drawing/2014/main" id="{90DFA4B4-874C-6038-090E-DA6AECB07401}"/>
                </a:ext>
              </a:extLst>
            </p:cNvPr>
            <p:cNvSpPr txBox="1"/>
            <p:nvPr/>
          </p:nvSpPr>
          <p:spPr>
            <a:xfrm>
              <a:off x="3623310" y="1384806"/>
              <a:ext cx="904715"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5.2 A股融资</a:t>
              </a:r>
            </a:p>
          </p:txBody>
        </p:sp>
        <p:sp>
          <p:nvSpPr>
            <p:cNvPr id="24" name="文本框 23">
              <a:extLst>
                <a:ext uri="{FF2B5EF4-FFF2-40B4-BE49-F238E27FC236}">
                  <a16:creationId xmlns:a16="http://schemas.microsoft.com/office/drawing/2014/main" id="{72611792-6F4C-A878-369B-B3952CA267F4}"/>
                </a:ext>
              </a:extLst>
            </p:cNvPr>
            <p:cNvSpPr txBox="1"/>
            <p:nvPr/>
          </p:nvSpPr>
          <p:spPr>
            <a:xfrm>
              <a:off x="3623310" y="1626484"/>
              <a:ext cx="1283994"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64.25</a:t>
              </a:r>
            </a:p>
          </p:txBody>
        </p:sp>
        <p:sp>
          <p:nvSpPr>
            <p:cNvPr id="25" name="文本框 24">
              <a:extLst>
                <a:ext uri="{FF2B5EF4-FFF2-40B4-BE49-F238E27FC236}">
                  <a16:creationId xmlns:a16="http://schemas.microsoft.com/office/drawing/2014/main" id="{D899CC9B-D31A-2748-5F5B-C734FC15A4C7}"/>
                </a:ext>
              </a:extLst>
            </p:cNvPr>
            <p:cNvSpPr txBox="1"/>
            <p:nvPr/>
          </p:nvSpPr>
          <p:spPr>
            <a:xfrm>
              <a:off x="4861560" y="1888524"/>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26" name="文本框 25">
              <a:extLst>
                <a:ext uri="{FF2B5EF4-FFF2-40B4-BE49-F238E27FC236}">
                  <a16:creationId xmlns:a16="http://schemas.microsoft.com/office/drawing/2014/main" id="{E3D56812-6F77-7B8B-47F9-A9324280E5D2}"/>
                </a:ext>
              </a:extLst>
            </p:cNvPr>
            <p:cNvSpPr txBox="1"/>
            <p:nvPr/>
          </p:nvSpPr>
          <p:spPr>
            <a:xfrm>
              <a:off x="3623310" y="2214588"/>
              <a:ext cx="1016801"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首发融资 6.64亿</a:t>
              </a:r>
            </a:p>
          </p:txBody>
        </p:sp>
        <p:sp>
          <p:nvSpPr>
            <p:cNvPr id="27" name="文本框 26">
              <a:extLst>
                <a:ext uri="{FF2B5EF4-FFF2-40B4-BE49-F238E27FC236}">
                  <a16:creationId xmlns:a16="http://schemas.microsoft.com/office/drawing/2014/main" id="{E247F099-ED11-F822-B507-0C5950FF4FAE}"/>
                </a:ext>
              </a:extLst>
            </p:cNvPr>
            <p:cNvSpPr txBox="1"/>
            <p:nvPr/>
          </p:nvSpPr>
          <p:spPr>
            <a:xfrm>
              <a:off x="3623310" y="2396116"/>
              <a:ext cx="1548485" cy="229724"/>
            </a:xfrm>
            <a:prstGeom prst="rect">
              <a:avLst/>
            </a:prstGeom>
            <a:noFill/>
          </p:spPr>
          <p:txBody>
            <a:bodyPr wrap="none" rtlCol="0">
              <a:spAutoFit/>
            </a:bodyPr>
            <a:lstStyle/>
            <a:p>
              <a:pPr algn="l"/>
              <a:r>
                <a:rPr lang="zh-CN" altLang="en-US" sz="825" spc="0" baseline="0">
                  <a:ln/>
                  <a:solidFill>
                    <a:srgbClr val="4A90D9"/>
                  </a:solidFill>
                  <a:latin typeface="微软雅黑"/>
                  <a:ea typeface="微软雅黑"/>
                  <a:sym typeface="微软雅黑"/>
                  <a:rtl val="0"/>
                </a:rPr>
                <a:t>上市公司78家 | 市值1.19万亿</a:t>
              </a:r>
            </a:p>
          </p:txBody>
        </p:sp>
      </p:grpSp>
      <p:grpSp>
        <p:nvGrpSpPr>
          <p:cNvPr id="28" name="SVG Image 15">
            <a:extLst>
              <a:ext uri="{FF2B5EF4-FFF2-40B4-BE49-F238E27FC236}">
                <a16:creationId xmlns:a16="http://schemas.microsoft.com/office/drawing/2014/main" id="{C6F89E86-07B9-CF9C-79FE-B3A8787523CA}"/>
              </a:ext>
            </a:extLst>
          </p:cNvPr>
          <p:cNvGrpSpPr/>
          <p:nvPr/>
        </p:nvGrpSpPr>
        <p:grpSpPr>
          <a:xfrm>
            <a:off x="6286500" y="1238250"/>
            <a:ext cx="2667000" cy="1428750"/>
            <a:chOff x="6286500" y="1238250"/>
            <a:chExt cx="2667000" cy="1428750"/>
          </a:xfrm>
        </p:grpSpPr>
        <p:sp>
          <p:nvSpPr>
            <p:cNvPr id="29" name="任意形状 28">
              <a:extLst>
                <a:ext uri="{FF2B5EF4-FFF2-40B4-BE49-F238E27FC236}">
                  <a16:creationId xmlns:a16="http://schemas.microsoft.com/office/drawing/2014/main" id="{B537F818-3105-5C31-1091-2C60CDC392FA}"/>
                </a:ext>
              </a:extLst>
            </p:cNvPr>
            <p:cNvSpPr/>
            <p:nvPr/>
          </p:nvSpPr>
          <p:spPr>
            <a:xfrm>
              <a:off x="6286500" y="123825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EF3C7"/>
            </a:solidFill>
            <a:ln w="9525" cap="flat">
              <a:noFill/>
              <a:prstDash val="solid"/>
              <a:miter/>
            </a:ln>
          </p:spPr>
          <p:txBody>
            <a:bodyPr/>
            <a:lstStyle/>
            <a:p>
              <a:endParaRPr lang="zh-CN" altLang="en-US"/>
            </a:p>
          </p:txBody>
        </p:sp>
        <p:sp>
          <p:nvSpPr>
            <p:cNvPr id="30" name="文本框 29">
              <a:extLst>
                <a:ext uri="{FF2B5EF4-FFF2-40B4-BE49-F238E27FC236}">
                  <a16:creationId xmlns:a16="http://schemas.microsoft.com/office/drawing/2014/main" id="{5D55F665-1703-0B89-6FB5-F397D91CF05A}"/>
                </a:ext>
              </a:extLst>
            </p:cNvPr>
            <p:cNvSpPr txBox="1"/>
            <p:nvPr/>
          </p:nvSpPr>
          <p:spPr>
            <a:xfrm>
              <a:off x="6480810" y="1384806"/>
              <a:ext cx="17443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5.3 非金融企业债券净融资</a:t>
              </a:r>
            </a:p>
          </p:txBody>
        </p:sp>
        <p:sp>
          <p:nvSpPr>
            <p:cNvPr id="31" name="文本框 30">
              <a:extLst>
                <a:ext uri="{FF2B5EF4-FFF2-40B4-BE49-F238E27FC236}">
                  <a16:creationId xmlns:a16="http://schemas.microsoft.com/office/drawing/2014/main" id="{4998EE16-DD81-F44C-2000-91A60DE78A7F}"/>
                </a:ext>
              </a:extLst>
            </p:cNvPr>
            <p:cNvSpPr txBox="1"/>
            <p:nvPr/>
          </p:nvSpPr>
          <p:spPr>
            <a:xfrm>
              <a:off x="6480810" y="1626484"/>
              <a:ext cx="1705335" cy="619435"/>
            </a:xfrm>
            <a:prstGeom prst="rect">
              <a:avLst/>
            </a:prstGeom>
            <a:noFill/>
          </p:spPr>
          <p:txBody>
            <a:bodyPr wrap="none" rtlCol="0">
              <a:spAutoFit/>
            </a:bodyPr>
            <a:lstStyle/>
            <a:p>
              <a:pPr algn="l"/>
              <a:r>
                <a:rPr lang="zh-CN" altLang="en-US" sz="3150" b="1" spc="0" baseline="0">
                  <a:ln/>
                  <a:solidFill>
                    <a:srgbClr val="E63946"/>
                  </a:solidFill>
                  <a:latin typeface="微软雅黑"/>
                  <a:ea typeface="微软雅黑"/>
                  <a:sym typeface="微软雅黑"/>
                  <a:rtl val="0"/>
                </a:rPr>
                <a:t>-174.97</a:t>
              </a:r>
            </a:p>
          </p:txBody>
        </p:sp>
        <p:sp>
          <p:nvSpPr>
            <p:cNvPr id="32" name="文本框 31">
              <a:extLst>
                <a:ext uri="{FF2B5EF4-FFF2-40B4-BE49-F238E27FC236}">
                  <a16:creationId xmlns:a16="http://schemas.microsoft.com/office/drawing/2014/main" id="{4011889B-BB36-DB49-76E6-A6486227A807}"/>
                </a:ext>
              </a:extLst>
            </p:cNvPr>
            <p:cNvSpPr txBox="1"/>
            <p:nvPr/>
          </p:nvSpPr>
          <p:spPr>
            <a:xfrm>
              <a:off x="8242935" y="1888524"/>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33" name="文本框 32">
              <a:extLst>
                <a:ext uri="{FF2B5EF4-FFF2-40B4-BE49-F238E27FC236}">
                  <a16:creationId xmlns:a16="http://schemas.microsoft.com/office/drawing/2014/main" id="{1F6DA242-297D-8F25-8BD9-86FBEF146DFD}"/>
                </a:ext>
              </a:extLst>
            </p:cNvPr>
            <p:cNvSpPr txBox="1"/>
            <p:nvPr/>
          </p:nvSpPr>
          <p:spPr>
            <a:xfrm>
              <a:off x="6480810" y="2262213"/>
              <a:ext cx="673901" cy="248100"/>
            </a:xfrm>
            <a:prstGeom prst="rect">
              <a:avLst/>
            </a:prstGeom>
            <a:noFill/>
          </p:spPr>
          <p:txBody>
            <a:bodyPr wrap="none" rtlCol="0">
              <a:spAutoFit/>
            </a:bodyPr>
            <a:lstStyle/>
            <a:p>
              <a:pPr algn="l"/>
              <a:r>
                <a:rPr lang="zh-CN" altLang="en-US" sz="900" spc="0" baseline="0">
                  <a:ln/>
                  <a:solidFill>
                    <a:srgbClr val="E63946"/>
                  </a:solidFill>
                  <a:latin typeface="Apple Color Emoji"/>
                  <a:ea typeface="Apple Color Emoji"/>
                  <a:sym typeface="Apple Color Emoji"/>
                  <a:rtl val="0"/>
                </a:rPr>
                <a:t>⚠️</a:t>
              </a:r>
              <a:r>
                <a:rPr lang="zh-CN" altLang="en-US" sz="900" spc="0" baseline="0">
                  <a:ln/>
                  <a:solidFill>
                    <a:srgbClr val="E63946"/>
                  </a:solidFill>
                  <a:latin typeface="微软雅黑"/>
                  <a:ea typeface="微软雅黑"/>
                  <a:sym typeface="微软雅黑"/>
                  <a:rtl val="0"/>
                </a:rPr>
                <a:t> 净流出</a:t>
              </a:r>
            </a:p>
          </p:txBody>
        </p:sp>
        <p:sp>
          <p:nvSpPr>
            <p:cNvPr id="34" name="文本框 33">
              <a:extLst>
                <a:ext uri="{FF2B5EF4-FFF2-40B4-BE49-F238E27FC236}">
                  <a16:creationId xmlns:a16="http://schemas.microsoft.com/office/drawing/2014/main" id="{59C52C42-A847-DF15-0EE1-0CF68C5F3F90}"/>
                </a:ext>
              </a:extLst>
            </p:cNvPr>
            <p:cNvSpPr txBox="1"/>
            <p:nvPr/>
          </p:nvSpPr>
          <p:spPr>
            <a:xfrm>
              <a:off x="7242810" y="2272291"/>
              <a:ext cx="137643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含城投债+产业债+ABS等</a:t>
              </a:r>
            </a:p>
          </p:txBody>
        </p:sp>
      </p:grpSp>
      <p:grpSp>
        <p:nvGrpSpPr>
          <p:cNvPr id="35" name="SVG Image 15">
            <a:extLst>
              <a:ext uri="{FF2B5EF4-FFF2-40B4-BE49-F238E27FC236}">
                <a16:creationId xmlns:a16="http://schemas.microsoft.com/office/drawing/2014/main" id="{BBCF6C32-C66B-3AEF-F57C-B9C602F672EA}"/>
              </a:ext>
            </a:extLst>
          </p:cNvPr>
          <p:cNvGrpSpPr/>
          <p:nvPr/>
        </p:nvGrpSpPr>
        <p:grpSpPr>
          <a:xfrm>
            <a:off x="9144000" y="1238250"/>
            <a:ext cx="2476500" cy="1428750"/>
            <a:chOff x="9144000" y="1238250"/>
            <a:chExt cx="2476500" cy="1428750"/>
          </a:xfrm>
        </p:grpSpPr>
        <p:sp>
          <p:nvSpPr>
            <p:cNvPr id="36" name="任意形状 35">
              <a:extLst>
                <a:ext uri="{FF2B5EF4-FFF2-40B4-BE49-F238E27FC236}">
                  <a16:creationId xmlns:a16="http://schemas.microsoft.com/office/drawing/2014/main" id="{A3BDEDBB-FED1-69C6-C97A-A1F621276D51}"/>
                </a:ext>
              </a:extLst>
            </p:cNvPr>
            <p:cNvSpPr/>
            <p:nvPr/>
          </p:nvSpPr>
          <p:spPr>
            <a:xfrm>
              <a:off x="9144000" y="1238250"/>
              <a:ext cx="2476500" cy="1428750"/>
            </a:xfrm>
            <a:custGeom>
              <a:avLst/>
              <a:gdLst>
                <a:gd name="csX0" fmla="*/ 76200 w 2476500"/>
                <a:gd name="csY0" fmla="*/ 0 h 1428750"/>
                <a:gd name="csX1" fmla="*/ 2400300 w 2476500"/>
                <a:gd name="csY1" fmla="*/ 0 h 1428750"/>
                <a:gd name="csX2" fmla="*/ 2476500 w 2476500"/>
                <a:gd name="csY2" fmla="*/ 76200 h 1428750"/>
                <a:gd name="csX3" fmla="*/ 2476500 w 2476500"/>
                <a:gd name="csY3" fmla="*/ 1352550 h 1428750"/>
                <a:gd name="csX4" fmla="*/ 2400300 w 2476500"/>
                <a:gd name="csY4" fmla="*/ 1428750 h 1428750"/>
                <a:gd name="csX5" fmla="*/ 76200 w 2476500"/>
                <a:gd name="csY5" fmla="*/ 1428750 h 1428750"/>
                <a:gd name="csX6" fmla="*/ 0 w 2476500"/>
                <a:gd name="csY6" fmla="*/ 1352550 h 1428750"/>
                <a:gd name="csX7" fmla="*/ 0 w 2476500"/>
                <a:gd name="csY7" fmla="*/ 76200 h 1428750"/>
                <a:gd name="csX8" fmla="*/ 76200 w 24765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428750">
                  <a:moveTo>
                    <a:pt x="76200" y="0"/>
                  </a:moveTo>
                  <a:lnTo>
                    <a:pt x="2400300" y="0"/>
                  </a:lnTo>
                  <a:cubicBezTo>
                    <a:pt x="2442385" y="0"/>
                    <a:pt x="2476500" y="34116"/>
                    <a:pt x="2476500" y="76200"/>
                  </a:cubicBezTo>
                  <a:lnTo>
                    <a:pt x="2476500" y="1352550"/>
                  </a:lnTo>
                  <a:cubicBezTo>
                    <a:pt x="2476500" y="1394634"/>
                    <a:pt x="2442385" y="1428750"/>
                    <a:pt x="2400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7" name="文本框 36">
              <a:extLst>
                <a:ext uri="{FF2B5EF4-FFF2-40B4-BE49-F238E27FC236}">
                  <a16:creationId xmlns:a16="http://schemas.microsoft.com/office/drawing/2014/main" id="{B90D2D9C-EECF-EAD7-EF2A-D2B274081D99}"/>
                </a:ext>
              </a:extLst>
            </p:cNvPr>
            <p:cNvSpPr txBox="1"/>
            <p:nvPr/>
          </p:nvSpPr>
          <p:spPr>
            <a:xfrm>
              <a:off x="9338310" y="1384806"/>
              <a:ext cx="13830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金融企业债券净融资</a:t>
              </a:r>
            </a:p>
          </p:txBody>
        </p:sp>
        <p:sp>
          <p:nvSpPr>
            <p:cNvPr id="38" name="文本框 37">
              <a:extLst>
                <a:ext uri="{FF2B5EF4-FFF2-40B4-BE49-F238E27FC236}">
                  <a16:creationId xmlns:a16="http://schemas.microsoft.com/office/drawing/2014/main" id="{3FF61FB5-2EA5-252C-9090-43DADDCE15A3}"/>
                </a:ext>
              </a:extLst>
            </p:cNvPr>
            <p:cNvSpPr txBox="1"/>
            <p:nvPr/>
          </p:nvSpPr>
          <p:spPr>
            <a:xfrm>
              <a:off x="9338310" y="1626484"/>
              <a:ext cx="1530704" cy="619435"/>
            </a:xfrm>
            <a:prstGeom prst="rect">
              <a:avLst/>
            </a:prstGeom>
            <a:noFill/>
          </p:spPr>
          <p:txBody>
            <a:bodyPr wrap="none" rtlCol="0">
              <a:spAutoFit/>
            </a:bodyPr>
            <a:lstStyle/>
            <a:p>
              <a:pPr algn="l"/>
              <a:r>
                <a:rPr lang="zh-CN" altLang="en-US" sz="3150" b="1" spc="0" baseline="0">
                  <a:ln/>
                  <a:solidFill>
                    <a:srgbClr val="2ECC71"/>
                  </a:solidFill>
                  <a:latin typeface="微软雅黑"/>
                  <a:ea typeface="微软雅黑"/>
                  <a:sym typeface="微软雅黑"/>
                  <a:rtl val="0"/>
                </a:rPr>
                <a:t>995.96</a:t>
              </a:r>
            </a:p>
          </p:txBody>
        </p:sp>
        <p:sp>
          <p:nvSpPr>
            <p:cNvPr id="39" name="文本框 38">
              <a:extLst>
                <a:ext uri="{FF2B5EF4-FFF2-40B4-BE49-F238E27FC236}">
                  <a16:creationId xmlns:a16="http://schemas.microsoft.com/office/drawing/2014/main" id="{2B52118C-C2D1-BF75-9861-7CDC854A5370}"/>
                </a:ext>
              </a:extLst>
            </p:cNvPr>
            <p:cNvSpPr txBox="1"/>
            <p:nvPr/>
          </p:nvSpPr>
          <p:spPr>
            <a:xfrm>
              <a:off x="10957560" y="1888524"/>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40" name="文本框 39">
              <a:extLst>
                <a:ext uri="{FF2B5EF4-FFF2-40B4-BE49-F238E27FC236}">
                  <a16:creationId xmlns:a16="http://schemas.microsoft.com/office/drawing/2014/main" id="{4621B5D3-C8E4-A629-E96C-1D84F932069D}"/>
                </a:ext>
              </a:extLst>
            </p:cNvPr>
            <p:cNvSpPr txBox="1"/>
            <p:nvPr/>
          </p:nvSpPr>
          <p:spPr>
            <a:xfrm>
              <a:off x="9338310" y="2262213"/>
              <a:ext cx="672729" cy="2422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 净流入</a:t>
              </a:r>
            </a:p>
          </p:txBody>
        </p:sp>
      </p:grpSp>
      <p:grpSp>
        <p:nvGrpSpPr>
          <p:cNvPr id="41" name="SVG Image 15">
            <a:extLst>
              <a:ext uri="{FF2B5EF4-FFF2-40B4-BE49-F238E27FC236}">
                <a16:creationId xmlns:a16="http://schemas.microsoft.com/office/drawing/2014/main" id="{213F508E-71A4-0F2A-8D63-AB6792826588}"/>
              </a:ext>
            </a:extLst>
          </p:cNvPr>
          <p:cNvGrpSpPr/>
          <p:nvPr/>
        </p:nvGrpSpPr>
        <p:grpSpPr>
          <a:xfrm>
            <a:off x="571500" y="2857500"/>
            <a:ext cx="2667000" cy="1428750"/>
            <a:chOff x="571500" y="2857500"/>
            <a:chExt cx="2667000" cy="1428750"/>
          </a:xfrm>
        </p:grpSpPr>
        <p:sp>
          <p:nvSpPr>
            <p:cNvPr id="42" name="任意形状 41">
              <a:extLst>
                <a:ext uri="{FF2B5EF4-FFF2-40B4-BE49-F238E27FC236}">
                  <a16:creationId xmlns:a16="http://schemas.microsoft.com/office/drawing/2014/main" id="{3E7CBDEA-3A26-4758-4365-26C5FCFFBF9B}"/>
                </a:ext>
              </a:extLst>
            </p:cNvPr>
            <p:cNvSpPr/>
            <p:nvPr/>
          </p:nvSpPr>
          <p:spPr>
            <a:xfrm>
              <a:off x="571500" y="285750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3" name="文本框 42">
              <a:extLst>
                <a:ext uri="{FF2B5EF4-FFF2-40B4-BE49-F238E27FC236}">
                  <a16:creationId xmlns:a16="http://schemas.microsoft.com/office/drawing/2014/main" id="{AD9A9598-F3B4-B8DB-A85D-AAAE38318487}"/>
                </a:ext>
              </a:extLst>
            </p:cNvPr>
            <p:cNvSpPr txBox="1"/>
            <p:nvPr/>
          </p:nvSpPr>
          <p:spPr>
            <a:xfrm>
              <a:off x="765810" y="3004056"/>
              <a:ext cx="12109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5.4 地方债净融资</a:t>
              </a:r>
            </a:p>
          </p:txBody>
        </p:sp>
        <p:sp>
          <p:nvSpPr>
            <p:cNvPr id="44" name="文本框 43">
              <a:extLst>
                <a:ext uri="{FF2B5EF4-FFF2-40B4-BE49-F238E27FC236}">
                  <a16:creationId xmlns:a16="http://schemas.microsoft.com/office/drawing/2014/main" id="{F13DF096-586C-0F00-B49E-7716A00C13AE}"/>
                </a:ext>
              </a:extLst>
            </p:cNvPr>
            <p:cNvSpPr txBox="1"/>
            <p:nvPr/>
          </p:nvSpPr>
          <p:spPr>
            <a:xfrm>
              <a:off x="765810" y="3245734"/>
              <a:ext cx="1891687" cy="619435"/>
            </a:xfrm>
            <a:prstGeom prst="rect">
              <a:avLst/>
            </a:prstGeom>
            <a:noFill/>
          </p:spPr>
          <p:txBody>
            <a:bodyPr wrap="none" rtlCol="0">
              <a:spAutoFit/>
            </a:bodyPr>
            <a:lstStyle/>
            <a:p>
              <a:pPr algn="l"/>
              <a:r>
                <a:rPr lang="zh-CN" altLang="en-US" sz="3150" b="1" spc="0" baseline="0">
                  <a:ln/>
                  <a:solidFill>
                    <a:srgbClr val="4A90D9"/>
                  </a:solidFill>
                  <a:latin typeface="微软雅黑"/>
                  <a:ea typeface="微软雅黑"/>
                  <a:sym typeface="微软雅黑"/>
                  <a:rtl val="0"/>
                </a:rPr>
                <a:t>2,169.86</a:t>
              </a:r>
            </a:p>
          </p:txBody>
        </p:sp>
        <p:sp>
          <p:nvSpPr>
            <p:cNvPr id="45" name="文本框 44">
              <a:extLst>
                <a:ext uri="{FF2B5EF4-FFF2-40B4-BE49-F238E27FC236}">
                  <a16:creationId xmlns:a16="http://schemas.microsoft.com/office/drawing/2014/main" id="{3B6711AE-DB6B-FC6A-F2BD-E205C73F2F20}"/>
                </a:ext>
              </a:extLst>
            </p:cNvPr>
            <p:cNvSpPr txBox="1"/>
            <p:nvPr/>
          </p:nvSpPr>
          <p:spPr>
            <a:xfrm>
              <a:off x="2575560" y="3507774"/>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46" name="文本框 45">
              <a:extLst>
                <a:ext uri="{FF2B5EF4-FFF2-40B4-BE49-F238E27FC236}">
                  <a16:creationId xmlns:a16="http://schemas.microsoft.com/office/drawing/2014/main" id="{2065031C-B209-D8A6-C8DC-A39E8D775EC3}"/>
                </a:ext>
              </a:extLst>
            </p:cNvPr>
            <p:cNvSpPr txBox="1"/>
            <p:nvPr/>
          </p:nvSpPr>
          <p:spPr>
            <a:xfrm>
              <a:off x="765810" y="3843916"/>
              <a:ext cx="1739924"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发行3,318.78亿 | 偿还1,148.92亿</a:t>
              </a:r>
            </a:p>
          </p:txBody>
        </p:sp>
        <p:sp>
          <p:nvSpPr>
            <p:cNvPr id="47" name="文本框 46">
              <a:extLst>
                <a:ext uri="{FF2B5EF4-FFF2-40B4-BE49-F238E27FC236}">
                  <a16:creationId xmlns:a16="http://schemas.microsoft.com/office/drawing/2014/main" id="{11D8506D-E0AF-BC35-072F-D5737A8AC910}"/>
                </a:ext>
              </a:extLst>
            </p:cNvPr>
            <p:cNvSpPr txBox="1"/>
            <p:nvPr/>
          </p:nvSpPr>
          <p:spPr>
            <a:xfrm>
              <a:off x="765810" y="4015366"/>
              <a:ext cx="1125855" cy="229724"/>
            </a:xfrm>
            <a:prstGeom prst="rect">
              <a:avLst/>
            </a:prstGeom>
            <a:noFill/>
          </p:spPr>
          <p:txBody>
            <a:bodyPr wrap="none" rtlCol="0">
              <a:spAutoFit/>
            </a:bodyPr>
            <a:lstStyle/>
            <a:p>
              <a:pPr algn="l"/>
              <a:r>
                <a:rPr lang="zh-CN" altLang="en-US" sz="825" spc="0" baseline="0">
                  <a:ln/>
                  <a:solidFill>
                    <a:srgbClr val="4A90D9"/>
                  </a:solidFill>
                  <a:latin typeface="微软雅黑"/>
                  <a:ea typeface="微软雅黑"/>
                  <a:sym typeface="微软雅黑"/>
                  <a:rtl val="0"/>
                </a:rPr>
                <a:t>重要的政府融资渠道</a:t>
              </a:r>
            </a:p>
          </p:txBody>
        </p:sp>
      </p:grpSp>
      <p:grpSp>
        <p:nvGrpSpPr>
          <p:cNvPr id="48" name="SVG Image 15">
            <a:extLst>
              <a:ext uri="{FF2B5EF4-FFF2-40B4-BE49-F238E27FC236}">
                <a16:creationId xmlns:a16="http://schemas.microsoft.com/office/drawing/2014/main" id="{4F6758B3-53A0-19FA-05B9-F4A603994C32}"/>
              </a:ext>
            </a:extLst>
          </p:cNvPr>
          <p:cNvGrpSpPr/>
          <p:nvPr/>
        </p:nvGrpSpPr>
        <p:grpSpPr>
          <a:xfrm>
            <a:off x="3429000" y="2857500"/>
            <a:ext cx="2667000" cy="1428750"/>
            <a:chOff x="3429000" y="2857500"/>
            <a:chExt cx="2667000" cy="1428750"/>
          </a:xfrm>
        </p:grpSpPr>
        <p:sp>
          <p:nvSpPr>
            <p:cNvPr id="49" name="任意形状 48">
              <a:extLst>
                <a:ext uri="{FF2B5EF4-FFF2-40B4-BE49-F238E27FC236}">
                  <a16:creationId xmlns:a16="http://schemas.microsoft.com/office/drawing/2014/main" id="{FA466F6A-C13C-5054-9075-C692D5AB9071}"/>
                </a:ext>
              </a:extLst>
            </p:cNvPr>
            <p:cNvSpPr/>
            <p:nvPr/>
          </p:nvSpPr>
          <p:spPr>
            <a:xfrm>
              <a:off x="3429000" y="285750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50" name="文本框 49">
              <a:extLst>
                <a:ext uri="{FF2B5EF4-FFF2-40B4-BE49-F238E27FC236}">
                  <a16:creationId xmlns:a16="http://schemas.microsoft.com/office/drawing/2014/main" id="{F8971507-0A0E-3B1F-DB80-4A06B2D95CDD}"/>
                </a:ext>
              </a:extLst>
            </p:cNvPr>
            <p:cNvSpPr txBox="1"/>
            <p:nvPr/>
          </p:nvSpPr>
          <p:spPr>
            <a:xfrm>
              <a:off x="3623310" y="3004056"/>
              <a:ext cx="9442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5.5 租赁融资</a:t>
              </a:r>
            </a:p>
          </p:txBody>
        </p:sp>
        <p:sp>
          <p:nvSpPr>
            <p:cNvPr id="51" name="文本框 50">
              <a:extLst>
                <a:ext uri="{FF2B5EF4-FFF2-40B4-BE49-F238E27FC236}">
                  <a16:creationId xmlns:a16="http://schemas.microsoft.com/office/drawing/2014/main" id="{7662ACA3-09FF-F49B-9E7F-48A68A532CB3}"/>
                </a:ext>
              </a:extLst>
            </p:cNvPr>
            <p:cNvSpPr txBox="1"/>
            <p:nvPr/>
          </p:nvSpPr>
          <p:spPr>
            <a:xfrm>
              <a:off x="3623310" y="3245734"/>
              <a:ext cx="1530704"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830.58</a:t>
              </a:r>
            </a:p>
          </p:txBody>
        </p:sp>
        <p:sp>
          <p:nvSpPr>
            <p:cNvPr id="52" name="文本框 51">
              <a:extLst>
                <a:ext uri="{FF2B5EF4-FFF2-40B4-BE49-F238E27FC236}">
                  <a16:creationId xmlns:a16="http://schemas.microsoft.com/office/drawing/2014/main" id="{E4CF1293-3D9F-0CD8-8115-458E43732A66}"/>
                </a:ext>
              </a:extLst>
            </p:cNvPr>
            <p:cNvSpPr txBox="1"/>
            <p:nvPr/>
          </p:nvSpPr>
          <p:spPr>
            <a:xfrm>
              <a:off x="5099685" y="3507774"/>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53" name="文本框 52">
              <a:extLst>
                <a:ext uri="{FF2B5EF4-FFF2-40B4-BE49-F238E27FC236}">
                  <a16:creationId xmlns:a16="http://schemas.microsoft.com/office/drawing/2014/main" id="{7FEB3C59-B1F0-CCE7-EE33-4EC4E112E9C5}"/>
                </a:ext>
              </a:extLst>
            </p:cNvPr>
            <p:cNvSpPr txBox="1"/>
            <p:nvPr/>
          </p:nvSpPr>
          <p:spPr>
            <a:xfrm>
              <a:off x="3623310" y="3843916"/>
              <a:ext cx="967669" cy="229724"/>
            </a:xfrm>
            <a:prstGeom prst="rect">
              <a:avLst/>
            </a:prstGeom>
            <a:noFill/>
          </p:spPr>
          <p:txBody>
            <a:bodyPr wrap="none" rtlCol="0">
              <a:spAutoFit/>
            </a:bodyPr>
            <a:lstStyle/>
            <a:p>
              <a:pPr algn="l"/>
              <a:r>
                <a:rPr lang="zh-CN" altLang="en-US" sz="825" spc="0" baseline="0">
                  <a:ln/>
                  <a:solidFill>
                    <a:srgbClr val="E63946"/>
                  </a:solidFill>
                  <a:latin typeface="微软雅黑"/>
                  <a:ea typeface="微软雅黑"/>
                  <a:sym typeface="微软雅黑"/>
                  <a:rtl val="0"/>
                </a:rPr>
                <a:t>▼ -17.47% 同比</a:t>
              </a:r>
            </a:p>
          </p:txBody>
        </p:sp>
        <p:sp>
          <p:nvSpPr>
            <p:cNvPr id="54" name="文本框 53">
              <a:extLst>
                <a:ext uri="{FF2B5EF4-FFF2-40B4-BE49-F238E27FC236}">
                  <a16:creationId xmlns:a16="http://schemas.microsoft.com/office/drawing/2014/main" id="{7D64FF97-E09C-E31A-F699-C8DBCBB4EE38}"/>
                </a:ext>
              </a:extLst>
            </p:cNvPr>
            <p:cNvSpPr txBox="1"/>
            <p:nvPr/>
          </p:nvSpPr>
          <p:spPr>
            <a:xfrm>
              <a:off x="3623310" y="4015366"/>
              <a:ext cx="103919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新增事件11,021次</a:t>
              </a:r>
            </a:p>
          </p:txBody>
        </p:sp>
      </p:grpSp>
      <p:grpSp>
        <p:nvGrpSpPr>
          <p:cNvPr id="55" name="SVG Image 15">
            <a:extLst>
              <a:ext uri="{FF2B5EF4-FFF2-40B4-BE49-F238E27FC236}">
                <a16:creationId xmlns:a16="http://schemas.microsoft.com/office/drawing/2014/main" id="{CFB7985C-EA6C-274F-3D2C-D0CB82399BA9}"/>
              </a:ext>
            </a:extLst>
          </p:cNvPr>
          <p:cNvGrpSpPr/>
          <p:nvPr/>
        </p:nvGrpSpPr>
        <p:grpSpPr>
          <a:xfrm>
            <a:off x="6286500" y="2857500"/>
            <a:ext cx="2667000" cy="1428750"/>
            <a:chOff x="6286500" y="2857500"/>
            <a:chExt cx="2667000" cy="1428750"/>
          </a:xfrm>
        </p:grpSpPr>
        <p:sp>
          <p:nvSpPr>
            <p:cNvPr id="56" name="任意形状 55">
              <a:extLst>
                <a:ext uri="{FF2B5EF4-FFF2-40B4-BE49-F238E27FC236}">
                  <a16:creationId xmlns:a16="http://schemas.microsoft.com/office/drawing/2014/main" id="{A7DA492E-91D7-8282-4D1A-E624CD2FAF18}"/>
                </a:ext>
              </a:extLst>
            </p:cNvPr>
            <p:cNvSpPr/>
            <p:nvPr/>
          </p:nvSpPr>
          <p:spPr>
            <a:xfrm>
              <a:off x="6286500" y="2857500"/>
              <a:ext cx="2667000" cy="1428750"/>
            </a:xfrm>
            <a:custGeom>
              <a:avLst/>
              <a:gdLst>
                <a:gd name="csX0" fmla="*/ 76200 w 2667000"/>
                <a:gd name="csY0" fmla="*/ 0 h 1428750"/>
                <a:gd name="csX1" fmla="*/ 2590800 w 2667000"/>
                <a:gd name="csY1" fmla="*/ 0 h 1428750"/>
                <a:gd name="csX2" fmla="*/ 2667000 w 2667000"/>
                <a:gd name="csY2" fmla="*/ 76200 h 1428750"/>
                <a:gd name="csX3" fmla="*/ 2667000 w 2667000"/>
                <a:gd name="csY3" fmla="*/ 1352550 h 1428750"/>
                <a:gd name="csX4" fmla="*/ 2590800 w 2667000"/>
                <a:gd name="csY4" fmla="*/ 1428750 h 1428750"/>
                <a:gd name="csX5" fmla="*/ 76200 w 2667000"/>
                <a:gd name="csY5" fmla="*/ 1428750 h 1428750"/>
                <a:gd name="csX6" fmla="*/ 0 w 2667000"/>
                <a:gd name="csY6" fmla="*/ 1352550 h 1428750"/>
                <a:gd name="csX7" fmla="*/ 0 w 2667000"/>
                <a:gd name="csY7" fmla="*/ 76200 h 1428750"/>
                <a:gd name="csX8" fmla="*/ 76200 w 26670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428750">
                  <a:moveTo>
                    <a:pt x="76200" y="0"/>
                  </a:moveTo>
                  <a:lnTo>
                    <a:pt x="2590800" y="0"/>
                  </a:lnTo>
                  <a:cubicBezTo>
                    <a:pt x="2632884" y="0"/>
                    <a:pt x="2667000" y="34116"/>
                    <a:pt x="2667000" y="76200"/>
                  </a:cubicBezTo>
                  <a:lnTo>
                    <a:pt x="2667000" y="1352550"/>
                  </a:lnTo>
                  <a:cubicBezTo>
                    <a:pt x="2667000" y="1394634"/>
                    <a:pt x="2632884" y="1428750"/>
                    <a:pt x="25908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58401829-72CB-F911-4DA8-AD97156D75C7}"/>
                </a:ext>
              </a:extLst>
            </p:cNvPr>
            <p:cNvSpPr txBox="1"/>
            <p:nvPr/>
          </p:nvSpPr>
          <p:spPr>
            <a:xfrm>
              <a:off x="6480810" y="3004056"/>
              <a:ext cx="12109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5.6 应收账款融资</a:t>
              </a:r>
            </a:p>
          </p:txBody>
        </p:sp>
        <p:sp>
          <p:nvSpPr>
            <p:cNvPr id="58" name="文本框 57">
              <a:extLst>
                <a:ext uri="{FF2B5EF4-FFF2-40B4-BE49-F238E27FC236}">
                  <a16:creationId xmlns:a16="http://schemas.microsoft.com/office/drawing/2014/main" id="{D09F13C3-B741-93FD-CFE8-5FD88EF622EA}"/>
                </a:ext>
              </a:extLst>
            </p:cNvPr>
            <p:cNvSpPr txBox="1"/>
            <p:nvPr/>
          </p:nvSpPr>
          <p:spPr>
            <a:xfrm>
              <a:off x="6480810" y="3258580"/>
              <a:ext cx="1338158" cy="544007"/>
            </a:xfrm>
            <a:prstGeom prst="rect">
              <a:avLst/>
            </a:prstGeom>
            <a:noFill/>
          </p:spPr>
          <p:txBody>
            <a:bodyPr wrap="none" rtlCol="0">
              <a:spAutoFit/>
            </a:bodyPr>
            <a:lstStyle/>
            <a:p>
              <a:pPr algn="l"/>
              <a:r>
                <a:rPr lang="zh-CN" altLang="en-US" sz="2700" b="1" spc="0" baseline="0">
                  <a:ln/>
                  <a:solidFill>
                    <a:srgbClr val="1E3A5F"/>
                  </a:solidFill>
                  <a:latin typeface="微软雅黑"/>
                  <a:ea typeface="微软雅黑"/>
                  <a:sym typeface="微软雅黑"/>
                  <a:rtl val="0"/>
                </a:rPr>
                <a:t>58,841</a:t>
              </a:r>
            </a:p>
          </p:txBody>
        </p:sp>
        <p:sp>
          <p:nvSpPr>
            <p:cNvPr id="59" name="文本框 58">
              <a:extLst>
                <a:ext uri="{FF2B5EF4-FFF2-40B4-BE49-F238E27FC236}">
                  <a16:creationId xmlns:a16="http://schemas.microsoft.com/office/drawing/2014/main" id="{7FBB184E-C4BE-2B3C-6308-11B9A459E583}"/>
                </a:ext>
              </a:extLst>
            </p:cNvPr>
            <p:cNvSpPr txBox="1"/>
            <p:nvPr/>
          </p:nvSpPr>
          <p:spPr>
            <a:xfrm>
              <a:off x="7814310" y="3460149"/>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60" name="文本框 59">
              <a:extLst>
                <a:ext uri="{FF2B5EF4-FFF2-40B4-BE49-F238E27FC236}">
                  <a16:creationId xmlns:a16="http://schemas.microsoft.com/office/drawing/2014/main" id="{EF6684EA-70CF-C4B0-1B57-FA4794EDFC9F}"/>
                </a:ext>
              </a:extLst>
            </p:cNvPr>
            <p:cNvSpPr txBox="1"/>
            <p:nvPr/>
          </p:nvSpPr>
          <p:spPr>
            <a:xfrm>
              <a:off x="6480810" y="3843916"/>
              <a:ext cx="1470108"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 大幅增长（数据异常高）</a:t>
              </a:r>
            </a:p>
          </p:txBody>
        </p:sp>
        <p:sp>
          <p:nvSpPr>
            <p:cNvPr id="61" name="文本框 60">
              <a:extLst>
                <a:ext uri="{FF2B5EF4-FFF2-40B4-BE49-F238E27FC236}">
                  <a16:creationId xmlns:a16="http://schemas.microsoft.com/office/drawing/2014/main" id="{C80F65B7-3CFB-8A8F-338C-1E2EAE2E4CE1}"/>
                </a:ext>
              </a:extLst>
            </p:cNvPr>
            <p:cNvSpPr txBox="1"/>
            <p:nvPr/>
          </p:nvSpPr>
          <p:spPr>
            <a:xfrm>
              <a:off x="6480810" y="4015366"/>
              <a:ext cx="103919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新增事件34,373次</a:t>
              </a:r>
            </a:p>
          </p:txBody>
        </p:sp>
      </p:grpSp>
      <p:grpSp>
        <p:nvGrpSpPr>
          <p:cNvPr id="62" name="SVG Image 15">
            <a:extLst>
              <a:ext uri="{FF2B5EF4-FFF2-40B4-BE49-F238E27FC236}">
                <a16:creationId xmlns:a16="http://schemas.microsoft.com/office/drawing/2014/main" id="{646DE4B4-AF0A-5E6C-14D9-5CAF8DF9F82B}"/>
              </a:ext>
            </a:extLst>
          </p:cNvPr>
          <p:cNvGrpSpPr/>
          <p:nvPr/>
        </p:nvGrpSpPr>
        <p:grpSpPr>
          <a:xfrm>
            <a:off x="9144000" y="2857500"/>
            <a:ext cx="2476500" cy="1428750"/>
            <a:chOff x="9144000" y="2857500"/>
            <a:chExt cx="2476500" cy="1428750"/>
          </a:xfrm>
        </p:grpSpPr>
        <p:sp>
          <p:nvSpPr>
            <p:cNvPr id="63" name="任意形状 62">
              <a:extLst>
                <a:ext uri="{FF2B5EF4-FFF2-40B4-BE49-F238E27FC236}">
                  <a16:creationId xmlns:a16="http://schemas.microsoft.com/office/drawing/2014/main" id="{232932F6-054D-05F7-D53B-21BB8E703F60}"/>
                </a:ext>
              </a:extLst>
            </p:cNvPr>
            <p:cNvSpPr/>
            <p:nvPr/>
          </p:nvSpPr>
          <p:spPr>
            <a:xfrm>
              <a:off x="9144000" y="2857500"/>
              <a:ext cx="2476500" cy="1428750"/>
            </a:xfrm>
            <a:custGeom>
              <a:avLst/>
              <a:gdLst>
                <a:gd name="csX0" fmla="*/ 76200 w 2476500"/>
                <a:gd name="csY0" fmla="*/ 0 h 1428750"/>
                <a:gd name="csX1" fmla="*/ 2400300 w 2476500"/>
                <a:gd name="csY1" fmla="*/ 0 h 1428750"/>
                <a:gd name="csX2" fmla="*/ 2476500 w 2476500"/>
                <a:gd name="csY2" fmla="*/ 76200 h 1428750"/>
                <a:gd name="csX3" fmla="*/ 2476500 w 2476500"/>
                <a:gd name="csY3" fmla="*/ 1352550 h 1428750"/>
                <a:gd name="csX4" fmla="*/ 2400300 w 2476500"/>
                <a:gd name="csY4" fmla="*/ 1428750 h 1428750"/>
                <a:gd name="csX5" fmla="*/ 76200 w 2476500"/>
                <a:gd name="csY5" fmla="*/ 1428750 h 1428750"/>
                <a:gd name="csX6" fmla="*/ 0 w 2476500"/>
                <a:gd name="csY6" fmla="*/ 1352550 h 1428750"/>
                <a:gd name="csX7" fmla="*/ 0 w 2476500"/>
                <a:gd name="csY7" fmla="*/ 76200 h 1428750"/>
                <a:gd name="csX8" fmla="*/ 76200 w 2476500"/>
                <a:gd name="csY8" fmla="*/ 0 h 1428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428750">
                  <a:moveTo>
                    <a:pt x="76200" y="0"/>
                  </a:moveTo>
                  <a:lnTo>
                    <a:pt x="2400300" y="0"/>
                  </a:lnTo>
                  <a:cubicBezTo>
                    <a:pt x="2442385" y="0"/>
                    <a:pt x="2476500" y="34116"/>
                    <a:pt x="2476500" y="76200"/>
                  </a:cubicBezTo>
                  <a:lnTo>
                    <a:pt x="2476500" y="1352550"/>
                  </a:lnTo>
                  <a:cubicBezTo>
                    <a:pt x="2476500" y="1394634"/>
                    <a:pt x="2442385" y="1428750"/>
                    <a:pt x="2400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64" name="文本框 63">
              <a:extLst>
                <a:ext uri="{FF2B5EF4-FFF2-40B4-BE49-F238E27FC236}">
                  <a16:creationId xmlns:a16="http://schemas.microsoft.com/office/drawing/2014/main" id="{BE5B105E-F0AA-4E9D-5C14-46137A6041EE}"/>
                </a:ext>
              </a:extLst>
            </p:cNvPr>
            <p:cNvSpPr txBox="1"/>
            <p:nvPr/>
          </p:nvSpPr>
          <p:spPr>
            <a:xfrm>
              <a:off x="9338310" y="3004056"/>
              <a:ext cx="106879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5.8 PE/VC融资</a:t>
              </a:r>
            </a:p>
          </p:txBody>
        </p:sp>
        <p:sp>
          <p:nvSpPr>
            <p:cNvPr id="65" name="文本框 64">
              <a:extLst>
                <a:ext uri="{FF2B5EF4-FFF2-40B4-BE49-F238E27FC236}">
                  <a16:creationId xmlns:a16="http://schemas.microsoft.com/office/drawing/2014/main" id="{B2C94860-4413-3B02-1796-18858B3412BF}"/>
                </a:ext>
              </a:extLst>
            </p:cNvPr>
            <p:cNvSpPr txBox="1"/>
            <p:nvPr/>
          </p:nvSpPr>
          <p:spPr>
            <a:xfrm>
              <a:off x="9338310" y="3245734"/>
              <a:ext cx="1530704" cy="619435"/>
            </a:xfrm>
            <a:prstGeom prst="rect">
              <a:avLst/>
            </a:prstGeom>
            <a:noFill/>
          </p:spPr>
          <p:txBody>
            <a:bodyPr wrap="none" rtlCol="0">
              <a:spAutoFit/>
            </a:bodyPr>
            <a:lstStyle/>
            <a:p>
              <a:pPr algn="l"/>
              <a:r>
                <a:rPr lang="zh-CN" altLang="en-US" sz="3150" b="1" spc="0" baseline="0">
                  <a:ln/>
                  <a:solidFill>
                    <a:srgbClr val="1E3A5F"/>
                  </a:solidFill>
                  <a:latin typeface="微软雅黑"/>
                  <a:ea typeface="微软雅黑"/>
                  <a:sym typeface="微软雅黑"/>
                  <a:rtl val="0"/>
                </a:rPr>
                <a:t>202.62</a:t>
              </a:r>
            </a:p>
          </p:txBody>
        </p:sp>
        <p:sp>
          <p:nvSpPr>
            <p:cNvPr id="66" name="文本框 65">
              <a:extLst>
                <a:ext uri="{FF2B5EF4-FFF2-40B4-BE49-F238E27FC236}">
                  <a16:creationId xmlns:a16="http://schemas.microsoft.com/office/drawing/2014/main" id="{6163B8C6-13A7-950A-ACBC-C166D3797965}"/>
                </a:ext>
              </a:extLst>
            </p:cNvPr>
            <p:cNvSpPr txBox="1"/>
            <p:nvPr/>
          </p:nvSpPr>
          <p:spPr>
            <a:xfrm>
              <a:off x="10862310" y="3507774"/>
              <a:ext cx="4876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亿元</a:t>
              </a:r>
            </a:p>
          </p:txBody>
        </p:sp>
        <p:sp>
          <p:nvSpPr>
            <p:cNvPr id="67" name="文本框 66">
              <a:extLst>
                <a:ext uri="{FF2B5EF4-FFF2-40B4-BE49-F238E27FC236}">
                  <a16:creationId xmlns:a16="http://schemas.microsoft.com/office/drawing/2014/main" id="{5FF0704B-75B4-30FA-D84A-5C2E6243F02A}"/>
                </a:ext>
              </a:extLst>
            </p:cNvPr>
            <p:cNvSpPr txBox="1"/>
            <p:nvPr/>
          </p:nvSpPr>
          <p:spPr>
            <a:xfrm>
              <a:off x="9338310" y="3843916"/>
              <a:ext cx="1000053" cy="229724"/>
            </a:xfrm>
            <a:prstGeom prst="rect">
              <a:avLst/>
            </a:prstGeom>
            <a:noFill/>
          </p:spPr>
          <p:txBody>
            <a:bodyPr wrap="none" rtlCol="0">
              <a:spAutoFit/>
            </a:bodyPr>
            <a:lstStyle/>
            <a:p>
              <a:pPr algn="l"/>
              <a:r>
                <a:rPr lang="zh-CN" altLang="en-US" sz="825" spc="0" baseline="0">
                  <a:ln/>
                  <a:solidFill>
                    <a:srgbClr val="2ECC71"/>
                  </a:solidFill>
                  <a:latin typeface="微软雅黑"/>
                  <a:ea typeface="微软雅黑"/>
                  <a:sym typeface="微软雅黑"/>
                  <a:rtl val="0"/>
                </a:rPr>
                <a:t>▲ +67.12% 同比</a:t>
              </a:r>
            </a:p>
          </p:txBody>
        </p:sp>
        <p:sp>
          <p:nvSpPr>
            <p:cNvPr id="68" name="文本框 67">
              <a:extLst>
                <a:ext uri="{FF2B5EF4-FFF2-40B4-BE49-F238E27FC236}">
                  <a16:creationId xmlns:a16="http://schemas.microsoft.com/office/drawing/2014/main" id="{29CE2541-D626-760A-6436-AA70093941C3}"/>
                </a:ext>
              </a:extLst>
            </p:cNvPr>
            <p:cNvSpPr txBox="1"/>
            <p:nvPr/>
          </p:nvSpPr>
          <p:spPr>
            <a:xfrm>
              <a:off x="9338310" y="4015366"/>
              <a:ext cx="82964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新增事件98次</a:t>
              </a:r>
            </a:p>
          </p:txBody>
        </p:sp>
      </p:grpSp>
      <p:grpSp>
        <p:nvGrpSpPr>
          <p:cNvPr id="69" name="SVG Image 15">
            <a:extLst>
              <a:ext uri="{FF2B5EF4-FFF2-40B4-BE49-F238E27FC236}">
                <a16:creationId xmlns:a16="http://schemas.microsoft.com/office/drawing/2014/main" id="{4C95EA4E-C213-0575-F7B0-3436124EEE9D}"/>
              </a:ext>
            </a:extLst>
          </p:cNvPr>
          <p:cNvGrpSpPr/>
          <p:nvPr/>
        </p:nvGrpSpPr>
        <p:grpSpPr>
          <a:xfrm>
            <a:off x="571500" y="4476750"/>
            <a:ext cx="3810000" cy="952500"/>
            <a:chOff x="571500" y="4476750"/>
            <a:chExt cx="3810000" cy="952500"/>
          </a:xfrm>
        </p:grpSpPr>
        <p:sp>
          <p:nvSpPr>
            <p:cNvPr id="70" name="任意形状 69">
              <a:extLst>
                <a:ext uri="{FF2B5EF4-FFF2-40B4-BE49-F238E27FC236}">
                  <a16:creationId xmlns:a16="http://schemas.microsoft.com/office/drawing/2014/main" id="{D464C653-B1B8-987B-F8EA-B6E875BB89CA}"/>
                </a:ext>
              </a:extLst>
            </p:cNvPr>
            <p:cNvSpPr/>
            <p:nvPr/>
          </p:nvSpPr>
          <p:spPr>
            <a:xfrm>
              <a:off x="571500" y="4476750"/>
              <a:ext cx="3810000" cy="952500"/>
            </a:xfrm>
            <a:custGeom>
              <a:avLst/>
              <a:gdLst>
                <a:gd name="csX0" fmla="*/ 76200 w 3810000"/>
                <a:gd name="csY0" fmla="*/ 0 h 952500"/>
                <a:gd name="csX1" fmla="*/ 3733800 w 3810000"/>
                <a:gd name="csY1" fmla="*/ 0 h 952500"/>
                <a:gd name="csX2" fmla="*/ 3810000 w 3810000"/>
                <a:gd name="csY2" fmla="*/ 76200 h 952500"/>
                <a:gd name="csX3" fmla="*/ 3810000 w 3810000"/>
                <a:gd name="csY3" fmla="*/ 876300 h 952500"/>
                <a:gd name="csX4" fmla="*/ 3733800 w 3810000"/>
                <a:gd name="csY4" fmla="*/ 952500 h 952500"/>
                <a:gd name="csX5" fmla="*/ 76200 w 3810000"/>
                <a:gd name="csY5" fmla="*/ 952500 h 952500"/>
                <a:gd name="csX6" fmla="*/ 0 w 3810000"/>
                <a:gd name="csY6" fmla="*/ 876300 h 952500"/>
                <a:gd name="csX7" fmla="*/ 0 w 3810000"/>
                <a:gd name="csY7" fmla="*/ 76200 h 952500"/>
                <a:gd name="csX8" fmla="*/ 76200 w 3810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00" h="952500">
                  <a:moveTo>
                    <a:pt x="76200" y="0"/>
                  </a:moveTo>
                  <a:lnTo>
                    <a:pt x="3733800" y="0"/>
                  </a:lnTo>
                  <a:cubicBezTo>
                    <a:pt x="3775884" y="0"/>
                    <a:pt x="3810000" y="34116"/>
                    <a:pt x="3810000" y="76200"/>
                  </a:cubicBezTo>
                  <a:lnTo>
                    <a:pt x="3810000" y="876300"/>
                  </a:lnTo>
                  <a:cubicBezTo>
                    <a:pt x="3810000" y="918384"/>
                    <a:pt x="3775884" y="952500"/>
                    <a:pt x="373380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71" name="文本框 70">
              <a:extLst>
                <a:ext uri="{FF2B5EF4-FFF2-40B4-BE49-F238E27FC236}">
                  <a16:creationId xmlns:a16="http://schemas.microsoft.com/office/drawing/2014/main" id="{03C3FC65-B834-2BE8-2195-8BA6F981BD9E}"/>
                </a:ext>
              </a:extLst>
            </p:cNvPr>
            <p:cNvSpPr txBox="1"/>
            <p:nvPr/>
          </p:nvSpPr>
          <p:spPr>
            <a:xfrm>
              <a:off x="765810" y="4623306"/>
              <a:ext cx="9442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5.7 信托融资</a:t>
              </a:r>
            </a:p>
          </p:txBody>
        </p:sp>
        <p:sp>
          <p:nvSpPr>
            <p:cNvPr id="72" name="文本框 71">
              <a:extLst>
                <a:ext uri="{FF2B5EF4-FFF2-40B4-BE49-F238E27FC236}">
                  <a16:creationId xmlns:a16="http://schemas.microsoft.com/office/drawing/2014/main" id="{24239419-3CF8-5704-62D6-19E3D58ADF73}"/>
                </a:ext>
              </a:extLst>
            </p:cNvPr>
            <p:cNvSpPr txBox="1"/>
            <p:nvPr/>
          </p:nvSpPr>
          <p:spPr>
            <a:xfrm>
              <a:off x="765810" y="4782580"/>
              <a:ext cx="1126692" cy="544007"/>
            </a:xfrm>
            <a:prstGeom prst="rect">
              <a:avLst/>
            </a:prstGeom>
            <a:noFill/>
          </p:spPr>
          <p:txBody>
            <a:bodyPr wrap="none" rtlCol="0">
              <a:spAutoFit/>
            </a:bodyPr>
            <a:lstStyle/>
            <a:p>
              <a:pPr algn="l"/>
              <a:r>
                <a:rPr lang="zh-CN" altLang="en-US" sz="2700" b="1" spc="0" baseline="0">
                  <a:ln/>
                  <a:solidFill>
                    <a:srgbClr val="E63946"/>
                  </a:solidFill>
                  <a:latin typeface="微软雅黑"/>
                  <a:ea typeface="微软雅黑"/>
                  <a:sym typeface="微软雅黑"/>
                  <a:rtl val="0"/>
                </a:rPr>
                <a:t>54.91</a:t>
              </a:r>
            </a:p>
          </p:txBody>
        </p:sp>
        <p:sp>
          <p:nvSpPr>
            <p:cNvPr id="73" name="文本框 72">
              <a:extLst>
                <a:ext uri="{FF2B5EF4-FFF2-40B4-BE49-F238E27FC236}">
                  <a16:creationId xmlns:a16="http://schemas.microsoft.com/office/drawing/2014/main" id="{D1C0D02F-F7FF-AD71-27B5-17C63B7DA2D4}"/>
                </a:ext>
              </a:extLst>
            </p:cNvPr>
            <p:cNvSpPr txBox="1"/>
            <p:nvPr/>
          </p:nvSpPr>
          <p:spPr>
            <a:xfrm>
              <a:off x="1765935" y="5004306"/>
              <a:ext cx="4495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亿元</a:t>
              </a:r>
            </a:p>
          </p:txBody>
        </p:sp>
        <p:sp>
          <p:nvSpPr>
            <p:cNvPr id="74" name="文本框 73">
              <a:extLst>
                <a:ext uri="{FF2B5EF4-FFF2-40B4-BE49-F238E27FC236}">
                  <a16:creationId xmlns:a16="http://schemas.microsoft.com/office/drawing/2014/main" id="{F5ABA281-1853-0776-2537-C1F222851008}"/>
                </a:ext>
              </a:extLst>
            </p:cNvPr>
            <p:cNvSpPr txBox="1"/>
            <p:nvPr/>
          </p:nvSpPr>
          <p:spPr>
            <a:xfrm>
              <a:off x="2385060" y="4891666"/>
              <a:ext cx="1386769" cy="229724"/>
            </a:xfrm>
            <a:prstGeom prst="rect">
              <a:avLst/>
            </a:prstGeom>
            <a:noFill/>
          </p:spPr>
          <p:txBody>
            <a:bodyPr wrap="none" rtlCol="0">
              <a:spAutoFit/>
            </a:bodyPr>
            <a:lstStyle/>
            <a:p>
              <a:pPr algn="l"/>
              <a:r>
                <a:rPr lang="zh-CN" altLang="en-US" sz="825" spc="0" baseline="0">
                  <a:ln/>
                  <a:solidFill>
                    <a:srgbClr val="E63946"/>
                  </a:solidFill>
                  <a:latin typeface="微软雅黑"/>
                  <a:ea typeface="微软雅黑"/>
                  <a:sym typeface="微软雅黑"/>
                  <a:rtl val="0"/>
                </a:rPr>
                <a:t>▼ -80.76% 同比大幅下降</a:t>
              </a:r>
            </a:p>
          </p:txBody>
        </p:sp>
        <p:sp>
          <p:nvSpPr>
            <p:cNvPr id="75" name="文本框 74">
              <a:extLst>
                <a:ext uri="{FF2B5EF4-FFF2-40B4-BE49-F238E27FC236}">
                  <a16:creationId xmlns:a16="http://schemas.microsoft.com/office/drawing/2014/main" id="{3DABAEC5-BABD-FC82-4B46-ED20634FEAC3}"/>
                </a:ext>
              </a:extLst>
            </p:cNvPr>
            <p:cNvSpPr txBox="1"/>
            <p:nvPr/>
          </p:nvSpPr>
          <p:spPr>
            <a:xfrm>
              <a:off x="2385060" y="5082166"/>
              <a:ext cx="145829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新增事件35次（监管趋严）</a:t>
              </a:r>
            </a:p>
          </p:txBody>
        </p:sp>
      </p:grpSp>
      <p:grpSp>
        <p:nvGrpSpPr>
          <p:cNvPr id="76" name="SVG Image 15">
            <a:extLst>
              <a:ext uri="{FF2B5EF4-FFF2-40B4-BE49-F238E27FC236}">
                <a16:creationId xmlns:a16="http://schemas.microsoft.com/office/drawing/2014/main" id="{11E61259-5901-63E6-9847-E822C8E8C217}"/>
              </a:ext>
            </a:extLst>
          </p:cNvPr>
          <p:cNvGrpSpPr/>
          <p:nvPr/>
        </p:nvGrpSpPr>
        <p:grpSpPr>
          <a:xfrm>
            <a:off x="4572000" y="4476750"/>
            <a:ext cx="3429000" cy="952500"/>
            <a:chOff x="4572000" y="4476750"/>
            <a:chExt cx="3429000" cy="952500"/>
          </a:xfrm>
        </p:grpSpPr>
        <p:sp>
          <p:nvSpPr>
            <p:cNvPr id="77" name="任意形状 76">
              <a:extLst>
                <a:ext uri="{FF2B5EF4-FFF2-40B4-BE49-F238E27FC236}">
                  <a16:creationId xmlns:a16="http://schemas.microsoft.com/office/drawing/2014/main" id="{9B9DB5D4-02EC-6B65-5E25-B223524EA62E}"/>
                </a:ext>
              </a:extLst>
            </p:cNvPr>
            <p:cNvSpPr/>
            <p:nvPr/>
          </p:nvSpPr>
          <p:spPr>
            <a:xfrm>
              <a:off x="4572000" y="4476750"/>
              <a:ext cx="3429000" cy="952500"/>
            </a:xfrm>
            <a:custGeom>
              <a:avLst/>
              <a:gdLst>
                <a:gd name="csX0" fmla="*/ 76200 w 3429000"/>
                <a:gd name="csY0" fmla="*/ 0 h 952500"/>
                <a:gd name="csX1" fmla="*/ 3352800 w 3429000"/>
                <a:gd name="csY1" fmla="*/ 0 h 952500"/>
                <a:gd name="csX2" fmla="*/ 3429000 w 3429000"/>
                <a:gd name="csY2" fmla="*/ 76200 h 952500"/>
                <a:gd name="csX3" fmla="*/ 3429000 w 3429000"/>
                <a:gd name="csY3" fmla="*/ 876300 h 952500"/>
                <a:gd name="csX4" fmla="*/ 3352800 w 3429000"/>
                <a:gd name="csY4" fmla="*/ 952500 h 952500"/>
                <a:gd name="csX5" fmla="*/ 76200 w 3429000"/>
                <a:gd name="csY5" fmla="*/ 952500 h 952500"/>
                <a:gd name="csX6" fmla="*/ 0 w 3429000"/>
                <a:gd name="csY6" fmla="*/ 876300 h 952500"/>
                <a:gd name="csX7" fmla="*/ 0 w 3429000"/>
                <a:gd name="csY7" fmla="*/ 76200 h 952500"/>
                <a:gd name="csX8" fmla="*/ 76200 w 3429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29000" h="952500">
                  <a:moveTo>
                    <a:pt x="76200" y="0"/>
                  </a:moveTo>
                  <a:lnTo>
                    <a:pt x="3352800" y="0"/>
                  </a:lnTo>
                  <a:cubicBezTo>
                    <a:pt x="3394884" y="0"/>
                    <a:pt x="3429000" y="34116"/>
                    <a:pt x="3429000" y="76200"/>
                  </a:cubicBezTo>
                  <a:lnTo>
                    <a:pt x="3429000" y="876300"/>
                  </a:lnTo>
                  <a:cubicBezTo>
                    <a:pt x="3429000" y="918384"/>
                    <a:pt x="3394884" y="952500"/>
                    <a:pt x="3352800" y="952500"/>
                  </a:cubicBezTo>
                  <a:lnTo>
                    <a:pt x="76200" y="952500"/>
                  </a:lnTo>
                  <a:cubicBezTo>
                    <a:pt x="34116" y="952500"/>
                    <a:pt x="0" y="918384"/>
                    <a:pt x="0" y="876300"/>
                  </a:cubicBezTo>
                  <a:lnTo>
                    <a:pt x="0" y="76200"/>
                  </a:lnTo>
                  <a:cubicBezTo>
                    <a:pt x="0" y="34116"/>
                    <a:pt x="34116" y="0"/>
                    <a:pt x="76200" y="0"/>
                  </a:cubicBezTo>
                  <a:close/>
                </a:path>
              </a:pathLst>
            </a:custGeom>
            <a:solidFill>
              <a:srgbClr val="EBF4FF"/>
            </a:solidFill>
            <a:ln w="9525" cap="flat">
              <a:noFill/>
              <a:prstDash val="solid"/>
              <a:miter/>
            </a:ln>
          </p:spPr>
          <p:txBody>
            <a:bodyPr/>
            <a:lstStyle/>
            <a:p>
              <a:endParaRPr lang="zh-CN" altLang="en-US"/>
            </a:p>
          </p:txBody>
        </p:sp>
        <p:sp>
          <p:nvSpPr>
            <p:cNvPr id="78" name="文本框 77">
              <a:extLst>
                <a:ext uri="{FF2B5EF4-FFF2-40B4-BE49-F238E27FC236}">
                  <a16:creationId xmlns:a16="http://schemas.microsoft.com/office/drawing/2014/main" id="{EDFB65DB-57E0-513B-5186-6327CAE311E0}"/>
                </a:ext>
              </a:extLst>
            </p:cNvPr>
            <p:cNvSpPr txBox="1"/>
            <p:nvPr/>
          </p:nvSpPr>
          <p:spPr>
            <a:xfrm>
              <a:off x="4766310" y="4623306"/>
              <a:ext cx="12496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非金融企业存量债</a:t>
              </a:r>
            </a:p>
          </p:txBody>
        </p:sp>
        <p:sp>
          <p:nvSpPr>
            <p:cNvPr id="79" name="文本框 78">
              <a:extLst>
                <a:ext uri="{FF2B5EF4-FFF2-40B4-BE49-F238E27FC236}">
                  <a16:creationId xmlns:a16="http://schemas.microsoft.com/office/drawing/2014/main" id="{23B423CB-FD37-0D8C-F8F2-AAC2B58BF720}"/>
                </a:ext>
              </a:extLst>
            </p:cNvPr>
            <p:cNvSpPr txBox="1"/>
            <p:nvPr/>
          </p:nvSpPr>
          <p:spPr>
            <a:xfrm>
              <a:off x="4766310" y="4863208"/>
              <a:ext cx="1588784"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8,734.37亿</a:t>
              </a:r>
            </a:p>
          </p:txBody>
        </p:sp>
        <p:sp>
          <p:nvSpPr>
            <p:cNvPr id="80" name="文本框 79">
              <a:extLst>
                <a:ext uri="{FF2B5EF4-FFF2-40B4-BE49-F238E27FC236}">
                  <a16:creationId xmlns:a16="http://schemas.microsoft.com/office/drawing/2014/main" id="{7AA3E351-A262-013F-A232-6A851D952744}"/>
                </a:ext>
              </a:extLst>
            </p:cNvPr>
            <p:cNvSpPr txBox="1"/>
            <p:nvPr/>
          </p:nvSpPr>
          <p:spPr>
            <a:xfrm>
              <a:off x="6576060" y="4891666"/>
              <a:ext cx="1082522"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其中城投债5,679亿</a:t>
              </a:r>
            </a:p>
          </p:txBody>
        </p:sp>
        <p:sp>
          <p:nvSpPr>
            <p:cNvPr id="81" name="文本框 80">
              <a:extLst>
                <a:ext uri="{FF2B5EF4-FFF2-40B4-BE49-F238E27FC236}">
                  <a16:creationId xmlns:a16="http://schemas.microsoft.com/office/drawing/2014/main" id="{A87A61AF-BCF5-091F-7FE8-95C2B8C80437}"/>
                </a:ext>
              </a:extLst>
            </p:cNvPr>
            <p:cNvSpPr txBox="1"/>
            <p:nvPr/>
          </p:nvSpPr>
          <p:spPr>
            <a:xfrm>
              <a:off x="6576060" y="5082166"/>
              <a:ext cx="1200496"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产业债+ABS占比35%</a:t>
              </a:r>
            </a:p>
          </p:txBody>
        </p:sp>
      </p:grpSp>
      <p:grpSp>
        <p:nvGrpSpPr>
          <p:cNvPr id="82" name="SVG Image 15">
            <a:extLst>
              <a:ext uri="{FF2B5EF4-FFF2-40B4-BE49-F238E27FC236}">
                <a16:creationId xmlns:a16="http://schemas.microsoft.com/office/drawing/2014/main" id="{E3DAC79F-3D74-2AFE-28BB-1076BEBE43CF}"/>
              </a:ext>
            </a:extLst>
          </p:cNvPr>
          <p:cNvGrpSpPr/>
          <p:nvPr/>
        </p:nvGrpSpPr>
        <p:grpSpPr>
          <a:xfrm>
            <a:off x="8191500" y="4476750"/>
            <a:ext cx="3429000" cy="952500"/>
            <a:chOff x="8191500" y="4476750"/>
            <a:chExt cx="3429000" cy="952500"/>
          </a:xfrm>
        </p:grpSpPr>
        <p:sp>
          <p:nvSpPr>
            <p:cNvPr id="83" name="任意形状 82">
              <a:extLst>
                <a:ext uri="{FF2B5EF4-FFF2-40B4-BE49-F238E27FC236}">
                  <a16:creationId xmlns:a16="http://schemas.microsoft.com/office/drawing/2014/main" id="{AC2A6494-11DC-975C-F382-49A0F427B0AC}"/>
                </a:ext>
              </a:extLst>
            </p:cNvPr>
            <p:cNvSpPr/>
            <p:nvPr/>
          </p:nvSpPr>
          <p:spPr>
            <a:xfrm>
              <a:off x="8191500" y="4476750"/>
              <a:ext cx="3429000" cy="952500"/>
            </a:xfrm>
            <a:custGeom>
              <a:avLst/>
              <a:gdLst>
                <a:gd name="csX0" fmla="*/ 76200 w 3429000"/>
                <a:gd name="csY0" fmla="*/ 0 h 952500"/>
                <a:gd name="csX1" fmla="*/ 3352800 w 3429000"/>
                <a:gd name="csY1" fmla="*/ 0 h 952500"/>
                <a:gd name="csX2" fmla="*/ 3429000 w 3429000"/>
                <a:gd name="csY2" fmla="*/ 76200 h 952500"/>
                <a:gd name="csX3" fmla="*/ 3429000 w 3429000"/>
                <a:gd name="csY3" fmla="*/ 876300 h 952500"/>
                <a:gd name="csX4" fmla="*/ 3352800 w 3429000"/>
                <a:gd name="csY4" fmla="*/ 952500 h 952500"/>
                <a:gd name="csX5" fmla="*/ 76200 w 3429000"/>
                <a:gd name="csY5" fmla="*/ 952500 h 952500"/>
                <a:gd name="csX6" fmla="*/ 0 w 3429000"/>
                <a:gd name="csY6" fmla="*/ 876300 h 952500"/>
                <a:gd name="csX7" fmla="*/ 0 w 3429000"/>
                <a:gd name="csY7" fmla="*/ 76200 h 952500"/>
                <a:gd name="csX8" fmla="*/ 76200 w 3429000"/>
                <a:gd name="csY8" fmla="*/ 0 h 95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29000" h="952500">
                  <a:moveTo>
                    <a:pt x="76200" y="0"/>
                  </a:moveTo>
                  <a:lnTo>
                    <a:pt x="3352800" y="0"/>
                  </a:lnTo>
                  <a:cubicBezTo>
                    <a:pt x="3394885" y="0"/>
                    <a:pt x="3429000" y="34116"/>
                    <a:pt x="3429000" y="76200"/>
                  </a:cubicBezTo>
                  <a:lnTo>
                    <a:pt x="3429000" y="876300"/>
                  </a:lnTo>
                  <a:cubicBezTo>
                    <a:pt x="3429000" y="918384"/>
                    <a:pt x="3394885" y="952500"/>
                    <a:pt x="3352800" y="952500"/>
                  </a:cubicBezTo>
                  <a:lnTo>
                    <a:pt x="76200" y="952500"/>
                  </a:lnTo>
                  <a:cubicBezTo>
                    <a:pt x="34116" y="952500"/>
                    <a:pt x="0" y="918384"/>
                    <a:pt x="0" y="876300"/>
                  </a:cubicBezTo>
                  <a:lnTo>
                    <a:pt x="0" y="76200"/>
                  </a:lnTo>
                  <a:cubicBezTo>
                    <a:pt x="0" y="34116"/>
                    <a:pt x="34116" y="0"/>
                    <a:pt x="76200" y="0"/>
                  </a:cubicBezTo>
                  <a:close/>
                </a:path>
              </a:pathLst>
            </a:custGeom>
            <a:solidFill>
              <a:srgbClr val="EBF4FF"/>
            </a:solidFill>
            <a:ln w="9525" cap="flat">
              <a:noFill/>
              <a:prstDash val="solid"/>
              <a:miter/>
            </a:ln>
          </p:spPr>
          <p:txBody>
            <a:bodyPr/>
            <a:lstStyle/>
            <a:p>
              <a:endParaRPr lang="zh-CN" altLang="en-US"/>
            </a:p>
          </p:txBody>
        </p:sp>
        <p:sp>
          <p:nvSpPr>
            <p:cNvPr id="84" name="文本框 83">
              <a:extLst>
                <a:ext uri="{FF2B5EF4-FFF2-40B4-BE49-F238E27FC236}">
                  <a16:creationId xmlns:a16="http://schemas.microsoft.com/office/drawing/2014/main" id="{767DC90E-8B41-91EE-4005-634E7BFF51E2}"/>
                </a:ext>
              </a:extLst>
            </p:cNvPr>
            <p:cNvSpPr txBox="1"/>
            <p:nvPr/>
          </p:nvSpPr>
          <p:spPr>
            <a:xfrm>
              <a:off x="8385810" y="4623306"/>
              <a:ext cx="11163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金融企业存量债</a:t>
              </a:r>
            </a:p>
          </p:txBody>
        </p:sp>
        <p:sp>
          <p:nvSpPr>
            <p:cNvPr id="85" name="文本框 84">
              <a:extLst>
                <a:ext uri="{FF2B5EF4-FFF2-40B4-BE49-F238E27FC236}">
                  <a16:creationId xmlns:a16="http://schemas.microsoft.com/office/drawing/2014/main" id="{EB45D24D-9694-43CA-C2D3-F71CDA3F7F06}"/>
                </a:ext>
              </a:extLst>
            </p:cNvPr>
            <p:cNvSpPr txBox="1"/>
            <p:nvPr/>
          </p:nvSpPr>
          <p:spPr>
            <a:xfrm>
              <a:off x="8385810" y="4863208"/>
              <a:ext cx="1588784"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5,293.09亿</a:t>
              </a:r>
            </a:p>
          </p:txBody>
        </p:sp>
        <p:sp>
          <p:nvSpPr>
            <p:cNvPr id="86" name="文本框 85">
              <a:extLst>
                <a:ext uri="{FF2B5EF4-FFF2-40B4-BE49-F238E27FC236}">
                  <a16:creationId xmlns:a16="http://schemas.microsoft.com/office/drawing/2014/main" id="{CB7CA27F-7FE2-B90B-B3DC-DA62F663B47B}"/>
                </a:ext>
              </a:extLst>
            </p:cNvPr>
            <p:cNvSpPr txBox="1"/>
            <p:nvPr/>
          </p:nvSpPr>
          <p:spPr>
            <a:xfrm>
              <a:off x="10195560" y="4891666"/>
              <a:ext cx="977747"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同业存单3,980亿</a:t>
              </a:r>
            </a:p>
          </p:txBody>
        </p:sp>
        <p:sp>
          <p:nvSpPr>
            <p:cNvPr id="87" name="文本框 86">
              <a:extLst>
                <a:ext uri="{FF2B5EF4-FFF2-40B4-BE49-F238E27FC236}">
                  <a16:creationId xmlns:a16="http://schemas.microsoft.com/office/drawing/2014/main" id="{9E5EE62D-A957-37BD-84A0-00EF3EE79592}"/>
                </a:ext>
              </a:extLst>
            </p:cNvPr>
            <p:cNvSpPr txBox="1"/>
            <p:nvPr/>
          </p:nvSpPr>
          <p:spPr>
            <a:xfrm>
              <a:off x="10195560" y="5082166"/>
              <a:ext cx="695192"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占比75.2%</a:t>
              </a:r>
            </a:p>
          </p:txBody>
        </p:sp>
      </p:grpSp>
      <p:grpSp>
        <p:nvGrpSpPr>
          <p:cNvPr id="88" name="SVG Image 15">
            <a:extLst>
              <a:ext uri="{FF2B5EF4-FFF2-40B4-BE49-F238E27FC236}">
                <a16:creationId xmlns:a16="http://schemas.microsoft.com/office/drawing/2014/main" id="{E5639E04-EA87-B24A-064C-B2237C4838BF}"/>
              </a:ext>
            </a:extLst>
          </p:cNvPr>
          <p:cNvGrpSpPr/>
          <p:nvPr/>
        </p:nvGrpSpPr>
        <p:grpSpPr>
          <a:xfrm>
            <a:off x="571500" y="5619750"/>
            <a:ext cx="11049000" cy="666750"/>
            <a:chOff x="571500" y="5619750"/>
            <a:chExt cx="11049000" cy="666750"/>
          </a:xfrm>
        </p:grpSpPr>
        <p:sp>
          <p:nvSpPr>
            <p:cNvPr id="89" name="任意形状 88">
              <a:extLst>
                <a:ext uri="{FF2B5EF4-FFF2-40B4-BE49-F238E27FC236}">
                  <a16:creationId xmlns:a16="http://schemas.microsoft.com/office/drawing/2014/main" id="{C99179C2-76F9-0FAA-5522-892FE3E17B71}"/>
                </a:ext>
              </a:extLst>
            </p:cNvPr>
            <p:cNvSpPr/>
            <p:nvPr/>
          </p:nvSpPr>
          <p:spPr>
            <a:xfrm>
              <a:off x="571500" y="5619750"/>
              <a:ext cx="11049000" cy="666750"/>
            </a:xfrm>
            <a:custGeom>
              <a:avLst/>
              <a:gdLst>
                <a:gd name="csX0" fmla="*/ 76200 w 11049000"/>
                <a:gd name="csY0" fmla="*/ 0 h 666750"/>
                <a:gd name="csX1" fmla="*/ 10972800 w 11049000"/>
                <a:gd name="csY1" fmla="*/ 0 h 666750"/>
                <a:gd name="csX2" fmla="*/ 11049000 w 11049000"/>
                <a:gd name="csY2" fmla="*/ 76200 h 666750"/>
                <a:gd name="csX3" fmla="*/ 11049000 w 11049000"/>
                <a:gd name="csY3" fmla="*/ 590550 h 666750"/>
                <a:gd name="csX4" fmla="*/ 10972800 w 11049000"/>
                <a:gd name="csY4" fmla="*/ 666750 h 666750"/>
                <a:gd name="csX5" fmla="*/ 76200 w 11049000"/>
                <a:gd name="csY5" fmla="*/ 666750 h 666750"/>
                <a:gd name="csX6" fmla="*/ 0 w 11049000"/>
                <a:gd name="csY6" fmla="*/ 590550 h 666750"/>
                <a:gd name="csX7" fmla="*/ 0 w 11049000"/>
                <a:gd name="csY7" fmla="*/ 76200 h 666750"/>
                <a:gd name="csX8" fmla="*/ 76200 w 11049000"/>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666750">
                  <a:moveTo>
                    <a:pt x="76200" y="0"/>
                  </a:moveTo>
                  <a:lnTo>
                    <a:pt x="10972800" y="0"/>
                  </a:lnTo>
                  <a:cubicBezTo>
                    <a:pt x="11014885" y="0"/>
                    <a:pt x="11049000" y="34116"/>
                    <a:pt x="11049000" y="76200"/>
                  </a:cubicBezTo>
                  <a:lnTo>
                    <a:pt x="11049000" y="590550"/>
                  </a:lnTo>
                  <a:cubicBezTo>
                    <a:pt x="11049000" y="632634"/>
                    <a:pt x="11014885" y="666750"/>
                    <a:pt x="10972800" y="666750"/>
                  </a:cubicBezTo>
                  <a:lnTo>
                    <a:pt x="76200" y="666750"/>
                  </a:lnTo>
                  <a:cubicBezTo>
                    <a:pt x="34116" y="666750"/>
                    <a:pt x="0" y="632634"/>
                    <a:pt x="0" y="5905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90" name="文本框 89">
              <a:extLst>
                <a:ext uri="{FF2B5EF4-FFF2-40B4-BE49-F238E27FC236}">
                  <a16:creationId xmlns:a16="http://schemas.microsoft.com/office/drawing/2014/main" id="{52F81879-0D77-C0CC-0855-A9B82A748D5E}"/>
                </a:ext>
              </a:extLst>
            </p:cNvPr>
            <p:cNvSpPr txBox="1"/>
            <p:nvPr/>
          </p:nvSpPr>
          <p:spPr>
            <a:xfrm>
              <a:off x="765810" y="5718681"/>
              <a:ext cx="982980" cy="267438"/>
            </a:xfrm>
            <a:prstGeom prst="rect">
              <a:avLst/>
            </a:prstGeom>
            <a:noFill/>
          </p:spPr>
          <p:txBody>
            <a:bodyPr wrap="none" rtlCol="0">
              <a:spAutoFit/>
            </a:bodyPr>
            <a:lstStyle/>
            <a:p>
              <a:pPr algn="l"/>
              <a:r>
                <a:rPr lang="zh-CN" altLang="en-US" sz="1050" b="1" spc="0" baseline="0">
                  <a:ln/>
                  <a:solidFill>
                    <a:srgbClr val="4A90D9"/>
                  </a:solidFill>
                  <a:latin typeface="微软雅黑"/>
                  <a:ea typeface="微软雅黑"/>
                  <a:sym typeface="微软雅黑"/>
                  <a:rtl val="0"/>
                </a:rPr>
                <a:t>融资结构特征</a:t>
              </a:r>
            </a:p>
          </p:txBody>
        </p:sp>
        <p:sp>
          <p:nvSpPr>
            <p:cNvPr id="91" name="文本框 90">
              <a:extLst>
                <a:ext uri="{FF2B5EF4-FFF2-40B4-BE49-F238E27FC236}">
                  <a16:creationId xmlns:a16="http://schemas.microsoft.com/office/drawing/2014/main" id="{96ABB30A-B15C-4A7B-4BA6-139D50FD25AA}"/>
                </a:ext>
              </a:extLst>
            </p:cNvPr>
            <p:cNvSpPr txBox="1"/>
            <p:nvPr/>
          </p:nvSpPr>
          <p:spPr>
            <a:xfrm>
              <a:off x="765810" y="5966885"/>
              <a:ext cx="4272974"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债券融资：非金融企业净流出，金融企业净流入，地方债为主要增量渠道 </a:t>
              </a:r>
            </a:p>
          </p:txBody>
        </p:sp>
        <p:sp>
          <p:nvSpPr>
            <p:cNvPr id="92" name="文本框 91">
              <a:extLst>
                <a:ext uri="{FF2B5EF4-FFF2-40B4-BE49-F238E27FC236}">
                  <a16:creationId xmlns:a16="http://schemas.microsoft.com/office/drawing/2014/main" id="{99BAAFA9-645A-C29D-9935-A7F45681D8D2}"/>
                </a:ext>
              </a:extLst>
            </p:cNvPr>
            <p:cNvSpPr txBox="1"/>
            <p:nvPr/>
          </p:nvSpPr>
          <p:spPr>
            <a:xfrm>
              <a:off x="6385560" y="5966885"/>
              <a:ext cx="2795176"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股权/PE/VC：融资规模回升，创投活跃度提高</a:t>
              </a:r>
            </a:p>
          </p:txBody>
        </p:sp>
      </p:grpSp>
      <p:sp>
        <p:nvSpPr>
          <p:cNvPr id="93" name="矩形 92">
            <a:extLst>
              <a:ext uri="{FF2B5EF4-FFF2-40B4-BE49-F238E27FC236}">
                <a16:creationId xmlns:a16="http://schemas.microsoft.com/office/drawing/2014/main" id="{F98815B0-4797-BCE3-E58F-1475CD58908C}"/>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3690697-3BEF-EFCD-4E6C-C6183936A199}"/>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C6D26A7C-F713-9B1C-C71F-6AE0C855F10C}"/>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43CF001D-73CD-FE0B-9857-B40550C114CF}"/>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4AE0F796-939E-A913-AB7E-DEA2DF44BE9A}"/>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17D85746-B987-C69C-D625-5820CB56B8C4}"/>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3DE35410-87AE-AE5A-C6E2-06C178197C0C}"/>
              </a:ext>
            </a:extLst>
          </p:cNvPr>
          <p:cNvSpPr txBox="1"/>
          <p:nvPr/>
        </p:nvSpPr>
        <p:spPr>
          <a:xfrm>
            <a:off x="2004060" y="175131"/>
            <a:ext cx="912137" cy="267438"/>
          </a:xfrm>
          <a:prstGeom prst="rect">
            <a:avLst/>
          </a:prstGeom>
          <a:noFill/>
        </p:spPr>
        <p:txBody>
          <a:bodyPr wrap="none" rtlCol="0">
            <a:spAutoFit/>
          </a:bodyPr>
          <a:lstStyle/>
          <a:p>
            <a:pPr algn="l"/>
            <a:r>
              <a:rPr lang="zh-CN" altLang="en-US" sz="1050" spc="0" baseline="0">
                <a:ln/>
                <a:solidFill>
                  <a:srgbClr val="E63946"/>
                </a:solidFill>
                <a:latin typeface="微软雅黑"/>
                <a:ea typeface="微软雅黑"/>
                <a:sym typeface="微软雅黑"/>
                <a:rtl val="0"/>
              </a:rPr>
              <a:t>06 区域风险</a:t>
            </a:r>
          </a:p>
        </p:txBody>
      </p:sp>
      <p:sp>
        <p:nvSpPr>
          <p:cNvPr id="10" name="文本框 9">
            <a:extLst>
              <a:ext uri="{FF2B5EF4-FFF2-40B4-BE49-F238E27FC236}">
                <a16:creationId xmlns:a16="http://schemas.microsoft.com/office/drawing/2014/main" id="{C2CE7508-B5E4-232B-F902-03FCFBF02AE3}"/>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16 / 20</a:t>
            </a:r>
          </a:p>
        </p:txBody>
      </p:sp>
      <p:sp>
        <p:nvSpPr>
          <p:cNvPr id="11" name="矩形 10">
            <a:extLst>
              <a:ext uri="{FF2B5EF4-FFF2-40B4-BE49-F238E27FC236}">
                <a16:creationId xmlns:a16="http://schemas.microsoft.com/office/drawing/2014/main" id="{58E89C82-EEDC-2527-BE87-492311A1D060}"/>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E7D15CCA-016E-71F5-94C2-B6D4B76188BD}"/>
              </a:ext>
            </a:extLst>
          </p:cNvPr>
          <p:cNvSpPr txBox="1"/>
          <p:nvPr/>
        </p:nvSpPr>
        <p:spPr>
          <a:xfrm>
            <a:off x="480060" y="672208"/>
            <a:ext cx="1783080"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六、区域风险</a:t>
            </a:r>
          </a:p>
        </p:txBody>
      </p:sp>
      <p:sp>
        <p:nvSpPr>
          <p:cNvPr id="13" name="文本框 12">
            <a:extLst>
              <a:ext uri="{FF2B5EF4-FFF2-40B4-BE49-F238E27FC236}">
                <a16:creationId xmlns:a16="http://schemas.microsoft.com/office/drawing/2014/main" id="{1B49BB70-634E-3884-799C-03F1810076C8}"/>
              </a:ext>
            </a:extLst>
          </p:cNvPr>
          <p:cNvSpPr txBox="1"/>
          <p:nvPr/>
        </p:nvSpPr>
        <p:spPr>
          <a:xfrm>
            <a:off x="2194560" y="813306"/>
            <a:ext cx="84963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近一年数据</a:t>
            </a:r>
          </a:p>
        </p:txBody>
      </p:sp>
      <p:grpSp>
        <p:nvGrpSpPr>
          <p:cNvPr id="14" name="SVG Image 16">
            <a:extLst>
              <a:ext uri="{FF2B5EF4-FFF2-40B4-BE49-F238E27FC236}">
                <a16:creationId xmlns:a16="http://schemas.microsoft.com/office/drawing/2014/main" id="{0024BAF3-70B0-4D22-04EF-4260F4908EDA}"/>
              </a:ext>
            </a:extLst>
          </p:cNvPr>
          <p:cNvGrpSpPr/>
          <p:nvPr/>
        </p:nvGrpSpPr>
        <p:grpSpPr>
          <a:xfrm>
            <a:off x="571500" y="1238250"/>
            <a:ext cx="2667000" cy="1238250"/>
            <a:chOff x="571500" y="1238250"/>
            <a:chExt cx="2667000" cy="1238250"/>
          </a:xfrm>
        </p:grpSpPr>
        <p:sp>
          <p:nvSpPr>
            <p:cNvPr id="15" name="任意形状 14">
              <a:extLst>
                <a:ext uri="{FF2B5EF4-FFF2-40B4-BE49-F238E27FC236}">
                  <a16:creationId xmlns:a16="http://schemas.microsoft.com/office/drawing/2014/main" id="{308A1D74-D3D7-82E4-6F9E-1AC5B71F1F40}"/>
                </a:ext>
              </a:extLst>
            </p:cNvPr>
            <p:cNvSpPr/>
            <p:nvPr/>
          </p:nvSpPr>
          <p:spPr>
            <a:xfrm>
              <a:off x="571500" y="123825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6" name="任意形状 15">
              <a:extLst>
                <a:ext uri="{FF2B5EF4-FFF2-40B4-BE49-F238E27FC236}">
                  <a16:creationId xmlns:a16="http://schemas.microsoft.com/office/drawing/2014/main" id="{9BC7BDC8-352F-47F7-718E-57F6573BC1FE}"/>
                </a:ext>
              </a:extLst>
            </p:cNvPr>
            <p:cNvSpPr/>
            <p:nvPr/>
          </p:nvSpPr>
          <p:spPr>
            <a:xfrm>
              <a:off x="571500" y="123825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F59E0B"/>
            </a:solidFill>
            <a:ln w="9525" cap="flat">
              <a:noFill/>
              <a:prstDash val="solid"/>
              <a:miter/>
            </a:ln>
          </p:spPr>
          <p:txBody>
            <a:bodyPr/>
            <a:lstStyle/>
            <a:p>
              <a:endParaRPr lang="zh-CN" altLang="en-US"/>
            </a:p>
          </p:txBody>
        </p:sp>
        <p:sp>
          <p:nvSpPr>
            <p:cNvPr id="17" name="文本框 16">
              <a:extLst>
                <a:ext uri="{FF2B5EF4-FFF2-40B4-BE49-F238E27FC236}">
                  <a16:creationId xmlns:a16="http://schemas.microsoft.com/office/drawing/2014/main" id="{F4F7F7D9-CA14-3DB1-5F66-3E9734321A3F}"/>
                </a:ext>
              </a:extLst>
            </p:cNvPr>
            <p:cNvSpPr txBox="1"/>
            <p:nvPr/>
          </p:nvSpPr>
          <p:spPr>
            <a:xfrm>
              <a:off x="765810" y="1384806"/>
              <a:ext cx="12109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6.1 非标风险事件</a:t>
              </a:r>
            </a:p>
          </p:txBody>
        </p:sp>
        <p:sp>
          <p:nvSpPr>
            <p:cNvPr id="18" name="文本框 17">
              <a:extLst>
                <a:ext uri="{FF2B5EF4-FFF2-40B4-BE49-F238E27FC236}">
                  <a16:creationId xmlns:a16="http://schemas.microsoft.com/office/drawing/2014/main" id="{09FD94BD-C74F-F30F-38E4-8D1A99809E8F}"/>
                </a:ext>
              </a:extLst>
            </p:cNvPr>
            <p:cNvSpPr txBox="1"/>
            <p:nvPr/>
          </p:nvSpPr>
          <p:spPr>
            <a:xfrm>
              <a:off x="765810" y="1518389"/>
              <a:ext cx="464834" cy="694863"/>
            </a:xfrm>
            <a:prstGeom prst="rect">
              <a:avLst/>
            </a:prstGeom>
            <a:noFill/>
          </p:spPr>
          <p:txBody>
            <a:bodyPr wrap="none" rtlCol="0">
              <a:spAutoFit/>
            </a:bodyPr>
            <a:lstStyle/>
            <a:p>
              <a:pPr algn="l"/>
              <a:r>
                <a:rPr lang="zh-CN" altLang="en-US" sz="3600" b="1" spc="0" baseline="0">
                  <a:ln/>
                  <a:solidFill>
                    <a:srgbClr val="F59E0B"/>
                  </a:solidFill>
                  <a:latin typeface="微软雅黑"/>
                  <a:ea typeface="微软雅黑"/>
                  <a:sym typeface="微软雅黑"/>
                  <a:rtl val="0"/>
                </a:rPr>
                <a:t>3</a:t>
              </a:r>
            </a:p>
          </p:txBody>
        </p:sp>
        <p:sp>
          <p:nvSpPr>
            <p:cNvPr id="19" name="文本框 18">
              <a:extLst>
                <a:ext uri="{FF2B5EF4-FFF2-40B4-BE49-F238E27FC236}">
                  <a16:creationId xmlns:a16="http://schemas.microsoft.com/office/drawing/2014/main" id="{F5EE133F-CB67-FCE6-545E-BC49DB3FCA31}"/>
                </a:ext>
              </a:extLst>
            </p:cNvPr>
            <p:cNvSpPr txBox="1"/>
            <p:nvPr/>
          </p:nvSpPr>
          <p:spPr>
            <a:xfrm>
              <a:off x="1289685" y="1840899"/>
              <a:ext cx="3352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次</a:t>
              </a:r>
            </a:p>
          </p:txBody>
        </p:sp>
        <p:sp>
          <p:nvSpPr>
            <p:cNvPr id="20" name="文本框 19">
              <a:extLst>
                <a:ext uri="{FF2B5EF4-FFF2-40B4-BE49-F238E27FC236}">
                  <a16:creationId xmlns:a16="http://schemas.microsoft.com/office/drawing/2014/main" id="{4ECD3615-E6F9-28E8-BBED-C101F4851871}"/>
                </a:ext>
              </a:extLst>
            </p:cNvPr>
            <p:cNvSpPr txBox="1"/>
            <p:nvPr/>
          </p:nvSpPr>
          <p:spPr>
            <a:xfrm>
              <a:off x="765810" y="2164563"/>
              <a:ext cx="1055143" cy="2446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城投非标：0次 </a:t>
              </a:r>
              <a:r>
                <a:rPr lang="zh-CN" altLang="en-US" sz="900" spc="0" baseline="0">
                  <a:ln/>
                  <a:solidFill>
                    <a:srgbClr val="2ECC71"/>
                  </a:solidFill>
                  <a:latin typeface="Segoe UI Symbol"/>
                  <a:ea typeface="微软雅黑"/>
                  <a:sym typeface="Segoe UI Symbol"/>
                  <a:rtl val="0"/>
                </a:rPr>
                <a:t>✓</a:t>
              </a:r>
            </a:p>
          </p:txBody>
        </p:sp>
      </p:grpSp>
      <p:grpSp>
        <p:nvGrpSpPr>
          <p:cNvPr id="21" name="SVG Image 16">
            <a:extLst>
              <a:ext uri="{FF2B5EF4-FFF2-40B4-BE49-F238E27FC236}">
                <a16:creationId xmlns:a16="http://schemas.microsoft.com/office/drawing/2014/main" id="{DC3956C9-062B-5C14-30D8-A96C58A62C36}"/>
              </a:ext>
            </a:extLst>
          </p:cNvPr>
          <p:cNvGrpSpPr/>
          <p:nvPr/>
        </p:nvGrpSpPr>
        <p:grpSpPr>
          <a:xfrm>
            <a:off x="3429000" y="1238250"/>
            <a:ext cx="2667000" cy="1238250"/>
            <a:chOff x="3429000" y="1238250"/>
            <a:chExt cx="2667000" cy="1238250"/>
          </a:xfrm>
        </p:grpSpPr>
        <p:sp>
          <p:nvSpPr>
            <p:cNvPr id="22" name="任意形状 21">
              <a:extLst>
                <a:ext uri="{FF2B5EF4-FFF2-40B4-BE49-F238E27FC236}">
                  <a16:creationId xmlns:a16="http://schemas.microsoft.com/office/drawing/2014/main" id="{3FB350F9-78B7-1B7F-32FC-F16450D98BF8}"/>
                </a:ext>
              </a:extLst>
            </p:cNvPr>
            <p:cNvSpPr/>
            <p:nvPr/>
          </p:nvSpPr>
          <p:spPr>
            <a:xfrm>
              <a:off x="3429000" y="123825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23" name="任意形状 22">
              <a:extLst>
                <a:ext uri="{FF2B5EF4-FFF2-40B4-BE49-F238E27FC236}">
                  <a16:creationId xmlns:a16="http://schemas.microsoft.com/office/drawing/2014/main" id="{D65EFE2A-F0C8-D48B-CD51-3014FBDDE745}"/>
                </a:ext>
              </a:extLst>
            </p:cNvPr>
            <p:cNvSpPr/>
            <p:nvPr/>
          </p:nvSpPr>
          <p:spPr>
            <a:xfrm>
              <a:off x="3429000" y="123825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2ECC71"/>
            </a:solidFill>
            <a:ln w="9525" cap="flat">
              <a:noFill/>
              <a:prstDash val="solid"/>
              <a:miter/>
            </a:ln>
          </p:spPr>
          <p:txBody>
            <a:bodyPr/>
            <a:lstStyle/>
            <a:p>
              <a:endParaRPr lang="zh-CN" altLang="en-US"/>
            </a:p>
          </p:txBody>
        </p:sp>
        <p:sp>
          <p:nvSpPr>
            <p:cNvPr id="24" name="文本框 23">
              <a:extLst>
                <a:ext uri="{FF2B5EF4-FFF2-40B4-BE49-F238E27FC236}">
                  <a16:creationId xmlns:a16="http://schemas.microsoft.com/office/drawing/2014/main" id="{748423AF-CB0B-EA67-ED5E-4187A5E70EA5}"/>
                </a:ext>
              </a:extLst>
            </p:cNvPr>
            <p:cNvSpPr txBox="1"/>
            <p:nvPr/>
          </p:nvSpPr>
          <p:spPr>
            <a:xfrm>
              <a:off x="3623310" y="1384806"/>
              <a:ext cx="9442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6.2 债券违约</a:t>
              </a:r>
            </a:p>
          </p:txBody>
        </p:sp>
        <p:sp>
          <p:nvSpPr>
            <p:cNvPr id="25" name="文本框 24">
              <a:extLst>
                <a:ext uri="{FF2B5EF4-FFF2-40B4-BE49-F238E27FC236}">
                  <a16:creationId xmlns:a16="http://schemas.microsoft.com/office/drawing/2014/main" id="{B576F38B-52B5-A29E-012B-208ED14A7B92}"/>
                </a:ext>
              </a:extLst>
            </p:cNvPr>
            <p:cNvSpPr txBox="1"/>
            <p:nvPr/>
          </p:nvSpPr>
          <p:spPr>
            <a:xfrm>
              <a:off x="3623310" y="1518389"/>
              <a:ext cx="464834" cy="694863"/>
            </a:xfrm>
            <a:prstGeom prst="rect">
              <a:avLst/>
            </a:prstGeom>
            <a:noFill/>
          </p:spPr>
          <p:txBody>
            <a:bodyPr wrap="none" rtlCol="0">
              <a:spAutoFit/>
            </a:bodyPr>
            <a:lstStyle/>
            <a:p>
              <a:pPr algn="l"/>
              <a:r>
                <a:rPr lang="zh-CN" altLang="en-US" sz="3600" b="1" spc="0" baseline="0">
                  <a:ln/>
                  <a:solidFill>
                    <a:srgbClr val="2ECC71"/>
                  </a:solidFill>
                  <a:latin typeface="微软雅黑"/>
                  <a:ea typeface="微软雅黑"/>
                  <a:sym typeface="微软雅黑"/>
                  <a:rtl val="0"/>
                </a:rPr>
                <a:t>0</a:t>
              </a:r>
            </a:p>
          </p:txBody>
        </p:sp>
        <p:sp>
          <p:nvSpPr>
            <p:cNvPr id="26" name="文本框 25">
              <a:extLst>
                <a:ext uri="{FF2B5EF4-FFF2-40B4-BE49-F238E27FC236}">
                  <a16:creationId xmlns:a16="http://schemas.microsoft.com/office/drawing/2014/main" id="{09637FFD-7008-B91C-4524-2185096AE397}"/>
                </a:ext>
              </a:extLst>
            </p:cNvPr>
            <p:cNvSpPr txBox="1"/>
            <p:nvPr/>
          </p:nvSpPr>
          <p:spPr>
            <a:xfrm>
              <a:off x="4051935" y="1840899"/>
              <a:ext cx="3352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次</a:t>
              </a:r>
            </a:p>
          </p:txBody>
        </p:sp>
        <p:sp>
          <p:nvSpPr>
            <p:cNvPr id="27" name="文本框 26">
              <a:extLst>
                <a:ext uri="{FF2B5EF4-FFF2-40B4-BE49-F238E27FC236}">
                  <a16:creationId xmlns:a16="http://schemas.microsoft.com/office/drawing/2014/main" id="{9386832F-E27F-C6F0-5F94-4BB33BBC289A}"/>
                </a:ext>
              </a:extLst>
            </p:cNvPr>
            <p:cNvSpPr txBox="1"/>
            <p:nvPr/>
          </p:nvSpPr>
          <p:spPr>
            <a:xfrm>
              <a:off x="3623310" y="2164563"/>
              <a:ext cx="1216714" cy="244695"/>
            </a:xfrm>
            <a:prstGeom prst="rect">
              <a:avLst/>
            </a:prstGeom>
            <a:noFill/>
          </p:spPr>
          <p:txBody>
            <a:bodyPr wrap="none" rtlCol="0">
              <a:spAutoFit/>
            </a:bodyPr>
            <a:lstStyle/>
            <a:p>
              <a:pPr algn="l"/>
              <a:r>
                <a:rPr lang="zh-CN" altLang="en-US" sz="900" spc="0" baseline="0">
                  <a:ln/>
                  <a:solidFill>
                    <a:srgbClr val="2ECC71"/>
                  </a:solidFill>
                  <a:latin typeface="微软雅黑"/>
                  <a:ea typeface="微软雅黑"/>
                  <a:sym typeface="微软雅黑"/>
                  <a:rtl val="0"/>
                </a:rPr>
                <a:t>暂无债券违约记录 </a:t>
              </a:r>
              <a:r>
                <a:rPr lang="zh-CN" altLang="en-US" sz="900" spc="0" baseline="0">
                  <a:ln/>
                  <a:solidFill>
                    <a:srgbClr val="2ECC71"/>
                  </a:solidFill>
                  <a:latin typeface="Segoe UI Symbol"/>
                  <a:ea typeface="微软雅黑"/>
                  <a:sym typeface="Segoe UI Symbol"/>
                  <a:rtl val="0"/>
                </a:rPr>
                <a:t>✓</a:t>
              </a:r>
            </a:p>
          </p:txBody>
        </p:sp>
      </p:grpSp>
      <p:grpSp>
        <p:nvGrpSpPr>
          <p:cNvPr id="28" name="SVG Image 16">
            <a:extLst>
              <a:ext uri="{FF2B5EF4-FFF2-40B4-BE49-F238E27FC236}">
                <a16:creationId xmlns:a16="http://schemas.microsoft.com/office/drawing/2014/main" id="{CF40596A-02A5-5BC4-3651-9FB0C7F56995}"/>
              </a:ext>
            </a:extLst>
          </p:cNvPr>
          <p:cNvGrpSpPr/>
          <p:nvPr/>
        </p:nvGrpSpPr>
        <p:grpSpPr>
          <a:xfrm>
            <a:off x="6286500" y="1238250"/>
            <a:ext cx="2667000" cy="1238250"/>
            <a:chOff x="6286500" y="1238250"/>
            <a:chExt cx="2667000" cy="1238250"/>
          </a:xfrm>
        </p:grpSpPr>
        <p:sp>
          <p:nvSpPr>
            <p:cNvPr id="29" name="任意形状 28">
              <a:extLst>
                <a:ext uri="{FF2B5EF4-FFF2-40B4-BE49-F238E27FC236}">
                  <a16:creationId xmlns:a16="http://schemas.microsoft.com/office/drawing/2014/main" id="{3B1C530B-0305-9447-88F5-269B776CDA5B}"/>
                </a:ext>
              </a:extLst>
            </p:cNvPr>
            <p:cNvSpPr/>
            <p:nvPr/>
          </p:nvSpPr>
          <p:spPr>
            <a:xfrm>
              <a:off x="6286500" y="1238250"/>
              <a:ext cx="2667000" cy="1238250"/>
            </a:xfrm>
            <a:custGeom>
              <a:avLst/>
              <a:gdLst>
                <a:gd name="csX0" fmla="*/ 76200 w 2667000"/>
                <a:gd name="csY0" fmla="*/ 0 h 1238250"/>
                <a:gd name="csX1" fmla="*/ 2590800 w 2667000"/>
                <a:gd name="csY1" fmla="*/ 0 h 1238250"/>
                <a:gd name="csX2" fmla="*/ 2667000 w 2667000"/>
                <a:gd name="csY2" fmla="*/ 76200 h 1238250"/>
                <a:gd name="csX3" fmla="*/ 2667000 w 2667000"/>
                <a:gd name="csY3" fmla="*/ 1162050 h 1238250"/>
                <a:gd name="csX4" fmla="*/ 2590800 w 2667000"/>
                <a:gd name="csY4" fmla="*/ 1238250 h 1238250"/>
                <a:gd name="csX5" fmla="*/ 76200 w 2667000"/>
                <a:gd name="csY5" fmla="*/ 1238250 h 1238250"/>
                <a:gd name="csX6" fmla="*/ 0 w 2667000"/>
                <a:gd name="csY6" fmla="*/ 1162050 h 1238250"/>
                <a:gd name="csX7" fmla="*/ 0 w 2667000"/>
                <a:gd name="csY7" fmla="*/ 76200 h 1238250"/>
                <a:gd name="csX8" fmla="*/ 76200 w 2667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7000" h="1238250">
                  <a:moveTo>
                    <a:pt x="76200" y="0"/>
                  </a:moveTo>
                  <a:lnTo>
                    <a:pt x="2590800" y="0"/>
                  </a:lnTo>
                  <a:cubicBezTo>
                    <a:pt x="2632884" y="0"/>
                    <a:pt x="2667000" y="34116"/>
                    <a:pt x="2667000" y="76200"/>
                  </a:cubicBezTo>
                  <a:lnTo>
                    <a:pt x="2667000" y="1162050"/>
                  </a:lnTo>
                  <a:cubicBezTo>
                    <a:pt x="2667000" y="1204134"/>
                    <a:pt x="2632884" y="1238250"/>
                    <a:pt x="2590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EF3C7"/>
            </a:solidFill>
            <a:ln w="9525" cap="flat">
              <a:noFill/>
              <a:prstDash val="solid"/>
              <a:miter/>
            </a:ln>
          </p:spPr>
          <p:txBody>
            <a:bodyPr/>
            <a:lstStyle/>
            <a:p>
              <a:endParaRPr lang="zh-CN" altLang="en-US"/>
            </a:p>
          </p:txBody>
        </p:sp>
        <p:sp>
          <p:nvSpPr>
            <p:cNvPr id="30" name="任意形状 29">
              <a:extLst>
                <a:ext uri="{FF2B5EF4-FFF2-40B4-BE49-F238E27FC236}">
                  <a16:creationId xmlns:a16="http://schemas.microsoft.com/office/drawing/2014/main" id="{CDB3E9EB-3639-8AC4-258D-5DA0CE3E2B53}"/>
                </a:ext>
              </a:extLst>
            </p:cNvPr>
            <p:cNvSpPr/>
            <p:nvPr/>
          </p:nvSpPr>
          <p:spPr>
            <a:xfrm>
              <a:off x="6286500" y="123825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E63946"/>
            </a:solidFill>
            <a:ln w="9525" cap="flat">
              <a:noFill/>
              <a:prstDash val="solid"/>
              <a:miter/>
            </a:ln>
          </p:spPr>
          <p:txBody>
            <a:bodyPr/>
            <a:lstStyle/>
            <a:p>
              <a:endParaRPr lang="zh-CN" altLang="en-US"/>
            </a:p>
          </p:txBody>
        </p:sp>
        <p:sp>
          <p:nvSpPr>
            <p:cNvPr id="31" name="文本框 30">
              <a:extLst>
                <a:ext uri="{FF2B5EF4-FFF2-40B4-BE49-F238E27FC236}">
                  <a16:creationId xmlns:a16="http://schemas.microsoft.com/office/drawing/2014/main" id="{684F6426-4863-56CB-15EE-641B660FBAED}"/>
                </a:ext>
              </a:extLst>
            </p:cNvPr>
            <p:cNvSpPr txBox="1"/>
            <p:nvPr/>
          </p:nvSpPr>
          <p:spPr>
            <a:xfrm>
              <a:off x="6480810" y="1384806"/>
              <a:ext cx="94423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6.3 票据逾期</a:t>
              </a:r>
            </a:p>
          </p:txBody>
        </p:sp>
        <p:sp>
          <p:nvSpPr>
            <p:cNvPr id="32" name="文本框 31">
              <a:extLst>
                <a:ext uri="{FF2B5EF4-FFF2-40B4-BE49-F238E27FC236}">
                  <a16:creationId xmlns:a16="http://schemas.microsoft.com/office/drawing/2014/main" id="{D431C718-AA1D-2E9E-FA1C-DD4874E77AA7}"/>
                </a:ext>
              </a:extLst>
            </p:cNvPr>
            <p:cNvSpPr txBox="1"/>
            <p:nvPr/>
          </p:nvSpPr>
          <p:spPr>
            <a:xfrm>
              <a:off x="6480810" y="1518389"/>
              <a:ext cx="746789" cy="694863"/>
            </a:xfrm>
            <a:prstGeom prst="rect">
              <a:avLst/>
            </a:prstGeom>
            <a:noFill/>
          </p:spPr>
          <p:txBody>
            <a:bodyPr wrap="none" rtlCol="0">
              <a:spAutoFit/>
            </a:bodyPr>
            <a:lstStyle/>
            <a:p>
              <a:pPr algn="l"/>
              <a:r>
                <a:rPr lang="zh-CN" altLang="en-US" sz="3600" b="1" spc="0" baseline="0">
                  <a:ln/>
                  <a:solidFill>
                    <a:srgbClr val="E63946"/>
                  </a:solidFill>
                  <a:latin typeface="微软雅黑"/>
                  <a:ea typeface="微软雅黑"/>
                  <a:sym typeface="微软雅黑"/>
                  <a:rtl val="0"/>
                </a:rPr>
                <a:t>96</a:t>
              </a:r>
            </a:p>
          </p:txBody>
        </p:sp>
        <p:sp>
          <p:nvSpPr>
            <p:cNvPr id="33" name="文本框 32">
              <a:extLst>
                <a:ext uri="{FF2B5EF4-FFF2-40B4-BE49-F238E27FC236}">
                  <a16:creationId xmlns:a16="http://schemas.microsoft.com/office/drawing/2014/main" id="{11606BB7-0687-6478-DDF4-7B54A2529D31}"/>
                </a:ext>
              </a:extLst>
            </p:cNvPr>
            <p:cNvSpPr txBox="1"/>
            <p:nvPr/>
          </p:nvSpPr>
          <p:spPr>
            <a:xfrm>
              <a:off x="7290435" y="1840899"/>
              <a:ext cx="3352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次</a:t>
              </a:r>
            </a:p>
          </p:txBody>
        </p:sp>
        <p:sp>
          <p:nvSpPr>
            <p:cNvPr id="34" name="文本框 33">
              <a:extLst>
                <a:ext uri="{FF2B5EF4-FFF2-40B4-BE49-F238E27FC236}">
                  <a16:creationId xmlns:a16="http://schemas.microsoft.com/office/drawing/2014/main" id="{B6D7EBA0-153D-1AF3-18EA-9D3760FCFB41}"/>
                </a:ext>
              </a:extLst>
            </p:cNvPr>
            <p:cNvSpPr txBox="1"/>
            <p:nvPr/>
          </p:nvSpPr>
          <p:spPr>
            <a:xfrm>
              <a:off x="6480810" y="2166963"/>
              <a:ext cx="1507208" cy="242295"/>
            </a:xfrm>
            <a:prstGeom prst="rect">
              <a:avLst/>
            </a:prstGeom>
            <a:noFill/>
          </p:spPr>
          <p:txBody>
            <a:bodyPr wrap="none" rtlCol="0">
              <a:spAutoFit/>
            </a:bodyPr>
            <a:lstStyle/>
            <a:p>
              <a:pPr algn="l"/>
              <a:r>
                <a:rPr lang="zh-CN" altLang="en-US" sz="900" spc="0" baseline="0">
                  <a:ln/>
                  <a:solidFill>
                    <a:srgbClr val="E63946"/>
                  </a:solidFill>
                  <a:latin typeface="微软雅黑"/>
                  <a:ea typeface="微软雅黑"/>
                  <a:sym typeface="微软雅黑"/>
                  <a:rtl val="0"/>
                </a:rPr>
                <a:t>逾期余额：41,559.68万元</a:t>
              </a:r>
            </a:p>
          </p:txBody>
        </p:sp>
      </p:grpSp>
      <p:grpSp>
        <p:nvGrpSpPr>
          <p:cNvPr id="35" name="SVG Image 16">
            <a:extLst>
              <a:ext uri="{FF2B5EF4-FFF2-40B4-BE49-F238E27FC236}">
                <a16:creationId xmlns:a16="http://schemas.microsoft.com/office/drawing/2014/main" id="{C12C178A-0BB8-507B-2279-933776FB414B}"/>
              </a:ext>
            </a:extLst>
          </p:cNvPr>
          <p:cNvGrpSpPr/>
          <p:nvPr/>
        </p:nvGrpSpPr>
        <p:grpSpPr>
          <a:xfrm>
            <a:off x="9144000" y="1238250"/>
            <a:ext cx="2476500" cy="1238250"/>
            <a:chOff x="9144000" y="1238250"/>
            <a:chExt cx="2476500" cy="1238250"/>
          </a:xfrm>
        </p:grpSpPr>
        <p:sp>
          <p:nvSpPr>
            <p:cNvPr id="36" name="任意形状 35">
              <a:extLst>
                <a:ext uri="{FF2B5EF4-FFF2-40B4-BE49-F238E27FC236}">
                  <a16:creationId xmlns:a16="http://schemas.microsoft.com/office/drawing/2014/main" id="{C217A48F-2DDB-722D-9C1D-B3A5FE9287BC}"/>
                </a:ext>
              </a:extLst>
            </p:cNvPr>
            <p:cNvSpPr/>
            <p:nvPr/>
          </p:nvSpPr>
          <p:spPr>
            <a:xfrm>
              <a:off x="9144000" y="1238250"/>
              <a:ext cx="2476500" cy="1238250"/>
            </a:xfrm>
            <a:custGeom>
              <a:avLst/>
              <a:gdLst>
                <a:gd name="csX0" fmla="*/ 76200 w 2476500"/>
                <a:gd name="csY0" fmla="*/ 0 h 1238250"/>
                <a:gd name="csX1" fmla="*/ 2400300 w 2476500"/>
                <a:gd name="csY1" fmla="*/ 0 h 1238250"/>
                <a:gd name="csX2" fmla="*/ 2476500 w 2476500"/>
                <a:gd name="csY2" fmla="*/ 76200 h 1238250"/>
                <a:gd name="csX3" fmla="*/ 2476500 w 2476500"/>
                <a:gd name="csY3" fmla="*/ 1162050 h 1238250"/>
                <a:gd name="csX4" fmla="*/ 2400300 w 2476500"/>
                <a:gd name="csY4" fmla="*/ 1238250 h 1238250"/>
                <a:gd name="csX5" fmla="*/ 76200 w 2476500"/>
                <a:gd name="csY5" fmla="*/ 1238250 h 1238250"/>
                <a:gd name="csX6" fmla="*/ 0 w 2476500"/>
                <a:gd name="csY6" fmla="*/ 1162050 h 1238250"/>
                <a:gd name="csX7" fmla="*/ 0 w 2476500"/>
                <a:gd name="csY7" fmla="*/ 76200 h 1238250"/>
                <a:gd name="csX8" fmla="*/ 76200 w 24765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6500" h="1238250">
                  <a:moveTo>
                    <a:pt x="76200" y="0"/>
                  </a:moveTo>
                  <a:lnTo>
                    <a:pt x="2400300" y="0"/>
                  </a:lnTo>
                  <a:cubicBezTo>
                    <a:pt x="2442385" y="0"/>
                    <a:pt x="2476500" y="34116"/>
                    <a:pt x="2476500" y="76200"/>
                  </a:cubicBezTo>
                  <a:lnTo>
                    <a:pt x="2476500" y="1162050"/>
                  </a:lnTo>
                  <a:cubicBezTo>
                    <a:pt x="2476500" y="1204134"/>
                    <a:pt x="2442385" y="1238250"/>
                    <a:pt x="24003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7" name="任意形状 36">
              <a:extLst>
                <a:ext uri="{FF2B5EF4-FFF2-40B4-BE49-F238E27FC236}">
                  <a16:creationId xmlns:a16="http://schemas.microsoft.com/office/drawing/2014/main" id="{5FE34D67-D5A7-EEA1-A2C5-018FEEE45523}"/>
                </a:ext>
              </a:extLst>
            </p:cNvPr>
            <p:cNvSpPr/>
            <p:nvPr/>
          </p:nvSpPr>
          <p:spPr>
            <a:xfrm>
              <a:off x="9144000" y="1238250"/>
              <a:ext cx="38100" cy="1238250"/>
            </a:xfrm>
            <a:custGeom>
              <a:avLst/>
              <a:gdLst>
                <a:gd name="csX0" fmla="*/ 19050 w 38100"/>
                <a:gd name="csY0" fmla="*/ 0 h 1238250"/>
                <a:gd name="csX1" fmla="*/ 19050 w 38100"/>
                <a:gd name="csY1" fmla="*/ 0 h 1238250"/>
                <a:gd name="csX2" fmla="*/ 38100 w 38100"/>
                <a:gd name="csY2" fmla="*/ 19050 h 1238250"/>
                <a:gd name="csX3" fmla="*/ 38100 w 38100"/>
                <a:gd name="csY3" fmla="*/ 1219200 h 1238250"/>
                <a:gd name="csX4" fmla="*/ 19050 w 38100"/>
                <a:gd name="csY4" fmla="*/ 1238250 h 1238250"/>
                <a:gd name="csX5" fmla="*/ 19050 w 38100"/>
                <a:gd name="csY5" fmla="*/ 1238250 h 1238250"/>
                <a:gd name="csX6" fmla="*/ 0 w 38100"/>
                <a:gd name="csY6" fmla="*/ 1219200 h 1238250"/>
                <a:gd name="csX7" fmla="*/ 0 w 38100"/>
                <a:gd name="csY7" fmla="*/ 19050 h 1238250"/>
                <a:gd name="csX8" fmla="*/ 19050 w 381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1238250">
                  <a:moveTo>
                    <a:pt x="19050" y="0"/>
                  </a:moveTo>
                  <a:lnTo>
                    <a:pt x="19050" y="0"/>
                  </a:lnTo>
                  <a:cubicBezTo>
                    <a:pt x="29571" y="0"/>
                    <a:pt x="38100" y="8529"/>
                    <a:pt x="38100" y="19050"/>
                  </a:cubicBezTo>
                  <a:lnTo>
                    <a:pt x="38100" y="1219200"/>
                  </a:lnTo>
                  <a:cubicBezTo>
                    <a:pt x="38100" y="1229721"/>
                    <a:pt x="29571" y="1238250"/>
                    <a:pt x="19050" y="1238250"/>
                  </a:cubicBezTo>
                  <a:lnTo>
                    <a:pt x="19050" y="1238250"/>
                  </a:lnTo>
                  <a:cubicBezTo>
                    <a:pt x="8529" y="1238250"/>
                    <a:pt x="0" y="1229721"/>
                    <a:pt x="0" y="1219200"/>
                  </a:cubicBezTo>
                  <a:lnTo>
                    <a:pt x="0" y="19050"/>
                  </a:lnTo>
                  <a:cubicBezTo>
                    <a:pt x="0" y="8529"/>
                    <a:pt x="8529" y="0"/>
                    <a:pt x="19050" y="0"/>
                  </a:cubicBezTo>
                  <a:close/>
                </a:path>
              </a:pathLst>
            </a:custGeom>
            <a:solidFill>
              <a:srgbClr val="F59E0B"/>
            </a:solidFill>
            <a:ln w="9525" cap="flat">
              <a:noFill/>
              <a:prstDash val="solid"/>
              <a:miter/>
            </a:ln>
          </p:spPr>
          <p:txBody>
            <a:bodyPr/>
            <a:lstStyle/>
            <a:p>
              <a:endParaRPr lang="zh-CN" altLang="en-US"/>
            </a:p>
          </p:txBody>
        </p:sp>
        <p:sp>
          <p:nvSpPr>
            <p:cNvPr id="38" name="文本框 37">
              <a:extLst>
                <a:ext uri="{FF2B5EF4-FFF2-40B4-BE49-F238E27FC236}">
                  <a16:creationId xmlns:a16="http://schemas.microsoft.com/office/drawing/2014/main" id="{D0A125B6-7C48-BA9D-8BBB-6FCFF7F396FD}"/>
                </a:ext>
              </a:extLst>
            </p:cNvPr>
            <p:cNvSpPr txBox="1"/>
            <p:nvPr/>
          </p:nvSpPr>
          <p:spPr>
            <a:xfrm>
              <a:off x="9338310" y="1384806"/>
              <a:ext cx="982980"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城投票据逾期</a:t>
              </a:r>
            </a:p>
          </p:txBody>
        </p:sp>
        <p:sp>
          <p:nvSpPr>
            <p:cNvPr id="39" name="文本框 38">
              <a:extLst>
                <a:ext uri="{FF2B5EF4-FFF2-40B4-BE49-F238E27FC236}">
                  <a16:creationId xmlns:a16="http://schemas.microsoft.com/office/drawing/2014/main" id="{16BCA65B-DF5D-4138-6FF4-6DC7E7CC7B67}"/>
                </a:ext>
              </a:extLst>
            </p:cNvPr>
            <p:cNvSpPr txBox="1"/>
            <p:nvPr/>
          </p:nvSpPr>
          <p:spPr>
            <a:xfrm>
              <a:off x="9338310" y="1518389"/>
              <a:ext cx="464834" cy="694863"/>
            </a:xfrm>
            <a:prstGeom prst="rect">
              <a:avLst/>
            </a:prstGeom>
            <a:noFill/>
          </p:spPr>
          <p:txBody>
            <a:bodyPr wrap="none" rtlCol="0">
              <a:spAutoFit/>
            </a:bodyPr>
            <a:lstStyle/>
            <a:p>
              <a:pPr algn="l"/>
              <a:r>
                <a:rPr lang="zh-CN" altLang="en-US" sz="3600" b="1" spc="0" baseline="0">
                  <a:ln/>
                  <a:solidFill>
                    <a:srgbClr val="F59E0B"/>
                  </a:solidFill>
                  <a:latin typeface="微软雅黑"/>
                  <a:ea typeface="微软雅黑"/>
                  <a:sym typeface="微软雅黑"/>
                  <a:rtl val="0"/>
                </a:rPr>
                <a:t>2</a:t>
              </a:r>
            </a:p>
          </p:txBody>
        </p:sp>
        <p:sp>
          <p:nvSpPr>
            <p:cNvPr id="40" name="文本框 39">
              <a:extLst>
                <a:ext uri="{FF2B5EF4-FFF2-40B4-BE49-F238E27FC236}">
                  <a16:creationId xmlns:a16="http://schemas.microsoft.com/office/drawing/2014/main" id="{E93032F4-2647-ADD2-42A2-DB8B894B5F7F}"/>
                </a:ext>
              </a:extLst>
            </p:cNvPr>
            <p:cNvSpPr txBox="1"/>
            <p:nvPr/>
          </p:nvSpPr>
          <p:spPr>
            <a:xfrm>
              <a:off x="9766935" y="1840899"/>
              <a:ext cx="335280" cy="292581"/>
            </a:xfrm>
            <a:prstGeom prst="rect">
              <a:avLst/>
            </a:prstGeom>
            <a:noFill/>
          </p:spPr>
          <p:txBody>
            <a:bodyPr wrap="none" rtlCol="0">
              <a:spAutoFit/>
            </a:bodyPr>
            <a:lstStyle/>
            <a:p>
              <a:pPr algn="l"/>
              <a:r>
                <a:rPr lang="zh-CN" altLang="en-US" sz="1200" spc="0" baseline="0">
                  <a:ln/>
                  <a:solidFill>
                    <a:srgbClr val="64748B"/>
                  </a:solidFill>
                  <a:latin typeface="微软雅黑"/>
                  <a:ea typeface="微软雅黑"/>
                  <a:sym typeface="微软雅黑"/>
                  <a:rtl val="0"/>
                </a:rPr>
                <a:t>次</a:t>
              </a:r>
            </a:p>
          </p:txBody>
        </p:sp>
        <p:sp>
          <p:nvSpPr>
            <p:cNvPr id="41" name="文本框 40">
              <a:extLst>
                <a:ext uri="{FF2B5EF4-FFF2-40B4-BE49-F238E27FC236}">
                  <a16:creationId xmlns:a16="http://schemas.microsoft.com/office/drawing/2014/main" id="{B2D2906A-0A90-CE6F-5AD8-5390009FD5D7}"/>
                </a:ext>
              </a:extLst>
            </p:cNvPr>
            <p:cNvSpPr txBox="1"/>
            <p:nvPr/>
          </p:nvSpPr>
          <p:spPr>
            <a:xfrm>
              <a:off x="9338310" y="2166963"/>
              <a:ext cx="1641265" cy="242295"/>
            </a:xfrm>
            <a:prstGeom prst="rect">
              <a:avLst/>
            </a:prstGeom>
            <a:noFill/>
          </p:spPr>
          <p:txBody>
            <a:bodyPr wrap="none" rtlCol="0">
              <a:spAutoFit/>
            </a:bodyPr>
            <a:lstStyle/>
            <a:p>
              <a:pPr algn="l"/>
              <a:r>
                <a:rPr lang="zh-CN" altLang="en-US" sz="900" spc="0" baseline="0">
                  <a:ln/>
                  <a:solidFill>
                    <a:srgbClr val="F59E0B"/>
                  </a:solidFill>
                  <a:latin typeface="微软雅黑"/>
                  <a:ea typeface="微软雅黑"/>
                  <a:sym typeface="微软雅黑"/>
                  <a:rtl val="0"/>
                </a:rPr>
                <a:t>逾期余额：110万元（可控）</a:t>
              </a:r>
            </a:p>
          </p:txBody>
        </p:sp>
      </p:grpSp>
      <p:grpSp>
        <p:nvGrpSpPr>
          <p:cNvPr id="42" name="SVG Image 16">
            <a:extLst>
              <a:ext uri="{FF2B5EF4-FFF2-40B4-BE49-F238E27FC236}">
                <a16:creationId xmlns:a16="http://schemas.microsoft.com/office/drawing/2014/main" id="{BB3D7891-48A6-EDED-46E6-C0CBBC0FC9D0}"/>
              </a:ext>
            </a:extLst>
          </p:cNvPr>
          <p:cNvGrpSpPr/>
          <p:nvPr/>
        </p:nvGrpSpPr>
        <p:grpSpPr>
          <a:xfrm>
            <a:off x="571500" y="2667000"/>
            <a:ext cx="5524500" cy="2381250"/>
            <a:chOff x="571500" y="2667000"/>
            <a:chExt cx="5524500" cy="2381250"/>
          </a:xfrm>
        </p:grpSpPr>
        <p:sp>
          <p:nvSpPr>
            <p:cNvPr id="43" name="任意形状 42">
              <a:extLst>
                <a:ext uri="{FF2B5EF4-FFF2-40B4-BE49-F238E27FC236}">
                  <a16:creationId xmlns:a16="http://schemas.microsoft.com/office/drawing/2014/main" id="{2D53B5BB-075A-E9F6-5619-83D98FB38F75}"/>
                </a:ext>
              </a:extLst>
            </p:cNvPr>
            <p:cNvSpPr/>
            <p:nvPr/>
          </p:nvSpPr>
          <p:spPr>
            <a:xfrm>
              <a:off x="571500" y="2667000"/>
              <a:ext cx="5524500" cy="2381250"/>
            </a:xfrm>
            <a:custGeom>
              <a:avLst/>
              <a:gdLst>
                <a:gd name="csX0" fmla="*/ 76200 w 5524500"/>
                <a:gd name="csY0" fmla="*/ 0 h 2381250"/>
                <a:gd name="csX1" fmla="*/ 5448300 w 5524500"/>
                <a:gd name="csY1" fmla="*/ 0 h 2381250"/>
                <a:gd name="csX2" fmla="*/ 5524500 w 5524500"/>
                <a:gd name="csY2" fmla="*/ 76200 h 2381250"/>
                <a:gd name="csX3" fmla="*/ 5524500 w 5524500"/>
                <a:gd name="csY3" fmla="*/ 2305050 h 2381250"/>
                <a:gd name="csX4" fmla="*/ 5448300 w 5524500"/>
                <a:gd name="csY4" fmla="*/ 2381250 h 2381250"/>
                <a:gd name="csX5" fmla="*/ 76200 w 5524500"/>
                <a:gd name="csY5" fmla="*/ 2381250 h 2381250"/>
                <a:gd name="csX6" fmla="*/ 0 w 5524500"/>
                <a:gd name="csY6" fmla="*/ 2305050 h 2381250"/>
                <a:gd name="csX7" fmla="*/ 0 w 5524500"/>
                <a:gd name="csY7" fmla="*/ 76200 h 2381250"/>
                <a:gd name="csX8" fmla="*/ 76200 w 5524500"/>
                <a:gd name="csY8" fmla="*/ 0 h 2381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2381250">
                  <a:moveTo>
                    <a:pt x="76200" y="0"/>
                  </a:moveTo>
                  <a:lnTo>
                    <a:pt x="5448300" y="0"/>
                  </a:lnTo>
                  <a:cubicBezTo>
                    <a:pt x="5490384" y="0"/>
                    <a:pt x="5524500" y="34116"/>
                    <a:pt x="5524500" y="76200"/>
                  </a:cubicBezTo>
                  <a:lnTo>
                    <a:pt x="5524500" y="2305050"/>
                  </a:lnTo>
                  <a:cubicBezTo>
                    <a:pt x="5524500" y="2347134"/>
                    <a:pt x="5490384" y="2381250"/>
                    <a:pt x="5448300" y="2381250"/>
                  </a:cubicBezTo>
                  <a:lnTo>
                    <a:pt x="76200" y="2381250"/>
                  </a:lnTo>
                  <a:cubicBezTo>
                    <a:pt x="34116" y="2381250"/>
                    <a:pt x="0" y="2347134"/>
                    <a:pt x="0" y="2305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4" name="文本框 43">
              <a:extLst>
                <a:ext uri="{FF2B5EF4-FFF2-40B4-BE49-F238E27FC236}">
                  <a16:creationId xmlns:a16="http://schemas.microsoft.com/office/drawing/2014/main" id="{04C0A64D-A3BF-13BE-F6E2-B0FEC4BA0DB3}"/>
                </a:ext>
              </a:extLst>
            </p:cNvPr>
            <p:cNvSpPr txBox="1"/>
            <p:nvPr/>
          </p:nvSpPr>
          <p:spPr>
            <a:xfrm>
              <a:off x="765810" y="2793399"/>
              <a:ext cx="14020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非标风险事件明细</a:t>
              </a:r>
            </a:p>
          </p:txBody>
        </p:sp>
        <p:sp>
          <p:nvSpPr>
            <p:cNvPr id="45" name="文本框 44">
              <a:extLst>
                <a:ext uri="{FF2B5EF4-FFF2-40B4-BE49-F238E27FC236}">
                  <a16:creationId xmlns:a16="http://schemas.microsoft.com/office/drawing/2014/main" id="{CEE29C04-F3F4-FC35-E6B4-1015A89388FF}"/>
                </a:ext>
              </a:extLst>
            </p:cNvPr>
            <p:cNvSpPr txBox="1"/>
            <p:nvPr/>
          </p:nvSpPr>
          <p:spPr>
            <a:xfrm>
              <a:off x="765810" y="3081916"/>
              <a:ext cx="1487042"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近一年披露 | 仅展示最新5条</a:t>
              </a:r>
            </a:p>
          </p:txBody>
        </p:sp>
        <p:sp>
          <p:nvSpPr>
            <p:cNvPr id="46" name="任意形状 45">
              <a:extLst>
                <a:ext uri="{FF2B5EF4-FFF2-40B4-BE49-F238E27FC236}">
                  <a16:creationId xmlns:a16="http://schemas.microsoft.com/office/drawing/2014/main" id="{5FC93DDD-4D54-5523-70F1-371111EF23FA}"/>
                </a:ext>
              </a:extLst>
            </p:cNvPr>
            <p:cNvSpPr/>
            <p:nvPr/>
          </p:nvSpPr>
          <p:spPr>
            <a:xfrm>
              <a:off x="857250" y="3381375"/>
              <a:ext cx="4953000" cy="266700"/>
            </a:xfrm>
            <a:custGeom>
              <a:avLst/>
              <a:gdLst>
                <a:gd name="csX0" fmla="*/ 38100 w 4953000"/>
                <a:gd name="csY0" fmla="*/ 0 h 266700"/>
                <a:gd name="csX1" fmla="*/ 4914900 w 4953000"/>
                <a:gd name="csY1" fmla="*/ 0 h 266700"/>
                <a:gd name="csX2" fmla="*/ 4953000 w 4953000"/>
                <a:gd name="csY2" fmla="*/ 38100 h 266700"/>
                <a:gd name="csX3" fmla="*/ 4953000 w 4953000"/>
                <a:gd name="csY3" fmla="*/ 228600 h 266700"/>
                <a:gd name="csX4" fmla="*/ 4914900 w 4953000"/>
                <a:gd name="csY4" fmla="*/ 266700 h 266700"/>
                <a:gd name="csX5" fmla="*/ 38100 w 4953000"/>
                <a:gd name="csY5" fmla="*/ 266700 h 266700"/>
                <a:gd name="csX6" fmla="*/ 0 w 4953000"/>
                <a:gd name="csY6" fmla="*/ 228600 h 266700"/>
                <a:gd name="csX7" fmla="*/ 0 w 4953000"/>
                <a:gd name="csY7" fmla="*/ 38100 h 266700"/>
                <a:gd name="csX8" fmla="*/ 38100 w 4953000"/>
                <a:gd name="csY8" fmla="*/ 0 h 266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53000" h="266700">
                  <a:moveTo>
                    <a:pt x="38100" y="0"/>
                  </a:moveTo>
                  <a:lnTo>
                    <a:pt x="4914900" y="0"/>
                  </a:lnTo>
                  <a:cubicBezTo>
                    <a:pt x="4935943" y="0"/>
                    <a:pt x="4953000" y="17058"/>
                    <a:pt x="4953000" y="38100"/>
                  </a:cubicBezTo>
                  <a:lnTo>
                    <a:pt x="4953000" y="228600"/>
                  </a:lnTo>
                  <a:cubicBezTo>
                    <a:pt x="4953000" y="249642"/>
                    <a:pt x="4935943" y="266700"/>
                    <a:pt x="4914900" y="266700"/>
                  </a:cubicBezTo>
                  <a:lnTo>
                    <a:pt x="38100" y="266700"/>
                  </a:lnTo>
                  <a:cubicBezTo>
                    <a:pt x="17058" y="266700"/>
                    <a:pt x="0" y="249642"/>
                    <a:pt x="0" y="228600"/>
                  </a:cubicBezTo>
                  <a:lnTo>
                    <a:pt x="0" y="38100"/>
                  </a:lnTo>
                  <a:cubicBezTo>
                    <a:pt x="0" y="17058"/>
                    <a:pt x="17058" y="0"/>
                    <a:pt x="38100" y="0"/>
                  </a:cubicBezTo>
                  <a:close/>
                </a:path>
              </a:pathLst>
            </a:custGeom>
            <a:solidFill>
              <a:srgbClr val="1E3A5F"/>
            </a:solidFill>
            <a:ln w="9525" cap="flat">
              <a:noFill/>
              <a:prstDash val="solid"/>
              <a:miter/>
            </a:ln>
          </p:spPr>
          <p:txBody>
            <a:bodyPr/>
            <a:lstStyle/>
            <a:p>
              <a:endParaRPr lang="zh-CN" altLang="en-US"/>
            </a:p>
          </p:txBody>
        </p:sp>
        <p:sp>
          <p:nvSpPr>
            <p:cNvPr id="47" name="文本框 46">
              <a:extLst>
                <a:ext uri="{FF2B5EF4-FFF2-40B4-BE49-F238E27FC236}">
                  <a16:creationId xmlns:a16="http://schemas.microsoft.com/office/drawing/2014/main" id="{02E10F73-7B96-7A6F-D208-AEAA23A76B18}"/>
                </a:ext>
              </a:extLst>
            </p:cNvPr>
            <p:cNvSpPr txBox="1"/>
            <p:nvPr/>
          </p:nvSpPr>
          <p:spPr>
            <a:xfrm>
              <a:off x="1003935" y="3415845"/>
              <a:ext cx="563880"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披露日期</a:t>
              </a:r>
            </a:p>
          </p:txBody>
        </p:sp>
        <p:sp>
          <p:nvSpPr>
            <p:cNvPr id="48" name="文本框 47">
              <a:extLst>
                <a:ext uri="{FF2B5EF4-FFF2-40B4-BE49-F238E27FC236}">
                  <a16:creationId xmlns:a16="http://schemas.microsoft.com/office/drawing/2014/main" id="{F6ED09A6-B33F-BB2C-5ED9-56355CC0634C}"/>
                </a:ext>
              </a:extLst>
            </p:cNvPr>
            <p:cNvSpPr txBox="1"/>
            <p:nvPr/>
          </p:nvSpPr>
          <p:spPr>
            <a:xfrm>
              <a:off x="2432685" y="3415845"/>
              <a:ext cx="468630"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融资方</a:t>
              </a:r>
            </a:p>
          </p:txBody>
        </p:sp>
        <p:sp>
          <p:nvSpPr>
            <p:cNvPr id="49" name="文本框 48">
              <a:extLst>
                <a:ext uri="{FF2B5EF4-FFF2-40B4-BE49-F238E27FC236}">
                  <a16:creationId xmlns:a16="http://schemas.microsoft.com/office/drawing/2014/main" id="{E964D6B1-28BD-7B85-08EE-60C54DF8249A}"/>
                </a:ext>
              </a:extLst>
            </p:cNvPr>
            <p:cNvSpPr txBox="1"/>
            <p:nvPr/>
          </p:nvSpPr>
          <p:spPr>
            <a:xfrm>
              <a:off x="4004310" y="3415845"/>
              <a:ext cx="563880"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产品类型</a:t>
              </a:r>
            </a:p>
          </p:txBody>
        </p:sp>
        <p:sp>
          <p:nvSpPr>
            <p:cNvPr id="50" name="文本框 49">
              <a:extLst>
                <a:ext uri="{FF2B5EF4-FFF2-40B4-BE49-F238E27FC236}">
                  <a16:creationId xmlns:a16="http://schemas.microsoft.com/office/drawing/2014/main" id="{2A594412-CA80-AC7D-6BD0-21FA007668F1}"/>
                </a:ext>
              </a:extLst>
            </p:cNvPr>
            <p:cNvSpPr txBox="1"/>
            <p:nvPr/>
          </p:nvSpPr>
          <p:spPr>
            <a:xfrm>
              <a:off x="4861560" y="3415845"/>
              <a:ext cx="563880" cy="217153"/>
            </a:xfrm>
            <a:prstGeom prst="rect">
              <a:avLst/>
            </a:prstGeom>
            <a:noFill/>
          </p:spPr>
          <p:txBody>
            <a:bodyPr wrap="none" rtlCol="0">
              <a:spAutoFit/>
            </a:bodyPr>
            <a:lstStyle/>
            <a:p>
              <a:pPr algn="l"/>
              <a:r>
                <a:rPr lang="zh-CN" altLang="en-US" sz="750" b="1" spc="0" baseline="0">
                  <a:ln/>
                  <a:solidFill>
                    <a:srgbClr val="FFFFFF"/>
                  </a:solidFill>
                  <a:latin typeface="微软雅黑"/>
                  <a:ea typeface="微软雅黑"/>
                  <a:sym typeface="微软雅黑"/>
                  <a:rtl val="0"/>
                </a:rPr>
                <a:t>风险类型</a:t>
              </a:r>
            </a:p>
          </p:txBody>
        </p:sp>
        <p:sp>
          <p:nvSpPr>
            <p:cNvPr id="51" name="矩形 50">
              <a:extLst>
                <a:ext uri="{FF2B5EF4-FFF2-40B4-BE49-F238E27FC236}">
                  <a16:creationId xmlns:a16="http://schemas.microsoft.com/office/drawing/2014/main" id="{B2836D62-B7C6-D7DD-202C-D69517595706}"/>
                </a:ext>
              </a:extLst>
            </p:cNvPr>
            <p:cNvSpPr/>
            <p:nvPr/>
          </p:nvSpPr>
          <p:spPr>
            <a:xfrm>
              <a:off x="857250" y="3648075"/>
              <a:ext cx="4953000" cy="342900"/>
            </a:xfrm>
            <a:prstGeom prst="rect">
              <a:avLst/>
            </a:prstGeom>
            <a:solidFill>
              <a:srgbClr val="FEF3C7"/>
            </a:solidFill>
            <a:ln w="9525" cap="flat">
              <a:noFill/>
              <a:prstDash val="solid"/>
              <a:miter/>
            </a:ln>
          </p:spPr>
          <p:txBody>
            <a:bodyPr/>
            <a:lstStyle/>
            <a:p>
              <a:endParaRPr lang="zh-CN" altLang="en-US"/>
            </a:p>
          </p:txBody>
        </p:sp>
        <p:sp>
          <p:nvSpPr>
            <p:cNvPr id="52" name="文本框 51">
              <a:extLst>
                <a:ext uri="{FF2B5EF4-FFF2-40B4-BE49-F238E27FC236}">
                  <a16:creationId xmlns:a16="http://schemas.microsoft.com/office/drawing/2014/main" id="{E07050C5-22E9-8882-230F-A930C366BCCD}"/>
                </a:ext>
              </a:extLst>
            </p:cNvPr>
            <p:cNvSpPr txBox="1"/>
            <p:nvPr/>
          </p:nvSpPr>
          <p:spPr>
            <a:xfrm>
              <a:off x="929799" y="3711120"/>
              <a:ext cx="71215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2025-07-16</a:t>
              </a:r>
            </a:p>
          </p:txBody>
        </p:sp>
        <p:sp>
          <p:nvSpPr>
            <p:cNvPr id="53" name="文本框 52">
              <a:extLst>
                <a:ext uri="{FF2B5EF4-FFF2-40B4-BE49-F238E27FC236}">
                  <a16:creationId xmlns:a16="http://schemas.microsoft.com/office/drawing/2014/main" id="{449F19AD-B36A-447C-1D15-9D29AE32C222}"/>
                </a:ext>
              </a:extLst>
            </p:cNvPr>
            <p:cNvSpPr txBox="1"/>
            <p:nvPr/>
          </p:nvSpPr>
          <p:spPr>
            <a:xfrm>
              <a:off x="2099310" y="3711120"/>
              <a:ext cx="113538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重庆沁旭熊猫雷笋股份</a:t>
              </a:r>
            </a:p>
          </p:txBody>
        </p:sp>
        <p:sp>
          <p:nvSpPr>
            <p:cNvPr id="54" name="文本框 53">
              <a:extLst>
                <a:ext uri="{FF2B5EF4-FFF2-40B4-BE49-F238E27FC236}">
                  <a16:creationId xmlns:a16="http://schemas.microsoft.com/office/drawing/2014/main" id="{C6A89303-F9FB-E840-5555-EF56C9AE6066}"/>
                </a:ext>
              </a:extLst>
            </p:cNvPr>
            <p:cNvSpPr txBox="1"/>
            <p:nvPr/>
          </p:nvSpPr>
          <p:spPr>
            <a:xfrm>
              <a:off x="4004310" y="3711120"/>
              <a:ext cx="56388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私募基金</a:t>
              </a:r>
            </a:p>
          </p:txBody>
        </p:sp>
        <p:sp>
          <p:nvSpPr>
            <p:cNvPr id="55" name="文本框 54">
              <a:extLst>
                <a:ext uri="{FF2B5EF4-FFF2-40B4-BE49-F238E27FC236}">
                  <a16:creationId xmlns:a16="http://schemas.microsoft.com/office/drawing/2014/main" id="{22F4AB76-D945-DFB7-E874-272DCA496690}"/>
                </a:ext>
              </a:extLst>
            </p:cNvPr>
            <p:cNvSpPr txBox="1"/>
            <p:nvPr/>
          </p:nvSpPr>
          <p:spPr>
            <a:xfrm>
              <a:off x="4861560" y="3711120"/>
              <a:ext cx="563880" cy="217153"/>
            </a:xfrm>
            <a:prstGeom prst="rect">
              <a:avLst/>
            </a:prstGeom>
            <a:noFill/>
          </p:spPr>
          <p:txBody>
            <a:bodyPr wrap="none" rtlCol="0">
              <a:spAutoFit/>
            </a:bodyPr>
            <a:lstStyle/>
            <a:p>
              <a:pPr algn="l"/>
              <a:r>
                <a:rPr lang="zh-CN" altLang="en-US" sz="750" spc="0" baseline="0">
                  <a:ln/>
                  <a:solidFill>
                    <a:srgbClr val="F59E0B"/>
                  </a:solidFill>
                  <a:latin typeface="微软雅黑"/>
                  <a:ea typeface="微软雅黑"/>
                  <a:sym typeface="微软雅黑"/>
                  <a:rtl val="0"/>
                </a:rPr>
                <a:t>风险提示</a:t>
              </a:r>
            </a:p>
          </p:txBody>
        </p:sp>
        <p:sp>
          <p:nvSpPr>
            <p:cNvPr id="56" name="矩形 55">
              <a:extLst>
                <a:ext uri="{FF2B5EF4-FFF2-40B4-BE49-F238E27FC236}">
                  <a16:creationId xmlns:a16="http://schemas.microsoft.com/office/drawing/2014/main" id="{D0FC667C-B1A2-FC34-1E9F-BA6D35FF4D1F}"/>
                </a:ext>
              </a:extLst>
            </p:cNvPr>
            <p:cNvSpPr/>
            <p:nvPr/>
          </p:nvSpPr>
          <p:spPr>
            <a:xfrm>
              <a:off x="857250" y="3990975"/>
              <a:ext cx="4953000" cy="342900"/>
            </a:xfrm>
            <a:prstGeom prst="rect">
              <a:avLst/>
            </a:prstGeom>
            <a:solidFill>
              <a:srgbClr val="FFFFFF"/>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8B700879-5D0A-278D-B6D0-9F11BE55FA56}"/>
                </a:ext>
              </a:extLst>
            </p:cNvPr>
            <p:cNvSpPr txBox="1"/>
            <p:nvPr/>
          </p:nvSpPr>
          <p:spPr>
            <a:xfrm>
              <a:off x="929799" y="4054020"/>
              <a:ext cx="71215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2025-07-01</a:t>
              </a:r>
            </a:p>
          </p:txBody>
        </p:sp>
        <p:sp>
          <p:nvSpPr>
            <p:cNvPr id="58" name="文本框 57">
              <a:extLst>
                <a:ext uri="{FF2B5EF4-FFF2-40B4-BE49-F238E27FC236}">
                  <a16:creationId xmlns:a16="http://schemas.microsoft.com/office/drawing/2014/main" id="{5A03C7A5-14C4-36AF-927A-F35C461D2C0E}"/>
                </a:ext>
              </a:extLst>
            </p:cNvPr>
            <p:cNvSpPr txBox="1"/>
            <p:nvPr/>
          </p:nvSpPr>
          <p:spPr>
            <a:xfrm>
              <a:off x="2115122" y="4054020"/>
              <a:ext cx="1103754"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三五美国摩(重庆)发展</a:t>
              </a:r>
            </a:p>
          </p:txBody>
        </p:sp>
        <p:sp>
          <p:nvSpPr>
            <p:cNvPr id="59" name="文本框 58">
              <a:extLst>
                <a:ext uri="{FF2B5EF4-FFF2-40B4-BE49-F238E27FC236}">
                  <a16:creationId xmlns:a16="http://schemas.microsoft.com/office/drawing/2014/main" id="{1D1CCC2D-A13C-5659-8AF0-66569B99B33F}"/>
                </a:ext>
              </a:extLst>
            </p:cNvPr>
            <p:cNvSpPr txBox="1"/>
            <p:nvPr/>
          </p:nvSpPr>
          <p:spPr>
            <a:xfrm>
              <a:off x="4004310" y="4054020"/>
              <a:ext cx="56388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信托计划</a:t>
              </a:r>
            </a:p>
          </p:txBody>
        </p:sp>
        <p:sp>
          <p:nvSpPr>
            <p:cNvPr id="60" name="文本框 59">
              <a:extLst>
                <a:ext uri="{FF2B5EF4-FFF2-40B4-BE49-F238E27FC236}">
                  <a16:creationId xmlns:a16="http://schemas.microsoft.com/office/drawing/2014/main" id="{4326F4EF-6486-5114-387D-8D68CA7EF1D4}"/>
                </a:ext>
              </a:extLst>
            </p:cNvPr>
            <p:cNvSpPr txBox="1"/>
            <p:nvPr/>
          </p:nvSpPr>
          <p:spPr>
            <a:xfrm>
              <a:off x="4909185" y="4054020"/>
              <a:ext cx="468630" cy="217153"/>
            </a:xfrm>
            <a:prstGeom prst="rect">
              <a:avLst/>
            </a:prstGeom>
            <a:noFill/>
          </p:spPr>
          <p:txBody>
            <a:bodyPr wrap="none" rtlCol="0">
              <a:spAutoFit/>
            </a:bodyPr>
            <a:lstStyle/>
            <a:p>
              <a:pPr algn="l"/>
              <a:r>
                <a:rPr lang="zh-CN" altLang="en-US" sz="750" spc="0" baseline="0">
                  <a:ln/>
                  <a:solidFill>
                    <a:srgbClr val="E63946"/>
                  </a:solidFill>
                  <a:latin typeface="微软雅黑"/>
                  <a:ea typeface="微软雅黑"/>
                  <a:sym typeface="微软雅黑"/>
                  <a:rtl val="0"/>
                </a:rPr>
                <a:t>已违约</a:t>
              </a:r>
            </a:p>
          </p:txBody>
        </p:sp>
        <p:sp>
          <p:nvSpPr>
            <p:cNvPr id="61" name="矩形 60">
              <a:extLst>
                <a:ext uri="{FF2B5EF4-FFF2-40B4-BE49-F238E27FC236}">
                  <a16:creationId xmlns:a16="http://schemas.microsoft.com/office/drawing/2014/main" id="{69985FD1-A75F-0DC0-C789-A50A07876AE7}"/>
                </a:ext>
              </a:extLst>
            </p:cNvPr>
            <p:cNvSpPr/>
            <p:nvPr/>
          </p:nvSpPr>
          <p:spPr>
            <a:xfrm>
              <a:off x="857250" y="4333875"/>
              <a:ext cx="4953000" cy="342900"/>
            </a:xfrm>
            <a:prstGeom prst="rect">
              <a:avLst/>
            </a:prstGeom>
            <a:solidFill>
              <a:srgbClr val="FEF3C7"/>
            </a:solidFill>
            <a:ln w="9525" cap="flat">
              <a:noFill/>
              <a:prstDash val="solid"/>
              <a:miter/>
            </a:ln>
          </p:spPr>
          <p:txBody>
            <a:bodyPr/>
            <a:lstStyle/>
            <a:p>
              <a:endParaRPr lang="zh-CN" altLang="en-US"/>
            </a:p>
          </p:txBody>
        </p:sp>
        <p:sp>
          <p:nvSpPr>
            <p:cNvPr id="62" name="文本框 61">
              <a:extLst>
                <a:ext uri="{FF2B5EF4-FFF2-40B4-BE49-F238E27FC236}">
                  <a16:creationId xmlns:a16="http://schemas.microsoft.com/office/drawing/2014/main" id="{C5D9D50C-D5F0-94F6-A1DD-DF9C416E6F1A}"/>
                </a:ext>
              </a:extLst>
            </p:cNvPr>
            <p:cNvSpPr txBox="1"/>
            <p:nvPr/>
          </p:nvSpPr>
          <p:spPr>
            <a:xfrm>
              <a:off x="929799" y="4396920"/>
              <a:ext cx="71215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2025-04-25</a:t>
              </a:r>
            </a:p>
          </p:txBody>
        </p:sp>
        <p:sp>
          <p:nvSpPr>
            <p:cNvPr id="63" name="文本框 62">
              <a:extLst>
                <a:ext uri="{FF2B5EF4-FFF2-40B4-BE49-F238E27FC236}">
                  <a16:creationId xmlns:a16="http://schemas.microsoft.com/office/drawing/2014/main" id="{1DBD8E76-00BB-2E99-9372-65B14C583C46}"/>
                </a:ext>
              </a:extLst>
            </p:cNvPr>
            <p:cNvSpPr txBox="1"/>
            <p:nvPr/>
          </p:nvSpPr>
          <p:spPr>
            <a:xfrm>
              <a:off x="2146935" y="4396920"/>
              <a:ext cx="104013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重庆金兆禧实业发展</a:t>
              </a:r>
            </a:p>
          </p:txBody>
        </p:sp>
        <p:sp>
          <p:nvSpPr>
            <p:cNvPr id="64" name="文本框 63">
              <a:extLst>
                <a:ext uri="{FF2B5EF4-FFF2-40B4-BE49-F238E27FC236}">
                  <a16:creationId xmlns:a16="http://schemas.microsoft.com/office/drawing/2014/main" id="{E69A646C-82A6-7AD7-045C-E301C631F688}"/>
                </a:ext>
              </a:extLst>
            </p:cNvPr>
            <p:cNvSpPr txBox="1"/>
            <p:nvPr/>
          </p:nvSpPr>
          <p:spPr>
            <a:xfrm>
              <a:off x="4004310" y="4396920"/>
              <a:ext cx="563880" cy="217153"/>
            </a:xfrm>
            <a:prstGeom prst="rect">
              <a:avLst/>
            </a:prstGeom>
            <a:noFill/>
          </p:spPr>
          <p:txBody>
            <a:bodyPr wrap="none" rtlCol="0">
              <a:spAutoFit/>
            </a:bodyPr>
            <a:lstStyle/>
            <a:p>
              <a:pPr algn="l"/>
              <a:r>
                <a:rPr lang="zh-CN" altLang="en-US" sz="750" spc="0" baseline="0">
                  <a:ln/>
                  <a:solidFill>
                    <a:srgbClr val="334155"/>
                  </a:solidFill>
                  <a:latin typeface="微软雅黑"/>
                  <a:ea typeface="微软雅黑"/>
                  <a:sym typeface="微软雅黑"/>
                  <a:rtl val="0"/>
                </a:rPr>
                <a:t>信托计划</a:t>
              </a:r>
            </a:p>
          </p:txBody>
        </p:sp>
        <p:sp>
          <p:nvSpPr>
            <p:cNvPr id="65" name="文本框 64">
              <a:extLst>
                <a:ext uri="{FF2B5EF4-FFF2-40B4-BE49-F238E27FC236}">
                  <a16:creationId xmlns:a16="http://schemas.microsoft.com/office/drawing/2014/main" id="{4A9CB84A-A275-0C34-D3BC-2366BB43B9A7}"/>
                </a:ext>
              </a:extLst>
            </p:cNvPr>
            <p:cNvSpPr txBox="1"/>
            <p:nvPr/>
          </p:nvSpPr>
          <p:spPr>
            <a:xfrm>
              <a:off x="4909185" y="4396920"/>
              <a:ext cx="468630" cy="217153"/>
            </a:xfrm>
            <a:prstGeom prst="rect">
              <a:avLst/>
            </a:prstGeom>
            <a:noFill/>
          </p:spPr>
          <p:txBody>
            <a:bodyPr wrap="none" rtlCol="0">
              <a:spAutoFit/>
            </a:bodyPr>
            <a:lstStyle/>
            <a:p>
              <a:pPr algn="l"/>
              <a:r>
                <a:rPr lang="zh-CN" altLang="en-US" sz="750" spc="0" baseline="0">
                  <a:ln/>
                  <a:solidFill>
                    <a:srgbClr val="E63946"/>
                  </a:solidFill>
                  <a:latin typeface="微软雅黑"/>
                  <a:ea typeface="微软雅黑"/>
                  <a:sym typeface="微软雅黑"/>
                  <a:rtl val="0"/>
                </a:rPr>
                <a:t>已违约</a:t>
              </a:r>
            </a:p>
          </p:txBody>
        </p:sp>
        <p:sp>
          <p:nvSpPr>
            <p:cNvPr id="66" name="任意形状 65">
              <a:extLst>
                <a:ext uri="{FF2B5EF4-FFF2-40B4-BE49-F238E27FC236}">
                  <a16:creationId xmlns:a16="http://schemas.microsoft.com/office/drawing/2014/main" id="{FA17F399-4305-ABA0-4379-635F849E2097}"/>
                </a:ext>
              </a:extLst>
            </p:cNvPr>
            <p:cNvSpPr/>
            <p:nvPr/>
          </p:nvSpPr>
          <p:spPr>
            <a:xfrm>
              <a:off x="857250" y="4762500"/>
              <a:ext cx="4953000" cy="238125"/>
            </a:xfrm>
            <a:custGeom>
              <a:avLst/>
              <a:gdLst>
                <a:gd name="csX0" fmla="*/ 38100 w 4953000"/>
                <a:gd name="csY0" fmla="*/ 0 h 238125"/>
                <a:gd name="csX1" fmla="*/ 4914900 w 4953000"/>
                <a:gd name="csY1" fmla="*/ 0 h 238125"/>
                <a:gd name="csX2" fmla="*/ 4953000 w 4953000"/>
                <a:gd name="csY2" fmla="*/ 38100 h 238125"/>
                <a:gd name="csX3" fmla="*/ 4953000 w 4953000"/>
                <a:gd name="csY3" fmla="*/ 200025 h 238125"/>
                <a:gd name="csX4" fmla="*/ 4914900 w 4953000"/>
                <a:gd name="csY4" fmla="*/ 238125 h 238125"/>
                <a:gd name="csX5" fmla="*/ 38100 w 4953000"/>
                <a:gd name="csY5" fmla="*/ 238125 h 238125"/>
                <a:gd name="csX6" fmla="*/ 0 w 4953000"/>
                <a:gd name="csY6" fmla="*/ 200025 h 238125"/>
                <a:gd name="csX7" fmla="*/ 0 w 4953000"/>
                <a:gd name="csY7" fmla="*/ 38100 h 238125"/>
                <a:gd name="csX8" fmla="*/ 38100 w 4953000"/>
                <a:gd name="csY8" fmla="*/ 0 h 238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53000" h="238125">
                  <a:moveTo>
                    <a:pt x="38100" y="0"/>
                  </a:moveTo>
                  <a:lnTo>
                    <a:pt x="4914900" y="0"/>
                  </a:lnTo>
                  <a:cubicBezTo>
                    <a:pt x="4935943" y="0"/>
                    <a:pt x="4953000" y="17058"/>
                    <a:pt x="4953000" y="38100"/>
                  </a:cubicBezTo>
                  <a:lnTo>
                    <a:pt x="4953000" y="200025"/>
                  </a:lnTo>
                  <a:cubicBezTo>
                    <a:pt x="4953000" y="221067"/>
                    <a:pt x="4935943" y="238125"/>
                    <a:pt x="4914900" y="238125"/>
                  </a:cubicBezTo>
                  <a:lnTo>
                    <a:pt x="38100" y="238125"/>
                  </a:lnTo>
                  <a:cubicBezTo>
                    <a:pt x="17058" y="238125"/>
                    <a:pt x="0" y="221067"/>
                    <a:pt x="0" y="200025"/>
                  </a:cubicBezTo>
                  <a:lnTo>
                    <a:pt x="0" y="38100"/>
                  </a:lnTo>
                  <a:cubicBezTo>
                    <a:pt x="0" y="17058"/>
                    <a:pt x="17058" y="0"/>
                    <a:pt x="38100" y="0"/>
                  </a:cubicBezTo>
                  <a:close/>
                </a:path>
              </a:pathLst>
            </a:custGeom>
            <a:solidFill>
              <a:srgbClr val="EBF4FF"/>
            </a:solidFill>
            <a:ln w="9525" cap="flat">
              <a:noFill/>
              <a:prstDash val="solid"/>
              <a:miter/>
            </a:ln>
          </p:spPr>
          <p:txBody>
            <a:bodyPr/>
            <a:lstStyle/>
            <a:p>
              <a:endParaRPr lang="zh-CN" altLang="en-US"/>
            </a:p>
          </p:txBody>
        </p:sp>
        <p:sp>
          <p:nvSpPr>
            <p:cNvPr id="67" name="文本框 66">
              <a:extLst>
                <a:ext uri="{FF2B5EF4-FFF2-40B4-BE49-F238E27FC236}">
                  <a16:creationId xmlns:a16="http://schemas.microsoft.com/office/drawing/2014/main" id="{6512FC7C-FDF6-444F-0DAA-35400D28E10B}"/>
                </a:ext>
              </a:extLst>
            </p:cNvPr>
            <p:cNvSpPr txBox="1"/>
            <p:nvPr/>
          </p:nvSpPr>
          <p:spPr>
            <a:xfrm>
              <a:off x="1917121" y="4767841"/>
              <a:ext cx="2833257" cy="235045"/>
            </a:xfrm>
            <a:prstGeom prst="rect">
              <a:avLst/>
            </a:prstGeom>
            <a:noFill/>
          </p:spPr>
          <p:txBody>
            <a:bodyPr wrap="none" rtlCol="0">
              <a:spAutoFit/>
            </a:bodyPr>
            <a:lstStyle/>
            <a:p>
              <a:pPr algn="l"/>
              <a:r>
                <a:rPr lang="zh-CN" altLang="en-US" sz="825" spc="0" baseline="0">
                  <a:ln/>
                  <a:solidFill>
                    <a:srgbClr val="4A90D9"/>
                  </a:solidFill>
                  <a:latin typeface="Apple Color Emoji"/>
                  <a:ea typeface="Apple Color Emoji"/>
                  <a:sym typeface="Apple Color Emoji"/>
                  <a:rtl val="0"/>
                </a:rPr>
                <a:t>💡</a:t>
              </a:r>
              <a:r>
                <a:rPr lang="zh-CN" altLang="en-US" sz="825" spc="0" baseline="0">
                  <a:ln/>
                  <a:solidFill>
                    <a:srgbClr val="4A90D9"/>
                  </a:solidFill>
                  <a:latin typeface="微软雅黑"/>
                  <a:ea typeface="微软雅黑"/>
                  <a:sym typeface="微软雅黑"/>
                  <a:rtl val="0"/>
                </a:rPr>
                <a:t> 非标风险主要集中于房地产相关企业，城投非标零违约</a:t>
              </a:r>
            </a:p>
          </p:txBody>
        </p:sp>
      </p:grpSp>
      <p:grpSp>
        <p:nvGrpSpPr>
          <p:cNvPr id="68" name="SVG Image 16">
            <a:extLst>
              <a:ext uri="{FF2B5EF4-FFF2-40B4-BE49-F238E27FC236}">
                <a16:creationId xmlns:a16="http://schemas.microsoft.com/office/drawing/2014/main" id="{54B25136-9EC8-D53F-BB7F-F740D1C4D64E}"/>
              </a:ext>
            </a:extLst>
          </p:cNvPr>
          <p:cNvGrpSpPr/>
          <p:nvPr/>
        </p:nvGrpSpPr>
        <p:grpSpPr>
          <a:xfrm>
            <a:off x="6286500" y="2667000"/>
            <a:ext cx="5334000" cy="2381250"/>
            <a:chOff x="6286500" y="2667000"/>
            <a:chExt cx="5334000" cy="2381250"/>
          </a:xfrm>
        </p:grpSpPr>
        <p:sp>
          <p:nvSpPr>
            <p:cNvPr id="69" name="任意形状 68">
              <a:extLst>
                <a:ext uri="{FF2B5EF4-FFF2-40B4-BE49-F238E27FC236}">
                  <a16:creationId xmlns:a16="http://schemas.microsoft.com/office/drawing/2014/main" id="{84F2B003-EA86-DED4-29D2-4AC24D960D8F}"/>
                </a:ext>
              </a:extLst>
            </p:cNvPr>
            <p:cNvSpPr/>
            <p:nvPr/>
          </p:nvSpPr>
          <p:spPr>
            <a:xfrm>
              <a:off x="6286500" y="2667000"/>
              <a:ext cx="5334000" cy="2381250"/>
            </a:xfrm>
            <a:custGeom>
              <a:avLst/>
              <a:gdLst>
                <a:gd name="csX0" fmla="*/ 76200 w 5334000"/>
                <a:gd name="csY0" fmla="*/ 0 h 2381250"/>
                <a:gd name="csX1" fmla="*/ 5257800 w 5334000"/>
                <a:gd name="csY1" fmla="*/ 0 h 2381250"/>
                <a:gd name="csX2" fmla="*/ 5334000 w 5334000"/>
                <a:gd name="csY2" fmla="*/ 76200 h 2381250"/>
                <a:gd name="csX3" fmla="*/ 5334000 w 5334000"/>
                <a:gd name="csY3" fmla="*/ 2305050 h 2381250"/>
                <a:gd name="csX4" fmla="*/ 5257800 w 5334000"/>
                <a:gd name="csY4" fmla="*/ 2381250 h 2381250"/>
                <a:gd name="csX5" fmla="*/ 76200 w 5334000"/>
                <a:gd name="csY5" fmla="*/ 2381250 h 2381250"/>
                <a:gd name="csX6" fmla="*/ 0 w 5334000"/>
                <a:gd name="csY6" fmla="*/ 2305050 h 2381250"/>
                <a:gd name="csX7" fmla="*/ 0 w 5334000"/>
                <a:gd name="csY7" fmla="*/ 76200 h 2381250"/>
                <a:gd name="csX8" fmla="*/ 76200 w 5334000"/>
                <a:gd name="csY8" fmla="*/ 0 h 2381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2381250">
                  <a:moveTo>
                    <a:pt x="76200" y="0"/>
                  </a:moveTo>
                  <a:lnTo>
                    <a:pt x="5257800" y="0"/>
                  </a:lnTo>
                  <a:cubicBezTo>
                    <a:pt x="5299885" y="0"/>
                    <a:pt x="5334000" y="34116"/>
                    <a:pt x="5334000" y="76200"/>
                  </a:cubicBezTo>
                  <a:lnTo>
                    <a:pt x="5334000" y="2305050"/>
                  </a:lnTo>
                  <a:cubicBezTo>
                    <a:pt x="5334000" y="2347134"/>
                    <a:pt x="5299885" y="2381250"/>
                    <a:pt x="5257800" y="2381250"/>
                  </a:cubicBezTo>
                  <a:lnTo>
                    <a:pt x="76200" y="2381250"/>
                  </a:lnTo>
                  <a:cubicBezTo>
                    <a:pt x="34116" y="2381250"/>
                    <a:pt x="0" y="2347134"/>
                    <a:pt x="0" y="230505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70" name="文本框 69">
              <a:extLst>
                <a:ext uri="{FF2B5EF4-FFF2-40B4-BE49-F238E27FC236}">
                  <a16:creationId xmlns:a16="http://schemas.microsoft.com/office/drawing/2014/main" id="{145F30D1-FFA0-5052-5C3A-E1DDC7BD5DD6}"/>
                </a:ext>
              </a:extLst>
            </p:cNvPr>
            <p:cNvSpPr txBox="1"/>
            <p:nvPr/>
          </p:nvSpPr>
          <p:spPr>
            <a:xfrm>
              <a:off x="6480810" y="2793399"/>
              <a:ext cx="14020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票据逾期行业分布</a:t>
              </a:r>
            </a:p>
          </p:txBody>
        </p:sp>
        <p:sp>
          <p:nvSpPr>
            <p:cNvPr id="71" name="文本框 70">
              <a:extLst>
                <a:ext uri="{FF2B5EF4-FFF2-40B4-BE49-F238E27FC236}">
                  <a16:creationId xmlns:a16="http://schemas.microsoft.com/office/drawing/2014/main" id="{C8B11A0D-651D-F35F-EEA7-3FE670CABFD1}"/>
                </a:ext>
              </a:extLst>
            </p:cNvPr>
            <p:cNvSpPr txBox="1"/>
            <p:nvPr/>
          </p:nvSpPr>
          <p:spPr>
            <a:xfrm>
              <a:off x="6480810" y="3081916"/>
              <a:ext cx="970636"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截至2025年11月</a:t>
              </a:r>
            </a:p>
          </p:txBody>
        </p:sp>
        <p:sp>
          <p:nvSpPr>
            <p:cNvPr id="72" name="文本框 71">
              <a:extLst>
                <a:ext uri="{FF2B5EF4-FFF2-40B4-BE49-F238E27FC236}">
                  <a16:creationId xmlns:a16="http://schemas.microsoft.com/office/drawing/2014/main" id="{35AF5A4B-ADBD-9521-1840-1EBE1552EBBC}"/>
                </a:ext>
              </a:extLst>
            </p:cNvPr>
            <p:cNvSpPr txBox="1"/>
            <p:nvPr/>
          </p:nvSpPr>
          <p:spPr>
            <a:xfrm>
              <a:off x="6480810" y="345283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房地产业</a:t>
              </a:r>
            </a:p>
          </p:txBody>
        </p:sp>
        <p:sp>
          <p:nvSpPr>
            <p:cNvPr id="73" name="任意形状 72">
              <a:extLst>
                <a:ext uri="{FF2B5EF4-FFF2-40B4-BE49-F238E27FC236}">
                  <a16:creationId xmlns:a16="http://schemas.microsoft.com/office/drawing/2014/main" id="{B39A968F-9069-6DF9-B4FE-7E09256D3994}"/>
                </a:ext>
              </a:extLst>
            </p:cNvPr>
            <p:cNvSpPr/>
            <p:nvPr/>
          </p:nvSpPr>
          <p:spPr>
            <a:xfrm>
              <a:off x="7620000" y="3476625"/>
              <a:ext cx="3333750" cy="209550"/>
            </a:xfrm>
            <a:custGeom>
              <a:avLst/>
              <a:gdLst>
                <a:gd name="csX0" fmla="*/ 38100 w 3333750"/>
                <a:gd name="csY0" fmla="*/ 0 h 209550"/>
                <a:gd name="csX1" fmla="*/ 3295650 w 3333750"/>
                <a:gd name="csY1" fmla="*/ 0 h 209550"/>
                <a:gd name="csX2" fmla="*/ 3333750 w 3333750"/>
                <a:gd name="csY2" fmla="*/ 38100 h 209550"/>
                <a:gd name="csX3" fmla="*/ 3333750 w 3333750"/>
                <a:gd name="csY3" fmla="*/ 171450 h 209550"/>
                <a:gd name="csX4" fmla="*/ 3295650 w 3333750"/>
                <a:gd name="csY4" fmla="*/ 209550 h 209550"/>
                <a:gd name="csX5" fmla="*/ 38100 w 3333750"/>
                <a:gd name="csY5" fmla="*/ 209550 h 209550"/>
                <a:gd name="csX6" fmla="*/ 0 w 3333750"/>
                <a:gd name="csY6" fmla="*/ 171450 h 209550"/>
                <a:gd name="csX7" fmla="*/ 0 w 3333750"/>
                <a:gd name="csY7" fmla="*/ 38100 h 209550"/>
                <a:gd name="csX8" fmla="*/ 38100 w 333375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209550">
                  <a:moveTo>
                    <a:pt x="38100" y="0"/>
                  </a:moveTo>
                  <a:lnTo>
                    <a:pt x="3295650" y="0"/>
                  </a:lnTo>
                  <a:cubicBezTo>
                    <a:pt x="3316692" y="0"/>
                    <a:pt x="3333750" y="17058"/>
                    <a:pt x="3333750" y="38100"/>
                  </a:cubicBezTo>
                  <a:lnTo>
                    <a:pt x="3333750" y="171450"/>
                  </a:lnTo>
                  <a:cubicBezTo>
                    <a:pt x="3333750" y="192492"/>
                    <a:pt x="3316692" y="209550"/>
                    <a:pt x="329565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74" name="任意形状 73">
              <a:extLst>
                <a:ext uri="{FF2B5EF4-FFF2-40B4-BE49-F238E27FC236}">
                  <a16:creationId xmlns:a16="http://schemas.microsoft.com/office/drawing/2014/main" id="{A15069CD-A881-CD06-57CE-9DA8BABD4FC6}"/>
                </a:ext>
              </a:extLst>
            </p:cNvPr>
            <p:cNvSpPr/>
            <p:nvPr/>
          </p:nvSpPr>
          <p:spPr>
            <a:xfrm>
              <a:off x="7620000" y="3476625"/>
              <a:ext cx="2762250" cy="209550"/>
            </a:xfrm>
            <a:custGeom>
              <a:avLst/>
              <a:gdLst>
                <a:gd name="csX0" fmla="*/ 38100 w 2762250"/>
                <a:gd name="csY0" fmla="*/ 0 h 209550"/>
                <a:gd name="csX1" fmla="*/ 2724150 w 2762250"/>
                <a:gd name="csY1" fmla="*/ 0 h 209550"/>
                <a:gd name="csX2" fmla="*/ 2762250 w 2762250"/>
                <a:gd name="csY2" fmla="*/ 38100 h 209550"/>
                <a:gd name="csX3" fmla="*/ 2762250 w 2762250"/>
                <a:gd name="csY3" fmla="*/ 171450 h 209550"/>
                <a:gd name="csX4" fmla="*/ 2724150 w 2762250"/>
                <a:gd name="csY4" fmla="*/ 209550 h 209550"/>
                <a:gd name="csX5" fmla="*/ 38100 w 2762250"/>
                <a:gd name="csY5" fmla="*/ 209550 h 209550"/>
                <a:gd name="csX6" fmla="*/ 0 w 2762250"/>
                <a:gd name="csY6" fmla="*/ 171450 h 209550"/>
                <a:gd name="csX7" fmla="*/ 0 w 2762250"/>
                <a:gd name="csY7" fmla="*/ 38100 h 209550"/>
                <a:gd name="csX8" fmla="*/ 38100 w 276225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62250" h="209550">
                  <a:moveTo>
                    <a:pt x="38100" y="0"/>
                  </a:moveTo>
                  <a:lnTo>
                    <a:pt x="2724150" y="0"/>
                  </a:lnTo>
                  <a:cubicBezTo>
                    <a:pt x="2745192" y="0"/>
                    <a:pt x="2762250" y="17058"/>
                    <a:pt x="2762250" y="38100"/>
                  </a:cubicBezTo>
                  <a:lnTo>
                    <a:pt x="2762250" y="171450"/>
                  </a:lnTo>
                  <a:cubicBezTo>
                    <a:pt x="2762250" y="192492"/>
                    <a:pt x="2745192" y="209550"/>
                    <a:pt x="2724150" y="209550"/>
                  </a:cubicBezTo>
                  <a:lnTo>
                    <a:pt x="38100" y="209550"/>
                  </a:lnTo>
                  <a:cubicBezTo>
                    <a:pt x="17058" y="209550"/>
                    <a:pt x="0" y="192492"/>
                    <a:pt x="0" y="171450"/>
                  </a:cubicBezTo>
                  <a:lnTo>
                    <a:pt x="0" y="38100"/>
                  </a:lnTo>
                  <a:cubicBezTo>
                    <a:pt x="0" y="17058"/>
                    <a:pt x="17058" y="0"/>
                    <a:pt x="38100" y="0"/>
                  </a:cubicBezTo>
                  <a:close/>
                </a:path>
              </a:pathLst>
            </a:custGeom>
            <a:solidFill>
              <a:srgbClr val="E63946"/>
            </a:solidFill>
            <a:ln w="9525" cap="flat">
              <a:noFill/>
              <a:prstDash val="solid"/>
              <a:miter/>
            </a:ln>
          </p:spPr>
          <p:txBody>
            <a:bodyPr/>
            <a:lstStyle/>
            <a:p>
              <a:endParaRPr lang="zh-CN" altLang="en-US"/>
            </a:p>
          </p:txBody>
        </p:sp>
        <p:sp>
          <p:nvSpPr>
            <p:cNvPr id="75" name="文本框 74">
              <a:extLst>
                <a:ext uri="{FF2B5EF4-FFF2-40B4-BE49-F238E27FC236}">
                  <a16:creationId xmlns:a16="http://schemas.microsoft.com/office/drawing/2014/main" id="{B6956EAE-C0F4-8BDC-BB09-EA23712CA90C}"/>
                </a:ext>
              </a:extLst>
            </p:cNvPr>
            <p:cNvSpPr txBox="1"/>
            <p:nvPr/>
          </p:nvSpPr>
          <p:spPr>
            <a:xfrm>
              <a:off x="10433685" y="3472441"/>
              <a:ext cx="1234006" cy="229724"/>
            </a:xfrm>
            <a:prstGeom prst="rect">
              <a:avLst/>
            </a:prstGeom>
            <a:noFill/>
          </p:spPr>
          <p:txBody>
            <a:bodyPr wrap="none" rtlCol="0">
              <a:spAutoFit/>
            </a:bodyPr>
            <a:lstStyle/>
            <a:p>
              <a:pPr algn="l"/>
              <a:r>
                <a:rPr lang="zh-CN" altLang="en-US" sz="825" b="1" spc="0" baseline="0">
                  <a:ln/>
                  <a:solidFill>
                    <a:srgbClr val="E63946"/>
                  </a:solidFill>
                  <a:latin typeface="微软雅黑"/>
                  <a:ea typeface="微软雅黑"/>
                  <a:sym typeface="微软雅黑"/>
                  <a:rtl val="0"/>
                </a:rPr>
                <a:t>34,418.99万 (82.8%)</a:t>
              </a:r>
            </a:p>
          </p:txBody>
        </p:sp>
        <p:sp>
          <p:nvSpPr>
            <p:cNvPr id="76" name="文本框 75">
              <a:extLst>
                <a:ext uri="{FF2B5EF4-FFF2-40B4-BE49-F238E27FC236}">
                  <a16:creationId xmlns:a16="http://schemas.microsoft.com/office/drawing/2014/main" id="{2BEB76A5-7AD4-E48F-3346-D9622FB13482}"/>
                </a:ext>
              </a:extLst>
            </p:cNvPr>
            <p:cNvSpPr txBox="1"/>
            <p:nvPr/>
          </p:nvSpPr>
          <p:spPr>
            <a:xfrm>
              <a:off x="6480810" y="383383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批发零售</a:t>
              </a:r>
            </a:p>
          </p:txBody>
        </p:sp>
        <p:sp>
          <p:nvSpPr>
            <p:cNvPr id="77" name="任意形状 76">
              <a:extLst>
                <a:ext uri="{FF2B5EF4-FFF2-40B4-BE49-F238E27FC236}">
                  <a16:creationId xmlns:a16="http://schemas.microsoft.com/office/drawing/2014/main" id="{39F5BA1C-3708-72C2-1321-3F5A165EB179}"/>
                </a:ext>
              </a:extLst>
            </p:cNvPr>
            <p:cNvSpPr/>
            <p:nvPr/>
          </p:nvSpPr>
          <p:spPr>
            <a:xfrm>
              <a:off x="7620000" y="3857625"/>
              <a:ext cx="3333750" cy="209550"/>
            </a:xfrm>
            <a:custGeom>
              <a:avLst/>
              <a:gdLst>
                <a:gd name="csX0" fmla="*/ 38100 w 3333750"/>
                <a:gd name="csY0" fmla="*/ 0 h 209550"/>
                <a:gd name="csX1" fmla="*/ 3295650 w 3333750"/>
                <a:gd name="csY1" fmla="*/ 0 h 209550"/>
                <a:gd name="csX2" fmla="*/ 3333750 w 3333750"/>
                <a:gd name="csY2" fmla="*/ 38100 h 209550"/>
                <a:gd name="csX3" fmla="*/ 3333750 w 3333750"/>
                <a:gd name="csY3" fmla="*/ 171450 h 209550"/>
                <a:gd name="csX4" fmla="*/ 3295650 w 3333750"/>
                <a:gd name="csY4" fmla="*/ 209550 h 209550"/>
                <a:gd name="csX5" fmla="*/ 38100 w 3333750"/>
                <a:gd name="csY5" fmla="*/ 209550 h 209550"/>
                <a:gd name="csX6" fmla="*/ 0 w 3333750"/>
                <a:gd name="csY6" fmla="*/ 171450 h 209550"/>
                <a:gd name="csX7" fmla="*/ 0 w 3333750"/>
                <a:gd name="csY7" fmla="*/ 38100 h 209550"/>
                <a:gd name="csX8" fmla="*/ 38100 w 333375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209550">
                  <a:moveTo>
                    <a:pt x="38100" y="0"/>
                  </a:moveTo>
                  <a:lnTo>
                    <a:pt x="3295650" y="0"/>
                  </a:lnTo>
                  <a:cubicBezTo>
                    <a:pt x="3316692" y="0"/>
                    <a:pt x="3333750" y="17058"/>
                    <a:pt x="3333750" y="38100"/>
                  </a:cubicBezTo>
                  <a:lnTo>
                    <a:pt x="3333750" y="171450"/>
                  </a:lnTo>
                  <a:cubicBezTo>
                    <a:pt x="3333750" y="192492"/>
                    <a:pt x="3316692" y="209550"/>
                    <a:pt x="329565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78" name="任意形状 77">
              <a:extLst>
                <a:ext uri="{FF2B5EF4-FFF2-40B4-BE49-F238E27FC236}">
                  <a16:creationId xmlns:a16="http://schemas.microsoft.com/office/drawing/2014/main" id="{B7FFBDA9-035B-B8B6-3E2C-A2FC1B6E6AEC}"/>
                </a:ext>
              </a:extLst>
            </p:cNvPr>
            <p:cNvSpPr/>
            <p:nvPr/>
          </p:nvSpPr>
          <p:spPr>
            <a:xfrm>
              <a:off x="7620000" y="3857625"/>
              <a:ext cx="333375" cy="209550"/>
            </a:xfrm>
            <a:custGeom>
              <a:avLst/>
              <a:gdLst>
                <a:gd name="csX0" fmla="*/ 38100 w 333375"/>
                <a:gd name="csY0" fmla="*/ 0 h 209550"/>
                <a:gd name="csX1" fmla="*/ 295275 w 333375"/>
                <a:gd name="csY1" fmla="*/ 0 h 209550"/>
                <a:gd name="csX2" fmla="*/ 333375 w 333375"/>
                <a:gd name="csY2" fmla="*/ 38100 h 209550"/>
                <a:gd name="csX3" fmla="*/ 333375 w 333375"/>
                <a:gd name="csY3" fmla="*/ 171450 h 209550"/>
                <a:gd name="csX4" fmla="*/ 295275 w 333375"/>
                <a:gd name="csY4" fmla="*/ 209550 h 209550"/>
                <a:gd name="csX5" fmla="*/ 38100 w 333375"/>
                <a:gd name="csY5" fmla="*/ 209550 h 209550"/>
                <a:gd name="csX6" fmla="*/ 0 w 333375"/>
                <a:gd name="csY6" fmla="*/ 171450 h 209550"/>
                <a:gd name="csX7" fmla="*/ 0 w 333375"/>
                <a:gd name="csY7" fmla="*/ 38100 h 209550"/>
                <a:gd name="csX8" fmla="*/ 38100 w 33337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 h="209550">
                  <a:moveTo>
                    <a:pt x="38100" y="0"/>
                  </a:moveTo>
                  <a:lnTo>
                    <a:pt x="295275" y="0"/>
                  </a:lnTo>
                  <a:cubicBezTo>
                    <a:pt x="316317" y="0"/>
                    <a:pt x="333375" y="17058"/>
                    <a:pt x="333375" y="38100"/>
                  </a:cubicBezTo>
                  <a:lnTo>
                    <a:pt x="333375" y="171450"/>
                  </a:lnTo>
                  <a:cubicBezTo>
                    <a:pt x="333375" y="192492"/>
                    <a:pt x="316317" y="209550"/>
                    <a:pt x="295275" y="209550"/>
                  </a:cubicBezTo>
                  <a:lnTo>
                    <a:pt x="38100" y="209550"/>
                  </a:lnTo>
                  <a:cubicBezTo>
                    <a:pt x="17058" y="209550"/>
                    <a:pt x="0" y="192492"/>
                    <a:pt x="0" y="171450"/>
                  </a:cubicBezTo>
                  <a:lnTo>
                    <a:pt x="0" y="38100"/>
                  </a:lnTo>
                  <a:cubicBezTo>
                    <a:pt x="0" y="17058"/>
                    <a:pt x="17058" y="0"/>
                    <a:pt x="38100" y="0"/>
                  </a:cubicBezTo>
                  <a:close/>
                </a:path>
              </a:pathLst>
            </a:custGeom>
            <a:solidFill>
              <a:srgbClr val="F59E0B"/>
            </a:solidFill>
            <a:ln w="9525" cap="flat">
              <a:noFill/>
              <a:prstDash val="solid"/>
              <a:miter/>
            </a:ln>
          </p:spPr>
          <p:txBody>
            <a:bodyPr/>
            <a:lstStyle/>
            <a:p>
              <a:endParaRPr lang="zh-CN" altLang="en-US"/>
            </a:p>
          </p:txBody>
        </p:sp>
        <p:sp>
          <p:nvSpPr>
            <p:cNvPr id="79" name="文本框 78">
              <a:extLst>
                <a:ext uri="{FF2B5EF4-FFF2-40B4-BE49-F238E27FC236}">
                  <a16:creationId xmlns:a16="http://schemas.microsoft.com/office/drawing/2014/main" id="{16C87C7C-D24A-D5B2-21B1-7BDA927F4865}"/>
                </a:ext>
              </a:extLst>
            </p:cNvPr>
            <p:cNvSpPr txBox="1"/>
            <p:nvPr/>
          </p:nvSpPr>
          <p:spPr>
            <a:xfrm>
              <a:off x="7957185" y="3853441"/>
              <a:ext cx="55864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3,500万</a:t>
              </a:r>
            </a:p>
          </p:txBody>
        </p:sp>
        <p:sp>
          <p:nvSpPr>
            <p:cNvPr id="80" name="文本框 79">
              <a:extLst>
                <a:ext uri="{FF2B5EF4-FFF2-40B4-BE49-F238E27FC236}">
                  <a16:creationId xmlns:a16="http://schemas.microsoft.com/office/drawing/2014/main" id="{1693EA34-4D33-D1E4-2AF7-E12725A7777E}"/>
                </a:ext>
              </a:extLst>
            </p:cNvPr>
            <p:cNvSpPr txBox="1"/>
            <p:nvPr/>
          </p:nvSpPr>
          <p:spPr>
            <a:xfrm>
              <a:off x="6480810" y="4214838"/>
              <a:ext cx="5257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制造业</a:t>
              </a:r>
            </a:p>
          </p:txBody>
        </p:sp>
        <p:sp>
          <p:nvSpPr>
            <p:cNvPr id="81" name="任意形状 80">
              <a:extLst>
                <a:ext uri="{FF2B5EF4-FFF2-40B4-BE49-F238E27FC236}">
                  <a16:creationId xmlns:a16="http://schemas.microsoft.com/office/drawing/2014/main" id="{67131584-ED0E-0A03-75DF-88BC9246892F}"/>
                </a:ext>
              </a:extLst>
            </p:cNvPr>
            <p:cNvSpPr/>
            <p:nvPr/>
          </p:nvSpPr>
          <p:spPr>
            <a:xfrm>
              <a:off x="7620000" y="4238625"/>
              <a:ext cx="3333750" cy="209550"/>
            </a:xfrm>
            <a:custGeom>
              <a:avLst/>
              <a:gdLst>
                <a:gd name="csX0" fmla="*/ 38100 w 3333750"/>
                <a:gd name="csY0" fmla="*/ 0 h 209550"/>
                <a:gd name="csX1" fmla="*/ 3295650 w 3333750"/>
                <a:gd name="csY1" fmla="*/ 0 h 209550"/>
                <a:gd name="csX2" fmla="*/ 3333750 w 3333750"/>
                <a:gd name="csY2" fmla="*/ 38100 h 209550"/>
                <a:gd name="csX3" fmla="*/ 3333750 w 3333750"/>
                <a:gd name="csY3" fmla="*/ 171450 h 209550"/>
                <a:gd name="csX4" fmla="*/ 3295650 w 3333750"/>
                <a:gd name="csY4" fmla="*/ 209550 h 209550"/>
                <a:gd name="csX5" fmla="*/ 38100 w 3333750"/>
                <a:gd name="csY5" fmla="*/ 209550 h 209550"/>
                <a:gd name="csX6" fmla="*/ 0 w 3333750"/>
                <a:gd name="csY6" fmla="*/ 171450 h 209550"/>
                <a:gd name="csX7" fmla="*/ 0 w 3333750"/>
                <a:gd name="csY7" fmla="*/ 38100 h 209550"/>
                <a:gd name="csX8" fmla="*/ 38100 w 333375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209550">
                  <a:moveTo>
                    <a:pt x="38100" y="0"/>
                  </a:moveTo>
                  <a:lnTo>
                    <a:pt x="3295650" y="0"/>
                  </a:lnTo>
                  <a:cubicBezTo>
                    <a:pt x="3316692" y="0"/>
                    <a:pt x="3333750" y="17058"/>
                    <a:pt x="3333750" y="38100"/>
                  </a:cubicBezTo>
                  <a:lnTo>
                    <a:pt x="3333750" y="171450"/>
                  </a:lnTo>
                  <a:cubicBezTo>
                    <a:pt x="3333750" y="192492"/>
                    <a:pt x="3316692" y="209550"/>
                    <a:pt x="329565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82" name="任意形状 81">
              <a:extLst>
                <a:ext uri="{FF2B5EF4-FFF2-40B4-BE49-F238E27FC236}">
                  <a16:creationId xmlns:a16="http://schemas.microsoft.com/office/drawing/2014/main" id="{56C11045-D3C5-85A7-A6C6-ABA2CF0456FC}"/>
                </a:ext>
              </a:extLst>
            </p:cNvPr>
            <p:cNvSpPr/>
            <p:nvPr/>
          </p:nvSpPr>
          <p:spPr>
            <a:xfrm>
              <a:off x="7620000" y="4238625"/>
              <a:ext cx="238125" cy="209550"/>
            </a:xfrm>
            <a:custGeom>
              <a:avLst/>
              <a:gdLst>
                <a:gd name="csX0" fmla="*/ 38100 w 238125"/>
                <a:gd name="csY0" fmla="*/ 0 h 209550"/>
                <a:gd name="csX1" fmla="*/ 200025 w 238125"/>
                <a:gd name="csY1" fmla="*/ 0 h 209550"/>
                <a:gd name="csX2" fmla="*/ 238125 w 238125"/>
                <a:gd name="csY2" fmla="*/ 38100 h 209550"/>
                <a:gd name="csX3" fmla="*/ 238125 w 238125"/>
                <a:gd name="csY3" fmla="*/ 171450 h 209550"/>
                <a:gd name="csX4" fmla="*/ 200025 w 238125"/>
                <a:gd name="csY4" fmla="*/ 209550 h 209550"/>
                <a:gd name="csX5" fmla="*/ 38100 w 238125"/>
                <a:gd name="csY5" fmla="*/ 209550 h 209550"/>
                <a:gd name="csX6" fmla="*/ 0 w 238125"/>
                <a:gd name="csY6" fmla="*/ 171450 h 209550"/>
                <a:gd name="csX7" fmla="*/ 0 w 238125"/>
                <a:gd name="csY7" fmla="*/ 38100 h 209550"/>
                <a:gd name="csX8" fmla="*/ 38100 w 238125"/>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8125" h="209550">
                  <a:moveTo>
                    <a:pt x="38100" y="0"/>
                  </a:moveTo>
                  <a:lnTo>
                    <a:pt x="200025" y="0"/>
                  </a:lnTo>
                  <a:cubicBezTo>
                    <a:pt x="221067" y="0"/>
                    <a:pt x="238125" y="17058"/>
                    <a:pt x="238125" y="38100"/>
                  </a:cubicBezTo>
                  <a:lnTo>
                    <a:pt x="238125" y="171450"/>
                  </a:lnTo>
                  <a:cubicBezTo>
                    <a:pt x="238125" y="192492"/>
                    <a:pt x="221067" y="209550"/>
                    <a:pt x="200025" y="209550"/>
                  </a:cubicBezTo>
                  <a:lnTo>
                    <a:pt x="38100" y="209550"/>
                  </a:lnTo>
                  <a:cubicBezTo>
                    <a:pt x="17058" y="209550"/>
                    <a:pt x="0" y="192492"/>
                    <a:pt x="0" y="171450"/>
                  </a:cubicBezTo>
                  <a:lnTo>
                    <a:pt x="0" y="38100"/>
                  </a:lnTo>
                  <a:cubicBezTo>
                    <a:pt x="0" y="17058"/>
                    <a:pt x="17058" y="0"/>
                    <a:pt x="38100" y="0"/>
                  </a:cubicBezTo>
                  <a:close/>
                </a:path>
              </a:pathLst>
            </a:custGeom>
            <a:solidFill>
              <a:srgbClr val="4A90D9"/>
            </a:solidFill>
            <a:ln w="9525" cap="flat">
              <a:noFill/>
              <a:prstDash val="solid"/>
              <a:miter/>
            </a:ln>
          </p:spPr>
          <p:txBody>
            <a:bodyPr/>
            <a:lstStyle/>
            <a:p>
              <a:endParaRPr lang="zh-CN" altLang="en-US"/>
            </a:p>
          </p:txBody>
        </p:sp>
        <p:sp>
          <p:nvSpPr>
            <p:cNvPr id="83" name="文本框 82">
              <a:extLst>
                <a:ext uri="{FF2B5EF4-FFF2-40B4-BE49-F238E27FC236}">
                  <a16:creationId xmlns:a16="http://schemas.microsoft.com/office/drawing/2014/main" id="{EA6AB496-976B-9782-6BD1-1168595EC047}"/>
                </a:ext>
              </a:extLst>
            </p:cNvPr>
            <p:cNvSpPr txBox="1"/>
            <p:nvPr/>
          </p:nvSpPr>
          <p:spPr>
            <a:xfrm>
              <a:off x="7861935" y="4234441"/>
              <a:ext cx="55864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2,200万</a:t>
              </a:r>
            </a:p>
          </p:txBody>
        </p:sp>
        <p:sp>
          <p:nvSpPr>
            <p:cNvPr id="84" name="文本框 83">
              <a:extLst>
                <a:ext uri="{FF2B5EF4-FFF2-40B4-BE49-F238E27FC236}">
                  <a16:creationId xmlns:a16="http://schemas.microsoft.com/office/drawing/2014/main" id="{AB044D6F-6610-FBFC-6405-0D793A8051F0}"/>
                </a:ext>
              </a:extLst>
            </p:cNvPr>
            <p:cNvSpPr txBox="1"/>
            <p:nvPr/>
          </p:nvSpPr>
          <p:spPr>
            <a:xfrm>
              <a:off x="6480810" y="4595838"/>
              <a:ext cx="640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其他行业</a:t>
              </a:r>
            </a:p>
          </p:txBody>
        </p:sp>
        <p:sp>
          <p:nvSpPr>
            <p:cNvPr id="85" name="任意形状 84">
              <a:extLst>
                <a:ext uri="{FF2B5EF4-FFF2-40B4-BE49-F238E27FC236}">
                  <a16:creationId xmlns:a16="http://schemas.microsoft.com/office/drawing/2014/main" id="{0334E46B-DB6D-1E10-EF4B-10FB37B91527}"/>
                </a:ext>
              </a:extLst>
            </p:cNvPr>
            <p:cNvSpPr/>
            <p:nvPr/>
          </p:nvSpPr>
          <p:spPr>
            <a:xfrm>
              <a:off x="7620000" y="4619625"/>
              <a:ext cx="3333750" cy="209550"/>
            </a:xfrm>
            <a:custGeom>
              <a:avLst/>
              <a:gdLst>
                <a:gd name="csX0" fmla="*/ 38100 w 3333750"/>
                <a:gd name="csY0" fmla="*/ 0 h 209550"/>
                <a:gd name="csX1" fmla="*/ 3295650 w 3333750"/>
                <a:gd name="csY1" fmla="*/ 0 h 209550"/>
                <a:gd name="csX2" fmla="*/ 3333750 w 3333750"/>
                <a:gd name="csY2" fmla="*/ 38100 h 209550"/>
                <a:gd name="csX3" fmla="*/ 3333750 w 3333750"/>
                <a:gd name="csY3" fmla="*/ 171450 h 209550"/>
                <a:gd name="csX4" fmla="*/ 3295650 w 3333750"/>
                <a:gd name="csY4" fmla="*/ 209550 h 209550"/>
                <a:gd name="csX5" fmla="*/ 38100 w 3333750"/>
                <a:gd name="csY5" fmla="*/ 209550 h 209550"/>
                <a:gd name="csX6" fmla="*/ 0 w 3333750"/>
                <a:gd name="csY6" fmla="*/ 171450 h 209550"/>
                <a:gd name="csX7" fmla="*/ 0 w 3333750"/>
                <a:gd name="csY7" fmla="*/ 38100 h 209550"/>
                <a:gd name="csX8" fmla="*/ 38100 w 333375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33750" h="209550">
                  <a:moveTo>
                    <a:pt x="38100" y="0"/>
                  </a:moveTo>
                  <a:lnTo>
                    <a:pt x="3295650" y="0"/>
                  </a:lnTo>
                  <a:cubicBezTo>
                    <a:pt x="3316692" y="0"/>
                    <a:pt x="3333750" y="17058"/>
                    <a:pt x="3333750" y="38100"/>
                  </a:cubicBezTo>
                  <a:lnTo>
                    <a:pt x="3333750" y="171450"/>
                  </a:lnTo>
                  <a:cubicBezTo>
                    <a:pt x="3333750" y="192492"/>
                    <a:pt x="3316692" y="209550"/>
                    <a:pt x="3295650" y="209550"/>
                  </a:cubicBezTo>
                  <a:lnTo>
                    <a:pt x="38100" y="209550"/>
                  </a:lnTo>
                  <a:cubicBezTo>
                    <a:pt x="17058" y="209550"/>
                    <a:pt x="0" y="192492"/>
                    <a:pt x="0" y="171450"/>
                  </a:cubicBezTo>
                  <a:lnTo>
                    <a:pt x="0" y="38100"/>
                  </a:lnTo>
                  <a:cubicBezTo>
                    <a:pt x="0" y="17058"/>
                    <a:pt x="17058" y="0"/>
                    <a:pt x="38100" y="0"/>
                  </a:cubicBezTo>
                  <a:close/>
                </a:path>
              </a:pathLst>
            </a:custGeom>
            <a:solidFill>
              <a:srgbClr val="E2E8F0"/>
            </a:solidFill>
            <a:ln w="9525" cap="flat">
              <a:noFill/>
              <a:prstDash val="solid"/>
              <a:miter/>
            </a:ln>
          </p:spPr>
          <p:txBody>
            <a:bodyPr/>
            <a:lstStyle/>
            <a:p>
              <a:endParaRPr lang="zh-CN" altLang="en-US"/>
            </a:p>
          </p:txBody>
        </p:sp>
        <p:sp>
          <p:nvSpPr>
            <p:cNvPr id="86" name="任意形状 85">
              <a:extLst>
                <a:ext uri="{FF2B5EF4-FFF2-40B4-BE49-F238E27FC236}">
                  <a16:creationId xmlns:a16="http://schemas.microsoft.com/office/drawing/2014/main" id="{A27EB88D-D602-092F-9095-9E3855142094}"/>
                </a:ext>
              </a:extLst>
            </p:cNvPr>
            <p:cNvSpPr/>
            <p:nvPr/>
          </p:nvSpPr>
          <p:spPr>
            <a:xfrm>
              <a:off x="7620000" y="4619625"/>
              <a:ext cx="114300" cy="209550"/>
            </a:xfrm>
            <a:custGeom>
              <a:avLst/>
              <a:gdLst>
                <a:gd name="csX0" fmla="*/ 38100 w 114300"/>
                <a:gd name="csY0" fmla="*/ 0 h 209550"/>
                <a:gd name="csX1" fmla="*/ 76200 w 114300"/>
                <a:gd name="csY1" fmla="*/ 0 h 209550"/>
                <a:gd name="csX2" fmla="*/ 114300 w 114300"/>
                <a:gd name="csY2" fmla="*/ 38100 h 209550"/>
                <a:gd name="csX3" fmla="*/ 114300 w 114300"/>
                <a:gd name="csY3" fmla="*/ 171450 h 209550"/>
                <a:gd name="csX4" fmla="*/ 76200 w 114300"/>
                <a:gd name="csY4" fmla="*/ 209550 h 209550"/>
                <a:gd name="csX5" fmla="*/ 38100 w 114300"/>
                <a:gd name="csY5" fmla="*/ 209550 h 209550"/>
                <a:gd name="csX6" fmla="*/ 0 w 114300"/>
                <a:gd name="csY6" fmla="*/ 171450 h 209550"/>
                <a:gd name="csX7" fmla="*/ 0 w 114300"/>
                <a:gd name="csY7" fmla="*/ 38100 h 209550"/>
                <a:gd name="csX8" fmla="*/ 38100 w 114300"/>
                <a:gd name="csY8" fmla="*/ 0 h 209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 h="209550">
                  <a:moveTo>
                    <a:pt x="38100" y="0"/>
                  </a:moveTo>
                  <a:lnTo>
                    <a:pt x="76200" y="0"/>
                  </a:lnTo>
                  <a:cubicBezTo>
                    <a:pt x="97242" y="0"/>
                    <a:pt x="114300" y="17058"/>
                    <a:pt x="114300" y="38100"/>
                  </a:cubicBezTo>
                  <a:lnTo>
                    <a:pt x="114300" y="171450"/>
                  </a:lnTo>
                  <a:cubicBezTo>
                    <a:pt x="114300" y="192492"/>
                    <a:pt x="97242" y="209550"/>
                    <a:pt x="76200" y="209550"/>
                  </a:cubicBezTo>
                  <a:lnTo>
                    <a:pt x="38100" y="209550"/>
                  </a:lnTo>
                  <a:cubicBezTo>
                    <a:pt x="17058" y="209550"/>
                    <a:pt x="0" y="192492"/>
                    <a:pt x="0" y="171450"/>
                  </a:cubicBezTo>
                  <a:lnTo>
                    <a:pt x="0" y="38100"/>
                  </a:lnTo>
                  <a:cubicBezTo>
                    <a:pt x="0" y="17058"/>
                    <a:pt x="17058" y="0"/>
                    <a:pt x="38100" y="0"/>
                  </a:cubicBezTo>
                  <a:close/>
                </a:path>
              </a:pathLst>
            </a:custGeom>
            <a:solidFill>
              <a:srgbClr val="64748B"/>
            </a:solidFill>
            <a:ln w="9525" cap="flat">
              <a:noFill/>
              <a:prstDash val="solid"/>
              <a:miter/>
            </a:ln>
          </p:spPr>
          <p:txBody>
            <a:bodyPr/>
            <a:lstStyle/>
            <a:p>
              <a:endParaRPr lang="zh-CN" altLang="en-US"/>
            </a:p>
          </p:txBody>
        </p:sp>
        <p:sp>
          <p:nvSpPr>
            <p:cNvPr id="87" name="文本框 86">
              <a:extLst>
                <a:ext uri="{FF2B5EF4-FFF2-40B4-BE49-F238E27FC236}">
                  <a16:creationId xmlns:a16="http://schemas.microsoft.com/office/drawing/2014/main" id="{A41A950E-3803-EB55-3B00-6FE69D37D10E}"/>
                </a:ext>
              </a:extLst>
            </p:cNvPr>
            <p:cNvSpPr txBox="1"/>
            <p:nvPr/>
          </p:nvSpPr>
          <p:spPr>
            <a:xfrm>
              <a:off x="7766685" y="4615441"/>
              <a:ext cx="558647" cy="229724"/>
            </a:xfrm>
            <a:prstGeom prst="rect">
              <a:avLst/>
            </a:prstGeom>
            <a:noFill/>
          </p:spPr>
          <p:txBody>
            <a:bodyPr wrap="none" rtlCol="0">
              <a:spAutoFit/>
            </a:bodyPr>
            <a:lstStyle/>
            <a:p>
              <a:pPr algn="l"/>
              <a:r>
                <a:rPr lang="zh-CN" altLang="en-US" sz="825" spc="0" baseline="0">
                  <a:ln/>
                  <a:solidFill>
                    <a:srgbClr val="334155"/>
                  </a:solidFill>
                  <a:latin typeface="微软雅黑"/>
                  <a:ea typeface="微软雅黑"/>
                  <a:sym typeface="微软雅黑"/>
                  <a:rtl val="0"/>
                </a:rPr>
                <a:t>1,440万</a:t>
              </a:r>
            </a:p>
          </p:txBody>
        </p:sp>
      </p:grpSp>
      <p:grpSp>
        <p:nvGrpSpPr>
          <p:cNvPr id="88" name="SVG Image 16">
            <a:extLst>
              <a:ext uri="{FF2B5EF4-FFF2-40B4-BE49-F238E27FC236}">
                <a16:creationId xmlns:a16="http://schemas.microsoft.com/office/drawing/2014/main" id="{EE593BBD-C48E-1185-15DC-46E531F0A511}"/>
              </a:ext>
            </a:extLst>
          </p:cNvPr>
          <p:cNvGrpSpPr/>
          <p:nvPr/>
        </p:nvGrpSpPr>
        <p:grpSpPr>
          <a:xfrm>
            <a:off x="571500" y="5238750"/>
            <a:ext cx="11049000" cy="1047750"/>
            <a:chOff x="571500" y="5238750"/>
            <a:chExt cx="11049000" cy="1047750"/>
          </a:xfrm>
        </p:grpSpPr>
        <p:sp>
          <p:nvSpPr>
            <p:cNvPr id="89" name="任意形状 88">
              <a:extLst>
                <a:ext uri="{FF2B5EF4-FFF2-40B4-BE49-F238E27FC236}">
                  <a16:creationId xmlns:a16="http://schemas.microsoft.com/office/drawing/2014/main" id="{1B71B669-3C4F-806B-A34C-E889448AA8A9}"/>
                </a:ext>
              </a:extLst>
            </p:cNvPr>
            <p:cNvSpPr/>
            <p:nvPr/>
          </p:nvSpPr>
          <p:spPr>
            <a:xfrm>
              <a:off x="571500" y="5238750"/>
              <a:ext cx="11049000" cy="1047750"/>
            </a:xfrm>
            <a:custGeom>
              <a:avLst/>
              <a:gdLst>
                <a:gd name="csX0" fmla="*/ 76200 w 11049000"/>
                <a:gd name="csY0" fmla="*/ 0 h 1047750"/>
                <a:gd name="csX1" fmla="*/ 10972800 w 11049000"/>
                <a:gd name="csY1" fmla="*/ 0 h 1047750"/>
                <a:gd name="csX2" fmla="*/ 11049000 w 11049000"/>
                <a:gd name="csY2" fmla="*/ 76200 h 1047750"/>
                <a:gd name="csX3" fmla="*/ 11049000 w 11049000"/>
                <a:gd name="csY3" fmla="*/ 971550 h 1047750"/>
                <a:gd name="csX4" fmla="*/ 10972800 w 11049000"/>
                <a:gd name="csY4" fmla="*/ 1047750 h 1047750"/>
                <a:gd name="csX5" fmla="*/ 76200 w 11049000"/>
                <a:gd name="csY5" fmla="*/ 1047750 h 1047750"/>
                <a:gd name="csX6" fmla="*/ 0 w 11049000"/>
                <a:gd name="csY6" fmla="*/ 971550 h 1047750"/>
                <a:gd name="csX7" fmla="*/ 0 w 11049000"/>
                <a:gd name="csY7" fmla="*/ 76200 h 1047750"/>
                <a:gd name="csX8" fmla="*/ 76200 w 1104900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1047750">
                  <a:moveTo>
                    <a:pt x="76200" y="0"/>
                  </a:moveTo>
                  <a:lnTo>
                    <a:pt x="10972800" y="0"/>
                  </a:lnTo>
                  <a:cubicBezTo>
                    <a:pt x="11014885" y="0"/>
                    <a:pt x="11049000" y="34116"/>
                    <a:pt x="11049000" y="76200"/>
                  </a:cubicBezTo>
                  <a:lnTo>
                    <a:pt x="11049000" y="971550"/>
                  </a:lnTo>
                  <a:cubicBezTo>
                    <a:pt x="11049000" y="1013634"/>
                    <a:pt x="11014885" y="1047750"/>
                    <a:pt x="10972800" y="1047750"/>
                  </a:cubicBezTo>
                  <a:lnTo>
                    <a:pt x="76200" y="1047750"/>
                  </a:lnTo>
                  <a:cubicBezTo>
                    <a:pt x="34116" y="1047750"/>
                    <a:pt x="0" y="1013634"/>
                    <a:pt x="0" y="9715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90" name="文本框 89">
              <a:extLst>
                <a:ext uri="{FF2B5EF4-FFF2-40B4-BE49-F238E27FC236}">
                  <a16:creationId xmlns:a16="http://schemas.microsoft.com/office/drawing/2014/main" id="{982C4C07-6412-1905-58F0-F76FFECD8F73}"/>
                </a:ext>
              </a:extLst>
            </p:cNvPr>
            <p:cNvSpPr txBox="1"/>
            <p:nvPr/>
          </p:nvSpPr>
          <p:spPr>
            <a:xfrm>
              <a:off x="765810" y="5365149"/>
              <a:ext cx="1097280" cy="292581"/>
            </a:xfrm>
            <a:prstGeom prst="rect">
              <a:avLst/>
            </a:prstGeom>
            <a:noFill/>
          </p:spPr>
          <p:txBody>
            <a:bodyPr wrap="none" rtlCol="0">
              <a:spAutoFit/>
            </a:bodyPr>
            <a:lstStyle/>
            <a:p>
              <a:pPr algn="l"/>
              <a:r>
                <a:rPr lang="zh-CN" altLang="en-US" sz="1200" b="1" spc="0" baseline="0">
                  <a:ln/>
                  <a:solidFill>
                    <a:srgbClr val="FFFFFF"/>
                  </a:solidFill>
                  <a:latin typeface="微软雅黑"/>
                  <a:ea typeface="微软雅黑"/>
                  <a:sym typeface="微软雅黑"/>
                  <a:rtl val="0"/>
                </a:rPr>
                <a:t>区域风险评估</a:t>
              </a:r>
            </a:p>
          </p:txBody>
        </p:sp>
        <p:sp>
          <p:nvSpPr>
            <p:cNvPr id="91" name="任意形状 90">
              <a:extLst>
                <a:ext uri="{FF2B5EF4-FFF2-40B4-BE49-F238E27FC236}">
                  <a16:creationId xmlns:a16="http://schemas.microsoft.com/office/drawing/2014/main" id="{B07E2C13-D4AE-EA7F-C5C3-607A80F9E438}"/>
                </a:ext>
              </a:extLst>
            </p:cNvPr>
            <p:cNvSpPr/>
            <p:nvPr/>
          </p:nvSpPr>
          <p:spPr>
            <a:xfrm>
              <a:off x="2476500" y="5381625"/>
              <a:ext cx="1143000" cy="333375"/>
            </a:xfrm>
            <a:custGeom>
              <a:avLst/>
              <a:gdLst>
                <a:gd name="csX0" fmla="*/ 57150 w 1143000"/>
                <a:gd name="csY0" fmla="*/ 0 h 333375"/>
                <a:gd name="csX1" fmla="*/ 1085850 w 1143000"/>
                <a:gd name="csY1" fmla="*/ 0 h 333375"/>
                <a:gd name="csX2" fmla="*/ 1143000 w 1143000"/>
                <a:gd name="csY2" fmla="*/ 57150 h 333375"/>
                <a:gd name="csX3" fmla="*/ 1143000 w 1143000"/>
                <a:gd name="csY3" fmla="*/ 276225 h 333375"/>
                <a:gd name="csX4" fmla="*/ 1085850 w 1143000"/>
                <a:gd name="csY4" fmla="*/ 333375 h 333375"/>
                <a:gd name="csX5" fmla="*/ 57150 w 1143000"/>
                <a:gd name="csY5" fmla="*/ 333375 h 333375"/>
                <a:gd name="csX6" fmla="*/ 0 w 1143000"/>
                <a:gd name="csY6" fmla="*/ 276225 h 333375"/>
                <a:gd name="csX7" fmla="*/ 0 w 1143000"/>
                <a:gd name="csY7" fmla="*/ 57150 h 333375"/>
                <a:gd name="csX8" fmla="*/ 57150 w 1143000"/>
                <a:gd name="csY8" fmla="*/ 0 h 333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333375">
                  <a:moveTo>
                    <a:pt x="57150" y="0"/>
                  </a:moveTo>
                  <a:lnTo>
                    <a:pt x="1085850" y="0"/>
                  </a:lnTo>
                  <a:cubicBezTo>
                    <a:pt x="1117413" y="0"/>
                    <a:pt x="1143000" y="25587"/>
                    <a:pt x="1143000" y="57150"/>
                  </a:cubicBezTo>
                  <a:lnTo>
                    <a:pt x="1143000" y="276225"/>
                  </a:lnTo>
                  <a:cubicBezTo>
                    <a:pt x="1143000" y="307788"/>
                    <a:pt x="1117413" y="333375"/>
                    <a:pt x="1085850" y="333375"/>
                  </a:cubicBezTo>
                  <a:lnTo>
                    <a:pt x="57150" y="333375"/>
                  </a:lnTo>
                  <a:cubicBezTo>
                    <a:pt x="25587" y="333375"/>
                    <a:pt x="0" y="307788"/>
                    <a:pt x="0" y="276225"/>
                  </a:cubicBezTo>
                  <a:lnTo>
                    <a:pt x="0" y="57150"/>
                  </a:lnTo>
                  <a:cubicBezTo>
                    <a:pt x="0" y="25587"/>
                    <a:pt x="25587" y="0"/>
                    <a:pt x="57150" y="0"/>
                  </a:cubicBezTo>
                  <a:close/>
                </a:path>
              </a:pathLst>
            </a:custGeom>
            <a:solidFill>
              <a:srgbClr val="2ECC71"/>
            </a:solidFill>
            <a:ln w="9525" cap="flat">
              <a:noFill/>
              <a:prstDash val="solid"/>
              <a:miter/>
            </a:ln>
          </p:spPr>
          <p:txBody>
            <a:bodyPr/>
            <a:lstStyle/>
            <a:p>
              <a:endParaRPr lang="zh-CN" altLang="en-US"/>
            </a:p>
          </p:txBody>
        </p:sp>
        <p:sp>
          <p:nvSpPr>
            <p:cNvPr id="92" name="文本框 91">
              <a:extLst>
                <a:ext uri="{FF2B5EF4-FFF2-40B4-BE49-F238E27FC236}">
                  <a16:creationId xmlns:a16="http://schemas.microsoft.com/office/drawing/2014/main" id="{118F6B37-C3F7-1BE3-B108-3209944835EB}"/>
                </a:ext>
              </a:extLst>
            </p:cNvPr>
            <p:cNvSpPr txBox="1"/>
            <p:nvPr/>
          </p:nvSpPr>
          <p:spPr>
            <a:xfrm>
              <a:off x="2756535" y="5413881"/>
              <a:ext cx="582930" cy="267438"/>
            </a:xfrm>
            <a:prstGeom prst="rect">
              <a:avLst/>
            </a:prstGeom>
            <a:noFill/>
          </p:spPr>
          <p:txBody>
            <a:bodyPr wrap="none" rtlCol="0">
              <a:spAutoFit/>
            </a:bodyPr>
            <a:lstStyle/>
            <a:p>
              <a:pPr algn="l"/>
              <a:r>
                <a:rPr lang="zh-CN" altLang="en-US" sz="1050" b="1" spc="0" baseline="0">
                  <a:ln/>
                  <a:solidFill>
                    <a:srgbClr val="FFFFFF"/>
                  </a:solidFill>
                  <a:latin typeface="微软雅黑"/>
                  <a:ea typeface="微软雅黑"/>
                  <a:sym typeface="微软雅黑"/>
                  <a:rtl val="0"/>
                </a:rPr>
                <a:t>低风险</a:t>
              </a:r>
            </a:p>
          </p:txBody>
        </p:sp>
        <p:sp>
          <p:nvSpPr>
            <p:cNvPr id="93" name="文本框 92">
              <a:extLst>
                <a:ext uri="{FF2B5EF4-FFF2-40B4-BE49-F238E27FC236}">
                  <a16:creationId xmlns:a16="http://schemas.microsoft.com/office/drawing/2014/main" id="{5D4A0EB1-31D3-E721-3C48-43FC3A42C17E}"/>
                </a:ext>
              </a:extLst>
            </p:cNvPr>
            <p:cNvSpPr txBox="1"/>
            <p:nvPr/>
          </p:nvSpPr>
          <p:spPr>
            <a:xfrm>
              <a:off x="765810" y="5773785"/>
              <a:ext cx="2206282" cy="257467"/>
            </a:xfrm>
            <a:prstGeom prst="rect">
              <a:avLst/>
            </a:prstGeom>
            <a:noFill/>
          </p:spPr>
          <p:txBody>
            <a:bodyPr wrap="none" rtlCol="0">
              <a:spAutoFit/>
            </a:bodyPr>
            <a:lstStyle/>
            <a:p>
              <a:pPr algn="l"/>
              <a:r>
                <a:rPr lang="zh-CN" altLang="en-US" sz="975" spc="0" baseline="0">
                  <a:ln/>
                  <a:solidFill>
                    <a:srgbClr val="FFFFFF"/>
                  </a:solidFill>
                  <a:latin typeface="Segoe UI Symbol"/>
                  <a:sym typeface="Segoe UI Symbol"/>
                  <a:rtl val="0"/>
                </a:rPr>
                <a:t>✓</a:t>
              </a:r>
              <a:r>
                <a:rPr lang="zh-CN" altLang="en-US" sz="975" spc="0" baseline="0">
                  <a:ln/>
                  <a:solidFill>
                    <a:srgbClr val="FFFFFF"/>
                  </a:solidFill>
                  <a:latin typeface="微软雅黑"/>
                  <a:ea typeface="微软雅黑"/>
                  <a:sym typeface="微软雅黑"/>
                  <a:rtl val="0"/>
                </a:rPr>
                <a:t> 债券零违约，城投非标零风险事件 </a:t>
              </a:r>
            </a:p>
          </p:txBody>
        </p:sp>
        <p:sp>
          <p:nvSpPr>
            <p:cNvPr id="94" name="文本框 93">
              <a:extLst>
                <a:ext uri="{FF2B5EF4-FFF2-40B4-BE49-F238E27FC236}">
                  <a16:creationId xmlns:a16="http://schemas.microsoft.com/office/drawing/2014/main" id="{CC785137-84F6-F410-437B-7D29DE030409}"/>
                </a:ext>
              </a:extLst>
            </p:cNvPr>
            <p:cNvSpPr txBox="1"/>
            <p:nvPr/>
          </p:nvSpPr>
          <p:spPr>
            <a:xfrm>
              <a:off x="3718560" y="5773785"/>
              <a:ext cx="2775103" cy="257467"/>
            </a:xfrm>
            <a:prstGeom prst="rect">
              <a:avLst/>
            </a:prstGeom>
            <a:noFill/>
          </p:spPr>
          <p:txBody>
            <a:bodyPr wrap="none" rtlCol="0">
              <a:spAutoFit/>
            </a:bodyPr>
            <a:lstStyle/>
            <a:p>
              <a:pPr algn="l"/>
              <a:r>
                <a:rPr lang="zh-CN" altLang="en-US" sz="975" spc="0" baseline="0">
                  <a:ln/>
                  <a:solidFill>
                    <a:srgbClr val="FFFFFF"/>
                  </a:solidFill>
                  <a:latin typeface="Segoe UI Symbol"/>
                  <a:sym typeface="Segoe UI Symbol"/>
                  <a:rtl val="0"/>
                </a:rPr>
                <a:t>✓</a:t>
              </a:r>
              <a:r>
                <a:rPr lang="zh-CN" altLang="en-US" sz="975" spc="0" baseline="0">
                  <a:ln/>
                  <a:solidFill>
                    <a:srgbClr val="FFFFFF"/>
                  </a:solidFill>
                  <a:latin typeface="微软雅黑"/>
                  <a:ea typeface="微软雅黑"/>
                  <a:sym typeface="微软雅黑"/>
                  <a:rtl val="0"/>
                </a:rPr>
                <a:t> 城投利差处于历史2.95%分位，市场信心充足</a:t>
              </a:r>
            </a:p>
          </p:txBody>
        </p:sp>
        <p:sp>
          <p:nvSpPr>
            <p:cNvPr id="95" name="文本框 94">
              <a:extLst>
                <a:ext uri="{FF2B5EF4-FFF2-40B4-BE49-F238E27FC236}">
                  <a16:creationId xmlns:a16="http://schemas.microsoft.com/office/drawing/2014/main" id="{1B282AD6-F110-CFAF-02BA-85D9DC315933}"/>
                </a:ext>
              </a:extLst>
            </p:cNvPr>
            <p:cNvSpPr txBox="1"/>
            <p:nvPr/>
          </p:nvSpPr>
          <p:spPr>
            <a:xfrm>
              <a:off x="765810" y="5995460"/>
              <a:ext cx="3585769" cy="261155"/>
            </a:xfrm>
            <a:prstGeom prst="rect">
              <a:avLst/>
            </a:prstGeom>
            <a:noFill/>
          </p:spPr>
          <p:txBody>
            <a:bodyPr wrap="none" rtlCol="0">
              <a:spAutoFit/>
            </a:bodyPr>
            <a:lstStyle/>
            <a:p>
              <a:pPr algn="l"/>
              <a:r>
                <a:rPr lang="zh-CN" altLang="en-US" sz="975" spc="0" baseline="0">
                  <a:ln/>
                  <a:solidFill>
                    <a:srgbClr val="FFFFFF"/>
                  </a:solidFill>
                  <a:latin typeface="Apple Color Emoji"/>
                  <a:ea typeface="Apple Color Emoji"/>
                  <a:sym typeface="Apple Color Emoji"/>
                  <a:rtl val="0"/>
                </a:rPr>
                <a:t>⚠️</a:t>
              </a:r>
              <a:r>
                <a:rPr lang="zh-CN" altLang="en-US" sz="975" spc="0" baseline="0">
                  <a:ln/>
                  <a:solidFill>
                    <a:srgbClr val="FFFFFF"/>
                  </a:solidFill>
                  <a:latin typeface="微软雅黑"/>
                  <a:ea typeface="微软雅黑"/>
                  <a:sym typeface="微软雅黑"/>
                  <a:rtl val="0"/>
                </a:rPr>
                <a:t> 票据逾期集中于房地产业（82.8%），需关注行业传导风险 </a:t>
              </a:r>
            </a:p>
          </p:txBody>
        </p:sp>
        <p:sp>
          <p:nvSpPr>
            <p:cNvPr id="96" name="文本框 95">
              <a:extLst>
                <a:ext uri="{FF2B5EF4-FFF2-40B4-BE49-F238E27FC236}">
                  <a16:creationId xmlns:a16="http://schemas.microsoft.com/office/drawing/2014/main" id="{CBF4C564-B13A-FE6C-16A3-552D9225FEA1}"/>
                </a:ext>
              </a:extLst>
            </p:cNvPr>
            <p:cNvSpPr txBox="1"/>
            <p:nvPr/>
          </p:nvSpPr>
          <p:spPr>
            <a:xfrm>
              <a:off x="5623560" y="5995460"/>
              <a:ext cx="2819844" cy="261155"/>
            </a:xfrm>
            <a:prstGeom prst="rect">
              <a:avLst/>
            </a:prstGeom>
            <a:noFill/>
          </p:spPr>
          <p:txBody>
            <a:bodyPr wrap="none" rtlCol="0">
              <a:spAutoFit/>
            </a:bodyPr>
            <a:lstStyle/>
            <a:p>
              <a:pPr algn="l"/>
              <a:r>
                <a:rPr lang="zh-CN" altLang="en-US" sz="975" spc="0" baseline="0">
                  <a:ln/>
                  <a:solidFill>
                    <a:srgbClr val="FFFFFF"/>
                  </a:solidFill>
                  <a:latin typeface="Apple Color Emoji"/>
                  <a:ea typeface="Apple Color Emoji"/>
                  <a:sym typeface="Apple Color Emoji"/>
                  <a:rtl val="0"/>
                </a:rPr>
                <a:t>⚠️</a:t>
              </a:r>
              <a:r>
                <a:rPr lang="zh-CN" altLang="en-US" sz="975" spc="0" baseline="0">
                  <a:ln/>
                  <a:solidFill>
                    <a:srgbClr val="FFFFFF"/>
                  </a:solidFill>
                  <a:latin typeface="微软雅黑"/>
                  <a:ea typeface="微软雅黑"/>
                  <a:sym typeface="微软雅黑"/>
                  <a:rtl val="0"/>
                </a:rPr>
                <a:t> 宽口径债务率较高，长期偿债压力需持续监控</a:t>
              </a:r>
            </a:p>
          </p:txBody>
        </p:sp>
      </p:grpSp>
      <p:sp>
        <p:nvSpPr>
          <p:cNvPr id="97" name="矩形 96">
            <a:extLst>
              <a:ext uri="{FF2B5EF4-FFF2-40B4-BE49-F238E27FC236}">
                <a16:creationId xmlns:a16="http://schemas.microsoft.com/office/drawing/2014/main" id="{F2776932-5AC2-8421-F4E4-6E5218DAC4C7}"/>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5D8332E-50C2-81F8-0AF7-256B0F1E7EC5}"/>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1222391D-5DEA-D052-5B0F-A1C3879FA685}"/>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5D2B53DC-2164-3513-F242-23B4BAE0FF4B}"/>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3CF35587-BF4A-1ACF-E1D1-E9BD6121C6F5}"/>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矩形 7">
            <a:extLst>
              <a:ext uri="{FF2B5EF4-FFF2-40B4-BE49-F238E27FC236}">
                <a16:creationId xmlns:a16="http://schemas.microsoft.com/office/drawing/2014/main" id="{2A3E6FD8-8E9E-DF0F-97CA-929692185895}"/>
              </a:ext>
            </a:extLst>
          </p:cNvPr>
          <p:cNvSpPr/>
          <p:nvPr/>
        </p:nvSpPr>
        <p:spPr>
          <a:xfrm>
            <a:off x="1905000" y="209550"/>
            <a:ext cx="9525" cy="190500"/>
          </a:xfrm>
          <a:prstGeom prst="rect">
            <a:avLst/>
          </a:prstGeom>
          <a:solidFill>
            <a:srgbClr val="E2E8F0"/>
          </a:solidFill>
          <a:ln w="9525" cap="flat">
            <a:noFill/>
            <a:prstDash val="solid"/>
            <a:miter/>
          </a:ln>
        </p:spPr>
        <p:txBody>
          <a:bodyPr/>
          <a:lstStyle/>
          <a:p>
            <a:endParaRPr lang="zh-CN" altLang="en-US"/>
          </a:p>
        </p:txBody>
      </p:sp>
      <p:sp>
        <p:nvSpPr>
          <p:cNvPr id="9" name="文本框 8">
            <a:extLst>
              <a:ext uri="{FF2B5EF4-FFF2-40B4-BE49-F238E27FC236}">
                <a16:creationId xmlns:a16="http://schemas.microsoft.com/office/drawing/2014/main" id="{9659F1AE-923A-BABD-C482-3894AC67FBFC}"/>
              </a:ext>
            </a:extLst>
          </p:cNvPr>
          <p:cNvSpPr txBox="1"/>
          <p:nvPr/>
        </p:nvSpPr>
        <p:spPr>
          <a:xfrm>
            <a:off x="2004060" y="175131"/>
            <a:ext cx="1178837"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07 区域重点企业</a:t>
            </a:r>
          </a:p>
        </p:txBody>
      </p:sp>
      <p:sp>
        <p:nvSpPr>
          <p:cNvPr id="10" name="文本框 9">
            <a:extLst>
              <a:ext uri="{FF2B5EF4-FFF2-40B4-BE49-F238E27FC236}">
                <a16:creationId xmlns:a16="http://schemas.microsoft.com/office/drawing/2014/main" id="{4F47B416-767B-EE5C-CEFF-AE52FD6BB0C0}"/>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17 / 20</a:t>
            </a:r>
          </a:p>
        </p:txBody>
      </p:sp>
      <p:sp>
        <p:nvSpPr>
          <p:cNvPr id="11" name="矩形 10">
            <a:extLst>
              <a:ext uri="{FF2B5EF4-FFF2-40B4-BE49-F238E27FC236}">
                <a16:creationId xmlns:a16="http://schemas.microsoft.com/office/drawing/2014/main" id="{40544E27-400B-2181-12FF-4B7F699E54F1}"/>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2" name="文本框 11">
            <a:extLst>
              <a:ext uri="{FF2B5EF4-FFF2-40B4-BE49-F238E27FC236}">
                <a16:creationId xmlns:a16="http://schemas.microsoft.com/office/drawing/2014/main" id="{D244EFFB-2BC4-E3E5-6D3D-F66E162BBBE3}"/>
              </a:ext>
            </a:extLst>
          </p:cNvPr>
          <p:cNvSpPr txBox="1"/>
          <p:nvPr/>
        </p:nvSpPr>
        <p:spPr>
          <a:xfrm>
            <a:off x="480060" y="672208"/>
            <a:ext cx="2316480"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七、区域重点企业</a:t>
            </a:r>
          </a:p>
        </p:txBody>
      </p:sp>
      <p:grpSp>
        <p:nvGrpSpPr>
          <p:cNvPr id="13" name="SVG Image 17">
            <a:extLst>
              <a:ext uri="{FF2B5EF4-FFF2-40B4-BE49-F238E27FC236}">
                <a16:creationId xmlns:a16="http://schemas.microsoft.com/office/drawing/2014/main" id="{6DAC640F-DC86-15EF-6579-FAC79B5B6942}"/>
              </a:ext>
            </a:extLst>
          </p:cNvPr>
          <p:cNvGrpSpPr/>
          <p:nvPr/>
        </p:nvGrpSpPr>
        <p:grpSpPr>
          <a:xfrm>
            <a:off x="571500" y="1238250"/>
            <a:ext cx="5524500" cy="2667000"/>
            <a:chOff x="571500" y="1238250"/>
            <a:chExt cx="5524500" cy="2667000"/>
          </a:xfrm>
        </p:grpSpPr>
        <p:sp>
          <p:nvSpPr>
            <p:cNvPr id="14" name="任意形状 13">
              <a:extLst>
                <a:ext uri="{FF2B5EF4-FFF2-40B4-BE49-F238E27FC236}">
                  <a16:creationId xmlns:a16="http://schemas.microsoft.com/office/drawing/2014/main" id="{ECA6B308-34FD-ECF7-6523-763A284D9616}"/>
                </a:ext>
              </a:extLst>
            </p:cNvPr>
            <p:cNvSpPr/>
            <p:nvPr/>
          </p:nvSpPr>
          <p:spPr>
            <a:xfrm>
              <a:off x="571500" y="1238250"/>
              <a:ext cx="5524500" cy="2667000"/>
            </a:xfrm>
            <a:custGeom>
              <a:avLst/>
              <a:gdLst>
                <a:gd name="csX0" fmla="*/ 76200 w 5524500"/>
                <a:gd name="csY0" fmla="*/ 0 h 2667000"/>
                <a:gd name="csX1" fmla="*/ 5448300 w 5524500"/>
                <a:gd name="csY1" fmla="*/ 0 h 2667000"/>
                <a:gd name="csX2" fmla="*/ 5524500 w 5524500"/>
                <a:gd name="csY2" fmla="*/ 76200 h 2667000"/>
                <a:gd name="csX3" fmla="*/ 5524500 w 5524500"/>
                <a:gd name="csY3" fmla="*/ 2590800 h 2667000"/>
                <a:gd name="csX4" fmla="*/ 5448300 w 5524500"/>
                <a:gd name="csY4" fmla="*/ 2667000 h 2667000"/>
                <a:gd name="csX5" fmla="*/ 76200 w 5524500"/>
                <a:gd name="csY5" fmla="*/ 2667000 h 2667000"/>
                <a:gd name="csX6" fmla="*/ 0 w 5524500"/>
                <a:gd name="csY6" fmla="*/ 2590800 h 2667000"/>
                <a:gd name="csX7" fmla="*/ 0 w 5524500"/>
                <a:gd name="csY7" fmla="*/ 76200 h 2667000"/>
                <a:gd name="csX8" fmla="*/ 76200 w 5524500"/>
                <a:gd name="csY8" fmla="*/ 0 h 2667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2667000">
                  <a:moveTo>
                    <a:pt x="76200" y="0"/>
                  </a:moveTo>
                  <a:lnTo>
                    <a:pt x="5448300" y="0"/>
                  </a:lnTo>
                  <a:cubicBezTo>
                    <a:pt x="5490384" y="0"/>
                    <a:pt x="5524500" y="34116"/>
                    <a:pt x="5524500" y="76200"/>
                  </a:cubicBezTo>
                  <a:lnTo>
                    <a:pt x="5524500" y="2590800"/>
                  </a:lnTo>
                  <a:cubicBezTo>
                    <a:pt x="5524500" y="2632884"/>
                    <a:pt x="5490384" y="2667000"/>
                    <a:pt x="5448300" y="2667000"/>
                  </a:cubicBezTo>
                  <a:lnTo>
                    <a:pt x="76200" y="2667000"/>
                  </a:lnTo>
                  <a:cubicBezTo>
                    <a:pt x="34116" y="2667000"/>
                    <a:pt x="0" y="2632884"/>
                    <a:pt x="0" y="2590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5" name="文本框 14">
              <a:extLst>
                <a:ext uri="{FF2B5EF4-FFF2-40B4-BE49-F238E27FC236}">
                  <a16:creationId xmlns:a16="http://schemas.microsoft.com/office/drawing/2014/main" id="{99AA2176-ADE4-9E57-935B-2BCE1932EBDD}"/>
                </a:ext>
              </a:extLst>
            </p:cNvPr>
            <p:cNvSpPr txBox="1"/>
            <p:nvPr/>
          </p:nvSpPr>
          <p:spPr>
            <a:xfrm>
              <a:off x="765810" y="1344492"/>
              <a:ext cx="1180186"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7.1 科创企业</a:t>
              </a:r>
            </a:p>
          </p:txBody>
        </p:sp>
        <p:sp>
          <p:nvSpPr>
            <p:cNvPr id="16" name="文本框 15">
              <a:extLst>
                <a:ext uri="{FF2B5EF4-FFF2-40B4-BE49-F238E27FC236}">
                  <a16:creationId xmlns:a16="http://schemas.microsoft.com/office/drawing/2014/main" id="{C62EC7EE-A385-1585-5B99-95B74AFF2DEC}"/>
                </a:ext>
              </a:extLst>
            </p:cNvPr>
            <p:cNvSpPr txBox="1"/>
            <p:nvPr/>
          </p:nvSpPr>
          <p:spPr>
            <a:xfrm>
              <a:off x="2289810" y="1404963"/>
              <a:ext cx="982980"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科技创新主力军</a:t>
              </a:r>
            </a:p>
          </p:txBody>
        </p:sp>
        <p:grpSp>
          <p:nvGrpSpPr>
            <p:cNvPr id="17" name="SVG Image 17">
              <a:extLst>
                <a:ext uri="{FF2B5EF4-FFF2-40B4-BE49-F238E27FC236}">
                  <a16:creationId xmlns:a16="http://schemas.microsoft.com/office/drawing/2014/main" id="{9B86A257-EE4D-5A12-7CF0-B432918DB588}"/>
                </a:ext>
              </a:extLst>
            </p:cNvPr>
            <p:cNvGrpSpPr/>
            <p:nvPr/>
          </p:nvGrpSpPr>
          <p:grpSpPr>
            <a:xfrm>
              <a:off x="857250" y="1809750"/>
              <a:ext cx="1524000" cy="857250"/>
              <a:chOff x="857250" y="1809750"/>
              <a:chExt cx="1524000" cy="857250"/>
            </a:xfrm>
          </p:grpSpPr>
          <p:sp>
            <p:nvSpPr>
              <p:cNvPr id="18" name="任意形状 17">
                <a:extLst>
                  <a:ext uri="{FF2B5EF4-FFF2-40B4-BE49-F238E27FC236}">
                    <a16:creationId xmlns:a16="http://schemas.microsoft.com/office/drawing/2014/main" id="{3812DF27-AAB9-83DD-0CCF-40C9C70E4689}"/>
                  </a:ext>
                </a:extLst>
              </p:cNvPr>
              <p:cNvSpPr/>
              <p:nvPr/>
            </p:nvSpPr>
            <p:spPr>
              <a:xfrm>
                <a:off x="857250" y="1809750"/>
                <a:ext cx="1524000" cy="857250"/>
              </a:xfrm>
              <a:custGeom>
                <a:avLst/>
                <a:gdLst>
                  <a:gd name="csX0" fmla="*/ 57150 w 1524000"/>
                  <a:gd name="csY0" fmla="*/ 0 h 857250"/>
                  <a:gd name="csX1" fmla="*/ 1466850 w 1524000"/>
                  <a:gd name="csY1" fmla="*/ 0 h 857250"/>
                  <a:gd name="csX2" fmla="*/ 1524000 w 1524000"/>
                  <a:gd name="csY2" fmla="*/ 57150 h 857250"/>
                  <a:gd name="csX3" fmla="*/ 1524000 w 1524000"/>
                  <a:gd name="csY3" fmla="*/ 800100 h 857250"/>
                  <a:gd name="csX4" fmla="*/ 1466850 w 1524000"/>
                  <a:gd name="csY4" fmla="*/ 857250 h 857250"/>
                  <a:gd name="csX5" fmla="*/ 57150 w 1524000"/>
                  <a:gd name="csY5" fmla="*/ 857250 h 857250"/>
                  <a:gd name="csX6" fmla="*/ 0 w 1524000"/>
                  <a:gd name="csY6" fmla="*/ 800100 h 857250"/>
                  <a:gd name="csX7" fmla="*/ 0 w 1524000"/>
                  <a:gd name="csY7" fmla="*/ 57150 h 857250"/>
                  <a:gd name="csX8" fmla="*/ 57150 w 1524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857250">
                    <a:moveTo>
                      <a:pt x="57150" y="0"/>
                    </a:moveTo>
                    <a:lnTo>
                      <a:pt x="1466850" y="0"/>
                    </a:lnTo>
                    <a:cubicBezTo>
                      <a:pt x="1498413" y="0"/>
                      <a:pt x="1524000" y="25587"/>
                      <a:pt x="1524000" y="57150"/>
                    </a:cubicBezTo>
                    <a:lnTo>
                      <a:pt x="1524000" y="800100"/>
                    </a:lnTo>
                    <a:cubicBezTo>
                      <a:pt x="1524000" y="831663"/>
                      <a:pt x="1498413" y="857250"/>
                      <a:pt x="1466850" y="857250"/>
                    </a:cubicBezTo>
                    <a:lnTo>
                      <a:pt x="57150" y="857250"/>
                    </a:lnTo>
                    <a:cubicBezTo>
                      <a:pt x="25587" y="857250"/>
                      <a:pt x="0" y="831663"/>
                      <a:pt x="0" y="80010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19" name="文本框 18">
                <a:extLst>
                  <a:ext uri="{FF2B5EF4-FFF2-40B4-BE49-F238E27FC236}">
                    <a16:creationId xmlns:a16="http://schemas.microsoft.com/office/drawing/2014/main" id="{893275E4-EAC0-0A3A-461F-EC537AF0A5EF}"/>
                  </a:ext>
                </a:extLst>
              </p:cNvPr>
              <p:cNvSpPr txBox="1"/>
              <p:nvPr/>
            </p:nvSpPr>
            <p:spPr>
              <a:xfrm>
                <a:off x="1184910" y="1928838"/>
                <a:ext cx="8686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高新技术企业</a:t>
                </a:r>
              </a:p>
            </p:txBody>
          </p:sp>
          <p:sp>
            <p:nvSpPr>
              <p:cNvPr id="20" name="文本框 19">
                <a:extLst>
                  <a:ext uri="{FF2B5EF4-FFF2-40B4-BE49-F238E27FC236}">
                    <a16:creationId xmlns:a16="http://schemas.microsoft.com/office/drawing/2014/main" id="{0E39CF0F-0CF2-EAA0-74CD-603468ADBDF5}"/>
                  </a:ext>
                </a:extLst>
              </p:cNvPr>
              <p:cNvSpPr txBox="1"/>
              <p:nvPr/>
            </p:nvSpPr>
            <p:spPr>
              <a:xfrm>
                <a:off x="1108337" y="2089219"/>
                <a:ext cx="1021824" cy="493722"/>
              </a:xfrm>
              <a:prstGeom prst="rect">
                <a:avLst/>
              </a:prstGeom>
              <a:noFill/>
            </p:spPr>
            <p:txBody>
              <a:bodyPr wrap="none" rtlCol="0">
                <a:spAutoFit/>
              </a:bodyPr>
              <a:lstStyle/>
              <a:p>
                <a:pPr algn="l"/>
                <a:r>
                  <a:rPr lang="zh-CN" altLang="en-US" sz="2400" b="1" spc="0" baseline="0">
                    <a:ln/>
                    <a:solidFill>
                      <a:srgbClr val="1E3A5F"/>
                    </a:solidFill>
                    <a:latin typeface="微软雅黑"/>
                    <a:ea typeface="微软雅黑"/>
                    <a:sym typeface="微软雅黑"/>
                    <a:rtl val="0"/>
                  </a:rPr>
                  <a:t>9,109</a:t>
                </a:r>
              </a:p>
            </p:txBody>
          </p:sp>
          <p:sp>
            <p:nvSpPr>
              <p:cNvPr id="21" name="文本框 20">
                <a:extLst>
                  <a:ext uri="{FF2B5EF4-FFF2-40B4-BE49-F238E27FC236}">
                    <a16:creationId xmlns:a16="http://schemas.microsoft.com/office/drawing/2014/main" id="{CE9FD355-7CF1-9795-13E3-9BED7A7E8B64}"/>
                  </a:ext>
                </a:extLst>
              </p:cNvPr>
              <p:cNvSpPr txBox="1"/>
              <p:nvPr/>
            </p:nvSpPr>
            <p:spPr>
              <a:xfrm>
                <a:off x="1475422" y="2462791"/>
                <a:ext cx="2876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家</a:t>
                </a:r>
              </a:p>
            </p:txBody>
          </p:sp>
        </p:grpSp>
        <p:grpSp>
          <p:nvGrpSpPr>
            <p:cNvPr id="22" name="SVG Image 17">
              <a:extLst>
                <a:ext uri="{FF2B5EF4-FFF2-40B4-BE49-F238E27FC236}">
                  <a16:creationId xmlns:a16="http://schemas.microsoft.com/office/drawing/2014/main" id="{CAB69284-373E-65D9-8390-7C8FB30A754A}"/>
                </a:ext>
              </a:extLst>
            </p:cNvPr>
            <p:cNvGrpSpPr/>
            <p:nvPr/>
          </p:nvGrpSpPr>
          <p:grpSpPr>
            <a:xfrm>
              <a:off x="2571750" y="1809750"/>
              <a:ext cx="1524000" cy="857250"/>
              <a:chOff x="2571750" y="1809750"/>
              <a:chExt cx="1524000" cy="857250"/>
            </a:xfrm>
          </p:grpSpPr>
          <p:sp>
            <p:nvSpPr>
              <p:cNvPr id="23" name="任意形状 22">
                <a:extLst>
                  <a:ext uri="{FF2B5EF4-FFF2-40B4-BE49-F238E27FC236}">
                    <a16:creationId xmlns:a16="http://schemas.microsoft.com/office/drawing/2014/main" id="{9328AB66-FFAF-91F8-9380-B0C0D42D1C7E}"/>
                  </a:ext>
                </a:extLst>
              </p:cNvPr>
              <p:cNvSpPr/>
              <p:nvPr/>
            </p:nvSpPr>
            <p:spPr>
              <a:xfrm>
                <a:off x="2571750" y="1809750"/>
                <a:ext cx="1524000" cy="857250"/>
              </a:xfrm>
              <a:custGeom>
                <a:avLst/>
                <a:gdLst>
                  <a:gd name="csX0" fmla="*/ 57150 w 1524000"/>
                  <a:gd name="csY0" fmla="*/ 0 h 857250"/>
                  <a:gd name="csX1" fmla="*/ 1466850 w 1524000"/>
                  <a:gd name="csY1" fmla="*/ 0 h 857250"/>
                  <a:gd name="csX2" fmla="*/ 1524000 w 1524000"/>
                  <a:gd name="csY2" fmla="*/ 57150 h 857250"/>
                  <a:gd name="csX3" fmla="*/ 1524000 w 1524000"/>
                  <a:gd name="csY3" fmla="*/ 800100 h 857250"/>
                  <a:gd name="csX4" fmla="*/ 1466850 w 1524000"/>
                  <a:gd name="csY4" fmla="*/ 857250 h 857250"/>
                  <a:gd name="csX5" fmla="*/ 57150 w 1524000"/>
                  <a:gd name="csY5" fmla="*/ 857250 h 857250"/>
                  <a:gd name="csX6" fmla="*/ 0 w 1524000"/>
                  <a:gd name="csY6" fmla="*/ 800100 h 857250"/>
                  <a:gd name="csX7" fmla="*/ 0 w 1524000"/>
                  <a:gd name="csY7" fmla="*/ 57150 h 857250"/>
                  <a:gd name="csX8" fmla="*/ 57150 w 1524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857250">
                    <a:moveTo>
                      <a:pt x="57150" y="0"/>
                    </a:moveTo>
                    <a:lnTo>
                      <a:pt x="1466850" y="0"/>
                    </a:lnTo>
                    <a:cubicBezTo>
                      <a:pt x="1498413" y="0"/>
                      <a:pt x="1524000" y="25587"/>
                      <a:pt x="1524000" y="57150"/>
                    </a:cubicBezTo>
                    <a:lnTo>
                      <a:pt x="1524000" y="800100"/>
                    </a:lnTo>
                    <a:cubicBezTo>
                      <a:pt x="1524000" y="831663"/>
                      <a:pt x="1498413" y="857250"/>
                      <a:pt x="1466850" y="857250"/>
                    </a:cubicBezTo>
                    <a:lnTo>
                      <a:pt x="57150" y="857250"/>
                    </a:lnTo>
                    <a:cubicBezTo>
                      <a:pt x="25587" y="857250"/>
                      <a:pt x="0" y="831663"/>
                      <a:pt x="0" y="80010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24" name="文本框 23">
                <a:extLst>
                  <a:ext uri="{FF2B5EF4-FFF2-40B4-BE49-F238E27FC236}">
                    <a16:creationId xmlns:a16="http://schemas.microsoft.com/office/drawing/2014/main" id="{4E384897-87D9-5643-9B32-E4EE76D26B6F}"/>
                  </a:ext>
                </a:extLst>
              </p:cNvPr>
              <p:cNvSpPr txBox="1"/>
              <p:nvPr/>
            </p:nvSpPr>
            <p:spPr>
              <a:xfrm>
                <a:off x="2785110" y="1928838"/>
                <a:ext cx="10972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专精特新中小企业</a:t>
                </a:r>
              </a:p>
            </p:txBody>
          </p:sp>
          <p:sp>
            <p:nvSpPr>
              <p:cNvPr id="25" name="文本框 24">
                <a:extLst>
                  <a:ext uri="{FF2B5EF4-FFF2-40B4-BE49-F238E27FC236}">
                    <a16:creationId xmlns:a16="http://schemas.microsoft.com/office/drawing/2014/main" id="{A41E764C-27F7-3E46-7173-8F40F1755142}"/>
                  </a:ext>
                </a:extLst>
              </p:cNvPr>
              <p:cNvSpPr txBox="1"/>
              <p:nvPr/>
            </p:nvSpPr>
            <p:spPr>
              <a:xfrm>
                <a:off x="2822837" y="2089219"/>
                <a:ext cx="1021824" cy="493722"/>
              </a:xfrm>
              <a:prstGeom prst="rect">
                <a:avLst/>
              </a:prstGeom>
              <a:noFill/>
            </p:spPr>
            <p:txBody>
              <a:bodyPr wrap="none" rtlCol="0">
                <a:spAutoFit/>
              </a:bodyPr>
              <a:lstStyle/>
              <a:p>
                <a:pPr algn="l"/>
                <a:r>
                  <a:rPr lang="zh-CN" altLang="en-US" sz="2400" b="1" spc="0" baseline="0">
                    <a:ln/>
                    <a:solidFill>
                      <a:srgbClr val="4A90D9"/>
                    </a:solidFill>
                    <a:latin typeface="微软雅黑"/>
                    <a:ea typeface="微软雅黑"/>
                    <a:sym typeface="微软雅黑"/>
                    <a:rtl val="0"/>
                  </a:rPr>
                  <a:t>5,591</a:t>
                </a:r>
              </a:p>
            </p:txBody>
          </p:sp>
          <p:sp>
            <p:nvSpPr>
              <p:cNvPr id="26" name="文本框 25">
                <a:extLst>
                  <a:ext uri="{FF2B5EF4-FFF2-40B4-BE49-F238E27FC236}">
                    <a16:creationId xmlns:a16="http://schemas.microsoft.com/office/drawing/2014/main" id="{E7AABB28-26D7-413C-D191-92484900A268}"/>
                  </a:ext>
                </a:extLst>
              </p:cNvPr>
              <p:cNvSpPr txBox="1"/>
              <p:nvPr/>
            </p:nvSpPr>
            <p:spPr>
              <a:xfrm>
                <a:off x="3189922" y="2462791"/>
                <a:ext cx="2876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家</a:t>
                </a:r>
              </a:p>
            </p:txBody>
          </p:sp>
        </p:grpSp>
        <p:grpSp>
          <p:nvGrpSpPr>
            <p:cNvPr id="27" name="SVG Image 17">
              <a:extLst>
                <a:ext uri="{FF2B5EF4-FFF2-40B4-BE49-F238E27FC236}">
                  <a16:creationId xmlns:a16="http://schemas.microsoft.com/office/drawing/2014/main" id="{D0C02B2E-63EC-CF1F-8FE1-A837187EC507}"/>
                </a:ext>
              </a:extLst>
            </p:cNvPr>
            <p:cNvGrpSpPr/>
            <p:nvPr/>
          </p:nvGrpSpPr>
          <p:grpSpPr>
            <a:xfrm>
              <a:off x="4286250" y="1809750"/>
              <a:ext cx="1524000" cy="857250"/>
              <a:chOff x="4286250" y="1809750"/>
              <a:chExt cx="1524000" cy="857250"/>
            </a:xfrm>
          </p:grpSpPr>
          <p:sp>
            <p:nvSpPr>
              <p:cNvPr id="28" name="任意形状 27">
                <a:extLst>
                  <a:ext uri="{FF2B5EF4-FFF2-40B4-BE49-F238E27FC236}">
                    <a16:creationId xmlns:a16="http://schemas.microsoft.com/office/drawing/2014/main" id="{04485E77-78FC-E9B2-0244-0C011C6F51E7}"/>
                  </a:ext>
                </a:extLst>
              </p:cNvPr>
              <p:cNvSpPr/>
              <p:nvPr/>
            </p:nvSpPr>
            <p:spPr>
              <a:xfrm>
                <a:off x="4286250" y="1809750"/>
                <a:ext cx="1524000" cy="857250"/>
              </a:xfrm>
              <a:custGeom>
                <a:avLst/>
                <a:gdLst>
                  <a:gd name="csX0" fmla="*/ 57150 w 1524000"/>
                  <a:gd name="csY0" fmla="*/ 0 h 857250"/>
                  <a:gd name="csX1" fmla="*/ 1466850 w 1524000"/>
                  <a:gd name="csY1" fmla="*/ 0 h 857250"/>
                  <a:gd name="csX2" fmla="*/ 1524000 w 1524000"/>
                  <a:gd name="csY2" fmla="*/ 57150 h 857250"/>
                  <a:gd name="csX3" fmla="*/ 1524000 w 1524000"/>
                  <a:gd name="csY3" fmla="*/ 800100 h 857250"/>
                  <a:gd name="csX4" fmla="*/ 1466850 w 1524000"/>
                  <a:gd name="csY4" fmla="*/ 857250 h 857250"/>
                  <a:gd name="csX5" fmla="*/ 57150 w 1524000"/>
                  <a:gd name="csY5" fmla="*/ 857250 h 857250"/>
                  <a:gd name="csX6" fmla="*/ 0 w 1524000"/>
                  <a:gd name="csY6" fmla="*/ 800100 h 857250"/>
                  <a:gd name="csX7" fmla="*/ 0 w 1524000"/>
                  <a:gd name="csY7" fmla="*/ 57150 h 857250"/>
                  <a:gd name="csX8" fmla="*/ 57150 w 1524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857250">
                    <a:moveTo>
                      <a:pt x="57150" y="0"/>
                    </a:moveTo>
                    <a:lnTo>
                      <a:pt x="1466850" y="0"/>
                    </a:lnTo>
                    <a:cubicBezTo>
                      <a:pt x="1498413" y="0"/>
                      <a:pt x="1524000" y="25587"/>
                      <a:pt x="1524000" y="57150"/>
                    </a:cubicBezTo>
                    <a:lnTo>
                      <a:pt x="1524000" y="800100"/>
                    </a:lnTo>
                    <a:cubicBezTo>
                      <a:pt x="1524000" y="831663"/>
                      <a:pt x="1498413" y="857250"/>
                      <a:pt x="1466850" y="857250"/>
                    </a:cubicBezTo>
                    <a:lnTo>
                      <a:pt x="57150" y="857250"/>
                    </a:lnTo>
                    <a:cubicBezTo>
                      <a:pt x="25587" y="857250"/>
                      <a:pt x="0" y="831663"/>
                      <a:pt x="0" y="80010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29" name="文本框 28">
                <a:extLst>
                  <a:ext uri="{FF2B5EF4-FFF2-40B4-BE49-F238E27FC236}">
                    <a16:creationId xmlns:a16="http://schemas.microsoft.com/office/drawing/2014/main" id="{97D6135A-8FA8-8162-D372-E7F73F32F7AF}"/>
                  </a:ext>
                </a:extLst>
              </p:cNvPr>
              <p:cNvSpPr txBox="1"/>
              <p:nvPr/>
            </p:nvSpPr>
            <p:spPr>
              <a:xfrm>
                <a:off x="4506976" y="1928838"/>
                <a:ext cx="1082546"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专精特新"小巨人"</a:t>
                </a:r>
              </a:p>
            </p:txBody>
          </p:sp>
          <p:sp>
            <p:nvSpPr>
              <p:cNvPr id="30" name="文本框 29">
                <a:extLst>
                  <a:ext uri="{FF2B5EF4-FFF2-40B4-BE49-F238E27FC236}">
                    <a16:creationId xmlns:a16="http://schemas.microsoft.com/office/drawing/2014/main" id="{A5F223C2-A317-973D-A42E-B2D4AF81A5DF}"/>
                  </a:ext>
                </a:extLst>
              </p:cNvPr>
              <p:cNvSpPr txBox="1"/>
              <p:nvPr/>
            </p:nvSpPr>
            <p:spPr>
              <a:xfrm>
                <a:off x="4674855" y="2089219"/>
                <a:ext cx="746789" cy="493722"/>
              </a:xfrm>
              <a:prstGeom prst="rect">
                <a:avLst/>
              </a:prstGeom>
              <a:noFill/>
            </p:spPr>
            <p:txBody>
              <a:bodyPr wrap="none" rtlCol="0">
                <a:spAutoFit/>
              </a:bodyPr>
              <a:lstStyle/>
              <a:p>
                <a:pPr algn="l"/>
                <a:r>
                  <a:rPr lang="zh-CN" altLang="en-US" sz="2400" b="1" spc="0" baseline="0">
                    <a:ln/>
                    <a:solidFill>
                      <a:srgbClr val="2ECC71"/>
                    </a:solidFill>
                    <a:latin typeface="微软雅黑"/>
                    <a:ea typeface="微软雅黑"/>
                    <a:sym typeface="微软雅黑"/>
                    <a:rtl val="0"/>
                  </a:rPr>
                  <a:t>324</a:t>
                </a:r>
              </a:p>
            </p:txBody>
          </p:sp>
          <p:sp>
            <p:nvSpPr>
              <p:cNvPr id="31" name="文本框 30">
                <a:extLst>
                  <a:ext uri="{FF2B5EF4-FFF2-40B4-BE49-F238E27FC236}">
                    <a16:creationId xmlns:a16="http://schemas.microsoft.com/office/drawing/2014/main" id="{5F7F053E-32F7-E138-C165-88AC85F8B4EE}"/>
                  </a:ext>
                </a:extLst>
              </p:cNvPr>
              <p:cNvSpPr txBox="1"/>
              <p:nvPr/>
            </p:nvSpPr>
            <p:spPr>
              <a:xfrm>
                <a:off x="4904422" y="2462791"/>
                <a:ext cx="2876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家</a:t>
                </a:r>
              </a:p>
            </p:txBody>
          </p:sp>
        </p:grpSp>
        <p:grpSp>
          <p:nvGrpSpPr>
            <p:cNvPr id="32" name="SVG Image 17">
              <a:extLst>
                <a:ext uri="{FF2B5EF4-FFF2-40B4-BE49-F238E27FC236}">
                  <a16:creationId xmlns:a16="http://schemas.microsoft.com/office/drawing/2014/main" id="{EBFD2084-5DE5-3457-6D2F-7092992B4304}"/>
                </a:ext>
              </a:extLst>
            </p:cNvPr>
            <p:cNvGrpSpPr/>
            <p:nvPr/>
          </p:nvGrpSpPr>
          <p:grpSpPr>
            <a:xfrm>
              <a:off x="857250" y="2857500"/>
              <a:ext cx="1524000" cy="857250"/>
              <a:chOff x="857250" y="2857500"/>
              <a:chExt cx="1524000" cy="857250"/>
            </a:xfrm>
          </p:grpSpPr>
          <p:sp>
            <p:nvSpPr>
              <p:cNvPr id="33" name="任意形状 32">
                <a:extLst>
                  <a:ext uri="{FF2B5EF4-FFF2-40B4-BE49-F238E27FC236}">
                    <a16:creationId xmlns:a16="http://schemas.microsoft.com/office/drawing/2014/main" id="{18A85087-B062-2C23-79E4-1AEC8AE44968}"/>
                  </a:ext>
                </a:extLst>
              </p:cNvPr>
              <p:cNvSpPr/>
              <p:nvPr/>
            </p:nvSpPr>
            <p:spPr>
              <a:xfrm>
                <a:off x="857250" y="2857500"/>
                <a:ext cx="1524000" cy="857250"/>
              </a:xfrm>
              <a:custGeom>
                <a:avLst/>
                <a:gdLst>
                  <a:gd name="csX0" fmla="*/ 57150 w 1524000"/>
                  <a:gd name="csY0" fmla="*/ 0 h 857250"/>
                  <a:gd name="csX1" fmla="*/ 1466850 w 1524000"/>
                  <a:gd name="csY1" fmla="*/ 0 h 857250"/>
                  <a:gd name="csX2" fmla="*/ 1524000 w 1524000"/>
                  <a:gd name="csY2" fmla="*/ 57150 h 857250"/>
                  <a:gd name="csX3" fmla="*/ 1524000 w 1524000"/>
                  <a:gd name="csY3" fmla="*/ 800100 h 857250"/>
                  <a:gd name="csX4" fmla="*/ 1466850 w 1524000"/>
                  <a:gd name="csY4" fmla="*/ 857250 h 857250"/>
                  <a:gd name="csX5" fmla="*/ 57150 w 1524000"/>
                  <a:gd name="csY5" fmla="*/ 857250 h 857250"/>
                  <a:gd name="csX6" fmla="*/ 0 w 1524000"/>
                  <a:gd name="csY6" fmla="*/ 800100 h 857250"/>
                  <a:gd name="csX7" fmla="*/ 0 w 1524000"/>
                  <a:gd name="csY7" fmla="*/ 57150 h 857250"/>
                  <a:gd name="csX8" fmla="*/ 57150 w 1524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857250">
                    <a:moveTo>
                      <a:pt x="57150" y="0"/>
                    </a:moveTo>
                    <a:lnTo>
                      <a:pt x="1466850" y="0"/>
                    </a:lnTo>
                    <a:cubicBezTo>
                      <a:pt x="1498413" y="0"/>
                      <a:pt x="1524000" y="25587"/>
                      <a:pt x="1524000" y="57150"/>
                    </a:cubicBezTo>
                    <a:lnTo>
                      <a:pt x="1524000" y="800100"/>
                    </a:lnTo>
                    <a:cubicBezTo>
                      <a:pt x="1524000" y="831663"/>
                      <a:pt x="1498413" y="857250"/>
                      <a:pt x="1466850" y="857250"/>
                    </a:cubicBezTo>
                    <a:lnTo>
                      <a:pt x="57150" y="857250"/>
                    </a:lnTo>
                    <a:cubicBezTo>
                      <a:pt x="25587" y="857250"/>
                      <a:pt x="0" y="831663"/>
                      <a:pt x="0" y="80010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34" name="文本框 33">
                <a:extLst>
                  <a:ext uri="{FF2B5EF4-FFF2-40B4-BE49-F238E27FC236}">
                    <a16:creationId xmlns:a16="http://schemas.microsoft.com/office/drawing/2014/main" id="{D8D38CDC-37AD-D761-02A8-8AC3810D0E6D}"/>
                  </a:ext>
                </a:extLst>
              </p:cNvPr>
              <p:cNvSpPr txBox="1"/>
              <p:nvPr/>
            </p:nvSpPr>
            <p:spPr>
              <a:xfrm>
                <a:off x="1003935" y="2967616"/>
                <a:ext cx="123063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科技部科技型中小企业</a:t>
                </a:r>
              </a:p>
            </p:txBody>
          </p:sp>
          <p:sp>
            <p:nvSpPr>
              <p:cNvPr id="35" name="文本框 34">
                <a:extLst>
                  <a:ext uri="{FF2B5EF4-FFF2-40B4-BE49-F238E27FC236}">
                    <a16:creationId xmlns:a16="http://schemas.microsoft.com/office/drawing/2014/main" id="{6612E9F5-7830-7909-4C71-58FE05F08738}"/>
                  </a:ext>
                </a:extLst>
              </p:cNvPr>
              <p:cNvSpPr txBox="1"/>
              <p:nvPr/>
            </p:nvSpPr>
            <p:spPr>
              <a:xfrm>
                <a:off x="1213205" y="3141397"/>
                <a:ext cx="812088" cy="393151"/>
              </a:xfrm>
              <a:prstGeom prst="rect">
                <a:avLst/>
              </a:prstGeom>
              <a:noFill/>
            </p:spPr>
            <p:txBody>
              <a:bodyPr wrap="none" rtlCol="0">
                <a:spAutoFit/>
              </a:bodyPr>
              <a:lstStyle/>
              <a:p>
                <a:pPr algn="l"/>
                <a:r>
                  <a:rPr lang="zh-CN" altLang="en-US" sz="1800" b="1" spc="0" baseline="0">
                    <a:ln/>
                    <a:solidFill>
                      <a:srgbClr val="1E3A5F"/>
                    </a:solidFill>
                    <a:latin typeface="微软雅黑"/>
                    <a:ea typeface="微软雅黑"/>
                    <a:sym typeface="微软雅黑"/>
                    <a:rtl val="0"/>
                  </a:rPr>
                  <a:t>3,347</a:t>
                </a:r>
              </a:p>
            </p:txBody>
          </p:sp>
          <p:sp>
            <p:nvSpPr>
              <p:cNvPr id="36" name="文本框 35">
                <a:extLst>
                  <a:ext uri="{FF2B5EF4-FFF2-40B4-BE49-F238E27FC236}">
                    <a16:creationId xmlns:a16="http://schemas.microsoft.com/office/drawing/2014/main" id="{8FB7B28A-449A-1B69-C18A-0F71DDD53D3D}"/>
                  </a:ext>
                </a:extLst>
              </p:cNvPr>
              <p:cNvSpPr txBox="1"/>
              <p:nvPr/>
            </p:nvSpPr>
            <p:spPr>
              <a:xfrm>
                <a:off x="1475422" y="3491491"/>
                <a:ext cx="2876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家</a:t>
                </a:r>
              </a:p>
            </p:txBody>
          </p:sp>
        </p:grpSp>
        <p:grpSp>
          <p:nvGrpSpPr>
            <p:cNvPr id="37" name="SVG Image 17">
              <a:extLst>
                <a:ext uri="{FF2B5EF4-FFF2-40B4-BE49-F238E27FC236}">
                  <a16:creationId xmlns:a16="http://schemas.microsoft.com/office/drawing/2014/main" id="{1215AACA-CACF-D79B-2DF3-8F68658F896A}"/>
                </a:ext>
              </a:extLst>
            </p:cNvPr>
            <p:cNvGrpSpPr/>
            <p:nvPr/>
          </p:nvGrpSpPr>
          <p:grpSpPr>
            <a:xfrm>
              <a:off x="2571750" y="2857500"/>
              <a:ext cx="1524000" cy="857250"/>
              <a:chOff x="2571750" y="2857500"/>
              <a:chExt cx="1524000" cy="857250"/>
            </a:xfrm>
          </p:grpSpPr>
          <p:sp>
            <p:nvSpPr>
              <p:cNvPr id="38" name="任意形状 37">
                <a:extLst>
                  <a:ext uri="{FF2B5EF4-FFF2-40B4-BE49-F238E27FC236}">
                    <a16:creationId xmlns:a16="http://schemas.microsoft.com/office/drawing/2014/main" id="{4520DE44-7437-5DD4-F1FF-7EAAA394C7CC}"/>
                  </a:ext>
                </a:extLst>
              </p:cNvPr>
              <p:cNvSpPr/>
              <p:nvPr/>
            </p:nvSpPr>
            <p:spPr>
              <a:xfrm>
                <a:off x="2571750" y="2857500"/>
                <a:ext cx="1524000" cy="857250"/>
              </a:xfrm>
              <a:custGeom>
                <a:avLst/>
                <a:gdLst>
                  <a:gd name="csX0" fmla="*/ 57150 w 1524000"/>
                  <a:gd name="csY0" fmla="*/ 0 h 857250"/>
                  <a:gd name="csX1" fmla="*/ 1466850 w 1524000"/>
                  <a:gd name="csY1" fmla="*/ 0 h 857250"/>
                  <a:gd name="csX2" fmla="*/ 1524000 w 1524000"/>
                  <a:gd name="csY2" fmla="*/ 57150 h 857250"/>
                  <a:gd name="csX3" fmla="*/ 1524000 w 1524000"/>
                  <a:gd name="csY3" fmla="*/ 800100 h 857250"/>
                  <a:gd name="csX4" fmla="*/ 1466850 w 1524000"/>
                  <a:gd name="csY4" fmla="*/ 857250 h 857250"/>
                  <a:gd name="csX5" fmla="*/ 57150 w 1524000"/>
                  <a:gd name="csY5" fmla="*/ 857250 h 857250"/>
                  <a:gd name="csX6" fmla="*/ 0 w 1524000"/>
                  <a:gd name="csY6" fmla="*/ 800100 h 857250"/>
                  <a:gd name="csX7" fmla="*/ 0 w 1524000"/>
                  <a:gd name="csY7" fmla="*/ 57150 h 857250"/>
                  <a:gd name="csX8" fmla="*/ 57150 w 1524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857250">
                    <a:moveTo>
                      <a:pt x="57150" y="0"/>
                    </a:moveTo>
                    <a:lnTo>
                      <a:pt x="1466850" y="0"/>
                    </a:lnTo>
                    <a:cubicBezTo>
                      <a:pt x="1498413" y="0"/>
                      <a:pt x="1524000" y="25587"/>
                      <a:pt x="1524000" y="57150"/>
                    </a:cubicBezTo>
                    <a:lnTo>
                      <a:pt x="1524000" y="800100"/>
                    </a:lnTo>
                    <a:cubicBezTo>
                      <a:pt x="1524000" y="831663"/>
                      <a:pt x="1498413" y="857250"/>
                      <a:pt x="1466850" y="857250"/>
                    </a:cubicBezTo>
                    <a:lnTo>
                      <a:pt x="57150" y="857250"/>
                    </a:lnTo>
                    <a:cubicBezTo>
                      <a:pt x="25587" y="857250"/>
                      <a:pt x="0" y="831663"/>
                      <a:pt x="0" y="80010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39" name="文本框 38">
                <a:extLst>
                  <a:ext uri="{FF2B5EF4-FFF2-40B4-BE49-F238E27FC236}">
                    <a16:creationId xmlns:a16="http://schemas.microsoft.com/office/drawing/2014/main" id="{C3109522-8406-AE3C-5D50-F795D667057A}"/>
                  </a:ext>
                </a:extLst>
              </p:cNvPr>
              <p:cNvSpPr txBox="1"/>
              <p:nvPr/>
            </p:nvSpPr>
            <p:spPr>
              <a:xfrm>
                <a:off x="2875597" y="2967616"/>
                <a:ext cx="91630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创新型中小企业</a:t>
                </a:r>
              </a:p>
            </p:txBody>
          </p:sp>
          <p:sp>
            <p:nvSpPr>
              <p:cNvPr id="40" name="文本框 39">
                <a:extLst>
                  <a:ext uri="{FF2B5EF4-FFF2-40B4-BE49-F238E27FC236}">
                    <a16:creationId xmlns:a16="http://schemas.microsoft.com/office/drawing/2014/main" id="{C2E11BDC-E369-6FA4-64E9-30E3E859DC02}"/>
                  </a:ext>
                </a:extLst>
              </p:cNvPr>
              <p:cNvSpPr txBox="1"/>
              <p:nvPr/>
            </p:nvSpPr>
            <p:spPr>
              <a:xfrm>
                <a:off x="2927705" y="3141397"/>
                <a:ext cx="812088" cy="393151"/>
              </a:xfrm>
              <a:prstGeom prst="rect">
                <a:avLst/>
              </a:prstGeom>
              <a:noFill/>
            </p:spPr>
            <p:txBody>
              <a:bodyPr wrap="none" rtlCol="0">
                <a:spAutoFit/>
              </a:bodyPr>
              <a:lstStyle/>
              <a:p>
                <a:pPr algn="l"/>
                <a:r>
                  <a:rPr lang="zh-CN" altLang="en-US" sz="1800" b="1" spc="0" baseline="0">
                    <a:ln/>
                    <a:solidFill>
                      <a:srgbClr val="1E3A5F"/>
                    </a:solidFill>
                    <a:latin typeface="微软雅黑"/>
                    <a:ea typeface="微软雅黑"/>
                    <a:sym typeface="微软雅黑"/>
                    <a:rtl val="0"/>
                  </a:rPr>
                  <a:t>8,236</a:t>
                </a:r>
              </a:p>
            </p:txBody>
          </p:sp>
          <p:sp>
            <p:nvSpPr>
              <p:cNvPr id="41" name="文本框 40">
                <a:extLst>
                  <a:ext uri="{FF2B5EF4-FFF2-40B4-BE49-F238E27FC236}">
                    <a16:creationId xmlns:a16="http://schemas.microsoft.com/office/drawing/2014/main" id="{78A84F7C-F5CC-ABF6-DD06-93336B724368}"/>
                  </a:ext>
                </a:extLst>
              </p:cNvPr>
              <p:cNvSpPr txBox="1"/>
              <p:nvPr/>
            </p:nvSpPr>
            <p:spPr>
              <a:xfrm>
                <a:off x="3189922" y="3491491"/>
                <a:ext cx="2876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家</a:t>
                </a:r>
              </a:p>
            </p:txBody>
          </p:sp>
        </p:grpSp>
        <p:grpSp>
          <p:nvGrpSpPr>
            <p:cNvPr id="42" name="SVG Image 17">
              <a:extLst>
                <a:ext uri="{FF2B5EF4-FFF2-40B4-BE49-F238E27FC236}">
                  <a16:creationId xmlns:a16="http://schemas.microsoft.com/office/drawing/2014/main" id="{15CF89DB-98C7-4436-ACBA-8ACD1E85D01A}"/>
                </a:ext>
              </a:extLst>
            </p:cNvPr>
            <p:cNvGrpSpPr/>
            <p:nvPr/>
          </p:nvGrpSpPr>
          <p:grpSpPr>
            <a:xfrm>
              <a:off x="4286250" y="2857500"/>
              <a:ext cx="1524000" cy="857250"/>
              <a:chOff x="4286250" y="2857500"/>
              <a:chExt cx="1524000" cy="857250"/>
            </a:xfrm>
          </p:grpSpPr>
          <p:sp>
            <p:nvSpPr>
              <p:cNvPr id="43" name="任意形状 42">
                <a:extLst>
                  <a:ext uri="{FF2B5EF4-FFF2-40B4-BE49-F238E27FC236}">
                    <a16:creationId xmlns:a16="http://schemas.microsoft.com/office/drawing/2014/main" id="{6B48F7BF-0CF3-4CB6-E15D-FF4C7610221E}"/>
                  </a:ext>
                </a:extLst>
              </p:cNvPr>
              <p:cNvSpPr/>
              <p:nvPr/>
            </p:nvSpPr>
            <p:spPr>
              <a:xfrm>
                <a:off x="4286250" y="2857500"/>
                <a:ext cx="1524000" cy="857250"/>
              </a:xfrm>
              <a:custGeom>
                <a:avLst/>
                <a:gdLst>
                  <a:gd name="csX0" fmla="*/ 57150 w 1524000"/>
                  <a:gd name="csY0" fmla="*/ 0 h 857250"/>
                  <a:gd name="csX1" fmla="*/ 1466850 w 1524000"/>
                  <a:gd name="csY1" fmla="*/ 0 h 857250"/>
                  <a:gd name="csX2" fmla="*/ 1524000 w 1524000"/>
                  <a:gd name="csY2" fmla="*/ 57150 h 857250"/>
                  <a:gd name="csX3" fmla="*/ 1524000 w 1524000"/>
                  <a:gd name="csY3" fmla="*/ 800100 h 857250"/>
                  <a:gd name="csX4" fmla="*/ 1466850 w 1524000"/>
                  <a:gd name="csY4" fmla="*/ 857250 h 857250"/>
                  <a:gd name="csX5" fmla="*/ 57150 w 1524000"/>
                  <a:gd name="csY5" fmla="*/ 857250 h 857250"/>
                  <a:gd name="csX6" fmla="*/ 0 w 1524000"/>
                  <a:gd name="csY6" fmla="*/ 800100 h 857250"/>
                  <a:gd name="csX7" fmla="*/ 0 w 1524000"/>
                  <a:gd name="csY7" fmla="*/ 57150 h 857250"/>
                  <a:gd name="csX8" fmla="*/ 57150 w 1524000"/>
                  <a:gd name="csY8" fmla="*/ 0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857250">
                    <a:moveTo>
                      <a:pt x="57150" y="0"/>
                    </a:moveTo>
                    <a:lnTo>
                      <a:pt x="1466850" y="0"/>
                    </a:lnTo>
                    <a:cubicBezTo>
                      <a:pt x="1498413" y="0"/>
                      <a:pt x="1524000" y="25587"/>
                      <a:pt x="1524000" y="57150"/>
                    </a:cubicBezTo>
                    <a:lnTo>
                      <a:pt x="1524000" y="800100"/>
                    </a:lnTo>
                    <a:cubicBezTo>
                      <a:pt x="1524000" y="831663"/>
                      <a:pt x="1498413" y="857250"/>
                      <a:pt x="1466850" y="857250"/>
                    </a:cubicBezTo>
                    <a:lnTo>
                      <a:pt x="57150" y="857250"/>
                    </a:lnTo>
                    <a:cubicBezTo>
                      <a:pt x="25587" y="857250"/>
                      <a:pt x="0" y="831663"/>
                      <a:pt x="0" y="80010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44" name="文本框 43">
                <a:extLst>
                  <a:ext uri="{FF2B5EF4-FFF2-40B4-BE49-F238E27FC236}">
                    <a16:creationId xmlns:a16="http://schemas.microsoft.com/office/drawing/2014/main" id="{1A899C53-6BE4-352F-4547-DA581C91E048}"/>
                  </a:ext>
                </a:extLst>
              </p:cNvPr>
              <p:cNvSpPr txBox="1"/>
              <p:nvPr/>
            </p:nvSpPr>
            <p:spPr>
              <a:xfrm>
                <a:off x="4537710" y="2967616"/>
                <a:ext cx="10210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国家企业技术中心</a:t>
                </a:r>
              </a:p>
            </p:txBody>
          </p:sp>
          <p:sp>
            <p:nvSpPr>
              <p:cNvPr id="45" name="文本框 44">
                <a:extLst>
                  <a:ext uri="{FF2B5EF4-FFF2-40B4-BE49-F238E27FC236}">
                    <a16:creationId xmlns:a16="http://schemas.microsoft.com/office/drawing/2014/main" id="{64D0C49F-2C9B-6D73-BD0E-7C83E8E93D00}"/>
                  </a:ext>
                </a:extLst>
              </p:cNvPr>
              <p:cNvSpPr txBox="1"/>
              <p:nvPr/>
            </p:nvSpPr>
            <p:spPr>
              <a:xfrm>
                <a:off x="4815832" y="3141397"/>
                <a:ext cx="464834" cy="393151"/>
              </a:xfrm>
              <a:prstGeom prst="rect">
                <a:avLst/>
              </a:prstGeom>
              <a:noFill/>
            </p:spPr>
            <p:txBody>
              <a:bodyPr wrap="none" rtlCol="0">
                <a:spAutoFit/>
              </a:bodyPr>
              <a:lstStyle/>
              <a:p>
                <a:pPr algn="l"/>
                <a:r>
                  <a:rPr lang="zh-CN" altLang="en-US" sz="1800" b="1" spc="0" baseline="0">
                    <a:ln/>
                    <a:solidFill>
                      <a:srgbClr val="1E3A5F"/>
                    </a:solidFill>
                    <a:latin typeface="微软雅黑"/>
                    <a:ea typeface="微软雅黑"/>
                    <a:sym typeface="微软雅黑"/>
                    <a:rtl val="0"/>
                  </a:rPr>
                  <a:t>54</a:t>
                </a:r>
              </a:p>
            </p:txBody>
          </p:sp>
          <p:sp>
            <p:nvSpPr>
              <p:cNvPr id="46" name="文本框 45">
                <a:extLst>
                  <a:ext uri="{FF2B5EF4-FFF2-40B4-BE49-F238E27FC236}">
                    <a16:creationId xmlns:a16="http://schemas.microsoft.com/office/drawing/2014/main" id="{9E821494-DFC6-0654-2C67-E6A839C41FC1}"/>
                  </a:ext>
                </a:extLst>
              </p:cNvPr>
              <p:cNvSpPr txBox="1"/>
              <p:nvPr/>
            </p:nvSpPr>
            <p:spPr>
              <a:xfrm>
                <a:off x="4904422" y="3491491"/>
                <a:ext cx="2876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家</a:t>
                </a:r>
              </a:p>
            </p:txBody>
          </p:sp>
        </p:grpSp>
      </p:grpSp>
      <p:grpSp>
        <p:nvGrpSpPr>
          <p:cNvPr id="47" name="SVG Image 17">
            <a:extLst>
              <a:ext uri="{FF2B5EF4-FFF2-40B4-BE49-F238E27FC236}">
                <a16:creationId xmlns:a16="http://schemas.microsoft.com/office/drawing/2014/main" id="{0FF135E2-9C41-1A95-7597-5DABD9108332}"/>
              </a:ext>
            </a:extLst>
          </p:cNvPr>
          <p:cNvGrpSpPr/>
          <p:nvPr/>
        </p:nvGrpSpPr>
        <p:grpSpPr>
          <a:xfrm>
            <a:off x="6286500" y="1238250"/>
            <a:ext cx="5334000" cy="2667000"/>
            <a:chOff x="6286500" y="1238250"/>
            <a:chExt cx="5334000" cy="2667000"/>
          </a:xfrm>
        </p:grpSpPr>
        <p:sp>
          <p:nvSpPr>
            <p:cNvPr id="48" name="任意形状 47">
              <a:extLst>
                <a:ext uri="{FF2B5EF4-FFF2-40B4-BE49-F238E27FC236}">
                  <a16:creationId xmlns:a16="http://schemas.microsoft.com/office/drawing/2014/main" id="{B29D0144-7A45-E8BB-10F9-965B6AA3D4B1}"/>
                </a:ext>
              </a:extLst>
            </p:cNvPr>
            <p:cNvSpPr/>
            <p:nvPr/>
          </p:nvSpPr>
          <p:spPr>
            <a:xfrm>
              <a:off x="6286500" y="1238250"/>
              <a:ext cx="5334000" cy="2667000"/>
            </a:xfrm>
            <a:custGeom>
              <a:avLst/>
              <a:gdLst>
                <a:gd name="csX0" fmla="*/ 76200 w 5334000"/>
                <a:gd name="csY0" fmla="*/ 0 h 2667000"/>
                <a:gd name="csX1" fmla="*/ 5257800 w 5334000"/>
                <a:gd name="csY1" fmla="*/ 0 h 2667000"/>
                <a:gd name="csX2" fmla="*/ 5334000 w 5334000"/>
                <a:gd name="csY2" fmla="*/ 76200 h 2667000"/>
                <a:gd name="csX3" fmla="*/ 5334000 w 5334000"/>
                <a:gd name="csY3" fmla="*/ 2590800 h 2667000"/>
                <a:gd name="csX4" fmla="*/ 5257800 w 5334000"/>
                <a:gd name="csY4" fmla="*/ 2667000 h 2667000"/>
                <a:gd name="csX5" fmla="*/ 76200 w 5334000"/>
                <a:gd name="csY5" fmla="*/ 2667000 h 2667000"/>
                <a:gd name="csX6" fmla="*/ 0 w 5334000"/>
                <a:gd name="csY6" fmla="*/ 2590800 h 2667000"/>
                <a:gd name="csX7" fmla="*/ 0 w 5334000"/>
                <a:gd name="csY7" fmla="*/ 76200 h 2667000"/>
                <a:gd name="csX8" fmla="*/ 76200 w 5334000"/>
                <a:gd name="csY8" fmla="*/ 0 h 2667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2667000">
                  <a:moveTo>
                    <a:pt x="76200" y="0"/>
                  </a:moveTo>
                  <a:lnTo>
                    <a:pt x="5257800" y="0"/>
                  </a:lnTo>
                  <a:cubicBezTo>
                    <a:pt x="5299885" y="0"/>
                    <a:pt x="5334000" y="34116"/>
                    <a:pt x="5334000" y="76200"/>
                  </a:cubicBezTo>
                  <a:lnTo>
                    <a:pt x="5334000" y="2590800"/>
                  </a:lnTo>
                  <a:cubicBezTo>
                    <a:pt x="5334000" y="2632884"/>
                    <a:pt x="5299885" y="2667000"/>
                    <a:pt x="5257800" y="2667000"/>
                  </a:cubicBezTo>
                  <a:lnTo>
                    <a:pt x="76200" y="2667000"/>
                  </a:lnTo>
                  <a:cubicBezTo>
                    <a:pt x="34116" y="2667000"/>
                    <a:pt x="0" y="2632884"/>
                    <a:pt x="0" y="2590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49" name="文本框 48">
              <a:extLst>
                <a:ext uri="{FF2B5EF4-FFF2-40B4-BE49-F238E27FC236}">
                  <a16:creationId xmlns:a16="http://schemas.microsoft.com/office/drawing/2014/main" id="{41E698E9-425E-1B8E-9382-19A1D2D5D6EC}"/>
                </a:ext>
              </a:extLst>
            </p:cNvPr>
            <p:cNvSpPr txBox="1"/>
            <p:nvPr/>
          </p:nvSpPr>
          <p:spPr>
            <a:xfrm>
              <a:off x="6480810" y="1344492"/>
              <a:ext cx="1180186" cy="317723"/>
            </a:xfrm>
            <a:prstGeom prst="rect">
              <a:avLst/>
            </a:prstGeom>
            <a:noFill/>
          </p:spPr>
          <p:txBody>
            <a:bodyPr wrap="none" rtlCol="0">
              <a:spAutoFit/>
            </a:bodyPr>
            <a:lstStyle/>
            <a:p>
              <a:pPr algn="l"/>
              <a:r>
                <a:rPr lang="zh-CN" altLang="en-US" sz="1350" b="1" spc="0" baseline="0">
                  <a:ln/>
                  <a:solidFill>
                    <a:srgbClr val="1E3A5F"/>
                  </a:solidFill>
                  <a:latin typeface="微软雅黑"/>
                  <a:ea typeface="微软雅黑"/>
                  <a:sym typeface="微软雅黑"/>
                  <a:rtl val="0"/>
                </a:rPr>
                <a:t>7.2 国有企业</a:t>
              </a:r>
            </a:p>
          </p:txBody>
        </p:sp>
        <p:sp>
          <p:nvSpPr>
            <p:cNvPr id="50" name="文本框 49">
              <a:extLst>
                <a:ext uri="{FF2B5EF4-FFF2-40B4-BE49-F238E27FC236}">
                  <a16:creationId xmlns:a16="http://schemas.microsoft.com/office/drawing/2014/main" id="{FB8F3F5D-0C13-C4AA-5C85-260CA67951AC}"/>
                </a:ext>
              </a:extLst>
            </p:cNvPr>
            <p:cNvSpPr txBox="1"/>
            <p:nvPr/>
          </p:nvSpPr>
          <p:spPr>
            <a:xfrm>
              <a:off x="8004810" y="1404963"/>
              <a:ext cx="868680" cy="242295"/>
            </a:xfrm>
            <a:prstGeom prst="rect">
              <a:avLst/>
            </a:prstGeom>
            <a:noFill/>
          </p:spPr>
          <p:txBody>
            <a:bodyPr wrap="none" rtlCol="0">
              <a:spAutoFit/>
            </a:bodyPr>
            <a:lstStyle/>
            <a:p>
              <a:pPr algn="l"/>
              <a:r>
                <a:rPr lang="zh-CN" altLang="en-US" sz="900" spc="0" baseline="0">
                  <a:ln/>
                  <a:solidFill>
                    <a:srgbClr val="4A90D9"/>
                  </a:solidFill>
                  <a:latin typeface="微软雅黑"/>
                  <a:ea typeface="微软雅黑"/>
                  <a:sym typeface="微软雅黑"/>
                  <a:rtl val="0"/>
                </a:rPr>
                <a:t>区域经济支柱</a:t>
              </a:r>
            </a:p>
          </p:txBody>
        </p:sp>
        <p:sp>
          <p:nvSpPr>
            <p:cNvPr id="51" name="任意形状 50">
              <a:extLst>
                <a:ext uri="{FF2B5EF4-FFF2-40B4-BE49-F238E27FC236}">
                  <a16:creationId xmlns:a16="http://schemas.microsoft.com/office/drawing/2014/main" id="{D6D73912-8848-A1EE-B61E-E2E7C2B9F933}"/>
                </a:ext>
              </a:extLst>
            </p:cNvPr>
            <p:cNvSpPr/>
            <p:nvPr/>
          </p:nvSpPr>
          <p:spPr>
            <a:xfrm>
              <a:off x="6572250" y="1809750"/>
              <a:ext cx="4762500" cy="1047750"/>
            </a:xfrm>
            <a:custGeom>
              <a:avLst/>
              <a:gdLst>
                <a:gd name="csX0" fmla="*/ 76200 w 4762500"/>
                <a:gd name="csY0" fmla="*/ 0 h 1047750"/>
                <a:gd name="csX1" fmla="*/ 4686300 w 4762500"/>
                <a:gd name="csY1" fmla="*/ 0 h 1047750"/>
                <a:gd name="csX2" fmla="*/ 4762500 w 4762500"/>
                <a:gd name="csY2" fmla="*/ 76200 h 1047750"/>
                <a:gd name="csX3" fmla="*/ 4762500 w 4762500"/>
                <a:gd name="csY3" fmla="*/ 971550 h 1047750"/>
                <a:gd name="csX4" fmla="*/ 4686300 w 4762500"/>
                <a:gd name="csY4" fmla="*/ 1047750 h 1047750"/>
                <a:gd name="csX5" fmla="*/ 76200 w 4762500"/>
                <a:gd name="csY5" fmla="*/ 1047750 h 1047750"/>
                <a:gd name="csX6" fmla="*/ 0 w 4762500"/>
                <a:gd name="csY6" fmla="*/ 971550 h 1047750"/>
                <a:gd name="csX7" fmla="*/ 0 w 4762500"/>
                <a:gd name="csY7" fmla="*/ 76200 h 1047750"/>
                <a:gd name="csX8" fmla="*/ 76200 w 4762500"/>
                <a:gd name="csY8" fmla="*/ 0 h 104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62500" h="1047750">
                  <a:moveTo>
                    <a:pt x="76200" y="0"/>
                  </a:moveTo>
                  <a:lnTo>
                    <a:pt x="4686300" y="0"/>
                  </a:lnTo>
                  <a:cubicBezTo>
                    <a:pt x="4728385" y="0"/>
                    <a:pt x="4762500" y="34116"/>
                    <a:pt x="4762500" y="76200"/>
                  </a:cubicBezTo>
                  <a:lnTo>
                    <a:pt x="4762500" y="971550"/>
                  </a:lnTo>
                  <a:cubicBezTo>
                    <a:pt x="4762500" y="1013634"/>
                    <a:pt x="4728385" y="1047750"/>
                    <a:pt x="4686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52" name="文本框 51">
              <a:extLst>
                <a:ext uri="{FF2B5EF4-FFF2-40B4-BE49-F238E27FC236}">
                  <a16:creationId xmlns:a16="http://schemas.microsoft.com/office/drawing/2014/main" id="{F7C07FA4-7792-93FC-FCDE-E67911A3327C}"/>
                </a:ext>
              </a:extLst>
            </p:cNvPr>
            <p:cNvSpPr txBox="1"/>
            <p:nvPr/>
          </p:nvSpPr>
          <p:spPr>
            <a:xfrm>
              <a:off x="8462010" y="1956306"/>
              <a:ext cx="982980" cy="267438"/>
            </a:xfrm>
            <a:prstGeom prst="rect">
              <a:avLst/>
            </a:prstGeom>
            <a:noFill/>
          </p:spPr>
          <p:txBody>
            <a:bodyPr wrap="none" rtlCol="0">
              <a:spAutoFit/>
            </a:bodyPr>
            <a:lstStyle/>
            <a:p>
              <a:pPr algn="l"/>
              <a:r>
                <a:rPr lang="zh-CN" altLang="en-US" sz="1050" spc="0" baseline="0">
                  <a:ln/>
                  <a:solidFill>
                    <a:srgbClr val="FFFFFF">
                      <a:alpha val="80000"/>
                    </a:srgbClr>
                  </a:solidFill>
                  <a:latin typeface="微软雅黑"/>
                  <a:ea typeface="微软雅黑"/>
                  <a:sym typeface="微软雅黑"/>
                  <a:rtl val="0"/>
                </a:rPr>
                <a:t>国有企业总数</a:t>
              </a:r>
            </a:p>
          </p:txBody>
        </p:sp>
        <p:sp>
          <p:nvSpPr>
            <p:cNvPr id="53" name="文本框 52">
              <a:extLst>
                <a:ext uri="{FF2B5EF4-FFF2-40B4-BE49-F238E27FC236}">
                  <a16:creationId xmlns:a16="http://schemas.microsoft.com/office/drawing/2014/main" id="{5E7EEB39-0C40-7168-B4BD-8DFBD11B13F3}"/>
                </a:ext>
              </a:extLst>
            </p:cNvPr>
            <p:cNvSpPr txBox="1"/>
            <p:nvPr/>
          </p:nvSpPr>
          <p:spPr>
            <a:xfrm>
              <a:off x="8127983" y="2056886"/>
              <a:ext cx="1651032" cy="795434"/>
            </a:xfrm>
            <a:prstGeom prst="rect">
              <a:avLst/>
            </a:prstGeom>
            <a:noFill/>
          </p:spPr>
          <p:txBody>
            <a:bodyPr wrap="none" rtlCol="0">
              <a:spAutoFit/>
            </a:bodyPr>
            <a:lstStyle/>
            <a:p>
              <a:pPr algn="l"/>
              <a:r>
                <a:rPr lang="zh-CN" altLang="en-US" sz="4200" b="1" spc="0" baseline="0">
                  <a:ln/>
                  <a:solidFill>
                    <a:srgbClr val="FFFFFF"/>
                  </a:solidFill>
                  <a:latin typeface="微软雅黑"/>
                  <a:ea typeface="微软雅黑"/>
                  <a:sym typeface="微软雅黑"/>
                  <a:rtl val="0"/>
                </a:rPr>
                <a:t>8,094</a:t>
              </a:r>
            </a:p>
          </p:txBody>
        </p:sp>
        <p:sp>
          <p:nvSpPr>
            <p:cNvPr id="54" name="文本框 53">
              <a:extLst>
                <a:ext uri="{FF2B5EF4-FFF2-40B4-BE49-F238E27FC236}">
                  <a16:creationId xmlns:a16="http://schemas.microsoft.com/office/drawing/2014/main" id="{41376775-060D-C028-D3C7-C464142CF733}"/>
                </a:ext>
              </a:extLst>
            </p:cNvPr>
            <p:cNvSpPr txBox="1"/>
            <p:nvPr/>
          </p:nvSpPr>
          <p:spPr>
            <a:xfrm>
              <a:off x="9909810" y="2439867"/>
              <a:ext cx="354330" cy="317723"/>
            </a:xfrm>
            <a:prstGeom prst="rect">
              <a:avLst/>
            </a:prstGeom>
            <a:noFill/>
          </p:spPr>
          <p:txBody>
            <a:bodyPr wrap="none" rtlCol="0">
              <a:spAutoFit/>
            </a:bodyPr>
            <a:lstStyle/>
            <a:p>
              <a:pPr algn="l"/>
              <a:r>
                <a:rPr lang="zh-CN" altLang="en-US" sz="1350" spc="0" baseline="0">
                  <a:ln/>
                  <a:solidFill>
                    <a:srgbClr val="FFFFFF">
                      <a:alpha val="80000"/>
                    </a:srgbClr>
                  </a:solidFill>
                  <a:latin typeface="微软雅黑"/>
                  <a:ea typeface="微软雅黑"/>
                  <a:sym typeface="微软雅黑"/>
                  <a:rtl val="0"/>
                </a:rPr>
                <a:t>家</a:t>
              </a:r>
            </a:p>
          </p:txBody>
        </p:sp>
        <p:grpSp>
          <p:nvGrpSpPr>
            <p:cNvPr id="55" name="SVG Image 17">
              <a:extLst>
                <a:ext uri="{FF2B5EF4-FFF2-40B4-BE49-F238E27FC236}">
                  <a16:creationId xmlns:a16="http://schemas.microsoft.com/office/drawing/2014/main" id="{EC57D392-C6B4-2D93-49DC-09E0BF9FA84F}"/>
                </a:ext>
              </a:extLst>
            </p:cNvPr>
            <p:cNvGrpSpPr/>
            <p:nvPr/>
          </p:nvGrpSpPr>
          <p:grpSpPr>
            <a:xfrm>
              <a:off x="6572250" y="3048000"/>
              <a:ext cx="1476375" cy="666750"/>
              <a:chOff x="6572250" y="3048000"/>
              <a:chExt cx="1476375" cy="666750"/>
            </a:xfrm>
          </p:grpSpPr>
          <p:sp>
            <p:nvSpPr>
              <p:cNvPr id="56" name="任意形状 55">
                <a:extLst>
                  <a:ext uri="{FF2B5EF4-FFF2-40B4-BE49-F238E27FC236}">
                    <a16:creationId xmlns:a16="http://schemas.microsoft.com/office/drawing/2014/main" id="{D5F0B231-68AB-9DA8-DB3E-4AEB226DDCAF}"/>
                  </a:ext>
                </a:extLst>
              </p:cNvPr>
              <p:cNvSpPr/>
              <p:nvPr/>
            </p:nvSpPr>
            <p:spPr>
              <a:xfrm>
                <a:off x="6572250" y="3048000"/>
                <a:ext cx="1476375" cy="666750"/>
              </a:xfrm>
              <a:custGeom>
                <a:avLst/>
                <a:gdLst>
                  <a:gd name="csX0" fmla="*/ 57150 w 1476375"/>
                  <a:gd name="csY0" fmla="*/ 0 h 666750"/>
                  <a:gd name="csX1" fmla="*/ 1419225 w 1476375"/>
                  <a:gd name="csY1" fmla="*/ 0 h 666750"/>
                  <a:gd name="csX2" fmla="*/ 1476375 w 1476375"/>
                  <a:gd name="csY2" fmla="*/ 57150 h 666750"/>
                  <a:gd name="csX3" fmla="*/ 1476375 w 1476375"/>
                  <a:gd name="csY3" fmla="*/ 609600 h 666750"/>
                  <a:gd name="csX4" fmla="*/ 1419225 w 1476375"/>
                  <a:gd name="csY4" fmla="*/ 666750 h 666750"/>
                  <a:gd name="csX5" fmla="*/ 57150 w 1476375"/>
                  <a:gd name="csY5" fmla="*/ 666750 h 666750"/>
                  <a:gd name="csX6" fmla="*/ 0 w 1476375"/>
                  <a:gd name="csY6" fmla="*/ 609600 h 666750"/>
                  <a:gd name="csX7" fmla="*/ 0 w 1476375"/>
                  <a:gd name="csY7" fmla="*/ 57150 h 666750"/>
                  <a:gd name="csX8" fmla="*/ 57150 w 1476375"/>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6375" h="666750">
                    <a:moveTo>
                      <a:pt x="57150" y="0"/>
                    </a:moveTo>
                    <a:lnTo>
                      <a:pt x="1419225" y="0"/>
                    </a:lnTo>
                    <a:cubicBezTo>
                      <a:pt x="1450788" y="0"/>
                      <a:pt x="1476375" y="25587"/>
                      <a:pt x="1476375" y="57150"/>
                    </a:cubicBezTo>
                    <a:lnTo>
                      <a:pt x="1476375" y="609600"/>
                    </a:lnTo>
                    <a:cubicBezTo>
                      <a:pt x="1476375" y="641163"/>
                      <a:pt x="1450788" y="666750"/>
                      <a:pt x="1419225" y="666750"/>
                    </a:cubicBezTo>
                    <a:lnTo>
                      <a:pt x="57150" y="666750"/>
                    </a:lnTo>
                    <a:cubicBezTo>
                      <a:pt x="25587" y="666750"/>
                      <a:pt x="0" y="641163"/>
                      <a:pt x="0" y="60960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57" name="文本框 56">
                <a:extLst>
                  <a:ext uri="{FF2B5EF4-FFF2-40B4-BE49-F238E27FC236}">
                    <a16:creationId xmlns:a16="http://schemas.microsoft.com/office/drawing/2014/main" id="{3D03F902-E383-0D80-68FB-37FD84BA5015}"/>
                  </a:ext>
                </a:extLst>
              </p:cNvPr>
              <p:cNvSpPr txBox="1"/>
              <p:nvPr/>
            </p:nvSpPr>
            <p:spPr>
              <a:xfrm>
                <a:off x="6985635" y="3167088"/>
                <a:ext cx="6400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中央企业</a:t>
                </a:r>
              </a:p>
            </p:txBody>
          </p:sp>
          <p:sp>
            <p:nvSpPr>
              <p:cNvPr id="58" name="文本框 57">
                <a:extLst>
                  <a:ext uri="{FF2B5EF4-FFF2-40B4-BE49-F238E27FC236}">
                    <a16:creationId xmlns:a16="http://schemas.microsoft.com/office/drawing/2014/main" id="{8477AE9D-8165-97E8-A992-34A6389D972E}"/>
                  </a:ext>
                </a:extLst>
              </p:cNvPr>
              <p:cNvSpPr txBox="1"/>
              <p:nvPr/>
            </p:nvSpPr>
            <p:spPr>
              <a:xfrm>
                <a:off x="7029446" y="3312847"/>
                <a:ext cx="552457" cy="393151"/>
              </a:xfrm>
              <a:prstGeom prst="rect">
                <a:avLst/>
              </a:prstGeom>
              <a:noFill/>
            </p:spPr>
            <p:txBody>
              <a:bodyPr wrap="none" rtlCol="0">
                <a:spAutoFit/>
              </a:bodyPr>
              <a:lstStyle/>
              <a:p>
                <a:pPr algn="l"/>
                <a:r>
                  <a:rPr lang="zh-CN" altLang="en-US" sz="1800" b="1" spc="0" baseline="0">
                    <a:ln/>
                    <a:solidFill>
                      <a:srgbClr val="1E3A5F"/>
                    </a:solidFill>
                    <a:latin typeface="微软雅黑"/>
                    <a:ea typeface="微软雅黑"/>
                    <a:sym typeface="微软雅黑"/>
                    <a:rtl val="0"/>
                  </a:rPr>
                  <a:t>1家</a:t>
                </a:r>
              </a:p>
            </p:txBody>
          </p:sp>
        </p:grpSp>
        <p:grpSp>
          <p:nvGrpSpPr>
            <p:cNvPr id="59" name="SVG Image 17">
              <a:extLst>
                <a:ext uri="{FF2B5EF4-FFF2-40B4-BE49-F238E27FC236}">
                  <a16:creationId xmlns:a16="http://schemas.microsoft.com/office/drawing/2014/main" id="{54BBAF66-8D0B-C311-B542-283C4C2507DE}"/>
                </a:ext>
              </a:extLst>
            </p:cNvPr>
            <p:cNvGrpSpPr/>
            <p:nvPr/>
          </p:nvGrpSpPr>
          <p:grpSpPr>
            <a:xfrm>
              <a:off x="8191500" y="3048000"/>
              <a:ext cx="1476375" cy="666750"/>
              <a:chOff x="8191500" y="3048000"/>
              <a:chExt cx="1476375" cy="666750"/>
            </a:xfrm>
          </p:grpSpPr>
          <p:sp>
            <p:nvSpPr>
              <p:cNvPr id="60" name="任意形状 59">
                <a:extLst>
                  <a:ext uri="{FF2B5EF4-FFF2-40B4-BE49-F238E27FC236}">
                    <a16:creationId xmlns:a16="http://schemas.microsoft.com/office/drawing/2014/main" id="{90F4DEA8-239A-1900-0E56-F4BDA5324DAD}"/>
                  </a:ext>
                </a:extLst>
              </p:cNvPr>
              <p:cNvSpPr/>
              <p:nvPr/>
            </p:nvSpPr>
            <p:spPr>
              <a:xfrm>
                <a:off x="8191500" y="3048000"/>
                <a:ext cx="1476375" cy="666750"/>
              </a:xfrm>
              <a:custGeom>
                <a:avLst/>
                <a:gdLst>
                  <a:gd name="csX0" fmla="*/ 57150 w 1476375"/>
                  <a:gd name="csY0" fmla="*/ 0 h 666750"/>
                  <a:gd name="csX1" fmla="*/ 1419225 w 1476375"/>
                  <a:gd name="csY1" fmla="*/ 0 h 666750"/>
                  <a:gd name="csX2" fmla="*/ 1476375 w 1476375"/>
                  <a:gd name="csY2" fmla="*/ 57150 h 666750"/>
                  <a:gd name="csX3" fmla="*/ 1476375 w 1476375"/>
                  <a:gd name="csY3" fmla="*/ 609600 h 666750"/>
                  <a:gd name="csX4" fmla="*/ 1419225 w 1476375"/>
                  <a:gd name="csY4" fmla="*/ 666750 h 666750"/>
                  <a:gd name="csX5" fmla="*/ 57150 w 1476375"/>
                  <a:gd name="csY5" fmla="*/ 666750 h 666750"/>
                  <a:gd name="csX6" fmla="*/ 0 w 1476375"/>
                  <a:gd name="csY6" fmla="*/ 609600 h 666750"/>
                  <a:gd name="csX7" fmla="*/ 0 w 1476375"/>
                  <a:gd name="csY7" fmla="*/ 57150 h 666750"/>
                  <a:gd name="csX8" fmla="*/ 57150 w 1476375"/>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6375" h="666750">
                    <a:moveTo>
                      <a:pt x="57150" y="0"/>
                    </a:moveTo>
                    <a:lnTo>
                      <a:pt x="1419225" y="0"/>
                    </a:lnTo>
                    <a:cubicBezTo>
                      <a:pt x="1450788" y="0"/>
                      <a:pt x="1476375" y="25587"/>
                      <a:pt x="1476375" y="57150"/>
                    </a:cubicBezTo>
                    <a:lnTo>
                      <a:pt x="1476375" y="609600"/>
                    </a:lnTo>
                    <a:cubicBezTo>
                      <a:pt x="1476375" y="641163"/>
                      <a:pt x="1450788" y="666750"/>
                      <a:pt x="1419225" y="666750"/>
                    </a:cubicBezTo>
                    <a:lnTo>
                      <a:pt x="57150" y="666750"/>
                    </a:lnTo>
                    <a:cubicBezTo>
                      <a:pt x="25587" y="666750"/>
                      <a:pt x="0" y="641163"/>
                      <a:pt x="0" y="60960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61" name="文本框 60">
                <a:extLst>
                  <a:ext uri="{FF2B5EF4-FFF2-40B4-BE49-F238E27FC236}">
                    <a16:creationId xmlns:a16="http://schemas.microsoft.com/office/drawing/2014/main" id="{CDE0A2D1-64A7-7EA2-FD93-EA2949D7C44F}"/>
                  </a:ext>
                </a:extLst>
              </p:cNvPr>
              <p:cNvSpPr txBox="1"/>
              <p:nvPr/>
            </p:nvSpPr>
            <p:spPr>
              <a:xfrm>
                <a:off x="8547735" y="3167088"/>
                <a:ext cx="754380"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央企子公司</a:t>
                </a:r>
              </a:p>
            </p:txBody>
          </p:sp>
          <p:sp>
            <p:nvSpPr>
              <p:cNvPr id="62" name="文本框 61">
                <a:extLst>
                  <a:ext uri="{FF2B5EF4-FFF2-40B4-BE49-F238E27FC236}">
                    <a16:creationId xmlns:a16="http://schemas.microsoft.com/office/drawing/2014/main" id="{CF6F1419-DA77-BB9E-C3FC-D133D8A2441B}"/>
                  </a:ext>
                </a:extLst>
              </p:cNvPr>
              <p:cNvSpPr txBox="1"/>
              <p:nvPr/>
            </p:nvSpPr>
            <p:spPr>
              <a:xfrm>
                <a:off x="8404580" y="3312847"/>
                <a:ext cx="1040688" cy="393151"/>
              </a:xfrm>
              <a:prstGeom prst="rect">
                <a:avLst/>
              </a:prstGeom>
              <a:noFill/>
            </p:spPr>
            <p:txBody>
              <a:bodyPr wrap="none" rtlCol="0">
                <a:spAutoFit/>
              </a:bodyPr>
              <a:lstStyle/>
              <a:p>
                <a:pPr algn="l"/>
                <a:r>
                  <a:rPr lang="zh-CN" altLang="en-US" sz="1800" b="1" spc="0" baseline="0">
                    <a:ln/>
                    <a:solidFill>
                      <a:srgbClr val="4A90D9"/>
                    </a:solidFill>
                    <a:latin typeface="微软雅黑"/>
                    <a:ea typeface="微软雅黑"/>
                    <a:sym typeface="微软雅黑"/>
                    <a:rtl val="0"/>
                  </a:rPr>
                  <a:t>2,140家</a:t>
                </a:r>
              </a:p>
            </p:txBody>
          </p:sp>
        </p:grpSp>
        <p:grpSp>
          <p:nvGrpSpPr>
            <p:cNvPr id="63" name="SVG Image 17">
              <a:extLst>
                <a:ext uri="{FF2B5EF4-FFF2-40B4-BE49-F238E27FC236}">
                  <a16:creationId xmlns:a16="http://schemas.microsoft.com/office/drawing/2014/main" id="{AA7947D7-ADE5-E2AE-5988-B5D19AC81E13}"/>
                </a:ext>
              </a:extLst>
            </p:cNvPr>
            <p:cNvGrpSpPr/>
            <p:nvPr/>
          </p:nvGrpSpPr>
          <p:grpSpPr>
            <a:xfrm>
              <a:off x="9810750" y="3048000"/>
              <a:ext cx="1524000" cy="666750"/>
              <a:chOff x="9810750" y="3048000"/>
              <a:chExt cx="1524000" cy="666750"/>
            </a:xfrm>
          </p:grpSpPr>
          <p:sp>
            <p:nvSpPr>
              <p:cNvPr id="64" name="任意形状 63">
                <a:extLst>
                  <a:ext uri="{FF2B5EF4-FFF2-40B4-BE49-F238E27FC236}">
                    <a16:creationId xmlns:a16="http://schemas.microsoft.com/office/drawing/2014/main" id="{835E8342-5244-71A3-FB99-06481B76AEF9}"/>
                  </a:ext>
                </a:extLst>
              </p:cNvPr>
              <p:cNvSpPr/>
              <p:nvPr/>
            </p:nvSpPr>
            <p:spPr>
              <a:xfrm>
                <a:off x="9810750" y="3048000"/>
                <a:ext cx="1524000" cy="666750"/>
              </a:xfrm>
              <a:custGeom>
                <a:avLst/>
                <a:gdLst>
                  <a:gd name="csX0" fmla="*/ 57150 w 1524000"/>
                  <a:gd name="csY0" fmla="*/ 0 h 666750"/>
                  <a:gd name="csX1" fmla="*/ 1466850 w 1524000"/>
                  <a:gd name="csY1" fmla="*/ 0 h 666750"/>
                  <a:gd name="csX2" fmla="*/ 1524000 w 1524000"/>
                  <a:gd name="csY2" fmla="*/ 57150 h 666750"/>
                  <a:gd name="csX3" fmla="*/ 1524000 w 1524000"/>
                  <a:gd name="csY3" fmla="*/ 609600 h 666750"/>
                  <a:gd name="csX4" fmla="*/ 1466850 w 1524000"/>
                  <a:gd name="csY4" fmla="*/ 666750 h 666750"/>
                  <a:gd name="csX5" fmla="*/ 57150 w 1524000"/>
                  <a:gd name="csY5" fmla="*/ 666750 h 666750"/>
                  <a:gd name="csX6" fmla="*/ 0 w 1524000"/>
                  <a:gd name="csY6" fmla="*/ 609600 h 666750"/>
                  <a:gd name="csX7" fmla="*/ 0 w 1524000"/>
                  <a:gd name="csY7" fmla="*/ 57150 h 666750"/>
                  <a:gd name="csX8" fmla="*/ 57150 w 1524000"/>
                  <a:gd name="csY8" fmla="*/ 0 h 66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666750">
                    <a:moveTo>
                      <a:pt x="57150" y="0"/>
                    </a:moveTo>
                    <a:lnTo>
                      <a:pt x="1466850" y="0"/>
                    </a:lnTo>
                    <a:cubicBezTo>
                      <a:pt x="1498413" y="0"/>
                      <a:pt x="1524000" y="25587"/>
                      <a:pt x="1524000" y="57150"/>
                    </a:cubicBezTo>
                    <a:lnTo>
                      <a:pt x="1524000" y="609600"/>
                    </a:lnTo>
                    <a:cubicBezTo>
                      <a:pt x="1524000" y="641163"/>
                      <a:pt x="1498413" y="666750"/>
                      <a:pt x="1466850" y="666750"/>
                    </a:cubicBezTo>
                    <a:lnTo>
                      <a:pt x="57150" y="666750"/>
                    </a:lnTo>
                    <a:cubicBezTo>
                      <a:pt x="25587" y="666750"/>
                      <a:pt x="0" y="641163"/>
                      <a:pt x="0" y="60960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65" name="文本框 64">
                <a:extLst>
                  <a:ext uri="{FF2B5EF4-FFF2-40B4-BE49-F238E27FC236}">
                    <a16:creationId xmlns:a16="http://schemas.microsoft.com/office/drawing/2014/main" id="{45B44104-EE90-E166-F497-40CF379E6CBF}"/>
                  </a:ext>
                </a:extLst>
              </p:cNvPr>
              <p:cNvSpPr txBox="1"/>
              <p:nvPr/>
            </p:nvSpPr>
            <p:spPr>
              <a:xfrm>
                <a:off x="9985935" y="3167088"/>
                <a:ext cx="1173628" cy="242295"/>
              </a:xfrm>
              <a:prstGeom prst="rect">
                <a:avLst/>
              </a:prstGeom>
              <a:noFill/>
            </p:spPr>
            <p:txBody>
              <a:bodyPr wrap="none" rtlCol="0">
                <a:spAutoFit/>
              </a:bodyPr>
              <a:lstStyle/>
              <a:p>
                <a:pPr algn="l"/>
                <a:r>
                  <a:rPr lang="zh-CN" altLang="en-US" sz="900" spc="0" baseline="0">
                    <a:ln/>
                    <a:solidFill>
                      <a:srgbClr val="64748B"/>
                    </a:solidFill>
                    <a:latin typeface="微软雅黑"/>
                    <a:ea typeface="微软雅黑"/>
                    <a:sym typeface="微软雅黑"/>
                    <a:rtl val="0"/>
                  </a:rPr>
                  <a:t>省属国企(含子公司)</a:t>
                </a:r>
              </a:p>
            </p:txBody>
          </p:sp>
          <p:sp>
            <p:nvSpPr>
              <p:cNvPr id="66" name="文本框 65">
                <a:extLst>
                  <a:ext uri="{FF2B5EF4-FFF2-40B4-BE49-F238E27FC236}">
                    <a16:creationId xmlns:a16="http://schemas.microsoft.com/office/drawing/2014/main" id="{B7AB330C-9026-FA49-5F6F-F7EDC3628B7B}"/>
                  </a:ext>
                </a:extLst>
              </p:cNvPr>
              <p:cNvSpPr txBox="1"/>
              <p:nvPr/>
            </p:nvSpPr>
            <p:spPr>
              <a:xfrm>
                <a:off x="10052405" y="3312847"/>
                <a:ext cx="1040688" cy="393151"/>
              </a:xfrm>
              <a:prstGeom prst="rect">
                <a:avLst/>
              </a:prstGeom>
              <a:noFill/>
            </p:spPr>
            <p:txBody>
              <a:bodyPr wrap="none" rtlCol="0">
                <a:spAutoFit/>
              </a:bodyPr>
              <a:lstStyle/>
              <a:p>
                <a:pPr algn="l"/>
                <a:r>
                  <a:rPr lang="zh-CN" altLang="en-US" sz="1800" b="1" spc="0" baseline="0">
                    <a:ln/>
                    <a:solidFill>
                      <a:srgbClr val="4A90D9"/>
                    </a:solidFill>
                    <a:latin typeface="微软雅黑"/>
                    <a:ea typeface="微软雅黑"/>
                    <a:sym typeface="微软雅黑"/>
                    <a:rtl val="0"/>
                  </a:rPr>
                  <a:t>1,230家</a:t>
                </a:r>
              </a:p>
            </p:txBody>
          </p:sp>
        </p:grpSp>
      </p:grpSp>
      <p:grpSp>
        <p:nvGrpSpPr>
          <p:cNvPr id="67" name="SVG Image 17">
            <a:extLst>
              <a:ext uri="{FF2B5EF4-FFF2-40B4-BE49-F238E27FC236}">
                <a16:creationId xmlns:a16="http://schemas.microsoft.com/office/drawing/2014/main" id="{40261ED4-E618-E90D-4FFF-78B1B6D40043}"/>
              </a:ext>
            </a:extLst>
          </p:cNvPr>
          <p:cNvGrpSpPr/>
          <p:nvPr/>
        </p:nvGrpSpPr>
        <p:grpSpPr>
          <a:xfrm>
            <a:off x="571500" y="4095750"/>
            <a:ext cx="5524500" cy="1238250"/>
            <a:chOff x="571500" y="4095750"/>
            <a:chExt cx="5524500" cy="1238250"/>
          </a:xfrm>
        </p:grpSpPr>
        <p:sp>
          <p:nvSpPr>
            <p:cNvPr id="68" name="任意形状 67">
              <a:extLst>
                <a:ext uri="{FF2B5EF4-FFF2-40B4-BE49-F238E27FC236}">
                  <a16:creationId xmlns:a16="http://schemas.microsoft.com/office/drawing/2014/main" id="{1CE2EBA4-5D14-DDBF-05AC-2E5835CAF38A}"/>
                </a:ext>
              </a:extLst>
            </p:cNvPr>
            <p:cNvSpPr/>
            <p:nvPr/>
          </p:nvSpPr>
          <p:spPr>
            <a:xfrm>
              <a:off x="571500" y="4095750"/>
              <a:ext cx="5524500" cy="1238250"/>
            </a:xfrm>
            <a:custGeom>
              <a:avLst/>
              <a:gdLst>
                <a:gd name="csX0" fmla="*/ 76200 w 5524500"/>
                <a:gd name="csY0" fmla="*/ 0 h 1238250"/>
                <a:gd name="csX1" fmla="*/ 5448300 w 5524500"/>
                <a:gd name="csY1" fmla="*/ 0 h 1238250"/>
                <a:gd name="csX2" fmla="*/ 5524500 w 5524500"/>
                <a:gd name="csY2" fmla="*/ 76200 h 1238250"/>
                <a:gd name="csX3" fmla="*/ 5524500 w 5524500"/>
                <a:gd name="csY3" fmla="*/ 1162050 h 1238250"/>
                <a:gd name="csX4" fmla="*/ 5448300 w 5524500"/>
                <a:gd name="csY4" fmla="*/ 1238250 h 1238250"/>
                <a:gd name="csX5" fmla="*/ 76200 w 5524500"/>
                <a:gd name="csY5" fmla="*/ 1238250 h 1238250"/>
                <a:gd name="csX6" fmla="*/ 0 w 5524500"/>
                <a:gd name="csY6" fmla="*/ 1162050 h 1238250"/>
                <a:gd name="csX7" fmla="*/ 0 w 5524500"/>
                <a:gd name="csY7" fmla="*/ 76200 h 1238250"/>
                <a:gd name="csX8" fmla="*/ 76200 w 55245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1238250">
                  <a:moveTo>
                    <a:pt x="76200" y="0"/>
                  </a:moveTo>
                  <a:lnTo>
                    <a:pt x="5448300" y="0"/>
                  </a:lnTo>
                  <a:cubicBezTo>
                    <a:pt x="5490384" y="0"/>
                    <a:pt x="5524500" y="34116"/>
                    <a:pt x="5524500" y="76200"/>
                  </a:cubicBezTo>
                  <a:lnTo>
                    <a:pt x="5524500" y="1162050"/>
                  </a:lnTo>
                  <a:cubicBezTo>
                    <a:pt x="5524500" y="1204134"/>
                    <a:pt x="5490384" y="1238250"/>
                    <a:pt x="5448300" y="1238250"/>
                  </a:cubicBezTo>
                  <a:lnTo>
                    <a:pt x="76200" y="1238250"/>
                  </a:lnTo>
                  <a:cubicBezTo>
                    <a:pt x="34116" y="1238250"/>
                    <a:pt x="0" y="1204134"/>
                    <a:pt x="0" y="1162050"/>
                  </a:cubicBezTo>
                  <a:lnTo>
                    <a:pt x="0" y="76200"/>
                  </a:lnTo>
                  <a:cubicBezTo>
                    <a:pt x="0" y="34116"/>
                    <a:pt x="34116" y="0"/>
                    <a:pt x="76200" y="0"/>
                  </a:cubicBezTo>
                  <a:close/>
                </a:path>
              </a:pathLst>
            </a:custGeom>
            <a:solidFill>
              <a:srgbClr val="EBF4FF"/>
            </a:solidFill>
            <a:ln w="9525" cap="flat">
              <a:noFill/>
              <a:prstDash val="solid"/>
              <a:miter/>
            </a:ln>
          </p:spPr>
          <p:txBody>
            <a:bodyPr/>
            <a:lstStyle/>
            <a:p>
              <a:endParaRPr lang="zh-CN" altLang="en-US"/>
            </a:p>
          </p:txBody>
        </p:sp>
        <p:sp>
          <p:nvSpPr>
            <p:cNvPr id="69" name="文本框 68">
              <a:extLst>
                <a:ext uri="{FF2B5EF4-FFF2-40B4-BE49-F238E27FC236}">
                  <a16:creationId xmlns:a16="http://schemas.microsoft.com/office/drawing/2014/main" id="{383B7653-02DB-8220-9CBB-620D00A46EA9}"/>
                </a:ext>
              </a:extLst>
            </p:cNvPr>
            <p:cNvSpPr txBox="1"/>
            <p:nvPr/>
          </p:nvSpPr>
          <p:spPr>
            <a:xfrm>
              <a:off x="765810" y="4242306"/>
              <a:ext cx="982980"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科创能力亮点</a:t>
              </a:r>
            </a:p>
          </p:txBody>
        </p:sp>
        <p:sp>
          <p:nvSpPr>
            <p:cNvPr id="70" name="任意形状 69">
              <a:extLst>
                <a:ext uri="{FF2B5EF4-FFF2-40B4-BE49-F238E27FC236}">
                  <a16:creationId xmlns:a16="http://schemas.microsoft.com/office/drawing/2014/main" id="{641B133C-2AAD-85D3-8C6E-240EC924B0D0}"/>
                </a:ext>
              </a:extLst>
            </p:cNvPr>
            <p:cNvSpPr/>
            <p:nvPr/>
          </p:nvSpPr>
          <p:spPr>
            <a:xfrm>
              <a:off x="857250" y="4619625"/>
              <a:ext cx="1238250" cy="523875"/>
            </a:xfrm>
            <a:custGeom>
              <a:avLst/>
              <a:gdLst>
                <a:gd name="csX0" fmla="*/ 38100 w 1238250"/>
                <a:gd name="csY0" fmla="*/ 0 h 523875"/>
                <a:gd name="csX1" fmla="*/ 1200150 w 1238250"/>
                <a:gd name="csY1" fmla="*/ 0 h 523875"/>
                <a:gd name="csX2" fmla="*/ 1238250 w 1238250"/>
                <a:gd name="csY2" fmla="*/ 38100 h 523875"/>
                <a:gd name="csX3" fmla="*/ 1238250 w 1238250"/>
                <a:gd name="csY3" fmla="*/ 485775 h 523875"/>
                <a:gd name="csX4" fmla="*/ 1200150 w 1238250"/>
                <a:gd name="csY4" fmla="*/ 523875 h 523875"/>
                <a:gd name="csX5" fmla="*/ 38100 w 1238250"/>
                <a:gd name="csY5" fmla="*/ 523875 h 523875"/>
                <a:gd name="csX6" fmla="*/ 0 w 1238250"/>
                <a:gd name="csY6" fmla="*/ 485775 h 523875"/>
                <a:gd name="csX7" fmla="*/ 0 w 1238250"/>
                <a:gd name="csY7" fmla="*/ 38100 h 523875"/>
                <a:gd name="csX8" fmla="*/ 38100 w 123825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8250" h="523875">
                  <a:moveTo>
                    <a:pt x="38100" y="0"/>
                  </a:moveTo>
                  <a:lnTo>
                    <a:pt x="1200150" y="0"/>
                  </a:lnTo>
                  <a:cubicBezTo>
                    <a:pt x="1221192" y="0"/>
                    <a:pt x="1238250" y="17058"/>
                    <a:pt x="1238250" y="38100"/>
                  </a:cubicBezTo>
                  <a:lnTo>
                    <a:pt x="1238250" y="485775"/>
                  </a:lnTo>
                  <a:cubicBezTo>
                    <a:pt x="1238250" y="506817"/>
                    <a:pt x="1221192" y="523875"/>
                    <a:pt x="1200150" y="523875"/>
                  </a:cubicBezTo>
                  <a:lnTo>
                    <a:pt x="38100" y="523875"/>
                  </a:lnTo>
                  <a:cubicBezTo>
                    <a:pt x="17058" y="523875"/>
                    <a:pt x="0" y="506817"/>
                    <a:pt x="0" y="485775"/>
                  </a:cubicBezTo>
                  <a:lnTo>
                    <a:pt x="0" y="38100"/>
                  </a:lnTo>
                  <a:cubicBezTo>
                    <a:pt x="0" y="17058"/>
                    <a:pt x="17058" y="0"/>
                    <a:pt x="38100" y="0"/>
                  </a:cubicBezTo>
                  <a:close/>
                </a:path>
              </a:pathLst>
            </a:custGeom>
            <a:solidFill>
              <a:srgbClr val="FFFFFF"/>
            </a:solidFill>
            <a:ln w="9525" cap="flat">
              <a:noFill/>
              <a:prstDash val="solid"/>
              <a:miter/>
            </a:ln>
          </p:spPr>
          <p:txBody>
            <a:bodyPr/>
            <a:lstStyle/>
            <a:p>
              <a:endParaRPr lang="zh-CN" altLang="en-US"/>
            </a:p>
          </p:txBody>
        </p:sp>
        <p:sp>
          <p:nvSpPr>
            <p:cNvPr id="71" name="文本框 70">
              <a:extLst>
                <a:ext uri="{FF2B5EF4-FFF2-40B4-BE49-F238E27FC236}">
                  <a16:creationId xmlns:a16="http://schemas.microsoft.com/office/drawing/2014/main" id="{3CDE3A69-41FF-F3F2-7548-E57F62524482}"/>
                </a:ext>
              </a:extLst>
            </p:cNvPr>
            <p:cNvSpPr txBox="1"/>
            <p:nvPr/>
          </p:nvSpPr>
          <p:spPr>
            <a:xfrm>
              <a:off x="1055696" y="4701166"/>
              <a:ext cx="841356"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R&amp;D投入强度</a:t>
              </a:r>
            </a:p>
          </p:txBody>
        </p:sp>
        <p:sp>
          <p:nvSpPr>
            <p:cNvPr id="72" name="文本框 71">
              <a:extLst>
                <a:ext uri="{FF2B5EF4-FFF2-40B4-BE49-F238E27FC236}">
                  <a16:creationId xmlns:a16="http://schemas.microsoft.com/office/drawing/2014/main" id="{E5996D91-1392-1D00-1ACF-6CF969A06892}"/>
                </a:ext>
              </a:extLst>
            </p:cNvPr>
            <p:cNvSpPr txBox="1"/>
            <p:nvPr/>
          </p:nvSpPr>
          <p:spPr>
            <a:xfrm>
              <a:off x="1151237" y="4860324"/>
              <a:ext cx="650274" cy="292581"/>
            </a:xfrm>
            <a:prstGeom prst="rect">
              <a:avLst/>
            </a:prstGeom>
            <a:noFill/>
          </p:spPr>
          <p:txBody>
            <a:bodyPr wrap="none" rtlCol="0">
              <a:spAutoFit/>
            </a:bodyPr>
            <a:lstStyle/>
            <a:p>
              <a:pPr algn="l"/>
              <a:r>
                <a:rPr lang="zh-CN" altLang="en-US" sz="1200" b="1" spc="0" baseline="0">
                  <a:ln/>
                  <a:solidFill>
                    <a:srgbClr val="2ECC71"/>
                  </a:solidFill>
                  <a:latin typeface="微软雅黑"/>
                  <a:ea typeface="微软雅黑"/>
                  <a:sym typeface="微软雅黑"/>
                  <a:rtl val="0"/>
                </a:rPr>
                <a:t>2.48%</a:t>
              </a:r>
            </a:p>
          </p:txBody>
        </p:sp>
        <p:sp>
          <p:nvSpPr>
            <p:cNvPr id="73" name="任意形状 72">
              <a:extLst>
                <a:ext uri="{FF2B5EF4-FFF2-40B4-BE49-F238E27FC236}">
                  <a16:creationId xmlns:a16="http://schemas.microsoft.com/office/drawing/2014/main" id="{66202BCA-3EE4-4058-74D6-A0A381EBFE87}"/>
                </a:ext>
              </a:extLst>
            </p:cNvPr>
            <p:cNvSpPr/>
            <p:nvPr/>
          </p:nvSpPr>
          <p:spPr>
            <a:xfrm>
              <a:off x="2286000" y="4619625"/>
              <a:ext cx="1238250" cy="523875"/>
            </a:xfrm>
            <a:custGeom>
              <a:avLst/>
              <a:gdLst>
                <a:gd name="csX0" fmla="*/ 38100 w 1238250"/>
                <a:gd name="csY0" fmla="*/ 0 h 523875"/>
                <a:gd name="csX1" fmla="*/ 1200150 w 1238250"/>
                <a:gd name="csY1" fmla="*/ 0 h 523875"/>
                <a:gd name="csX2" fmla="*/ 1238250 w 1238250"/>
                <a:gd name="csY2" fmla="*/ 38100 h 523875"/>
                <a:gd name="csX3" fmla="*/ 1238250 w 1238250"/>
                <a:gd name="csY3" fmla="*/ 485775 h 523875"/>
                <a:gd name="csX4" fmla="*/ 1200150 w 1238250"/>
                <a:gd name="csY4" fmla="*/ 523875 h 523875"/>
                <a:gd name="csX5" fmla="*/ 38100 w 1238250"/>
                <a:gd name="csY5" fmla="*/ 523875 h 523875"/>
                <a:gd name="csX6" fmla="*/ 0 w 1238250"/>
                <a:gd name="csY6" fmla="*/ 485775 h 523875"/>
                <a:gd name="csX7" fmla="*/ 0 w 1238250"/>
                <a:gd name="csY7" fmla="*/ 38100 h 523875"/>
                <a:gd name="csX8" fmla="*/ 38100 w 123825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8250" h="523875">
                  <a:moveTo>
                    <a:pt x="38100" y="0"/>
                  </a:moveTo>
                  <a:lnTo>
                    <a:pt x="1200150" y="0"/>
                  </a:lnTo>
                  <a:cubicBezTo>
                    <a:pt x="1221192" y="0"/>
                    <a:pt x="1238250" y="17058"/>
                    <a:pt x="1238250" y="38100"/>
                  </a:cubicBezTo>
                  <a:lnTo>
                    <a:pt x="1238250" y="485775"/>
                  </a:lnTo>
                  <a:cubicBezTo>
                    <a:pt x="1238250" y="506817"/>
                    <a:pt x="1221192" y="523875"/>
                    <a:pt x="1200150" y="523875"/>
                  </a:cubicBezTo>
                  <a:lnTo>
                    <a:pt x="38100" y="523875"/>
                  </a:lnTo>
                  <a:cubicBezTo>
                    <a:pt x="17058" y="523875"/>
                    <a:pt x="0" y="506817"/>
                    <a:pt x="0" y="485775"/>
                  </a:cubicBezTo>
                  <a:lnTo>
                    <a:pt x="0" y="38100"/>
                  </a:lnTo>
                  <a:cubicBezTo>
                    <a:pt x="0" y="17058"/>
                    <a:pt x="17058" y="0"/>
                    <a:pt x="38100" y="0"/>
                  </a:cubicBezTo>
                  <a:close/>
                </a:path>
              </a:pathLst>
            </a:custGeom>
            <a:solidFill>
              <a:srgbClr val="FFFFFF"/>
            </a:solidFill>
            <a:ln w="9525" cap="flat">
              <a:noFill/>
              <a:prstDash val="solid"/>
              <a:miter/>
            </a:ln>
          </p:spPr>
          <p:txBody>
            <a:bodyPr/>
            <a:lstStyle/>
            <a:p>
              <a:endParaRPr lang="zh-CN" altLang="en-US"/>
            </a:p>
          </p:txBody>
        </p:sp>
        <p:sp>
          <p:nvSpPr>
            <p:cNvPr id="74" name="文本框 73">
              <a:extLst>
                <a:ext uri="{FF2B5EF4-FFF2-40B4-BE49-F238E27FC236}">
                  <a16:creationId xmlns:a16="http://schemas.microsoft.com/office/drawing/2014/main" id="{FFCE5132-DCBB-C606-019D-D4EAB08AF6C6}"/>
                </a:ext>
              </a:extLst>
            </p:cNvPr>
            <p:cNvSpPr txBox="1"/>
            <p:nvPr/>
          </p:nvSpPr>
          <p:spPr>
            <a:xfrm>
              <a:off x="2389596" y="4701166"/>
              <a:ext cx="1031056"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高企密度(家/万企)</a:t>
              </a:r>
            </a:p>
          </p:txBody>
        </p:sp>
        <p:sp>
          <p:nvSpPr>
            <p:cNvPr id="75" name="文本框 74">
              <a:extLst>
                <a:ext uri="{FF2B5EF4-FFF2-40B4-BE49-F238E27FC236}">
                  <a16:creationId xmlns:a16="http://schemas.microsoft.com/office/drawing/2014/main" id="{5A6925A1-F713-5AB5-B48D-D80A64DEF75A}"/>
                </a:ext>
              </a:extLst>
            </p:cNvPr>
            <p:cNvSpPr txBox="1"/>
            <p:nvPr/>
          </p:nvSpPr>
          <p:spPr>
            <a:xfrm>
              <a:off x="2603948" y="4860324"/>
              <a:ext cx="602352"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50.51</a:t>
              </a:r>
            </a:p>
          </p:txBody>
        </p:sp>
        <p:sp>
          <p:nvSpPr>
            <p:cNvPr id="76" name="任意形状 75">
              <a:extLst>
                <a:ext uri="{FF2B5EF4-FFF2-40B4-BE49-F238E27FC236}">
                  <a16:creationId xmlns:a16="http://schemas.microsoft.com/office/drawing/2014/main" id="{2ABA72B5-E444-2A8D-C8D7-FA49B7DE3AF8}"/>
                </a:ext>
              </a:extLst>
            </p:cNvPr>
            <p:cNvSpPr/>
            <p:nvPr/>
          </p:nvSpPr>
          <p:spPr>
            <a:xfrm>
              <a:off x="3714750" y="4619625"/>
              <a:ext cx="1238250" cy="523875"/>
            </a:xfrm>
            <a:custGeom>
              <a:avLst/>
              <a:gdLst>
                <a:gd name="csX0" fmla="*/ 38100 w 1238250"/>
                <a:gd name="csY0" fmla="*/ 0 h 523875"/>
                <a:gd name="csX1" fmla="*/ 1200150 w 1238250"/>
                <a:gd name="csY1" fmla="*/ 0 h 523875"/>
                <a:gd name="csX2" fmla="*/ 1238250 w 1238250"/>
                <a:gd name="csY2" fmla="*/ 38100 h 523875"/>
                <a:gd name="csX3" fmla="*/ 1238250 w 1238250"/>
                <a:gd name="csY3" fmla="*/ 485775 h 523875"/>
                <a:gd name="csX4" fmla="*/ 1200150 w 1238250"/>
                <a:gd name="csY4" fmla="*/ 523875 h 523875"/>
                <a:gd name="csX5" fmla="*/ 38100 w 1238250"/>
                <a:gd name="csY5" fmla="*/ 523875 h 523875"/>
                <a:gd name="csX6" fmla="*/ 0 w 1238250"/>
                <a:gd name="csY6" fmla="*/ 485775 h 523875"/>
                <a:gd name="csX7" fmla="*/ 0 w 1238250"/>
                <a:gd name="csY7" fmla="*/ 38100 h 523875"/>
                <a:gd name="csX8" fmla="*/ 38100 w 123825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8250" h="523875">
                  <a:moveTo>
                    <a:pt x="38100" y="0"/>
                  </a:moveTo>
                  <a:lnTo>
                    <a:pt x="1200150" y="0"/>
                  </a:lnTo>
                  <a:cubicBezTo>
                    <a:pt x="1221192" y="0"/>
                    <a:pt x="1238250" y="17058"/>
                    <a:pt x="1238250" y="38100"/>
                  </a:cubicBezTo>
                  <a:lnTo>
                    <a:pt x="1238250" y="485775"/>
                  </a:lnTo>
                  <a:cubicBezTo>
                    <a:pt x="1238250" y="506817"/>
                    <a:pt x="1221192" y="523875"/>
                    <a:pt x="1200150" y="523875"/>
                  </a:cubicBezTo>
                  <a:lnTo>
                    <a:pt x="38100" y="523875"/>
                  </a:lnTo>
                  <a:cubicBezTo>
                    <a:pt x="17058" y="523875"/>
                    <a:pt x="0" y="506817"/>
                    <a:pt x="0" y="485775"/>
                  </a:cubicBezTo>
                  <a:lnTo>
                    <a:pt x="0" y="38100"/>
                  </a:lnTo>
                  <a:cubicBezTo>
                    <a:pt x="0" y="17058"/>
                    <a:pt x="17058" y="0"/>
                    <a:pt x="38100" y="0"/>
                  </a:cubicBezTo>
                  <a:close/>
                </a:path>
              </a:pathLst>
            </a:custGeom>
            <a:solidFill>
              <a:srgbClr val="FFFFFF"/>
            </a:solidFill>
            <a:ln w="9525" cap="flat">
              <a:noFill/>
              <a:prstDash val="solid"/>
              <a:miter/>
            </a:ln>
          </p:spPr>
          <p:txBody>
            <a:bodyPr/>
            <a:lstStyle/>
            <a:p>
              <a:endParaRPr lang="zh-CN" altLang="en-US"/>
            </a:p>
          </p:txBody>
        </p:sp>
        <p:sp>
          <p:nvSpPr>
            <p:cNvPr id="77" name="文本框 76">
              <a:extLst>
                <a:ext uri="{FF2B5EF4-FFF2-40B4-BE49-F238E27FC236}">
                  <a16:creationId xmlns:a16="http://schemas.microsoft.com/office/drawing/2014/main" id="{2B12CAAB-C9EE-5288-5324-BDBFF11D519B}"/>
                </a:ext>
              </a:extLst>
            </p:cNvPr>
            <p:cNvSpPr txBox="1"/>
            <p:nvPr/>
          </p:nvSpPr>
          <p:spPr>
            <a:xfrm>
              <a:off x="3823335" y="4701166"/>
              <a:ext cx="10210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技术创新示范企业</a:t>
              </a:r>
            </a:p>
          </p:txBody>
        </p:sp>
        <p:sp>
          <p:nvSpPr>
            <p:cNvPr id="78" name="文本框 77">
              <a:extLst>
                <a:ext uri="{FF2B5EF4-FFF2-40B4-BE49-F238E27FC236}">
                  <a16:creationId xmlns:a16="http://schemas.microsoft.com/office/drawing/2014/main" id="{4992C0BB-6D01-7F2A-AEDA-74BED3EF42A8}"/>
                </a:ext>
              </a:extLst>
            </p:cNvPr>
            <p:cNvSpPr txBox="1"/>
            <p:nvPr/>
          </p:nvSpPr>
          <p:spPr>
            <a:xfrm>
              <a:off x="3691659" y="4860324"/>
              <a:ext cx="1284431"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国家13+市级87</a:t>
              </a:r>
            </a:p>
          </p:txBody>
        </p:sp>
      </p:grpSp>
      <p:grpSp>
        <p:nvGrpSpPr>
          <p:cNvPr id="79" name="SVG Image 17">
            <a:extLst>
              <a:ext uri="{FF2B5EF4-FFF2-40B4-BE49-F238E27FC236}">
                <a16:creationId xmlns:a16="http://schemas.microsoft.com/office/drawing/2014/main" id="{B08E2CF8-7D2A-BAC8-A1E1-3E42851B3AA9}"/>
              </a:ext>
            </a:extLst>
          </p:cNvPr>
          <p:cNvGrpSpPr/>
          <p:nvPr/>
        </p:nvGrpSpPr>
        <p:grpSpPr>
          <a:xfrm>
            <a:off x="6286500" y="4095750"/>
            <a:ext cx="5334000" cy="1238250"/>
            <a:chOff x="6286500" y="4095750"/>
            <a:chExt cx="5334000" cy="1238250"/>
          </a:xfrm>
        </p:grpSpPr>
        <p:sp>
          <p:nvSpPr>
            <p:cNvPr id="80" name="任意形状 79">
              <a:extLst>
                <a:ext uri="{FF2B5EF4-FFF2-40B4-BE49-F238E27FC236}">
                  <a16:creationId xmlns:a16="http://schemas.microsoft.com/office/drawing/2014/main" id="{4616A433-C8BC-B36E-CA5D-3717050127AD}"/>
                </a:ext>
              </a:extLst>
            </p:cNvPr>
            <p:cNvSpPr/>
            <p:nvPr/>
          </p:nvSpPr>
          <p:spPr>
            <a:xfrm>
              <a:off x="6286500" y="4095750"/>
              <a:ext cx="5334000" cy="1238250"/>
            </a:xfrm>
            <a:custGeom>
              <a:avLst/>
              <a:gdLst>
                <a:gd name="csX0" fmla="*/ 76200 w 5334000"/>
                <a:gd name="csY0" fmla="*/ 0 h 1238250"/>
                <a:gd name="csX1" fmla="*/ 5257800 w 5334000"/>
                <a:gd name="csY1" fmla="*/ 0 h 1238250"/>
                <a:gd name="csX2" fmla="*/ 5334000 w 5334000"/>
                <a:gd name="csY2" fmla="*/ 76200 h 1238250"/>
                <a:gd name="csX3" fmla="*/ 5334000 w 5334000"/>
                <a:gd name="csY3" fmla="*/ 1162050 h 1238250"/>
                <a:gd name="csX4" fmla="*/ 5257800 w 5334000"/>
                <a:gd name="csY4" fmla="*/ 1238250 h 1238250"/>
                <a:gd name="csX5" fmla="*/ 76200 w 5334000"/>
                <a:gd name="csY5" fmla="*/ 1238250 h 1238250"/>
                <a:gd name="csX6" fmla="*/ 0 w 5334000"/>
                <a:gd name="csY6" fmla="*/ 1162050 h 1238250"/>
                <a:gd name="csX7" fmla="*/ 0 w 5334000"/>
                <a:gd name="csY7" fmla="*/ 76200 h 1238250"/>
                <a:gd name="csX8" fmla="*/ 76200 w 5334000"/>
                <a:gd name="csY8" fmla="*/ 0 h 1238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1238250">
                  <a:moveTo>
                    <a:pt x="76200" y="0"/>
                  </a:moveTo>
                  <a:lnTo>
                    <a:pt x="5257800" y="0"/>
                  </a:lnTo>
                  <a:cubicBezTo>
                    <a:pt x="5299885" y="0"/>
                    <a:pt x="5334000" y="34116"/>
                    <a:pt x="5334000" y="76200"/>
                  </a:cubicBezTo>
                  <a:lnTo>
                    <a:pt x="5334000" y="1162050"/>
                  </a:lnTo>
                  <a:cubicBezTo>
                    <a:pt x="5334000" y="1204134"/>
                    <a:pt x="5299885" y="1238250"/>
                    <a:pt x="5257800" y="1238250"/>
                  </a:cubicBezTo>
                  <a:lnTo>
                    <a:pt x="76200" y="1238250"/>
                  </a:lnTo>
                  <a:cubicBezTo>
                    <a:pt x="34116" y="1238250"/>
                    <a:pt x="0" y="1204134"/>
                    <a:pt x="0" y="1162050"/>
                  </a:cubicBezTo>
                  <a:lnTo>
                    <a:pt x="0" y="76200"/>
                  </a:lnTo>
                  <a:cubicBezTo>
                    <a:pt x="0" y="34116"/>
                    <a:pt x="34116" y="0"/>
                    <a:pt x="76200" y="0"/>
                  </a:cubicBezTo>
                  <a:close/>
                </a:path>
              </a:pathLst>
            </a:custGeom>
            <a:solidFill>
              <a:srgbClr val="EBF4FF"/>
            </a:solidFill>
            <a:ln w="9525" cap="flat">
              <a:noFill/>
              <a:prstDash val="solid"/>
              <a:miter/>
            </a:ln>
          </p:spPr>
          <p:txBody>
            <a:bodyPr/>
            <a:lstStyle/>
            <a:p>
              <a:endParaRPr lang="zh-CN" altLang="en-US"/>
            </a:p>
          </p:txBody>
        </p:sp>
        <p:sp>
          <p:nvSpPr>
            <p:cNvPr id="81" name="文本框 80">
              <a:extLst>
                <a:ext uri="{FF2B5EF4-FFF2-40B4-BE49-F238E27FC236}">
                  <a16:creationId xmlns:a16="http://schemas.microsoft.com/office/drawing/2014/main" id="{2696ABF3-47F5-0B7E-F371-B1A94B12F944}"/>
                </a:ext>
              </a:extLst>
            </p:cNvPr>
            <p:cNvSpPr txBox="1"/>
            <p:nvPr/>
          </p:nvSpPr>
          <p:spPr>
            <a:xfrm>
              <a:off x="6480810" y="4242306"/>
              <a:ext cx="982980"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上市公司概况</a:t>
              </a:r>
            </a:p>
          </p:txBody>
        </p:sp>
        <p:sp>
          <p:nvSpPr>
            <p:cNvPr id="82" name="任意形状 81">
              <a:extLst>
                <a:ext uri="{FF2B5EF4-FFF2-40B4-BE49-F238E27FC236}">
                  <a16:creationId xmlns:a16="http://schemas.microsoft.com/office/drawing/2014/main" id="{621408C4-8517-659D-35ED-EE27694AB26E}"/>
                </a:ext>
              </a:extLst>
            </p:cNvPr>
            <p:cNvSpPr/>
            <p:nvPr/>
          </p:nvSpPr>
          <p:spPr>
            <a:xfrm>
              <a:off x="6572250" y="4619625"/>
              <a:ext cx="1524000" cy="523875"/>
            </a:xfrm>
            <a:custGeom>
              <a:avLst/>
              <a:gdLst>
                <a:gd name="csX0" fmla="*/ 38100 w 1524000"/>
                <a:gd name="csY0" fmla="*/ 0 h 523875"/>
                <a:gd name="csX1" fmla="*/ 1485900 w 1524000"/>
                <a:gd name="csY1" fmla="*/ 0 h 523875"/>
                <a:gd name="csX2" fmla="*/ 1524000 w 1524000"/>
                <a:gd name="csY2" fmla="*/ 38100 h 523875"/>
                <a:gd name="csX3" fmla="*/ 1524000 w 1524000"/>
                <a:gd name="csY3" fmla="*/ 485775 h 523875"/>
                <a:gd name="csX4" fmla="*/ 1485900 w 1524000"/>
                <a:gd name="csY4" fmla="*/ 523875 h 523875"/>
                <a:gd name="csX5" fmla="*/ 38100 w 1524000"/>
                <a:gd name="csY5" fmla="*/ 523875 h 523875"/>
                <a:gd name="csX6" fmla="*/ 0 w 1524000"/>
                <a:gd name="csY6" fmla="*/ 485775 h 523875"/>
                <a:gd name="csX7" fmla="*/ 0 w 1524000"/>
                <a:gd name="csY7" fmla="*/ 38100 h 523875"/>
                <a:gd name="csX8" fmla="*/ 38100 w 15240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523875">
                  <a:moveTo>
                    <a:pt x="38100" y="0"/>
                  </a:moveTo>
                  <a:lnTo>
                    <a:pt x="1485900" y="0"/>
                  </a:lnTo>
                  <a:cubicBezTo>
                    <a:pt x="1506942" y="0"/>
                    <a:pt x="1524000" y="17058"/>
                    <a:pt x="1524000" y="38100"/>
                  </a:cubicBezTo>
                  <a:lnTo>
                    <a:pt x="1524000" y="485775"/>
                  </a:lnTo>
                  <a:cubicBezTo>
                    <a:pt x="1524000" y="506817"/>
                    <a:pt x="1506942" y="523875"/>
                    <a:pt x="1485900" y="523875"/>
                  </a:cubicBezTo>
                  <a:lnTo>
                    <a:pt x="38100" y="523875"/>
                  </a:lnTo>
                  <a:cubicBezTo>
                    <a:pt x="17058" y="523875"/>
                    <a:pt x="0" y="506817"/>
                    <a:pt x="0" y="485775"/>
                  </a:cubicBezTo>
                  <a:lnTo>
                    <a:pt x="0" y="38100"/>
                  </a:lnTo>
                  <a:cubicBezTo>
                    <a:pt x="0" y="17058"/>
                    <a:pt x="17058" y="0"/>
                    <a:pt x="38100" y="0"/>
                  </a:cubicBezTo>
                  <a:close/>
                </a:path>
              </a:pathLst>
            </a:custGeom>
            <a:solidFill>
              <a:srgbClr val="FFFFFF"/>
            </a:solidFill>
            <a:ln w="9525" cap="flat">
              <a:noFill/>
              <a:prstDash val="solid"/>
              <a:miter/>
            </a:ln>
          </p:spPr>
          <p:txBody>
            <a:bodyPr/>
            <a:lstStyle/>
            <a:p>
              <a:endParaRPr lang="zh-CN" altLang="en-US"/>
            </a:p>
          </p:txBody>
        </p:sp>
        <p:sp>
          <p:nvSpPr>
            <p:cNvPr id="83" name="文本框 82">
              <a:extLst>
                <a:ext uri="{FF2B5EF4-FFF2-40B4-BE49-F238E27FC236}">
                  <a16:creationId xmlns:a16="http://schemas.microsoft.com/office/drawing/2014/main" id="{C4C68B10-9E49-48E1-8FBD-E8FC4EB079EC}"/>
                </a:ext>
              </a:extLst>
            </p:cNvPr>
            <p:cNvSpPr txBox="1"/>
            <p:nvPr/>
          </p:nvSpPr>
          <p:spPr>
            <a:xfrm>
              <a:off x="6944011" y="4701166"/>
              <a:ext cx="780476"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A股上市公司</a:t>
              </a:r>
            </a:p>
          </p:txBody>
        </p:sp>
        <p:sp>
          <p:nvSpPr>
            <p:cNvPr id="84" name="文本框 83">
              <a:extLst>
                <a:ext uri="{FF2B5EF4-FFF2-40B4-BE49-F238E27FC236}">
                  <a16:creationId xmlns:a16="http://schemas.microsoft.com/office/drawing/2014/main" id="{B0B9CB95-A936-9804-A5A5-2AF9EE70BFB4}"/>
                </a:ext>
              </a:extLst>
            </p:cNvPr>
            <p:cNvSpPr txBox="1"/>
            <p:nvPr/>
          </p:nvSpPr>
          <p:spPr>
            <a:xfrm>
              <a:off x="7072625" y="4860324"/>
              <a:ext cx="52324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78家</a:t>
              </a:r>
            </a:p>
          </p:txBody>
        </p:sp>
        <p:sp>
          <p:nvSpPr>
            <p:cNvPr id="85" name="任意形状 84">
              <a:extLst>
                <a:ext uri="{FF2B5EF4-FFF2-40B4-BE49-F238E27FC236}">
                  <a16:creationId xmlns:a16="http://schemas.microsoft.com/office/drawing/2014/main" id="{1482BD12-D1FA-7BF3-8DBD-E5CA1AE95DDA}"/>
                </a:ext>
              </a:extLst>
            </p:cNvPr>
            <p:cNvSpPr/>
            <p:nvPr/>
          </p:nvSpPr>
          <p:spPr>
            <a:xfrm>
              <a:off x="8286750" y="4619625"/>
              <a:ext cx="1524000" cy="523875"/>
            </a:xfrm>
            <a:custGeom>
              <a:avLst/>
              <a:gdLst>
                <a:gd name="csX0" fmla="*/ 38100 w 1524000"/>
                <a:gd name="csY0" fmla="*/ 0 h 523875"/>
                <a:gd name="csX1" fmla="*/ 1485900 w 1524000"/>
                <a:gd name="csY1" fmla="*/ 0 h 523875"/>
                <a:gd name="csX2" fmla="*/ 1524000 w 1524000"/>
                <a:gd name="csY2" fmla="*/ 38100 h 523875"/>
                <a:gd name="csX3" fmla="*/ 1524000 w 1524000"/>
                <a:gd name="csY3" fmla="*/ 485775 h 523875"/>
                <a:gd name="csX4" fmla="*/ 1485900 w 1524000"/>
                <a:gd name="csY4" fmla="*/ 523875 h 523875"/>
                <a:gd name="csX5" fmla="*/ 38100 w 1524000"/>
                <a:gd name="csY5" fmla="*/ 523875 h 523875"/>
                <a:gd name="csX6" fmla="*/ 0 w 1524000"/>
                <a:gd name="csY6" fmla="*/ 485775 h 523875"/>
                <a:gd name="csX7" fmla="*/ 0 w 1524000"/>
                <a:gd name="csY7" fmla="*/ 38100 h 523875"/>
                <a:gd name="csX8" fmla="*/ 38100 w 15240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4000" h="523875">
                  <a:moveTo>
                    <a:pt x="38100" y="0"/>
                  </a:moveTo>
                  <a:lnTo>
                    <a:pt x="1485900" y="0"/>
                  </a:lnTo>
                  <a:cubicBezTo>
                    <a:pt x="1506942" y="0"/>
                    <a:pt x="1524000" y="17058"/>
                    <a:pt x="1524000" y="38100"/>
                  </a:cubicBezTo>
                  <a:lnTo>
                    <a:pt x="1524000" y="485775"/>
                  </a:lnTo>
                  <a:cubicBezTo>
                    <a:pt x="1524000" y="506817"/>
                    <a:pt x="1506942" y="523875"/>
                    <a:pt x="1485900" y="523875"/>
                  </a:cubicBezTo>
                  <a:lnTo>
                    <a:pt x="38100" y="523875"/>
                  </a:lnTo>
                  <a:cubicBezTo>
                    <a:pt x="17058" y="523875"/>
                    <a:pt x="0" y="506817"/>
                    <a:pt x="0" y="485775"/>
                  </a:cubicBezTo>
                  <a:lnTo>
                    <a:pt x="0" y="38100"/>
                  </a:lnTo>
                  <a:cubicBezTo>
                    <a:pt x="0" y="17058"/>
                    <a:pt x="17058" y="0"/>
                    <a:pt x="38100" y="0"/>
                  </a:cubicBezTo>
                  <a:close/>
                </a:path>
              </a:pathLst>
            </a:custGeom>
            <a:solidFill>
              <a:srgbClr val="FFFFFF"/>
            </a:solidFill>
            <a:ln w="9525" cap="flat">
              <a:noFill/>
              <a:prstDash val="solid"/>
              <a:miter/>
            </a:ln>
          </p:spPr>
          <p:txBody>
            <a:bodyPr/>
            <a:lstStyle/>
            <a:p>
              <a:endParaRPr lang="zh-CN" altLang="en-US"/>
            </a:p>
          </p:txBody>
        </p:sp>
        <p:sp>
          <p:nvSpPr>
            <p:cNvPr id="86" name="文本框 85">
              <a:extLst>
                <a:ext uri="{FF2B5EF4-FFF2-40B4-BE49-F238E27FC236}">
                  <a16:creationId xmlns:a16="http://schemas.microsoft.com/office/drawing/2014/main" id="{E3512CEF-2C64-0835-BAF3-B93F87285E3C}"/>
                </a:ext>
              </a:extLst>
            </p:cNvPr>
            <p:cNvSpPr txBox="1"/>
            <p:nvPr/>
          </p:nvSpPr>
          <p:spPr>
            <a:xfrm>
              <a:off x="8800147" y="4701166"/>
              <a:ext cx="49720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总市值</a:t>
              </a:r>
            </a:p>
          </p:txBody>
        </p:sp>
        <p:sp>
          <p:nvSpPr>
            <p:cNvPr id="87" name="文本框 86">
              <a:extLst>
                <a:ext uri="{FF2B5EF4-FFF2-40B4-BE49-F238E27FC236}">
                  <a16:creationId xmlns:a16="http://schemas.microsoft.com/office/drawing/2014/main" id="{003FE9F6-1DD4-4072-DFE6-6718D3A77172}"/>
                </a:ext>
              </a:extLst>
            </p:cNvPr>
            <p:cNvSpPr txBox="1"/>
            <p:nvPr/>
          </p:nvSpPr>
          <p:spPr>
            <a:xfrm>
              <a:off x="8642166" y="4860324"/>
              <a:ext cx="813167" cy="292581"/>
            </a:xfrm>
            <a:prstGeom prst="rect">
              <a:avLst/>
            </a:prstGeom>
            <a:noFill/>
          </p:spPr>
          <p:txBody>
            <a:bodyPr wrap="none" rtlCol="0">
              <a:spAutoFit/>
            </a:bodyPr>
            <a:lstStyle/>
            <a:p>
              <a:pPr algn="l"/>
              <a:r>
                <a:rPr lang="zh-CN" altLang="en-US" sz="1200" b="1" spc="0" baseline="0">
                  <a:ln/>
                  <a:solidFill>
                    <a:srgbClr val="4A90D9"/>
                  </a:solidFill>
                  <a:latin typeface="微软雅黑"/>
                  <a:ea typeface="微软雅黑"/>
                  <a:sym typeface="微软雅黑"/>
                  <a:rtl val="0"/>
                </a:rPr>
                <a:t>1.19万亿</a:t>
              </a:r>
            </a:p>
          </p:txBody>
        </p:sp>
        <p:sp>
          <p:nvSpPr>
            <p:cNvPr id="88" name="任意形状 87">
              <a:extLst>
                <a:ext uri="{FF2B5EF4-FFF2-40B4-BE49-F238E27FC236}">
                  <a16:creationId xmlns:a16="http://schemas.microsoft.com/office/drawing/2014/main" id="{1970A0F2-E4F2-40CB-0C85-A29C049E9DF4}"/>
                </a:ext>
              </a:extLst>
            </p:cNvPr>
            <p:cNvSpPr/>
            <p:nvPr/>
          </p:nvSpPr>
          <p:spPr>
            <a:xfrm>
              <a:off x="10001250" y="4619625"/>
              <a:ext cx="1333500" cy="523875"/>
            </a:xfrm>
            <a:custGeom>
              <a:avLst/>
              <a:gdLst>
                <a:gd name="csX0" fmla="*/ 38100 w 1333500"/>
                <a:gd name="csY0" fmla="*/ 0 h 523875"/>
                <a:gd name="csX1" fmla="*/ 1295400 w 1333500"/>
                <a:gd name="csY1" fmla="*/ 0 h 523875"/>
                <a:gd name="csX2" fmla="*/ 1333500 w 1333500"/>
                <a:gd name="csY2" fmla="*/ 38100 h 523875"/>
                <a:gd name="csX3" fmla="*/ 1333500 w 1333500"/>
                <a:gd name="csY3" fmla="*/ 485775 h 523875"/>
                <a:gd name="csX4" fmla="*/ 1295400 w 1333500"/>
                <a:gd name="csY4" fmla="*/ 523875 h 523875"/>
                <a:gd name="csX5" fmla="*/ 38100 w 1333500"/>
                <a:gd name="csY5" fmla="*/ 523875 h 523875"/>
                <a:gd name="csX6" fmla="*/ 0 w 1333500"/>
                <a:gd name="csY6" fmla="*/ 485775 h 523875"/>
                <a:gd name="csX7" fmla="*/ 0 w 1333500"/>
                <a:gd name="csY7" fmla="*/ 38100 h 523875"/>
                <a:gd name="csX8" fmla="*/ 38100 w 1333500"/>
                <a:gd name="csY8" fmla="*/ 0 h 523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3500" h="523875">
                  <a:moveTo>
                    <a:pt x="38100" y="0"/>
                  </a:moveTo>
                  <a:lnTo>
                    <a:pt x="1295400" y="0"/>
                  </a:lnTo>
                  <a:cubicBezTo>
                    <a:pt x="1316442" y="0"/>
                    <a:pt x="1333500" y="17058"/>
                    <a:pt x="1333500" y="38100"/>
                  </a:cubicBezTo>
                  <a:lnTo>
                    <a:pt x="1333500" y="485775"/>
                  </a:lnTo>
                  <a:cubicBezTo>
                    <a:pt x="1333500" y="506817"/>
                    <a:pt x="1316442" y="523875"/>
                    <a:pt x="1295400" y="523875"/>
                  </a:cubicBezTo>
                  <a:lnTo>
                    <a:pt x="38100" y="523875"/>
                  </a:lnTo>
                  <a:cubicBezTo>
                    <a:pt x="17058" y="523875"/>
                    <a:pt x="0" y="506817"/>
                    <a:pt x="0" y="485775"/>
                  </a:cubicBezTo>
                  <a:lnTo>
                    <a:pt x="0" y="38100"/>
                  </a:lnTo>
                  <a:cubicBezTo>
                    <a:pt x="0" y="17058"/>
                    <a:pt x="17058" y="0"/>
                    <a:pt x="38100" y="0"/>
                  </a:cubicBezTo>
                  <a:close/>
                </a:path>
              </a:pathLst>
            </a:custGeom>
            <a:solidFill>
              <a:srgbClr val="FFFFFF"/>
            </a:solidFill>
            <a:ln w="9525" cap="flat">
              <a:noFill/>
              <a:prstDash val="solid"/>
              <a:miter/>
            </a:ln>
          </p:spPr>
          <p:txBody>
            <a:bodyPr/>
            <a:lstStyle/>
            <a:p>
              <a:endParaRPr lang="zh-CN" altLang="en-US"/>
            </a:p>
          </p:txBody>
        </p:sp>
        <p:sp>
          <p:nvSpPr>
            <p:cNvPr id="89" name="文本框 88">
              <a:extLst>
                <a:ext uri="{FF2B5EF4-FFF2-40B4-BE49-F238E27FC236}">
                  <a16:creationId xmlns:a16="http://schemas.microsoft.com/office/drawing/2014/main" id="{0489A68D-A3B2-3CF3-D8FF-17C689265625}"/>
                </a:ext>
              </a:extLst>
            </p:cNvPr>
            <p:cNvSpPr txBox="1"/>
            <p:nvPr/>
          </p:nvSpPr>
          <p:spPr>
            <a:xfrm>
              <a:off x="10367010" y="4701166"/>
              <a:ext cx="6019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资本化率</a:t>
              </a:r>
            </a:p>
          </p:txBody>
        </p:sp>
        <p:sp>
          <p:nvSpPr>
            <p:cNvPr id="90" name="文本框 89">
              <a:extLst>
                <a:ext uri="{FF2B5EF4-FFF2-40B4-BE49-F238E27FC236}">
                  <a16:creationId xmlns:a16="http://schemas.microsoft.com/office/drawing/2014/main" id="{94AA1063-951A-81BF-CE20-07FDDBD62FD0}"/>
                </a:ext>
              </a:extLst>
            </p:cNvPr>
            <p:cNvSpPr txBox="1"/>
            <p:nvPr/>
          </p:nvSpPr>
          <p:spPr>
            <a:xfrm>
              <a:off x="10295870" y="4860324"/>
              <a:ext cx="74425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32.34%</a:t>
              </a:r>
            </a:p>
          </p:txBody>
        </p:sp>
      </p:grpSp>
      <p:grpSp>
        <p:nvGrpSpPr>
          <p:cNvPr id="91" name="SVG Image 17">
            <a:extLst>
              <a:ext uri="{FF2B5EF4-FFF2-40B4-BE49-F238E27FC236}">
                <a16:creationId xmlns:a16="http://schemas.microsoft.com/office/drawing/2014/main" id="{C4F33B86-A5D8-4AE1-84E2-16A38F4E0BAD}"/>
              </a:ext>
            </a:extLst>
          </p:cNvPr>
          <p:cNvGrpSpPr/>
          <p:nvPr/>
        </p:nvGrpSpPr>
        <p:grpSpPr>
          <a:xfrm>
            <a:off x="571500" y="5524500"/>
            <a:ext cx="11049000" cy="762000"/>
            <a:chOff x="571500" y="5524500"/>
            <a:chExt cx="11049000" cy="762000"/>
          </a:xfrm>
        </p:grpSpPr>
        <p:sp>
          <p:nvSpPr>
            <p:cNvPr id="92" name="任意形状 91">
              <a:extLst>
                <a:ext uri="{FF2B5EF4-FFF2-40B4-BE49-F238E27FC236}">
                  <a16:creationId xmlns:a16="http://schemas.microsoft.com/office/drawing/2014/main" id="{F94CECDC-7BA3-666B-42FC-570095397744}"/>
                </a:ext>
              </a:extLst>
            </p:cNvPr>
            <p:cNvSpPr/>
            <p:nvPr/>
          </p:nvSpPr>
          <p:spPr>
            <a:xfrm>
              <a:off x="571500" y="5524500"/>
              <a:ext cx="11049000" cy="762000"/>
            </a:xfrm>
            <a:custGeom>
              <a:avLst/>
              <a:gdLst>
                <a:gd name="csX0" fmla="*/ 76200 w 11049000"/>
                <a:gd name="csY0" fmla="*/ 0 h 762000"/>
                <a:gd name="csX1" fmla="*/ 10972800 w 11049000"/>
                <a:gd name="csY1" fmla="*/ 0 h 762000"/>
                <a:gd name="csX2" fmla="*/ 11049000 w 11049000"/>
                <a:gd name="csY2" fmla="*/ 76200 h 762000"/>
                <a:gd name="csX3" fmla="*/ 11049000 w 11049000"/>
                <a:gd name="csY3" fmla="*/ 685800 h 762000"/>
                <a:gd name="csX4" fmla="*/ 10972800 w 11049000"/>
                <a:gd name="csY4" fmla="*/ 762000 h 762000"/>
                <a:gd name="csX5" fmla="*/ 76200 w 11049000"/>
                <a:gd name="csY5" fmla="*/ 762000 h 762000"/>
                <a:gd name="csX6" fmla="*/ 0 w 11049000"/>
                <a:gd name="csY6" fmla="*/ 685800 h 762000"/>
                <a:gd name="csX7" fmla="*/ 0 w 11049000"/>
                <a:gd name="csY7" fmla="*/ 76200 h 762000"/>
                <a:gd name="csX8" fmla="*/ 76200 w 11049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762000">
                  <a:moveTo>
                    <a:pt x="76200" y="0"/>
                  </a:moveTo>
                  <a:lnTo>
                    <a:pt x="10972800" y="0"/>
                  </a:lnTo>
                  <a:cubicBezTo>
                    <a:pt x="11014885" y="0"/>
                    <a:pt x="11049000" y="34116"/>
                    <a:pt x="11049000" y="76200"/>
                  </a:cubicBezTo>
                  <a:lnTo>
                    <a:pt x="11049000" y="685800"/>
                  </a:lnTo>
                  <a:cubicBezTo>
                    <a:pt x="11049000" y="727884"/>
                    <a:pt x="11014885" y="762000"/>
                    <a:pt x="10972800" y="762000"/>
                  </a:cubicBezTo>
                  <a:lnTo>
                    <a:pt x="76200" y="762000"/>
                  </a:lnTo>
                  <a:cubicBezTo>
                    <a:pt x="34116" y="762000"/>
                    <a:pt x="0" y="727884"/>
                    <a:pt x="0" y="68580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93" name="文本框 92">
              <a:extLst>
                <a:ext uri="{FF2B5EF4-FFF2-40B4-BE49-F238E27FC236}">
                  <a16:creationId xmlns:a16="http://schemas.microsoft.com/office/drawing/2014/main" id="{2E329DB8-41B0-9C67-90BD-02DC766434CE}"/>
                </a:ext>
              </a:extLst>
            </p:cNvPr>
            <p:cNvSpPr txBox="1"/>
            <p:nvPr/>
          </p:nvSpPr>
          <p:spPr>
            <a:xfrm>
              <a:off x="765810" y="5671056"/>
              <a:ext cx="982980" cy="267438"/>
            </a:xfrm>
            <a:prstGeom prst="rect">
              <a:avLst/>
            </a:prstGeom>
            <a:noFill/>
          </p:spPr>
          <p:txBody>
            <a:bodyPr wrap="none" rtlCol="0">
              <a:spAutoFit/>
            </a:bodyPr>
            <a:lstStyle/>
            <a:p>
              <a:pPr algn="l"/>
              <a:r>
                <a:rPr lang="zh-CN" altLang="en-US" sz="1050" b="1" spc="0" baseline="0">
                  <a:ln/>
                  <a:solidFill>
                    <a:srgbClr val="4A90D9"/>
                  </a:solidFill>
                  <a:latin typeface="微软雅黑"/>
                  <a:ea typeface="微软雅黑"/>
                  <a:sym typeface="微软雅黑"/>
                  <a:rtl val="0"/>
                </a:rPr>
                <a:t>企业生态评价</a:t>
              </a:r>
            </a:p>
          </p:txBody>
        </p:sp>
        <p:sp>
          <p:nvSpPr>
            <p:cNvPr id="94" name="文本框 93">
              <a:extLst>
                <a:ext uri="{FF2B5EF4-FFF2-40B4-BE49-F238E27FC236}">
                  <a16:creationId xmlns:a16="http://schemas.microsoft.com/office/drawing/2014/main" id="{F1F9F4B8-B82D-3B5D-7041-210D3C121993}"/>
                </a:ext>
              </a:extLst>
            </p:cNvPr>
            <p:cNvSpPr txBox="1"/>
            <p:nvPr/>
          </p:nvSpPr>
          <p:spPr>
            <a:xfrm>
              <a:off x="765810" y="5966885"/>
              <a:ext cx="3974113"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科创基础扎实：高企近万，专精特新超5,500家，形成良好创新生态 </a:t>
              </a:r>
            </a:p>
          </p:txBody>
        </p:sp>
        <p:sp>
          <p:nvSpPr>
            <p:cNvPr id="95" name="文本框 94">
              <a:extLst>
                <a:ext uri="{FF2B5EF4-FFF2-40B4-BE49-F238E27FC236}">
                  <a16:creationId xmlns:a16="http://schemas.microsoft.com/office/drawing/2014/main" id="{2CA60B01-4BE0-C9C2-636C-485794555653}"/>
                </a:ext>
              </a:extLst>
            </p:cNvPr>
            <p:cNvSpPr txBox="1"/>
            <p:nvPr/>
          </p:nvSpPr>
          <p:spPr>
            <a:xfrm>
              <a:off x="5623560" y="5966885"/>
              <a:ext cx="3946120" cy="254867"/>
            </a:xfrm>
            <a:prstGeom prst="rect">
              <a:avLst/>
            </a:prstGeom>
            <a:noFill/>
          </p:spPr>
          <p:txBody>
            <a:bodyPr wrap="none" rtlCol="0">
              <a:spAutoFit/>
            </a:bodyPr>
            <a:lstStyle/>
            <a:p>
              <a:pPr algn="l"/>
              <a:r>
                <a:rPr lang="zh-CN" altLang="en-US" sz="975" spc="0" baseline="0">
                  <a:ln/>
                  <a:solidFill>
                    <a:srgbClr val="FFFFFF"/>
                  </a:solidFill>
                  <a:latin typeface="微软雅黑"/>
                  <a:ea typeface="微软雅黑"/>
                  <a:sym typeface="微软雅黑"/>
                  <a:rtl val="0"/>
                </a:rPr>
                <a:t>• 国企支撑有力：8,000+国企提供就业与税收，央企子公司2,000+家</a:t>
              </a:r>
            </a:p>
          </p:txBody>
        </p:sp>
      </p:grpSp>
      <p:sp>
        <p:nvSpPr>
          <p:cNvPr id="96" name="矩形 95">
            <a:extLst>
              <a:ext uri="{FF2B5EF4-FFF2-40B4-BE49-F238E27FC236}">
                <a16:creationId xmlns:a16="http://schemas.microsoft.com/office/drawing/2014/main" id="{4356F518-8409-8840-D220-89C02DAC54C4}"/>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61BCA90-4C0A-BB2C-2B1A-67B1AEDFD898}"/>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9EB9A806-1785-DD7C-1E1F-8CC51C468B66}"/>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44620F42-37EA-7018-BFEF-2CA99A4D858C}"/>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28A4261B-6FBF-446A-B6B6-497628273FCC}"/>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文本框 7">
            <a:extLst>
              <a:ext uri="{FF2B5EF4-FFF2-40B4-BE49-F238E27FC236}">
                <a16:creationId xmlns:a16="http://schemas.microsoft.com/office/drawing/2014/main" id="{1EBCA545-DB60-901C-C38D-F7BA5DB2FE62}"/>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18 / 20</a:t>
            </a:r>
          </a:p>
        </p:txBody>
      </p:sp>
      <p:sp>
        <p:nvSpPr>
          <p:cNvPr id="9" name="矩形 8">
            <a:extLst>
              <a:ext uri="{FF2B5EF4-FFF2-40B4-BE49-F238E27FC236}">
                <a16:creationId xmlns:a16="http://schemas.microsoft.com/office/drawing/2014/main" id="{55ECB24F-5D76-7F9B-7697-B75AF9FEAC2A}"/>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0" name="文本框 9">
            <a:extLst>
              <a:ext uri="{FF2B5EF4-FFF2-40B4-BE49-F238E27FC236}">
                <a16:creationId xmlns:a16="http://schemas.microsoft.com/office/drawing/2014/main" id="{0AC6E7EB-D64A-55F3-E9D6-EC02F8E61DBD}"/>
              </a:ext>
            </a:extLst>
          </p:cNvPr>
          <p:cNvSpPr txBox="1"/>
          <p:nvPr/>
        </p:nvSpPr>
        <p:spPr>
          <a:xfrm>
            <a:off x="5471160" y="672208"/>
            <a:ext cx="1249680"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报告总结</a:t>
            </a:r>
          </a:p>
        </p:txBody>
      </p:sp>
      <p:sp>
        <p:nvSpPr>
          <p:cNvPr id="11" name="矩形 10">
            <a:extLst>
              <a:ext uri="{FF2B5EF4-FFF2-40B4-BE49-F238E27FC236}">
                <a16:creationId xmlns:a16="http://schemas.microsoft.com/office/drawing/2014/main" id="{08A599CD-59F4-3B5F-047B-AAC765571F40}"/>
              </a:ext>
            </a:extLst>
          </p:cNvPr>
          <p:cNvSpPr/>
          <p:nvPr/>
        </p:nvSpPr>
        <p:spPr>
          <a:xfrm>
            <a:off x="5619750" y="1123950"/>
            <a:ext cx="952500" cy="28575"/>
          </a:xfrm>
          <a:prstGeom prst="rect">
            <a:avLst/>
          </a:prstGeom>
          <a:solidFill>
            <a:srgbClr val="4A90D9"/>
          </a:solidFill>
          <a:ln w="9525" cap="flat">
            <a:noFill/>
            <a:prstDash val="solid"/>
            <a:miter/>
          </a:ln>
        </p:spPr>
        <p:txBody>
          <a:bodyPr/>
          <a:lstStyle/>
          <a:p>
            <a:endParaRPr lang="zh-CN" altLang="en-US"/>
          </a:p>
        </p:txBody>
      </p:sp>
      <p:grpSp>
        <p:nvGrpSpPr>
          <p:cNvPr id="12" name="SVG Image 18">
            <a:extLst>
              <a:ext uri="{FF2B5EF4-FFF2-40B4-BE49-F238E27FC236}">
                <a16:creationId xmlns:a16="http://schemas.microsoft.com/office/drawing/2014/main" id="{27B882EE-5F59-494D-B12F-4AEBFBFFDBC7}"/>
              </a:ext>
            </a:extLst>
          </p:cNvPr>
          <p:cNvGrpSpPr/>
          <p:nvPr/>
        </p:nvGrpSpPr>
        <p:grpSpPr>
          <a:xfrm>
            <a:off x="571500" y="1381125"/>
            <a:ext cx="2857500" cy="1905000"/>
            <a:chOff x="571500" y="1381125"/>
            <a:chExt cx="2857500" cy="1905000"/>
          </a:xfrm>
        </p:grpSpPr>
        <p:sp>
          <p:nvSpPr>
            <p:cNvPr id="13" name="任意形状 12">
              <a:extLst>
                <a:ext uri="{FF2B5EF4-FFF2-40B4-BE49-F238E27FC236}">
                  <a16:creationId xmlns:a16="http://schemas.microsoft.com/office/drawing/2014/main" id="{D4344DF6-B44F-5BBE-E56B-0669E0FE3CBC}"/>
                </a:ext>
              </a:extLst>
            </p:cNvPr>
            <p:cNvSpPr/>
            <p:nvPr/>
          </p:nvSpPr>
          <p:spPr>
            <a:xfrm>
              <a:off x="571500" y="1381125"/>
              <a:ext cx="2857500" cy="1905000"/>
            </a:xfrm>
            <a:custGeom>
              <a:avLst/>
              <a:gdLst>
                <a:gd name="csX0" fmla="*/ 114300 w 2857500"/>
                <a:gd name="csY0" fmla="*/ 0 h 1905000"/>
                <a:gd name="csX1" fmla="*/ 2743200 w 2857500"/>
                <a:gd name="csY1" fmla="*/ 0 h 1905000"/>
                <a:gd name="csX2" fmla="*/ 2857500 w 2857500"/>
                <a:gd name="csY2" fmla="*/ 114300 h 1905000"/>
                <a:gd name="csX3" fmla="*/ 2857500 w 2857500"/>
                <a:gd name="csY3" fmla="*/ 1790700 h 1905000"/>
                <a:gd name="csX4" fmla="*/ 2743200 w 2857500"/>
                <a:gd name="csY4" fmla="*/ 1905000 h 1905000"/>
                <a:gd name="csX5" fmla="*/ 114300 w 2857500"/>
                <a:gd name="csY5" fmla="*/ 1905000 h 1905000"/>
                <a:gd name="csX6" fmla="*/ 0 w 2857500"/>
                <a:gd name="csY6" fmla="*/ 1790700 h 1905000"/>
                <a:gd name="csX7" fmla="*/ 0 w 2857500"/>
                <a:gd name="csY7" fmla="*/ 114300 h 1905000"/>
                <a:gd name="csX8" fmla="*/ 114300 w 2857500"/>
                <a:gd name="csY8" fmla="*/ 0 h 190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7500" h="1905000">
                  <a:moveTo>
                    <a:pt x="114300" y="0"/>
                  </a:moveTo>
                  <a:lnTo>
                    <a:pt x="2743200" y="0"/>
                  </a:lnTo>
                  <a:cubicBezTo>
                    <a:pt x="2806326" y="0"/>
                    <a:pt x="2857500" y="51174"/>
                    <a:pt x="2857500" y="114300"/>
                  </a:cubicBezTo>
                  <a:lnTo>
                    <a:pt x="2857500" y="1790700"/>
                  </a:lnTo>
                  <a:cubicBezTo>
                    <a:pt x="2857500" y="1853826"/>
                    <a:pt x="2806326" y="1905000"/>
                    <a:pt x="2743200" y="1905000"/>
                  </a:cubicBezTo>
                  <a:lnTo>
                    <a:pt x="114300" y="1905000"/>
                  </a:lnTo>
                  <a:cubicBezTo>
                    <a:pt x="51174" y="1905000"/>
                    <a:pt x="0" y="1853826"/>
                    <a:pt x="0" y="1790700"/>
                  </a:cubicBezTo>
                  <a:lnTo>
                    <a:pt x="0" y="114300"/>
                  </a:lnTo>
                  <a:cubicBezTo>
                    <a:pt x="0" y="51174"/>
                    <a:pt x="51174" y="0"/>
                    <a:pt x="114300" y="0"/>
                  </a:cubicBezTo>
                  <a:close/>
                </a:path>
              </a:pathLst>
            </a:custGeom>
            <a:solidFill>
              <a:srgbClr val="1E3A5F"/>
            </a:solidFill>
            <a:ln w="9525" cap="flat">
              <a:noFill/>
              <a:prstDash val="solid"/>
              <a:miter/>
            </a:ln>
          </p:spPr>
          <p:txBody>
            <a:bodyPr/>
            <a:lstStyle/>
            <a:p>
              <a:endParaRPr lang="zh-CN" altLang="en-US"/>
            </a:p>
          </p:txBody>
        </p:sp>
        <p:sp>
          <p:nvSpPr>
            <p:cNvPr id="14" name="文本框 13">
              <a:extLst>
                <a:ext uri="{FF2B5EF4-FFF2-40B4-BE49-F238E27FC236}">
                  <a16:creationId xmlns:a16="http://schemas.microsoft.com/office/drawing/2014/main" id="{5353B565-5F4F-5F42-245F-44B026841153}"/>
                </a:ext>
              </a:extLst>
            </p:cNvPr>
            <p:cNvSpPr txBox="1"/>
            <p:nvPr/>
          </p:nvSpPr>
          <p:spPr>
            <a:xfrm>
              <a:off x="1451610" y="1602774"/>
              <a:ext cx="1097280" cy="292581"/>
            </a:xfrm>
            <a:prstGeom prst="rect">
              <a:avLst/>
            </a:prstGeom>
            <a:noFill/>
          </p:spPr>
          <p:txBody>
            <a:bodyPr wrap="none" rtlCol="0">
              <a:spAutoFit/>
            </a:bodyPr>
            <a:lstStyle/>
            <a:p>
              <a:pPr algn="l"/>
              <a:r>
                <a:rPr lang="zh-CN" altLang="en-US" sz="1200" spc="0" baseline="0">
                  <a:ln/>
                  <a:solidFill>
                    <a:srgbClr val="FFFFFF">
                      <a:alpha val="80000"/>
                    </a:srgbClr>
                  </a:solidFill>
                  <a:latin typeface="微软雅黑"/>
                  <a:ea typeface="微软雅黑"/>
                  <a:sym typeface="微软雅黑"/>
                  <a:rtl val="0"/>
                </a:rPr>
                <a:t>地区综合评分</a:t>
              </a:r>
            </a:p>
          </p:txBody>
        </p:sp>
        <p:sp>
          <p:nvSpPr>
            <p:cNvPr id="15" name="文本框 14">
              <a:extLst>
                <a:ext uri="{FF2B5EF4-FFF2-40B4-BE49-F238E27FC236}">
                  <a16:creationId xmlns:a16="http://schemas.microsoft.com/office/drawing/2014/main" id="{F37A1949-4EE7-4214-F5FE-96946F8E7DD0}"/>
                </a:ext>
              </a:extLst>
            </p:cNvPr>
            <p:cNvSpPr txBox="1"/>
            <p:nvPr/>
          </p:nvSpPr>
          <p:spPr>
            <a:xfrm>
              <a:off x="1176464" y="1895631"/>
              <a:ext cx="1647571" cy="996575"/>
            </a:xfrm>
            <a:prstGeom prst="rect">
              <a:avLst/>
            </a:prstGeom>
            <a:noFill/>
          </p:spPr>
          <p:txBody>
            <a:bodyPr wrap="none" rtlCol="0">
              <a:spAutoFit/>
            </a:bodyPr>
            <a:lstStyle/>
            <a:p>
              <a:pPr algn="l"/>
              <a:r>
                <a:rPr lang="zh-CN" altLang="en-US" sz="5400" b="1" spc="0" baseline="0">
                  <a:ln/>
                  <a:solidFill>
                    <a:srgbClr val="FFFFFF"/>
                  </a:solidFill>
                  <a:latin typeface="微软雅黑"/>
                  <a:ea typeface="微软雅黑"/>
                  <a:sym typeface="微软雅黑"/>
                  <a:rtl val="0"/>
                </a:rPr>
                <a:t>8.71</a:t>
              </a:r>
            </a:p>
          </p:txBody>
        </p:sp>
        <p:sp>
          <p:nvSpPr>
            <p:cNvPr id="16" name="文本框 15">
              <a:extLst>
                <a:ext uri="{FF2B5EF4-FFF2-40B4-BE49-F238E27FC236}">
                  <a16:creationId xmlns:a16="http://schemas.microsoft.com/office/drawing/2014/main" id="{49162134-01A9-D59D-AD05-737D9C0144C7}"/>
                </a:ext>
              </a:extLst>
            </p:cNvPr>
            <p:cNvSpPr txBox="1"/>
            <p:nvPr/>
          </p:nvSpPr>
          <p:spPr>
            <a:xfrm>
              <a:off x="1508760" y="2861181"/>
              <a:ext cx="982980" cy="267438"/>
            </a:xfrm>
            <a:prstGeom prst="rect">
              <a:avLst/>
            </a:prstGeom>
            <a:noFill/>
          </p:spPr>
          <p:txBody>
            <a:bodyPr wrap="none" rtlCol="0">
              <a:spAutoFit/>
            </a:bodyPr>
            <a:lstStyle/>
            <a:p>
              <a:pPr algn="l"/>
              <a:r>
                <a:rPr lang="zh-CN" altLang="en-US" sz="1050" spc="0" baseline="0">
                  <a:ln/>
                  <a:solidFill>
                    <a:srgbClr val="4A90D9"/>
                  </a:solidFill>
                  <a:latin typeface="微软雅黑"/>
                  <a:ea typeface="微软雅黑"/>
                  <a:sym typeface="微软雅黑"/>
                  <a:rtl val="0"/>
                </a:rPr>
                <a:t>全国领先水平</a:t>
              </a:r>
            </a:p>
          </p:txBody>
        </p:sp>
      </p:grpSp>
      <p:grpSp>
        <p:nvGrpSpPr>
          <p:cNvPr id="17" name="SVG Image 18">
            <a:extLst>
              <a:ext uri="{FF2B5EF4-FFF2-40B4-BE49-F238E27FC236}">
                <a16:creationId xmlns:a16="http://schemas.microsoft.com/office/drawing/2014/main" id="{3DDDD642-B578-BAB4-35A5-AE3341BA1855}"/>
              </a:ext>
            </a:extLst>
          </p:cNvPr>
          <p:cNvGrpSpPr/>
          <p:nvPr/>
        </p:nvGrpSpPr>
        <p:grpSpPr>
          <a:xfrm>
            <a:off x="3619500" y="1381125"/>
            <a:ext cx="8001000" cy="1905000"/>
            <a:chOff x="3619500" y="1381125"/>
            <a:chExt cx="8001000" cy="1905000"/>
          </a:xfrm>
        </p:grpSpPr>
        <p:sp>
          <p:nvSpPr>
            <p:cNvPr id="18" name="任意形状 17">
              <a:extLst>
                <a:ext uri="{FF2B5EF4-FFF2-40B4-BE49-F238E27FC236}">
                  <a16:creationId xmlns:a16="http://schemas.microsoft.com/office/drawing/2014/main" id="{2456F462-8123-EBBA-F9D9-8295B3D2607A}"/>
                </a:ext>
              </a:extLst>
            </p:cNvPr>
            <p:cNvSpPr/>
            <p:nvPr/>
          </p:nvSpPr>
          <p:spPr>
            <a:xfrm>
              <a:off x="3619500" y="1381125"/>
              <a:ext cx="8001000" cy="1905000"/>
            </a:xfrm>
            <a:custGeom>
              <a:avLst/>
              <a:gdLst>
                <a:gd name="csX0" fmla="*/ 76200 w 8001000"/>
                <a:gd name="csY0" fmla="*/ 0 h 1905000"/>
                <a:gd name="csX1" fmla="*/ 7924800 w 8001000"/>
                <a:gd name="csY1" fmla="*/ 0 h 1905000"/>
                <a:gd name="csX2" fmla="*/ 8001000 w 8001000"/>
                <a:gd name="csY2" fmla="*/ 76200 h 1905000"/>
                <a:gd name="csX3" fmla="*/ 8001000 w 8001000"/>
                <a:gd name="csY3" fmla="*/ 1828800 h 1905000"/>
                <a:gd name="csX4" fmla="*/ 7924800 w 8001000"/>
                <a:gd name="csY4" fmla="*/ 1905000 h 1905000"/>
                <a:gd name="csX5" fmla="*/ 76200 w 8001000"/>
                <a:gd name="csY5" fmla="*/ 1905000 h 1905000"/>
                <a:gd name="csX6" fmla="*/ 0 w 8001000"/>
                <a:gd name="csY6" fmla="*/ 1828800 h 1905000"/>
                <a:gd name="csX7" fmla="*/ 0 w 8001000"/>
                <a:gd name="csY7" fmla="*/ 76200 h 1905000"/>
                <a:gd name="csX8" fmla="*/ 76200 w 8001000"/>
                <a:gd name="csY8" fmla="*/ 0 h 190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01000" h="1905000">
                  <a:moveTo>
                    <a:pt x="76200" y="0"/>
                  </a:moveTo>
                  <a:lnTo>
                    <a:pt x="7924800" y="0"/>
                  </a:lnTo>
                  <a:cubicBezTo>
                    <a:pt x="7966885" y="0"/>
                    <a:pt x="8001000" y="34116"/>
                    <a:pt x="8001000" y="76200"/>
                  </a:cubicBezTo>
                  <a:lnTo>
                    <a:pt x="8001000" y="1828800"/>
                  </a:lnTo>
                  <a:cubicBezTo>
                    <a:pt x="8001000" y="1870884"/>
                    <a:pt x="7966885" y="1905000"/>
                    <a:pt x="7924800" y="1905000"/>
                  </a:cubicBezTo>
                  <a:lnTo>
                    <a:pt x="76200" y="1905000"/>
                  </a:lnTo>
                  <a:cubicBezTo>
                    <a:pt x="34116" y="1905000"/>
                    <a:pt x="0" y="1870884"/>
                    <a:pt x="0" y="1828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9" name="文本框 18">
              <a:extLst>
                <a:ext uri="{FF2B5EF4-FFF2-40B4-BE49-F238E27FC236}">
                  <a16:creationId xmlns:a16="http://schemas.microsoft.com/office/drawing/2014/main" id="{FBE79FCF-D881-E43D-6B6B-3CA00E721116}"/>
                </a:ext>
              </a:extLst>
            </p:cNvPr>
            <p:cNvSpPr txBox="1"/>
            <p:nvPr/>
          </p:nvSpPr>
          <p:spPr>
            <a:xfrm>
              <a:off x="3813810" y="1507524"/>
              <a:ext cx="1097280"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核心指标速览</a:t>
              </a:r>
            </a:p>
          </p:txBody>
        </p:sp>
        <p:sp>
          <p:nvSpPr>
            <p:cNvPr id="20" name="任意形状 19">
              <a:extLst>
                <a:ext uri="{FF2B5EF4-FFF2-40B4-BE49-F238E27FC236}">
                  <a16:creationId xmlns:a16="http://schemas.microsoft.com/office/drawing/2014/main" id="{346F6202-5055-82DC-E304-90CBBBD4916F}"/>
                </a:ext>
              </a:extLst>
            </p:cNvPr>
            <p:cNvSpPr/>
            <p:nvPr/>
          </p:nvSpPr>
          <p:spPr>
            <a:xfrm>
              <a:off x="3905250" y="1905000"/>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21" name="文本框 20">
              <a:extLst>
                <a:ext uri="{FF2B5EF4-FFF2-40B4-BE49-F238E27FC236}">
                  <a16:creationId xmlns:a16="http://schemas.microsoft.com/office/drawing/2014/main" id="{2DF0E368-C7EB-7992-6F53-FC31D110F3C6}"/>
                </a:ext>
              </a:extLst>
            </p:cNvPr>
            <p:cNvSpPr txBox="1"/>
            <p:nvPr/>
          </p:nvSpPr>
          <p:spPr>
            <a:xfrm>
              <a:off x="4274395" y="1986541"/>
              <a:ext cx="404708"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GDP</a:t>
              </a:r>
            </a:p>
          </p:txBody>
        </p:sp>
        <p:sp>
          <p:nvSpPr>
            <p:cNvPr id="22" name="文本框 21">
              <a:extLst>
                <a:ext uri="{FF2B5EF4-FFF2-40B4-BE49-F238E27FC236}">
                  <a16:creationId xmlns:a16="http://schemas.microsoft.com/office/drawing/2014/main" id="{72B911B1-3C65-A9B0-C418-C9DF5EC07D8A}"/>
                </a:ext>
              </a:extLst>
            </p:cNvPr>
            <p:cNvSpPr txBox="1"/>
            <p:nvPr/>
          </p:nvSpPr>
          <p:spPr>
            <a:xfrm>
              <a:off x="4070166" y="2155224"/>
              <a:ext cx="813167"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3.22万亿</a:t>
              </a:r>
            </a:p>
          </p:txBody>
        </p:sp>
        <p:sp>
          <p:nvSpPr>
            <p:cNvPr id="23" name="任意形状 22">
              <a:extLst>
                <a:ext uri="{FF2B5EF4-FFF2-40B4-BE49-F238E27FC236}">
                  <a16:creationId xmlns:a16="http://schemas.microsoft.com/office/drawing/2014/main" id="{DE96EAE8-EE8E-F13B-1F0E-762EA50C5B6F}"/>
                </a:ext>
              </a:extLst>
            </p:cNvPr>
            <p:cNvSpPr/>
            <p:nvPr/>
          </p:nvSpPr>
          <p:spPr>
            <a:xfrm>
              <a:off x="5191125" y="1905000"/>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24" name="文本框 23">
              <a:extLst>
                <a:ext uri="{FF2B5EF4-FFF2-40B4-BE49-F238E27FC236}">
                  <a16:creationId xmlns:a16="http://schemas.microsoft.com/office/drawing/2014/main" id="{82C00732-13E1-0A75-1982-9DFA18D48311}"/>
                </a:ext>
              </a:extLst>
            </p:cNvPr>
            <p:cNvSpPr txBox="1"/>
            <p:nvPr/>
          </p:nvSpPr>
          <p:spPr>
            <a:xfrm>
              <a:off x="5455495" y="1986541"/>
              <a:ext cx="614258"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GDP增速</a:t>
              </a:r>
            </a:p>
          </p:txBody>
        </p:sp>
        <p:sp>
          <p:nvSpPr>
            <p:cNvPr id="25" name="文本框 24">
              <a:extLst>
                <a:ext uri="{FF2B5EF4-FFF2-40B4-BE49-F238E27FC236}">
                  <a16:creationId xmlns:a16="http://schemas.microsoft.com/office/drawing/2014/main" id="{27A37803-3EC7-24B3-50A3-05E49D58BE91}"/>
                </a:ext>
              </a:extLst>
            </p:cNvPr>
            <p:cNvSpPr txBox="1"/>
            <p:nvPr/>
          </p:nvSpPr>
          <p:spPr>
            <a:xfrm>
              <a:off x="5437487" y="2155224"/>
              <a:ext cx="650274" cy="292581"/>
            </a:xfrm>
            <a:prstGeom prst="rect">
              <a:avLst/>
            </a:prstGeom>
            <a:noFill/>
          </p:spPr>
          <p:txBody>
            <a:bodyPr wrap="none" rtlCol="0">
              <a:spAutoFit/>
            </a:bodyPr>
            <a:lstStyle/>
            <a:p>
              <a:pPr algn="l"/>
              <a:r>
                <a:rPr lang="zh-CN" altLang="en-US" sz="1200" b="1" spc="0" baseline="0">
                  <a:ln/>
                  <a:solidFill>
                    <a:srgbClr val="2ECC71"/>
                  </a:solidFill>
                  <a:latin typeface="微软雅黑"/>
                  <a:ea typeface="微软雅黑"/>
                  <a:sym typeface="微软雅黑"/>
                  <a:rtl val="0"/>
                </a:rPr>
                <a:t>5.70%</a:t>
              </a:r>
            </a:p>
          </p:txBody>
        </p:sp>
        <p:sp>
          <p:nvSpPr>
            <p:cNvPr id="26" name="任意形状 25">
              <a:extLst>
                <a:ext uri="{FF2B5EF4-FFF2-40B4-BE49-F238E27FC236}">
                  <a16:creationId xmlns:a16="http://schemas.microsoft.com/office/drawing/2014/main" id="{1084506F-9B4A-051C-601C-CE864D08B8D4}"/>
                </a:ext>
              </a:extLst>
            </p:cNvPr>
            <p:cNvSpPr/>
            <p:nvPr/>
          </p:nvSpPr>
          <p:spPr>
            <a:xfrm>
              <a:off x="6477000" y="1905000"/>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27" name="文本框 26">
              <a:extLst>
                <a:ext uri="{FF2B5EF4-FFF2-40B4-BE49-F238E27FC236}">
                  <a16:creationId xmlns:a16="http://schemas.microsoft.com/office/drawing/2014/main" id="{F6013016-C0B2-C277-8611-1F34AD6D1EDA}"/>
                </a:ext>
              </a:extLst>
            </p:cNvPr>
            <p:cNvSpPr txBox="1"/>
            <p:nvPr/>
          </p:nvSpPr>
          <p:spPr>
            <a:xfrm>
              <a:off x="6747510" y="1986541"/>
              <a:ext cx="6019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财政收入</a:t>
              </a:r>
            </a:p>
          </p:txBody>
        </p:sp>
        <p:sp>
          <p:nvSpPr>
            <p:cNvPr id="28" name="文本框 27">
              <a:extLst>
                <a:ext uri="{FF2B5EF4-FFF2-40B4-BE49-F238E27FC236}">
                  <a16:creationId xmlns:a16="http://schemas.microsoft.com/office/drawing/2014/main" id="{7A994511-0579-C2A9-4760-4EA1103B9FF1}"/>
                </a:ext>
              </a:extLst>
            </p:cNvPr>
            <p:cNvSpPr txBox="1"/>
            <p:nvPr/>
          </p:nvSpPr>
          <p:spPr>
            <a:xfrm>
              <a:off x="6671123" y="2155224"/>
              <a:ext cx="754752"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2,595亿</a:t>
              </a:r>
            </a:p>
          </p:txBody>
        </p:sp>
        <p:sp>
          <p:nvSpPr>
            <p:cNvPr id="29" name="任意形状 28">
              <a:extLst>
                <a:ext uri="{FF2B5EF4-FFF2-40B4-BE49-F238E27FC236}">
                  <a16:creationId xmlns:a16="http://schemas.microsoft.com/office/drawing/2014/main" id="{A623D6F7-854E-8C89-EC95-552DBB784D4D}"/>
                </a:ext>
              </a:extLst>
            </p:cNvPr>
            <p:cNvSpPr/>
            <p:nvPr/>
          </p:nvSpPr>
          <p:spPr>
            <a:xfrm>
              <a:off x="7762875" y="1905000"/>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30" name="文本框 29">
              <a:extLst>
                <a:ext uri="{FF2B5EF4-FFF2-40B4-BE49-F238E27FC236}">
                  <a16:creationId xmlns:a16="http://schemas.microsoft.com/office/drawing/2014/main" id="{DA27265B-17D3-9260-95F9-834B5582B446}"/>
                </a:ext>
              </a:extLst>
            </p:cNvPr>
            <p:cNvSpPr txBox="1"/>
            <p:nvPr/>
          </p:nvSpPr>
          <p:spPr>
            <a:xfrm>
              <a:off x="7980997" y="1986541"/>
              <a:ext cx="7067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财政自给率</a:t>
              </a:r>
            </a:p>
          </p:txBody>
        </p:sp>
        <p:sp>
          <p:nvSpPr>
            <p:cNvPr id="31" name="文本框 30">
              <a:extLst>
                <a:ext uri="{FF2B5EF4-FFF2-40B4-BE49-F238E27FC236}">
                  <a16:creationId xmlns:a16="http://schemas.microsoft.com/office/drawing/2014/main" id="{19D2F3B9-B15D-02FD-F631-A2186B97E3C9}"/>
                </a:ext>
              </a:extLst>
            </p:cNvPr>
            <p:cNvSpPr txBox="1"/>
            <p:nvPr/>
          </p:nvSpPr>
          <p:spPr>
            <a:xfrm>
              <a:off x="7962245" y="2155224"/>
              <a:ext cx="74425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46.17%</a:t>
              </a:r>
            </a:p>
          </p:txBody>
        </p:sp>
        <p:sp>
          <p:nvSpPr>
            <p:cNvPr id="32" name="任意形状 31">
              <a:extLst>
                <a:ext uri="{FF2B5EF4-FFF2-40B4-BE49-F238E27FC236}">
                  <a16:creationId xmlns:a16="http://schemas.microsoft.com/office/drawing/2014/main" id="{0304F762-83C3-2AA6-9B25-FF961640A6CE}"/>
                </a:ext>
              </a:extLst>
            </p:cNvPr>
            <p:cNvSpPr/>
            <p:nvPr/>
          </p:nvSpPr>
          <p:spPr>
            <a:xfrm>
              <a:off x="9048750" y="1905000"/>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33" name="文本框 32">
              <a:extLst>
                <a:ext uri="{FF2B5EF4-FFF2-40B4-BE49-F238E27FC236}">
                  <a16:creationId xmlns:a16="http://schemas.microsoft.com/office/drawing/2014/main" id="{DDA6D76B-F69B-0CA7-020F-BF75E4313280}"/>
                </a:ext>
              </a:extLst>
            </p:cNvPr>
            <p:cNvSpPr txBox="1"/>
            <p:nvPr/>
          </p:nvSpPr>
          <p:spPr>
            <a:xfrm>
              <a:off x="9266872" y="1986541"/>
              <a:ext cx="7067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城投债余额</a:t>
              </a:r>
            </a:p>
          </p:txBody>
        </p:sp>
        <p:sp>
          <p:nvSpPr>
            <p:cNvPr id="34" name="文本框 33">
              <a:extLst>
                <a:ext uri="{FF2B5EF4-FFF2-40B4-BE49-F238E27FC236}">
                  <a16:creationId xmlns:a16="http://schemas.microsoft.com/office/drawing/2014/main" id="{24376B8D-E048-BC97-BBDF-616EBAAC081F}"/>
                </a:ext>
              </a:extLst>
            </p:cNvPr>
            <p:cNvSpPr txBox="1"/>
            <p:nvPr/>
          </p:nvSpPr>
          <p:spPr>
            <a:xfrm>
              <a:off x="9242873" y="2155224"/>
              <a:ext cx="754752"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5,791亿</a:t>
              </a:r>
            </a:p>
          </p:txBody>
        </p:sp>
        <p:sp>
          <p:nvSpPr>
            <p:cNvPr id="35" name="任意形状 34">
              <a:extLst>
                <a:ext uri="{FF2B5EF4-FFF2-40B4-BE49-F238E27FC236}">
                  <a16:creationId xmlns:a16="http://schemas.microsoft.com/office/drawing/2014/main" id="{98690775-6A95-854F-5AB2-A0E80483D7B7}"/>
                </a:ext>
              </a:extLst>
            </p:cNvPr>
            <p:cNvSpPr/>
            <p:nvPr/>
          </p:nvSpPr>
          <p:spPr>
            <a:xfrm>
              <a:off x="10334625" y="1905000"/>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EBF4FF"/>
            </a:solidFill>
            <a:ln w="9525" cap="flat">
              <a:noFill/>
              <a:prstDash val="solid"/>
              <a:miter/>
            </a:ln>
          </p:spPr>
          <p:txBody>
            <a:bodyPr/>
            <a:lstStyle/>
            <a:p>
              <a:endParaRPr lang="zh-CN" altLang="en-US"/>
            </a:p>
          </p:txBody>
        </p:sp>
        <p:sp>
          <p:nvSpPr>
            <p:cNvPr id="36" name="文本框 35">
              <a:extLst>
                <a:ext uri="{FF2B5EF4-FFF2-40B4-BE49-F238E27FC236}">
                  <a16:creationId xmlns:a16="http://schemas.microsoft.com/office/drawing/2014/main" id="{DA677896-C888-A2C5-E35D-C82A9EC453B7}"/>
                </a:ext>
              </a:extLst>
            </p:cNvPr>
            <p:cNvSpPr txBox="1"/>
            <p:nvPr/>
          </p:nvSpPr>
          <p:spPr>
            <a:xfrm>
              <a:off x="10605135" y="1986541"/>
              <a:ext cx="6019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城投利差</a:t>
              </a:r>
            </a:p>
          </p:txBody>
        </p:sp>
        <p:sp>
          <p:nvSpPr>
            <p:cNvPr id="37" name="文本框 36">
              <a:extLst>
                <a:ext uri="{FF2B5EF4-FFF2-40B4-BE49-F238E27FC236}">
                  <a16:creationId xmlns:a16="http://schemas.microsoft.com/office/drawing/2014/main" id="{208CDC4D-2A26-8E7D-BA1A-6A40BDDC921D}"/>
                </a:ext>
              </a:extLst>
            </p:cNvPr>
            <p:cNvSpPr txBox="1"/>
            <p:nvPr/>
          </p:nvSpPr>
          <p:spPr>
            <a:xfrm>
              <a:off x="10503448" y="2155224"/>
              <a:ext cx="805353" cy="292581"/>
            </a:xfrm>
            <a:prstGeom prst="rect">
              <a:avLst/>
            </a:prstGeom>
            <a:noFill/>
          </p:spPr>
          <p:txBody>
            <a:bodyPr wrap="none" rtlCol="0">
              <a:spAutoFit/>
            </a:bodyPr>
            <a:lstStyle/>
            <a:p>
              <a:pPr algn="l"/>
              <a:r>
                <a:rPr lang="zh-CN" altLang="en-US" sz="1200" b="1" spc="0" baseline="0">
                  <a:ln/>
                  <a:solidFill>
                    <a:srgbClr val="2ECC71"/>
                  </a:solidFill>
                  <a:latin typeface="微软雅黑"/>
                  <a:ea typeface="微软雅黑"/>
                  <a:sym typeface="微软雅黑"/>
                  <a:rtl val="0"/>
                </a:rPr>
                <a:t>72.21bp</a:t>
              </a:r>
            </a:p>
          </p:txBody>
        </p:sp>
        <p:sp>
          <p:nvSpPr>
            <p:cNvPr id="38" name="任意形状 37">
              <a:extLst>
                <a:ext uri="{FF2B5EF4-FFF2-40B4-BE49-F238E27FC236}">
                  <a16:creationId xmlns:a16="http://schemas.microsoft.com/office/drawing/2014/main" id="{FCAC14A1-08EF-F655-DF62-DD52435D28B8}"/>
                </a:ext>
              </a:extLst>
            </p:cNvPr>
            <p:cNvSpPr/>
            <p:nvPr/>
          </p:nvSpPr>
          <p:spPr>
            <a:xfrm>
              <a:off x="3905250" y="2619375"/>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39" name="文本框 38">
              <a:extLst>
                <a:ext uri="{FF2B5EF4-FFF2-40B4-BE49-F238E27FC236}">
                  <a16:creationId xmlns:a16="http://schemas.microsoft.com/office/drawing/2014/main" id="{B42E9A7E-40AF-4864-BF07-E2C1FBB56BFB}"/>
                </a:ext>
              </a:extLst>
            </p:cNvPr>
            <p:cNvSpPr txBox="1"/>
            <p:nvPr/>
          </p:nvSpPr>
          <p:spPr>
            <a:xfrm>
              <a:off x="4175760" y="2700916"/>
              <a:ext cx="6019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政府债务</a:t>
              </a:r>
            </a:p>
          </p:txBody>
        </p:sp>
        <p:sp>
          <p:nvSpPr>
            <p:cNvPr id="40" name="文本框 39">
              <a:extLst>
                <a:ext uri="{FF2B5EF4-FFF2-40B4-BE49-F238E27FC236}">
                  <a16:creationId xmlns:a16="http://schemas.microsoft.com/office/drawing/2014/main" id="{454D3EF2-2C04-732F-C733-F3047F902762}"/>
                </a:ext>
              </a:extLst>
            </p:cNvPr>
            <p:cNvSpPr txBox="1"/>
            <p:nvPr/>
          </p:nvSpPr>
          <p:spPr>
            <a:xfrm>
              <a:off x="4070166" y="2869599"/>
              <a:ext cx="813167" cy="292581"/>
            </a:xfrm>
            <a:prstGeom prst="rect">
              <a:avLst/>
            </a:prstGeom>
            <a:noFill/>
          </p:spPr>
          <p:txBody>
            <a:bodyPr wrap="none" rtlCol="0">
              <a:spAutoFit/>
            </a:bodyPr>
            <a:lstStyle/>
            <a:p>
              <a:pPr algn="l"/>
              <a:r>
                <a:rPr lang="zh-CN" altLang="en-US" sz="1200" b="1" spc="0" baseline="0">
                  <a:ln/>
                  <a:solidFill>
                    <a:srgbClr val="F59E0B"/>
                  </a:solidFill>
                  <a:latin typeface="微软雅黑"/>
                  <a:ea typeface="微软雅黑"/>
                  <a:sym typeface="微软雅黑"/>
                  <a:rtl val="0"/>
                </a:rPr>
                <a:t>1.44万亿</a:t>
              </a:r>
            </a:p>
          </p:txBody>
        </p:sp>
        <p:sp>
          <p:nvSpPr>
            <p:cNvPr id="41" name="任意形状 40">
              <a:extLst>
                <a:ext uri="{FF2B5EF4-FFF2-40B4-BE49-F238E27FC236}">
                  <a16:creationId xmlns:a16="http://schemas.microsoft.com/office/drawing/2014/main" id="{BCCB6809-AB06-6913-481F-DB62C7A4E595}"/>
                </a:ext>
              </a:extLst>
            </p:cNvPr>
            <p:cNvSpPr/>
            <p:nvPr/>
          </p:nvSpPr>
          <p:spPr>
            <a:xfrm>
              <a:off x="5191125" y="2619375"/>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42" name="文本框 41">
              <a:extLst>
                <a:ext uri="{FF2B5EF4-FFF2-40B4-BE49-F238E27FC236}">
                  <a16:creationId xmlns:a16="http://schemas.microsoft.com/office/drawing/2014/main" id="{C9FB6DF7-4C5B-A142-57A6-192A1304F4FA}"/>
                </a:ext>
              </a:extLst>
            </p:cNvPr>
            <p:cNvSpPr txBox="1"/>
            <p:nvPr/>
          </p:nvSpPr>
          <p:spPr>
            <a:xfrm>
              <a:off x="5426641" y="2700916"/>
              <a:ext cx="671966"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债务率(宽)</a:t>
              </a:r>
            </a:p>
          </p:txBody>
        </p:sp>
        <p:sp>
          <p:nvSpPr>
            <p:cNvPr id="43" name="文本框 42">
              <a:extLst>
                <a:ext uri="{FF2B5EF4-FFF2-40B4-BE49-F238E27FC236}">
                  <a16:creationId xmlns:a16="http://schemas.microsoft.com/office/drawing/2014/main" id="{B765F1E5-5599-D465-E98B-21E5D0332745}"/>
                </a:ext>
              </a:extLst>
            </p:cNvPr>
            <p:cNvSpPr txBox="1"/>
            <p:nvPr/>
          </p:nvSpPr>
          <p:spPr>
            <a:xfrm>
              <a:off x="5343502" y="2869599"/>
              <a:ext cx="838244" cy="292581"/>
            </a:xfrm>
            <a:prstGeom prst="rect">
              <a:avLst/>
            </a:prstGeom>
            <a:noFill/>
          </p:spPr>
          <p:txBody>
            <a:bodyPr wrap="none" rtlCol="0">
              <a:spAutoFit/>
            </a:bodyPr>
            <a:lstStyle/>
            <a:p>
              <a:pPr algn="l"/>
              <a:r>
                <a:rPr lang="zh-CN" altLang="en-US" sz="1200" b="1" spc="0" baseline="0">
                  <a:ln/>
                  <a:solidFill>
                    <a:srgbClr val="E63946"/>
                  </a:solidFill>
                  <a:latin typeface="微软雅黑"/>
                  <a:ea typeface="微软雅黑"/>
                  <a:sym typeface="微软雅黑"/>
                  <a:rtl val="0"/>
                </a:rPr>
                <a:t>363.32%</a:t>
              </a:r>
            </a:p>
          </p:txBody>
        </p:sp>
        <p:sp>
          <p:nvSpPr>
            <p:cNvPr id="44" name="任意形状 43">
              <a:extLst>
                <a:ext uri="{FF2B5EF4-FFF2-40B4-BE49-F238E27FC236}">
                  <a16:creationId xmlns:a16="http://schemas.microsoft.com/office/drawing/2014/main" id="{4FC706AD-4314-D249-2297-34CEFC3B50A0}"/>
                </a:ext>
              </a:extLst>
            </p:cNvPr>
            <p:cNvSpPr/>
            <p:nvPr/>
          </p:nvSpPr>
          <p:spPr>
            <a:xfrm>
              <a:off x="6477000" y="2619375"/>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45" name="文本框 44">
              <a:extLst>
                <a:ext uri="{FF2B5EF4-FFF2-40B4-BE49-F238E27FC236}">
                  <a16:creationId xmlns:a16="http://schemas.microsoft.com/office/drawing/2014/main" id="{40A3212B-2397-AECD-3D17-74089CF85996}"/>
                </a:ext>
              </a:extLst>
            </p:cNvPr>
            <p:cNvSpPr txBox="1"/>
            <p:nvPr/>
          </p:nvSpPr>
          <p:spPr>
            <a:xfrm>
              <a:off x="6695122" y="2700916"/>
              <a:ext cx="7067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银行总资产</a:t>
              </a:r>
            </a:p>
          </p:txBody>
        </p:sp>
        <p:sp>
          <p:nvSpPr>
            <p:cNvPr id="46" name="文本框 45">
              <a:extLst>
                <a:ext uri="{FF2B5EF4-FFF2-40B4-BE49-F238E27FC236}">
                  <a16:creationId xmlns:a16="http://schemas.microsoft.com/office/drawing/2014/main" id="{DCEC2B4F-69DF-B587-A552-9C816B709513}"/>
                </a:ext>
              </a:extLst>
            </p:cNvPr>
            <p:cNvSpPr txBox="1"/>
            <p:nvPr/>
          </p:nvSpPr>
          <p:spPr>
            <a:xfrm>
              <a:off x="6641916" y="2869599"/>
              <a:ext cx="813167"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8.12万亿</a:t>
              </a:r>
            </a:p>
          </p:txBody>
        </p:sp>
        <p:sp>
          <p:nvSpPr>
            <p:cNvPr id="47" name="任意形状 46">
              <a:extLst>
                <a:ext uri="{FF2B5EF4-FFF2-40B4-BE49-F238E27FC236}">
                  <a16:creationId xmlns:a16="http://schemas.microsoft.com/office/drawing/2014/main" id="{D1A1BC23-734A-4E62-2616-CA57F3BB427D}"/>
                </a:ext>
              </a:extLst>
            </p:cNvPr>
            <p:cNvSpPr/>
            <p:nvPr/>
          </p:nvSpPr>
          <p:spPr>
            <a:xfrm>
              <a:off x="7762875" y="2619375"/>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48" name="文本框 47">
              <a:extLst>
                <a:ext uri="{FF2B5EF4-FFF2-40B4-BE49-F238E27FC236}">
                  <a16:creationId xmlns:a16="http://schemas.microsoft.com/office/drawing/2014/main" id="{F245126B-7487-C89C-AD68-CD73A5265324}"/>
                </a:ext>
              </a:extLst>
            </p:cNvPr>
            <p:cNvSpPr txBox="1"/>
            <p:nvPr/>
          </p:nvSpPr>
          <p:spPr>
            <a:xfrm>
              <a:off x="7980997" y="2700916"/>
              <a:ext cx="706755"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不良贷款率</a:t>
              </a:r>
            </a:p>
          </p:txBody>
        </p:sp>
        <p:sp>
          <p:nvSpPr>
            <p:cNvPr id="49" name="文本框 48">
              <a:extLst>
                <a:ext uri="{FF2B5EF4-FFF2-40B4-BE49-F238E27FC236}">
                  <a16:creationId xmlns:a16="http://schemas.microsoft.com/office/drawing/2014/main" id="{76507479-5427-35A2-FB4D-7BC355F8F2A3}"/>
                </a:ext>
              </a:extLst>
            </p:cNvPr>
            <p:cNvSpPr txBox="1"/>
            <p:nvPr/>
          </p:nvSpPr>
          <p:spPr>
            <a:xfrm>
              <a:off x="8009237" y="2869599"/>
              <a:ext cx="650274" cy="292581"/>
            </a:xfrm>
            <a:prstGeom prst="rect">
              <a:avLst/>
            </a:prstGeom>
            <a:noFill/>
          </p:spPr>
          <p:txBody>
            <a:bodyPr wrap="none" rtlCol="0">
              <a:spAutoFit/>
            </a:bodyPr>
            <a:lstStyle/>
            <a:p>
              <a:pPr algn="l"/>
              <a:r>
                <a:rPr lang="zh-CN" altLang="en-US" sz="1200" b="1" spc="0" baseline="0">
                  <a:ln/>
                  <a:solidFill>
                    <a:srgbClr val="2ECC71"/>
                  </a:solidFill>
                  <a:latin typeface="微软雅黑"/>
                  <a:ea typeface="微软雅黑"/>
                  <a:sym typeface="微软雅黑"/>
                  <a:rtl val="0"/>
                </a:rPr>
                <a:t>1.14%</a:t>
              </a:r>
            </a:p>
          </p:txBody>
        </p:sp>
        <p:sp>
          <p:nvSpPr>
            <p:cNvPr id="50" name="任意形状 49">
              <a:extLst>
                <a:ext uri="{FF2B5EF4-FFF2-40B4-BE49-F238E27FC236}">
                  <a16:creationId xmlns:a16="http://schemas.microsoft.com/office/drawing/2014/main" id="{CB762701-14FC-7521-DCDB-1FDFF6FAE4B7}"/>
                </a:ext>
              </a:extLst>
            </p:cNvPr>
            <p:cNvSpPr/>
            <p:nvPr/>
          </p:nvSpPr>
          <p:spPr>
            <a:xfrm>
              <a:off x="9048750" y="2619375"/>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51" name="文本框 50">
              <a:extLst>
                <a:ext uri="{FF2B5EF4-FFF2-40B4-BE49-F238E27FC236}">
                  <a16:creationId xmlns:a16="http://schemas.microsoft.com/office/drawing/2014/main" id="{2B952A22-1F84-5E66-0D2A-4CD24EEC1967}"/>
                </a:ext>
              </a:extLst>
            </p:cNvPr>
            <p:cNvSpPr txBox="1"/>
            <p:nvPr/>
          </p:nvSpPr>
          <p:spPr>
            <a:xfrm>
              <a:off x="9214485" y="2700916"/>
              <a:ext cx="81153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高新技术企业</a:t>
              </a:r>
            </a:p>
          </p:txBody>
        </p:sp>
        <p:sp>
          <p:nvSpPr>
            <p:cNvPr id="52" name="文本框 51">
              <a:extLst>
                <a:ext uri="{FF2B5EF4-FFF2-40B4-BE49-F238E27FC236}">
                  <a16:creationId xmlns:a16="http://schemas.microsoft.com/office/drawing/2014/main" id="{BCD2F83F-27A7-80A0-47F5-83268E51F9E5}"/>
                </a:ext>
              </a:extLst>
            </p:cNvPr>
            <p:cNvSpPr txBox="1"/>
            <p:nvPr/>
          </p:nvSpPr>
          <p:spPr>
            <a:xfrm>
              <a:off x="9242873" y="2869599"/>
              <a:ext cx="754752"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9,109家</a:t>
              </a:r>
            </a:p>
          </p:txBody>
        </p:sp>
        <p:sp>
          <p:nvSpPr>
            <p:cNvPr id="53" name="任意形状 52">
              <a:extLst>
                <a:ext uri="{FF2B5EF4-FFF2-40B4-BE49-F238E27FC236}">
                  <a16:creationId xmlns:a16="http://schemas.microsoft.com/office/drawing/2014/main" id="{4310D9C5-BD76-2F45-BBA2-A9D423830F0A}"/>
                </a:ext>
              </a:extLst>
            </p:cNvPr>
            <p:cNvSpPr/>
            <p:nvPr/>
          </p:nvSpPr>
          <p:spPr>
            <a:xfrm>
              <a:off x="10334625" y="2619375"/>
              <a:ext cx="1143000" cy="571500"/>
            </a:xfrm>
            <a:custGeom>
              <a:avLst/>
              <a:gdLst>
                <a:gd name="csX0" fmla="*/ 57150 w 1143000"/>
                <a:gd name="csY0" fmla="*/ 0 h 571500"/>
                <a:gd name="csX1" fmla="*/ 1085850 w 1143000"/>
                <a:gd name="csY1" fmla="*/ 0 h 571500"/>
                <a:gd name="csX2" fmla="*/ 1143000 w 1143000"/>
                <a:gd name="csY2" fmla="*/ 57150 h 571500"/>
                <a:gd name="csX3" fmla="*/ 1143000 w 1143000"/>
                <a:gd name="csY3" fmla="*/ 514350 h 571500"/>
                <a:gd name="csX4" fmla="*/ 1085850 w 1143000"/>
                <a:gd name="csY4" fmla="*/ 571500 h 571500"/>
                <a:gd name="csX5" fmla="*/ 57150 w 1143000"/>
                <a:gd name="csY5" fmla="*/ 571500 h 571500"/>
                <a:gd name="csX6" fmla="*/ 0 w 1143000"/>
                <a:gd name="csY6" fmla="*/ 514350 h 571500"/>
                <a:gd name="csX7" fmla="*/ 0 w 1143000"/>
                <a:gd name="csY7" fmla="*/ 57150 h 571500"/>
                <a:gd name="csX8" fmla="*/ 57150 w 1143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43000" h="571500">
                  <a:moveTo>
                    <a:pt x="57150" y="0"/>
                  </a:moveTo>
                  <a:lnTo>
                    <a:pt x="1085850" y="0"/>
                  </a:lnTo>
                  <a:cubicBezTo>
                    <a:pt x="1117413" y="0"/>
                    <a:pt x="1143000" y="25587"/>
                    <a:pt x="1143000" y="57150"/>
                  </a:cubicBezTo>
                  <a:lnTo>
                    <a:pt x="1143000" y="514350"/>
                  </a:lnTo>
                  <a:cubicBezTo>
                    <a:pt x="1143000" y="545913"/>
                    <a:pt x="1117413" y="571500"/>
                    <a:pt x="1085850" y="571500"/>
                  </a:cubicBezTo>
                  <a:lnTo>
                    <a:pt x="57150" y="571500"/>
                  </a:lnTo>
                  <a:cubicBezTo>
                    <a:pt x="25587" y="571500"/>
                    <a:pt x="0" y="545913"/>
                    <a:pt x="0" y="514350"/>
                  </a:cubicBezTo>
                  <a:lnTo>
                    <a:pt x="0" y="57150"/>
                  </a:lnTo>
                  <a:cubicBezTo>
                    <a:pt x="0" y="25587"/>
                    <a:pt x="25587" y="0"/>
                    <a:pt x="57150" y="0"/>
                  </a:cubicBezTo>
                  <a:close/>
                </a:path>
              </a:pathLst>
            </a:custGeom>
            <a:solidFill>
              <a:srgbClr val="F8FAFC"/>
            </a:solidFill>
            <a:ln w="9525" cap="flat">
              <a:noFill/>
              <a:prstDash val="solid"/>
              <a:miter/>
            </a:ln>
          </p:spPr>
          <p:txBody>
            <a:bodyPr/>
            <a:lstStyle/>
            <a:p>
              <a:endParaRPr lang="zh-CN" altLang="en-US"/>
            </a:p>
          </p:txBody>
        </p:sp>
        <p:sp>
          <p:nvSpPr>
            <p:cNvPr id="54" name="文本框 53">
              <a:extLst>
                <a:ext uri="{FF2B5EF4-FFF2-40B4-BE49-F238E27FC236}">
                  <a16:creationId xmlns:a16="http://schemas.microsoft.com/office/drawing/2014/main" id="{35127BA3-AFA5-FB21-7B41-4553834D9CEA}"/>
                </a:ext>
              </a:extLst>
            </p:cNvPr>
            <p:cNvSpPr txBox="1"/>
            <p:nvPr/>
          </p:nvSpPr>
          <p:spPr>
            <a:xfrm>
              <a:off x="10605135" y="2700916"/>
              <a:ext cx="601980" cy="229724"/>
            </a:xfrm>
            <a:prstGeom prst="rect">
              <a:avLst/>
            </a:prstGeom>
            <a:noFill/>
          </p:spPr>
          <p:txBody>
            <a:bodyPr wrap="none" rtlCol="0">
              <a:spAutoFit/>
            </a:bodyPr>
            <a:lstStyle/>
            <a:p>
              <a:pPr algn="l"/>
              <a:r>
                <a:rPr lang="zh-CN" altLang="en-US" sz="825" spc="0" baseline="0">
                  <a:ln/>
                  <a:solidFill>
                    <a:srgbClr val="64748B"/>
                  </a:solidFill>
                  <a:latin typeface="微软雅黑"/>
                  <a:ea typeface="微软雅黑"/>
                  <a:sym typeface="微软雅黑"/>
                  <a:rtl val="0"/>
                </a:rPr>
                <a:t>上市公司</a:t>
              </a:r>
            </a:p>
          </p:txBody>
        </p:sp>
        <p:sp>
          <p:nvSpPr>
            <p:cNvPr id="55" name="文本框 54">
              <a:extLst>
                <a:ext uri="{FF2B5EF4-FFF2-40B4-BE49-F238E27FC236}">
                  <a16:creationId xmlns:a16="http://schemas.microsoft.com/office/drawing/2014/main" id="{D806B3E0-080B-CB01-BE1E-1860AAB7A7D3}"/>
                </a:ext>
              </a:extLst>
            </p:cNvPr>
            <p:cNvSpPr txBox="1"/>
            <p:nvPr/>
          </p:nvSpPr>
          <p:spPr>
            <a:xfrm>
              <a:off x="10644500" y="2869599"/>
              <a:ext cx="523249" cy="292581"/>
            </a:xfrm>
            <a:prstGeom prst="rect">
              <a:avLst/>
            </a:prstGeom>
            <a:noFill/>
          </p:spPr>
          <p:txBody>
            <a:bodyPr wrap="none" rtlCol="0">
              <a:spAutoFit/>
            </a:bodyPr>
            <a:lstStyle/>
            <a:p>
              <a:pPr algn="l"/>
              <a:r>
                <a:rPr lang="zh-CN" altLang="en-US" sz="1200" b="1" spc="0" baseline="0">
                  <a:ln/>
                  <a:solidFill>
                    <a:srgbClr val="1E3A5F"/>
                  </a:solidFill>
                  <a:latin typeface="微软雅黑"/>
                  <a:ea typeface="微软雅黑"/>
                  <a:sym typeface="微软雅黑"/>
                  <a:rtl val="0"/>
                </a:rPr>
                <a:t>78家</a:t>
              </a:r>
            </a:p>
          </p:txBody>
        </p:sp>
      </p:grpSp>
      <p:grpSp>
        <p:nvGrpSpPr>
          <p:cNvPr id="56" name="SVG Image 18">
            <a:extLst>
              <a:ext uri="{FF2B5EF4-FFF2-40B4-BE49-F238E27FC236}">
                <a16:creationId xmlns:a16="http://schemas.microsoft.com/office/drawing/2014/main" id="{BEFC790A-E6E9-00DA-374A-990A75131CE2}"/>
              </a:ext>
            </a:extLst>
          </p:cNvPr>
          <p:cNvGrpSpPr/>
          <p:nvPr/>
        </p:nvGrpSpPr>
        <p:grpSpPr>
          <a:xfrm>
            <a:off x="571500" y="3476625"/>
            <a:ext cx="5524500" cy="2143125"/>
            <a:chOff x="571500" y="3476625"/>
            <a:chExt cx="5524500" cy="2143125"/>
          </a:xfrm>
        </p:grpSpPr>
        <p:sp>
          <p:nvSpPr>
            <p:cNvPr id="57" name="任意形状 56">
              <a:extLst>
                <a:ext uri="{FF2B5EF4-FFF2-40B4-BE49-F238E27FC236}">
                  <a16:creationId xmlns:a16="http://schemas.microsoft.com/office/drawing/2014/main" id="{E1807DBC-54A9-F1A2-6BEB-7FF9061081FA}"/>
                </a:ext>
              </a:extLst>
            </p:cNvPr>
            <p:cNvSpPr/>
            <p:nvPr/>
          </p:nvSpPr>
          <p:spPr>
            <a:xfrm>
              <a:off x="571500" y="3476625"/>
              <a:ext cx="5524500" cy="2143125"/>
            </a:xfrm>
            <a:custGeom>
              <a:avLst/>
              <a:gdLst>
                <a:gd name="csX0" fmla="*/ 76200 w 5524500"/>
                <a:gd name="csY0" fmla="*/ 0 h 2143125"/>
                <a:gd name="csX1" fmla="*/ 5448300 w 5524500"/>
                <a:gd name="csY1" fmla="*/ 0 h 2143125"/>
                <a:gd name="csX2" fmla="*/ 5524500 w 5524500"/>
                <a:gd name="csY2" fmla="*/ 76200 h 2143125"/>
                <a:gd name="csX3" fmla="*/ 5524500 w 5524500"/>
                <a:gd name="csY3" fmla="*/ 2066925 h 2143125"/>
                <a:gd name="csX4" fmla="*/ 5448300 w 5524500"/>
                <a:gd name="csY4" fmla="*/ 2143125 h 2143125"/>
                <a:gd name="csX5" fmla="*/ 76200 w 5524500"/>
                <a:gd name="csY5" fmla="*/ 2143125 h 2143125"/>
                <a:gd name="csX6" fmla="*/ 0 w 5524500"/>
                <a:gd name="csY6" fmla="*/ 2066925 h 2143125"/>
                <a:gd name="csX7" fmla="*/ 0 w 5524500"/>
                <a:gd name="csY7" fmla="*/ 76200 h 2143125"/>
                <a:gd name="csX8" fmla="*/ 76200 w 5524500"/>
                <a:gd name="csY8" fmla="*/ 0 h 2143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2143125">
                  <a:moveTo>
                    <a:pt x="76200" y="0"/>
                  </a:moveTo>
                  <a:lnTo>
                    <a:pt x="5448300" y="0"/>
                  </a:lnTo>
                  <a:cubicBezTo>
                    <a:pt x="5490384" y="0"/>
                    <a:pt x="5524500" y="34116"/>
                    <a:pt x="5524500" y="76200"/>
                  </a:cubicBezTo>
                  <a:lnTo>
                    <a:pt x="5524500" y="2066925"/>
                  </a:lnTo>
                  <a:cubicBezTo>
                    <a:pt x="5524500" y="2109009"/>
                    <a:pt x="5490384" y="2143125"/>
                    <a:pt x="5448300" y="2143125"/>
                  </a:cubicBezTo>
                  <a:lnTo>
                    <a:pt x="76200" y="2143125"/>
                  </a:lnTo>
                  <a:cubicBezTo>
                    <a:pt x="34116" y="2143125"/>
                    <a:pt x="0" y="2109009"/>
                    <a:pt x="0" y="2066925"/>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58" name="任意形状 57">
              <a:extLst>
                <a:ext uri="{FF2B5EF4-FFF2-40B4-BE49-F238E27FC236}">
                  <a16:creationId xmlns:a16="http://schemas.microsoft.com/office/drawing/2014/main" id="{1A85561B-499B-EA93-68A7-5A2006EB0968}"/>
                </a:ext>
              </a:extLst>
            </p:cNvPr>
            <p:cNvSpPr/>
            <p:nvPr/>
          </p:nvSpPr>
          <p:spPr>
            <a:xfrm>
              <a:off x="571500" y="3476625"/>
              <a:ext cx="38100" cy="2143125"/>
            </a:xfrm>
            <a:custGeom>
              <a:avLst/>
              <a:gdLst>
                <a:gd name="csX0" fmla="*/ 19050 w 38100"/>
                <a:gd name="csY0" fmla="*/ 0 h 2143125"/>
                <a:gd name="csX1" fmla="*/ 19050 w 38100"/>
                <a:gd name="csY1" fmla="*/ 0 h 2143125"/>
                <a:gd name="csX2" fmla="*/ 38100 w 38100"/>
                <a:gd name="csY2" fmla="*/ 19050 h 2143125"/>
                <a:gd name="csX3" fmla="*/ 38100 w 38100"/>
                <a:gd name="csY3" fmla="*/ 2124075 h 2143125"/>
                <a:gd name="csX4" fmla="*/ 19050 w 38100"/>
                <a:gd name="csY4" fmla="*/ 2143125 h 2143125"/>
                <a:gd name="csX5" fmla="*/ 19050 w 38100"/>
                <a:gd name="csY5" fmla="*/ 2143125 h 2143125"/>
                <a:gd name="csX6" fmla="*/ 0 w 38100"/>
                <a:gd name="csY6" fmla="*/ 2124075 h 2143125"/>
                <a:gd name="csX7" fmla="*/ 0 w 38100"/>
                <a:gd name="csY7" fmla="*/ 19050 h 2143125"/>
                <a:gd name="csX8" fmla="*/ 19050 w 38100"/>
                <a:gd name="csY8" fmla="*/ 0 h 2143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2143125">
                  <a:moveTo>
                    <a:pt x="19050" y="0"/>
                  </a:moveTo>
                  <a:lnTo>
                    <a:pt x="19050" y="0"/>
                  </a:lnTo>
                  <a:cubicBezTo>
                    <a:pt x="29571" y="0"/>
                    <a:pt x="38100" y="8529"/>
                    <a:pt x="38100" y="19050"/>
                  </a:cubicBezTo>
                  <a:lnTo>
                    <a:pt x="38100" y="2124075"/>
                  </a:lnTo>
                  <a:cubicBezTo>
                    <a:pt x="38100" y="2134596"/>
                    <a:pt x="29571" y="2143125"/>
                    <a:pt x="19050" y="2143125"/>
                  </a:cubicBezTo>
                  <a:lnTo>
                    <a:pt x="19050" y="2143125"/>
                  </a:lnTo>
                  <a:cubicBezTo>
                    <a:pt x="8529" y="2143125"/>
                    <a:pt x="0" y="2134596"/>
                    <a:pt x="0" y="2124075"/>
                  </a:cubicBezTo>
                  <a:lnTo>
                    <a:pt x="0" y="19050"/>
                  </a:lnTo>
                  <a:cubicBezTo>
                    <a:pt x="0" y="8529"/>
                    <a:pt x="8529" y="0"/>
                    <a:pt x="19050" y="0"/>
                  </a:cubicBezTo>
                  <a:close/>
                </a:path>
              </a:pathLst>
            </a:custGeom>
            <a:solidFill>
              <a:srgbClr val="2ECC71"/>
            </a:solidFill>
            <a:ln w="9525" cap="flat">
              <a:noFill/>
              <a:prstDash val="solid"/>
              <a:miter/>
            </a:ln>
          </p:spPr>
          <p:txBody>
            <a:bodyPr/>
            <a:lstStyle/>
            <a:p>
              <a:endParaRPr lang="zh-CN" altLang="en-US"/>
            </a:p>
          </p:txBody>
        </p:sp>
        <p:sp>
          <p:nvSpPr>
            <p:cNvPr id="59" name="文本框 58">
              <a:extLst>
                <a:ext uri="{FF2B5EF4-FFF2-40B4-BE49-F238E27FC236}">
                  <a16:creationId xmlns:a16="http://schemas.microsoft.com/office/drawing/2014/main" id="{C8B9A000-DD7E-DA93-67FD-2C9BB81E01FE}"/>
                </a:ext>
              </a:extLst>
            </p:cNvPr>
            <p:cNvSpPr txBox="1"/>
            <p:nvPr/>
          </p:nvSpPr>
          <p:spPr>
            <a:xfrm>
              <a:off x="765810" y="3599824"/>
              <a:ext cx="961697" cy="295781"/>
            </a:xfrm>
            <a:prstGeom prst="rect">
              <a:avLst/>
            </a:prstGeom>
            <a:noFill/>
          </p:spPr>
          <p:txBody>
            <a:bodyPr wrap="none" rtlCol="0">
              <a:spAutoFit/>
            </a:bodyPr>
            <a:lstStyle/>
            <a:p>
              <a:pPr algn="l"/>
              <a:r>
                <a:rPr lang="zh-CN" altLang="en-US" sz="1200" b="1" spc="0" baseline="0">
                  <a:ln/>
                  <a:solidFill>
                    <a:srgbClr val="2ECC71"/>
                  </a:solidFill>
                  <a:latin typeface="Segoe UI Symbol"/>
                  <a:sym typeface="Segoe UI Symbol"/>
                  <a:rtl val="0"/>
                </a:rPr>
                <a:t>✓</a:t>
              </a:r>
              <a:r>
                <a:rPr lang="zh-CN" altLang="en-US" sz="1200" b="1" spc="0" baseline="0">
                  <a:ln/>
                  <a:solidFill>
                    <a:srgbClr val="2ECC71"/>
                  </a:solidFill>
                  <a:latin typeface="微软雅黑"/>
                  <a:ea typeface="微软雅黑"/>
                  <a:sym typeface="微软雅黑"/>
                  <a:rtl val="0"/>
                </a:rPr>
                <a:t> 核心优势</a:t>
              </a:r>
            </a:p>
          </p:txBody>
        </p:sp>
        <p:sp>
          <p:nvSpPr>
            <p:cNvPr id="60" name="文本框 59">
              <a:extLst>
                <a:ext uri="{FF2B5EF4-FFF2-40B4-BE49-F238E27FC236}">
                  <a16:creationId xmlns:a16="http://schemas.microsoft.com/office/drawing/2014/main" id="{12666EF1-FF3A-F1E6-BE19-6B7EB85888D6}"/>
                </a:ext>
              </a:extLst>
            </p:cNvPr>
            <p:cNvSpPr txBox="1"/>
            <p:nvPr/>
          </p:nvSpPr>
          <p:spPr>
            <a:xfrm>
              <a:off x="765810" y="3956556"/>
              <a:ext cx="3747192"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经济体量大：GDP3.2万亿，全国17位，人均GDP突破10万</a:t>
              </a:r>
            </a:p>
          </p:txBody>
        </p:sp>
        <p:sp>
          <p:nvSpPr>
            <p:cNvPr id="61" name="文本框 60">
              <a:extLst>
                <a:ext uri="{FF2B5EF4-FFF2-40B4-BE49-F238E27FC236}">
                  <a16:creationId xmlns:a16="http://schemas.microsoft.com/office/drawing/2014/main" id="{BDB05627-E658-5B6F-CD30-FD045C552A25}"/>
                </a:ext>
              </a:extLst>
            </p:cNvPr>
            <p:cNvSpPr txBox="1"/>
            <p:nvPr/>
          </p:nvSpPr>
          <p:spPr>
            <a:xfrm>
              <a:off x="765810" y="4223256"/>
              <a:ext cx="2870650"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增长动力足：GDP增速5.7%，高于全国平均</a:t>
              </a:r>
            </a:p>
          </p:txBody>
        </p:sp>
        <p:sp>
          <p:nvSpPr>
            <p:cNvPr id="62" name="文本框 61">
              <a:extLst>
                <a:ext uri="{FF2B5EF4-FFF2-40B4-BE49-F238E27FC236}">
                  <a16:creationId xmlns:a16="http://schemas.microsoft.com/office/drawing/2014/main" id="{6ADA6886-2071-CFF2-C78D-3F066938879D}"/>
                </a:ext>
              </a:extLst>
            </p:cNvPr>
            <p:cNvSpPr txBox="1"/>
            <p:nvPr/>
          </p:nvSpPr>
          <p:spPr>
            <a:xfrm>
              <a:off x="765810" y="4489956"/>
              <a:ext cx="319992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信用风险低：城投债零违约，利差历史2.95%分位</a:t>
              </a:r>
            </a:p>
          </p:txBody>
        </p:sp>
        <p:sp>
          <p:nvSpPr>
            <p:cNvPr id="63" name="文本框 62">
              <a:extLst>
                <a:ext uri="{FF2B5EF4-FFF2-40B4-BE49-F238E27FC236}">
                  <a16:creationId xmlns:a16="http://schemas.microsoft.com/office/drawing/2014/main" id="{D22BF3C1-CA1F-9542-3D91-02BE1168CEB1}"/>
                </a:ext>
              </a:extLst>
            </p:cNvPr>
            <p:cNvSpPr txBox="1"/>
            <p:nvPr/>
          </p:nvSpPr>
          <p:spPr>
            <a:xfrm>
              <a:off x="765810" y="4756656"/>
              <a:ext cx="314477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金融资源丰：银行总资产8万亿，不良率仅1.14%</a:t>
              </a:r>
            </a:p>
          </p:txBody>
        </p:sp>
        <p:sp>
          <p:nvSpPr>
            <p:cNvPr id="64" name="文本框 63">
              <a:extLst>
                <a:ext uri="{FF2B5EF4-FFF2-40B4-BE49-F238E27FC236}">
                  <a16:creationId xmlns:a16="http://schemas.microsoft.com/office/drawing/2014/main" id="{E0771002-547B-1733-E0BD-1383703F5386}"/>
                </a:ext>
              </a:extLst>
            </p:cNvPr>
            <p:cNvSpPr txBox="1"/>
            <p:nvPr/>
          </p:nvSpPr>
          <p:spPr>
            <a:xfrm>
              <a:off x="765810" y="5023356"/>
              <a:ext cx="2892789"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科创活跃：高企近万家，专精特新超5,500家</a:t>
              </a:r>
            </a:p>
          </p:txBody>
        </p:sp>
        <p:sp>
          <p:nvSpPr>
            <p:cNvPr id="65" name="文本框 64">
              <a:extLst>
                <a:ext uri="{FF2B5EF4-FFF2-40B4-BE49-F238E27FC236}">
                  <a16:creationId xmlns:a16="http://schemas.microsoft.com/office/drawing/2014/main" id="{7ECBE847-F403-BFF8-A950-7E6E523E3F54}"/>
                </a:ext>
              </a:extLst>
            </p:cNvPr>
            <p:cNvSpPr txBox="1"/>
            <p:nvPr/>
          </p:nvSpPr>
          <p:spPr>
            <a:xfrm>
              <a:off x="765810" y="5290056"/>
              <a:ext cx="308962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产业优化：第三产业占比57%，服务业主导格局</a:t>
              </a:r>
            </a:p>
          </p:txBody>
        </p:sp>
      </p:grpSp>
      <p:grpSp>
        <p:nvGrpSpPr>
          <p:cNvPr id="66" name="SVG Image 18">
            <a:extLst>
              <a:ext uri="{FF2B5EF4-FFF2-40B4-BE49-F238E27FC236}">
                <a16:creationId xmlns:a16="http://schemas.microsoft.com/office/drawing/2014/main" id="{9EBBBE37-6B46-70A6-B9AC-10574F69CC34}"/>
              </a:ext>
            </a:extLst>
          </p:cNvPr>
          <p:cNvGrpSpPr/>
          <p:nvPr/>
        </p:nvGrpSpPr>
        <p:grpSpPr>
          <a:xfrm>
            <a:off x="6286500" y="3476625"/>
            <a:ext cx="5334000" cy="2143125"/>
            <a:chOff x="6286500" y="3476625"/>
            <a:chExt cx="5334000" cy="2143125"/>
          </a:xfrm>
        </p:grpSpPr>
        <p:sp>
          <p:nvSpPr>
            <p:cNvPr id="67" name="任意形状 66">
              <a:extLst>
                <a:ext uri="{FF2B5EF4-FFF2-40B4-BE49-F238E27FC236}">
                  <a16:creationId xmlns:a16="http://schemas.microsoft.com/office/drawing/2014/main" id="{342649A4-8820-72A0-DB52-5CDBD1903043}"/>
                </a:ext>
              </a:extLst>
            </p:cNvPr>
            <p:cNvSpPr/>
            <p:nvPr/>
          </p:nvSpPr>
          <p:spPr>
            <a:xfrm>
              <a:off x="6286500" y="3476625"/>
              <a:ext cx="5334000" cy="2143125"/>
            </a:xfrm>
            <a:custGeom>
              <a:avLst/>
              <a:gdLst>
                <a:gd name="csX0" fmla="*/ 76200 w 5334000"/>
                <a:gd name="csY0" fmla="*/ 0 h 2143125"/>
                <a:gd name="csX1" fmla="*/ 5257800 w 5334000"/>
                <a:gd name="csY1" fmla="*/ 0 h 2143125"/>
                <a:gd name="csX2" fmla="*/ 5334000 w 5334000"/>
                <a:gd name="csY2" fmla="*/ 76200 h 2143125"/>
                <a:gd name="csX3" fmla="*/ 5334000 w 5334000"/>
                <a:gd name="csY3" fmla="*/ 2066925 h 2143125"/>
                <a:gd name="csX4" fmla="*/ 5257800 w 5334000"/>
                <a:gd name="csY4" fmla="*/ 2143125 h 2143125"/>
                <a:gd name="csX5" fmla="*/ 76200 w 5334000"/>
                <a:gd name="csY5" fmla="*/ 2143125 h 2143125"/>
                <a:gd name="csX6" fmla="*/ 0 w 5334000"/>
                <a:gd name="csY6" fmla="*/ 2066925 h 2143125"/>
                <a:gd name="csX7" fmla="*/ 0 w 5334000"/>
                <a:gd name="csY7" fmla="*/ 76200 h 2143125"/>
                <a:gd name="csX8" fmla="*/ 76200 w 5334000"/>
                <a:gd name="csY8" fmla="*/ 0 h 2143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2143125">
                  <a:moveTo>
                    <a:pt x="76200" y="0"/>
                  </a:moveTo>
                  <a:lnTo>
                    <a:pt x="5257800" y="0"/>
                  </a:lnTo>
                  <a:cubicBezTo>
                    <a:pt x="5299885" y="0"/>
                    <a:pt x="5334000" y="34116"/>
                    <a:pt x="5334000" y="76200"/>
                  </a:cubicBezTo>
                  <a:lnTo>
                    <a:pt x="5334000" y="2066925"/>
                  </a:lnTo>
                  <a:cubicBezTo>
                    <a:pt x="5334000" y="2109009"/>
                    <a:pt x="5299885" y="2143125"/>
                    <a:pt x="5257800" y="2143125"/>
                  </a:cubicBezTo>
                  <a:lnTo>
                    <a:pt x="76200" y="2143125"/>
                  </a:lnTo>
                  <a:cubicBezTo>
                    <a:pt x="34116" y="2143125"/>
                    <a:pt x="0" y="2109009"/>
                    <a:pt x="0" y="2066925"/>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68" name="任意形状 67">
              <a:extLst>
                <a:ext uri="{FF2B5EF4-FFF2-40B4-BE49-F238E27FC236}">
                  <a16:creationId xmlns:a16="http://schemas.microsoft.com/office/drawing/2014/main" id="{CF7B4BEE-D15D-044E-0A58-82D1934DD51B}"/>
                </a:ext>
              </a:extLst>
            </p:cNvPr>
            <p:cNvSpPr/>
            <p:nvPr/>
          </p:nvSpPr>
          <p:spPr>
            <a:xfrm>
              <a:off x="6286500" y="3476625"/>
              <a:ext cx="38100" cy="2143125"/>
            </a:xfrm>
            <a:custGeom>
              <a:avLst/>
              <a:gdLst>
                <a:gd name="csX0" fmla="*/ 19050 w 38100"/>
                <a:gd name="csY0" fmla="*/ 0 h 2143125"/>
                <a:gd name="csX1" fmla="*/ 19050 w 38100"/>
                <a:gd name="csY1" fmla="*/ 0 h 2143125"/>
                <a:gd name="csX2" fmla="*/ 38100 w 38100"/>
                <a:gd name="csY2" fmla="*/ 19050 h 2143125"/>
                <a:gd name="csX3" fmla="*/ 38100 w 38100"/>
                <a:gd name="csY3" fmla="*/ 2124075 h 2143125"/>
                <a:gd name="csX4" fmla="*/ 19050 w 38100"/>
                <a:gd name="csY4" fmla="*/ 2143125 h 2143125"/>
                <a:gd name="csX5" fmla="*/ 19050 w 38100"/>
                <a:gd name="csY5" fmla="*/ 2143125 h 2143125"/>
                <a:gd name="csX6" fmla="*/ 0 w 38100"/>
                <a:gd name="csY6" fmla="*/ 2124075 h 2143125"/>
                <a:gd name="csX7" fmla="*/ 0 w 38100"/>
                <a:gd name="csY7" fmla="*/ 19050 h 2143125"/>
                <a:gd name="csX8" fmla="*/ 19050 w 38100"/>
                <a:gd name="csY8" fmla="*/ 0 h 2143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 h="2143125">
                  <a:moveTo>
                    <a:pt x="19050" y="0"/>
                  </a:moveTo>
                  <a:lnTo>
                    <a:pt x="19050" y="0"/>
                  </a:lnTo>
                  <a:cubicBezTo>
                    <a:pt x="29571" y="0"/>
                    <a:pt x="38100" y="8529"/>
                    <a:pt x="38100" y="19050"/>
                  </a:cubicBezTo>
                  <a:lnTo>
                    <a:pt x="38100" y="2124075"/>
                  </a:lnTo>
                  <a:cubicBezTo>
                    <a:pt x="38100" y="2134596"/>
                    <a:pt x="29571" y="2143125"/>
                    <a:pt x="19050" y="2143125"/>
                  </a:cubicBezTo>
                  <a:lnTo>
                    <a:pt x="19050" y="2143125"/>
                  </a:lnTo>
                  <a:cubicBezTo>
                    <a:pt x="8529" y="2143125"/>
                    <a:pt x="0" y="2134596"/>
                    <a:pt x="0" y="2124075"/>
                  </a:cubicBezTo>
                  <a:lnTo>
                    <a:pt x="0" y="19050"/>
                  </a:lnTo>
                  <a:cubicBezTo>
                    <a:pt x="0" y="8529"/>
                    <a:pt x="8529" y="0"/>
                    <a:pt x="19050" y="0"/>
                  </a:cubicBezTo>
                  <a:close/>
                </a:path>
              </a:pathLst>
            </a:custGeom>
            <a:solidFill>
              <a:srgbClr val="F59E0B"/>
            </a:solidFill>
            <a:ln w="9525" cap="flat">
              <a:noFill/>
              <a:prstDash val="solid"/>
              <a:miter/>
            </a:ln>
          </p:spPr>
          <p:txBody>
            <a:bodyPr/>
            <a:lstStyle/>
            <a:p>
              <a:endParaRPr lang="zh-CN" altLang="en-US"/>
            </a:p>
          </p:txBody>
        </p:sp>
        <p:sp>
          <p:nvSpPr>
            <p:cNvPr id="69" name="文本框 68">
              <a:extLst>
                <a:ext uri="{FF2B5EF4-FFF2-40B4-BE49-F238E27FC236}">
                  <a16:creationId xmlns:a16="http://schemas.microsoft.com/office/drawing/2014/main" id="{4434B6A6-102B-2185-736D-179D73054A95}"/>
                </a:ext>
              </a:extLst>
            </p:cNvPr>
            <p:cNvSpPr txBox="1"/>
            <p:nvPr/>
          </p:nvSpPr>
          <p:spPr>
            <a:xfrm>
              <a:off x="6480810" y="3603024"/>
              <a:ext cx="1152197" cy="300320"/>
            </a:xfrm>
            <a:prstGeom prst="rect">
              <a:avLst/>
            </a:prstGeom>
            <a:noFill/>
          </p:spPr>
          <p:txBody>
            <a:bodyPr wrap="none" rtlCol="0">
              <a:spAutoFit/>
            </a:bodyPr>
            <a:lstStyle/>
            <a:p>
              <a:pPr algn="l"/>
              <a:r>
                <a:rPr lang="zh-CN" altLang="en-US" sz="1200" b="1" spc="0" baseline="0">
                  <a:ln/>
                  <a:solidFill>
                    <a:srgbClr val="F59E0B"/>
                  </a:solidFill>
                  <a:latin typeface="Apple Color Emoji"/>
                  <a:ea typeface="Apple Color Emoji"/>
                  <a:sym typeface="Apple Color Emoji"/>
                  <a:rtl val="0"/>
                </a:rPr>
                <a:t>⚠️</a:t>
              </a:r>
              <a:r>
                <a:rPr lang="zh-CN" altLang="en-US" sz="1200" b="1" spc="0" baseline="0">
                  <a:ln/>
                  <a:solidFill>
                    <a:srgbClr val="F59E0B"/>
                  </a:solidFill>
                  <a:latin typeface="微软雅黑"/>
                  <a:ea typeface="微软雅黑"/>
                  <a:sym typeface="微软雅黑"/>
                  <a:rtl val="0"/>
                </a:rPr>
                <a:t> 需关注风险</a:t>
              </a:r>
            </a:p>
          </p:txBody>
        </p:sp>
        <p:sp>
          <p:nvSpPr>
            <p:cNvPr id="70" name="文本框 69">
              <a:extLst>
                <a:ext uri="{FF2B5EF4-FFF2-40B4-BE49-F238E27FC236}">
                  <a16:creationId xmlns:a16="http://schemas.microsoft.com/office/drawing/2014/main" id="{76CECA0A-57A3-9EE2-2238-D420FE12B894}"/>
                </a:ext>
              </a:extLst>
            </p:cNvPr>
            <p:cNvSpPr txBox="1"/>
            <p:nvPr/>
          </p:nvSpPr>
          <p:spPr>
            <a:xfrm>
              <a:off x="6480810" y="3956556"/>
              <a:ext cx="316782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宽口径债务率363%，高于多数省份，需持续压降</a:t>
              </a:r>
            </a:p>
          </p:txBody>
        </p:sp>
        <p:sp>
          <p:nvSpPr>
            <p:cNvPr id="71" name="文本框 70">
              <a:extLst>
                <a:ext uri="{FF2B5EF4-FFF2-40B4-BE49-F238E27FC236}">
                  <a16:creationId xmlns:a16="http://schemas.microsoft.com/office/drawing/2014/main" id="{3C95269F-6C6E-1B14-7B72-618C1DA62967}"/>
                </a:ext>
              </a:extLst>
            </p:cNvPr>
            <p:cNvSpPr txBox="1"/>
            <p:nvPr/>
          </p:nvSpPr>
          <p:spPr>
            <a:xfrm>
              <a:off x="6480810" y="4223256"/>
              <a:ext cx="348967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土地依赖度58.86%，全国第4，财政抗风险能力待提升</a:t>
              </a:r>
            </a:p>
          </p:txBody>
        </p:sp>
        <p:sp>
          <p:nvSpPr>
            <p:cNvPr id="72" name="文本框 71">
              <a:extLst>
                <a:ext uri="{FF2B5EF4-FFF2-40B4-BE49-F238E27FC236}">
                  <a16:creationId xmlns:a16="http://schemas.microsoft.com/office/drawing/2014/main" id="{CB9C04E6-51AF-BC5F-4BF0-07EAEB69868D}"/>
                </a:ext>
              </a:extLst>
            </p:cNvPr>
            <p:cNvSpPr txBox="1"/>
            <p:nvPr/>
          </p:nvSpPr>
          <p:spPr>
            <a:xfrm>
              <a:off x="6480810" y="4489956"/>
              <a:ext cx="330117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税收占比58.62%，全国28位，收入质量有提升空间</a:t>
              </a:r>
            </a:p>
          </p:txBody>
        </p:sp>
        <p:sp>
          <p:nvSpPr>
            <p:cNvPr id="73" name="文本框 72">
              <a:extLst>
                <a:ext uri="{FF2B5EF4-FFF2-40B4-BE49-F238E27FC236}">
                  <a16:creationId xmlns:a16="http://schemas.microsoft.com/office/drawing/2014/main" id="{0511F109-341B-3C9A-22BB-E5F8F3393059}"/>
                </a:ext>
              </a:extLst>
            </p:cNvPr>
            <p:cNvSpPr txBox="1"/>
            <p:nvPr/>
          </p:nvSpPr>
          <p:spPr>
            <a:xfrm>
              <a:off x="6480810" y="4756656"/>
              <a:ext cx="3095288"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城投债2024年净流出187亿，融资环境边际收紧</a:t>
              </a:r>
            </a:p>
          </p:txBody>
        </p:sp>
        <p:sp>
          <p:nvSpPr>
            <p:cNvPr id="74" name="文本框 73">
              <a:extLst>
                <a:ext uri="{FF2B5EF4-FFF2-40B4-BE49-F238E27FC236}">
                  <a16:creationId xmlns:a16="http://schemas.microsoft.com/office/drawing/2014/main" id="{0E643343-1BC8-F111-84EF-75C4A89A137A}"/>
                </a:ext>
              </a:extLst>
            </p:cNvPr>
            <p:cNvSpPr txBox="1"/>
            <p:nvPr/>
          </p:nvSpPr>
          <p:spPr>
            <a:xfrm>
              <a:off x="6480810" y="5023356"/>
              <a:ext cx="3333273"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票据逾期集中房地产业（82.8%），行业风险需警惕</a:t>
              </a:r>
            </a:p>
          </p:txBody>
        </p:sp>
        <p:sp>
          <p:nvSpPr>
            <p:cNvPr id="75" name="文本框 74">
              <a:extLst>
                <a:ext uri="{FF2B5EF4-FFF2-40B4-BE49-F238E27FC236}">
                  <a16:creationId xmlns:a16="http://schemas.microsoft.com/office/drawing/2014/main" id="{F72A57EE-6D52-A1C6-33BE-F7BEB734DE85}"/>
                </a:ext>
              </a:extLst>
            </p:cNvPr>
            <p:cNvSpPr txBox="1"/>
            <p:nvPr/>
          </p:nvSpPr>
          <p:spPr>
            <a:xfrm>
              <a:off x="6480810" y="5290056"/>
              <a:ext cx="2414539" cy="267438"/>
            </a:xfrm>
            <a:prstGeom prst="rect">
              <a:avLst/>
            </a:prstGeom>
            <a:noFill/>
          </p:spPr>
          <p:txBody>
            <a:bodyPr wrap="none" rtlCol="0">
              <a:spAutoFit/>
            </a:bodyPr>
            <a:lstStyle/>
            <a:p>
              <a:pPr algn="l"/>
              <a:r>
                <a:rPr lang="zh-CN" altLang="en-US" sz="1050" spc="0" baseline="0">
                  <a:ln/>
                  <a:solidFill>
                    <a:srgbClr val="334155"/>
                  </a:solidFill>
                  <a:latin typeface="微软雅黑"/>
                  <a:ea typeface="微软雅黑"/>
                  <a:sym typeface="微软雅黑"/>
                  <a:rtl val="0"/>
                </a:rPr>
                <a:t>• 人口持续微降，长期发展动力需关注</a:t>
              </a:r>
            </a:p>
          </p:txBody>
        </p:sp>
      </p:grpSp>
      <p:grpSp>
        <p:nvGrpSpPr>
          <p:cNvPr id="76" name="SVG Image 18">
            <a:extLst>
              <a:ext uri="{FF2B5EF4-FFF2-40B4-BE49-F238E27FC236}">
                <a16:creationId xmlns:a16="http://schemas.microsoft.com/office/drawing/2014/main" id="{9CE3EB22-2230-DC9E-E2C8-17575B838DF3}"/>
              </a:ext>
            </a:extLst>
          </p:cNvPr>
          <p:cNvGrpSpPr/>
          <p:nvPr/>
        </p:nvGrpSpPr>
        <p:grpSpPr>
          <a:xfrm>
            <a:off x="571500" y="5810250"/>
            <a:ext cx="11049000" cy="476250"/>
            <a:chOff x="571500" y="5810250"/>
            <a:chExt cx="11049000" cy="476250"/>
          </a:xfrm>
        </p:grpSpPr>
        <p:sp>
          <p:nvSpPr>
            <p:cNvPr id="77" name="任意形状 76">
              <a:extLst>
                <a:ext uri="{FF2B5EF4-FFF2-40B4-BE49-F238E27FC236}">
                  <a16:creationId xmlns:a16="http://schemas.microsoft.com/office/drawing/2014/main" id="{EA5ACEC1-F348-B51B-CD70-297E74B03804}"/>
                </a:ext>
              </a:extLst>
            </p:cNvPr>
            <p:cNvSpPr/>
            <p:nvPr/>
          </p:nvSpPr>
          <p:spPr>
            <a:xfrm>
              <a:off x="571500" y="5810250"/>
              <a:ext cx="11049000" cy="476250"/>
            </a:xfrm>
            <a:custGeom>
              <a:avLst/>
              <a:gdLst>
                <a:gd name="csX0" fmla="*/ 76200 w 11049000"/>
                <a:gd name="csY0" fmla="*/ 0 h 476250"/>
                <a:gd name="csX1" fmla="*/ 10972800 w 11049000"/>
                <a:gd name="csY1" fmla="*/ 0 h 476250"/>
                <a:gd name="csX2" fmla="*/ 11049000 w 11049000"/>
                <a:gd name="csY2" fmla="*/ 76200 h 476250"/>
                <a:gd name="csX3" fmla="*/ 11049000 w 11049000"/>
                <a:gd name="csY3" fmla="*/ 400050 h 476250"/>
                <a:gd name="csX4" fmla="*/ 10972800 w 11049000"/>
                <a:gd name="csY4" fmla="*/ 476250 h 476250"/>
                <a:gd name="csX5" fmla="*/ 76200 w 11049000"/>
                <a:gd name="csY5" fmla="*/ 476250 h 476250"/>
                <a:gd name="csX6" fmla="*/ 0 w 11049000"/>
                <a:gd name="csY6" fmla="*/ 400050 h 476250"/>
                <a:gd name="csX7" fmla="*/ 0 w 11049000"/>
                <a:gd name="csY7" fmla="*/ 76200 h 476250"/>
                <a:gd name="csX8" fmla="*/ 76200 w 11049000"/>
                <a:gd name="csY8" fmla="*/ 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476250">
                  <a:moveTo>
                    <a:pt x="76200" y="0"/>
                  </a:moveTo>
                  <a:lnTo>
                    <a:pt x="10972800" y="0"/>
                  </a:lnTo>
                  <a:cubicBezTo>
                    <a:pt x="11014885" y="0"/>
                    <a:pt x="11049000" y="34116"/>
                    <a:pt x="11049000" y="76200"/>
                  </a:cubicBezTo>
                  <a:lnTo>
                    <a:pt x="11049000" y="400050"/>
                  </a:lnTo>
                  <a:cubicBezTo>
                    <a:pt x="11049000" y="442134"/>
                    <a:pt x="11014885" y="476250"/>
                    <a:pt x="10972800" y="476250"/>
                  </a:cubicBezTo>
                  <a:lnTo>
                    <a:pt x="76200" y="476250"/>
                  </a:lnTo>
                  <a:cubicBezTo>
                    <a:pt x="34116" y="476250"/>
                    <a:pt x="0" y="442134"/>
                    <a:pt x="0" y="400050"/>
                  </a:cubicBezTo>
                  <a:lnTo>
                    <a:pt x="0" y="76200"/>
                  </a:lnTo>
                  <a:cubicBezTo>
                    <a:pt x="0" y="34116"/>
                    <a:pt x="34116" y="0"/>
                    <a:pt x="76200" y="0"/>
                  </a:cubicBezTo>
                  <a:close/>
                </a:path>
              </a:pathLst>
            </a:custGeom>
            <a:solidFill>
              <a:srgbClr val="1E3A5F"/>
            </a:solidFill>
            <a:ln w="9525" cap="flat">
              <a:noFill/>
              <a:prstDash val="solid"/>
              <a:miter/>
            </a:ln>
          </p:spPr>
          <p:txBody>
            <a:bodyPr/>
            <a:lstStyle/>
            <a:p>
              <a:endParaRPr lang="zh-CN" altLang="en-US"/>
            </a:p>
          </p:txBody>
        </p:sp>
        <p:sp>
          <p:nvSpPr>
            <p:cNvPr id="78" name="文本框 77">
              <a:extLst>
                <a:ext uri="{FF2B5EF4-FFF2-40B4-BE49-F238E27FC236}">
                  <a16:creationId xmlns:a16="http://schemas.microsoft.com/office/drawing/2014/main" id="{A8B333F3-6B2D-D8A8-D9F1-2AA2BAC8522A}"/>
                </a:ext>
              </a:extLst>
            </p:cNvPr>
            <p:cNvSpPr txBox="1"/>
            <p:nvPr/>
          </p:nvSpPr>
          <p:spPr>
            <a:xfrm>
              <a:off x="2553012" y="5917599"/>
              <a:ext cx="7085974" cy="292581"/>
            </a:xfrm>
            <a:prstGeom prst="rect">
              <a:avLst/>
            </a:prstGeom>
            <a:noFill/>
          </p:spPr>
          <p:txBody>
            <a:bodyPr wrap="none" rtlCol="0">
              <a:spAutoFit/>
            </a:bodyPr>
            <a:lstStyle/>
            <a:p>
              <a:pPr algn="l"/>
              <a:r>
                <a:rPr lang="zh-CN" altLang="en-US" sz="1200" b="1" spc="0" baseline="0">
                  <a:ln/>
                  <a:solidFill>
                    <a:srgbClr val="4A90D9"/>
                  </a:solidFill>
                  <a:latin typeface="微软雅黑"/>
                  <a:ea typeface="微软雅黑"/>
                  <a:sym typeface="微软雅黑"/>
                  <a:rtl val="0"/>
                </a:rPr>
                <a:t>结论：</a:t>
              </a:r>
              <a:r>
                <a:rPr lang="zh-CN" altLang="en-US" sz="1200" b="1" spc="0" baseline="0">
                  <a:ln/>
                  <a:solidFill>
                    <a:srgbClr val="FFFFFF"/>
                  </a:solidFill>
                  <a:latin typeface="微软雅黑"/>
                  <a:ea typeface="微软雅黑"/>
                  <a:sym typeface="微软雅黑"/>
                  <a:rtl val="0"/>
                </a:rPr>
                <a:t> 重庆市综合实力位居全国前列，经济韧性强、信用风险可控，但需关注债务压力与土地财政依赖</a:t>
              </a:r>
            </a:p>
          </p:txBody>
        </p:sp>
      </p:grpSp>
      <p:sp>
        <p:nvSpPr>
          <p:cNvPr id="79" name="矩形 78">
            <a:extLst>
              <a:ext uri="{FF2B5EF4-FFF2-40B4-BE49-F238E27FC236}">
                <a16:creationId xmlns:a16="http://schemas.microsoft.com/office/drawing/2014/main" id="{E07BF7B2-A7C1-5F9C-BC14-444AA4D740A4}"/>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6D065D-EAC6-6BC0-9537-C86603890A18}"/>
              </a:ext>
            </a:extLst>
          </p:cNvPr>
          <p:cNvSpPr/>
          <p:nvPr/>
        </p:nvSpPr>
        <p:spPr>
          <a:xfrm>
            <a:off x="0" y="0"/>
            <a:ext cx="12192000" cy="6858000"/>
          </a:xfrm>
          <a:prstGeom prst="rect">
            <a:avLst/>
          </a:prstGeom>
          <a:solidFill>
            <a:srgbClr val="F8FAFC"/>
          </a:solidFill>
          <a:ln w="9525" cap="flat">
            <a:noFill/>
            <a:prstDash val="solid"/>
            <a:miter/>
          </a:ln>
        </p:spPr>
        <p:txBody>
          <a:bodyPr/>
          <a:lstStyle/>
          <a:p>
            <a:endParaRPr lang="zh-CN" altLang="en-US"/>
          </a:p>
        </p:txBody>
      </p:sp>
      <p:sp>
        <p:nvSpPr>
          <p:cNvPr id="5" name="矩形 4">
            <a:extLst>
              <a:ext uri="{FF2B5EF4-FFF2-40B4-BE49-F238E27FC236}">
                <a16:creationId xmlns:a16="http://schemas.microsoft.com/office/drawing/2014/main" id="{753D1CE8-447B-ADBC-AD36-4AA733A44938}"/>
              </a:ext>
            </a:extLst>
          </p:cNvPr>
          <p:cNvSpPr/>
          <p:nvPr/>
        </p:nvSpPr>
        <p:spPr>
          <a:xfrm>
            <a:off x="0" y="0"/>
            <a:ext cx="12192000" cy="38100"/>
          </a:xfrm>
          <a:prstGeom prst="rect">
            <a:avLst/>
          </a:prstGeom>
          <a:solidFill>
            <a:srgbClr val="1E3A5F"/>
          </a:solidFill>
          <a:ln w="9525" cap="flat">
            <a:noFill/>
            <a:prstDash val="solid"/>
            <a:miter/>
          </a:ln>
        </p:spPr>
        <p:txBody>
          <a:bodyPr/>
          <a:lstStyle/>
          <a:p>
            <a:endParaRPr lang="zh-CN" altLang="en-US"/>
          </a:p>
        </p:txBody>
      </p:sp>
      <p:sp>
        <p:nvSpPr>
          <p:cNvPr id="6" name="矩形 5">
            <a:extLst>
              <a:ext uri="{FF2B5EF4-FFF2-40B4-BE49-F238E27FC236}">
                <a16:creationId xmlns:a16="http://schemas.microsoft.com/office/drawing/2014/main" id="{134C760D-A08E-080C-2CE6-4EFE666B5E65}"/>
              </a:ext>
            </a:extLst>
          </p:cNvPr>
          <p:cNvSpPr/>
          <p:nvPr/>
        </p:nvSpPr>
        <p:spPr>
          <a:xfrm>
            <a:off x="0" y="38100"/>
            <a:ext cx="12192000" cy="533400"/>
          </a:xfrm>
          <a:prstGeom prst="rect">
            <a:avLst/>
          </a:prstGeom>
          <a:solidFill>
            <a:srgbClr val="FFFFFF"/>
          </a:solidFill>
          <a:ln w="9525" cap="flat">
            <a:noFill/>
            <a:prstDash val="solid"/>
            <a:miter/>
          </a:ln>
        </p:spPr>
        <p:txBody>
          <a:bodyPr/>
          <a:lstStyle/>
          <a:p>
            <a:endParaRPr lang="zh-CN" altLang="en-US"/>
          </a:p>
        </p:txBody>
      </p:sp>
      <p:sp>
        <p:nvSpPr>
          <p:cNvPr id="7" name="文本框 6">
            <a:extLst>
              <a:ext uri="{FF2B5EF4-FFF2-40B4-BE49-F238E27FC236}">
                <a16:creationId xmlns:a16="http://schemas.microsoft.com/office/drawing/2014/main" id="{6CEFC4CE-2387-A65E-DF89-423BBBB4B0D4}"/>
              </a:ext>
            </a:extLst>
          </p:cNvPr>
          <p:cNvSpPr txBox="1"/>
          <p:nvPr/>
        </p:nvSpPr>
        <p:spPr>
          <a:xfrm>
            <a:off x="480060" y="175131"/>
            <a:ext cx="1637228"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重庆市·2025年区域报告</a:t>
            </a:r>
          </a:p>
        </p:txBody>
      </p:sp>
      <p:sp>
        <p:nvSpPr>
          <p:cNvPr id="8" name="文本框 7">
            <a:extLst>
              <a:ext uri="{FF2B5EF4-FFF2-40B4-BE49-F238E27FC236}">
                <a16:creationId xmlns:a16="http://schemas.microsoft.com/office/drawing/2014/main" id="{448F2C95-8EA6-148C-AE2E-0944611F437D}"/>
              </a:ext>
            </a:extLst>
          </p:cNvPr>
          <p:cNvSpPr txBox="1"/>
          <p:nvPr/>
        </p:nvSpPr>
        <p:spPr>
          <a:xfrm>
            <a:off x="11080371" y="175131"/>
            <a:ext cx="631568" cy="267438"/>
          </a:xfrm>
          <a:prstGeom prst="rect">
            <a:avLst/>
          </a:prstGeom>
          <a:noFill/>
        </p:spPr>
        <p:txBody>
          <a:bodyPr wrap="none" rtlCol="0">
            <a:spAutoFit/>
          </a:bodyPr>
          <a:lstStyle/>
          <a:p>
            <a:pPr algn="l"/>
            <a:r>
              <a:rPr lang="zh-CN" altLang="en-US" sz="1050" spc="0" baseline="0">
                <a:ln/>
                <a:solidFill>
                  <a:srgbClr val="64748B"/>
                </a:solidFill>
                <a:latin typeface="微软雅黑"/>
                <a:ea typeface="微软雅黑"/>
                <a:sym typeface="微软雅黑"/>
                <a:rtl val="0"/>
              </a:rPr>
              <a:t>19 / 20</a:t>
            </a:r>
          </a:p>
        </p:txBody>
      </p:sp>
      <p:sp>
        <p:nvSpPr>
          <p:cNvPr id="9" name="矩形 8">
            <a:extLst>
              <a:ext uri="{FF2B5EF4-FFF2-40B4-BE49-F238E27FC236}">
                <a16:creationId xmlns:a16="http://schemas.microsoft.com/office/drawing/2014/main" id="{FEAD9DFA-E3BB-8AC6-A118-BE7B708B92BA}"/>
              </a:ext>
            </a:extLst>
          </p:cNvPr>
          <p:cNvSpPr/>
          <p:nvPr/>
        </p:nvSpPr>
        <p:spPr>
          <a:xfrm>
            <a:off x="0" y="571500"/>
            <a:ext cx="12192000" cy="9525"/>
          </a:xfrm>
          <a:prstGeom prst="rect">
            <a:avLst/>
          </a:prstGeom>
          <a:solidFill>
            <a:srgbClr val="E2E8F0"/>
          </a:solidFill>
          <a:ln w="9525" cap="flat">
            <a:noFill/>
            <a:prstDash val="solid"/>
            <a:miter/>
          </a:ln>
        </p:spPr>
        <p:txBody>
          <a:bodyPr/>
          <a:lstStyle/>
          <a:p>
            <a:endParaRPr lang="zh-CN" altLang="en-US"/>
          </a:p>
        </p:txBody>
      </p:sp>
      <p:sp>
        <p:nvSpPr>
          <p:cNvPr id="10" name="文本框 9">
            <a:extLst>
              <a:ext uri="{FF2B5EF4-FFF2-40B4-BE49-F238E27FC236}">
                <a16:creationId xmlns:a16="http://schemas.microsoft.com/office/drawing/2014/main" id="{8D6443A5-5986-0AC9-ECD8-74CD7043052F}"/>
              </a:ext>
            </a:extLst>
          </p:cNvPr>
          <p:cNvSpPr txBox="1"/>
          <p:nvPr/>
        </p:nvSpPr>
        <p:spPr>
          <a:xfrm>
            <a:off x="5471160" y="672208"/>
            <a:ext cx="1249680" cy="443437"/>
          </a:xfrm>
          <a:prstGeom prst="rect">
            <a:avLst/>
          </a:prstGeom>
          <a:noFill/>
        </p:spPr>
        <p:txBody>
          <a:bodyPr wrap="none" rtlCol="0">
            <a:spAutoFit/>
          </a:bodyPr>
          <a:lstStyle/>
          <a:p>
            <a:pPr algn="l"/>
            <a:r>
              <a:rPr lang="zh-CN" altLang="en-US" sz="2100" b="1" spc="0" baseline="0">
                <a:ln/>
                <a:solidFill>
                  <a:srgbClr val="1E3A5F"/>
                </a:solidFill>
                <a:latin typeface="微软雅黑"/>
                <a:ea typeface="微软雅黑"/>
                <a:sym typeface="微软雅黑"/>
                <a:rtl val="0"/>
              </a:rPr>
              <a:t>指标说明</a:t>
            </a:r>
          </a:p>
        </p:txBody>
      </p:sp>
      <p:sp>
        <p:nvSpPr>
          <p:cNvPr id="11" name="矩形 10">
            <a:extLst>
              <a:ext uri="{FF2B5EF4-FFF2-40B4-BE49-F238E27FC236}">
                <a16:creationId xmlns:a16="http://schemas.microsoft.com/office/drawing/2014/main" id="{59A7E5B2-7A05-54B8-D1D1-13EAEF84FF0F}"/>
              </a:ext>
            </a:extLst>
          </p:cNvPr>
          <p:cNvSpPr/>
          <p:nvPr/>
        </p:nvSpPr>
        <p:spPr>
          <a:xfrm>
            <a:off x="5619750" y="1123950"/>
            <a:ext cx="952500" cy="28575"/>
          </a:xfrm>
          <a:prstGeom prst="rect">
            <a:avLst/>
          </a:prstGeom>
          <a:solidFill>
            <a:srgbClr val="4A90D9"/>
          </a:solidFill>
          <a:ln w="9525" cap="flat">
            <a:noFill/>
            <a:prstDash val="solid"/>
            <a:miter/>
          </a:ln>
        </p:spPr>
        <p:txBody>
          <a:bodyPr/>
          <a:lstStyle/>
          <a:p>
            <a:endParaRPr lang="zh-CN" altLang="en-US"/>
          </a:p>
        </p:txBody>
      </p:sp>
      <p:grpSp>
        <p:nvGrpSpPr>
          <p:cNvPr id="12" name="SVG Image 19">
            <a:extLst>
              <a:ext uri="{FF2B5EF4-FFF2-40B4-BE49-F238E27FC236}">
                <a16:creationId xmlns:a16="http://schemas.microsoft.com/office/drawing/2014/main" id="{66936B65-42F9-825F-2A62-EEDFFBCBB1E0}"/>
              </a:ext>
            </a:extLst>
          </p:cNvPr>
          <p:cNvGrpSpPr/>
          <p:nvPr/>
        </p:nvGrpSpPr>
        <p:grpSpPr>
          <a:xfrm>
            <a:off x="571500" y="1333500"/>
            <a:ext cx="11439525" cy="762000"/>
            <a:chOff x="571500" y="1333500"/>
            <a:chExt cx="11439525" cy="762000"/>
          </a:xfrm>
        </p:grpSpPr>
        <p:sp>
          <p:nvSpPr>
            <p:cNvPr id="13" name="任意形状 12">
              <a:extLst>
                <a:ext uri="{FF2B5EF4-FFF2-40B4-BE49-F238E27FC236}">
                  <a16:creationId xmlns:a16="http://schemas.microsoft.com/office/drawing/2014/main" id="{8424B684-1237-6C3A-D79B-33F1F2432EBC}"/>
                </a:ext>
              </a:extLst>
            </p:cNvPr>
            <p:cNvSpPr/>
            <p:nvPr/>
          </p:nvSpPr>
          <p:spPr>
            <a:xfrm>
              <a:off x="571500" y="1333500"/>
              <a:ext cx="11049000" cy="762000"/>
            </a:xfrm>
            <a:custGeom>
              <a:avLst/>
              <a:gdLst>
                <a:gd name="csX0" fmla="*/ 76200 w 11049000"/>
                <a:gd name="csY0" fmla="*/ 0 h 762000"/>
                <a:gd name="csX1" fmla="*/ 10972800 w 11049000"/>
                <a:gd name="csY1" fmla="*/ 0 h 762000"/>
                <a:gd name="csX2" fmla="*/ 11049000 w 11049000"/>
                <a:gd name="csY2" fmla="*/ 76200 h 762000"/>
                <a:gd name="csX3" fmla="*/ 11049000 w 11049000"/>
                <a:gd name="csY3" fmla="*/ 685800 h 762000"/>
                <a:gd name="csX4" fmla="*/ 10972800 w 11049000"/>
                <a:gd name="csY4" fmla="*/ 762000 h 762000"/>
                <a:gd name="csX5" fmla="*/ 76200 w 11049000"/>
                <a:gd name="csY5" fmla="*/ 762000 h 762000"/>
                <a:gd name="csX6" fmla="*/ 0 w 11049000"/>
                <a:gd name="csY6" fmla="*/ 685800 h 762000"/>
                <a:gd name="csX7" fmla="*/ 0 w 11049000"/>
                <a:gd name="csY7" fmla="*/ 76200 h 762000"/>
                <a:gd name="csX8" fmla="*/ 76200 w 11049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049000" h="762000">
                  <a:moveTo>
                    <a:pt x="76200" y="0"/>
                  </a:moveTo>
                  <a:lnTo>
                    <a:pt x="10972800" y="0"/>
                  </a:lnTo>
                  <a:cubicBezTo>
                    <a:pt x="11014885" y="0"/>
                    <a:pt x="11049000" y="34116"/>
                    <a:pt x="11049000" y="76200"/>
                  </a:cubicBezTo>
                  <a:lnTo>
                    <a:pt x="11049000" y="685800"/>
                  </a:lnTo>
                  <a:cubicBezTo>
                    <a:pt x="11049000" y="727884"/>
                    <a:pt x="11014885" y="762000"/>
                    <a:pt x="10972800" y="762000"/>
                  </a:cubicBezTo>
                  <a:lnTo>
                    <a:pt x="76200" y="762000"/>
                  </a:lnTo>
                  <a:cubicBezTo>
                    <a:pt x="34116" y="762000"/>
                    <a:pt x="0" y="727884"/>
                    <a:pt x="0" y="6858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4" name="文本框 13">
              <a:extLst>
                <a:ext uri="{FF2B5EF4-FFF2-40B4-BE49-F238E27FC236}">
                  <a16:creationId xmlns:a16="http://schemas.microsoft.com/office/drawing/2014/main" id="{A7B39886-9835-593D-24B0-034447B3FCD0}"/>
                </a:ext>
              </a:extLst>
            </p:cNvPr>
            <p:cNvSpPr txBox="1"/>
            <p:nvPr/>
          </p:nvSpPr>
          <p:spPr>
            <a:xfrm>
              <a:off x="765810" y="1480056"/>
              <a:ext cx="716280"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数据来源</a:t>
              </a:r>
            </a:p>
          </p:txBody>
        </p:sp>
        <p:sp>
          <p:nvSpPr>
            <p:cNvPr id="15" name="文本框 14">
              <a:extLst>
                <a:ext uri="{FF2B5EF4-FFF2-40B4-BE49-F238E27FC236}">
                  <a16:creationId xmlns:a16="http://schemas.microsoft.com/office/drawing/2014/main" id="{2EDC9AD7-DAB4-033E-402D-8AC6F203F7EB}"/>
                </a:ext>
              </a:extLst>
            </p:cNvPr>
            <p:cNvSpPr txBox="1"/>
            <p:nvPr/>
          </p:nvSpPr>
          <p:spPr>
            <a:xfrm>
              <a:off x="765810" y="1747310"/>
              <a:ext cx="5420169"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地区经济主要指标来源于政府官网、统计公报、统计年鉴、政府经济运行报告和财政预决算等， </a:t>
              </a:r>
            </a:p>
          </p:txBody>
        </p:sp>
        <p:sp>
          <p:nvSpPr>
            <p:cNvPr id="16" name="文本框 15">
              <a:extLst>
                <a:ext uri="{FF2B5EF4-FFF2-40B4-BE49-F238E27FC236}">
                  <a16:creationId xmlns:a16="http://schemas.microsoft.com/office/drawing/2014/main" id="{5EFF1821-C4D5-5D60-A1B0-29F7B0D2AE7E}"/>
                </a:ext>
              </a:extLst>
            </p:cNvPr>
            <p:cNvSpPr txBox="1"/>
            <p:nvPr/>
          </p:nvSpPr>
          <p:spPr>
            <a:xfrm>
              <a:off x="7957185" y="1747310"/>
              <a:ext cx="4145280" cy="254867"/>
            </a:xfrm>
            <a:prstGeom prst="rect">
              <a:avLst/>
            </a:prstGeom>
            <a:noFill/>
          </p:spPr>
          <p:txBody>
            <a:bodyPr wrap="none" rtlCol="0">
              <a:spAutoFit/>
            </a:bodyPr>
            <a:lstStyle/>
            <a:p>
              <a:pPr algn="l"/>
              <a:r>
                <a:rPr lang="zh-CN" altLang="en-US" sz="975" spc="0" baseline="0">
                  <a:ln/>
                  <a:solidFill>
                    <a:srgbClr val="334155"/>
                  </a:solidFill>
                  <a:latin typeface="微软雅黑"/>
                  <a:ea typeface="微软雅黑"/>
                  <a:sym typeface="微软雅黑"/>
                  <a:rtl val="0"/>
                </a:rPr>
                <a:t>覆盖全国所有省级、地级和县级行政区域的主要经济、财政及债务数据。</a:t>
              </a:r>
            </a:p>
          </p:txBody>
        </p:sp>
      </p:grpSp>
      <p:grpSp>
        <p:nvGrpSpPr>
          <p:cNvPr id="17" name="SVG Image 19">
            <a:extLst>
              <a:ext uri="{FF2B5EF4-FFF2-40B4-BE49-F238E27FC236}">
                <a16:creationId xmlns:a16="http://schemas.microsoft.com/office/drawing/2014/main" id="{3E26B356-03B9-8364-C2FE-D0F3E218A409}"/>
              </a:ext>
            </a:extLst>
          </p:cNvPr>
          <p:cNvGrpSpPr/>
          <p:nvPr/>
        </p:nvGrpSpPr>
        <p:grpSpPr>
          <a:xfrm>
            <a:off x="571500" y="2286000"/>
            <a:ext cx="5524500" cy="4049464"/>
            <a:chOff x="571500" y="2286000"/>
            <a:chExt cx="5524500" cy="4049464"/>
          </a:xfrm>
        </p:grpSpPr>
        <p:sp>
          <p:nvSpPr>
            <p:cNvPr id="18" name="任意形状 17">
              <a:extLst>
                <a:ext uri="{FF2B5EF4-FFF2-40B4-BE49-F238E27FC236}">
                  <a16:creationId xmlns:a16="http://schemas.microsoft.com/office/drawing/2014/main" id="{29C8AD16-EAA6-D95D-BCB7-A17F0A38565F}"/>
                </a:ext>
              </a:extLst>
            </p:cNvPr>
            <p:cNvSpPr/>
            <p:nvPr/>
          </p:nvSpPr>
          <p:spPr>
            <a:xfrm>
              <a:off x="571500" y="2286000"/>
              <a:ext cx="5524500" cy="4000500"/>
            </a:xfrm>
            <a:custGeom>
              <a:avLst/>
              <a:gdLst>
                <a:gd name="csX0" fmla="*/ 76200 w 5524500"/>
                <a:gd name="csY0" fmla="*/ 0 h 4000500"/>
                <a:gd name="csX1" fmla="*/ 5448300 w 5524500"/>
                <a:gd name="csY1" fmla="*/ 0 h 4000500"/>
                <a:gd name="csX2" fmla="*/ 5524500 w 5524500"/>
                <a:gd name="csY2" fmla="*/ 76200 h 4000500"/>
                <a:gd name="csX3" fmla="*/ 5524500 w 5524500"/>
                <a:gd name="csY3" fmla="*/ 3924300 h 4000500"/>
                <a:gd name="csX4" fmla="*/ 5448300 w 5524500"/>
                <a:gd name="csY4" fmla="*/ 4000500 h 4000500"/>
                <a:gd name="csX5" fmla="*/ 76200 w 5524500"/>
                <a:gd name="csY5" fmla="*/ 4000500 h 4000500"/>
                <a:gd name="csX6" fmla="*/ 0 w 5524500"/>
                <a:gd name="csY6" fmla="*/ 3924300 h 4000500"/>
                <a:gd name="csX7" fmla="*/ 0 w 5524500"/>
                <a:gd name="csY7" fmla="*/ 76200 h 4000500"/>
                <a:gd name="csX8" fmla="*/ 76200 w 5524500"/>
                <a:gd name="csY8" fmla="*/ 0 h 400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00" h="4000500">
                  <a:moveTo>
                    <a:pt x="76200" y="0"/>
                  </a:moveTo>
                  <a:lnTo>
                    <a:pt x="5448300" y="0"/>
                  </a:lnTo>
                  <a:cubicBezTo>
                    <a:pt x="5490384" y="0"/>
                    <a:pt x="5524500" y="34116"/>
                    <a:pt x="5524500" y="76200"/>
                  </a:cubicBezTo>
                  <a:lnTo>
                    <a:pt x="5524500" y="3924300"/>
                  </a:lnTo>
                  <a:cubicBezTo>
                    <a:pt x="5524500" y="3966384"/>
                    <a:pt x="5490384" y="4000500"/>
                    <a:pt x="5448300" y="4000500"/>
                  </a:cubicBezTo>
                  <a:lnTo>
                    <a:pt x="76200" y="4000500"/>
                  </a:lnTo>
                  <a:cubicBezTo>
                    <a:pt x="34116" y="4000500"/>
                    <a:pt x="0" y="3966384"/>
                    <a:pt x="0" y="3924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19" name="文本框 18">
              <a:extLst>
                <a:ext uri="{FF2B5EF4-FFF2-40B4-BE49-F238E27FC236}">
                  <a16:creationId xmlns:a16="http://schemas.microsoft.com/office/drawing/2014/main" id="{7CC9C98E-32B4-424B-338F-E916C85FBE47}"/>
                </a:ext>
              </a:extLst>
            </p:cNvPr>
            <p:cNvSpPr txBox="1"/>
            <p:nvPr/>
          </p:nvSpPr>
          <p:spPr>
            <a:xfrm>
              <a:off x="765810" y="2432556"/>
              <a:ext cx="982980"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主要指标口径</a:t>
              </a:r>
            </a:p>
          </p:txBody>
        </p:sp>
        <p:sp>
          <p:nvSpPr>
            <p:cNvPr id="20" name="文本框 19">
              <a:extLst>
                <a:ext uri="{FF2B5EF4-FFF2-40B4-BE49-F238E27FC236}">
                  <a16:creationId xmlns:a16="http://schemas.microsoft.com/office/drawing/2014/main" id="{80783AD5-6FAC-5ACE-2192-84AAE36D25A3}"/>
                </a:ext>
              </a:extLst>
            </p:cNvPr>
            <p:cNvSpPr txBox="1"/>
            <p:nvPr/>
          </p:nvSpPr>
          <p:spPr>
            <a:xfrm>
              <a:off x="765810" y="2786088"/>
              <a:ext cx="10058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1. 财政数据口径</a:t>
              </a:r>
            </a:p>
          </p:txBody>
        </p:sp>
        <p:sp>
          <p:nvSpPr>
            <p:cNvPr id="21" name="文本框 20">
              <a:extLst>
                <a:ext uri="{FF2B5EF4-FFF2-40B4-BE49-F238E27FC236}">
                  <a16:creationId xmlns:a16="http://schemas.microsoft.com/office/drawing/2014/main" id="{E64C54E9-A02A-7E45-4CB0-7101EB232CB0}"/>
                </a:ext>
              </a:extLst>
            </p:cNvPr>
            <p:cNvSpPr txBox="1"/>
            <p:nvPr/>
          </p:nvSpPr>
          <p:spPr>
            <a:xfrm>
              <a:off x="765810" y="2995638"/>
              <a:ext cx="34975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一般公共预算收入、税收收入、政府性基金收入、土地出让收入、</a:t>
              </a:r>
            </a:p>
          </p:txBody>
        </p:sp>
        <p:sp>
          <p:nvSpPr>
            <p:cNvPr id="22" name="文本框 21">
              <a:extLst>
                <a:ext uri="{FF2B5EF4-FFF2-40B4-BE49-F238E27FC236}">
                  <a16:creationId xmlns:a16="http://schemas.microsoft.com/office/drawing/2014/main" id="{C971456E-EBC1-9249-D33D-FCF0C7F6A4B3}"/>
                </a:ext>
              </a:extLst>
            </p:cNvPr>
            <p:cNvSpPr txBox="1"/>
            <p:nvPr/>
          </p:nvSpPr>
          <p:spPr>
            <a:xfrm>
              <a:off x="765810" y="3186138"/>
              <a:ext cx="292608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地方政府债务余额等均采用全省、全市、全区县口径。</a:t>
              </a:r>
            </a:p>
          </p:txBody>
        </p:sp>
        <p:sp>
          <p:nvSpPr>
            <p:cNvPr id="23" name="文本框 22">
              <a:extLst>
                <a:ext uri="{FF2B5EF4-FFF2-40B4-BE49-F238E27FC236}">
                  <a16:creationId xmlns:a16="http://schemas.microsoft.com/office/drawing/2014/main" id="{61688198-9A44-1A32-AF4A-B417966174AA}"/>
                </a:ext>
              </a:extLst>
            </p:cNvPr>
            <p:cNvSpPr txBox="1"/>
            <p:nvPr/>
          </p:nvSpPr>
          <p:spPr>
            <a:xfrm>
              <a:off x="765810" y="3452838"/>
              <a:ext cx="10058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2. 计算指标公式</a:t>
              </a:r>
            </a:p>
          </p:txBody>
        </p:sp>
        <p:sp>
          <p:nvSpPr>
            <p:cNvPr id="24" name="文本框 23">
              <a:extLst>
                <a:ext uri="{FF2B5EF4-FFF2-40B4-BE49-F238E27FC236}">
                  <a16:creationId xmlns:a16="http://schemas.microsoft.com/office/drawing/2014/main" id="{A6FF7FAF-842E-0698-7EED-B344FE3CBBBB}"/>
                </a:ext>
              </a:extLst>
            </p:cNvPr>
            <p:cNvSpPr txBox="1"/>
            <p:nvPr/>
          </p:nvSpPr>
          <p:spPr>
            <a:xfrm>
              <a:off x="765810" y="3662388"/>
              <a:ext cx="351711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常住人口增长率 = (本年常住人口-去年同期) / 去年同期 × 100%</a:t>
              </a:r>
            </a:p>
          </p:txBody>
        </p:sp>
        <p:sp>
          <p:nvSpPr>
            <p:cNvPr id="25" name="文本框 24">
              <a:extLst>
                <a:ext uri="{FF2B5EF4-FFF2-40B4-BE49-F238E27FC236}">
                  <a16:creationId xmlns:a16="http://schemas.microsoft.com/office/drawing/2014/main" id="{D3294870-2509-AACD-BEFC-B935AACB19C4}"/>
                </a:ext>
              </a:extLst>
            </p:cNvPr>
            <p:cNvSpPr txBox="1"/>
            <p:nvPr/>
          </p:nvSpPr>
          <p:spPr>
            <a:xfrm>
              <a:off x="765810" y="3852888"/>
              <a:ext cx="339131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财政自给率 = 一般公共预算收入 / 一般公共预算支出 × 100%</a:t>
              </a:r>
            </a:p>
          </p:txBody>
        </p:sp>
        <p:sp>
          <p:nvSpPr>
            <p:cNvPr id="26" name="文本框 25">
              <a:extLst>
                <a:ext uri="{FF2B5EF4-FFF2-40B4-BE49-F238E27FC236}">
                  <a16:creationId xmlns:a16="http://schemas.microsoft.com/office/drawing/2014/main" id="{10121074-AEF1-E1A5-5910-295FD3FE18F3}"/>
                </a:ext>
              </a:extLst>
            </p:cNvPr>
            <p:cNvSpPr txBox="1"/>
            <p:nvPr/>
          </p:nvSpPr>
          <p:spPr>
            <a:xfrm>
              <a:off x="765810" y="4043388"/>
              <a:ext cx="293411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负债率 = 地方政府债务余额 / 地区生产总值 × 100%</a:t>
              </a:r>
            </a:p>
          </p:txBody>
        </p:sp>
        <p:sp>
          <p:nvSpPr>
            <p:cNvPr id="27" name="文本框 26">
              <a:extLst>
                <a:ext uri="{FF2B5EF4-FFF2-40B4-BE49-F238E27FC236}">
                  <a16:creationId xmlns:a16="http://schemas.microsoft.com/office/drawing/2014/main" id="{F6ECDAB3-62FB-2D9B-D013-602BD4C339E9}"/>
                </a:ext>
              </a:extLst>
            </p:cNvPr>
            <p:cNvSpPr txBox="1"/>
            <p:nvPr/>
          </p:nvSpPr>
          <p:spPr>
            <a:xfrm>
              <a:off x="765810" y="4233888"/>
              <a:ext cx="351449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债务率(宽口径) = (政府债务+城投有息债务) / 综合财力 × 100%</a:t>
              </a:r>
            </a:p>
          </p:txBody>
        </p:sp>
        <p:sp>
          <p:nvSpPr>
            <p:cNvPr id="28" name="文本框 27">
              <a:extLst>
                <a:ext uri="{FF2B5EF4-FFF2-40B4-BE49-F238E27FC236}">
                  <a16:creationId xmlns:a16="http://schemas.microsoft.com/office/drawing/2014/main" id="{6BA089CE-FEFA-AC6E-02DD-1B48490A4433}"/>
                </a:ext>
              </a:extLst>
            </p:cNvPr>
            <p:cNvSpPr txBox="1"/>
            <p:nvPr/>
          </p:nvSpPr>
          <p:spPr>
            <a:xfrm>
              <a:off x="765810" y="4643463"/>
              <a:ext cx="10058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3. 城投有息债务</a:t>
              </a:r>
            </a:p>
          </p:txBody>
        </p:sp>
        <p:sp>
          <p:nvSpPr>
            <p:cNvPr id="29" name="文本框 28">
              <a:extLst>
                <a:ext uri="{FF2B5EF4-FFF2-40B4-BE49-F238E27FC236}">
                  <a16:creationId xmlns:a16="http://schemas.microsoft.com/office/drawing/2014/main" id="{85E17307-711B-E85C-75E4-3CC027696E3D}"/>
                </a:ext>
              </a:extLst>
            </p:cNvPr>
            <p:cNvSpPr txBox="1"/>
            <p:nvPr/>
          </p:nvSpPr>
          <p:spPr>
            <a:xfrm>
              <a:off x="765810" y="4853013"/>
              <a:ext cx="2016144"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各家融平台(短期债务 + 长期债务)</a:t>
              </a:r>
            </a:p>
          </p:txBody>
        </p:sp>
        <p:sp>
          <p:nvSpPr>
            <p:cNvPr id="30" name="文本框 29">
              <a:extLst>
                <a:ext uri="{FF2B5EF4-FFF2-40B4-BE49-F238E27FC236}">
                  <a16:creationId xmlns:a16="http://schemas.microsoft.com/office/drawing/2014/main" id="{49FC52C8-9BBE-6868-8D18-CC627265BA4C}"/>
                </a:ext>
              </a:extLst>
            </p:cNvPr>
            <p:cNvSpPr txBox="1"/>
            <p:nvPr/>
          </p:nvSpPr>
          <p:spPr>
            <a:xfrm>
              <a:off x="765810" y="5043513"/>
              <a:ext cx="3497635"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其中：短期债务 = 短期借款 + 一年内到期非流动负债 + 应付短期</a:t>
              </a:r>
            </a:p>
          </p:txBody>
        </p:sp>
        <p:sp>
          <p:nvSpPr>
            <p:cNvPr id="31" name="文本框 30">
              <a:extLst>
                <a:ext uri="{FF2B5EF4-FFF2-40B4-BE49-F238E27FC236}">
                  <a16:creationId xmlns:a16="http://schemas.microsoft.com/office/drawing/2014/main" id="{5AB780A0-1E51-2FB8-EEBC-F3503576479A}"/>
                </a:ext>
              </a:extLst>
            </p:cNvPr>
            <p:cNvSpPr txBox="1"/>
            <p:nvPr/>
          </p:nvSpPr>
          <p:spPr>
            <a:xfrm>
              <a:off x="765810" y="5234013"/>
              <a:ext cx="2087917"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债券 + 拆入资金 + 交易性金融负债等</a:t>
              </a:r>
            </a:p>
          </p:txBody>
        </p:sp>
        <p:sp>
          <p:nvSpPr>
            <p:cNvPr id="32" name="文本框 31">
              <a:extLst>
                <a:ext uri="{FF2B5EF4-FFF2-40B4-BE49-F238E27FC236}">
                  <a16:creationId xmlns:a16="http://schemas.microsoft.com/office/drawing/2014/main" id="{6E99204E-F6E7-E0DC-32C8-B64B92BA8D46}"/>
                </a:ext>
              </a:extLst>
            </p:cNvPr>
            <p:cNvSpPr txBox="1"/>
            <p:nvPr/>
          </p:nvSpPr>
          <p:spPr>
            <a:xfrm>
              <a:off x="765810" y="5424513"/>
              <a:ext cx="3421454"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长期债务 = 长期借款 + 应付长期债券 + 长期应付款 + 租赁负债</a:t>
              </a:r>
            </a:p>
          </p:txBody>
        </p:sp>
        <p:sp>
          <p:nvSpPr>
            <p:cNvPr id="33" name="文本框 32">
              <a:extLst>
                <a:ext uri="{FF2B5EF4-FFF2-40B4-BE49-F238E27FC236}">
                  <a16:creationId xmlns:a16="http://schemas.microsoft.com/office/drawing/2014/main" id="{EF19A4CD-0E37-B3DD-8CC0-00048FB74245}"/>
                </a:ext>
              </a:extLst>
            </p:cNvPr>
            <p:cNvSpPr txBox="1"/>
            <p:nvPr/>
          </p:nvSpPr>
          <p:spPr>
            <a:xfrm>
              <a:off x="765810" y="5738838"/>
              <a:ext cx="12344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4. 地方政府综合财力</a:t>
              </a:r>
            </a:p>
          </p:txBody>
        </p:sp>
        <p:sp>
          <p:nvSpPr>
            <p:cNvPr id="34" name="文本框 33">
              <a:extLst>
                <a:ext uri="{FF2B5EF4-FFF2-40B4-BE49-F238E27FC236}">
                  <a16:creationId xmlns:a16="http://schemas.microsoft.com/office/drawing/2014/main" id="{401093AD-BBC2-8F13-1A92-847E21414470}"/>
                </a:ext>
              </a:extLst>
            </p:cNvPr>
            <p:cNvSpPr txBox="1"/>
            <p:nvPr/>
          </p:nvSpPr>
          <p:spPr>
            <a:xfrm>
              <a:off x="765810" y="5948388"/>
              <a:ext cx="350193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一般公共预算收入 + 转移性收入 + 政府性基金收入 + 国有资本</a:t>
              </a:r>
            </a:p>
          </p:txBody>
        </p:sp>
        <p:sp>
          <p:nvSpPr>
            <p:cNvPr id="35" name="文本框 34">
              <a:extLst>
                <a:ext uri="{FF2B5EF4-FFF2-40B4-BE49-F238E27FC236}">
                  <a16:creationId xmlns:a16="http://schemas.microsoft.com/office/drawing/2014/main" id="{E6A7C87A-754B-8286-3978-3A5F8EB9D9C2}"/>
                </a:ext>
              </a:extLst>
            </p:cNvPr>
            <p:cNvSpPr txBox="1"/>
            <p:nvPr/>
          </p:nvSpPr>
          <p:spPr>
            <a:xfrm>
              <a:off x="765810" y="6138888"/>
              <a:ext cx="2993108"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经营预算收入（部分指标未披露时以0代替，可能低估）</a:t>
              </a:r>
            </a:p>
          </p:txBody>
        </p:sp>
      </p:grpSp>
      <p:grpSp>
        <p:nvGrpSpPr>
          <p:cNvPr id="36" name="SVG Image 19">
            <a:extLst>
              <a:ext uri="{FF2B5EF4-FFF2-40B4-BE49-F238E27FC236}">
                <a16:creationId xmlns:a16="http://schemas.microsoft.com/office/drawing/2014/main" id="{38216A8E-2C16-539A-6A7E-0ADC9B71A834}"/>
              </a:ext>
            </a:extLst>
          </p:cNvPr>
          <p:cNvGrpSpPr/>
          <p:nvPr/>
        </p:nvGrpSpPr>
        <p:grpSpPr>
          <a:xfrm>
            <a:off x="6286500" y="2286000"/>
            <a:ext cx="5334000" cy="4001839"/>
            <a:chOff x="6286500" y="2286000"/>
            <a:chExt cx="5334000" cy="4001839"/>
          </a:xfrm>
        </p:grpSpPr>
        <p:sp>
          <p:nvSpPr>
            <p:cNvPr id="37" name="任意形状 36">
              <a:extLst>
                <a:ext uri="{FF2B5EF4-FFF2-40B4-BE49-F238E27FC236}">
                  <a16:creationId xmlns:a16="http://schemas.microsoft.com/office/drawing/2014/main" id="{6BAB11D6-C5CC-EEED-89F7-7836D262199A}"/>
                </a:ext>
              </a:extLst>
            </p:cNvPr>
            <p:cNvSpPr/>
            <p:nvPr/>
          </p:nvSpPr>
          <p:spPr>
            <a:xfrm>
              <a:off x="6286500" y="2286000"/>
              <a:ext cx="5334000" cy="4000500"/>
            </a:xfrm>
            <a:custGeom>
              <a:avLst/>
              <a:gdLst>
                <a:gd name="csX0" fmla="*/ 76200 w 5334000"/>
                <a:gd name="csY0" fmla="*/ 0 h 4000500"/>
                <a:gd name="csX1" fmla="*/ 5257800 w 5334000"/>
                <a:gd name="csY1" fmla="*/ 0 h 4000500"/>
                <a:gd name="csX2" fmla="*/ 5334000 w 5334000"/>
                <a:gd name="csY2" fmla="*/ 76200 h 4000500"/>
                <a:gd name="csX3" fmla="*/ 5334000 w 5334000"/>
                <a:gd name="csY3" fmla="*/ 3924300 h 4000500"/>
                <a:gd name="csX4" fmla="*/ 5257800 w 5334000"/>
                <a:gd name="csY4" fmla="*/ 4000500 h 4000500"/>
                <a:gd name="csX5" fmla="*/ 76200 w 5334000"/>
                <a:gd name="csY5" fmla="*/ 4000500 h 4000500"/>
                <a:gd name="csX6" fmla="*/ 0 w 5334000"/>
                <a:gd name="csY6" fmla="*/ 3924300 h 4000500"/>
                <a:gd name="csX7" fmla="*/ 0 w 5334000"/>
                <a:gd name="csY7" fmla="*/ 76200 h 4000500"/>
                <a:gd name="csX8" fmla="*/ 76200 w 5334000"/>
                <a:gd name="csY8" fmla="*/ 0 h 400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34000" h="4000500">
                  <a:moveTo>
                    <a:pt x="76200" y="0"/>
                  </a:moveTo>
                  <a:lnTo>
                    <a:pt x="5257800" y="0"/>
                  </a:lnTo>
                  <a:cubicBezTo>
                    <a:pt x="5299885" y="0"/>
                    <a:pt x="5334000" y="34116"/>
                    <a:pt x="5334000" y="76200"/>
                  </a:cubicBezTo>
                  <a:lnTo>
                    <a:pt x="5334000" y="3924300"/>
                  </a:lnTo>
                  <a:cubicBezTo>
                    <a:pt x="5334000" y="3966384"/>
                    <a:pt x="5299885" y="4000500"/>
                    <a:pt x="5257800" y="4000500"/>
                  </a:cubicBezTo>
                  <a:lnTo>
                    <a:pt x="76200" y="4000500"/>
                  </a:lnTo>
                  <a:cubicBezTo>
                    <a:pt x="34116" y="4000500"/>
                    <a:pt x="0" y="3966384"/>
                    <a:pt x="0" y="3924300"/>
                  </a:cubicBezTo>
                  <a:lnTo>
                    <a:pt x="0" y="76200"/>
                  </a:lnTo>
                  <a:cubicBezTo>
                    <a:pt x="0" y="34116"/>
                    <a:pt x="34116" y="0"/>
                    <a:pt x="76200" y="0"/>
                  </a:cubicBezTo>
                  <a:close/>
                </a:path>
              </a:pathLst>
            </a:custGeom>
            <a:solidFill>
              <a:srgbClr val="FFFFFF"/>
            </a:solidFill>
            <a:ln w="9525" cap="flat">
              <a:noFill/>
              <a:prstDash val="solid"/>
              <a:miter/>
            </a:ln>
          </p:spPr>
          <p:txBody>
            <a:bodyPr/>
            <a:lstStyle/>
            <a:p>
              <a:endParaRPr lang="zh-CN" altLang="en-US"/>
            </a:p>
          </p:txBody>
        </p:sp>
        <p:sp>
          <p:nvSpPr>
            <p:cNvPr id="38" name="文本框 37">
              <a:extLst>
                <a:ext uri="{FF2B5EF4-FFF2-40B4-BE49-F238E27FC236}">
                  <a16:creationId xmlns:a16="http://schemas.microsoft.com/office/drawing/2014/main" id="{D328690B-FDBB-3A31-1619-22428E1C315C}"/>
                </a:ext>
              </a:extLst>
            </p:cNvPr>
            <p:cNvSpPr txBox="1"/>
            <p:nvPr/>
          </p:nvSpPr>
          <p:spPr>
            <a:xfrm>
              <a:off x="6480810" y="2432556"/>
              <a:ext cx="716280" cy="267438"/>
            </a:xfrm>
            <a:prstGeom prst="rect">
              <a:avLst/>
            </a:prstGeom>
            <a:noFill/>
          </p:spPr>
          <p:txBody>
            <a:bodyPr wrap="none" rtlCol="0">
              <a:spAutoFit/>
            </a:bodyPr>
            <a:lstStyle/>
            <a:p>
              <a:pPr algn="l"/>
              <a:r>
                <a:rPr lang="zh-CN" altLang="en-US" sz="1050" b="1" spc="0" baseline="0">
                  <a:ln/>
                  <a:solidFill>
                    <a:srgbClr val="1E3A5F"/>
                  </a:solidFill>
                  <a:latin typeface="微软雅黑"/>
                  <a:ea typeface="微软雅黑"/>
                  <a:sym typeface="微软雅黑"/>
                  <a:rtl val="0"/>
                </a:rPr>
                <a:t>其他说明</a:t>
              </a:r>
            </a:p>
          </p:txBody>
        </p:sp>
        <p:sp>
          <p:nvSpPr>
            <p:cNvPr id="39" name="文本框 38">
              <a:extLst>
                <a:ext uri="{FF2B5EF4-FFF2-40B4-BE49-F238E27FC236}">
                  <a16:creationId xmlns:a16="http://schemas.microsoft.com/office/drawing/2014/main" id="{ADD5E5EA-1EBA-88BF-843C-7BC998F877C2}"/>
                </a:ext>
              </a:extLst>
            </p:cNvPr>
            <p:cNvSpPr txBox="1"/>
            <p:nvPr/>
          </p:nvSpPr>
          <p:spPr>
            <a:xfrm>
              <a:off x="6480810" y="2786088"/>
              <a:ext cx="10058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5. 债券融资统计</a:t>
              </a:r>
            </a:p>
          </p:txBody>
        </p:sp>
        <p:sp>
          <p:nvSpPr>
            <p:cNvPr id="40" name="文本框 39">
              <a:extLst>
                <a:ext uri="{FF2B5EF4-FFF2-40B4-BE49-F238E27FC236}">
                  <a16:creationId xmlns:a16="http://schemas.microsoft.com/office/drawing/2014/main" id="{24F459FA-5582-BC2F-A147-5EE38BA19BAE}"/>
                </a:ext>
              </a:extLst>
            </p:cNvPr>
            <p:cNvSpPr txBox="1"/>
            <p:nvPr/>
          </p:nvSpPr>
          <p:spPr>
            <a:xfrm>
              <a:off x="6480810" y="2995638"/>
              <a:ext cx="27815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债券偿还统计不考虑行权，根据公告确定偿还信息</a:t>
              </a:r>
            </a:p>
          </p:txBody>
        </p:sp>
        <p:sp>
          <p:nvSpPr>
            <p:cNvPr id="41" name="文本框 40">
              <a:extLst>
                <a:ext uri="{FF2B5EF4-FFF2-40B4-BE49-F238E27FC236}">
                  <a16:creationId xmlns:a16="http://schemas.microsoft.com/office/drawing/2014/main" id="{5269D8B6-186A-2404-AD28-94DD52B43836}"/>
                </a:ext>
              </a:extLst>
            </p:cNvPr>
            <p:cNvSpPr txBox="1"/>
            <p:nvPr/>
          </p:nvSpPr>
          <p:spPr>
            <a:xfrm>
              <a:off x="6480810" y="3186138"/>
              <a:ext cx="322444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非金融企业净融资：城投债+产业债+ABS+可转债+可交债</a:t>
              </a:r>
            </a:p>
          </p:txBody>
        </p:sp>
        <p:sp>
          <p:nvSpPr>
            <p:cNvPr id="42" name="文本框 41">
              <a:extLst>
                <a:ext uri="{FF2B5EF4-FFF2-40B4-BE49-F238E27FC236}">
                  <a16:creationId xmlns:a16="http://schemas.microsoft.com/office/drawing/2014/main" id="{8D7A2126-1D86-D985-0E1E-5AE48600F55A}"/>
                </a:ext>
              </a:extLst>
            </p:cNvPr>
            <p:cNvSpPr txBox="1"/>
            <p:nvPr/>
          </p:nvSpPr>
          <p:spPr>
            <a:xfrm>
              <a:off x="6480810" y="3376638"/>
              <a:ext cx="336826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金融企业净融资：商业银行债+同业存单+非银金融债+ABS等</a:t>
              </a:r>
            </a:p>
          </p:txBody>
        </p:sp>
        <p:sp>
          <p:nvSpPr>
            <p:cNvPr id="43" name="文本框 42">
              <a:extLst>
                <a:ext uri="{FF2B5EF4-FFF2-40B4-BE49-F238E27FC236}">
                  <a16:creationId xmlns:a16="http://schemas.microsoft.com/office/drawing/2014/main" id="{406E67A6-6EAC-CCD4-4016-EBBB17176EA9}"/>
                </a:ext>
              </a:extLst>
            </p:cNvPr>
            <p:cNvSpPr txBox="1"/>
            <p:nvPr/>
          </p:nvSpPr>
          <p:spPr>
            <a:xfrm>
              <a:off x="6480810" y="3690963"/>
              <a:ext cx="10058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6. 城投平台统计</a:t>
              </a:r>
            </a:p>
          </p:txBody>
        </p:sp>
        <p:sp>
          <p:nvSpPr>
            <p:cNvPr id="44" name="文本框 43">
              <a:extLst>
                <a:ext uri="{FF2B5EF4-FFF2-40B4-BE49-F238E27FC236}">
                  <a16:creationId xmlns:a16="http://schemas.microsoft.com/office/drawing/2014/main" id="{BE9E5352-9A1E-877B-370D-CDF2CA50E29C}"/>
                </a:ext>
              </a:extLst>
            </p:cNvPr>
            <p:cNvSpPr txBox="1"/>
            <p:nvPr/>
          </p:nvSpPr>
          <p:spPr>
            <a:xfrm>
              <a:off x="6480810" y="3900513"/>
              <a:ext cx="31244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区域城投平台分布仅统计披露主体评级或业务类型的平台</a:t>
              </a:r>
            </a:p>
          </p:txBody>
        </p:sp>
        <p:sp>
          <p:nvSpPr>
            <p:cNvPr id="45" name="文本框 44">
              <a:extLst>
                <a:ext uri="{FF2B5EF4-FFF2-40B4-BE49-F238E27FC236}">
                  <a16:creationId xmlns:a16="http://schemas.microsoft.com/office/drawing/2014/main" id="{93E9FB32-0EC8-0564-F9F3-B41BDCFBDBC5}"/>
                </a:ext>
              </a:extLst>
            </p:cNvPr>
            <p:cNvSpPr txBox="1"/>
            <p:nvPr/>
          </p:nvSpPr>
          <p:spPr>
            <a:xfrm>
              <a:off x="6480810" y="4091013"/>
              <a:ext cx="22100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城投利差基于全部存量债券按估值计算</a:t>
              </a:r>
            </a:p>
          </p:txBody>
        </p:sp>
        <p:sp>
          <p:nvSpPr>
            <p:cNvPr id="46" name="文本框 45">
              <a:extLst>
                <a:ext uri="{FF2B5EF4-FFF2-40B4-BE49-F238E27FC236}">
                  <a16:creationId xmlns:a16="http://schemas.microsoft.com/office/drawing/2014/main" id="{E5063DE4-B554-600B-6E8C-C6D0E7B8FA39}"/>
                </a:ext>
              </a:extLst>
            </p:cNvPr>
            <p:cNvSpPr txBox="1"/>
            <p:nvPr/>
          </p:nvSpPr>
          <p:spPr>
            <a:xfrm>
              <a:off x="6480810" y="4357713"/>
              <a:ext cx="8915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7. 银行业数据</a:t>
              </a:r>
            </a:p>
          </p:txBody>
        </p:sp>
        <p:sp>
          <p:nvSpPr>
            <p:cNvPr id="47" name="文本框 46">
              <a:extLst>
                <a:ext uri="{FF2B5EF4-FFF2-40B4-BE49-F238E27FC236}">
                  <a16:creationId xmlns:a16="http://schemas.microsoft.com/office/drawing/2014/main" id="{4AA73907-792E-40EC-B055-57E9C3079D89}"/>
                </a:ext>
              </a:extLst>
            </p:cNvPr>
            <p:cNvSpPr txBox="1"/>
            <p:nvPr/>
          </p:nvSpPr>
          <p:spPr>
            <a:xfrm>
              <a:off x="6480810" y="4567263"/>
              <a:ext cx="18671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存贷款均为金融机构存贷款口径</a:t>
              </a:r>
            </a:p>
          </p:txBody>
        </p:sp>
        <p:sp>
          <p:nvSpPr>
            <p:cNvPr id="48" name="文本框 47">
              <a:extLst>
                <a:ext uri="{FF2B5EF4-FFF2-40B4-BE49-F238E27FC236}">
                  <a16:creationId xmlns:a16="http://schemas.microsoft.com/office/drawing/2014/main" id="{1746675F-B3F8-692F-7D17-E2C53FCBE381}"/>
                </a:ext>
              </a:extLst>
            </p:cNvPr>
            <p:cNvSpPr txBox="1"/>
            <p:nvPr/>
          </p:nvSpPr>
          <p:spPr>
            <a:xfrm>
              <a:off x="6480810" y="4757763"/>
              <a:ext cx="25529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总资产、总负债、不良贷款率均为银行业口径</a:t>
              </a:r>
            </a:p>
          </p:txBody>
        </p:sp>
        <p:sp>
          <p:nvSpPr>
            <p:cNvPr id="49" name="文本框 48">
              <a:extLst>
                <a:ext uri="{FF2B5EF4-FFF2-40B4-BE49-F238E27FC236}">
                  <a16:creationId xmlns:a16="http://schemas.microsoft.com/office/drawing/2014/main" id="{A8830DAE-8FB7-3118-6128-4A74BECD20CF}"/>
                </a:ext>
              </a:extLst>
            </p:cNvPr>
            <p:cNvSpPr txBox="1"/>
            <p:nvPr/>
          </p:nvSpPr>
          <p:spPr>
            <a:xfrm>
              <a:off x="6480810" y="5024463"/>
              <a:ext cx="8915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8. 地方债统计</a:t>
              </a:r>
            </a:p>
          </p:txBody>
        </p:sp>
        <p:sp>
          <p:nvSpPr>
            <p:cNvPr id="50" name="文本框 49">
              <a:extLst>
                <a:ext uri="{FF2B5EF4-FFF2-40B4-BE49-F238E27FC236}">
                  <a16:creationId xmlns:a16="http://schemas.microsoft.com/office/drawing/2014/main" id="{6772043C-76FC-A111-22CE-93410A8E05DC}"/>
                </a:ext>
              </a:extLst>
            </p:cNvPr>
            <p:cNvSpPr txBox="1"/>
            <p:nvPr/>
          </p:nvSpPr>
          <p:spPr>
            <a:xfrm>
              <a:off x="6480810" y="5234013"/>
              <a:ext cx="27815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计划单列市和省、自治区、直辖市分别按地区统计</a:t>
              </a:r>
            </a:p>
          </p:txBody>
        </p:sp>
        <p:sp>
          <p:nvSpPr>
            <p:cNvPr id="51" name="文本框 50">
              <a:extLst>
                <a:ext uri="{FF2B5EF4-FFF2-40B4-BE49-F238E27FC236}">
                  <a16:creationId xmlns:a16="http://schemas.microsoft.com/office/drawing/2014/main" id="{62204AC5-0739-FAD0-87D9-60443DDD8446}"/>
                </a:ext>
              </a:extLst>
            </p:cNvPr>
            <p:cNvSpPr txBox="1"/>
            <p:nvPr/>
          </p:nvSpPr>
          <p:spPr>
            <a:xfrm>
              <a:off x="6480810" y="5424513"/>
              <a:ext cx="1867130"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省级融资数据不包含计划单列市</a:t>
              </a:r>
            </a:p>
          </p:txBody>
        </p:sp>
        <p:sp>
          <p:nvSpPr>
            <p:cNvPr id="52" name="文本框 51">
              <a:extLst>
                <a:ext uri="{FF2B5EF4-FFF2-40B4-BE49-F238E27FC236}">
                  <a16:creationId xmlns:a16="http://schemas.microsoft.com/office/drawing/2014/main" id="{BE03254C-C1B0-9705-6B7A-4F21CC84C51F}"/>
                </a:ext>
              </a:extLst>
            </p:cNvPr>
            <p:cNvSpPr txBox="1"/>
            <p:nvPr/>
          </p:nvSpPr>
          <p:spPr>
            <a:xfrm>
              <a:off x="6480810" y="5691213"/>
              <a:ext cx="777262" cy="242295"/>
            </a:xfrm>
            <a:prstGeom prst="rect">
              <a:avLst/>
            </a:prstGeom>
            <a:noFill/>
          </p:spPr>
          <p:txBody>
            <a:bodyPr wrap="none" rtlCol="0">
              <a:spAutoFit/>
            </a:bodyPr>
            <a:lstStyle/>
            <a:p>
              <a:pPr algn="l"/>
              <a:r>
                <a:rPr lang="zh-CN" altLang="en-US" sz="900" b="1" spc="0" baseline="0">
                  <a:ln/>
                  <a:solidFill>
                    <a:srgbClr val="4A90D9"/>
                  </a:solidFill>
                  <a:latin typeface="微软雅黑"/>
                  <a:ea typeface="微软雅黑"/>
                  <a:sym typeface="微软雅黑"/>
                  <a:rtl val="0"/>
                </a:rPr>
                <a:t>9. 符号说明</a:t>
              </a:r>
            </a:p>
          </p:txBody>
        </p:sp>
        <p:sp>
          <p:nvSpPr>
            <p:cNvPr id="53" name="文本框 52">
              <a:extLst>
                <a:ext uri="{FF2B5EF4-FFF2-40B4-BE49-F238E27FC236}">
                  <a16:creationId xmlns:a16="http://schemas.microsoft.com/office/drawing/2014/main" id="{3427BD5D-70A8-5914-C4E7-4675DF2B83A6}"/>
                </a:ext>
              </a:extLst>
            </p:cNvPr>
            <p:cNvSpPr txBox="1"/>
            <p:nvPr/>
          </p:nvSpPr>
          <p:spPr>
            <a:xfrm>
              <a:off x="6480810" y="5900763"/>
              <a:ext cx="1249866"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 表示数据未披露</a:t>
              </a:r>
            </a:p>
          </p:txBody>
        </p:sp>
        <p:sp>
          <p:nvSpPr>
            <p:cNvPr id="54" name="文本框 53">
              <a:extLst>
                <a:ext uri="{FF2B5EF4-FFF2-40B4-BE49-F238E27FC236}">
                  <a16:creationId xmlns:a16="http://schemas.microsoft.com/office/drawing/2014/main" id="{0F8F6387-AA7B-40AF-AD4D-8CA4065562BA}"/>
                </a:ext>
              </a:extLst>
            </p:cNvPr>
            <p:cNvSpPr txBox="1"/>
            <p:nvPr/>
          </p:nvSpPr>
          <p:spPr>
            <a:xfrm>
              <a:off x="6480810" y="6091263"/>
              <a:ext cx="2281133" cy="242295"/>
            </a:xfrm>
            <a:prstGeom prst="rect">
              <a:avLst/>
            </a:prstGeom>
            <a:noFill/>
          </p:spPr>
          <p:txBody>
            <a:bodyPr wrap="none" rtlCol="0">
              <a:spAutoFit/>
            </a:bodyPr>
            <a:lstStyle/>
            <a:p>
              <a:pPr algn="l"/>
              <a:r>
                <a:rPr lang="zh-CN" altLang="en-US" sz="900" spc="0" baseline="0">
                  <a:ln/>
                  <a:solidFill>
                    <a:srgbClr val="334155"/>
                  </a:solidFill>
                  <a:latin typeface="微软雅黑"/>
                  <a:ea typeface="微软雅黑"/>
                  <a:sym typeface="微软雅黑"/>
                  <a:rtl val="0"/>
                </a:rPr>
                <a:t>• "*" 表示采用过往数据或同级别均值替代</a:t>
              </a:r>
            </a:p>
          </p:txBody>
        </p:sp>
      </p:grpSp>
      <p:sp>
        <p:nvSpPr>
          <p:cNvPr id="55" name="矩形 54">
            <a:extLst>
              <a:ext uri="{FF2B5EF4-FFF2-40B4-BE49-F238E27FC236}">
                <a16:creationId xmlns:a16="http://schemas.microsoft.com/office/drawing/2014/main" id="{F1C473CA-E00E-BF06-990D-E6B4EE20BD00}"/>
              </a:ext>
            </a:extLst>
          </p:cNvPr>
          <p:cNvSpPr/>
          <p:nvPr/>
        </p:nvSpPr>
        <p:spPr>
          <a:xfrm>
            <a:off x="0" y="6819900"/>
            <a:ext cx="12192000" cy="38100"/>
          </a:xfrm>
          <a:prstGeom prst="rect">
            <a:avLst/>
          </a:prstGeom>
          <a:solidFill>
            <a:srgbClr val="1E3A5F"/>
          </a:solidFill>
          <a:ln w="9525" cap="flat">
            <a:noFill/>
            <a:prstDash val="solid"/>
            <a:miter/>
          </a:ln>
        </p:spPr>
        <p:txBody>
          <a:bodyPr/>
          <a:lstStyle/>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0375AB8B-D161-8785-87DC-B9F4075FB000}"/>
              </a:ext>
            </a:extLst>
          </p:cNvPr>
          <p:cNvSpPr/>
          <p:nvPr/>
        </p:nvSpPr>
        <p:spPr>
          <a:xfrm>
            <a:off x="0" y="0"/>
            <a:ext cx="12192000" cy="6858000"/>
          </a:xfrm>
          <a:prstGeom prst="rect">
            <a:avLst/>
          </a:prstGeom>
          <a:gradFill>
            <a:gsLst>
              <a:gs pos="0">
                <a:srgbClr val="1E3A5F"/>
              </a:gs>
              <a:gs pos="50000">
                <a:srgbClr val="264A75"/>
              </a:gs>
              <a:gs pos="100000">
                <a:srgbClr val="2E5A8B"/>
              </a:gs>
            </a:gsLst>
            <a:lin ang="2700000" scaled="1"/>
          </a:gradFill>
          <a:ln w="9525" cap="flat">
            <a:noFill/>
            <a:prstDash val="solid"/>
            <a:miter/>
          </a:ln>
        </p:spPr>
        <p:txBody>
          <a:bodyPr/>
          <a:lstStyle/>
          <a:p>
            <a:endParaRPr lang="zh-CN" altLang="en-US"/>
          </a:p>
        </p:txBody>
      </p:sp>
      <p:sp>
        <p:nvSpPr>
          <p:cNvPr id="43" name="矩形 42">
            <a:extLst>
              <a:ext uri="{FF2B5EF4-FFF2-40B4-BE49-F238E27FC236}">
                <a16:creationId xmlns:a16="http://schemas.microsoft.com/office/drawing/2014/main" id="{C813F94D-5A10-FD24-FB47-F68C733AB706}"/>
              </a:ext>
            </a:extLst>
          </p:cNvPr>
          <p:cNvSpPr/>
          <p:nvPr/>
        </p:nvSpPr>
        <p:spPr>
          <a:xfrm>
            <a:off x="0" y="0"/>
            <a:ext cx="12192000" cy="38100"/>
          </a:xfrm>
          <a:prstGeom prst="rect">
            <a:avLst/>
          </a:prstGeom>
          <a:solidFill>
            <a:srgbClr val="4A90D9"/>
          </a:solidFill>
          <a:ln w="9525" cap="flat">
            <a:noFill/>
            <a:prstDash val="solid"/>
            <a:miter/>
          </a:ln>
        </p:spPr>
        <p:txBody>
          <a:bodyPr/>
          <a:lstStyle/>
          <a:p>
            <a:endParaRPr lang="zh-CN" altLang="en-US"/>
          </a:p>
        </p:txBody>
      </p:sp>
      <p:sp>
        <p:nvSpPr>
          <p:cNvPr id="44" name="椭圆 43">
            <a:extLst>
              <a:ext uri="{FF2B5EF4-FFF2-40B4-BE49-F238E27FC236}">
                <a16:creationId xmlns:a16="http://schemas.microsoft.com/office/drawing/2014/main" id="{E8F87094-31FD-4CBA-5D0A-8F25099ECA9E}"/>
              </a:ext>
            </a:extLst>
          </p:cNvPr>
          <p:cNvSpPr/>
          <p:nvPr/>
        </p:nvSpPr>
        <p:spPr>
          <a:xfrm>
            <a:off x="3429000" y="762000"/>
            <a:ext cx="5334000" cy="5334000"/>
          </a:xfrm>
          <a:prstGeom prst="ellipse">
            <a:avLst/>
          </a:prstGeom>
          <a:noFill/>
          <a:ln w="9525" cap="flat">
            <a:solidFill>
              <a:srgbClr val="FFFFFF">
                <a:alpha val="8000"/>
              </a:srgbClr>
            </a:solidFill>
            <a:prstDash val="solid"/>
            <a:miter/>
          </a:ln>
        </p:spPr>
        <p:txBody>
          <a:bodyPr/>
          <a:lstStyle/>
          <a:p>
            <a:endParaRPr lang="zh-CN" altLang="en-US"/>
          </a:p>
        </p:txBody>
      </p:sp>
      <p:sp>
        <p:nvSpPr>
          <p:cNvPr id="45" name="椭圆 44">
            <a:extLst>
              <a:ext uri="{FF2B5EF4-FFF2-40B4-BE49-F238E27FC236}">
                <a16:creationId xmlns:a16="http://schemas.microsoft.com/office/drawing/2014/main" id="{BB20B04D-6B4D-6BDE-C824-7812DCB68EE2}"/>
              </a:ext>
            </a:extLst>
          </p:cNvPr>
          <p:cNvSpPr/>
          <p:nvPr/>
        </p:nvSpPr>
        <p:spPr>
          <a:xfrm>
            <a:off x="4000500" y="1333500"/>
            <a:ext cx="4191000" cy="4191000"/>
          </a:xfrm>
          <a:prstGeom prst="ellipse">
            <a:avLst/>
          </a:prstGeom>
          <a:noFill/>
          <a:ln w="9525" cap="flat">
            <a:solidFill>
              <a:srgbClr val="FFFFFF">
                <a:alpha val="5000"/>
              </a:srgbClr>
            </a:solidFill>
            <a:prstDash val="solid"/>
            <a:miter/>
          </a:ln>
        </p:spPr>
        <p:txBody>
          <a:bodyPr/>
          <a:lstStyle/>
          <a:p>
            <a:endParaRPr lang="zh-CN" altLang="en-US"/>
          </a:p>
        </p:txBody>
      </p:sp>
      <p:pic>
        <p:nvPicPr>
          <p:cNvPr id="46" name="图片 45">
            <a:extLst>
              <a:ext uri="{FF2B5EF4-FFF2-40B4-BE49-F238E27FC236}">
                <a16:creationId xmlns:a16="http://schemas.microsoft.com/office/drawing/2014/main" id="{ED6910E3-90EE-3468-66F9-4CDC90F96CD1}"/>
              </a:ext>
            </a:extLst>
          </p:cNvPr>
          <p:cNvPicPr>
            <a:picLocks noChangeAspect="1"/>
          </p:cNvPicPr>
          <p:nvPr/>
        </p:nvPicPr>
        <p:blipFill>
          <a:blip r:embed="rId2"/>
          <a:stretch>
            <a:fillRect/>
          </a:stretch>
        </p:blipFill>
        <p:spPr>
          <a:xfrm>
            <a:off x="5619749" y="1712029"/>
            <a:ext cx="952500" cy="762000"/>
          </a:xfrm>
          <a:custGeom>
            <a:avLst/>
            <a:gdLst>
              <a:gd name="csX0" fmla="*/ 0 w 1905000"/>
              <a:gd name="csY0" fmla="*/ 0 h 762000"/>
              <a:gd name="csX1" fmla="*/ 1905000 w 1905000"/>
              <a:gd name="csY1" fmla="*/ 0 h 762000"/>
              <a:gd name="csX2" fmla="*/ 1905000 w 1905000"/>
              <a:gd name="csY2" fmla="*/ 762000 h 762000"/>
              <a:gd name="csX3" fmla="*/ 0 w 1905000"/>
              <a:gd name="csY3" fmla="*/ 762000 h 762000"/>
            </a:gdLst>
            <a:ahLst/>
            <a:cxnLst>
              <a:cxn ang="0">
                <a:pos x="csX0" y="csY0"/>
              </a:cxn>
              <a:cxn ang="0">
                <a:pos x="csX1" y="csY1"/>
              </a:cxn>
              <a:cxn ang="0">
                <a:pos x="csX2" y="csY2"/>
              </a:cxn>
              <a:cxn ang="0">
                <a:pos x="csX3" y="csY3"/>
              </a:cxn>
            </a:cxnLst>
            <a:rect l="l" t="t" r="r" b="b"/>
            <a:pathLst>
              <a:path w="1905000" h="762000">
                <a:moveTo>
                  <a:pt x="0" y="0"/>
                </a:moveTo>
                <a:lnTo>
                  <a:pt x="1905000" y="0"/>
                </a:lnTo>
                <a:lnTo>
                  <a:pt x="1905000" y="762000"/>
                </a:lnTo>
                <a:lnTo>
                  <a:pt x="0" y="762000"/>
                </a:lnTo>
                <a:close/>
              </a:path>
            </a:pathLst>
          </a:custGeom>
        </p:spPr>
      </p:pic>
      <p:sp>
        <p:nvSpPr>
          <p:cNvPr id="47" name="文本框 46">
            <a:extLst>
              <a:ext uri="{FF2B5EF4-FFF2-40B4-BE49-F238E27FC236}">
                <a16:creationId xmlns:a16="http://schemas.microsoft.com/office/drawing/2014/main" id="{50853054-AF59-E265-64EC-E095D910B531}"/>
              </a:ext>
            </a:extLst>
          </p:cNvPr>
          <p:cNvSpPr txBox="1"/>
          <p:nvPr/>
        </p:nvSpPr>
        <p:spPr>
          <a:xfrm>
            <a:off x="5204460" y="2578984"/>
            <a:ext cx="1783080" cy="619435"/>
          </a:xfrm>
          <a:prstGeom prst="rect">
            <a:avLst/>
          </a:prstGeom>
          <a:noFill/>
        </p:spPr>
        <p:txBody>
          <a:bodyPr wrap="none" rtlCol="0">
            <a:spAutoFit/>
          </a:bodyPr>
          <a:lstStyle/>
          <a:p>
            <a:pPr algn="l"/>
            <a:r>
              <a:rPr lang="zh-CN" altLang="en-US" sz="3150" b="1" spc="0" baseline="0">
                <a:ln/>
                <a:solidFill>
                  <a:srgbClr val="FFFFFF"/>
                </a:solidFill>
                <a:latin typeface="微软雅黑"/>
                <a:ea typeface="微软雅黑"/>
                <a:sym typeface="微软雅黑"/>
                <a:rtl val="0"/>
              </a:rPr>
              <a:t>感谢阅读</a:t>
            </a:r>
          </a:p>
        </p:txBody>
      </p:sp>
      <p:sp>
        <p:nvSpPr>
          <p:cNvPr id="48" name="矩形 47">
            <a:extLst>
              <a:ext uri="{FF2B5EF4-FFF2-40B4-BE49-F238E27FC236}">
                <a16:creationId xmlns:a16="http://schemas.microsoft.com/office/drawing/2014/main" id="{C16291EE-24CF-E97D-CEA8-3316E8474EA6}"/>
              </a:ext>
            </a:extLst>
          </p:cNvPr>
          <p:cNvSpPr/>
          <p:nvPr/>
        </p:nvSpPr>
        <p:spPr>
          <a:xfrm>
            <a:off x="5334000" y="3286125"/>
            <a:ext cx="1524000" cy="19050"/>
          </a:xfrm>
          <a:prstGeom prst="rect">
            <a:avLst/>
          </a:prstGeom>
          <a:solidFill>
            <a:srgbClr val="4A90D9"/>
          </a:solidFill>
          <a:ln w="9525" cap="flat">
            <a:noFill/>
            <a:prstDash val="solid"/>
            <a:miter/>
          </a:ln>
        </p:spPr>
        <p:txBody>
          <a:bodyPr/>
          <a:lstStyle/>
          <a:p>
            <a:endParaRPr lang="zh-CN" altLang="en-US"/>
          </a:p>
        </p:txBody>
      </p:sp>
      <p:sp>
        <p:nvSpPr>
          <p:cNvPr id="49" name="文本框 48">
            <a:extLst>
              <a:ext uri="{FF2B5EF4-FFF2-40B4-BE49-F238E27FC236}">
                <a16:creationId xmlns:a16="http://schemas.microsoft.com/office/drawing/2014/main" id="{575B5960-94FA-8AAC-947E-F00E9C233051}"/>
              </a:ext>
            </a:extLst>
          </p:cNvPr>
          <p:cNvSpPr txBox="1"/>
          <p:nvPr/>
        </p:nvSpPr>
        <p:spPr>
          <a:xfrm>
            <a:off x="5052060" y="3515085"/>
            <a:ext cx="2087880" cy="342866"/>
          </a:xfrm>
          <a:prstGeom prst="rect">
            <a:avLst/>
          </a:prstGeom>
          <a:noFill/>
        </p:spPr>
        <p:txBody>
          <a:bodyPr wrap="none" rtlCol="0">
            <a:spAutoFit/>
          </a:bodyPr>
          <a:lstStyle/>
          <a:p>
            <a:pPr algn="l"/>
            <a:r>
              <a:rPr lang="zh-CN" altLang="en-US" sz="1500" spc="0" baseline="0">
                <a:ln/>
                <a:solidFill>
                  <a:srgbClr val="FFFFFF">
                    <a:alpha val="90000"/>
                  </a:srgbClr>
                </a:solidFill>
                <a:latin typeface="微软雅黑"/>
                <a:ea typeface="微软雅黑"/>
                <a:sym typeface="微软雅黑"/>
                <a:rtl val="0"/>
              </a:rPr>
              <a:t>企业风险智能监控专家</a:t>
            </a:r>
          </a:p>
        </p:txBody>
      </p:sp>
      <p:sp>
        <p:nvSpPr>
          <p:cNvPr id="50" name="文本框 49">
            <a:extLst>
              <a:ext uri="{FF2B5EF4-FFF2-40B4-BE49-F238E27FC236}">
                <a16:creationId xmlns:a16="http://schemas.microsoft.com/office/drawing/2014/main" id="{29C5AD2F-A2D8-F676-BB5A-EFD569F948F0}"/>
              </a:ext>
            </a:extLst>
          </p:cNvPr>
          <p:cNvSpPr txBox="1"/>
          <p:nvPr/>
        </p:nvSpPr>
        <p:spPr>
          <a:xfrm>
            <a:off x="3737610" y="4099431"/>
            <a:ext cx="4716780" cy="267438"/>
          </a:xfrm>
          <a:prstGeom prst="rect">
            <a:avLst/>
          </a:prstGeom>
          <a:noFill/>
        </p:spPr>
        <p:txBody>
          <a:bodyPr wrap="none" rtlCol="0">
            <a:spAutoFit/>
          </a:bodyPr>
          <a:lstStyle/>
          <a:p>
            <a:pPr algn="l"/>
            <a:r>
              <a:rPr lang="zh-CN" altLang="en-US" sz="1050" spc="0" baseline="0">
                <a:ln/>
                <a:solidFill>
                  <a:srgbClr val="FFFFFF">
                    <a:alpha val="70000"/>
                  </a:srgbClr>
                </a:solidFill>
                <a:latin typeface="微软雅黑"/>
                <a:ea typeface="微软雅黑"/>
                <a:sym typeface="微软雅黑"/>
                <a:rtl val="0"/>
              </a:rPr>
              <a:t>企业预警通深度融合金融、企业、舆情、信用、司法、区域经济等大数据资源</a:t>
            </a:r>
          </a:p>
        </p:txBody>
      </p:sp>
      <p:sp>
        <p:nvSpPr>
          <p:cNvPr id="51" name="文本框 50">
            <a:extLst>
              <a:ext uri="{FF2B5EF4-FFF2-40B4-BE49-F238E27FC236}">
                <a16:creationId xmlns:a16="http://schemas.microsoft.com/office/drawing/2014/main" id="{6B75586E-6460-B290-7C6A-0DF84C8E40DD}"/>
              </a:ext>
            </a:extLst>
          </p:cNvPr>
          <p:cNvSpPr txBox="1"/>
          <p:nvPr/>
        </p:nvSpPr>
        <p:spPr>
          <a:xfrm>
            <a:off x="4271010" y="4328031"/>
            <a:ext cx="3649980" cy="267438"/>
          </a:xfrm>
          <a:prstGeom prst="rect">
            <a:avLst/>
          </a:prstGeom>
          <a:noFill/>
        </p:spPr>
        <p:txBody>
          <a:bodyPr wrap="none" rtlCol="0">
            <a:spAutoFit/>
          </a:bodyPr>
          <a:lstStyle/>
          <a:p>
            <a:pPr algn="l"/>
            <a:r>
              <a:rPr lang="zh-CN" altLang="en-US" sz="1050" spc="0" baseline="0">
                <a:ln/>
                <a:solidFill>
                  <a:srgbClr val="FFFFFF">
                    <a:alpha val="70000"/>
                  </a:srgbClr>
                </a:solidFill>
                <a:latin typeface="微软雅黑"/>
                <a:ea typeface="微软雅黑"/>
                <a:sym typeface="微软雅黑"/>
                <a:rtl val="0"/>
              </a:rPr>
              <a:t>为金融机构提供企业多维度风险信息查询、监测与分析服务</a:t>
            </a:r>
          </a:p>
        </p:txBody>
      </p:sp>
      <p:sp>
        <p:nvSpPr>
          <p:cNvPr id="52" name="任意形状 51">
            <a:extLst>
              <a:ext uri="{FF2B5EF4-FFF2-40B4-BE49-F238E27FC236}">
                <a16:creationId xmlns:a16="http://schemas.microsoft.com/office/drawing/2014/main" id="{EB864086-11EB-0064-FD4B-24D8B6B02FE7}"/>
              </a:ext>
            </a:extLst>
          </p:cNvPr>
          <p:cNvSpPr/>
          <p:nvPr/>
        </p:nvSpPr>
        <p:spPr>
          <a:xfrm>
            <a:off x="4191000" y="4953000"/>
            <a:ext cx="3810000" cy="571500"/>
          </a:xfrm>
          <a:custGeom>
            <a:avLst/>
            <a:gdLst>
              <a:gd name="csX0" fmla="*/ 76200 w 3810000"/>
              <a:gd name="csY0" fmla="*/ 0 h 571500"/>
              <a:gd name="csX1" fmla="*/ 3733800 w 3810000"/>
              <a:gd name="csY1" fmla="*/ 0 h 571500"/>
              <a:gd name="csX2" fmla="*/ 3810000 w 3810000"/>
              <a:gd name="csY2" fmla="*/ 76200 h 571500"/>
              <a:gd name="csX3" fmla="*/ 3810000 w 3810000"/>
              <a:gd name="csY3" fmla="*/ 495300 h 571500"/>
              <a:gd name="csX4" fmla="*/ 3733800 w 3810000"/>
              <a:gd name="csY4" fmla="*/ 571500 h 571500"/>
              <a:gd name="csX5" fmla="*/ 76200 w 3810000"/>
              <a:gd name="csY5" fmla="*/ 571500 h 571500"/>
              <a:gd name="csX6" fmla="*/ 0 w 3810000"/>
              <a:gd name="csY6" fmla="*/ 495300 h 571500"/>
              <a:gd name="csX7" fmla="*/ 0 w 3810000"/>
              <a:gd name="csY7" fmla="*/ 76200 h 571500"/>
              <a:gd name="csX8" fmla="*/ 76200 w 3810000"/>
              <a:gd name="csY8" fmla="*/ 0 h 57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10000" h="571500">
                <a:moveTo>
                  <a:pt x="76200" y="0"/>
                </a:moveTo>
                <a:lnTo>
                  <a:pt x="3733800" y="0"/>
                </a:lnTo>
                <a:cubicBezTo>
                  <a:pt x="3775884" y="0"/>
                  <a:pt x="3810000" y="34116"/>
                  <a:pt x="3810000" y="76200"/>
                </a:cubicBezTo>
                <a:lnTo>
                  <a:pt x="3810000" y="495300"/>
                </a:lnTo>
                <a:cubicBezTo>
                  <a:pt x="3810000" y="537384"/>
                  <a:pt x="3775884" y="571500"/>
                  <a:pt x="3733800" y="571500"/>
                </a:cubicBezTo>
                <a:lnTo>
                  <a:pt x="76200" y="571500"/>
                </a:lnTo>
                <a:cubicBezTo>
                  <a:pt x="34116" y="571500"/>
                  <a:pt x="0" y="537384"/>
                  <a:pt x="0" y="495300"/>
                </a:cubicBezTo>
                <a:lnTo>
                  <a:pt x="0" y="76200"/>
                </a:lnTo>
                <a:cubicBezTo>
                  <a:pt x="0" y="34116"/>
                  <a:pt x="34116" y="0"/>
                  <a:pt x="76200" y="0"/>
                </a:cubicBezTo>
                <a:close/>
              </a:path>
            </a:pathLst>
          </a:custGeom>
          <a:solidFill>
            <a:srgbClr val="FFFFFF">
              <a:alpha val="10000"/>
            </a:srgbClr>
          </a:solidFill>
          <a:ln w="9525" cap="flat">
            <a:noFill/>
            <a:prstDash val="solid"/>
            <a:miter/>
          </a:ln>
        </p:spPr>
        <p:txBody>
          <a:bodyPr/>
          <a:lstStyle/>
          <a:p>
            <a:endParaRPr lang="zh-CN" altLang="en-US"/>
          </a:p>
        </p:txBody>
      </p:sp>
      <p:sp>
        <p:nvSpPr>
          <p:cNvPr id="53" name="文本框 52">
            <a:extLst>
              <a:ext uri="{FF2B5EF4-FFF2-40B4-BE49-F238E27FC236}">
                <a16:creationId xmlns:a16="http://schemas.microsoft.com/office/drawing/2014/main" id="{416DC4F3-6246-3B69-5D09-20BD999CBC67}"/>
              </a:ext>
            </a:extLst>
          </p:cNvPr>
          <p:cNvSpPr txBox="1"/>
          <p:nvPr/>
        </p:nvSpPr>
        <p:spPr>
          <a:xfrm>
            <a:off x="5159030" y="5059242"/>
            <a:ext cx="1873939" cy="317723"/>
          </a:xfrm>
          <a:prstGeom prst="rect">
            <a:avLst/>
          </a:prstGeom>
          <a:noFill/>
        </p:spPr>
        <p:txBody>
          <a:bodyPr wrap="none" rtlCol="0">
            <a:spAutoFit/>
          </a:bodyPr>
          <a:lstStyle/>
          <a:p>
            <a:pPr algn="l"/>
            <a:r>
              <a:rPr lang="zh-CN" altLang="en-US" sz="1350" spc="0" baseline="0">
                <a:ln/>
                <a:solidFill>
                  <a:srgbClr val="4A90D9"/>
                </a:solidFill>
                <a:latin typeface="微软雅黑"/>
                <a:ea typeface="微软雅黑"/>
                <a:sym typeface="微软雅黑"/>
                <a:rtl val="0"/>
              </a:rPr>
              <a:t>https://www.qyyjt.cn</a:t>
            </a:r>
          </a:p>
        </p:txBody>
      </p:sp>
      <p:sp>
        <p:nvSpPr>
          <p:cNvPr id="54" name="任意形状 53">
            <a:extLst>
              <a:ext uri="{FF2B5EF4-FFF2-40B4-BE49-F238E27FC236}">
                <a16:creationId xmlns:a16="http://schemas.microsoft.com/office/drawing/2014/main" id="{CF04F62F-C67C-149F-1D16-5A95776A9900}"/>
              </a:ext>
            </a:extLst>
          </p:cNvPr>
          <p:cNvSpPr/>
          <p:nvPr/>
        </p:nvSpPr>
        <p:spPr>
          <a:xfrm>
            <a:off x="1333500" y="5810250"/>
            <a:ext cx="9525000" cy="762000"/>
          </a:xfrm>
          <a:custGeom>
            <a:avLst/>
            <a:gdLst>
              <a:gd name="csX0" fmla="*/ 57150 w 9525000"/>
              <a:gd name="csY0" fmla="*/ 0 h 762000"/>
              <a:gd name="csX1" fmla="*/ 9467850 w 9525000"/>
              <a:gd name="csY1" fmla="*/ 0 h 762000"/>
              <a:gd name="csX2" fmla="*/ 9525000 w 9525000"/>
              <a:gd name="csY2" fmla="*/ 57150 h 762000"/>
              <a:gd name="csX3" fmla="*/ 9525000 w 9525000"/>
              <a:gd name="csY3" fmla="*/ 704850 h 762000"/>
              <a:gd name="csX4" fmla="*/ 9467850 w 9525000"/>
              <a:gd name="csY4" fmla="*/ 762000 h 762000"/>
              <a:gd name="csX5" fmla="*/ 57150 w 9525000"/>
              <a:gd name="csY5" fmla="*/ 762000 h 762000"/>
              <a:gd name="csX6" fmla="*/ 0 w 9525000"/>
              <a:gd name="csY6" fmla="*/ 704850 h 762000"/>
              <a:gd name="csX7" fmla="*/ 0 w 9525000"/>
              <a:gd name="csY7" fmla="*/ 57150 h 762000"/>
              <a:gd name="csX8" fmla="*/ 57150 w 9525000"/>
              <a:gd name="csY8"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525000" h="762000">
                <a:moveTo>
                  <a:pt x="57150" y="0"/>
                </a:moveTo>
                <a:lnTo>
                  <a:pt x="9467850" y="0"/>
                </a:lnTo>
                <a:cubicBezTo>
                  <a:pt x="9499413" y="0"/>
                  <a:pt x="9525000" y="25587"/>
                  <a:pt x="9525000" y="57150"/>
                </a:cubicBezTo>
                <a:lnTo>
                  <a:pt x="9525000" y="704850"/>
                </a:lnTo>
                <a:cubicBezTo>
                  <a:pt x="9525000" y="736413"/>
                  <a:pt x="9499413" y="762000"/>
                  <a:pt x="9467850" y="762000"/>
                </a:cubicBezTo>
                <a:lnTo>
                  <a:pt x="57150" y="762000"/>
                </a:lnTo>
                <a:cubicBezTo>
                  <a:pt x="25587" y="762000"/>
                  <a:pt x="0" y="736413"/>
                  <a:pt x="0" y="704850"/>
                </a:cubicBezTo>
                <a:lnTo>
                  <a:pt x="0" y="57150"/>
                </a:lnTo>
                <a:cubicBezTo>
                  <a:pt x="0" y="25587"/>
                  <a:pt x="25587" y="0"/>
                  <a:pt x="57150" y="0"/>
                </a:cubicBezTo>
                <a:close/>
              </a:path>
            </a:pathLst>
          </a:custGeom>
          <a:solidFill>
            <a:srgbClr val="FFFFFF">
              <a:alpha val="5000"/>
            </a:srgbClr>
          </a:solidFill>
          <a:ln w="9525" cap="flat">
            <a:noFill/>
            <a:prstDash val="solid"/>
            <a:miter/>
          </a:ln>
        </p:spPr>
        <p:txBody>
          <a:bodyPr/>
          <a:lstStyle/>
          <a:p>
            <a:endParaRPr lang="zh-CN" altLang="en-US"/>
          </a:p>
        </p:txBody>
      </p:sp>
      <p:sp>
        <p:nvSpPr>
          <p:cNvPr id="55" name="文本框 54">
            <a:extLst>
              <a:ext uri="{FF2B5EF4-FFF2-40B4-BE49-F238E27FC236}">
                <a16:creationId xmlns:a16="http://schemas.microsoft.com/office/drawing/2014/main" id="{86BAA6F9-2F49-9F69-9537-AD59D35852D4}"/>
              </a:ext>
            </a:extLst>
          </p:cNvPr>
          <p:cNvSpPr txBox="1"/>
          <p:nvPr/>
        </p:nvSpPr>
        <p:spPr>
          <a:xfrm>
            <a:off x="2501350" y="5939416"/>
            <a:ext cx="7189298" cy="229724"/>
          </a:xfrm>
          <a:prstGeom prst="rect">
            <a:avLst/>
          </a:prstGeom>
          <a:noFill/>
        </p:spPr>
        <p:txBody>
          <a:bodyPr wrap="none" rtlCol="0">
            <a:spAutoFit/>
          </a:bodyPr>
          <a:lstStyle/>
          <a:p>
            <a:pPr algn="l"/>
            <a:r>
              <a:rPr lang="zh-CN" altLang="en-US" sz="825" spc="0" baseline="0">
                <a:ln/>
                <a:solidFill>
                  <a:srgbClr val="FFFFFF">
                    <a:alpha val="50000"/>
                  </a:srgbClr>
                </a:solidFill>
                <a:latin typeface="微软雅黑"/>
                <a:ea typeface="微软雅黑"/>
                <a:sym typeface="微软雅黑"/>
                <a:rtl val="0"/>
              </a:rPr>
              <a:t>【免责声明】本数据内容版权归企业预警通所有。任何人未获得书面授权，不得对本数据内容进行转载、发布；如需引用，应注明来源于"企业预警通"。</a:t>
            </a:r>
          </a:p>
        </p:txBody>
      </p:sp>
      <p:sp>
        <p:nvSpPr>
          <p:cNvPr id="56" name="文本框 55">
            <a:extLst>
              <a:ext uri="{FF2B5EF4-FFF2-40B4-BE49-F238E27FC236}">
                <a16:creationId xmlns:a16="http://schemas.microsoft.com/office/drawing/2014/main" id="{2C5827D2-BE3B-8156-6282-52207B5D2337}"/>
              </a:ext>
            </a:extLst>
          </p:cNvPr>
          <p:cNvSpPr txBox="1"/>
          <p:nvPr/>
        </p:nvSpPr>
        <p:spPr>
          <a:xfrm>
            <a:off x="2651760" y="6110866"/>
            <a:ext cx="6888480" cy="229724"/>
          </a:xfrm>
          <a:prstGeom prst="rect">
            <a:avLst/>
          </a:prstGeom>
          <a:noFill/>
        </p:spPr>
        <p:txBody>
          <a:bodyPr wrap="none" rtlCol="0">
            <a:spAutoFit/>
          </a:bodyPr>
          <a:lstStyle/>
          <a:p>
            <a:pPr algn="l"/>
            <a:r>
              <a:rPr lang="zh-CN" altLang="en-US" sz="825" spc="0" baseline="0">
                <a:ln/>
                <a:solidFill>
                  <a:srgbClr val="FFFFFF">
                    <a:alpha val="50000"/>
                  </a:srgbClr>
                </a:solidFill>
                <a:latin typeface="微软雅黑"/>
                <a:ea typeface="微软雅黑"/>
                <a:sym typeface="微软雅黑"/>
                <a:rtl val="0"/>
              </a:rPr>
              <a:t>企业预警通的数据内容均基于公开信息或已取得授权的信息经编辑整理而成，本公司力求数据准确与完整，但不对其准确性及完整性作任何保证，</a:t>
            </a:r>
          </a:p>
        </p:txBody>
      </p:sp>
      <p:sp>
        <p:nvSpPr>
          <p:cNvPr id="57" name="文本框 56">
            <a:extLst>
              <a:ext uri="{FF2B5EF4-FFF2-40B4-BE49-F238E27FC236}">
                <a16:creationId xmlns:a16="http://schemas.microsoft.com/office/drawing/2014/main" id="{3A377CFC-E67A-A5D6-5094-6758D0AB65A7}"/>
              </a:ext>
            </a:extLst>
          </p:cNvPr>
          <p:cNvSpPr txBox="1"/>
          <p:nvPr/>
        </p:nvSpPr>
        <p:spPr>
          <a:xfrm>
            <a:off x="4799647" y="6282316"/>
            <a:ext cx="2592705" cy="229724"/>
          </a:xfrm>
          <a:prstGeom prst="rect">
            <a:avLst/>
          </a:prstGeom>
          <a:noFill/>
        </p:spPr>
        <p:txBody>
          <a:bodyPr wrap="none" rtlCol="0">
            <a:spAutoFit/>
          </a:bodyPr>
          <a:lstStyle/>
          <a:p>
            <a:pPr algn="l"/>
            <a:r>
              <a:rPr lang="zh-CN" altLang="en-US" sz="825" spc="0" baseline="0">
                <a:ln/>
                <a:solidFill>
                  <a:srgbClr val="FFFFFF">
                    <a:alpha val="50000"/>
                  </a:srgbClr>
                </a:solidFill>
                <a:latin typeface="微软雅黑"/>
                <a:ea typeface="微软雅黑"/>
                <a:sym typeface="微软雅黑"/>
                <a:rtl val="0"/>
              </a:rPr>
              <a:t>且不构成任何投资建议。市场有风险，投资需谨慎。</a:t>
            </a:r>
          </a:p>
        </p:txBody>
      </p:sp>
      <p:sp>
        <p:nvSpPr>
          <p:cNvPr id="58" name="文本框 57">
            <a:extLst>
              <a:ext uri="{FF2B5EF4-FFF2-40B4-BE49-F238E27FC236}">
                <a16:creationId xmlns:a16="http://schemas.microsoft.com/office/drawing/2014/main" id="{809353F6-F988-EE17-21F4-95C55AB61415}"/>
              </a:ext>
            </a:extLst>
          </p:cNvPr>
          <p:cNvSpPr txBox="1"/>
          <p:nvPr/>
        </p:nvSpPr>
        <p:spPr>
          <a:xfrm>
            <a:off x="5812264" y="6596088"/>
            <a:ext cx="567470" cy="242295"/>
          </a:xfrm>
          <a:prstGeom prst="rect">
            <a:avLst/>
          </a:prstGeom>
          <a:noFill/>
        </p:spPr>
        <p:txBody>
          <a:bodyPr wrap="none" rtlCol="0">
            <a:spAutoFit/>
          </a:bodyPr>
          <a:lstStyle/>
          <a:p>
            <a:pPr algn="l"/>
            <a:r>
              <a:rPr lang="zh-CN" altLang="en-US" sz="900" spc="0" baseline="0">
                <a:ln/>
                <a:solidFill>
                  <a:srgbClr val="FFFFFF">
                    <a:alpha val="40000"/>
                  </a:srgbClr>
                </a:solidFill>
                <a:latin typeface="微软雅黑"/>
                <a:ea typeface="微软雅黑"/>
                <a:sym typeface="微软雅黑"/>
                <a:rtl val="0"/>
              </a:rPr>
              <a:t>20 / 20</a:t>
            </a:r>
          </a:p>
        </p:txBody>
      </p:sp>
      <p:sp>
        <p:nvSpPr>
          <p:cNvPr id="59" name="矩形 58">
            <a:extLst>
              <a:ext uri="{FF2B5EF4-FFF2-40B4-BE49-F238E27FC236}">
                <a16:creationId xmlns:a16="http://schemas.microsoft.com/office/drawing/2014/main" id="{569BB931-4BDD-E19C-F99F-019262B27462}"/>
              </a:ext>
            </a:extLst>
          </p:cNvPr>
          <p:cNvSpPr/>
          <p:nvPr/>
        </p:nvSpPr>
        <p:spPr>
          <a:xfrm>
            <a:off x="0" y="6819900"/>
            <a:ext cx="12192000" cy="38100"/>
          </a:xfrm>
          <a:prstGeom prst="rect">
            <a:avLst/>
          </a:prstGeom>
          <a:solidFill>
            <a:srgbClr val="4A90D9"/>
          </a:solidFill>
          <a:ln w="9525" cap="flat">
            <a:noFill/>
            <a:prstDash val="solid"/>
            <a:miter/>
          </a:ln>
        </p:spPr>
        <p:txBody>
          <a:bodyPr/>
          <a:lstStyle/>
          <a:p>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3593</Words>
  <Application>Microsoft Macintosh PowerPoint</Application>
  <PresentationFormat>宽屏</PresentationFormat>
  <Paragraphs>930</Paragraphs>
  <Slides>20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微软雅黑</vt:lpstr>
      <vt:lpstr>Apple Color Emoji</vt:lpstr>
      <vt:lpstr>Arial</vt:lpstr>
      <vt:lpstr>Calibri</vt:lpstr>
      <vt:lpstr>Segoe UI Symbol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雨果 何</cp:lastModifiedBy>
  <cp:revision>2</cp:revision>
  <dcterms:created xsi:type="dcterms:W3CDTF">2013-01-27T09:14:16Z</dcterms:created>
  <dcterms:modified xsi:type="dcterms:W3CDTF">2025-12-13T09:41:25Z</dcterms:modified>
  <cp:category/>
</cp:coreProperties>
</file>