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zh-HK"/>
    </a:defPPr>
    <a:lvl1pPr marL="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k_native_pptx_brie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HK" smtClean="0"/>
              <a:t>1/27/13</a:t>
            </a:fld>
            <a:endParaRPr lang="zh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HK" smtClean="0"/>
              <a:t>‹#›</a:t>
            </a:fld>
            <a:endParaRPr lang="zh-HK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k_native_pptx_brief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HK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HK" smtClean="0"/>
              <a:t>1/27/13</a:t>
            </a:fld>
            <a:endParaRPr lang="zh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HK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HK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HK" smtClean="0"/>
              <a:t>‹#›</a:t>
            </a:fld>
            <a:endParaRPr lang="zh-H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HK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HK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HK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HK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3fd2d9ac28fe8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r"/>
          <p:cNvSpPr/>
          <p:nvPr/>
        </p:nvSpPr>
        <p:spPr>
          <a:xfrm>
            <a:off x="914400" y="1676400"/>
            <a:ext cx="76200" cy="2667000"/>
          </a:xfrm>
          <a:prstGeom prst="rect">
            <a:avLst/>
          </a:prstGeom>
          <a:solidFill>
            <a:srgbClr val="B8860B"/>
          </a:solidFill>
          <a:ln>
            <a:noFill/>
          </a:ln>
        </p:spPr>
      </p:sp>
      <p:grpSp>
        <p:nvGrpSpPr>
          <p:cNvPr id="4" name="cover-kicker"/>
          <p:cNvGrpSpPr/>
          <p:nvPr/>
        </p:nvGrpSpPr>
        <p:grpSpPr>
          <a:xfrm>
            <a:off x="1213104" y="965200"/>
            <a:ext cx="1418368" cy="234696"/>
            <a:chOff x="1213104" y="965200"/>
            <a:chExt cx="1418368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1213104" y="965200"/>
              <a:ext cx="141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200" dirty="0">
                  <a:solidFill>
                    <a:srgbClr val="D5D0C8"/>
                  </a:solidFill>
                  <a:latin typeface="+mj-lt"/>
                  <a:ea typeface="+mj-ea"/>
                  <a:cs typeface="+mj-cs"/>
                </a:rPr>
                <a:t>委員會文件 · 八分鐘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1200150" y="1879600"/>
            <a:ext cx="6972300" cy="1409700"/>
            <a:chOff x="1200150" y="1879600"/>
            <a:chExt cx="6972300" cy="1409700"/>
          </a:xfrm>
        </p:grpSpPr>
        <p:sp>
          <p:nvSpPr>
            <p:cNvPr id="5" name="TextBox 5"/>
            <p:cNvSpPr txBox="1"/>
            <p:nvPr/>
          </p:nvSpPr>
          <p:spPr>
            <a:xfrm>
              <a:off x="1200150" y="1879600"/>
              <a:ext cx="69723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100"/>
                </a:lnSpc>
              </a:pPr>
              <a:r>
                <a:rPr lang="zh-HK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建議以</a:t>
              </a:r>
              <a:r>
                <a:rPr lang="zh-HK" sz="3900" b="1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可編輯 PPTX</a:t>
              </a:r>
              <a:br>
                <a:rPr lang="zh-HK" sz="3900" b="1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</a:br>
              <a:r>
                <a:rPr lang="zh-HK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作為本港委員會文件的交付標準</a:t>
              </a:r>
            </a:p>
          </p:txBody>
        </p:sp>
      </p:grpSp>
      <p:grpSp>
        <p:nvGrpSpPr>
          <p:cNvPr id="8" name="cover-support"/>
          <p:cNvGrpSpPr/>
          <p:nvPr/>
        </p:nvGrpSpPr>
        <p:grpSpPr>
          <a:xfrm>
            <a:off x="1210818" y="3771900"/>
            <a:ext cx="5608012" cy="322707"/>
            <a:chOff x="1210818" y="3771900"/>
            <a:chExt cx="5608012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1210818" y="3771900"/>
              <a:ext cx="5608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4F1EC"/>
                  </a:solidFill>
                  <a:latin typeface="+mj-lt"/>
                  <a:ea typeface="+mj-ea"/>
                  <a:cs typeface="+mj-cs"/>
                </a:rPr>
                <a:t>Committee papers should leave the room as an editable PPTX</a:t>
              </a:r>
            </a:p>
          </p:txBody>
        </p:sp>
      </p:grpSp>
      <p:grpSp>
        <p:nvGrpSpPr>
          <p:cNvPr id="10" name="cover-meta"/>
          <p:cNvGrpSpPr/>
          <p:nvPr/>
        </p:nvGrpSpPr>
        <p:grpSpPr>
          <a:xfrm>
            <a:off x="1213104" y="5994400"/>
            <a:ext cx="2628102" cy="234696"/>
            <a:chOff x="1213104" y="5994400"/>
            <a:chExt cx="262810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1213104" y="5994400"/>
              <a:ext cx="2628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5D0C8"/>
                  </a:solidFill>
                  <a:latin typeface="+mj-lt"/>
                  <a:ea typeface="+mj-ea"/>
                  <a:cs typeface="+mj-cs"/>
                </a:rPr>
                <a:t>Harbour Professional · 28 October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t-rail"/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123B5C"/>
          </a:solidFill>
          <a:ln>
            <a:noFill/>
          </a:ln>
        </p:spPr>
      </p:sp>
      <p:grpSp>
        <p:nvGrpSpPr>
          <p:cNvPr id="5" name="sit-header"/>
          <p:cNvGrpSpPr/>
          <p:nvPr/>
        </p:nvGrpSpPr>
        <p:grpSpPr>
          <a:xfrm>
            <a:off x="746760" y="508000"/>
            <a:ext cx="3840480" cy="1791970"/>
            <a:chOff x="746760" y="508000"/>
            <a:chExt cx="3840480" cy="1791970"/>
          </a:xfrm>
        </p:grpSpPr>
        <p:sp>
          <p:nvSpPr>
            <p:cNvPr id="3" name="TextBox 3"/>
            <p:cNvSpPr txBox="1"/>
            <p:nvPr/>
          </p:nvSpPr>
          <p:spPr>
            <a:xfrm>
              <a:off x="746760" y="508000"/>
              <a:ext cx="3840480" cy="1082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螢幕截圖式簡報在會後</a:t>
              </a:r>
              <a:b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</a:br>
              <a: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無法按委員會要求修訂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4380" y="1739900"/>
              <a:ext cx="328509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A screenshot cannot take the committee's</a:t>
              </a:r>
              <a:b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</a:br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amendments after the meeting</a:t>
              </a:r>
            </a:p>
          </p:txBody>
        </p:sp>
      </p:grpSp>
      <p:grpSp>
        <p:nvGrpSpPr>
          <p:cNvPr id="7" name="sit-body"/>
          <p:cNvGrpSpPr/>
          <p:nvPr/>
        </p:nvGrpSpPr>
        <p:grpSpPr>
          <a:xfrm>
            <a:off x="752856" y="2616200"/>
            <a:ext cx="3001518" cy="1437894"/>
            <a:chOff x="752856" y="2616200"/>
            <a:chExt cx="3001518" cy="143789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2616200"/>
              <a:ext cx="3001518" cy="1437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會後秘書處須按委員意見</a:t>
              </a:r>
              <a:b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改字、改圖、改排序。</a:t>
              </a:r>
              <a:b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截圖檔只能重做，</a:t>
              </a:r>
              <a:b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不能在 PowerPoint 內修訂。</a:t>
              </a:r>
            </a:p>
          </p:txBody>
        </p:sp>
      </p:grpSp>
      <p:grpSp>
        <p:nvGrpSpPr>
          <p:cNvPr id="9" name="sit-takeaway"/>
          <p:cNvGrpSpPr/>
          <p:nvPr/>
        </p:nvGrpSpPr>
        <p:grpSpPr>
          <a:xfrm>
            <a:off x="755904" y="4914900"/>
            <a:ext cx="2919984" cy="234696"/>
            <a:chOff x="755904" y="4914900"/>
            <a:chExt cx="2919984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755904" y="491490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200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會後須修訂的是文字與形狀，不是截圖。</a:t>
              </a:r>
            </a:p>
          </p:txBody>
        </p:sp>
      </p:grpSp>
      <p:grpSp>
        <p:nvGrpSpPr>
          <p:cNvPr id="11" name="sit-photo"/>
          <p:cNvGrpSpPr/>
          <p:nvPr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33333" t="0" r="0" b="0"/>
            <a:stretch>
              <a:fillRect/>
            </a:stretch>
          </p:blipFill>
          <p:spPr>
            <a:xfrm>
              <a:off x="5334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755904" y="6413500"/>
            <a:ext cx="1759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K" sz="1200" dirty="0">
                <a:solidFill>
                  <a:srgbClr val="5C6570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of-rail"/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123B5C"/>
          </a:solidFill>
          <a:ln>
            <a:noFill/>
          </a:ln>
        </p:spPr>
      </p:sp>
      <p:grpSp>
        <p:nvGrpSpPr>
          <p:cNvPr id="5" name="proof-header"/>
          <p:cNvGrpSpPr/>
          <p:nvPr/>
        </p:nvGrpSpPr>
        <p:grpSpPr>
          <a:xfrm>
            <a:off x="899160" y="584200"/>
            <a:ext cx="8954948" cy="957707"/>
            <a:chOff x="899160" y="584200"/>
            <a:chExt cx="8954948" cy="957707"/>
          </a:xfrm>
        </p:grpSpPr>
        <p:sp>
          <p:nvSpPr>
            <p:cNvPr id="3" name="TextBox 3"/>
            <p:cNvSpPr txBox="1"/>
            <p:nvPr/>
          </p:nvSpPr>
          <p:spPr>
            <a:xfrm>
              <a:off x="899160" y="584200"/>
              <a:ext cx="89549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本範本四頁均為可點選的 DrawingML 形狀與文字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6018" y="1219200"/>
              <a:ext cx="63087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Every page in this file is selectable DrawingML, not a picture of a slide</a:t>
              </a:r>
            </a:p>
          </p:txBody>
        </p:sp>
      </p:grpSp>
      <p:grpSp>
        <p:nvGrpSpPr>
          <p:cNvPr id="9" name="proof-a"/>
          <p:cNvGrpSpPr/>
          <p:nvPr/>
        </p:nvGrpSpPr>
        <p:grpSpPr>
          <a:xfrm>
            <a:off x="914400" y="2222500"/>
            <a:ext cx="5865484" cy="712470"/>
            <a:chOff x="914400" y="2222500"/>
            <a:chExt cx="5865484" cy="712470"/>
          </a:xfrm>
        </p:grpSpPr>
        <p:sp>
          <p:nvSpPr>
            <p:cNvPr id="6" name="Rectangle 6"/>
            <p:cNvSpPr/>
            <p:nvPr/>
          </p:nvSpPr>
          <p:spPr>
            <a:xfrm>
              <a:off x="914400" y="2247900"/>
              <a:ext cx="76200" cy="457200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2222500"/>
              <a:ext cx="5141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8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身份為 Harbour Professional，海軍藍與暖紙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1580" y="2641600"/>
              <a:ext cx="556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Navy, warm paper and JhengHei — not a Mainland SOE chrome set</a:t>
              </a:r>
            </a:p>
          </p:txBody>
        </p:sp>
      </p:grpSp>
      <p:grpSp>
        <p:nvGrpSpPr>
          <p:cNvPr id="13" name="proof-b"/>
          <p:cNvGrpSpPr/>
          <p:nvPr/>
        </p:nvGrpSpPr>
        <p:grpSpPr>
          <a:xfrm>
            <a:off x="914400" y="3556000"/>
            <a:ext cx="6430731" cy="712470"/>
            <a:chOff x="914400" y="3556000"/>
            <a:chExt cx="6430731" cy="712470"/>
          </a:xfrm>
        </p:grpSpPr>
        <p:sp>
          <p:nvSpPr>
            <p:cNvPr id="10" name="Rectangle 10"/>
            <p:cNvSpPr/>
            <p:nvPr/>
          </p:nvSpPr>
          <p:spPr>
            <a:xfrm>
              <a:off x="914400" y="3581400"/>
              <a:ext cx="76200" cy="457200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0056" y="3556000"/>
              <a:ext cx="5120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8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語言標籤為 zh-HK，Office 採用香港繁體校對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580" y="3975100"/>
              <a:ext cx="61335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Deck language is zh-HK so Office proofs Traditional Chinese for Hong Kong</a:t>
              </a:r>
            </a:p>
          </p:txBody>
        </p:sp>
      </p:grpSp>
      <p:grpSp>
        <p:nvGrpSpPr>
          <p:cNvPr id="17" name="proof-c"/>
          <p:cNvGrpSpPr/>
          <p:nvPr/>
        </p:nvGrpSpPr>
        <p:grpSpPr>
          <a:xfrm>
            <a:off x="914400" y="4889500"/>
            <a:ext cx="7401893" cy="712470"/>
            <a:chOff x="914400" y="4889500"/>
            <a:chExt cx="7401893" cy="712470"/>
          </a:xfrm>
        </p:grpSpPr>
        <p:sp>
          <p:nvSpPr>
            <p:cNvPr id="14" name="Rectangle 14"/>
            <p:cNvSpPr/>
            <p:nvPr/>
          </p:nvSpPr>
          <p:spPr>
            <a:xfrm>
              <a:off x="914400" y="4914900"/>
              <a:ext cx="76200" cy="457200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0056" y="4889500"/>
              <a:ext cx="47251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8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輸出可在 PowerPoint 續改，無需重做截圖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1580" y="5308600"/>
              <a:ext cx="7104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The export stays editable in PowerPoint; it does not need to be rebuilt as a screenshot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08304" y="6413500"/>
            <a:ext cx="1759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K" sz="1200" dirty="0">
                <a:solidFill>
                  <a:srgbClr val="5C6570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sk-bar"/>
          <p:cNvSpPr/>
          <p:nvPr/>
        </p:nvSpPr>
        <p:spPr>
          <a:xfrm>
            <a:off x="914400" y="1676400"/>
            <a:ext cx="76200" cy="2667000"/>
          </a:xfrm>
          <a:prstGeom prst="rect">
            <a:avLst/>
          </a:prstGeom>
          <a:solidFill>
            <a:srgbClr val="B8860B"/>
          </a:solidFill>
          <a:ln>
            <a:noFill/>
          </a:ln>
        </p:spPr>
      </p:sp>
      <p:grpSp>
        <p:nvGrpSpPr>
          <p:cNvPr id="4" name="ask-kicker"/>
          <p:cNvGrpSpPr/>
          <p:nvPr/>
        </p:nvGrpSpPr>
        <p:grpSpPr>
          <a:xfrm>
            <a:off x="1213104" y="965200"/>
            <a:ext cx="1256824" cy="234696"/>
            <a:chOff x="1213104" y="965200"/>
            <a:chExt cx="1256824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1213104" y="965200"/>
              <a:ext cx="125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200" dirty="0">
                  <a:solidFill>
                    <a:srgbClr val="D5D0C8"/>
                  </a:solidFill>
                  <a:latin typeface="+mj-lt"/>
                  <a:ea typeface="+mj-ea"/>
                  <a:cs typeface="+mj-cs"/>
                </a:rPr>
                <a:t>建議 · 下次會議前</a:t>
              </a:r>
            </a:p>
          </p:txBody>
        </p:sp>
      </p:grpSp>
      <p:grpSp>
        <p:nvGrpSpPr>
          <p:cNvPr id="6" name="ask-title"/>
          <p:cNvGrpSpPr/>
          <p:nvPr/>
        </p:nvGrpSpPr>
        <p:grpSpPr>
          <a:xfrm>
            <a:off x="1203960" y="1917700"/>
            <a:ext cx="7612380" cy="586740"/>
            <a:chOff x="1203960" y="1917700"/>
            <a:chExt cx="761238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1203960" y="1917700"/>
              <a:ext cx="7612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請於下次會議前以本範本產出</a:t>
              </a:r>
              <a:r>
                <a:rPr lang="zh-HK" sz="3000" b="1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可編輯 PPTX</a:t>
              </a:r>
            </a:p>
          </p:txBody>
        </p:sp>
      </p:grpSp>
      <p:grpSp>
        <p:nvGrpSpPr>
          <p:cNvPr id="8" name="ask-support"/>
          <p:cNvGrpSpPr/>
          <p:nvPr/>
        </p:nvGrpSpPr>
        <p:grpSpPr>
          <a:xfrm>
            <a:off x="1210818" y="2781300"/>
            <a:ext cx="7488715" cy="322707"/>
            <a:chOff x="1210818" y="2781300"/>
            <a:chExt cx="7488715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1210818" y="2781300"/>
              <a:ext cx="7488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4F1EC"/>
                  </a:solidFill>
                  <a:latin typeface="+mj-lt"/>
                  <a:ea typeface="+mj-ea"/>
                  <a:cs typeface="+mj-cs"/>
                </a:rPr>
                <a:t>Please issue the next committee pack as an editable PPTX before the next meeting</a:t>
              </a:r>
            </a:p>
          </p:txBody>
        </p:sp>
      </p:grpSp>
      <p:grpSp>
        <p:nvGrpSpPr>
          <p:cNvPr id="10" name="ask-action"/>
          <p:cNvGrpSpPr/>
          <p:nvPr/>
        </p:nvGrpSpPr>
        <p:grpSpPr>
          <a:xfrm>
            <a:off x="1210056" y="3517900"/>
            <a:ext cx="5618988" cy="1114044"/>
            <a:chOff x="1210056" y="3517900"/>
            <a:chExt cx="5618988" cy="1114044"/>
          </a:xfrm>
        </p:grpSpPr>
        <p:sp>
          <p:nvSpPr>
            <p:cNvPr id="9" name="TextBox 9"/>
            <p:cNvSpPr txBox="1"/>
            <p:nvPr/>
          </p:nvSpPr>
          <p:spPr>
            <a:xfrm>
              <a:off x="1210056" y="3517900"/>
              <a:ext cx="5618988" cy="1114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建議秘書處於下次會議前，按本範本產出可編輯 PPTX。</a:t>
              </a:r>
              <a:b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檔案共四頁，限時八分鐘。</a:t>
              </a:r>
              <a:b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 28 October 2026 起作為委員會文件的交付標準。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3104" y="6184900"/>
            <a:ext cx="1759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K" sz="1200" dirty="0">
                <a:solidFill>
                  <a:srgbClr val="D5D0C8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k_native_pptx_brief">
  <a:themeElements>
    <a:clrScheme name="hk_native_pptx_brie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k_native_pptx_brief">
      <a:majorFont>
        <a:latin typeface="Calibri"/>
        <a:ea typeface="Microsoft JhengHei"/>
        <a:cs typeface="Calibr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Microsoft JhengHe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k_native_pptx_brie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zh-HK</dc:language>
  <cp:lastModifiedBy/>
  <cp:revision>1</cp:revision>
  <dcterms:created xsi:type="dcterms:W3CDTF">2026-10-28T06:22:29Z</dcterms:created>
  <dcterms:modified xsi:type="dcterms:W3CDTF">2026-10-28T06:22:29Z</dcterms:modified>
  <cp:category/>
  <cp:contentStatus/>
</cp:coreProperties>
</file>