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16x9"/>
  <p:notesSz cx="6858000" cy="9144000"/>
  <p:defaultTextStyle>
    <a:defPPr>
      <a:defRPr lang="zh-HK"/>
    </a:defPPr>
    <a:lvl1pPr marL="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HK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ai_native_pptx_brief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HK" smtClean="0"/>
              <a:t>1/27/13</a:t>
            </a:fld>
            <a:endParaRPr lang="zh-H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HK" smtClean="0"/>
              <a:t>‹#›</a:t>
            </a:fld>
            <a:endParaRPr lang="zh-HK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ai_native_pptx_brief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HK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HK" smtClean="0"/>
              <a:t>1/27/13</a:t>
            </a:fld>
            <a:endParaRPr lang="zh-H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HK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H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HK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HK" smtClean="0"/>
              <a:t>‹#›</a:t>
            </a:fld>
            <a:endParaRPr lang="zh-HK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HK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HK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HK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HK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HK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HK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HK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HK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HK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HK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K"/>
      </a:defPPr>
      <a:lvl1pPr marL="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HK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bar"/>
          <p:cNvSpPr/>
          <p:nvPr/>
        </p:nvSpPr>
        <p:spPr>
          <a:xfrm>
            <a:off x="914400" y="1790700"/>
            <a:ext cx="76200" cy="2552700"/>
          </a:xfrm>
          <a:prstGeom prst="rect">
            <a:avLst/>
          </a:prstGeom>
          <a:solidFill>
            <a:srgbClr val="B8860B"/>
          </a:solidFill>
          <a:ln>
            <a:noFill/>
          </a:ln>
        </p:spPr>
      </p:sp>
      <p:grpSp>
        <p:nvGrpSpPr>
          <p:cNvPr id="4" name="cover-kicker"/>
          <p:cNvGrpSpPr/>
          <p:nvPr/>
        </p:nvGrpSpPr>
        <p:grpSpPr>
          <a:xfrm>
            <a:off x="1213104" y="1022350"/>
            <a:ext cx="2174860" cy="234696"/>
            <a:chOff x="1213104" y="1022350"/>
            <a:chExt cx="2174860" cy="234696"/>
          </a:xfrm>
        </p:grpSpPr>
        <p:sp>
          <p:nvSpPr>
            <p:cNvPr id="3" name="TextBox 3"/>
            <p:cNvSpPr txBox="1"/>
            <p:nvPr/>
          </p:nvSpPr>
          <p:spPr>
            <a:xfrm>
              <a:off x="1213104" y="1022350"/>
              <a:ext cx="21748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5D0C8"/>
                  </a:solidFill>
                  <a:latin typeface="+mj-lt"/>
                  <a:ea typeface="+mj-ea"/>
                  <a:cs typeface="+mj-cs"/>
                </a:rPr>
                <a:t>QUICK GENERATE | 8 MINUTES</a:t>
              </a:r>
            </a:p>
          </p:txBody>
        </p:sp>
      </p:grpSp>
      <p:grpSp>
        <p:nvGrpSpPr>
          <p:cNvPr id="6" name="cover-title"/>
          <p:cNvGrpSpPr/>
          <p:nvPr/>
        </p:nvGrpSpPr>
        <p:grpSpPr>
          <a:xfrm>
            <a:off x="1200150" y="1917700"/>
            <a:ext cx="5504974" cy="1447800"/>
            <a:chOff x="1200150" y="1917700"/>
            <a:chExt cx="5504974" cy="1447800"/>
          </a:xfrm>
        </p:grpSpPr>
        <p:sp>
          <p:nvSpPr>
            <p:cNvPr id="5" name="TextBox 5"/>
            <p:cNvSpPr txBox="1"/>
            <p:nvPr/>
          </p:nvSpPr>
          <p:spPr>
            <a:xfrm>
              <a:off x="1200150" y="1917700"/>
              <a:ext cx="5504974" cy="144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5400"/>
                </a:lnSpc>
              </a:pPr>
              <a:r>
                <a:rPr lang="zh-HK" sz="3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真正可改的 PowerPoint</a:t>
              </a:r>
              <a:br>
                <a:rPr lang="zh-HK" sz="3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</a:br>
              <a:r>
                <a:rPr lang="zh-HK" sz="3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不是幻燈片圖片</a:t>
              </a:r>
            </a:p>
          </p:txBody>
        </p:sp>
      </p:grpSp>
      <p:grpSp>
        <p:nvGrpSpPr>
          <p:cNvPr id="8" name="cover-support"/>
          <p:cNvGrpSpPr/>
          <p:nvPr/>
        </p:nvGrpSpPr>
        <p:grpSpPr>
          <a:xfrm>
            <a:off x="1210818" y="3848100"/>
            <a:ext cx="6248585" cy="322707"/>
            <a:chOff x="1210818" y="3848100"/>
            <a:chExt cx="6248585" cy="322707"/>
          </a:xfrm>
        </p:grpSpPr>
        <p:sp>
          <p:nvSpPr>
            <p:cNvPr id="7" name="TextBox 7"/>
            <p:cNvSpPr txBox="1"/>
            <p:nvPr/>
          </p:nvSpPr>
          <p:spPr>
            <a:xfrm>
              <a:off x="1210818" y="3848100"/>
              <a:ext cx="62485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F4F1EC"/>
                  </a:solidFill>
                  <a:latin typeface="+mj-lt"/>
                  <a:ea typeface="+mj-ea"/>
                  <a:cs typeface="+mj-cs"/>
                </a:rPr>
                <a:t>A native PPTX from an AI agent - four pages, Traditional Chinese first</a:t>
              </a:r>
            </a:p>
          </p:txBody>
        </p:sp>
      </p:grpSp>
      <p:grpSp>
        <p:nvGrpSpPr>
          <p:cNvPr id="10" name="cover-meta"/>
          <p:cNvGrpSpPr/>
          <p:nvPr/>
        </p:nvGrpSpPr>
        <p:grpSpPr>
          <a:xfrm>
            <a:off x="1213104" y="6019800"/>
            <a:ext cx="2717926" cy="234696"/>
            <a:chOff x="1213104" y="6019800"/>
            <a:chExt cx="2717926" cy="234696"/>
          </a:xfrm>
        </p:grpSpPr>
        <p:sp>
          <p:nvSpPr>
            <p:cNvPr id="9" name="TextBox 9"/>
            <p:cNvSpPr txBox="1"/>
            <p:nvPr/>
          </p:nvSpPr>
          <p:spPr>
            <a:xfrm>
              <a:off x="1213104" y="6019800"/>
              <a:ext cx="27179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5D0C8"/>
                  </a:solidFill>
                  <a:latin typeface="+mn-lt"/>
                  <a:ea typeface="+mn-ea"/>
                  <a:cs typeface="+mn-cs"/>
                </a:rPr>
                <a:t>Harbour Professional | 2026-10-28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t-rail"/>
          <p:cNvSpPr/>
          <p:nvPr/>
        </p:nvSpPr>
        <p:spPr>
          <a:xfrm>
            <a:off x="0" y="0"/>
            <a:ext cx="533400" cy="6858000"/>
          </a:xfrm>
          <a:prstGeom prst="rect">
            <a:avLst/>
          </a:prstGeom>
          <a:solidFill>
            <a:srgbClr val="123B5C"/>
          </a:solidFill>
          <a:ln>
            <a:noFill/>
          </a:ln>
        </p:spPr>
      </p:sp>
      <p:grpSp>
        <p:nvGrpSpPr>
          <p:cNvPr id="5" name="sit-header"/>
          <p:cNvGrpSpPr/>
          <p:nvPr/>
        </p:nvGrpSpPr>
        <p:grpSpPr>
          <a:xfrm>
            <a:off x="899160" y="622300"/>
            <a:ext cx="8511540" cy="957707"/>
            <a:chOff x="899160" y="622300"/>
            <a:chExt cx="8511540" cy="957707"/>
          </a:xfrm>
        </p:grpSpPr>
        <p:sp>
          <p:nvSpPr>
            <p:cNvPr id="3" name="TextBox 3"/>
            <p:cNvSpPr txBox="1"/>
            <p:nvPr/>
          </p:nvSpPr>
          <p:spPr>
            <a:xfrm>
              <a:off x="899160" y="622300"/>
              <a:ext cx="851154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3000" b="1" dirty="0">
                  <a:solidFill>
                    <a:srgbClr val="123B5C"/>
                  </a:solidFill>
                  <a:latin typeface="+mn-lt"/>
                  <a:ea typeface="+mn-ea"/>
                  <a:cs typeface="+mn-cs"/>
                </a:rPr>
                <a:t>香港簡報要結論先行、兩文層級、可帶走的檔案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06018" y="1257300"/>
              <a:ext cx="77235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C6570"/>
                  </a:solidFill>
                  <a:latin typeface="+mj-lt"/>
                  <a:ea typeface="+mj-ea"/>
                  <a:cs typeface="+mj-cs"/>
                </a:rPr>
                <a:t>HK rooms want the answer first, one language in the lead, and a file they can still edit</a:t>
              </a:r>
            </a:p>
          </p:txBody>
        </p:sp>
      </p:grpSp>
      <p:grpSp>
        <p:nvGrpSpPr>
          <p:cNvPr id="10" name="sit-point-1"/>
          <p:cNvGrpSpPr/>
          <p:nvPr/>
        </p:nvGrpSpPr>
        <p:grpSpPr>
          <a:xfrm>
            <a:off x="903732" y="2286000"/>
            <a:ext cx="1888236" cy="2715768"/>
            <a:chOff x="903732" y="2286000"/>
            <a:chExt cx="1888236" cy="2715768"/>
          </a:xfrm>
        </p:grpSpPr>
        <p:sp>
          <p:nvSpPr>
            <p:cNvPr id="6" name="Rectangle 6"/>
            <p:cNvSpPr/>
            <p:nvPr/>
          </p:nvSpPr>
          <p:spPr>
            <a:xfrm>
              <a:off x="914400" y="2286000"/>
              <a:ext cx="76200" cy="457200"/>
            </a:xfrm>
            <a:prstGeom prst="rect">
              <a:avLst/>
            </a:prstGeom>
            <a:solidFill>
              <a:srgbClr val="B8860B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132332" y="2374900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2100" b="1" dirty="0">
                  <a:solidFill>
                    <a:srgbClr val="123B5C"/>
                  </a:solidFill>
                  <a:latin typeface="+mn-lt"/>
                  <a:ea typeface="+mn-ea"/>
                  <a:cs typeface="+mn-cs"/>
                </a:rPr>
                <a:t>結論先行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06018" y="2971800"/>
              <a:ext cx="1590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1F6A7A"/>
                  </a:solidFill>
                  <a:latin typeface="+mj-lt"/>
                  <a:ea typeface="+mj-ea"/>
                  <a:cs typeface="+mj-cs"/>
                </a:rPr>
                <a:t>Key message first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03732" y="3390900"/>
              <a:ext cx="1888236" cy="16108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  <a:t>先給答案，再用</a:t>
              </a:r>
              <a:b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</a:br>
              <a: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  <a:t>一至三個支撐。</a:t>
              </a:r>
              <a:b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</a:br>
              <a: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  <a:t>長鋪墊在港式</a:t>
              </a:r>
              <a:b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</a:br>
              <a: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  <a:t>會議室是延遲。</a:t>
              </a:r>
            </a:p>
          </p:txBody>
        </p:sp>
      </p:grpSp>
      <p:grpSp>
        <p:nvGrpSpPr>
          <p:cNvPr id="15" name="sit-point-2"/>
          <p:cNvGrpSpPr/>
          <p:nvPr/>
        </p:nvGrpSpPr>
        <p:grpSpPr>
          <a:xfrm>
            <a:off x="4466082" y="2286000"/>
            <a:ext cx="2421636" cy="2715768"/>
            <a:chOff x="4466082" y="2286000"/>
            <a:chExt cx="2421636" cy="2715768"/>
          </a:xfrm>
        </p:grpSpPr>
        <p:sp>
          <p:nvSpPr>
            <p:cNvPr id="11" name="Rectangle 11"/>
            <p:cNvSpPr/>
            <p:nvPr/>
          </p:nvSpPr>
          <p:spPr>
            <a:xfrm>
              <a:off x="4476750" y="2286000"/>
              <a:ext cx="76200" cy="457200"/>
            </a:xfrm>
            <a:prstGeom prst="rect">
              <a:avLst/>
            </a:prstGeom>
            <a:solidFill>
              <a:srgbClr val="B8860B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94682" y="2374900"/>
              <a:ext cx="171754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2100" b="1" dirty="0">
                  <a:solidFill>
                    <a:srgbClr val="123B5C"/>
                  </a:solidFill>
                  <a:latin typeface="+mn-lt"/>
                  <a:ea typeface="+mn-ea"/>
                  <a:cs typeface="+mn-cs"/>
                </a:rPr>
                <a:t>一種語言主導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68368" y="2971800"/>
              <a:ext cx="178603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1F6A7A"/>
                  </a:solidFill>
                  <a:latin typeface="+mj-lt"/>
                  <a:ea typeface="+mj-ea"/>
                  <a:cs typeface="+mj-cs"/>
                </a:rPr>
                <a:t>One language leads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466082" y="3390900"/>
              <a:ext cx="2421636" cy="16108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  <a:t>繁體中文扛主句，</a:t>
              </a:r>
              <a:b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</a:br>
              <a: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  <a:t>英文做較小的副標。</a:t>
              </a:r>
              <a:b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</a:br>
              <a: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  <a:t>不要左右各半的</a:t>
              </a:r>
              <a:b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</a:br>
              <a: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  <a:t>翻譯欄。</a:t>
              </a:r>
            </a:p>
          </p:txBody>
        </p:sp>
      </p:grpSp>
      <p:grpSp>
        <p:nvGrpSpPr>
          <p:cNvPr id="20" name="sit-point-3"/>
          <p:cNvGrpSpPr/>
          <p:nvPr/>
        </p:nvGrpSpPr>
        <p:grpSpPr>
          <a:xfrm>
            <a:off x="8028432" y="2286000"/>
            <a:ext cx="2261616" cy="2315718"/>
            <a:chOff x="8028432" y="2286000"/>
            <a:chExt cx="2261616" cy="2315718"/>
          </a:xfrm>
        </p:grpSpPr>
        <p:sp>
          <p:nvSpPr>
            <p:cNvPr id="16" name="Rectangle 16"/>
            <p:cNvSpPr/>
            <p:nvPr/>
          </p:nvSpPr>
          <p:spPr>
            <a:xfrm>
              <a:off x="8039100" y="2286000"/>
              <a:ext cx="76200" cy="457200"/>
            </a:xfrm>
            <a:prstGeom prst="rect">
              <a:avLst/>
            </a:prstGeom>
            <a:solidFill>
              <a:srgbClr val="B886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257032" y="2374900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2100" b="1" dirty="0">
                  <a:solidFill>
                    <a:srgbClr val="123B5C"/>
                  </a:solidFill>
                  <a:latin typeface="+mn-lt"/>
                  <a:ea typeface="+mn-ea"/>
                  <a:cs typeface="+mn-cs"/>
                </a:rPr>
                <a:t>原生可改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030718" y="2971800"/>
              <a:ext cx="178613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1F6A7A"/>
                  </a:solidFill>
                  <a:latin typeface="+mj-lt"/>
                  <a:ea typeface="+mj-ea"/>
                  <a:cs typeface="+mj-cs"/>
                </a:rPr>
                <a:t>Native and editable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028432" y="3390900"/>
              <a:ext cx="2261616" cy="12108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150"/>
                </a:lnSpc>
              </a:pPr>
              <a: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  <a:t>要的是 DrawingML</a:t>
              </a:r>
              <a:b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</a:br>
              <a: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  <a:t>形狀與文字，不是</a:t>
              </a:r>
              <a:b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</a:br>
              <a:r>
                <a:rPr lang="zh-HK" sz="2100" dirty="0">
                  <a:solidFill>
                    <a:srgbClr val="1A1F24"/>
                  </a:solidFill>
                  <a:latin typeface="+mn-lt"/>
                  <a:ea typeface="+mn-ea"/>
                  <a:cs typeface="+mn-cs"/>
                </a:rPr>
                <a:t>一張全頁截圖。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908304" y="640080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HK" sz="1200" dirty="0">
                <a:solidFill>
                  <a:srgbClr val="5C657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of-rail"/>
          <p:cNvSpPr/>
          <p:nvPr/>
        </p:nvSpPr>
        <p:spPr>
          <a:xfrm>
            <a:off x="0" y="0"/>
            <a:ext cx="533400" cy="6858000"/>
          </a:xfrm>
          <a:prstGeom prst="rect">
            <a:avLst/>
          </a:prstGeom>
          <a:solidFill>
            <a:srgbClr val="123B5C"/>
          </a:solidFill>
          <a:ln>
            <a:noFill/>
          </a:ln>
        </p:spPr>
      </p:sp>
      <p:grpSp>
        <p:nvGrpSpPr>
          <p:cNvPr id="5" name="proof-header"/>
          <p:cNvGrpSpPr/>
          <p:nvPr/>
        </p:nvGrpSpPr>
        <p:grpSpPr>
          <a:xfrm>
            <a:off x="899160" y="622300"/>
            <a:ext cx="7208520" cy="957707"/>
            <a:chOff x="899160" y="622300"/>
            <a:chExt cx="7208520" cy="957707"/>
          </a:xfrm>
        </p:grpSpPr>
        <p:sp>
          <p:nvSpPr>
            <p:cNvPr id="3" name="TextBox 3"/>
            <p:cNvSpPr txBox="1"/>
            <p:nvPr/>
          </p:nvSpPr>
          <p:spPr>
            <a:xfrm>
              <a:off x="899160" y="622300"/>
              <a:ext cx="720852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3000" b="1" dirty="0">
                  <a:solidFill>
                    <a:srgbClr val="123B5C"/>
                  </a:solidFill>
                  <a:latin typeface="+mn-lt"/>
                  <a:ea typeface="+mn-ea"/>
                  <a:cs typeface="+mn-cs"/>
                </a:rPr>
                <a:t>這次試跑：聊天即可產出原生四頁 PPTX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906018" y="1257300"/>
              <a:ext cx="58415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C6570"/>
                  </a:solidFill>
                  <a:latin typeface="+mj-lt"/>
                  <a:ea typeface="+mj-ea"/>
                  <a:cs typeface="+mj-cs"/>
                </a:rPr>
                <a:t>This pass: a native four-page PPTX from one Quick Generate run</a:t>
              </a:r>
            </a:p>
          </p:txBody>
        </p:sp>
      </p:grpSp>
      <p:grpSp>
        <p:nvGrpSpPr>
          <p:cNvPr id="9" name="proof-a"/>
          <p:cNvGrpSpPr/>
          <p:nvPr/>
        </p:nvGrpSpPr>
        <p:grpSpPr>
          <a:xfrm>
            <a:off x="903732" y="2374900"/>
            <a:ext cx="7249851" cy="767207"/>
            <a:chOff x="903732" y="2374900"/>
            <a:chExt cx="7249851" cy="767207"/>
          </a:xfrm>
        </p:grpSpPr>
        <p:sp>
          <p:nvSpPr>
            <p:cNvPr id="6" name="TextBox 6"/>
            <p:cNvSpPr txBox="1"/>
            <p:nvPr/>
          </p:nvSpPr>
          <p:spPr>
            <a:xfrm>
              <a:off x="903732" y="2374900"/>
              <a:ext cx="34785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2100" b="1" dirty="0">
                  <a:solidFill>
                    <a:srgbClr val="B8860B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589532" y="2374900"/>
              <a:ext cx="656405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2100" b="1" dirty="0">
                  <a:solidFill>
                    <a:srgbClr val="123B5C"/>
                  </a:solidFill>
                  <a:latin typeface="+mn-lt"/>
                  <a:ea typeface="+mn-ea"/>
                  <a:cs typeface="+mn-cs"/>
                </a:rPr>
                <a:t>身份是 Harbour Professional，不是內地紅金模板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591818" y="2819400"/>
              <a:ext cx="56566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C6570"/>
                  </a:solidFill>
                  <a:latin typeface="+mj-lt"/>
                  <a:ea typeface="+mj-ea"/>
                  <a:cs typeface="+mj-cs"/>
                </a:rPr>
                <a:t>Navy, warm paper, JhengHei - not a Mainland SOE chrome set</a:t>
              </a:r>
            </a:p>
          </p:txBody>
        </p:sp>
      </p:grpSp>
      <p:grpSp>
        <p:nvGrpSpPr>
          <p:cNvPr id="13" name="proof-b"/>
          <p:cNvGrpSpPr/>
          <p:nvPr/>
        </p:nvGrpSpPr>
        <p:grpSpPr>
          <a:xfrm>
            <a:off x="903732" y="3517900"/>
            <a:ext cx="7352212" cy="767207"/>
            <a:chOff x="903732" y="3517900"/>
            <a:chExt cx="7352212" cy="767207"/>
          </a:xfrm>
        </p:grpSpPr>
        <p:sp>
          <p:nvSpPr>
            <p:cNvPr id="10" name="TextBox 10"/>
            <p:cNvSpPr txBox="1"/>
            <p:nvPr/>
          </p:nvSpPr>
          <p:spPr>
            <a:xfrm>
              <a:off x="903732" y="3517900"/>
              <a:ext cx="34785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2100" b="1" dirty="0">
                  <a:solidFill>
                    <a:srgbClr val="B8860B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89532" y="3517900"/>
              <a:ext cx="569115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2100" b="1" dirty="0">
                  <a:solidFill>
                    <a:srgbClr val="123B5C"/>
                  </a:solidFill>
                  <a:latin typeface="+mn-lt"/>
                  <a:ea typeface="+mn-ea"/>
                  <a:cs typeface="+mn-cs"/>
                </a:rPr>
                <a:t>語言標籤是 zh-HK，Office 走香港繁體校對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91818" y="3962400"/>
              <a:ext cx="66641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C6570"/>
                  </a:solidFill>
                  <a:latin typeface="+mj-lt"/>
                  <a:ea typeface="+mj-ea"/>
                  <a:cs typeface="+mj-cs"/>
                </a:rPr>
                <a:t>Deck language zh-HK so proofing and East-Asian fonts land on Hong Kong</a:t>
              </a:r>
            </a:p>
          </p:txBody>
        </p:sp>
      </p:grpSp>
      <p:grpSp>
        <p:nvGrpSpPr>
          <p:cNvPr id="17" name="proof-c"/>
          <p:cNvGrpSpPr/>
          <p:nvPr/>
        </p:nvGrpSpPr>
        <p:grpSpPr>
          <a:xfrm>
            <a:off x="903732" y="4660900"/>
            <a:ext cx="7329265" cy="767207"/>
            <a:chOff x="903732" y="4660900"/>
            <a:chExt cx="7329265" cy="767207"/>
          </a:xfrm>
        </p:grpSpPr>
        <p:sp>
          <p:nvSpPr>
            <p:cNvPr id="14" name="TextBox 14"/>
            <p:cNvSpPr txBox="1"/>
            <p:nvPr/>
          </p:nvSpPr>
          <p:spPr>
            <a:xfrm>
              <a:off x="903732" y="4660900"/>
              <a:ext cx="34785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2100" b="1" dirty="0">
                  <a:solidFill>
                    <a:srgbClr val="B8860B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89532" y="4660900"/>
              <a:ext cx="664346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2100" b="1" dirty="0">
                  <a:solidFill>
                    <a:srgbClr val="123B5C"/>
                  </a:solidFill>
                  <a:latin typeface="+mn-lt"/>
                  <a:ea typeface="+mn-ea"/>
                  <a:cs typeface="+mn-cs"/>
                </a:rPr>
                <a:t>輸出是可點選的形狀與文字，可在 PowerPoint 續改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1818" y="5105400"/>
              <a:ext cx="61299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5C6570"/>
                  </a:solidFill>
                  <a:latin typeface="+mj-lt"/>
                  <a:ea typeface="+mj-ea"/>
                  <a:cs typeface="+mj-cs"/>
                </a:rPr>
                <a:t>Export is native shapes and text you can keep editing in PowerPoint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908304" y="640080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HK" sz="1200" dirty="0">
                <a:solidFill>
                  <a:srgbClr val="5C657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sk-bar"/>
          <p:cNvSpPr/>
          <p:nvPr/>
        </p:nvSpPr>
        <p:spPr>
          <a:xfrm>
            <a:off x="914400" y="1790700"/>
            <a:ext cx="76200" cy="2095500"/>
          </a:xfrm>
          <a:prstGeom prst="rect">
            <a:avLst/>
          </a:prstGeom>
          <a:solidFill>
            <a:srgbClr val="B8860B"/>
          </a:solidFill>
          <a:ln>
            <a:noFill/>
          </a:ln>
        </p:spPr>
      </p:sp>
      <p:grpSp>
        <p:nvGrpSpPr>
          <p:cNvPr id="4" name="ask-kicker"/>
          <p:cNvGrpSpPr/>
          <p:nvPr/>
        </p:nvGrpSpPr>
        <p:grpSpPr>
          <a:xfrm>
            <a:off x="1213104" y="1022350"/>
            <a:ext cx="1235035" cy="234696"/>
            <a:chOff x="1213104" y="1022350"/>
            <a:chExt cx="1235035" cy="234696"/>
          </a:xfrm>
        </p:grpSpPr>
        <p:sp>
          <p:nvSpPr>
            <p:cNvPr id="3" name="TextBox 3"/>
            <p:cNvSpPr txBox="1"/>
            <p:nvPr/>
          </p:nvSpPr>
          <p:spPr>
            <a:xfrm>
              <a:off x="1213104" y="1022350"/>
              <a:ext cx="12350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5D0C8"/>
                  </a:solidFill>
                  <a:latin typeface="+mj-lt"/>
                  <a:ea typeface="+mj-ea"/>
                  <a:cs typeface="+mj-cs"/>
                </a:rPr>
                <a:t>NEXT STEP | Q&amp;A</a:t>
              </a:r>
            </a:p>
          </p:txBody>
        </p:sp>
      </p:grpSp>
      <p:grpSp>
        <p:nvGrpSpPr>
          <p:cNvPr id="7" name="ask-title"/>
          <p:cNvGrpSpPr/>
          <p:nvPr/>
        </p:nvGrpSpPr>
        <p:grpSpPr>
          <a:xfrm>
            <a:off x="1203960" y="2032000"/>
            <a:ext cx="7875224" cy="1033907"/>
            <a:chOff x="1203960" y="2032000"/>
            <a:chExt cx="7875224" cy="1033907"/>
          </a:xfrm>
        </p:grpSpPr>
        <p:sp>
          <p:nvSpPr>
            <p:cNvPr id="5" name="TextBox 5"/>
            <p:cNvSpPr txBox="1"/>
            <p:nvPr/>
          </p:nvSpPr>
          <p:spPr>
            <a:xfrm>
              <a:off x="1203960" y="2032000"/>
              <a:ext cx="787522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HK" sz="3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下一步：在本機 PowerPoint 打開這份檔案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210818" y="2743200"/>
              <a:ext cx="53886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F4F1EC"/>
                  </a:solidFill>
                  <a:latin typeface="+mj-lt"/>
                  <a:ea typeface="+mj-ea"/>
                  <a:cs typeface="+mj-cs"/>
                </a:rPr>
                <a:t>Open the exported PPTX on your machine and keep editing</a:t>
              </a:r>
            </a:p>
          </p:txBody>
        </p:sp>
      </p:grpSp>
      <p:grpSp>
        <p:nvGrpSpPr>
          <p:cNvPr id="10" name="ask-action"/>
          <p:cNvGrpSpPr/>
          <p:nvPr/>
        </p:nvGrpSpPr>
        <p:grpSpPr>
          <a:xfrm>
            <a:off x="1208532" y="3657600"/>
            <a:ext cx="6575126" cy="1389507"/>
            <a:chOff x="1208532" y="3657600"/>
            <a:chExt cx="6575126" cy="1389507"/>
          </a:xfrm>
        </p:grpSpPr>
        <p:sp>
          <p:nvSpPr>
            <p:cNvPr id="8" name="TextBox 8"/>
            <p:cNvSpPr txBox="1"/>
            <p:nvPr/>
          </p:nvSpPr>
          <p:spPr>
            <a:xfrm>
              <a:off x="1208532" y="3657600"/>
              <a:ext cx="5515356" cy="8679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600"/>
                </a:lnSpc>
              </a:pPr>
              <a:r>
                <a:rPr lang="zh-HK" sz="21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檔案在 projects/.../exports/ 目錄。</a:t>
              </a:r>
              <a:br>
                <a:rPr lang="zh-HK" sz="21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</a:br>
              <a:r>
                <a:rPr lang="zh-HK" sz="21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之後的真實簡報，回到 Cursor IDE 再跑一次。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10818" y="4724400"/>
              <a:ext cx="65728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D5D0C8"/>
                  </a:solidFill>
                  <a:latin typeface="+mj-lt"/>
                  <a:ea typeface="+mj-ea"/>
                  <a:cs typeface="+mj-cs"/>
                </a:rPr>
                <a:t>File lives under projects/.../exports/. Real decks: run again in Cursor IDE.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213104" y="624840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HK" sz="1200" dirty="0">
                <a:solidFill>
                  <a:srgbClr val="D5D0C8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ai_native_pptx_brief">
  <a:themeElements>
    <a:clrScheme name="ai_native_pptx_brief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i_native_pptx_brief">
      <a:majorFont>
        <a:latin typeface="Calibri"/>
        <a:ea typeface="Microsoft JhengHei"/>
        <a:cs typeface="Calibri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JhengHei"/>
        <a:ea typeface="Microsoft JhengHei"/>
        <a:cs typeface="Microsoft JhengHei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_native_pptx_brief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zh-HK</dc:language>
  <cp:lastModifiedBy/>
  <cp:revision>1</cp:revision>
  <dcterms:created xsi:type="dcterms:W3CDTF">2026-10-28T03:57:41Z</dcterms:created>
  <dcterms:modified xsi:type="dcterms:W3CDTF">2026-10-28T03:57:41Z</dcterms:modified>
  <cp:category/>
  <cp:contentStatus/>
</cp:coreProperties>
</file>