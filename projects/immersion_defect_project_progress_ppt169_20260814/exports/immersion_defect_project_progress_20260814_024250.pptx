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各位好。这是演示用虚构项目进展。总体完成百分之六十一点四，比基线落后三点八个百分点。阶段验收仍指向十二月十五日。关键路径已经从窗口摸底转到浸没头保养和边缘工程。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艺窗口百分之八十八超前，物料百分之八十一按期。检测策略百分之五十八，非图形和显影后检测的相关性只有零点六二，目标零点八零。设备清洁百分之四十四、边缘百分之三十九落后。五项决策要在八月二十一日前关掉，才能追回大约六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能力不是买一台检测机。底层是工艺窗口和物料，中间是设备健康和检测策略，上层才是边缘工程和量产资格。文献里这六包反复出现，不是SEMI强制模板，但够用来排关键路径。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进度条把落后说清楚：设备清洁百分之四十四，边缘百分之三十九，量产资格百分之二十二还没到窗口。超前项不能掩盖这两条短板。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非图形监控和水印计数的相关系数是零点六二，锁不住就无法用空白片代理图形缺陷。SEM 看不见比例从百分之二十八降到百分之二十二，内控仍要低于百分之十五。需要增加复核机时，并把分层规则推进统计过程控制。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S01 空白片九、S03 十一，S02 二十七，目标不超过十二。台面刚清洁过，气帘复测还没排进窗口。末镜雾度相对 S01 高一点八倍。周期清洗合格点预测再延七天。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最高风险是产能挤占保养窗口。其次是监控失真，以及用检测阈值制造虚假回收。疏水顶层涂膜可能把水印换成团状缺陷，先观察不要贸然切材料。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请当场表态五项：冻结阈值、给 S02 八小时保养、批准切边加宽试验、增加 SEM 机时、以及第三十五周密度仍高于零点二四就评估换头。不决策，年底资格包会失去升级路径。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project_progres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project_progres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7398" y="540068"/>
            <a:ext cx="5578602" cy="1279207"/>
            <a:chOff x="517398" y="540068"/>
            <a:chExt cx="5578602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3304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PROJECT REVIEW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879158"/>
              <a:ext cx="53750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浸没缺陷能力建设项目进展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4422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DEF-193I-24 ｜ 阶段验收 2026-12-15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2349818"/>
            <a:ext cx="2927604" cy="2296477"/>
            <a:chOff x="514350" y="2349818"/>
            <a:chExt cx="2927604" cy="229647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OVERALL COMPLETION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350" y="2960370"/>
              <a:ext cx="22898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61.4%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3901440"/>
              <a:ext cx="2744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较基线落后 3.8 个百分点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780" y="4352925"/>
              <a:ext cx="2916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关键路径：hood PM 与边缘工程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08142" y="3283268"/>
            <a:ext cx="5436108" cy="1788033"/>
            <a:chOff x="5708142" y="3283268"/>
            <a:chExt cx="5436108" cy="1788033"/>
          </a:xfrm>
        </p:grpSpPr>
        <p:sp>
          <p:nvSpPr>
            <p:cNvPr id="13" name="Freeform 13"/>
            <p:cNvSpPr/>
            <p:nvPr/>
          </p:nvSpPr>
          <p:spPr>
            <a:xfrm>
              <a:off x="5905500" y="3619500"/>
              <a:ext cx="5143500" cy="952500"/>
            </a:xfrm>
            <a:custGeom>
              <a:avLst/>
              <a:gdLst/>
              <a:ahLst/>
              <a:cxnLst/>
              <a:rect l="l" t="t" r="r" b="b"/>
              <a:pathLst>
                <a:path w="5143500" h="952500">
                  <a:moveTo>
                    <a:pt x="0" y="952500"/>
                  </a:moveTo>
                  <a:lnTo>
                    <a:pt x="1524000" y="952500"/>
                  </a:lnTo>
                  <a:lnTo>
                    <a:pt x="1524000" y="381000"/>
                  </a:lnTo>
                  <a:lnTo>
                    <a:pt x="3238500" y="381000"/>
                  </a:lnTo>
                  <a:lnTo>
                    <a:pt x="3238500" y="0"/>
                  </a:lnTo>
                  <a:lnTo>
                    <a:pt x="5143500" y="0"/>
                  </a:ln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829300" y="4495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353300" y="3924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67800" y="3543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953750" y="35242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08142" y="4807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窗口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3664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物料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51392" y="32832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Arial"/>
                  <a:ea typeface="Arial"/>
                  <a:cs typeface="Arial"/>
                </a:rPr>
                <a:t>hood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70642" y="3283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资格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23" name="Rectangle 23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3534" y="6236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71827"/>
                  </a:solidFill>
                  <a:latin typeface="Arial"/>
                  <a:ea typeface="Microsoft YaHei"/>
                  <a:cs typeface="Arial"/>
                </a:rPr>
                <a:t>演示用虚构案例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3120" y="62522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0670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窗口超前，关键路径在 hood 与边缘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P02 / 08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409700"/>
            <a:ext cx="3429000" cy="4762500"/>
            <a:chOff x="457200" y="1409700"/>
            <a:chExt cx="342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457200" y="1409700"/>
              <a:ext cx="3429000" cy="4762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942" y="1759268"/>
              <a:ext cx="1137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COMPLETION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750" y="2404110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61.4%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326707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落后 3.8 个百分点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7338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6656" y="4091940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按时决策可追回约 6 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6005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守住 12 月 15 日资格包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0" y="1409700"/>
            <a:ext cx="4051402" cy="4762500"/>
            <a:chOff x="4191000" y="1409700"/>
            <a:chExt cx="4051402" cy="4762500"/>
          </a:xfrm>
        </p:grpSpPr>
        <p:sp>
          <p:nvSpPr>
            <p:cNvPr id="15" name="Line 15"/>
            <p:cNvSpPr/>
            <p:nvPr/>
          </p:nvSpPr>
          <p:spPr>
            <a:xfrm>
              <a:off x="4267200" y="14097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191000" y="1828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2856" y="1786890"/>
              <a:ext cx="26231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进展 工艺窗口 88% 超前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4380" y="2162175"/>
              <a:ext cx="1721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物料规格 81% 按期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191000" y="2971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2856" y="2929890"/>
              <a:ext cx="20658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能力 检测策略 58%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4380" y="3305175"/>
              <a:ext cx="3429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非图形与 ADI 相关 0.62，目标 0.80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191000" y="4114800"/>
              <a:ext cx="152400" cy="15240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2856" y="4072890"/>
              <a:ext cx="28655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风险 设备 44% / 边缘 39%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4380" y="4448175"/>
              <a:ext cx="3172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S02 PWP 27，PM 窗口被产能挤占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191000" y="525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62856" y="5215890"/>
              <a:ext cx="36795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决策 D01–D05 须在 8 月 21 日前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4380" y="5591175"/>
              <a:ext cx="2735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冻结阈值，并给出 8 小时 PM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5889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六包闭环：工艺到 HVM 资格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P03 / 08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6858000" cy="3657600"/>
            <a:chOff x="762000" y="1905000"/>
            <a:chExt cx="6858000" cy="3657600"/>
          </a:xfrm>
        </p:grpSpPr>
        <p:sp>
          <p:nvSpPr>
            <p:cNvPr id="7" name="Rectangle 7"/>
            <p:cNvSpPr/>
            <p:nvPr/>
          </p:nvSpPr>
          <p:spPr>
            <a:xfrm>
              <a:off x="762000" y="1905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8BA9B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209169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HVM 资格 22%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667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356" y="285369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边缘工程 39% 检测策略 58%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429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FF6B6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3356" y="3615690"/>
              <a:ext cx="2320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设备清洁 / hood 44%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191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437769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物料与化学品 81%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953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3356" y="51396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工艺窗口与叠层 88%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63356" y="1854518"/>
            <a:ext cx="2272284" cy="3788283"/>
            <a:chOff x="8563356" y="1854518"/>
            <a:chExt cx="2272284" cy="3788283"/>
          </a:xfrm>
        </p:grpSpPr>
        <p:sp>
          <p:nvSpPr>
            <p:cNvPr id="18" name="TextBox 18"/>
            <p:cNvSpPr txBox="1"/>
            <p:nvPr/>
          </p:nvSpPr>
          <p:spPr>
            <a:xfrm>
              <a:off x="8565642" y="1854518"/>
              <a:ext cx="541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GATES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63356" y="23774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G1 窗口冻结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3356" y="29489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G2 物料点检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3356" y="35204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G3 工具健康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3356" y="4091940"/>
              <a:ext cx="1400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G4 监控相关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3356" y="4663440"/>
              <a:ext cx="11448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G5 资格包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5642" y="5378768"/>
              <a:ext cx="2269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文献工作包，非 SEMI 强制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4232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落后集中在设备清洁 44% 与边缘 39%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P04 / 08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0456" y="1676400"/>
            <a:ext cx="9458134" cy="3815334"/>
            <a:chOff x="600456" y="1676400"/>
            <a:chExt cx="9458134" cy="381533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710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工艺窗口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67000" y="16764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667000" y="1676400"/>
              <a:ext cx="6029325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69780" y="17049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88%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396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物料规格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67000" y="23622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7000" y="2362200"/>
              <a:ext cx="5553075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69780" y="23907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81%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3082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检测策略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30480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3048000"/>
              <a:ext cx="3971925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69780" y="30765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58%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3768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设备清洁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67000" y="37338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67000" y="3733800"/>
              <a:ext cx="3009900" cy="20955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69780" y="37623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44%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4453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边缘工程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667000" y="44196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67000" y="4419600"/>
              <a:ext cx="2667000" cy="20955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69780" y="44481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39%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513969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HVM 资格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667000" y="51054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67000" y="5105400"/>
              <a:ext cx="1504950" cy="209550"/>
            </a:xfrm>
            <a:prstGeom prst="rect">
              <a:avLst/>
            </a:prstGeom>
            <a:solidFill>
              <a:srgbClr val="8BA9B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69780" y="51339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22%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非图形监控尚未锁住 ADI 水印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P05 / 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" y="1805940"/>
            <a:ext cx="10763250" cy="3545205"/>
            <a:chOff x="666750" y="1805940"/>
            <a:chExt cx="10763250" cy="3545205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1805940"/>
              <a:ext cx="26239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非图形 vs ADI 水印相关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404110"/>
              <a:ext cx="134418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0.62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3139440"/>
              <a:ext cx="356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目标 0.80 ｜ M6 预测延后 7 天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7147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3996690"/>
              <a:ext cx="3807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SNV 28% → 22%（坐标补偿试点）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445389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内控仍要 &lt;15%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5057775"/>
              <a:ext cx="3525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DSA 当层/前层规则已草稿，未进 SPC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175500" y="2184400"/>
              <a:ext cx="203199" cy="203199"/>
              <a:chOff x="7175500" y="2184400"/>
              <a:chExt cx="203199" cy="20319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175500" y="2184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508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75500" y="23367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39428"/>
                      <a:pt x="11372" y="50800"/>
                      <a:pt x="25400" y="50800"/>
                    </a:cubicBez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27899" y="2184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327899" y="23367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50800"/>
                    </a:moveTo>
                    <a:lnTo>
                      <a:pt x="25400" y="50800"/>
                    </a:lnTo>
                    <a:cubicBezTo>
                      <a:pt x="39428" y="50800"/>
                      <a:pt x="50800" y="39428"/>
                      <a:pt x="50800" y="2540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26300" y="22352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96150" y="23050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5346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监测缺口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7080" y="2790825"/>
              <a:ext cx="1754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图形 ADI 捕获 91%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7080" y="32480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非图形相关未锁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7080" y="37052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SNV 治理停在试点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7080" y="4162425"/>
              <a:ext cx="2138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DUV 小缺陷能力未铺开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7080" y="47910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需要增补 SEM 机时 20%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57245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S02 PWP 仍是工具健康短板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P06 / 08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942" y="1644968"/>
            <a:ext cx="6179058" cy="3999166"/>
            <a:chOff x="678942" y="1644968"/>
            <a:chExt cx="6179058" cy="3999166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644968"/>
              <a:ext cx="1164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PWP #/wafer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5143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39624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400000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5904" y="37185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目标 ≤12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4257675"/>
              <a:ext cx="857250" cy="8858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98974" y="3981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1755" y="529209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476500"/>
              <a:ext cx="857250" cy="266700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38943" y="2200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27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37255" y="529209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24500" y="4057650"/>
              <a:ext cx="857250" cy="10858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34444" y="37814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32755" y="529209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63256" y="1901190"/>
            <a:ext cx="3099816" cy="2707005"/>
            <a:chOff x="7763256" y="1901190"/>
            <a:chExt cx="3099816" cy="2707005"/>
          </a:xfrm>
        </p:grpSpPr>
        <p:sp>
          <p:nvSpPr>
            <p:cNvPr id="21" name="TextBox 21"/>
            <p:cNvSpPr txBox="1"/>
            <p:nvPr/>
          </p:nvSpPr>
          <p:spPr>
            <a:xfrm>
              <a:off x="7763256" y="1901190"/>
              <a:ext cx="2642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S02 台面清洁 8 月 6 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63256" y="24726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hood 气帘复测仍未排入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3256" y="3044190"/>
              <a:ext cx="3093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末镜 haze 相对 S01 高 1.8×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4780" y="3838575"/>
              <a:ext cx="3098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M5 周期清洗合格预测 8 月 27 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64780" y="431482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再延 7 天，年底资格包承压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0418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产能挤占 PM 窗口是当前最高风险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P07 / 08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600200"/>
              <a:ext cx="11125200" cy="914400"/>
              <a:chOff x="533400" y="1600200"/>
              <a:chExt cx="11125200" cy="914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FF6B6B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9392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R01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95856" y="1939290"/>
                <a:ext cx="276083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hood PM 被产能挤占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954959" y="19716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FF6B6B"/>
                    </a:solidFill>
                    <a:latin typeface="Consolas"/>
                    <a:ea typeface="Microsoft YaHei"/>
                    <a:cs typeface="Consolas"/>
                  </a:rPr>
                  <a:t>高×高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33400" y="2667000"/>
              <a:ext cx="11125200" cy="914400"/>
              <a:chOff x="533400" y="2667000"/>
              <a:chExt cx="11125200" cy="914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26670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29056" y="30060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R02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95856" y="3006090"/>
                <a:ext cx="2642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非图形–ADI 相关锁不住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954959" y="30384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3"/>
                    </a:solidFill>
                    <a:latin typeface="Consolas"/>
                    <a:ea typeface="Microsoft YaHei"/>
                    <a:cs typeface="Consolas"/>
                  </a:rPr>
                  <a:t>中×高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733800"/>
              <a:ext cx="11125200" cy="914400"/>
              <a:chOff x="533400" y="3733800"/>
              <a:chExt cx="11125200" cy="914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37338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9056" y="40728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R03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95856" y="4072890"/>
                <a:ext cx="333801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疏水 topcoat 降水分但抬 blob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954959" y="41052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中×中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4800600"/>
              <a:ext cx="11125200" cy="914400"/>
              <a:chOff x="533400" y="4800600"/>
              <a:chExt cx="111252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48006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FF6B6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29056" y="51396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R04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95856" y="5139690"/>
                <a:ext cx="27578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用阈值制造虚假 D0 回收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954959" y="5172075"/>
                <a:ext cx="5301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FF6B6B"/>
                    </a:solidFill>
                    <a:latin typeface="Consolas"/>
                    <a:ea typeface="Microsoft YaHei"/>
                    <a:cs typeface="Consolas"/>
                  </a:rPr>
                  <a:t>中×高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262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17094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冻结阈值并给出 S02 的 8 小时 PM 窗口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P08 / 08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1524000"/>
            <a:ext cx="11125200" cy="4381500"/>
            <a:chOff x="533400" y="1524000"/>
            <a:chExt cx="11125200" cy="43815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524000"/>
              <a:ext cx="11125200" cy="800100"/>
              <a:chOff x="533400" y="1524000"/>
              <a:chExt cx="11125200" cy="8001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5240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53618" y="182213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D01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10868" y="1822132"/>
                <a:ext cx="250226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冻结 W35 前 recipe 阈值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84642" y="18545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08-16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27642" y="18545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回收曲线不可审计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2419350"/>
              <a:ext cx="11125200" cy="800100"/>
              <a:chOff x="533400" y="2419350"/>
              <a:chExt cx="11125200" cy="8001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41935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53618" y="271748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D02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10868" y="2717482"/>
                <a:ext cx="23637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给 8 小时 PM 窗口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84642" y="274986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08-18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27642" y="2749868"/>
                <a:ext cx="11178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M5 再延 7 天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33400" y="3314700"/>
              <a:ext cx="11125200" cy="800100"/>
              <a:chOff x="533400" y="3314700"/>
              <a:chExt cx="11125200" cy="8001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33147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53618" y="361283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D03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10868" y="3612832"/>
                <a:ext cx="284166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批准 EBR 加宽 0.3 mm 试验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84642" y="36452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08-21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27642" y="36452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边缘颗粒继续回运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4210050"/>
              <a:ext cx="11125200" cy="800100"/>
              <a:chOff x="533400" y="4210050"/>
              <a:chExt cx="11125200" cy="8001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33400" y="421005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53618" y="450818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D04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10868" y="4508182"/>
                <a:ext cx="25045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增补 SEM 复核机时 20%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84642" y="454056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08-21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27642" y="4540568"/>
                <a:ext cx="1540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SNV 治理停在试点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33400" y="5105400"/>
              <a:ext cx="11125200" cy="800100"/>
              <a:chOff x="533400" y="5105400"/>
              <a:chExt cx="11125200" cy="8001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51054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3618" y="5403532"/>
                <a:ext cx="4040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D05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10868" y="5403532"/>
                <a:ext cx="29135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W35 D0&gt;0.24 则评估换 hood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84642" y="54359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08-21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27642" y="54359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资格包失去升级路径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23120" y="6480810"/>
              <a:ext cx="201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DEF-193I-24-08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project_progress">
  <a:themeElements>
    <a:clrScheme name="immersion_defect_project_progress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immersion_defect_project_progress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project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project_progress">
  <a:themeElements>
    <a:clrScheme name="immersion_defect_project_progress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immersion_defect_project_progress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project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2026-08-14T02:42:50Z</dcterms:created>
  <dcterms:modified xsi:type="dcterms:W3CDTF">2026-08-14T02:42:50Z</dcterms:modified>
  <cp:category/>
  <cp:contentStatus/>
</cp:coreProperties>
</file>