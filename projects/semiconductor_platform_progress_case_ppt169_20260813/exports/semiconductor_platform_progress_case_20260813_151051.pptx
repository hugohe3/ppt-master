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份演示用虚构案例，所有项目日期、设备状态、参数和预算都不代表真实企业或行业标准。当前项目总体完成度为百分之六十八点六，已经从基础建设进入设备集中安装和首批能力验证阶段。虽然相较基线落后四点一个百分点，但真正决定验收结果的，是接下来关键路径的关闭速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管理结论：项目仍有机会守住十二月十五日的阶段验收目标。十个设备包中已有六个到场、五个完成安装、三个进入联调，但目前只有一个通过阶段验收，二十类测试方法也只有八类可执行。UPS容量、数据平台合同、设备物流和量测资源构成四项高关注风险；如果五项管理决策按八月十六日至二十一日的窗口完成，项目预计可以追回七到十天，否则关键路径最大可能延误十五天。以上均为演示用虚构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平台能力不是设备采购清单，而是设施底座、工艺设备、量测诊断和数据追溯共同构成的闭环。洁净环境、真空、特气、冷却水、供电和排风先满足设施可用，设备再依次通过安装检查、空载运行和工艺重复性验证。最后，只有跨设备数据链完整率和关键指标一次通过率达到案例门槛，平台才具备正式放行条件。这里的能力范围与四级阶段门均为演示用虚构设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作包进度显示，需求定义、详细设计和安全评审已经完成，洁净环境也达到百分之九十二。当前偏差主要集中在公用工程百分之七十八、设备安装百分之四十八、系统联调百分之二十二以及能力验证百分之十二。全部设备到场、核心安装和多机联调分别预测延后十天、七天和五天，但项目仍计划通过并行验证维持十二月十五日的阶段验收目标。这些完成率和日期均为演示用虚构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施侧已经具备最多三台设备并行调试的基础条件，但并行能力仍受UPS和特气限制。洁净环境综合合格率为百分之九十四点二，普通供电完成十六个回路送电，冷却水十二个支路中九个可用；与此同时，UPS当前可用容量只有四百二十千伏安，特气还有六个末端点位和两项联锁逻辑待关闭。因此，在整改完成前，平台只能安排一台高负载设备和两台低负载设备同时联调，相关带片验证也必须服从EHS放行要求。所有参数均为案例内部虚构口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备链路从十个采购包逐步收敛为九个合同生效、六个到场、五个安装完成、三个进入联调和一个阶段验收通过。这个漏斗说明瓶颈已经从采购端转移到联调与验收转化。E02需要完成厚度均匀性复测，E03等待特气联锁，E10则必须在八月十八日前锁定核心接口分段交付策略。设备名称、节点和完成度均为演示用虚构数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能力形成看，二十类测试方法中只有八类可执行，整体覆盖率为百分之四十。刻蚀三类方法已经全部可用，薄膜沉积和热处理处于爬坡阶段，而真空诊断与电学测试仍未形成能力。当前最小闭环已经覆盖E01处理、临时膜厚量测和批次数据归档，并完成十八批次、二百一十六个样品的案例验证。未来把覆盖率提升到百分之八十五，关键取决于量测设备到位和数据链打通；以上均为演示用虚构数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十项阶段验收指标中四项通过、六项未通过，一次通过率只有百分之四十。通过项包括刻蚀与沉积重复性、刻蚀七十二小时可用率以及报警响应；未通过项则横跨设备稳定性、吞吐量、真空恢复、温度稳定性和数据完整性。关闭路径必须并行推进：三项依靠参数优化，两项依靠设施整改，一项依靠数据规则修订。同时，设备操作SOP仅批准十九份，认证操作员为三十一人，虽然EHS没有高风险开放项，但所有关键联锁仍必须百分之百通过后才能放行。这些门槛与实测值均为演示用虚构数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项高关注风险正在共同挤压关键路径。UPS容量不足可能使联调延后八到十二天，数据平台合同未锁定可能使数据验收延后十到十五天，E09物流延误会拖慢电学覆盖，量测资源不足则让验证日均多等待六小时。风险矩阵只表达管理分区，概率与影响通过标签给出，并不代表精密统计模型。若不干预，最大延期风险为十五天；若按节点完成扩容、合同、物流和租用决策，预计可追回七到十天，所有数字均为虚构案例数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未来十三周分为设施放行、设备收口、多机验证和预验收四段。前四周要关闭设施与特气联锁并完成UPS切换，第六周前完成九台设备安装，第八周打通四台设备、两套量测和一套数据平台，第十周完成十台设备安装收口。第十二周要让四台核心设备完成七十二小时稳定性验证，第十三周形成预验收报告。九十天目标是把安装率提升到百分之百、方法覆盖率提升到百分之八十五、一次通过率提升到至少百分之八十，并把认证操作员增加到四十二人；这些均为演示用虚构目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需要管理层在五天决策窗口内确认五项事项：UPS扩容、数据平台分段交付、临时量测、E09加急与替代通道，以及六名专职人员调配。对应的演示预算分别为一百二十万元、首阶段二百六十万元、三十五万元和十八万元，人员投入持续十周。建议坚持阶段验收优先、设施与设备分层放行，但EHS红线不得豁免；当关键任务延期超过五天或预算偏差超过百分之十时，应自动升级。请对五项决策作出批准、调整或退回的明确结论；所有金额与日期均为演示用虚构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miconductor_platform_progress_ca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miconductor_platform_progress_ca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55498" y="635318"/>
            <a:ext cx="4445127" cy="1374267"/>
            <a:chOff x="555498" y="635318"/>
            <a:chExt cx="4445127" cy="1374267"/>
          </a:xfrm>
        </p:grpSpPr>
        <p:sp>
          <p:nvSpPr>
            <p:cNvPr id="3" name="TextBox 3"/>
            <p:cNvSpPr txBox="1"/>
            <p:nvPr/>
          </p:nvSpPr>
          <p:spPr>
            <a:xfrm>
              <a:off x="564642" y="635318"/>
              <a:ext cx="3304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PROJECT REVIEW · 2026-08-12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5498" y="917258"/>
              <a:ext cx="4232529" cy="10923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半导体设备实验平台</a:t>
              </a:r>
              <a:br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能力建设项目阶段汇报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971675"/>
              <a:ext cx="4429125" cy="9525"/>
            </a:xfrm>
            <a:custGeom>
              <a:avLst/>
              <a:gdLst/>
              <a:ahLst/>
              <a:cxnLst/>
              <a:rect l="l" t="t" r="r" b="b"/>
              <a:pathLst>
                <a:path w="4429125" h="9525">
                  <a:moveTo>
                    <a:pt x="0" y="0"/>
                  </a:moveTo>
                  <a:lnTo>
                    <a:pt x="44291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2450" y="2711768"/>
            <a:ext cx="4389882" cy="2334577"/>
            <a:chOff x="552450" y="2711768"/>
            <a:chExt cx="4389882" cy="2334577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2711768"/>
              <a:ext cx="2335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OVERALL COMPLETION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2450" y="3145155"/>
              <a:ext cx="279020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68.6%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41148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40195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40195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356" y="43205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设施收口｜设备集中安装｜首批能力验证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4752975"/>
              <a:ext cx="2690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较基线计划落后 4.1 个百分点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38800" y="1714500"/>
            <a:ext cx="5505450" cy="3775901"/>
            <a:chOff x="5638800" y="1714500"/>
            <a:chExt cx="5505450" cy="3775901"/>
          </a:xfrm>
        </p:grpSpPr>
        <p:sp>
          <p:nvSpPr>
            <p:cNvPr id="15" name="Polygon 15"/>
            <p:cNvSpPr/>
            <p:nvPr/>
          </p:nvSpPr>
          <p:spPr>
            <a:xfrm>
              <a:off x="6153150" y="2381250"/>
              <a:ext cx="4467225" cy="1409700"/>
            </a:xfrm>
            <a:custGeom>
              <a:avLst/>
              <a:gdLst/>
              <a:ahLst/>
              <a:cxnLst/>
              <a:rect l="l" t="t" r="r" b="b"/>
              <a:pathLst>
                <a:path w="4467225" h="1409700">
                  <a:moveTo>
                    <a:pt x="0" y="647700"/>
                  </a:moveTo>
                  <a:lnTo>
                    <a:pt x="2038350" y="0"/>
                  </a:lnTo>
                  <a:lnTo>
                    <a:pt x="4467225" y="704850"/>
                  </a:lnTo>
                  <a:lnTo>
                    <a:pt x="2371725" y="14097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6153150" y="3028950"/>
              <a:ext cx="2371725" cy="1733550"/>
            </a:xfrm>
            <a:custGeom>
              <a:avLst/>
              <a:gdLst/>
              <a:ahLst/>
              <a:cxnLst/>
              <a:rect l="l" t="t" r="r" b="b"/>
              <a:pathLst>
                <a:path w="2371725" h="1733550">
                  <a:moveTo>
                    <a:pt x="0" y="0"/>
                  </a:moveTo>
                  <a:lnTo>
                    <a:pt x="0" y="990600"/>
                  </a:lnTo>
                  <a:lnTo>
                    <a:pt x="2371725" y="1733550"/>
                  </a:lnTo>
                  <a:lnTo>
                    <a:pt x="2371725" y="762000"/>
                  </a:lnTo>
                  <a:close/>
                </a:path>
              </a:pathLst>
            </a:custGeom>
            <a:solidFill>
              <a:srgbClr val="0A203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8524875" y="3086100"/>
              <a:ext cx="2095500" cy="1676400"/>
            </a:xfrm>
            <a:custGeom>
              <a:avLst/>
              <a:gdLst/>
              <a:ahLst/>
              <a:cxnLst/>
              <a:rect l="l" t="t" r="r" b="b"/>
              <a:pathLst>
                <a:path w="2095500" h="1676400">
                  <a:moveTo>
                    <a:pt x="0" y="704850"/>
                  </a:moveTo>
                  <a:lnTo>
                    <a:pt x="2095500" y="0"/>
                  </a:lnTo>
                  <a:lnTo>
                    <a:pt x="2095500" y="981075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0B2B3D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838950" y="2800350"/>
              <a:ext cx="1962150" cy="619125"/>
            </a:xfrm>
            <a:custGeom>
              <a:avLst/>
              <a:gdLst/>
              <a:ahLst/>
              <a:cxnLst/>
              <a:rect l="l" t="t" r="r" b="b"/>
              <a:pathLst>
                <a:path w="1962150" h="619125">
                  <a:moveTo>
                    <a:pt x="0" y="333375"/>
                  </a:moveTo>
                  <a:lnTo>
                    <a:pt x="1047750" y="0"/>
                  </a:lnTo>
                  <a:lnTo>
                    <a:pt x="1962150" y="276225"/>
                  </a:lnTo>
                  <a:lnTo>
                    <a:pt x="895350" y="619125"/>
                  </a:ln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838950" y="3133725"/>
              <a:ext cx="895350" cy="857250"/>
            </a:xfrm>
            <a:custGeom>
              <a:avLst/>
              <a:gdLst/>
              <a:ahLst/>
              <a:cxnLst/>
              <a:rect l="l" t="t" r="r" b="b"/>
              <a:pathLst>
                <a:path w="895350" h="857250">
                  <a:moveTo>
                    <a:pt x="0" y="0"/>
                  </a:moveTo>
                  <a:lnTo>
                    <a:pt x="0" y="571500"/>
                  </a:lnTo>
                  <a:lnTo>
                    <a:pt x="895350" y="857250"/>
                  </a:lnTo>
                  <a:lnTo>
                    <a:pt x="895350" y="2857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7734300" y="3076575"/>
              <a:ext cx="1066800" cy="914400"/>
            </a:xfrm>
            <a:custGeom>
              <a:avLst/>
              <a:gdLst/>
              <a:ahLst/>
              <a:cxnLst/>
              <a:rect l="l" t="t" r="r" b="b"/>
              <a:pathLst>
                <a:path w="1066800" h="914400">
                  <a:moveTo>
                    <a:pt x="0" y="342900"/>
                  </a:moveTo>
                  <a:lnTo>
                    <a:pt x="1066800" y="0"/>
                  </a:lnTo>
                  <a:lnTo>
                    <a:pt x="1066800" y="5715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2364A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9001125" y="3009900"/>
              <a:ext cx="1285875" cy="419100"/>
            </a:xfrm>
            <a:custGeom>
              <a:avLst/>
              <a:gdLst/>
              <a:ahLst/>
              <a:cxnLst/>
              <a:rect l="l" t="t" r="r" b="b"/>
              <a:pathLst>
                <a:path w="1285875" h="419100">
                  <a:moveTo>
                    <a:pt x="0" y="238125"/>
                  </a:moveTo>
                  <a:lnTo>
                    <a:pt x="762000" y="0"/>
                  </a:lnTo>
                  <a:lnTo>
                    <a:pt x="1285875" y="171450"/>
                  </a:lnTo>
                  <a:lnTo>
                    <a:pt x="523875" y="419100"/>
                  </a:ln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9001125" y="3248025"/>
              <a:ext cx="523875" cy="666750"/>
            </a:xfrm>
            <a:custGeom>
              <a:avLst/>
              <a:gdLst/>
              <a:ahLst/>
              <a:cxnLst/>
              <a:rect l="l" t="t" r="r" b="b"/>
              <a:pathLst>
                <a:path w="523875" h="666750">
                  <a:moveTo>
                    <a:pt x="0" y="0"/>
                  </a:moveTo>
                  <a:lnTo>
                    <a:pt x="0" y="495300"/>
                  </a:lnTo>
                  <a:lnTo>
                    <a:pt x="523875" y="666750"/>
                  </a:lnTo>
                  <a:lnTo>
                    <a:pt x="523875" y="180975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525000" y="3181350"/>
              <a:ext cx="762000" cy="733425"/>
            </a:xfrm>
            <a:custGeom>
              <a:avLst/>
              <a:gdLst/>
              <a:ahLst/>
              <a:cxnLst/>
              <a:rect l="l" t="t" r="r" b="b"/>
              <a:pathLst>
                <a:path w="762000" h="733425">
                  <a:moveTo>
                    <a:pt x="0" y="247650"/>
                  </a:moveTo>
                  <a:lnTo>
                    <a:pt x="762000" y="0"/>
                  </a:lnTo>
                  <a:lnTo>
                    <a:pt x="762000" y="495300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12364A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762625" y="1809750"/>
              <a:ext cx="2619375" cy="838200"/>
            </a:xfrm>
            <a:custGeom>
              <a:avLst/>
              <a:gdLst/>
              <a:ahLst/>
              <a:cxnLst/>
              <a:rect l="l" t="t" r="r" b="b"/>
              <a:pathLst>
                <a:path w="2619375" h="838200">
                  <a:moveTo>
                    <a:pt x="0" y="838200"/>
                  </a:moveTo>
                  <a:lnTo>
                    <a:pt x="2619375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762625" y="2552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1714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93892" y="2235518"/>
              <a:ext cx="2606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FACILITY / EQUIPMENT / DATA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715000" y="4238625"/>
              <a:ext cx="5334000" cy="809625"/>
            </a:xfrm>
            <a:custGeom>
              <a:avLst/>
              <a:gdLst/>
              <a:ahLst/>
              <a:cxnLst/>
              <a:rect l="l" t="t" r="r" b="b"/>
              <a:pathLst>
                <a:path w="5334000" h="809625">
                  <a:moveTo>
                    <a:pt x="0" y="809625"/>
                  </a:moveTo>
                  <a:lnTo>
                    <a:pt x="1809750" y="809625"/>
                  </a:lnTo>
                  <a:lnTo>
                    <a:pt x="1809750" y="238125"/>
                  </a:lnTo>
                  <a:lnTo>
                    <a:pt x="3143250" y="238125"/>
                  </a:lnTo>
                  <a:lnTo>
                    <a:pt x="3143250" y="0"/>
                  </a:lnTo>
                  <a:lnTo>
                    <a:pt x="5334000" y="0"/>
                  </a:lnTo>
                </a:path>
              </a:pathLst>
            </a:custGeom>
            <a:noFill/>
            <a:ln w="47625" cap="rnd">
              <a:solidFill>
                <a:schemeClr val="accent3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5638800" y="4972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448550" y="44005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782050" y="41624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3750" y="41433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8142" y="52263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FACILITY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7392" y="4188142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INSTALL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08517" y="3950018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VERIFY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27767" y="3950018"/>
              <a:ext cx="647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ACCEPT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6153150"/>
            <a:ext cx="11055096" cy="327851"/>
            <a:chOff x="571500" y="6153150"/>
            <a:chExt cx="11055096" cy="327851"/>
          </a:xfrm>
        </p:grpSpPr>
        <p:sp>
          <p:nvSpPr>
            <p:cNvPr id="38" name="Rectangle 38"/>
            <p:cNvSpPr/>
            <p:nvPr/>
          </p:nvSpPr>
          <p:spPr>
            <a:xfrm>
              <a:off x="571500" y="6153150"/>
              <a:ext cx="180975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1634" y="62169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1827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22359" y="6233160"/>
              <a:ext cx="250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LAB-PLATFORM-PR-01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5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674210" cy="756475"/>
            <a:chOff x="556260" y="419100"/>
            <a:chExt cx="10674210" cy="756475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6742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项目仍可守住12月验收，但四项高关注风险必须立即升级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11542"/>
              <a:ext cx="4420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EXECUTIVE SIGNAL BOARD · DATA DATE 2026-08-12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524000"/>
            <a:ext cx="2963799" cy="3905250"/>
            <a:chOff x="571500" y="1524000"/>
            <a:chExt cx="2963799" cy="39052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2781300" cy="3905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47725" y="1800225"/>
              <a:ext cx="285750" cy="285750"/>
              <a:chOff x="847725" y="1800225"/>
              <a:chExt cx="285750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7725" y="18319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22350" y="19589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8225" y="18002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725" y="19907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42975" y="1998663"/>
                <a:ext cx="79375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23813">
                    <a:moveTo>
                      <a:pt x="0" y="23813"/>
                    </a:move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03288" y="1887538"/>
                <a:ext cx="123984" cy="85249"/>
              </a:xfrm>
              <a:custGeom>
                <a:avLst/>
                <a:gdLst/>
                <a:ahLst/>
                <a:cxnLst/>
                <a:rect l="l" t="t" r="r" b="b"/>
                <a:pathLst>
                  <a:path w="123984" h="85249">
                    <a:moveTo>
                      <a:pt x="0" y="0"/>
                    </a:moveTo>
                    <a:lnTo>
                      <a:pt x="123984" y="8524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1225" y="1847850"/>
                <a:ext cx="1270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5875">
                    <a:moveTo>
                      <a:pt x="0" y="15875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93242" y="2292668"/>
              <a:ext cx="2052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OVERALL PROGRESS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1050" y="2739390"/>
              <a:ext cx="20396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68.6%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00100" y="3524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956" y="3729990"/>
              <a:ext cx="2744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较基线落后 4.1 个百分点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2480" y="4219575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关键路径最大风险：15天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2480" y="4600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及时决策可追回：7–10天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242" y="5035868"/>
              <a:ext cx="1924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TARGET · 2026-12-15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29050" y="1585912"/>
            <a:ext cx="3502190" cy="1485139"/>
            <a:chOff x="3829050" y="1585912"/>
            <a:chExt cx="3502190" cy="1485139"/>
          </a:xfrm>
        </p:grpSpPr>
        <p:sp>
          <p:nvSpPr>
            <p:cNvPr id="23" name="Line 23"/>
            <p:cNvSpPr/>
            <p:nvPr/>
          </p:nvSpPr>
          <p:spPr>
            <a:xfrm>
              <a:off x="3829050" y="160020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098131" y="1639270"/>
              <a:ext cx="244299" cy="244299"/>
              <a:chOff x="4098131" y="1639270"/>
              <a:chExt cx="244299" cy="2442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098131" y="1639270"/>
                <a:ext cx="244299" cy="244299"/>
              </a:xfrm>
              <a:custGeom>
                <a:avLst/>
                <a:gdLst/>
                <a:ahLst/>
                <a:cxnLst/>
                <a:rect l="l" t="t" r="r" b="b"/>
                <a:pathLst>
                  <a:path w="244299" h="244299">
                    <a:moveTo>
                      <a:pt x="0" y="244299"/>
                    </a:moveTo>
                    <a:lnTo>
                      <a:pt x="53975" y="244299"/>
                    </a:lnTo>
                    <a:lnTo>
                      <a:pt x="229394" y="68880"/>
                    </a:lnTo>
                    <a:cubicBezTo>
                      <a:pt x="244299" y="53975"/>
                      <a:pt x="244299" y="29810"/>
                      <a:pt x="229394" y="14905"/>
                    </a:cubicBezTo>
                    <a:cubicBezTo>
                      <a:pt x="214489" y="0"/>
                      <a:pt x="190324" y="0"/>
                      <a:pt x="175419" y="14905"/>
                    </a:cubicBezTo>
                    <a:lnTo>
                      <a:pt x="0" y="190324"/>
                    </a:lnTo>
                    <a:lnTo>
                      <a:pt x="0" y="244299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253310" y="167441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98131" y="1640681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121444" y="67469"/>
                    </a:moveTo>
                    <a:lnTo>
                      <a:pt x="53975" y="0"/>
                    </a:lnTo>
                    <a:lnTo>
                      <a:pt x="0" y="53975"/>
                    </a:lnTo>
                    <a:lnTo>
                      <a:pt x="67469" y="12144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131866" y="1708150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219575" y="1762125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53975" y="0"/>
                    </a:moveTo>
                    <a:lnTo>
                      <a:pt x="121444" y="67469"/>
                    </a:lnTo>
                    <a:lnTo>
                      <a:pt x="67469" y="121444"/>
                    </a:ln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253310" y="1829594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541520" y="158591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进展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49268" y="208883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6 个设备包已到场，5 个完成安装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49268" y="245078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3 个进入联调，1 个阶段验收通过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50792" y="2807018"/>
              <a:ext cx="1758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10 → 9 → 6 → 5 → 3 → 1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72400" y="1585912"/>
            <a:ext cx="3946436" cy="1485139"/>
            <a:chOff x="7772400" y="1585912"/>
            <a:chExt cx="3946436" cy="1485139"/>
          </a:xfrm>
        </p:grpSpPr>
        <p:sp>
          <p:nvSpPr>
            <p:cNvPr id="36" name="Line 36"/>
            <p:cNvSpPr/>
            <p:nvPr/>
          </p:nvSpPr>
          <p:spPr>
            <a:xfrm>
              <a:off x="7772400" y="160020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027988" y="1694656"/>
              <a:ext cx="269876" cy="134938"/>
            </a:xfrm>
            <a:custGeom>
              <a:avLst/>
              <a:gdLst/>
              <a:ahLst/>
              <a:cxnLst/>
              <a:rect l="l" t="t" r="r" b="b"/>
              <a:pathLst>
                <a:path w="269876" h="134938">
                  <a:moveTo>
                    <a:pt x="0" y="67469"/>
                  </a:moveTo>
                  <a:lnTo>
                    <a:pt x="26988" y="67469"/>
                  </a:lnTo>
                  <a:lnTo>
                    <a:pt x="53975" y="0"/>
                  </a:lnTo>
                  <a:lnTo>
                    <a:pt x="94456" y="134938"/>
                  </a:lnTo>
                  <a:lnTo>
                    <a:pt x="134938" y="0"/>
                  </a:lnTo>
                  <a:lnTo>
                    <a:pt x="175419" y="134938"/>
                  </a:lnTo>
                  <a:lnTo>
                    <a:pt x="215901" y="0"/>
                  </a:lnTo>
                  <a:lnTo>
                    <a:pt x="236141" y="67469"/>
                  </a:lnTo>
                  <a:lnTo>
                    <a:pt x="269876" y="67469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84870" y="158591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能力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2618" y="2088832"/>
              <a:ext cx="3393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已打通首条“处理—量测—归档”闭环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2618" y="2450782"/>
              <a:ext cx="37262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20 类方法中 8 类可执行，覆盖率 40%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4142" y="2807018"/>
              <a:ext cx="2596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MINIMUM CLOSED LOOP · E01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29050" y="3452812"/>
            <a:ext cx="3604870" cy="1233488"/>
            <a:chOff x="3829050" y="3452812"/>
            <a:chExt cx="3604870" cy="1233488"/>
          </a:xfrm>
        </p:grpSpPr>
        <p:sp>
          <p:nvSpPr>
            <p:cNvPr id="43" name="Line 43"/>
            <p:cNvSpPr/>
            <p:nvPr/>
          </p:nvSpPr>
          <p:spPr>
            <a:xfrm>
              <a:off x="3829050" y="34671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083489" y="3503098"/>
              <a:ext cx="272162" cy="233823"/>
              <a:chOff x="4083489" y="3503098"/>
              <a:chExt cx="272162" cy="2338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219575" y="358854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083489" y="3503098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3"/>
                    </a:lnTo>
                    <a:cubicBezTo>
                      <a:pt x="28" y="203029"/>
                      <a:pt x="0" y="212812"/>
                      <a:pt x="4543" y="220785"/>
                    </a:cubicBezTo>
                    <a:cubicBezTo>
                      <a:pt x="9086" y="228757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6"/>
                      <a:pt x="267620" y="220788"/>
                    </a:cubicBezTo>
                    <a:cubicBezTo>
                      <a:pt x="272162" y="212820"/>
                      <a:pt x="272138" y="203041"/>
                      <a:pt x="267556" y="195096"/>
                    </a:cubicBezTo>
                    <a:lnTo>
                      <a:pt x="158176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4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219575" y="36830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541520" y="345281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风险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49268" y="3955732"/>
              <a:ext cx="29856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UPS｜数据合同｜物流｜量测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49268" y="4317682"/>
              <a:ext cx="33846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R01 / R02 / R04 / R06 管理升级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772400" y="3452812"/>
            <a:ext cx="3346704" cy="1233488"/>
            <a:chOff x="7772400" y="3452812"/>
            <a:chExt cx="3346704" cy="1233488"/>
          </a:xfrm>
        </p:grpSpPr>
        <p:sp>
          <p:nvSpPr>
            <p:cNvPr id="52" name="Line 52"/>
            <p:cNvSpPr/>
            <p:nvPr/>
          </p:nvSpPr>
          <p:spPr>
            <a:xfrm>
              <a:off x="7772400" y="34671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068469" y="3521075"/>
              <a:ext cx="202407" cy="229394"/>
              <a:chOff x="8068469" y="3521075"/>
              <a:chExt cx="202407" cy="22939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068469" y="3521075"/>
                <a:ext cx="161925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1">
                    <a:moveTo>
                      <a:pt x="62274" y="215901"/>
                    </a:move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89913" y="369649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2444" y="35750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2444" y="36290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84870" y="345281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决策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2618" y="3955732"/>
              <a:ext cx="28683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D01–D05｜8月16–21日完成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92618" y="43176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按时确认即可维持阶段验收目标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556025" y="5286375"/>
            <a:ext cx="7937449" cy="565976"/>
            <a:chOff x="3556025" y="5286375"/>
            <a:chExt cx="7937449" cy="565976"/>
          </a:xfrm>
        </p:grpSpPr>
        <p:sp>
          <p:nvSpPr>
            <p:cNvPr id="62" name="Line 62"/>
            <p:cNvSpPr/>
            <p:nvPr/>
          </p:nvSpPr>
          <p:spPr>
            <a:xfrm>
              <a:off x="4000500" y="5391150"/>
              <a:ext cx="7334250" cy="9525"/>
            </a:xfrm>
            <a:custGeom>
              <a:avLst/>
              <a:gdLst/>
              <a:ahLst/>
              <a:cxnLst/>
              <a:rect l="l" t="t" r="r" b="b"/>
              <a:pathLst>
                <a:path w="7334250" h="9525">
                  <a:moveTo>
                    <a:pt x="0" y="0"/>
                  </a:moveTo>
                  <a:lnTo>
                    <a:pt x="73342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3990975" y="52863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705475" y="52863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419975" y="52863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134475" y="52863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848975" y="52863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556025" y="55883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D01 · 08/16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70525" y="55883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D02 · 08/18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85025" y="55883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D03 · 08/19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99525" y="55883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D04 · 08/20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14025" y="55883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D05 · 08/21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74" name="TextBox 74"/>
            <p:cNvSpPr txBox="1"/>
            <p:nvPr/>
          </p:nvSpPr>
          <p:spPr>
            <a:xfrm>
              <a:off x="565404" y="62903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演示用虚构数据｜不代表真实项目或行业标准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50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207752" cy="766001"/>
            <a:chOff x="556260" y="419100"/>
            <a:chExt cx="10207752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207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平台能力由设施、设备、量测数据与四级放行共同闭环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6187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SYSTEM ARCHITECTURE · CAPABILITY IS MORE THAN EQUIPMENT ARRIVAL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4762500"/>
            <a:ext cx="8382000" cy="971550"/>
            <a:chOff x="571500" y="4762500"/>
            <a:chExt cx="8382000" cy="971550"/>
          </a:xfrm>
        </p:grpSpPr>
        <p:sp>
          <p:nvSpPr>
            <p:cNvPr id="6" name="Rectangle 6"/>
            <p:cNvSpPr/>
            <p:nvPr/>
          </p:nvSpPr>
          <p:spPr>
            <a:xfrm>
              <a:off x="571500" y="4762500"/>
              <a:ext cx="8382000" cy="9715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1056" y="5060150"/>
              <a:ext cx="300038" cy="309569"/>
              <a:chOff x="831056" y="5060150"/>
              <a:chExt cx="300038" cy="30956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31056" y="5360194"/>
                <a:ext cx="3000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9525">
                    <a:moveTo>
                      <a:pt x="0" y="0"/>
                    </a:moveTo>
                    <a:lnTo>
                      <a:pt x="300038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64394" y="5160169"/>
                <a:ext cx="23336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00025">
                    <a:moveTo>
                      <a:pt x="0" y="200025"/>
                    </a:moveTo>
                    <a:lnTo>
                      <a:pt x="0" y="0"/>
                    </a:lnTo>
                    <a:lnTo>
                      <a:pt x="83344" y="66675"/>
                    </a:lnTo>
                    <a:lnTo>
                      <a:pt x="83344" y="0"/>
                    </a:lnTo>
                    <a:lnTo>
                      <a:pt x="166688" y="66675"/>
                    </a:lnTo>
                    <a:lnTo>
                      <a:pt x="233362" y="66675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4412" y="5060150"/>
                <a:ext cx="83344" cy="3000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300044">
                    <a:moveTo>
                      <a:pt x="83344" y="300044"/>
                    </a:moveTo>
                    <a:lnTo>
                      <a:pt x="83344" y="166694"/>
                    </a:lnTo>
                    <a:lnTo>
                      <a:pt x="59407" y="7107"/>
                    </a:lnTo>
                    <a:cubicBezTo>
                      <a:pt x="58796" y="3023"/>
                      <a:pt x="55286" y="2"/>
                      <a:pt x="51156" y="6"/>
                    </a:cubicBezTo>
                    <a:lnTo>
                      <a:pt x="32071" y="6"/>
                    </a:lnTo>
                    <a:cubicBezTo>
                      <a:pt x="27990" y="0"/>
                      <a:pt x="24505" y="2949"/>
                      <a:pt x="23836" y="6974"/>
                    </a:cubicBezTo>
                    <a:lnTo>
                      <a:pt x="0" y="150025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1069" y="5293519"/>
                <a:ext cx="166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9525">
                    <a:moveTo>
                      <a:pt x="0" y="0"/>
                    </a:moveTo>
                    <a:lnTo>
                      <a:pt x="16669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14412" y="5293519"/>
                <a:ext cx="166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9525">
                    <a:moveTo>
                      <a:pt x="0" y="0"/>
                    </a:moveTo>
                    <a:lnTo>
                      <a:pt x="16669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41120" y="4900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设施底座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4930" y="5343525"/>
              <a:ext cx="6192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洁净环境 · 中央真空 · 特气 · 冷却水 · 普通/UPS供电 · 排风监测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810000" y="4905375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088892" y="5073968"/>
              <a:ext cx="1780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G1 · FACILITY READY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8892" y="537876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高风险整改项 = 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238500"/>
            <a:ext cx="8382000" cy="1104900"/>
            <a:chOff x="571500" y="3238500"/>
            <a:chExt cx="8382000" cy="1104900"/>
          </a:xfrm>
        </p:grpSpPr>
        <p:sp>
          <p:nvSpPr>
            <p:cNvPr id="19" name="Rectangle 19"/>
            <p:cNvSpPr/>
            <p:nvPr/>
          </p:nvSpPr>
          <p:spPr>
            <a:xfrm>
              <a:off x="571500" y="3238500"/>
              <a:ext cx="8382000" cy="1104900"/>
            </a:xfrm>
            <a:prstGeom prst="rect">
              <a:avLst/>
            </a:prstGeom>
            <a:solidFill>
              <a:srgbClr val="0A203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4388" y="3679031"/>
              <a:ext cx="333375" cy="166688"/>
            </a:xfrm>
            <a:custGeom>
              <a:avLst/>
              <a:gdLst/>
              <a:ahLst/>
              <a:cxnLst/>
              <a:rect l="l" t="t" r="r" b="b"/>
              <a:pathLst>
                <a:path w="333375" h="166688">
                  <a:moveTo>
                    <a:pt x="0" y="83344"/>
                  </a:moveTo>
                  <a:lnTo>
                    <a:pt x="33338" y="83344"/>
                  </a:lnTo>
                  <a:lnTo>
                    <a:pt x="66675" y="0"/>
                  </a:lnTo>
                  <a:lnTo>
                    <a:pt x="116681" y="166688"/>
                  </a:lnTo>
                  <a:lnTo>
                    <a:pt x="166688" y="0"/>
                  </a:lnTo>
                  <a:lnTo>
                    <a:pt x="216694" y="166688"/>
                  </a:lnTo>
                  <a:lnTo>
                    <a:pt x="266700" y="0"/>
                  </a:lnTo>
                  <a:lnTo>
                    <a:pt x="291703" y="83344"/>
                  </a:lnTo>
                  <a:lnTo>
                    <a:pt x="333375" y="83344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41120" y="341471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工艺与设备能力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4930" y="3876675"/>
              <a:ext cx="4218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刻蚀 · PVD · CVD · ALD · 热处理 · 湿法清洗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0" y="33813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12892" y="3492818"/>
              <a:ext cx="1530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G2 · TOOL READY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2892" y="379761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安装检查 100%｜空载 24h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2892" y="4064318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G3 · PROCESS READY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733550"/>
            <a:ext cx="8382000" cy="1104900"/>
            <a:chOff x="571500" y="1733550"/>
            <a:chExt cx="8382000" cy="1104900"/>
          </a:xfrm>
        </p:grpSpPr>
        <p:sp>
          <p:nvSpPr>
            <p:cNvPr id="28" name="Rectangle 28"/>
            <p:cNvSpPr/>
            <p:nvPr/>
          </p:nvSpPr>
          <p:spPr>
            <a:xfrm>
              <a:off x="571500" y="1733550"/>
              <a:ext cx="8382000" cy="11049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47725" y="2107406"/>
              <a:ext cx="266700" cy="300038"/>
              <a:chOff x="847725" y="2107406"/>
              <a:chExt cx="266700" cy="3000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47725" y="210740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47725" y="21574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" y="225742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41120" y="1909762"/>
              <a:ext cx="32032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量测、诊断与数据追溯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44930" y="23717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膜厚量测 · 真空诊断 · 电学测试 · 样品流转 · 数据归档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00750" y="187642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9642" y="2025968"/>
              <a:ext cx="1953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G4 · PLATFORM READY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234981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数据链 ≥99.5%｜一次通过 ≥90%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57996" y="1854518"/>
            <a:ext cx="2545156" cy="4087177"/>
            <a:chOff x="8957996" y="1854518"/>
            <a:chExt cx="2545156" cy="4087177"/>
          </a:xfrm>
        </p:grpSpPr>
        <p:sp>
          <p:nvSpPr>
            <p:cNvPr id="39" name="Line 39"/>
            <p:cNvSpPr/>
            <p:nvPr/>
          </p:nvSpPr>
          <p:spPr>
            <a:xfrm>
              <a:off x="9525000" y="2143125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31432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391650" y="5153025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391650" y="38671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391650" y="258127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98380" y="5172075"/>
              <a:ext cx="16047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INFRASTRUCTURE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98380" y="3886200"/>
              <a:ext cx="110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EQUIPMENT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98380" y="260032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CAPABILITY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57996" y="1854518"/>
              <a:ext cx="753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RELEASE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9334500" y="21431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31630" y="5648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设备到场 ≠ 平台可用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565404" y="6290310"/>
              <a:ext cx="4066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演示用虚构数据｜能力范围和G1–G4门槛均为案例设定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631805" cy="766001"/>
            <a:chOff x="556260" y="419100"/>
            <a:chExt cx="10631805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6318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设计已闭环，当前落后集中在公用工程、设备安装与联调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5025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WORK PACKAGE PROGRESS · CRITICAL MILESTONES M5–M8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2356" y="1386840"/>
            <a:ext cx="7538771" cy="3842385"/>
            <a:chOff x="562356" y="1386840"/>
            <a:chExt cx="7538771" cy="3842385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3868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工作包完成率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048000" y="171450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521970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880" y="1876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需求与方案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048000" y="1847850"/>
              <a:ext cx="447675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51242" y="184499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2295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详细设计与安全评审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48000" y="2266950"/>
              <a:ext cx="447675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51242" y="226409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880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场地与洁净环境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048000" y="2686050"/>
              <a:ext cx="411861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51242" y="268319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92%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880" y="3133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公用工程系统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48000" y="3105150"/>
              <a:ext cx="3491865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51242" y="310229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3880" y="3552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设备采购与物流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48000" y="3524250"/>
              <a:ext cx="317849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51242" y="352139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880" y="3971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设备安装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48000" y="3943350"/>
              <a:ext cx="214884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51242" y="394049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48%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880" y="4391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系统联调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48000" y="4362450"/>
              <a:ext cx="984885" cy="15240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51242" y="435959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22%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3880" y="4810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能力验证与验收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781550"/>
              <a:ext cx="537210" cy="15240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51242" y="477869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12%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82356" y="1386840"/>
            <a:ext cx="3159252" cy="4021455"/>
            <a:chOff x="8182356" y="1386840"/>
            <a:chExt cx="3159252" cy="4021455"/>
          </a:xfrm>
        </p:grpSpPr>
        <p:sp>
          <p:nvSpPr>
            <p:cNvPr id="34" name="TextBox 34"/>
            <p:cNvSpPr txBox="1"/>
            <p:nvPr/>
          </p:nvSpPr>
          <p:spPr>
            <a:xfrm>
              <a:off x="8182356" y="13868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关键里程碑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72500" y="1952625"/>
              <a:ext cx="9525" cy="3267075"/>
            </a:xfrm>
            <a:custGeom>
              <a:avLst/>
              <a:gdLst/>
              <a:ahLst/>
              <a:cxnLst/>
              <a:rect l="l" t="t" r="r" b="b"/>
              <a:pathLst>
                <a:path w="9525" h="3267075">
                  <a:moveTo>
                    <a:pt x="0" y="0"/>
                  </a:moveTo>
                  <a:lnTo>
                    <a:pt x="0" y="3267075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67725" y="208597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50630" y="2085975"/>
              <a:ext cx="1722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M4 · 首批6包到场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10031" y="21021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完成 +3d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467725" y="28479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50630" y="2847975"/>
              <a:ext cx="1839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M5 · 全部10包到场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10076" y="286416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预测 +10d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467725" y="36099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50630" y="3609975"/>
              <a:ext cx="1818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M6 · 核心安装完成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10031" y="36261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预测 +7d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467725" y="43719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50630" y="4371975"/>
              <a:ext cx="1818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M7 · 多机联调完成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10031" y="43881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预测 +5d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448675" y="50958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50630" y="5114925"/>
              <a:ext cx="1818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M8 · 阶段能力验收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10120" y="513111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12/15 维持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5676900"/>
            <a:ext cx="11049000" cy="379095"/>
            <a:chOff x="571500" y="5676900"/>
            <a:chExt cx="11049000" cy="379095"/>
          </a:xfrm>
        </p:grpSpPr>
        <p:sp>
          <p:nvSpPr>
            <p:cNvPr id="52" name="Rectangle 52"/>
            <p:cNvSpPr/>
            <p:nvPr/>
          </p:nvSpPr>
          <p:spPr>
            <a:xfrm>
              <a:off x="571500" y="5676900"/>
              <a:ext cx="11049000" cy="3619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3430" y="5762625"/>
              <a:ext cx="8017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 xml:space="preserve">总体完成度 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68.6%</a:t>
              </a:r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 xml:space="preserve">　｜　落后基线 </a:t>
              </a:r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4.1个百分点</a:t>
              </a:r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 xml:space="preserve">　｜　关键路径已由采购转向安装与联调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565404" y="62903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演示用虚构数据｜完成率、日期和偏差均为案例设定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50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178948" cy="766001"/>
            <a:chOff x="556260" y="419100"/>
            <a:chExt cx="10178948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1789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三机并行已具备，UPS与特气决定下一阶段放量上限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5515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FACILITY READINESS MAP · CURRENT PARALLEL LIMIT = 3 TOOLS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3000" y="2476500"/>
            <a:ext cx="2286000" cy="2461451"/>
            <a:chOff x="4953000" y="2476500"/>
            <a:chExt cx="2286000" cy="2461451"/>
          </a:xfrm>
        </p:grpSpPr>
        <p:sp>
          <p:nvSpPr>
            <p:cNvPr id="6" name="Polygon 6"/>
            <p:cNvSpPr/>
            <p:nvPr/>
          </p:nvSpPr>
          <p:spPr>
            <a:xfrm>
              <a:off x="4953000" y="2476500"/>
              <a:ext cx="2286000" cy="762000"/>
            </a:xfrm>
            <a:custGeom>
              <a:avLst/>
              <a:gdLst/>
              <a:ahLst/>
              <a:cxnLst/>
              <a:rect l="l" t="t" r="r" b="b"/>
              <a:pathLst>
                <a:path w="2286000" h="762000">
                  <a:moveTo>
                    <a:pt x="0" y="381000"/>
                  </a:moveTo>
                  <a:lnTo>
                    <a:pt x="1143000" y="0"/>
                  </a:lnTo>
                  <a:lnTo>
                    <a:pt x="2286000" y="381000"/>
                  </a:lnTo>
                  <a:lnTo>
                    <a:pt x="1143000" y="762000"/>
                  </a:ln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4953000" y="2857500"/>
              <a:ext cx="1143000" cy="1333500"/>
            </a:xfrm>
            <a:custGeom>
              <a:avLst/>
              <a:gdLst/>
              <a:ahLst/>
              <a:cxnLst/>
              <a:rect l="l" t="t" r="r" b="b"/>
              <a:pathLst>
                <a:path w="1143000" h="1333500">
                  <a:moveTo>
                    <a:pt x="0" y="0"/>
                  </a:moveTo>
                  <a:lnTo>
                    <a:pt x="0" y="952500"/>
                  </a:lnTo>
                  <a:lnTo>
                    <a:pt x="1143000" y="1333500"/>
                  </a:lnTo>
                  <a:lnTo>
                    <a:pt x="1143000" y="3810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6096000" y="2857500"/>
              <a:ext cx="1143000" cy="1333500"/>
            </a:xfrm>
            <a:custGeom>
              <a:avLst/>
              <a:gdLst/>
              <a:ahLst/>
              <a:cxnLst/>
              <a:rect l="l" t="t" r="r" b="b"/>
              <a:pathLst>
                <a:path w="1143000" h="1333500">
                  <a:moveTo>
                    <a:pt x="0" y="381000"/>
                  </a:moveTo>
                  <a:lnTo>
                    <a:pt x="1143000" y="0"/>
                  </a:lnTo>
                  <a:lnTo>
                    <a:pt x="1143000" y="952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2364A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895975" y="3133717"/>
              <a:ext cx="400049" cy="409582"/>
              <a:chOff x="5895975" y="3133717"/>
              <a:chExt cx="400049" cy="4095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895975" y="3533774"/>
                <a:ext cx="40004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9525">
                    <a:moveTo>
                      <a:pt x="0" y="0"/>
                    </a:moveTo>
                    <a:lnTo>
                      <a:pt x="400049" y="0"/>
                    </a:lnTo>
                  </a:path>
                </a:pathLst>
              </a:custGeom>
              <a:noFill/>
              <a:ln w="444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40425" y="3267075"/>
                <a:ext cx="3111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266700">
                    <a:moveTo>
                      <a:pt x="0" y="266700"/>
                    </a:moveTo>
                    <a:lnTo>
                      <a:pt x="0" y="0"/>
                    </a:lnTo>
                    <a:lnTo>
                      <a:pt x="111125" y="88900"/>
                    </a:lnTo>
                    <a:lnTo>
                      <a:pt x="111125" y="0"/>
                    </a:lnTo>
                    <a:lnTo>
                      <a:pt x="222250" y="88900"/>
                    </a:lnTo>
                    <a:lnTo>
                      <a:pt x="311150" y="88900"/>
                    </a:lnTo>
                  </a:path>
                </a:pathLst>
              </a:custGeom>
              <a:noFill/>
              <a:ln w="444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140450" y="3133717"/>
                <a:ext cx="111125" cy="400058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00058">
                    <a:moveTo>
                      <a:pt x="111125" y="400058"/>
                    </a:moveTo>
                    <a:lnTo>
                      <a:pt x="111125" y="222258"/>
                    </a:lnTo>
                    <a:lnTo>
                      <a:pt x="79210" y="9476"/>
                    </a:lnTo>
                    <a:cubicBezTo>
                      <a:pt x="78395" y="4030"/>
                      <a:pt x="73715" y="3"/>
                      <a:pt x="68208" y="8"/>
                    </a:cubicBezTo>
                    <a:lnTo>
                      <a:pt x="42761" y="8"/>
                    </a:lnTo>
                    <a:cubicBezTo>
                      <a:pt x="37320" y="0"/>
                      <a:pt x="32674" y="3932"/>
                      <a:pt x="31782" y="9298"/>
                    </a:cubicBezTo>
                    <a:lnTo>
                      <a:pt x="0" y="200033"/>
                    </a:lnTo>
                  </a:path>
                </a:pathLst>
              </a:custGeom>
              <a:noFill/>
              <a:ln w="4445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29325" y="3444874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4445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140450" y="3444874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44450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971431" y="427196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实验平台核心区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53838" y="4673918"/>
              <a:ext cx="1684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 TOOLS PARALLEL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524000"/>
            <a:ext cx="4381500" cy="1524000"/>
            <a:chOff x="571500" y="1524000"/>
            <a:chExt cx="4381500" cy="1524000"/>
          </a:xfrm>
        </p:grpSpPr>
        <p:sp>
          <p:nvSpPr>
            <p:cNvPr id="18" name="Line 18"/>
            <p:cNvSpPr/>
            <p:nvPr/>
          </p:nvSpPr>
          <p:spPr>
            <a:xfrm>
              <a:off x="3638550" y="2190750"/>
              <a:ext cx="1314450" cy="857250"/>
            </a:xfrm>
            <a:custGeom>
              <a:avLst/>
              <a:gdLst/>
              <a:ahLst/>
              <a:cxnLst/>
              <a:rect l="l" t="t" r="r" b="b"/>
              <a:pathLst>
                <a:path w="1314450" h="857250">
                  <a:moveTo>
                    <a:pt x="0" y="0"/>
                  </a:moveTo>
                  <a:lnTo>
                    <a:pt x="1314450" y="857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15240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1906" y="1653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洁净环境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192" y="2006918"/>
              <a:ext cx="1060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94.2% PASS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5792" y="200691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2个回风口待整改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2800350"/>
            <a:ext cx="4381500" cy="895350"/>
            <a:chOff x="571500" y="2800350"/>
            <a:chExt cx="4381500" cy="895350"/>
          </a:xfrm>
        </p:grpSpPr>
        <p:sp>
          <p:nvSpPr>
            <p:cNvPr id="24" name="Line 24"/>
            <p:cNvSpPr/>
            <p:nvPr/>
          </p:nvSpPr>
          <p:spPr>
            <a:xfrm>
              <a:off x="3638550" y="3238500"/>
              <a:ext cx="1314450" cy="190500"/>
            </a:xfrm>
            <a:custGeom>
              <a:avLst/>
              <a:gdLst/>
              <a:ahLst/>
              <a:cxnLst/>
              <a:rect l="l" t="t" r="r" b="b"/>
              <a:pathLst>
                <a:path w="1314450" h="190500">
                  <a:moveTo>
                    <a:pt x="0" y="0"/>
                  </a:moveTo>
                  <a:lnTo>
                    <a:pt x="131445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280035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1906" y="2929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中央真空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192" y="32832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BACKUP TEST 60%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60092" y="3283268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1支路压降+18%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810000"/>
            <a:ext cx="4381500" cy="1162050"/>
            <a:chOff x="571500" y="3810000"/>
            <a:chExt cx="4381500" cy="1162050"/>
          </a:xfrm>
        </p:grpSpPr>
        <p:sp>
          <p:nvSpPr>
            <p:cNvPr id="30" name="Line 30"/>
            <p:cNvSpPr/>
            <p:nvPr/>
          </p:nvSpPr>
          <p:spPr>
            <a:xfrm>
              <a:off x="3638550" y="3810000"/>
              <a:ext cx="1314450" cy="666750"/>
            </a:xfrm>
            <a:custGeom>
              <a:avLst/>
              <a:gdLst/>
              <a:ahLst/>
              <a:cxnLst/>
              <a:rect l="l" t="t" r="r" b="b"/>
              <a:pathLst>
                <a:path w="1314450" h="666750">
                  <a:moveTo>
                    <a:pt x="0" y="66675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40767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1906" y="4206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特气系统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192" y="4559618"/>
              <a:ext cx="1233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8 / 14 POINTS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88642" y="45596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2项联锁待复核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191000"/>
            <a:ext cx="4762500" cy="1794701"/>
            <a:chOff x="571500" y="4191000"/>
            <a:chExt cx="4762500" cy="1794701"/>
          </a:xfrm>
        </p:grpSpPr>
        <p:sp>
          <p:nvSpPr>
            <p:cNvPr id="36" name="Line 36"/>
            <p:cNvSpPr/>
            <p:nvPr/>
          </p:nvSpPr>
          <p:spPr>
            <a:xfrm>
              <a:off x="3638550" y="4191000"/>
              <a:ext cx="1695450" cy="1352550"/>
            </a:xfrm>
            <a:custGeom>
              <a:avLst/>
              <a:gdLst/>
              <a:ahLst/>
              <a:cxnLst/>
              <a:rect l="l" t="t" r="r" b="b"/>
              <a:pathLst>
                <a:path w="1695450" h="1352550">
                  <a:moveTo>
                    <a:pt x="0" y="1352550"/>
                  </a:moveTo>
                  <a:lnTo>
                    <a:pt x="16954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353050"/>
              <a:ext cx="304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2668" y="54416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工艺冷却水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0092" y="5474018"/>
              <a:ext cx="1137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 / 12 READY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192" y="57216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3个支路待二次平衡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39000" y="1524000"/>
            <a:ext cx="4381500" cy="1524000"/>
            <a:chOff x="7239000" y="1524000"/>
            <a:chExt cx="4381500" cy="1524000"/>
          </a:xfrm>
        </p:grpSpPr>
        <p:sp>
          <p:nvSpPr>
            <p:cNvPr id="42" name="Line 42"/>
            <p:cNvSpPr/>
            <p:nvPr/>
          </p:nvSpPr>
          <p:spPr>
            <a:xfrm>
              <a:off x="7239000" y="2190750"/>
              <a:ext cx="1295400" cy="857250"/>
            </a:xfrm>
            <a:custGeom>
              <a:avLst/>
              <a:gdLst/>
              <a:ahLst/>
              <a:cxnLst/>
              <a:rect l="l" t="t" r="r" b="b"/>
              <a:pathLst>
                <a:path w="1295400" h="857250">
                  <a:moveTo>
                    <a:pt x="1295400" y="0"/>
                  </a:moveTo>
                  <a:lnTo>
                    <a:pt x="0" y="857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72500" y="15240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72906" y="1653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普通供电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75192" y="2006918"/>
              <a:ext cx="1089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16 / 18 LIVE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94392" y="20069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2回路待复核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239000" y="2800350"/>
            <a:ext cx="4381500" cy="895350"/>
            <a:chOff x="7239000" y="2800350"/>
            <a:chExt cx="4381500" cy="895350"/>
          </a:xfrm>
        </p:grpSpPr>
        <p:sp>
          <p:nvSpPr>
            <p:cNvPr id="48" name="Line 48"/>
            <p:cNvSpPr/>
            <p:nvPr/>
          </p:nvSpPr>
          <p:spPr>
            <a:xfrm>
              <a:off x="7239000" y="3238500"/>
              <a:ext cx="1295400" cy="190500"/>
            </a:xfrm>
            <a:custGeom>
              <a:avLst/>
              <a:gdLst/>
              <a:ahLst/>
              <a:cxnLst/>
              <a:rect l="l" t="t" r="r" b="b"/>
              <a:pathLst>
                <a:path w="1295400" h="190500">
                  <a:moveTo>
                    <a:pt x="129540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72500" y="280035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72906" y="2929890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UPS 供电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75192" y="3283268"/>
              <a:ext cx="1220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420 / 600 kVA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08692" y="3283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限制并行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239000" y="3810000"/>
            <a:ext cx="4381500" cy="1162050"/>
            <a:chOff x="7239000" y="3810000"/>
            <a:chExt cx="4381500" cy="1162050"/>
          </a:xfrm>
        </p:grpSpPr>
        <p:sp>
          <p:nvSpPr>
            <p:cNvPr id="54" name="Line 54"/>
            <p:cNvSpPr/>
            <p:nvPr/>
          </p:nvSpPr>
          <p:spPr>
            <a:xfrm>
              <a:off x="7239000" y="3810000"/>
              <a:ext cx="1295400" cy="666750"/>
            </a:xfrm>
            <a:custGeom>
              <a:avLst/>
              <a:gdLst/>
              <a:ahLst/>
              <a:cxnLst/>
              <a:rect l="l" t="t" r="r" b="b"/>
              <a:pathLst>
                <a:path w="1295400" h="666750">
                  <a:moveTo>
                    <a:pt x="1295400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72500" y="40767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72906" y="42062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监控与数据采集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75192" y="4559618"/>
              <a:ext cx="822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118 / 126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80092" y="4559618"/>
              <a:ext cx="1095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接入率93.7%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858000" y="4191000"/>
            <a:ext cx="4762500" cy="1794701"/>
            <a:chOff x="6858000" y="4191000"/>
            <a:chExt cx="4762500" cy="1794701"/>
          </a:xfrm>
        </p:grpSpPr>
        <p:sp>
          <p:nvSpPr>
            <p:cNvPr id="60" name="Line 60"/>
            <p:cNvSpPr/>
            <p:nvPr/>
          </p:nvSpPr>
          <p:spPr>
            <a:xfrm>
              <a:off x="6858000" y="4191000"/>
              <a:ext cx="1676400" cy="1352550"/>
            </a:xfrm>
            <a:custGeom>
              <a:avLst/>
              <a:gdLst/>
              <a:ahLst/>
              <a:cxnLst/>
              <a:rect l="l" t="t" r="r" b="b"/>
              <a:pathLst>
                <a:path w="1676400" h="1352550">
                  <a:moveTo>
                    <a:pt x="1676400" y="13525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572500" y="5353050"/>
              <a:ext cx="30480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74430" y="54578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1827"/>
                  </a:solidFill>
                  <a:latin typeface="Arial"/>
                  <a:ea typeface="Microsoft YaHei"/>
                  <a:cs typeface="Arial"/>
                </a:rPr>
                <a:t>当前放量上限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75192" y="57216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71827"/>
                  </a:solidFill>
                  <a:latin typeface="Arial"/>
                  <a:ea typeface="Microsoft YaHei"/>
                  <a:cs typeface="Arial"/>
                </a:rPr>
                <a:t>1台高负载＋2台低负载设备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65" name="TextBox 65"/>
            <p:cNvSpPr txBox="1"/>
            <p:nvPr/>
          </p:nvSpPr>
          <p:spPr>
            <a:xfrm>
              <a:off x="565404" y="629031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演示用虚构数据｜设施参数与门槛为案例内部管理口径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504589" cy="766001"/>
            <a:chOff x="556260" y="419100"/>
            <a:chExt cx="10504589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5045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设备链路呈“10→9→6→5→3→1”收敛，瓶颈已转向联调验收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4679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EQUIPMENT PIPELINE · PROCUREMENT TO ACCEPTANCE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2356" y="1520190"/>
            <a:ext cx="6505194" cy="4612005"/>
            <a:chOff x="562356" y="1520190"/>
            <a:chExt cx="6505194" cy="4612005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20190"/>
              <a:ext cx="2588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10个设备包的阶段收敛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57150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857250" y="2000250"/>
              <a:ext cx="6191250" cy="476250"/>
            </a:xfrm>
            <a:custGeom>
              <a:avLst/>
              <a:gdLst/>
              <a:ahLst/>
              <a:cxnLst/>
              <a:rect l="l" t="t" r="r" b="b"/>
              <a:pathLst>
                <a:path w="6191250" h="476250">
                  <a:moveTo>
                    <a:pt x="0" y="0"/>
                  </a:moveTo>
                  <a:lnTo>
                    <a:pt x="6191250" y="0"/>
                  </a:lnTo>
                  <a:lnTo>
                    <a:pt x="5881688" y="476250"/>
                  </a:lnTo>
                  <a:lnTo>
                    <a:pt x="309562" y="476250"/>
                  </a:lnTo>
                  <a:close/>
                </a:path>
              </a:pathLst>
            </a:custGeom>
            <a:solidFill>
              <a:srgbClr val="12364A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82672" y="2162175"/>
              <a:ext cx="1340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采购启动 · 10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166812" y="2619375"/>
              <a:ext cx="5572125" cy="476250"/>
            </a:xfrm>
            <a:custGeom>
              <a:avLst/>
              <a:gdLst/>
              <a:ahLst/>
              <a:cxnLst/>
              <a:rect l="l" t="t" r="r" b="b"/>
              <a:pathLst>
                <a:path w="5572125" h="476250">
                  <a:moveTo>
                    <a:pt x="0" y="0"/>
                  </a:moveTo>
                  <a:lnTo>
                    <a:pt x="5572125" y="0"/>
                  </a:lnTo>
                  <a:lnTo>
                    <a:pt x="4643438" y="476250"/>
                  </a:lnTo>
                  <a:lnTo>
                    <a:pt x="928688" y="476250"/>
                  </a:lnTo>
                  <a:close/>
                </a:path>
              </a:pathLst>
            </a:custGeom>
            <a:solidFill>
              <a:srgbClr val="12364A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40979" y="2781300"/>
              <a:ext cx="1223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合同生效 · 9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095500" y="3238500"/>
              <a:ext cx="3714750" cy="476250"/>
            </a:xfrm>
            <a:custGeom>
              <a:avLst/>
              <a:gdLst/>
              <a:ahLst/>
              <a:cxnLst/>
              <a:rect l="l" t="t" r="r" b="b"/>
              <a:pathLst>
                <a:path w="3714750" h="476250">
                  <a:moveTo>
                    <a:pt x="0" y="0"/>
                  </a:moveTo>
                  <a:lnTo>
                    <a:pt x="3714750" y="0"/>
                  </a:lnTo>
                  <a:lnTo>
                    <a:pt x="3405188" y="476250"/>
                  </a:lnTo>
                  <a:lnTo>
                    <a:pt x="309562" y="476250"/>
                  </a:lnTo>
                  <a:close/>
                </a:path>
              </a:pathLst>
            </a:custGeom>
            <a:solidFill>
              <a:srgbClr val="0D344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3006" y="3400425"/>
              <a:ext cx="799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到场 · 6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405062" y="3857625"/>
              <a:ext cx="3095625" cy="476250"/>
            </a:xfrm>
            <a:custGeom>
              <a:avLst/>
              <a:gdLst/>
              <a:ahLst/>
              <a:cxnLst/>
              <a:rect l="l" t="t" r="r" b="b"/>
              <a:pathLst>
                <a:path w="3095625" h="476250">
                  <a:moveTo>
                    <a:pt x="0" y="0"/>
                  </a:moveTo>
                  <a:lnTo>
                    <a:pt x="3095625" y="0"/>
                  </a:lnTo>
                  <a:lnTo>
                    <a:pt x="2476500" y="476250"/>
                  </a:lnTo>
                  <a:lnTo>
                    <a:pt x="619125" y="476250"/>
                  </a:lnTo>
                  <a:close/>
                </a:path>
              </a:pathLst>
            </a:custGeom>
            <a:solidFill>
              <a:srgbClr val="0D3D4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40979" y="4019550"/>
              <a:ext cx="1223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安装完成 · 5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3024188" y="4476750"/>
              <a:ext cx="1857375" cy="476250"/>
            </a:xfrm>
            <a:custGeom>
              <a:avLst/>
              <a:gdLst/>
              <a:ahLst/>
              <a:cxnLst/>
              <a:rect l="l" t="t" r="r" b="b"/>
              <a:pathLst>
                <a:path w="1857375" h="476250">
                  <a:moveTo>
                    <a:pt x="0" y="0"/>
                  </a:moveTo>
                  <a:lnTo>
                    <a:pt x="1857375" y="0"/>
                  </a:lnTo>
                  <a:lnTo>
                    <a:pt x="1238250" y="476250"/>
                  </a:lnTo>
                  <a:lnTo>
                    <a:pt x="619125" y="476250"/>
                  </a:lnTo>
                  <a:close/>
                </a:path>
              </a:pathLst>
            </a:custGeom>
            <a:solidFill>
              <a:srgbClr val="17413E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40979" y="4638675"/>
              <a:ext cx="1223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进入联调 · 3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3643312" y="5095875"/>
              <a:ext cx="619125" cy="476250"/>
            </a:xfrm>
            <a:custGeom>
              <a:avLst/>
              <a:gdLst/>
              <a:ahLst/>
              <a:cxnLst/>
              <a:rect l="l" t="t" r="r" b="b"/>
              <a:pathLst>
                <a:path w="619125" h="476250">
                  <a:moveTo>
                    <a:pt x="0" y="0"/>
                  </a:moveTo>
                  <a:lnTo>
                    <a:pt x="619125" y="0"/>
                  </a:lnTo>
                  <a:lnTo>
                    <a:pt x="619125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8493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40979" y="5257800"/>
              <a:ext cx="1223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阶段验收 ·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7255" y="5838825"/>
              <a:ext cx="3690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主要损失发生在“到场→联调→验收”转化段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96200" y="1657350"/>
            <a:ext cx="3415475" cy="1104900"/>
            <a:chOff x="7696200" y="1657350"/>
            <a:chExt cx="3415475" cy="1104900"/>
          </a:xfrm>
        </p:grpSpPr>
        <p:sp>
          <p:nvSpPr>
            <p:cNvPr id="22" name="Line 22"/>
            <p:cNvSpPr/>
            <p:nvPr/>
          </p:nvSpPr>
          <p:spPr>
            <a:xfrm>
              <a:off x="7696200" y="165735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36230" y="1762125"/>
              <a:ext cx="1012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E02 · PVD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5468" y="2107882"/>
              <a:ext cx="1604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联调完成度 80%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0" y="246697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下一节点：8月22日厚度均匀性复测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96200" y="3086100"/>
            <a:ext cx="3213545" cy="1104900"/>
            <a:chOff x="7696200" y="3086100"/>
            <a:chExt cx="3213545" cy="1104900"/>
          </a:xfrm>
        </p:grpSpPr>
        <p:sp>
          <p:nvSpPr>
            <p:cNvPr id="27" name="Line 27"/>
            <p:cNvSpPr/>
            <p:nvPr/>
          </p:nvSpPr>
          <p:spPr>
            <a:xfrm>
              <a:off x="7696200" y="308610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36230" y="3190875"/>
              <a:ext cx="1012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E03 · CVD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5468" y="35366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安装完成，等待特气联锁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36230" y="3895725"/>
              <a:ext cx="2973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下一节点：8月29日启动带片联调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96200" y="4514850"/>
            <a:ext cx="3399072" cy="1104900"/>
            <a:chOff x="7696200" y="4514850"/>
            <a:chExt cx="3399072" cy="1104900"/>
          </a:xfrm>
        </p:grpSpPr>
        <p:sp>
          <p:nvSpPr>
            <p:cNvPr id="32" name="Line 32"/>
            <p:cNvSpPr/>
            <p:nvPr/>
          </p:nvSpPr>
          <p:spPr>
            <a:xfrm>
              <a:off x="7696200" y="451485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47625">
              <a:solidFill>
                <a:srgbClr val="FF6B6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36230" y="4619625"/>
              <a:ext cx="22779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E10 · DATA PLATFORM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35468" y="4965382"/>
              <a:ext cx="3159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合同谈判 90%，核心接口待锁定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6230" y="532447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决策节点：8月18日分段交付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65404" y="62903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演示用虚构数据｜设备包、状态、日期和阻塞均为案例设定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9296038" cy="766001"/>
            <a:chOff x="556260" y="419100"/>
            <a:chExt cx="9296038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92960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当前仅40%方法可执行，量测与数据链是共同瓶颈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6033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CAPABILITY COVERAGE · 8 AVAILABLE / 5 COMMISSIONING / 7 MISSING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2356" y="1520190"/>
            <a:ext cx="6152769" cy="4042410"/>
            <a:chOff x="562356" y="1520190"/>
            <a:chExt cx="6152769" cy="4042410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20190"/>
              <a:ext cx="2588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20类测试方法覆盖矩阵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63786" y="1854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可执行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92536" y="1854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联调中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21286" y="1854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B6B"/>
                  </a:solidFill>
                  <a:latin typeface="Consolas"/>
                  <a:ea typeface="Microsoft YaHei"/>
                  <a:cs typeface="Consolas"/>
                </a:rPr>
                <a:t>未具备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81250" y="2133600"/>
              <a:ext cx="4333875" cy="3429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8180" y="2314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等离子刻蚀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24125" y="2266950"/>
              <a:ext cx="1238250" cy="323850"/>
            </a:xfrm>
            <a:prstGeom prst="rect">
              <a:avLst/>
            </a:prstGeom>
            <a:solidFill>
              <a:srgbClr val="17483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86414" y="23498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57625" y="22669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19914" y="23498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91125" y="22669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29614" y="23498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180" y="2733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薄膜沉积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24125" y="2686050"/>
              <a:ext cx="1238250" cy="323850"/>
            </a:xfrm>
            <a:prstGeom prst="rect">
              <a:avLst/>
            </a:prstGeom>
            <a:solidFill>
              <a:srgbClr val="17483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86414" y="2768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57625" y="2686050"/>
              <a:ext cx="1238250" cy="323850"/>
            </a:xfrm>
            <a:prstGeom prst="rect">
              <a:avLst/>
            </a:prstGeom>
            <a:solidFill>
              <a:srgbClr val="4A3B2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19914" y="2768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91125" y="26860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29614" y="2768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180" y="3152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热处理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24125" y="3105150"/>
              <a:ext cx="1238250" cy="323850"/>
            </a:xfrm>
            <a:prstGeom prst="rect">
              <a:avLst/>
            </a:prstGeom>
            <a:solidFill>
              <a:srgbClr val="17483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86414" y="3188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57625" y="3105150"/>
              <a:ext cx="1238250" cy="323850"/>
            </a:xfrm>
            <a:prstGeom prst="rect">
              <a:avLst/>
            </a:prstGeom>
            <a:solidFill>
              <a:srgbClr val="4A3B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19914" y="3188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191125" y="31051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9614" y="3188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180" y="3571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湿法清洗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24125" y="35242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86414" y="36071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57625" y="3524250"/>
              <a:ext cx="1238250" cy="323850"/>
            </a:xfrm>
            <a:prstGeom prst="rect">
              <a:avLst/>
            </a:prstGeom>
            <a:solidFill>
              <a:srgbClr val="4A3B2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19914" y="36071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91125" y="3524250"/>
              <a:ext cx="1381125" cy="323850"/>
            </a:xfrm>
            <a:prstGeom prst="rect">
              <a:avLst/>
            </a:prstGeom>
            <a:solidFill>
              <a:srgbClr val="4B263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29614" y="36071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180" y="39909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真空诊断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24125" y="39433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86414" y="40262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857625" y="39433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19914" y="40262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91125" y="3943350"/>
              <a:ext cx="1381125" cy="323850"/>
            </a:xfrm>
            <a:prstGeom prst="rect">
              <a:avLst/>
            </a:prstGeom>
            <a:solidFill>
              <a:srgbClr val="4B263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29614" y="40262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180" y="4410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膜厚量测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524125" y="4362450"/>
              <a:ext cx="1238250" cy="323850"/>
            </a:xfrm>
            <a:prstGeom prst="rect">
              <a:avLst/>
            </a:prstGeom>
            <a:solidFill>
              <a:srgbClr val="17483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86414" y="44453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57625" y="43624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19914" y="44453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91125" y="4362450"/>
              <a:ext cx="1381125" cy="323850"/>
            </a:xfrm>
            <a:prstGeom prst="rect">
              <a:avLst/>
            </a:prstGeom>
            <a:solidFill>
              <a:srgbClr val="4B263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29614" y="44453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180" y="4829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电学测试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524125" y="47815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086414" y="4864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857625" y="47815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419914" y="4864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91125" y="4781550"/>
              <a:ext cx="1381125" cy="323850"/>
            </a:xfrm>
            <a:prstGeom prst="rect">
              <a:avLst/>
            </a:prstGeom>
            <a:solidFill>
              <a:srgbClr val="4B263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29614" y="4864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818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数据追溯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524125" y="5200650"/>
              <a:ext cx="1238250" cy="323850"/>
            </a:xfrm>
            <a:prstGeom prst="rect">
              <a:avLst/>
            </a:prstGeom>
            <a:solidFill>
              <a:srgbClr val="17483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86414" y="52835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857625" y="5200650"/>
              <a:ext cx="1238250" cy="323850"/>
            </a:xfrm>
            <a:prstGeom prst="rect">
              <a:avLst/>
            </a:prstGeom>
            <a:solidFill>
              <a:srgbClr val="4A3B2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419914" y="52835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91125" y="52006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29614" y="52835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801356" y="1520190"/>
            <a:ext cx="3342894" cy="2670810"/>
            <a:chOff x="7801356" y="1520190"/>
            <a:chExt cx="3342894" cy="2670810"/>
          </a:xfrm>
        </p:grpSpPr>
        <p:sp>
          <p:nvSpPr>
            <p:cNvPr id="68" name="TextBox 68"/>
            <p:cNvSpPr txBox="1"/>
            <p:nvPr/>
          </p:nvSpPr>
          <p:spPr>
            <a:xfrm>
              <a:off x="7801356" y="15201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已形成的最小能力闭环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810500" y="2000250"/>
              <a:ext cx="333375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12430" y="21621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E01 · 等离子刻蚀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9477375" y="25146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810500" y="2838450"/>
              <a:ext cx="333375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012430" y="3000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临时膜厚量测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477375" y="33528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810500" y="3676650"/>
              <a:ext cx="333375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12430" y="38385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批次日志与结果归档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772400" y="4381500"/>
            <a:ext cx="2900934" cy="1394651"/>
            <a:chOff x="7772400" y="4381500"/>
            <a:chExt cx="2900934" cy="1394651"/>
          </a:xfrm>
        </p:grpSpPr>
        <p:sp>
          <p:nvSpPr>
            <p:cNvPr id="78" name="Line 78"/>
            <p:cNvSpPr/>
            <p:nvPr/>
          </p:nvSpPr>
          <p:spPr>
            <a:xfrm>
              <a:off x="7772400" y="438150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012430" y="4467225"/>
              <a:ext cx="2660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18 BATCHES · 216 SAMPLES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11668" y="4812982"/>
              <a:ext cx="26218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E01 已验证 3 类案例配方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011668" y="51558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自动归档字段覆盖率 92%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13192" y="55121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下一目标：覆盖率 40% → 85%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84" name="TextBox 84"/>
            <p:cNvSpPr txBox="1"/>
            <p:nvPr/>
          </p:nvSpPr>
          <p:spPr>
            <a:xfrm>
              <a:off x="565404" y="629031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演示用虚构数据｜方法数、批次、样品数和覆盖率均为案例设定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144144" cy="766001"/>
            <a:chOff x="556260" y="419100"/>
            <a:chExt cx="10144144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14414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一次通过率仅40%，参数、设施与数据规则需并行收敛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3825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ACCEPTANCE SCOREBOARD · 4 PASS / 6 FAIL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2356" y="1520190"/>
            <a:ext cx="6676644" cy="4160711"/>
            <a:chOff x="562356" y="1520190"/>
            <a:chExt cx="6676644" cy="4160711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20190"/>
              <a:ext cx="2079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10项阶段验收指标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184142" y="156876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门槛 / 实测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16268" y="1568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状态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828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9892" y="19878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刻蚀重复性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4142" y="19878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≤2.0% / 1.6%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867525" y="19907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9892" y="23688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沉积重复性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4142" y="23688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≤2.5% / 2.2%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67525" y="23717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892" y="2749868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刻蚀72h可用率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4142" y="27498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≥95% / 96.2%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67525" y="27527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892" y="3130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报警响应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4142" y="3130868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≤3min / 2.4min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67525" y="31337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9892" y="3511868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沉积72h可用率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4142" y="35118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≥95% / 93.8%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867525" y="3514725"/>
              <a:ext cx="171450" cy="1714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9892" y="38928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刻蚀吞吐量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4142" y="389286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≥18 / 17.2 个·h⁻¹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67525" y="3895725"/>
              <a:ext cx="171450" cy="1714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9892" y="4273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真空恢复时间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4142" y="4273868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≤12 / 13.5 min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67525" y="4276725"/>
              <a:ext cx="171450" cy="1714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892" y="46548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热处理温度稳定性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84142" y="46548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≤±0.5℃ / ±0.7℃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67525" y="4657725"/>
              <a:ext cx="171450" cy="1714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9892" y="5035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数据链完整率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4142" y="5035868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≥99.5% / 98.8%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867525" y="5038725"/>
              <a:ext cx="171450" cy="1714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892" y="541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样品身份匹配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84142" y="54168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100% / 99.6%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867525" y="5419725"/>
              <a:ext cx="171450" cy="1714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810500" y="1524000"/>
            <a:ext cx="3810000" cy="1714500"/>
            <a:chOff x="7810500" y="1524000"/>
            <a:chExt cx="3810000" cy="1714500"/>
          </a:xfrm>
        </p:grpSpPr>
        <p:sp>
          <p:nvSpPr>
            <p:cNvPr id="41" name="Rectangle 41"/>
            <p:cNvSpPr/>
            <p:nvPr/>
          </p:nvSpPr>
          <p:spPr>
            <a:xfrm>
              <a:off x="7810500" y="1524000"/>
              <a:ext cx="3810000" cy="17145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10906" y="1672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一次通过率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01000" y="20916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40%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07880" y="2009775"/>
              <a:ext cx="1045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当前 4 / 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07880" y="2390775"/>
              <a:ext cx="15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10/31 目标 ≥80%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07880" y="2752725"/>
              <a:ext cx="15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12/10 目标 ≥90%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48600" y="3543300"/>
            <a:ext cx="3188970" cy="1045845"/>
            <a:chOff x="7848600" y="3543300"/>
            <a:chExt cx="3188970" cy="1045845"/>
          </a:xfrm>
        </p:grpSpPr>
        <p:sp>
          <p:nvSpPr>
            <p:cNvPr id="48" name="Line 48"/>
            <p:cNvSpPr/>
            <p:nvPr/>
          </p:nvSpPr>
          <p:spPr>
            <a:xfrm>
              <a:off x="7848600" y="35433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87106" y="3615690"/>
              <a:ext cx="1402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SOP 与人员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88630" y="4010025"/>
              <a:ext cx="2234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19 / 28 SOP APPROVED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8630" y="4295775"/>
              <a:ext cx="2948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31 / 46 OPERATORS CERTIFIED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848600" y="4762500"/>
            <a:ext cx="3234995" cy="1127951"/>
            <a:chOff x="7848600" y="4762500"/>
            <a:chExt cx="3234995" cy="1127951"/>
          </a:xfrm>
        </p:grpSpPr>
        <p:sp>
          <p:nvSpPr>
            <p:cNvPr id="53" name="Line 53"/>
            <p:cNvSpPr/>
            <p:nvPr/>
          </p:nvSpPr>
          <p:spPr>
            <a:xfrm>
              <a:off x="7848600" y="47625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121141" y="4902994"/>
              <a:ext cx="294509" cy="271462"/>
              <a:chOff x="8121141" y="4902994"/>
              <a:chExt cx="294509" cy="27146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121141" y="490299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22468" y="511413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601456" y="4930140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EHS 放行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88630" y="534352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开放问题 7 项｜高风险 0 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89392" y="5626418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特气、排风与报警联锁必须100%通过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3880" y="5895975"/>
            <a:ext cx="6229540" cy="293370"/>
            <a:chOff x="563880" y="5895975"/>
            <a:chExt cx="6229540" cy="293370"/>
          </a:xfrm>
        </p:grpSpPr>
        <p:sp>
          <p:nvSpPr>
            <p:cNvPr id="61" name="TextBox 61"/>
            <p:cNvSpPr txBox="1"/>
            <p:nvPr/>
          </p:nvSpPr>
          <p:spPr>
            <a:xfrm>
              <a:off x="563880" y="58959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关闭路径：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49730" y="58959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参数优化 3项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21380" y="58959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设施整改 2项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93030" y="589597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数据规则修订 1项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5404" y="6309360"/>
            <a:ext cx="11061192" cy="234696"/>
            <a:chOff x="565404" y="6309360"/>
            <a:chExt cx="110611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565404" y="630936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演示用虚构数据｜门槛与实测值均为案例内部管理口径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0732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674210" cy="766001"/>
            <a:chOff x="556260" y="419100"/>
            <a:chExt cx="10674210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6742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四项高关注风险共同挤压关键路径，最坏可造成15天延期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5188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CRITICAL PATH RISK · MANAGEMENT INTERVENTION REQUIRED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2356" y="1539240"/>
            <a:ext cx="5628894" cy="3894011"/>
            <a:chOff x="562356" y="1539240"/>
            <a:chExt cx="5628894" cy="3894011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四个风险杠杆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047750" y="22098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23925" y="2162175"/>
              <a:ext cx="247650" cy="2476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23925" y="3114675"/>
              <a:ext cx="247650" cy="2476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3925" y="40671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3925" y="50196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171575" y="22860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1130" y="1990725"/>
              <a:ext cx="1056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R01 · 70%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8618" y="1974532"/>
              <a:ext cx="1342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UPS容量不足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892" y="23117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多机联调延后8–12天｜动作：夜间切换扩容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171575" y="32385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21130" y="2943225"/>
              <a:ext cx="1056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R02 · 60%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8618" y="29270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数据平台合同未锁定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3264218"/>
              <a:ext cx="3603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数据验收延后10–15天｜动作：核心接口先行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171575" y="41910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1130" y="3895725"/>
              <a:ext cx="1056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R04 · 65%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8618" y="3879532"/>
              <a:ext cx="2305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E09物流晚于基线10天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892" y="421671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电学覆盖延至9月下旬｜动作：加急＋临时通道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171575" y="51435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21130" y="4848225"/>
              <a:ext cx="1056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R06 · 55%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8618" y="48320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量测资源不足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1892" y="516921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日均等待增加6小时｜动作：8周临时租用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34531" y="1539240"/>
            <a:ext cx="4711827" cy="3817811"/>
            <a:chOff x="6534531" y="1539240"/>
            <a:chExt cx="4711827" cy="3817811"/>
          </a:xfrm>
        </p:grpSpPr>
        <p:sp>
          <p:nvSpPr>
            <p:cNvPr id="29" name="TextBox 29"/>
            <p:cNvSpPr txBox="1"/>
            <p:nvPr/>
          </p:nvSpPr>
          <p:spPr>
            <a:xfrm>
              <a:off x="6944106" y="153924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概率 × 影响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239000" y="49530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239000" y="2000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2952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9239250" y="2000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prstDash val="dash"/>
            </a:ln>
          </p:spPr>
        </p:sp>
        <p:sp>
          <p:nvSpPr>
            <p:cNvPr id="33" name="Line 33"/>
            <p:cNvSpPr/>
            <p:nvPr/>
          </p:nvSpPr>
          <p:spPr>
            <a:xfrm>
              <a:off x="7239000" y="347662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prstDash val="dash"/>
            </a:ln>
          </p:spPr>
        </p:sp>
        <p:sp>
          <p:nvSpPr>
            <p:cNvPr id="34" name="Ellipse 34"/>
            <p:cNvSpPr/>
            <p:nvPr/>
          </p:nvSpPr>
          <p:spPr>
            <a:xfrm>
              <a:off x="9906000" y="2190750"/>
              <a:ext cx="571500" cy="571500"/>
            </a:xfrm>
            <a:prstGeom prst="ellipse">
              <a:avLst/>
            </a:prstGeom>
            <a:solidFill>
              <a:srgbClr val="FF6B6B">
                <a:alpha val="8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99307" y="238125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1827"/>
                  </a:solidFill>
                  <a:latin typeface="Consolas"/>
                  <a:ea typeface="Consolas"/>
                  <a:cs typeface="Consolas"/>
                </a:rPr>
                <a:t>R01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296400" y="1943100"/>
              <a:ext cx="647700" cy="647700"/>
            </a:xfrm>
            <a:prstGeom prst="ellipse">
              <a:avLst/>
            </a:prstGeom>
            <a:solidFill>
              <a:srgbClr val="FF6B6B">
                <a:alpha val="8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27807" y="217170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1827"/>
                  </a:solidFill>
                  <a:latin typeface="Consolas"/>
                  <a:ea typeface="Consolas"/>
                  <a:cs typeface="Consolas"/>
                </a:rPr>
                <a:t>R02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658350" y="2895600"/>
              <a:ext cx="495300" cy="49530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13557" y="304800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1827"/>
                  </a:solidFill>
                  <a:latin typeface="Consolas"/>
                  <a:ea typeface="Consolas"/>
                  <a:cs typeface="Consolas"/>
                </a:rPr>
                <a:t>R04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105900" y="3124200"/>
              <a:ext cx="457200" cy="45720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42057" y="325755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71827"/>
                  </a:solidFill>
                  <a:latin typeface="Consolas"/>
                  <a:ea typeface="Consolas"/>
                  <a:cs typeface="Consolas"/>
                </a:rPr>
                <a:t>R06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2142" y="50930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低概率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87431" y="50930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高概率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34531" y="4807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低影响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34531" y="1949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高影响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5715000"/>
            <a:ext cx="11049000" cy="398145"/>
            <a:chOff x="571500" y="5715000"/>
            <a:chExt cx="11049000" cy="398145"/>
          </a:xfrm>
        </p:grpSpPr>
        <p:sp>
          <p:nvSpPr>
            <p:cNvPr id="47" name="Rectangle 47"/>
            <p:cNvSpPr/>
            <p:nvPr/>
          </p:nvSpPr>
          <p:spPr>
            <a:xfrm>
              <a:off x="571500" y="5715000"/>
              <a:ext cx="4953000" cy="381000"/>
            </a:xfrm>
            <a:prstGeom prst="rect">
              <a:avLst/>
            </a:prstGeom>
            <a:solidFill>
              <a:srgbClr val="4B2630"/>
            </a:solidFill>
            <a:ln w="19050">
              <a:solidFill>
                <a:srgbClr val="FF6B6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3430" y="5819775"/>
              <a:ext cx="2944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 xml:space="preserve">不干预：关键路径最大延误 </a:t>
              </a:r>
              <a:r>
                <a:rPr lang="zh-CN" sz="1500" b="1" dirty="0">
                  <a:solidFill>
                    <a:srgbClr val="FF6B6B"/>
                  </a:solidFill>
                  <a:latin typeface="Consolas"/>
                  <a:ea typeface="Microsoft YaHei"/>
                  <a:cs typeface="Consolas"/>
                </a:rPr>
                <a:t>15天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905500" y="5715000"/>
              <a:ext cx="5715000" cy="381000"/>
            </a:xfrm>
            <a:prstGeom prst="rect">
              <a:avLst/>
            </a:prstGeom>
            <a:solidFill>
              <a:srgbClr val="17483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07430" y="5819775"/>
              <a:ext cx="2773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 xml:space="preserve">按节点决策：预计追回 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7–10天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5404" y="6309360"/>
            <a:ext cx="11061192" cy="234696"/>
            <a:chOff x="565404" y="6309360"/>
            <a:chExt cx="110611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565404" y="63093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演示用虚构数据｜风险、概率、影响和追回天数均为案例设定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732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10674210" cy="766001"/>
            <a:chOff x="556260" y="419100"/>
            <a:chExt cx="10674210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106742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未来13周按设施放行、设备收口、多机验证、预验收推进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4286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90-DAY EXECUTION ROADMAP · SEVEN EXIT GATES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7858" y="1501140"/>
            <a:ext cx="6851142" cy="4332161"/>
            <a:chOff x="387858" y="1501140"/>
            <a:chExt cx="6851142" cy="4332161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01140"/>
              <a:ext cx="1570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13周执行路线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428750" y="2000250"/>
              <a:ext cx="9525" cy="3571875"/>
            </a:xfrm>
            <a:custGeom>
              <a:avLst/>
              <a:gdLst/>
              <a:ahLst/>
              <a:cxnLst/>
              <a:rect l="l" t="t" r="r" b="b"/>
              <a:pathLst>
                <a:path w="9525" h="3571875">
                  <a:moveTo>
                    <a:pt x="0" y="0"/>
                  </a:moveTo>
                  <a:lnTo>
                    <a:pt x="0" y="3571875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428750" y="5572125"/>
              <a:ext cx="5810250" cy="9525"/>
            </a:xfrm>
            <a:custGeom>
              <a:avLst/>
              <a:gdLst/>
              <a:ahLst/>
              <a:cxnLst/>
              <a:rect l="l" t="t" r="r" b="b"/>
              <a:pathLst>
                <a:path w="5810250" h="9525">
                  <a:moveTo>
                    <a:pt x="0" y="0"/>
                  </a:moveTo>
                  <a:lnTo>
                    <a:pt x="58102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14450" y="1981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9084" y="2006918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W1–2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4505" y="1876425"/>
              <a:ext cx="3420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关闭9个设施整改项，完成E04安装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5267" y="2140268"/>
              <a:ext cx="3230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出口：除UPS外，G1设施可用条件满足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314450" y="2552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9084" y="2578418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W3–4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54505" y="2447925"/>
              <a:ext cx="4633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特气联锁关闭，3台设备联调，UPS达到600 kVA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55267" y="2711768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出口：关键联锁100%通过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314450" y="3124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9084" y="3149918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W5–6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3019425"/>
              <a:ext cx="4406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E07/E08/E09安装完成，新增4类可执行方法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5267" y="3283268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出口：9台设备安装检查100%关闭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314450" y="36957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084" y="3721418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W7–8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54505" y="3590925"/>
              <a:ext cx="3545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打通4台设备、2套量测与1套数据平台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55267" y="3854768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出口：连续300条记录无断链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14450" y="42672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3471" y="4292918"/>
              <a:ext cx="580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W9–10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54505" y="4162425"/>
              <a:ext cx="39695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10台设备安装收口，至少8项核心指标通过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55267" y="4426268"/>
              <a:ext cx="2375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出口：M6核心设备安装完成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1314450" y="48387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7858" y="4864418"/>
              <a:ext cx="685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W11–12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54505" y="4733925"/>
              <a:ext cx="3333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4台核心设备完成72小时稳定性验证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55267" y="499776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出口：核心指标一次通过率≥80%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1295400" y="53911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4698" y="5435918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W13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4505" y="530542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形成预验收报告，冻结重大未决项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55267" y="5569268"/>
              <a:ext cx="2759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出口：具备M7多机联调验收条件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39100" y="1543050"/>
            <a:ext cx="3581400" cy="4095750"/>
            <a:chOff x="8039100" y="1543050"/>
            <a:chExt cx="3581400" cy="4095750"/>
          </a:xfrm>
        </p:grpSpPr>
        <p:sp>
          <p:nvSpPr>
            <p:cNvPr id="38" name="Rectangle 38"/>
            <p:cNvSpPr/>
            <p:nvPr/>
          </p:nvSpPr>
          <p:spPr>
            <a:xfrm>
              <a:off x="8039100" y="1543050"/>
              <a:ext cx="3581400" cy="4095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336756" y="1840706"/>
              <a:ext cx="300038" cy="300038"/>
              <a:chOff x="8336756" y="1840706"/>
              <a:chExt cx="300038" cy="30003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36756" y="207406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70119" y="184070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70094" y="1874044"/>
                <a:ext cx="250031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233362">
                    <a:moveTo>
                      <a:pt x="100012" y="233362"/>
                    </a:moveTo>
                    <a:lnTo>
                      <a:pt x="191691" y="233362"/>
                    </a:lnTo>
                    <a:cubicBezTo>
                      <a:pt x="223911" y="233362"/>
                      <a:pt x="250031" y="207243"/>
                      <a:pt x="250031" y="175022"/>
                    </a:cubicBezTo>
                    <a:cubicBezTo>
                      <a:pt x="250031" y="142801"/>
                      <a:pt x="223911" y="116681"/>
                      <a:pt x="191691" y="116681"/>
                    </a:cubicBezTo>
                    <a:lnTo>
                      <a:pt x="58341" y="116681"/>
                    </a:lnTo>
                    <a:cubicBezTo>
                      <a:pt x="26120" y="116681"/>
                      <a:pt x="0" y="9056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849106" y="1882140"/>
              <a:ext cx="1570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90天预期结果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286750" y="2381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79892" y="2654618"/>
              <a:ext cx="1223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INSTALLATION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51674" y="2606040"/>
              <a:ext cx="1392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50% → 100%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9892" y="3226118"/>
              <a:ext cx="1665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METHOD COVERAGE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91612" y="317754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40% → 85%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9892" y="3797618"/>
              <a:ext cx="1501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FIRST-PASS RATE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51674" y="3749040"/>
              <a:ext cx="1392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40% → ≥80%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9892" y="4369118"/>
              <a:ext cx="1453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CERTIFIED STAFF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73259" y="4320540"/>
              <a:ext cx="8706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31 → 42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286750" y="4857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79130" y="5076825"/>
              <a:ext cx="3183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四项结果均依赖D01–D05按期决策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565404" y="62903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演示用虚构数据｜时间窗、任务、交付和目标均为案例设定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732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50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6260" y="419100"/>
            <a:ext cx="9211227" cy="766001"/>
            <a:chOff x="556260" y="419100"/>
            <a:chExt cx="9211227" cy="766001"/>
          </a:xfrm>
        </p:grpSpPr>
        <p:sp>
          <p:nvSpPr>
            <p:cNvPr id="3" name="TextBox 3"/>
            <p:cNvSpPr txBox="1"/>
            <p:nvPr/>
          </p:nvSpPr>
          <p:spPr>
            <a:xfrm>
              <a:off x="556260" y="419100"/>
              <a:ext cx="921122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五项决策须在8月21日前完成，才能守住阶段验收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532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MANAGEMENT DECISION BOARD · APPROVE / ADJUST / RETURN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1704975"/>
            <a:ext cx="4201439" cy="4072509"/>
            <a:chOff x="742950" y="1704975"/>
            <a:chExt cx="4201439" cy="4072509"/>
          </a:xfrm>
        </p:grpSpPr>
        <p:sp>
          <p:nvSpPr>
            <p:cNvPr id="6" name="Line 6"/>
            <p:cNvSpPr/>
            <p:nvPr/>
          </p:nvSpPr>
          <p:spPr>
            <a:xfrm>
              <a:off x="857250" y="18097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8383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5380" y="1704975"/>
              <a:ext cx="1258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D01 · 08/16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3856" y="1996440"/>
              <a:ext cx="3423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UPS配电屏扩容｜追加120万元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23117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不决策：多机联调延后8–12天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69557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2562225"/>
              <a:ext cx="1258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D02 · 08/18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853690"/>
              <a:ext cx="38105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数据平台分段交付｜首阶段260万元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3168968"/>
              <a:ext cx="2694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不决策：数据链验收延后10–15天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2950" y="35528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5380" y="3419475"/>
              <a:ext cx="1258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D03 · 08/19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3710940"/>
              <a:ext cx="35682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8周临时量测与校准服务｜35万元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402621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不决策：验证排队日均增加6小时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2950" y="441007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4276725"/>
              <a:ext cx="1258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D04 · 08/20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3856" y="4568190"/>
              <a:ext cx="37947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E09加急物流＋临时通道｜18万元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6142" y="4883468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不决策：电学能力覆盖延至9月下旬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2950" y="52673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5380" y="5133975"/>
              <a:ext cx="1258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D05 · 08/21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3856" y="5425440"/>
              <a:ext cx="3083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调配6名全职人员，持续10周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81950" y="1664018"/>
            <a:ext cx="3257550" cy="1808416"/>
            <a:chOff x="7981950" y="1664018"/>
            <a:chExt cx="3257550" cy="1808416"/>
          </a:xfrm>
        </p:grpSpPr>
        <p:sp>
          <p:nvSpPr>
            <p:cNvPr id="27" name="TextBox 27"/>
            <p:cNvSpPr txBox="1"/>
            <p:nvPr/>
          </p:nvSpPr>
          <p:spPr>
            <a:xfrm>
              <a:off x="7994142" y="1664018"/>
              <a:ext cx="18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DECISION WINDOW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1950" y="2103120"/>
              <a:ext cx="249792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5 DAYS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001000" y="29527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856" y="3120390"/>
              <a:ext cx="20658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8月16日 → 8月21日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1856" y="3729990"/>
            <a:ext cx="3146679" cy="1354455"/>
            <a:chOff x="7991856" y="3729990"/>
            <a:chExt cx="3146679" cy="1354455"/>
          </a:xfrm>
        </p:grpSpPr>
        <p:sp>
          <p:nvSpPr>
            <p:cNvPr id="32" name="TextBox 32"/>
            <p:cNvSpPr txBox="1"/>
            <p:nvPr/>
          </p:nvSpPr>
          <p:spPr>
            <a:xfrm>
              <a:off x="7991856" y="3729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管理原则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3380" y="41433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阶段验收优先，允许分层放行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3380" y="4467225"/>
              <a:ext cx="1434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EHS红线不豁免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3380" y="479107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延期&gt;5天或预算偏差&gt;10%自动升级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5353050"/>
            <a:ext cx="3557237" cy="657606"/>
            <a:chOff x="8001000" y="5353050"/>
            <a:chExt cx="3557237" cy="657606"/>
          </a:xfrm>
        </p:grpSpPr>
        <p:sp>
          <p:nvSpPr>
            <p:cNvPr id="37" name="Rectangle 37"/>
            <p:cNvSpPr/>
            <p:nvPr/>
          </p:nvSpPr>
          <p:spPr>
            <a:xfrm>
              <a:off x="8001000" y="5353050"/>
              <a:ext cx="3524250" cy="6477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258969" y="5559425"/>
              <a:ext cx="202407" cy="229394"/>
              <a:chOff x="8258969" y="5559425"/>
              <a:chExt cx="202407" cy="22939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258969" y="5559425"/>
                <a:ext cx="161925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1">
                    <a:moveTo>
                      <a:pt x="62274" y="215901"/>
                    </a:move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0413" y="573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12944" y="561340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12944" y="566737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715756" y="5539740"/>
              <a:ext cx="2842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批准　/　调整　/　退回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0308" y="5775960"/>
              <a:ext cx="1710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TARGET · 2026-12-15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5404" y="6309360"/>
            <a:ext cx="11061192" cy="234696"/>
            <a:chOff x="565404" y="6309360"/>
            <a:chExt cx="110611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565404" y="630936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演示用虚构数据｜金额、日期、资源和后果不构成真实投资或采购建议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732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miconductor_platform_progress_case">
  <a:themeElements>
    <a:clrScheme name="semiconductor_platform_progress_case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semiconductor_platform_progress_cas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miconductor_platform_progress_ca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miconductor_platform_progress_case">
  <a:themeElements>
    <a:clrScheme name="semiconductor_platform_progress_case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semiconductor_platform_progress_cas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miconductor_platform_progress_ca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2026-08-13T15:10:51Z</dcterms:created>
  <dcterms:modified xsi:type="dcterms:W3CDTF">2026-08-13T15:10:51Z</dcterms:modified>
  <cp:category/>
  <cp:contentStatus/>
</cp:coreProperties>
</file>