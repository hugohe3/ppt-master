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各位好。这是一份演示用虚构周报，所有数字都不代表真实工厂。本周浸没金属层 L28 的随机缺陷密度是每平方厘米零点四二，对照八周基线零点一八。三十六片送检，问题集中在扫描起停点，也就是水印路径，而不是漏检。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记住四件事。密度确实升了，但捕获率百分之九十一，和基线百分之九十三几乎持平，所以不是工具变瞎。干扰缺陷升到百分之十八，说明配方偏热。颗粒颗数最高，可水印杀伤比零点六二才是第一优先。四个杀伤批次全部落在 S02。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请看空间图。S02 扫描条带的起停点密度是片心的三点四倍，边缘五毫米环带占了百分之四十一的事件。鉴别口诀来自文献机制：水印不改变线距、截面有 T 形顶；气泡会放大线距并带条纹。本周圆形缺陷里百分之七十九符合水印。S01 和 S03 接近随机，所以不是来料暴发。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左边按颗数，颗粒百分之三十一高于水印百分之二十八。右边按杀伤比，水印零点六二、微桥零点四一、颗粒只有零点一八。SEM 看不见的点占百分之十二，先不进杀伤排序。结论是不要按最高柱去打颗粒。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漏斗从三十六降到十一、七、四个杀伤批次。四个编号都在同一浸没头周期。动作是关闭 S02 残液，不是全线停机。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S01 密度零点一七、S03 零点一九，都在基线内。S02 密度零点七一，空白片颗粒数二十七。当层相对前层新增零点二四。请把动作收到 S02。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捕获率仍是百分之九十一。干扰缺陷百分之十八、SEM 再定位看不见百分之二十二，会把总数抬高。假点百分之零点八仍低于百分之一。红线是本周冻结检测阈值，避免把灵敏度下降误读成缺陷回收。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五件事：S02 保养并做清洗前后空白片；核对后淋洗是否赶在烘干前完成；颗粒改为观察项；阈值冻到第三十五周；超限片 SEM 抽样提到六十点，直到看不见比例低于百分之十五。不决策的话，下周仍分不清工艺和检测。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inspection_weekl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inspection_weekl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7398" y="540068"/>
            <a:ext cx="4929816" cy="1279207"/>
            <a:chOff x="517398" y="540068"/>
            <a:chExt cx="4929816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3383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DEFECT INSPECTION · 2026-W33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879158"/>
              <a:ext cx="49298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浸没式光刻缺陷检测周报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4558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L28 ADI ｜ 36 lot ｜ 数据日 2026-08-13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4419600" cy="9525"/>
            </a:xfrm>
            <a:custGeom>
              <a:avLst/>
              <a:gdLst/>
              <a:ahLst/>
              <a:cxnLst/>
              <a:rect l="l" t="t" r="r" b="b"/>
              <a:pathLst>
                <a:path w="4419600" h="9525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14350" y="2349818"/>
            <a:ext cx="3590925" cy="2353627"/>
            <a:chOff x="514350" y="2349818"/>
            <a:chExt cx="3590925" cy="235362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1767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RANDOM D0 /cm²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350" y="2830830"/>
              <a:ext cx="2090517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0.42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33400" y="37719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3400" y="3676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95750" y="3676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4256" y="3977640"/>
              <a:ext cx="3083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8 周基线 0.18 ｜ 上升 133%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780" y="44100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捕获率 91%，不是漏检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898642" y="2114550"/>
            <a:ext cx="4274058" cy="3223451"/>
            <a:chOff x="5898642" y="2114550"/>
            <a:chExt cx="4274058" cy="3223451"/>
          </a:xfrm>
        </p:grpSpPr>
        <p:sp>
          <p:nvSpPr>
            <p:cNvPr id="16" name="Ellipse 16"/>
            <p:cNvSpPr/>
            <p:nvPr/>
          </p:nvSpPr>
          <p:spPr>
            <a:xfrm>
              <a:off x="6972300" y="2114550"/>
              <a:ext cx="3200400" cy="3200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162800" y="2305050"/>
              <a:ext cx="2819400" cy="2819400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524750" y="2667000"/>
              <a:ext cx="2095500" cy="2095500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9000" y="2362200"/>
              <a:ext cx="2667000" cy="2095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39000" y="27813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39000" y="31242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0" y="34671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39000" y="38100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39000" y="41529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39000" y="4857750"/>
              <a:ext cx="2667000" cy="2095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296150" y="24098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734550" y="24098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296150" y="490537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734550" y="490537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905500" y="24669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98642" y="2216468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SCAN START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98642" y="5073968"/>
              <a:ext cx="9546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SCAN STOP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88858" y="36099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S02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35" name="Rectangle 35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3534" y="6236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71827"/>
                  </a:solidFill>
                  <a:latin typeface="Arial"/>
                  <a:ea typeface="Microsoft YaHei"/>
                  <a:cs typeface="Arial"/>
                </a:rPr>
                <a:t>演示用虚构案例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95104" y="62522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6440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捕获率稳定，水印才是本周 killer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P02 / 08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409700"/>
            <a:ext cx="3429000" cy="4762500"/>
            <a:chOff x="457200" y="1409700"/>
            <a:chExt cx="342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457200" y="1409700"/>
              <a:ext cx="3429000" cy="4762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01548" y="1635938"/>
              <a:ext cx="197104" cy="237667"/>
            </a:xfrm>
            <a:custGeom>
              <a:avLst/>
              <a:gdLst/>
              <a:ahLst/>
              <a:cxnLst/>
              <a:rect l="l" t="t" r="r" b="b"/>
              <a:pathLst>
                <a:path w="197104" h="237667">
                  <a:moveTo>
                    <a:pt x="41427" y="210934"/>
                  </a:moveTo>
                  <a:cubicBezTo>
                    <a:pt x="74473" y="237667"/>
                    <a:pt x="122644" y="237667"/>
                    <a:pt x="155676" y="210934"/>
                  </a:cubicBezTo>
                  <a:cubicBezTo>
                    <a:pt x="188722" y="184200"/>
                    <a:pt x="197104" y="138442"/>
                    <a:pt x="175564" y="102400"/>
                  </a:cubicBezTo>
                  <a:lnTo>
                    <a:pt x="113462" y="10198"/>
                  </a:lnTo>
                  <a:cubicBezTo>
                    <a:pt x="108128" y="2261"/>
                    <a:pt x="97117" y="0"/>
                    <a:pt x="88874" y="5156"/>
                  </a:cubicBezTo>
                  <a:cubicBezTo>
                    <a:pt x="86805" y="6454"/>
                    <a:pt x="85032" y="8172"/>
                    <a:pt x="83667" y="10198"/>
                  </a:cubicBezTo>
                  <a:lnTo>
                    <a:pt x="21526" y="102400"/>
                  </a:lnTo>
                  <a:cubicBezTo>
                    <a:pt x="0" y="138442"/>
                    <a:pt x="8382" y="184200"/>
                    <a:pt x="41427" y="210934"/>
                  </a:cubicBez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9942" y="1683068"/>
              <a:ext cx="1367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L28 RANDOM D0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6750" y="23393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0.42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307657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/cm² vs 基线 0.18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5433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6656" y="3806190"/>
              <a:ext cx="15691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4 个 killer lot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200525"/>
              <a:ext cx="1124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ALL ON S02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48072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当层 adder +0.24，不是来料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191000" y="1409700"/>
            <a:ext cx="4506397" cy="4762500"/>
            <a:chOff x="4191000" y="1409700"/>
            <a:chExt cx="4506397" cy="4762500"/>
          </a:xfrm>
        </p:grpSpPr>
        <p:sp>
          <p:nvSpPr>
            <p:cNvPr id="17" name="Line 17"/>
            <p:cNvSpPr/>
            <p:nvPr/>
          </p:nvSpPr>
          <p:spPr>
            <a:xfrm>
              <a:off x="4267200" y="14097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191000" y="1615440"/>
              <a:ext cx="3217545" cy="649605"/>
              <a:chOff x="4191000" y="1615440"/>
              <a:chExt cx="3217545" cy="64960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191000" y="1714500"/>
                <a:ext cx="152400" cy="15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529138" y="1633538"/>
                <a:ext cx="200025" cy="200025"/>
                <a:chOff x="4529138" y="1633538"/>
                <a:chExt cx="200025" cy="2000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529138" y="165576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651375" y="174466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662488" y="16335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529138" y="17668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595813" y="1772444"/>
                  <a:ext cx="55563" cy="16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16669">
                      <a:moveTo>
                        <a:pt x="0" y="16669"/>
                      </a:moveTo>
                      <a:lnTo>
                        <a:pt x="55563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68031" y="1694657"/>
                  <a:ext cx="86789" cy="59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89" h="59674">
                      <a:moveTo>
                        <a:pt x="0" y="0"/>
                      </a:moveTo>
                      <a:lnTo>
                        <a:pt x="86789" y="59674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3588" y="1666875"/>
                  <a:ext cx="8890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1113">
                      <a:moveTo>
                        <a:pt x="0" y="11113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4867656" y="1615440"/>
                <a:ext cx="22764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进展 D0 上升 133%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69180" y="1971675"/>
                <a:ext cx="253936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36 lot 送检，11 个光学超限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191000" y="2606040"/>
              <a:ext cx="4506397" cy="649605"/>
              <a:chOff x="4191000" y="2606040"/>
              <a:chExt cx="4506397" cy="64960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4191000" y="27051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540250" y="2635250"/>
                <a:ext cx="177801" cy="177801"/>
                <a:chOff x="4540250" y="2635250"/>
                <a:chExt cx="177801" cy="17780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540250" y="2635250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44450"/>
                      </a:move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540250" y="2768601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0" y="22225"/>
                      </a:lnTo>
                      <a:cubicBezTo>
                        <a:pt x="0" y="34500"/>
                        <a:pt x="9950" y="44450"/>
                        <a:pt x="22225" y="44450"/>
                      </a:cubicBezTo>
                      <a:lnTo>
                        <a:pt x="44450" y="4445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73601" y="2635250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22225" y="0"/>
                      </a:ln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4445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673601" y="2768601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44450"/>
                      </a:moveTo>
                      <a:lnTo>
                        <a:pt x="22225" y="44450"/>
                      </a:lnTo>
                      <a:cubicBezTo>
                        <a:pt x="34500" y="44450"/>
                        <a:pt x="44450" y="34500"/>
                        <a:pt x="44450" y="22225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584700" y="267970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645819" y="2740819"/>
                  <a:ext cx="27781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1" h="27781">
                      <a:moveTo>
                        <a:pt x="27781" y="2778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4867656" y="2606040"/>
                <a:ext cx="249899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可信度 捕获 91% 持平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69180" y="2962275"/>
                <a:ext cx="38282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基线 93%。Nuisance 18% 偏热，不是漏检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191000" y="3596640"/>
              <a:ext cx="4429125" cy="649605"/>
              <a:chOff x="4191000" y="3596640"/>
              <a:chExt cx="4429125" cy="649605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4191000" y="3695700"/>
                <a:ext cx="152400" cy="152400"/>
              </a:xfrm>
              <a:prstGeom prst="ellipse">
                <a:avLst/>
              </a:prstGeom>
              <a:solidFill>
                <a:srgbClr val="FF6B6B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4517079" y="3611046"/>
                <a:ext cx="224134" cy="192560"/>
                <a:chOff x="4517079" y="3611046"/>
                <a:chExt cx="224134" cy="19256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4629150" y="3681413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22225">
                  <a:solidFill>
                    <a:srgbClr val="FF6B6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517079" y="3611046"/>
                  <a:ext cx="224134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4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3"/>
                      </a:cubicBezTo>
                      <a:cubicBezTo>
                        <a:pt x="7482" y="188388"/>
                        <a:pt x="14426" y="192476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3" y="192473"/>
                        <a:pt x="216653" y="188387"/>
                        <a:pt x="220393" y="181826"/>
                      </a:cubicBezTo>
                      <a:cubicBezTo>
                        <a:pt x="224134" y="175264"/>
                        <a:pt x="224114" y="167211"/>
                        <a:pt x="220341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10" y="0"/>
                        <a:pt x="112071" y="0"/>
                      </a:cubicBezTo>
                      <a:cubicBezTo>
                        <a:pt x="104633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22225">
                  <a:solidFill>
                    <a:srgbClr val="FF6B6B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629150" y="37592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22225">
                  <a:solidFill>
                    <a:srgbClr val="FF6B6B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4867656" y="3596640"/>
                <a:ext cx="25117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类型 水印杀伤比 0.62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869180" y="3952875"/>
                <a:ext cx="375094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颗粒颗数最高 31%，但 kill ratio 仅 0.18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191000" y="4587240"/>
              <a:ext cx="4400074" cy="649605"/>
              <a:chOff x="4191000" y="4587240"/>
              <a:chExt cx="4400074" cy="649605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4191000" y="4686300"/>
                <a:ext cx="152400" cy="15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4540250" y="4616450"/>
                <a:ext cx="177800" cy="177800"/>
                <a:chOff x="4540250" y="4616450"/>
                <a:chExt cx="177800" cy="17780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4584700" y="461645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540250" y="46609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4867656" y="4587240"/>
                <a:ext cx="25960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工具 4/4 killer 在 S02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869180" y="4943475"/>
                <a:ext cx="37218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S01 / S03 仍在基线内。本周冻结 recipe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4869942" y="5683568"/>
              <a:ext cx="3518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判断：先关 S02 残液，不按颗粒柱改工艺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空间签名沿扫描起停点，符合残液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P03 / 08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6542" y="1397318"/>
            <a:ext cx="4426458" cy="4816983"/>
            <a:chOff x="526542" y="1397318"/>
            <a:chExt cx="4426458" cy="4816983"/>
          </a:xfrm>
        </p:grpSpPr>
        <p:sp>
          <p:nvSpPr>
            <p:cNvPr id="7" name="Ellipse 7"/>
            <p:cNvSpPr/>
            <p:nvPr/>
          </p:nvSpPr>
          <p:spPr>
            <a:xfrm>
              <a:off x="1143000" y="1905000"/>
              <a:ext cx="3810000" cy="3810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28750" y="2190750"/>
              <a:ext cx="3238500" cy="3238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  <a:custDash>
                <a:ds d="300000" sp="300000"/>
              </a:custDash>
            </a:ln>
          </p:spPr>
        </p:sp>
        <p:sp>
          <p:nvSpPr>
            <p:cNvPr id="9" name="Rectangle 9"/>
            <p:cNvSpPr/>
            <p:nvPr/>
          </p:nvSpPr>
          <p:spPr>
            <a:xfrm>
              <a:off x="1428750" y="2190750"/>
              <a:ext cx="3238500" cy="266700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28750" y="5162550"/>
              <a:ext cx="3238500" cy="266700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428750" y="2762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428750" y="3143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428750" y="3524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28750" y="3905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428750" y="4286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428750" y="4667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4358" y="36861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048000" y="16002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73392" y="1397318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起停点密度 = 片心 3.4×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542" y="5950268"/>
              <a:ext cx="27034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虚线环：边缘 5 mm，占事件 41%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67856" y="1721168"/>
            <a:ext cx="4771644" cy="4220527"/>
            <a:chOff x="6467856" y="1721168"/>
            <a:chExt cx="4771644" cy="4220527"/>
          </a:xfrm>
        </p:grpSpPr>
        <p:sp>
          <p:nvSpPr>
            <p:cNvPr id="22" name="TextBox 22"/>
            <p:cNvSpPr txBox="1"/>
            <p:nvPr/>
          </p:nvSpPr>
          <p:spPr>
            <a:xfrm>
              <a:off x="6470142" y="1721168"/>
              <a:ext cx="1377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DISCRIMINATION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477000" y="20383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7856" y="226314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水印 watermark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380" y="2638425"/>
              <a:ext cx="2250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pitch 不变 · 表面 T-top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9380" y="29622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本周圆形缺陷中占 79%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856" y="3539490"/>
              <a:ext cx="1314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气泡 bubble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380" y="391477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pitch 放大 · 剂量条纹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9380" y="423862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本周仅 7%，不是主因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856" y="481584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S01 / S03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9380" y="5191125"/>
              <a:ext cx="1933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近随机，边缘仅 1.2×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9380" y="56483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结论：残液路径，不是来料颗粒暴发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按杀伤比加权后，水印优先于颗粒柱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P04 / 08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2742" y="1530668"/>
            <a:ext cx="6064758" cy="4175188"/>
            <a:chOff x="602742" y="1530668"/>
            <a:chExt cx="6064758" cy="4175188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530668"/>
              <a:ext cx="1531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SEM CLASS n=280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53340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971800"/>
              <a:ext cx="609600" cy="23622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1276" y="27660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31%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1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颗粒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81150" y="3200400"/>
              <a:ext cx="609600" cy="213360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30426" y="29946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28%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1831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水印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00300" y="4267200"/>
              <a:ext cx="609600" cy="106680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49576" y="40614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14%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374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微桥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19450" y="4419600"/>
              <a:ext cx="609600" cy="914400"/>
            </a:xfrm>
            <a:prstGeom prst="rect">
              <a:avLst/>
            </a:prstGeom>
            <a:noFill/>
            <a:ln w="19050">
              <a:solidFill>
                <a:srgbClr val="8BA9B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68726" y="42138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12%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77336" y="54711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SNV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38600" y="4800600"/>
              <a:ext cx="609600" cy="5334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32300" y="4594860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57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气泡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857750" y="5029200"/>
              <a:ext cx="609600" cy="3048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1450" y="4823460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14138" y="54711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反气泡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76900" y="5029200"/>
              <a:ext cx="609600" cy="3048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70600" y="4823460"/>
              <a:ext cx="222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14060" y="5471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其他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028700" y="43529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847850" y="34956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667000" y="3067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486150" y="2705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05300" y="24955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124450" y="23717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943600" y="2247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Polyline 38"/>
            <p:cNvSpPr/>
            <p:nvPr/>
          </p:nvSpPr>
          <p:spPr>
            <a:xfrm>
              <a:off x="1066800" y="2286000"/>
              <a:ext cx="4914900" cy="2105025"/>
            </a:xfrm>
            <a:custGeom>
              <a:avLst/>
              <a:gdLst/>
              <a:ahLst/>
              <a:cxnLst/>
              <a:rect l="l" t="t" r="r" b="b"/>
              <a:pathLst>
                <a:path w="4914900" h="2105025">
                  <a:moveTo>
                    <a:pt x="0" y="2105025"/>
                  </a:moveTo>
                  <a:lnTo>
                    <a:pt x="819150" y="1247775"/>
                  </a:lnTo>
                  <a:lnTo>
                    <a:pt x="1638300" y="819150"/>
                  </a:lnTo>
                  <a:lnTo>
                    <a:pt x="2457450" y="457200"/>
                  </a:lnTo>
                  <a:lnTo>
                    <a:pt x="3276600" y="247650"/>
                  </a:lnTo>
                  <a:lnTo>
                    <a:pt x="4095750" y="123825"/>
                  </a:ln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89904" y="2061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累计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382256" y="1721168"/>
            <a:ext cx="4047744" cy="4125277"/>
            <a:chOff x="7382256" y="1721168"/>
            <a:chExt cx="4047744" cy="4125277"/>
          </a:xfrm>
        </p:grpSpPr>
        <p:sp>
          <p:nvSpPr>
            <p:cNvPr id="41" name="TextBox 41"/>
            <p:cNvSpPr txBox="1"/>
            <p:nvPr/>
          </p:nvSpPr>
          <p:spPr>
            <a:xfrm>
              <a:off x="7384542" y="1721168"/>
              <a:ext cx="964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KILL RATIO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391400" y="20383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82256" y="23583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水印 0.62 优先 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91400" y="2705100"/>
              <a:ext cx="2952750" cy="9525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91400" y="2705100"/>
              <a:ext cx="1828800" cy="9525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82256" y="30441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微桥 0.41 优先 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91400" y="3390900"/>
              <a:ext cx="2952750" cy="952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91400" y="3390900"/>
              <a:ext cx="1209675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82256" y="37299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气泡 0.35 优先 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91400" y="4076700"/>
              <a:ext cx="2952750" cy="952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91400" y="4076700"/>
              <a:ext cx="10287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82256" y="4415790"/>
              <a:ext cx="1872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颗粒 0.18 优先 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91400" y="4762500"/>
              <a:ext cx="2952750" cy="95250"/>
            </a:xfrm>
            <a:prstGeom prst="rect">
              <a:avLst/>
            </a:prstGeom>
            <a:noFill/>
            <a:ln w="19050">
              <a:solidFill>
                <a:srgbClr val="8BA9B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1400" y="4762500"/>
              <a:ext cx="533400" cy="95250"/>
            </a:xfrm>
            <a:prstGeom prst="rect">
              <a:avLst/>
            </a:prstGeom>
            <a:solidFill>
              <a:srgbClr val="8BA9B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4542" y="5188268"/>
              <a:ext cx="1953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SNV 12% 不进杀伤排序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3780" y="5553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不要按颗数最高柱打颗粒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0396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检测漏斗收敛到 4 个 S02 killer lot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P05 / 08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28750" y="1809750"/>
            <a:ext cx="9525000" cy="3242501"/>
            <a:chOff x="1428750" y="1809750"/>
            <a:chExt cx="9525000" cy="3242501"/>
          </a:xfrm>
        </p:grpSpPr>
        <p:sp>
          <p:nvSpPr>
            <p:cNvPr id="7" name="Rectangle 7"/>
            <p:cNvSpPr/>
            <p:nvPr/>
          </p:nvSpPr>
          <p:spPr>
            <a:xfrm>
              <a:off x="1428750" y="1809750"/>
              <a:ext cx="9525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3582" y="18821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52929" y="2159318"/>
              <a:ext cx="6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送检 lot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0" y="24193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76500" y="2686050"/>
              <a:ext cx="48958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53582" y="27584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25668" y="3035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光学超限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0" y="32956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43250" y="3562350"/>
              <a:ext cx="41529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20219" y="36347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90692" y="3911918"/>
              <a:ext cx="810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SEM 复核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41719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0" y="4438650"/>
              <a:ext cx="36004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FF6B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20219" y="45110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02951" y="4788218"/>
              <a:ext cx="786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killer lot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9100" y="5653088"/>
            <a:ext cx="5781532" cy="599313"/>
            <a:chOff x="799100" y="5653088"/>
            <a:chExt cx="5781532" cy="599313"/>
          </a:xfrm>
        </p:grpSpPr>
        <p:grpSp>
          <p:nvGrpSpPr>
            <p:cNvPr id="26" name="Group 26"/>
            <p:cNvGrpSpPr/>
            <p:nvPr/>
          </p:nvGrpSpPr>
          <p:grpSpPr>
            <a:xfrm>
              <a:off x="799100" y="5653088"/>
              <a:ext cx="192513" cy="200028"/>
              <a:chOff x="799100" y="5653088"/>
              <a:chExt cx="192513" cy="20002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9100" y="5653088"/>
                <a:ext cx="192513" cy="200028"/>
              </a:xfrm>
              <a:custGeom>
                <a:avLst/>
                <a:gdLst/>
                <a:ahLst/>
                <a:cxnLst/>
                <a:rect l="l" t="t" r="r" b="b"/>
                <a:pathLst>
                  <a:path w="192513" h="200028">
                    <a:moveTo>
                      <a:pt x="11651" y="0"/>
                    </a:moveTo>
                    <a:lnTo>
                      <a:pt x="180851" y="0"/>
                    </a:lnTo>
                    <a:cubicBezTo>
                      <a:pt x="184421" y="3"/>
                      <a:pt x="187772" y="1721"/>
                      <a:pt x="189859" y="4617"/>
                    </a:cubicBezTo>
                    <a:cubicBezTo>
                      <a:pt x="191945" y="7514"/>
                      <a:pt x="192513" y="11237"/>
                      <a:pt x="191385" y="14624"/>
                    </a:cubicBezTo>
                    <a:lnTo>
                      <a:pt x="134656" y="184824"/>
                    </a:lnTo>
                    <a:cubicBezTo>
                      <a:pt x="131632" y="193904"/>
                      <a:pt x="123134" y="200028"/>
                      <a:pt x="113564" y="200026"/>
                    </a:cubicBezTo>
                    <a:lnTo>
                      <a:pt x="78937" y="200026"/>
                    </a:lnTo>
                    <a:cubicBezTo>
                      <a:pt x="69367" y="200028"/>
                      <a:pt x="60870" y="193904"/>
                      <a:pt x="57846" y="184824"/>
                    </a:cubicBezTo>
                    <a:lnTo>
                      <a:pt x="1128" y="14624"/>
                    </a:lnTo>
                    <a:cubicBezTo>
                      <a:pt x="0" y="11239"/>
                      <a:pt x="567" y="7518"/>
                      <a:pt x="2651" y="4622"/>
                    </a:cubicBezTo>
                    <a:cubicBezTo>
                      <a:pt x="4735" y="1726"/>
                      <a:pt x="8083" y="6"/>
                      <a:pt x="11651" y="0"/>
                    </a:cubicBez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563" y="5719763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9788" y="5786438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35380" y="5667375"/>
              <a:ext cx="544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L33-S02-07 · L33-S02-09 · L33-S02-12 · L33-S02-18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6142" y="5988368"/>
              <a:ext cx="4478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同一浸没头周期。动作是关 S02 残液，不是全线停。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8066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只有 S02 的 D0 与 PWP 同时漂移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P06 / 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8942" y="1606868"/>
            <a:ext cx="6179058" cy="4365688"/>
            <a:chOff x="678942" y="1606868"/>
            <a:chExt cx="6179058" cy="4365688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606868"/>
              <a:ext cx="2177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D0 /cm² vs PWP #/wafer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5143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3000" y="4552950"/>
              <a:ext cx="457200" cy="5905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52600" y="4324350"/>
              <a:ext cx="457200" cy="8191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7806" y="43472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0679" y="4118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2758" y="52863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48000" y="2667000"/>
              <a:ext cx="457200" cy="247650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57600" y="2667000"/>
              <a:ext cx="457200" cy="24765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92806" y="24612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0.71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1255" y="2461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97758" y="52863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4486275"/>
              <a:ext cx="457200" cy="6572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562600" y="4143375"/>
              <a:ext cx="457200" cy="100012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97806" y="42805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96255" y="39376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02758" y="5286375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Arial"/>
                  <a:cs typeface="Arial"/>
                </a:rPr>
                <a:t>S03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5715000"/>
              <a:ext cx="171450" cy="1714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604" y="57378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D0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600200" y="5715000"/>
              <a:ext cx="171450" cy="1714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60804" y="57378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PWP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54112" y="1824990"/>
            <a:ext cx="3485388" cy="3640455"/>
            <a:chOff x="7754112" y="1824990"/>
            <a:chExt cx="3485388" cy="3640455"/>
          </a:xfrm>
        </p:grpSpPr>
        <p:grpSp>
          <p:nvGrpSpPr>
            <p:cNvPr id="31" name="Group 31"/>
            <p:cNvGrpSpPr/>
            <p:nvPr/>
          </p:nvGrpSpPr>
          <p:grpSpPr>
            <a:xfrm>
              <a:off x="7823200" y="1841500"/>
              <a:ext cx="203200" cy="203200"/>
              <a:chOff x="7823200" y="1841500"/>
              <a:chExt cx="203200" cy="203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874000" y="1841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23200" y="18923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182356" y="1824990"/>
              <a:ext cx="1241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当层 adder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54112" y="2278380"/>
              <a:ext cx="14359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+0.24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4780" y="288607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/cm² vs 前层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772400" y="33528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63256" y="36156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S01 0.17 基线内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3256" y="4072890"/>
              <a:ext cx="1669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S02 0.71 超限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3256" y="45300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S03 0.19 基线内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4780" y="5172075"/>
              <a:ext cx="2778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动作收到 S02，不是全浸没线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总数上升被 nuisance 放大，不要先收阈值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P07 / 08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656" y="1710690"/>
            <a:ext cx="10310070" cy="3590544"/>
            <a:chOff x="676656" y="1710690"/>
            <a:chExt cx="10310070" cy="3590544"/>
          </a:xfrm>
        </p:grpSpPr>
        <p:grpSp>
          <p:nvGrpSpPr>
            <p:cNvPr id="11" name="Group 11"/>
            <p:cNvGrpSpPr/>
            <p:nvPr/>
          </p:nvGrpSpPr>
          <p:grpSpPr>
            <a:xfrm>
              <a:off x="676656" y="1710690"/>
              <a:ext cx="9416644" cy="630555"/>
              <a:chOff x="676656" y="1710690"/>
              <a:chExt cx="9416644" cy="63055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76656" y="1710690"/>
                <a:ext cx="1564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Capture rate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8180" y="20478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91% 基线 93%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4953000" y="1733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946642" y="1759268"/>
                <a:ext cx="11466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DOI 捕获稳定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76656" y="2853690"/>
              <a:ext cx="9255995" cy="630555"/>
              <a:chOff x="676656" y="2853690"/>
              <a:chExt cx="9255995" cy="63055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76656" y="2853690"/>
                <a:ext cx="1031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Nuisance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78180" y="3190875"/>
                <a:ext cx="11763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Consolas"/>
                    <a:ea typeface="Microsoft YaHei"/>
                    <a:cs typeface="Consolas"/>
                  </a:rPr>
                  <a:t>18% 基线 9%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4953000" y="2876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946642" y="2902268"/>
                <a:ext cx="9860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recipe 偏热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76656" y="3996690"/>
              <a:ext cx="10310070" cy="630555"/>
              <a:chOff x="676656" y="3996690"/>
              <a:chExt cx="10310070" cy="630555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76656" y="39966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SNV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8180" y="433387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Consolas"/>
                    <a:ea typeface="Microsoft YaHei"/>
                    <a:cs typeface="Consolas"/>
                  </a:rPr>
                  <a:t>22% 基线 11%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953000" y="4019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46642" y="4045268"/>
                <a:ext cx="204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前层 + 视场，不全是假点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76656" y="4949190"/>
              <a:ext cx="4380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False 0.8% （基线 0.6%，仍低于 1%）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5410200"/>
            <a:ext cx="11125200" cy="685800"/>
            <a:chOff x="533400" y="5410200"/>
            <a:chExt cx="11125200" cy="685800"/>
          </a:xfrm>
        </p:grpSpPr>
        <p:sp>
          <p:nvSpPr>
            <p:cNvPr id="24" name="Rectangle 24"/>
            <p:cNvSpPr/>
            <p:nvPr/>
          </p:nvSpPr>
          <p:spPr>
            <a:xfrm>
              <a:off x="533400" y="5410200"/>
              <a:ext cx="11125200" cy="68580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86319" y="5634581"/>
              <a:ext cx="256151" cy="220068"/>
              <a:chOff x="786319" y="5634581"/>
              <a:chExt cx="256151" cy="22006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14400" y="57150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FF6B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86319" y="56345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FF6B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14400" y="58038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6B6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10056" y="5654040"/>
              <a:ext cx="7445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红线：本周冻结 recipe 阈值。收热会同时打掉捕获率，造成假回收。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98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5853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本周先关 S02 残液，recipe 冻结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P08 / 08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600200"/>
            <a:ext cx="11125200" cy="4152900"/>
            <a:chOff x="533400" y="1600200"/>
            <a:chExt cx="11125200" cy="41529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600200"/>
              <a:ext cx="11125200" cy="723900"/>
              <a:chOff x="533400" y="1600200"/>
              <a:chExt cx="11125200" cy="7239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8440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D01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05356" y="1844040"/>
                <a:ext cx="43324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浸没头 / 台面 PM，清洗前后 PWP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33400" y="2457450"/>
              <a:ext cx="11125200" cy="723900"/>
              <a:chOff x="533400" y="2457450"/>
              <a:chExt cx="11125200" cy="7239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45745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29056" y="27012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D02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5356" y="2701290"/>
                <a:ext cx="47120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核查 post-rinse 是否赶在 PEB 前完成干燥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3314700"/>
              <a:ext cx="11125200" cy="723900"/>
              <a:chOff x="533400" y="3314700"/>
              <a:chExt cx="11125200" cy="7239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33147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9056" y="35585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5356" y="3558540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颗粒柱降为观察项，不作为第一工艺改动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4171950"/>
              <a:ext cx="11125200" cy="723900"/>
              <a:chOff x="533400" y="4171950"/>
              <a:chExt cx="11125200" cy="723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417195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FF6B6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9056" y="441579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D04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5356" y="4415790"/>
                <a:ext cx="25831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recipe 阈值冻结到 W35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5029200"/>
              <a:ext cx="11125200" cy="723900"/>
              <a:chOff x="533400" y="5029200"/>
              <a:chExt cx="11125200" cy="7239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33400" y="50292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29056" y="52730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D05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05356" y="5273040"/>
                <a:ext cx="55982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S02 超限 lot SEM 抽样提到 60 点，直到 SNV&lt;15%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95104" y="6480810"/>
              <a:ext cx="2145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DEF-INSP-W33-08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inspection_weekly">
  <a:themeElements>
    <a:clrScheme name="immersion_defect_inspection_weekly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immersion_defect_inspection_weekly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inspection_weekl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inspection_weekly">
  <a:themeElements>
    <a:clrScheme name="immersion_defect_inspection_weekly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immersion_defect_inspection_weekly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inspection_weekl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2026-08-14T02:42:26Z</dcterms:created>
  <dcterms:modified xsi:type="dcterms:W3CDTF">2026-08-14T02:42:26Z</dcterms:modified>
  <cp:category/>
  <cp:contentStatus/>
</cp:coreProperties>
</file>