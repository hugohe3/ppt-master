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Good morning / good afternoon. My name is Rattanakorn Rattanaroj — most people call me Jan. I'm a Pharm.D. graduate from Srinakarinwirot University with a GPA of 3.50, and I'm genuinely excited to be here today as a candidate for the Medical Representative role on the Clexane portfolio.</a:t>
            </a:r>
          </a:p>
          <a:p>
            <a:endParaRPr lang="zh-CN" dirty="0"/>
          </a:p>
          <a:p>
            <a:r>
              <a:rPr lang="zh-CN" dirty="0"/>
              <a:t>Let me give you a quick picture of who I am. I have a strong pharmaceutical science background — I understand how drugs work at a molecular level, how they move through the body, and how to interpret the clinical trial data that physicians rely on. That foundation lets me walk into a cardiologist's office and have a real conversation about anti-Xa activity, not just read from a detail aid.</a:t>
            </a:r>
          </a:p>
          <a:p>
            <a:endParaRPr lang="zh-CN" dirty="0"/>
          </a:p>
          <a:p>
            <a:r>
              <a:rPr lang="zh-CN" dirty="0"/>
              <a:t>More importantly, I've already done this job. During my internship at Roche Thailand, I conducted solo physician visits across Ramathibodi, Bhumibol Adulyadej, and EENT Hospital. I planned my own call cycles, managed follow-up schedules, and handled objections in real clinical settings — not in a classroom.</a:t>
            </a:r>
          </a:p>
          <a:p>
            <a:endParaRPr lang="zh-CN" dirty="0"/>
          </a:p>
          <a:p>
            <a:r>
              <a:rPr lang="zh-CN" dirty="0"/>
              <a:t>Finally, I want to work on Clexane specifically because the evidence base is exceptional and the unmet need in Thailand's acute care settings is real. I want to be the MR who bridges that gap for physicians at PMK and beyond.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I've done my homework on Clexane, so let me walk you through what I believe a great MR needs to know about this product.</a:t>
            </a:r>
          </a:p>
          <a:p>
            <a:endParaRPr lang="zh-CN" dirty="0"/>
          </a:p>
          <a:p>
            <a:r>
              <a:rPr lang="zh-CN" dirty="0"/>
              <a:t>On the mechanism side: Clexane is a low-molecular-weight heparin that works by binding antithrombin III and amplifying its inhibition of Factor Xa. The key ratio is about 3.8 to 1 — anti-Xa over anti-IIa activity. That selectivity is what gives Clexane its predictable dose-response and makes routine monitoring unnecessary in most patients. From a pharmacokinetics standpoint, subcutaneous bioavailability is around 92%, anti-Xa peaks at 3 to 5 hours, and the half-life is about 4.5 hours. Weight-based dosing — 1 mg/kg twice daily for therapeutic use — is straightforward.</a:t>
            </a:r>
          </a:p>
          <a:p>
            <a:endParaRPr lang="zh-CN" dirty="0"/>
          </a:p>
          <a:p>
            <a:r>
              <a:rPr lang="zh-CN" dirty="0"/>
              <a:t>In terms of indications, Clexane covers VTE prophylaxis in surgical and medical patients, DVT and PE treatment, ACS adjunct therapy based on ESSENCE and SYNERGY trial data, and is the anticoagulant of choice in pregnancy because it does not cross the placenta.</a:t>
            </a:r>
          </a:p>
          <a:p>
            <a:endParaRPr lang="zh-CN" dirty="0"/>
          </a:p>
          <a:p>
            <a:r>
              <a:rPr lang="zh-CN" dirty="0"/>
              <a:t>When I'm talking to a physician about why Clexane versus UFH, the key messages are: no aPTT monitoring, once or twice daily injection instead of a continuous IV drip, lower HIT risk, and outpatient use. Versus DOACs, I emphasize renal safety, pregnancy use, reversibility with protamine, decades of RCT evidence, and national drug list availability in Thailand.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My target territory centers on PMK — Phramongkutklao Hospital — which I see as the anchor account for the Clexane role. It has high volume across cardiology, orthopedics, and general surgery, which are all major Clexane-using specialties.</a:t>
            </a:r>
          </a:p>
          <a:p>
            <a:endParaRPr lang="zh-CN" dirty="0"/>
          </a:p>
          <a:p>
            <a:r>
              <a:rPr lang="zh-CN" dirty="0"/>
              <a:t>From PMK, I would build out to Ramathibodi — where I already have relationships from my Roche internship — and Bhumibol Adulyadej Hospital, which has a significant trauma and surgical caseload. Chulalongkorn offers an academic KOL opportunity. Phyathai and the Paolo network would be a Tier 2 pipeline for later in the year.</a:t>
            </a:r>
          </a:p>
          <a:p>
            <a:endParaRPr lang="zh-CN" dirty="0"/>
          </a:p>
          <a:p>
            <a:r>
              <a:rPr lang="zh-CN" dirty="0"/>
              <a:t>For physician prioritization, I would start with Priority A accounts: cardiologists at PMK for the ACS use case, and orthopedic surgeons at PMK for post-operative VTE prophylaxis. Both are twice-weekly call targets. Priority B would be internists at Ramathibodi and hematologists at Chulalongkorn — weekly visits once the PMK relationships are established.</a:t>
            </a:r>
          </a:p>
          <a:p>
            <a:endParaRPr lang="zh-CN" dirty="0"/>
          </a:p>
          <a:p>
            <a:r>
              <a:rPr lang="zh-CN" dirty="0"/>
              <a:t>My Roche experience matters here specifically because I know how to navigate a busy academic hospital. I know the gatekeeper structure, the scheduling rhythm, and how to be respectful of physician time while still being effective.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ADAPT framework is how I approach every physician call. It's not a script — it's a mindset that keeps the physician's clinical reality at the center.</a:t>
            </a:r>
          </a:p>
          <a:p>
            <a:endParaRPr lang="zh-CN" dirty="0"/>
          </a:p>
          <a:p>
            <a:r>
              <a:rPr lang="zh-CN" dirty="0"/>
              <a:t>A is Assess: before I walk in, I review the physician's specialty, patient mix, and current prescribing behavior. I prepare relevant data rather than walking in cold.</a:t>
            </a:r>
          </a:p>
          <a:p>
            <a:endParaRPr lang="zh-CN" dirty="0"/>
          </a:p>
          <a:p>
            <a:r>
              <a:rPr lang="zh-CN" dirty="0"/>
              <a:t>D is Discover: in the call, I ask open questions to surface the physician's actual challenges. "What concerns do you have with your current anticoagulation approach?" I listen much more than I talk at this stage.</a:t>
            </a:r>
          </a:p>
          <a:p>
            <a:endParaRPr lang="zh-CN" dirty="0"/>
          </a:p>
          <a:p>
            <a:r>
              <a:rPr lang="zh-CN" dirty="0"/>
              <a:t>A is Activate: once I understand their need, I connect Clexane's evidence to that specific problem. If a cardiologist is worried about monitoring burden in the ICU, I lead with the no-aPTT-monitoring advantage and back it with the ESSENCE data.</a:t>
            </a:r>
          </a:p>
          <a:p>
            <a:endParaRPr lang="zh-CN" dirty="0"/>
          </a:p>
          <a:p>
            <a:r>
              <a:rPr lang="zh-CN" dirty="0"/>
              <a:t>P is Project: I help the physician visualize the patient outcome. "Your DVT patients can be discharged a day earlier because they can self-administer at home." Making the benefit tangible is what moves prescribing behavior.</a:t>
            </a:r>
          </a:p>
          <a:p>
            <a:endParaRPr lang="zh-CN" dirty="0"/>
          </a:p>
          <a:p>
            <a:r>
              <a:rPr lang="zh-CN" dirty="0"/>
              <a:t>T is Tie Down: I always leave with a concrete next step agreed. That might be a trial case, a follow-up appointment, or a commitment to try Clexane on specific patient types.</a:t>
            </a:r>
          </a:p>
          <a:p>
            <a:endParaRPr lang="zh-CN" dirty="0"/>
          </a:p>
          <a:p>
            <a:r>
              <a:rPr lang="zh-CN" dirty="0"/>
              <a:t>I used this approach at Roche — I described a real example of getting a cardiologist at Bhumibol to agree to a Clexane pilot in one call by working through all five steps.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I want to be honest in this section because I believe self-awareness is as important in an MR as it is in a pharmacist.</a:t>
            </a:r>
          </a:p>
          <a:p>
            <a:endParaRPr lang="zh-CN" dirty="0"/>
          </a:p>
          <a:p>
            <a:r>
              <a:rPr lang="zh-CN" dirty="0"/>
              <a:t>My three strengths: First, my pharmaceutical science foundation. I can explain Clexane's mechanism to a hematologist with genuine depth — that builds physician trust faster than a product brochure. Second, real MR field experience. I didn't just observe visits during my Roche internship; I conducted them independently. I know how to manage a call, handle an objection, and leave with a next step. Third, communication and empathy — I'm comfortable talking science with a senior physician and also adapting my language for a ward pharmacist. That range matters in real territory work.</a:t>
            </a:r>
          </a:p>
          <a:p>
            <a:endParaRPr lang="zh-CN" dirty="0"/>
          </a:p>
          <a:p>
            <a:r>
              <a:rPr lang="zh-CN" dirty="0"/>
              <a:t>On development areas: I'm honest that I don't have specific Clexane MR history — but I've addressed that through self-study on the prescribing information and the ESSENCE and SYNERGY trial data. My second area is formal CRM systems — my internship used manual tracking. I'm confident I'll pick up DKSH's system quickly because I'm detail-oriented and organized.</a:t>
            </a:r>
          </a:p>
          <a:p>
            <a:endParaRPr lang="zh-CN" dirty="0"/>
          </a:p>
          <a:p>
            <a:r>
              <a:rPr lang="zh-CN" dirty="0"/>
              <a:t>I want DKSH to see me as a head start, not a blank slate. The learning curve on product specifics is short. What takes years to build — clinical credibility with physicians and the discipline to work a territory independently — I already have.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Thank you sincerely for the time and for the opportunity to present today.</a:t>
            </a:r>
          </a:p>
          <a:p>
            <a:endParaRPr lang="zh-CN" dirty="0"/>
          </a:p>
          <a:p>
            <a:r>
              <a:rPr lang="zh-CN" dirty="0"/>
              <a:t>I came in prepared because Clexane matters. This product has strong evidence, a clear place in Thai acute care medicine, and I want to be the person who brings that message to PMK and the broader Bangkok network.</a:t>
            </a:r>
          </a:p>
          <a:p>
            <a:endParaRPr lang="zh-CN" dirty="0"/>
          </a:p>
          <a:p>
            <a:r>
              <a:rPr lang="zh-CN" dirty="0"/>
              <a:t>If there's one thing I want you to take from this deck, it's that I can be trusted to represent Clexane® credibly on day one — and to grow into a top MR within the first year.</a:t>
            </a:r>
          </a:p>
          <a:p>
            <a:endParaRPr lang="zh-CN" dirty="0"/>
          </a:p>
          <a:p>
            <a:r>
              <a:rPr lang="zh-CN" dirty="0"/>
              <a:t>I welcome any questions. And I'm ready.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3810000" cy="6496050"/>
          </a:xfrm>
          <a:prstGeom prst="rect">
            <a:avLst/>
          </a:prstGeom>
          <a:solidFill>
            <a:srgbClr val="F5F5F5"/>
          </a:solidFill>
          <a:ln>
            <a:noFill/>
          </a:ln>
        </p:spPr>
      </p:sp>
      <p:sp>
        <p:nvSpPr>
          <p:cNvPr id="4" name="Rectangle 4"/>
          <p:cNvSpPr/>
          <p:nvPr/>
        </p:nvSpPr>
        <p:spPr>
          <a:xfrm>
            <a:off x="0" y="0"/>
            <a:ext cx="3810000" cy="47625"/>
          </a:xfrm>
          <a:prstGeom prst="rect">
            <a:avLst/>
          </a:prstGeom>
          <a:solidFill>
            <a:srgbClr val="AE232F"/>
          </a:solidFill>
          <a:ln>
            <a:noFill/>
          </a:ln>
        </p:spPr>
      </p:sp>
      <p:sp>
        <p:nvSpPr>
          <p:cNvPr id="5" name="Rectangle 5"/>
          <p:cNvSpPr/>
          <p:nvPr/>
        </p:nvSpPr>
        <p:spPr>
          <a:xfrm>
            <a:off x="3810000" y="0"/>
            <a:ext cx="76200" cy="6496050"/>
          </a:xfrm>
          <a:prstGeom prst="rect">
            <a:avLst/>
          </a:prstGeom>
          <a:solidFill>
            <a:srgbClr val="AE232F"/>
          </a:solidFill>
          <a:ln>
            <a:noFill/>
          </a:ln>
        </p:spPr>
      </p:sp>
      <p:sp>
        <p:nvSpPr>
          <p:cNvPr id="6" name="Rectangle 6"/>
          <p:cNvSpPr/>
          <p:nvPr/>
        </p:nvSpPr>
        <p:spPr>
          <a:xfrm>
            <a:off x="3886200" y="0"/>
            <a:ext cx="8305800" cy="47625"/>
          </a:xfrm>
          <a:prstGeom prst="rect">
            <a:avLst/>
          </a:prstGeom>
          <a:solidFill>
            <a:srgbClr val="8A1B25"/>
          </a:solidFill>
          <a:ln>
            <a:noFill/>
          </a:ln>
        </p:spPr>
      </p:sp>
      <p:grpSp>
        <p:nvGrpSpPr>
          <p:cNvPr id="11" name="Group 11"/>
          <p:cNvGrpSpPr/>
          <p:nvPr/>
        </p:nvGrpSpPr>
        <p:grpSpPr>
          <a:xfrm>
            <a:off x="666750" y="400050"/>
            <a:ext cx="2476500" cy="2790825"/>
            <a:chOff x="666750" y="400050"/>
            <a:chExt cx="2476500" cy="2790825"/>
          </a:xfrm>
        </p:grpSpPr>
        <p:sp>
          <p:nvSpPr>
            <p:cNvPr id="7" name="Rectangle 7"/>
            <p:cNvSpPr/>
            <p:nvPr/>
          </p:nvSpPr>
          <p:spPr>
            <a:xfrm>
              <a:off x="666750" y="400050"/>
              <a:ext cx="2476500" cy="2790825"/>
            </a:xfrm>
            <a:prstGeom prst="roundRect">
              <a:avLst>
                <a:gd name="adj" fmla="val 4615"/>
              </a:avLst>
            </a:prstGeom>
            <a:solidFill>
              <a:srgbClr val="F9E5E7"/>
            </a:solidFill>
            <a:ln w="19050">
              <a:solidFill>
                <a:srgbClr val="AE232F"/>
              </a:solidFill>
            </a:ln>
          </p:spPr>
        </p:sp>
        <p:sp>
          <p:nvSpPr>
            <p:cNvPr id="8" name="Ellipse 8"/>
            <p:cNvSpPr/>
            <p:nvPr/>
          </p:nvSpPr>
          <p:spPr>
            <a:xfrm>
              <a:off x="1409700" y="790575"/>
              <a:ext cx="990600" cy="990600"/>
            </a:xfrm>
            <a:prstGeom prst="ellipse">
              <a:avLst/>
            </a:prstGeom>
            <a:solidFill>
              <a:srgbClr val="AE232F">
                <a:alpha val="12000"/>
              </a:srgbClr>
            </a:solidFill>
            <a:ln>
              <a:noFill/>
            </a:ln>
          </p:spPr>
        </p:sp>
        <p:sp>
          <p:nvSpPr>
            <p:cNvPr id="9" name="Ellipse 9"/>
            <p:cNvSpPr/>
            <p:nvPr/>
          </p:nvSpPr>
          <p:spPr>
            <a:xfrm>
              <a:off x="1219200" y="2095500"/>
              <a:ext cx="1371600" cy="990600"/>
            </a:xfrm>
            <a:prstGeom prst="ellipse">
              <a:avLst/>
            </a:prstGeom>
            <a:solidFill>
              <a:srgbClr val="AE232F">
                <a:alpha val="8000"/>
              </a:srgbClr>
            </a:solidFill>
            <a:ln>
              <a:noFill/>
            </a:ln>
          </p:spPr>
        </p:sp>
        <p:sp>
          <p:nvSpPr>
            <p:cNvPr id="10" name="TextBox 10"/>
            <p:cNvSpPr txBox="1"/>
            <p:nvPr/>
          </p:nvSpPr>
          <p:spPr>
            <a:xfrm>
              <a:off x="1479816" y="2904649"/>
              <a:ext cx="850368" cy="198120"/>
            </a:xfrm>
            <a:prstGeom prst="rect">
              <a:avLst/>
            </a:prstGeom>
            <a:noFill/>
            <a:ln>
              <a:noFill/>
            </a:ln>
          </p:spPr>
          <p:txBody>
            <a:bodyPr wrap="none" lIns="0" tIns="0" rIns="0" bIns="0" anchor="t" anchorCtr="0">
              <a:spAutoFit/>
            </a:bodyPr>
            <a:lstStyle/>
            <a:p>
              <a:pPr algn="ctr"/>
              <a:r>
                <a:rPr lang="zh-CN" sz="975" i="1" dirty="0">
                  <a:solidFill>
                    <a:srgbClr val="888888"/>
                  </a:solidFill>
                  <a:latin typeface="Arial"/>
                  <a:ea typeface="Microsoft YaHei"/>
                  <a:cs typeface="Arial"/>
                </a:rPr>
                <a:t>[Photo: Jan]</a:t>
              </a:r>
            </a:p>
          </p:txBody>
        </p:sp>
      </p:grpSp>
      <p:grpSp>
        <p:nvGrpSpPr>
          <p:cNvPr id="15" name="Group 15"/>
          <p:cNvGrpSpPr/>
          <p:nvPr/>
        </p:nvGrpSpPr>
        <p:grpSpPr>
          <a:xfrm>
            <a:off x="915238" y="3375660"/>
            <a:ext cx="1979524" cy="641509"/>
            <a:chOff x="915238" y="3375660"/>
            <a:chExt cx="1979524" cy="641509"/>
          </a:xfrm>
        </p:grpSpPr>
        <p:sp>
          <p:nvSpPr>
            <p:cNvPr id="12" name="TextBox 12"/>
            <p:cNvSpPr txBox="1"/>
            <p:nvPr/>
          </p:nvSpPr>
          <p:spPr>
            <a:xfrm>
              <a:off x="915238" y="3375660"/>
              <a:ext cx="1979524" cy="243840"/>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Rattanakorn Rattanaroj</a:t>
              </a:r>
            </a:p>
          </p:txBody>
        </p:sp>
        <p:sp>
          <p:nvSpPr>
            <p:cNvPr id="13" name="TextBox 13"/>
            <p:cNvSpPr txBox="1"/>
            <p:nvPr/>
          </p:nvSpPr>
          <p:spPr>
            <a:xfrm>
              <a:off x="1658731" y="3585210"/>
              <a:ext cx="492538" cy="243840"/>
            </a:xfrm>
            <a:prstGeom prst="rect">
              <a:avLst/>
            </a:prstGeom>
            <a:noFill/>
            <a:ln>
              <a:noFill/>
            </a:ln>
          </p:spPr>
          <p:txBody>
            <a:bodyPr wrap="none" lIns="0" tIns="0" rIns="0" bIns="0" anchor="t" anchorCtr="0">
              <a:spAutoFit/>
            </a:bodyPr>
            <a:lstStyle/>
            <a:p>
              <a:pPr algn="ctr"/>
              <a:r>
                <a:rPr lang="zh-CN" sz="1200" b="1" dirty="0">
                  <a:solidFill>
                    <a:srgbClr val="AE232F"/>
                  </a:solidFill>
                  <a:latin typeface="Arial"/>
                  <a:ea typeface="Microsoft YaHei"/>
                  <a:cs typeface="Arial"/>
                </a:rPr>
                <a:t>(Jan)</a:t>
              </a:r>
            </a:p>
          </p:txBody>
        </p:sp>
        <p:sp>
          <p:nvSpPr>
            <p:cNvPr id="14" name="TextBox 14"/>
            <p:cNvSpPr txBox="1"/>
            <p:nvPr/>
          </p:nvSpPr>
          <p:spPr>
            <a:xfrm>
              <a:off x="1125522" y="3819049"/>
              <a:ext cx="1558957" cy="198120"/>
            </a:xfrm>
            <a:prstGeom prst="rect">
              <a:avLst/>
            </a:prstGeom>
            <a:noFill/>
            <a:ln>
              <a:noFill/>
            </a:ln>
          </p:spPr>
          <p:txBody>
            <a:bodyPr wrap="none" lIns="0" tIns="0" rIns="0" bIns="0" anchor="t" anchorCtr="0">
              <a:spAutoFit/>
            </a:bodyPr>
            <a:lstStyle/>
            <a:p>
              <a:pPr algn="ctr"/>
              <a:r>
                <a:rPr lang="zh-CN" sz="975" dirty="0">
                  <a:solidFill>
                    <a:srgbClr val="555555"/>
                  </a:solidFill>
                  <a:latin typeface="Arial"/>
                  <a:ea typeface="Microsoft YaHei"/>
                  <a:cs typeface="Arial"/>
                </a:rPr>
                <a:t>Pharm.D. | MR Candidate</a:t>
              </a:r>
            </a:p>
          </p:txBody>
        </p:sp>
      </p:grpSp>
      <p:grpSp>
        <p:nvGrpSpPr>
          <p:cNvPr id="20" name="Group 20"/>
          <p:cNvGrpSpPr/>
          <p:nvPr/>
        </p:nvGrpSpPr>
        <p:grpSpPr>
          <a:xfrm>
            <a:off x="666750" y="4095750"/>
            <a:ext cx="2476500" cy="1838325"/>
            <a:chOff x="666750" y="4095750"/>
            <a:chExt cx="2476500" cy="1838325"/>
          </a:xfrm>
        </p:grpSpPr>
        <p:sp>
          <p:nvSpPr>
            <p:cNvPr id="16" name="Line 16"/>
            <p:cNvSpPr/>
            <p:nvPr/>
          </p:nvSpPr>
          <p:spPr>
            <a:xfrm>
              <a:off x="666750" y="4095750"/>
              <a:ext cx="2476500" cy="9525"/>
            </a:xfrm>
            <a:custGeom>
              <a:avLst/>
              <a:gdLst/>
              <a:ahLst/>
              <a:cxnLst/>
              <a:rect l="l" t="t" r="r" b="b"/>
              <a:pathLst>
                <a:path w="2476500" h="9525">
                  <a:moveTo>
                    <a:pt x="0" y="0"/>
                  </a:moveTo>
                  <a:lnTo>
                    <a:pt x="2476500" y="0"/>
                  </a:lnTo>
                </a:path>
              </a:pathLst>
            </a:custGeom>
            <a:noFill/>
            <a:ln w="9525">
              <a:solidFill>
                <a:srgbClr val="E0E0E0"/>
              </a:solidFill>
            </a:ln>
          </p:spPr>
        </p:sp>
        <p:sp>
          <p:nvSpPr>
            <p:cNvPr id="17" name="TextBox 17"/>
            <p:cNvSpPr txBox="1"/>
            <p:nvPr/>
          </p:nvSpPr>
          <p:spPr>
            <a:xfrm>
              <a:off x="1137476" y="4217670"/>
              <a:ext cx="1535049"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Rattanaroj.jan@gmail.com</a:t>
              </a:r>
            </a:p>
          </p:txBody>
        </p:sp>
        <p:sp>
          <p:nvSpPr>
            <p:cNvPr id="18" name="TextBox 18"/>
            <p:cNvSpPr txBox="1"/>
            <p:nvPr/>
          </p:nvSpPr>
          <p:spPr>
            <a:xfrm>
              <a:off x="1497521" y="4417695"/>
              <a:ext cx="814959"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080-045-0821</a:t>
              </a:r>
            </a:p>
          </p:txBody>
        </p:sp>
        <p:sp>
          <p:nvSpPr>
            <p:cNvPr id="19" name="Rectangle 19"/>
            <p:cNvSpPr/>
            <p:nvPr/>
          </p:nvSpPr>
          <p:spPr>
            <a:xfrm>
              <a:off x="1333500" y="5905500"/>
              <a:ext cx="1143000" cy="28575"/>
            </a:xfrm>
            <a:prstGeom prst="roundRect">
              <a:avLst>
                <a:gd name="adj" fmla="val 33333"/>
              </a:avLst>
            </a:prstGeom>
            <a:solidFill>
              <a:srgbClr val="AE232F">
                <a:alpha val="40000"/>
              </a:srgbClr>
            </a:solidFill>
            <a:ln>
              <a:noFill/>
            </a:ln>
          </p:spPr>
        </p:sp>
      </p:grpSp>
      <p:grpSp>
        <p:nvGrpSpPr>
          <p:cNvPr id="25" name="Group 25"/>
          <p:cNvGrpSpPr/>
          <p:nvPr/>
        </p:nvGrpSpPr>
        <p:grpSpPr>
          <a:xfrm>
            <a:off x="4093845" y="193358"/>
            <a:ext cx="7640955" cy="844867"/>
            <a:chOff x="4093845" y="193358"/>
            <a:chExt cx="7640955" cy="844867"/>
          </a:xfrm>
        </p:grpSpPr>
        <p:sp>
          <p:nvSpPr>
            <p:cNvPr id="21" name="TextBox 21"/>
            <p:cNvSpPr txBox="1"/>
            <p:nvPr/>
          </p:nvSpPr>
          <p:spPr>
            <a:xfrm>
              <a:off x="4093845" y="193358"/>
              <a:ext cx="3013027" cy="640080"/>
            </a:xfrm>
            <a:prstGeom prst="rect">
              <a:avLst/>
            </a:prstGeom>
            <a:noFill/>
            <a:ln>
              <a:noFill/>
            </a:ln>
          </p:spPr>
          <p:txBody>
            <a:bodyPr wrap="none" lIns="0" tIns="0" rIns="0" bIns="0" anchor="t" anchorCtr="0">
              <a:spAutoFit/>
            </a:bodyPr>
            <a:lstStyle/>
            <a:p>
              <a:pPr algn="l"/>
              <a:r>
                <a:rPr lang="zh-CN" sz="3150" b="1" dirty="0">
                  <a:solidFill>
                    <a:srgbClr val="AE232F"/>
                  </a:solidFill>
                  <a:latin typeface="Arial"/>
                  <a:ea typeface="Microsoft YaHei"/>
                  <a:cs typeface="Arial"/>
                </a:rPr>
                <a:t>Hello, I'm Jan</a:t>
              </a:r>
            </a:p>
          </p:txBody>
        </p:sp>
        <p:sp>
          <p:nvSpPr>
            <p:cNvPr id="22" name="Rectangle 22"/>
            <p:cNvSpPr/>
            <p:nvPr/>
          </p:nvSpPr>
          <p:spPr>
            <a:xfrm>
              <a:off x="4133850" y="647700"/>
              <a:ext cx="5619750" cy="257175"/>
            </a:xfrm>
            <a:prstGeom prst="roundRect">
              <a:avLst>
                <a:gd name="adj" fmla="val 48148"/>
              </a:avLst>
            </a:prstGeom>
            <a:solidFill>
              <a:srgbClr val="AE232F">
                <a:alpha val="8000"/>
              </a:srgbClr>
            </a:solidFill>
            <a:ln>
              <a:noFill/>
            </a:ln>
          </p:spPr>
        </p:sp>
        <p:sp>
          <p:nvSpPr>
            <p:cNvPr id="23" name="TextBox 23"/>
            <p:cNvSpPr txBox="1"/>
            <p:nvPr/>
          </p:nvSpPr>
          <p:spPr>
            <a:xfrm>
              <a:off x="5589722" y="705802"/>
              <a:ext cx="2708005" cy="213360"/>
            </a:xfrm>
            <a:prstGeom prst="rect">
              <a:avLst/>
            </a:prstGeom>
            <a:noFill/>
            <a:ln>
              <a:noFill/>
            </a:ln>
          </p:spPr>
          <p:txBody>
            <a:bodyPr wrap="none" lIns="0" tIns="0" rIns="0" bIns="0" anchor="t" anchorCtr="0">
              <a:spAutoFit/>
            </a:bodyPr>
            <a:lstStyle/>
            <a:p>
              <a:pPr algn="ctr"/>
              <a:r>
                <a:rPr lang="zh-CN" sz="1050" dirty="0">
                  <a:solidFill>
                    <a:srgbClr val="AE232F"/>
                  </a:solidFill>
                  <a:latin typeface="Arial"/>
                  <a:ea typeface="Microsoft YaHei"/>
                  <a:cs typeface="Arial"/>
                </a:rPr>
                <a:t>MR Candidate · DKSH Thailand · Clexane®</a:t>
              </a:r>
            </a:p>
          </p:txBody>
        </p:sp>
        <p:sp>
          <p:nvSpPr>
            <p:cNvPr id="24" name="Line 24"/>
            <p:cNvSpPr/>
            <p:nvPr/>
          </p:nvSpPr>
          <p:spPr>
            <a:xfrm>
              <a:off x="4133850" y="1028700"/>
              <a:ext cx="7600950" cy="9525"/>
            </a:xfrm>
            <a:custGeom>
              <a:avLst/>
              <a:gdLst/>
              <a:ahLst/>
              <a:cxnLst/>
              <a:rect l="l" t="t" r="r" b="b"/>
              <a:pathLst>
                <a:path w="7600950" h="9525">
                  <a:moveTo>
                    <a:pt x="0" y="0"/>
                  </a:moveTo>
                  <a:lnTo>
                    <a:pt x="7600950" y="0"/>
                  </a:lnTo>
                </a:path>
              </a:pathLst>
            </a:custGeom>
            <a:noFill/>
            <a:ln w="9525">
              <a:solidFill>
                <a:srgbClr val="E0E0E0"/>
              </a:solidFill>
            </a:ln>
          </p:spPr>
        </p:sp>
      </p:grpSp>
      <p:grpSp>
        <p:nvGrpSpPr>
          <p:cNvPr id="33" name="Group 33"/>
          <p:cNvGrpSpPr/>
          <p:nvPr/>
        </p:nvGrpSpPr>
        <p:grpSpPr>
          <a:xfrm>
            <a:off x="4133850" y="1162050"/>
            <a:ext cx="4954524" cy="1381125"/>
            <a:chOff x="4133850" y="1162050"/>
            <a:chExt cx="4954524" cy="1381125"/>
          </a:xfrm>
        </p:grpSpPr>
        <p:sp>
          <p:nvSpPr>
            <p:cNvPr id="26" name="Rectangle 26"/>
            <p:cNvSpPr/>
            <p:nvPr/>
          </p:nvSpPr>
          <p:spPr>
            <a:xfrm>
              <a:off x="4133850" y="1162050"/>
              <a:ext cx="38100" cy="1381125"/>
            </a:xfrm>
            <a:prstGeom prst="roundRect">
              <a:avLst>
                <a:gd name="adj" fmla="val 50000"/>
              </a:avLst>
            </a:prstGeom>
            <a:solidFill>
              <a:srgbClr val="AE232F"/>
            </a:solidFill>
            <a:ln>
              <a:noFill/>
            </a:ln>
          </p:spPr>
        </p:sp>
        <p:sp>
          <p:nvSpPr>
            <p:cNvPr id="27" name="Ellipse 27"/>
            <p:cNvSpPr/>
            <p:nvPr/>
          </p:nvSpPr>
          <p:spPr>
            <a:xfrm>
              <a:off x="4210050" y="1247775"/>
              <a:ext cx="419100" cy="419100"/>
            </a:xfrm>
            <a:prstGeom prst="ellipse">
              <a:avLst/>
            </a:prstGeom>
            <a:solidFill>
              <a:srgbClr val="F9E5E7"/>
            </a:solidFill>
            <a:ln>
              <a:noFill/>
            </a:ln>
          </p:spPr>
        </p:sp>
        <p:sp>
          <p:nvSpPr>
            <p:cNvPr id="28" name="Freeform 28"/>
            <p:cNvSpPr/>
            <p:nvPr/>
          </p:nvSpPr>
          <p:spPr>
            <a:xfrm>
              <a:off x="4312825" y="1381125"/>
              <a:ext cx="211550" cy="152400"/>
            </a:xfrm>
            <a:custGeom>
              <a:avLst/>
              <a:gdLst/>
              <a:ahLst/>
              <a:cxnLst/>
              <a:rect l="l" t="t" r="r" b="b"/>
              <a:pathLst>
                <a:path w="211550" h="152400">
                  <a:moveTo>
                    <a:pt x="173450" y="89830"/>
                  </a:moveTo>
                  <a:lnTo>
                    <a:pt x="173450" y="114300"/>
                  </a:lnTo>
                  <a:cubicBezTo>
                    <a:pt x="173450" y="137141"/>
                    <a:pt x="142923" y="152400"/>
                    <a:pt x="106775" y="152400"/>
                  </a:cubicBezTo>
                  <a:cubicBezTo>
                    <a:pt x="70628" y="152400"/>
                    <a:pt x="40100" y="137141"/>
                    <a:pt x="40100" y="114300"/>
                  </a:cubicBezTo>
                  <a:lnTo>
                    <a:pt x="40100" y="89830"/>
                  </a:lnTo>
                  <a:lnTo>
                    <a:pt x="96164" y="112252"/>
                  </a:lnTo>
                  <a:cubicBezTo>
                    <a:pt x="102273" y="114698"/>
                    <a:pt x="109039" y="114960"/>
                    <a:pt x="115319" y="112995"/>
                  </a:cubicBezTo>
                  <a:lnTo>
                    <a:pt x="117386" y="112252"/>
                  </a:lnTo>
                  <a:close/>
                  <a:moveTo>
                    <a:pt x="192500" y="61684"/>
                  </a:moveTo>
                  <a:lnTo>
                    <a:pt x="110309" y="94564"/>
                  </a:lnTo>
                  <a:cubicBezTo>
                    <a:pt x="108040" y="95471"/>
                    <a:pt x="105510" y="95471"/>
                    <a:pt x="103241" y="94564"/>
                  </a:cubicBezTo>
                  <a:lnTo>
                    <a:pt x="7991" y="56464"/>
                  </a:lnTo>
                  <a:cubicBezTo>
                    <a:pt x="0" y="53273"/>
                    <a:pt x="0" y="41977"/>
                    <a:pt x="7991" y="38786"/>
                  </a:cubicBezTo>
                  <a:lnTo>
                    <a:pt x="103241" y="686"/>
                  </a:lnTo>
                  <a:cubicBezTo>
                    <a:pt x="103990" y="385"/>
                    <a:pt x="104775" y="180"/>
                    <a:pt x="105575" y="76"/>
                  </a:cubicBezTo>
                  <a:lnTo>
                    <a:pt x="106775" y="0"/>
                  </a:lnTo>
                  <a:lnTo>
                    <a:pt x="107975" y="76"/>
                  </a:lnTo>
                  <a:cubicBezTo>
                    <a:pt x="108776" y="180"/>
                    <a:pt x="109560" y="385"/>
                    <a:pt x="110309" y="686"/>
                  </a:cubicBezTo>
                  <a:lnTo>
                    <a:pt x="205864" y="38910"/>
                  </a:lnTo>
                  <a:lnTo>
                    <a:pt x="206893" y="39433"/>
                  </a:lnTo>
                  <a:lnTo>
                    <a:pt x="207835" y="40081"/>
                  </a:lnTo>
                  <a:lnTo>
                    <a:pt x="208674" y="40805"/>
                  </a:lnTo>
                  <a:lnTo>
                    <a:pt x="209388" y="41586"/>
                  </a:lnTo>
                  <a:lnTo>
                    <a:pt x="209721" y="42005"/>
                  </a:lnTo>
                  <a:lnTo>
                    <a:pt x="210417" y="43101"/>
                  </a:lnTo>
                  <a:lnTo>
                    <a:pt x="210912" y="44196"/>
                  </a:lnTo>
                  <a:lnTo>
                    <a:pt x="211236" y="45168"/>
                  </a:lnTo>
                  <a:lnTo>
                    <a:pt x="211474" y="46453"/>
                  </a:lnTo>
                  <a:lnTo>
                    <a:pt x="211531" y="47006"/>
                  </a:lnTo>
                  <a:lnTo>
                    <a:pt x="211550" y="104775"/>
                  </a:lnTo>
                  <a:cubicBezTo>
                    <a:pt x="211550" y="110036"/>
                    <a:pt x="207286" y="114300"/>
                    <a:pt x="202025" y="114300"/>
                  </a:cubicBezTo>
                  <a:cubicBezTo>
                    <a:pt x="196765" y="114300"/>
                    <a:pt x="192500" y="110036"/>
                    <a:pt x="192500" y="104775"/>
                  </a:cubicBezTo>
                  <a:close/>
                </a:path>
              </a:pathLst>
            </a:custGeom>
            <a:solidFill>
              <a:srgbClr val="AE232F"/>
            </a:solidFill>
            <a:ln>
              <a:noFill/>
            </a:ln>
          </p:spPr>
        </p:sp>
        <p:sp>
          <p:nvSpPr>
            <p:cNvPr id="29" name="TextBox 29"/>
            <p:cNvSpPr txBox="1"/>
            <p:nvPr/>
          </p:nvSpPr>
          <p:spPr>
            <a:xfrm>
              <a:off x="4747260" y="1365885"/>
              <a:ext cx="1593075" cy="243840"/>
            </a:xfrm>
            <a:prstGeom prst="rect">
              <a:avLst/>
            </a:prstGeom>
            <a:noFill/>
            <a:ln>
              <a:noFill/>
            </a:ln>
          </p:spPr>
          <p:txBody>
            <a:bodyPr wrap="none" lIns="0" tIns="0" rIns="0" bIns="0" anchor="t" anchorCtr="0">
              <a:spAutoFit/>
            </a:bodyPr>
            <a:lstStyle/>
            <a:p>
              <a:pPr algn="l"/>
              <a:r>
                <a:rPr lang="zh-CN" sz="1200" b="1" dirty="0">
                  <a:solidFill>
                    <a:srgbClr val="AE232F"/>
                  </a:solidFill>
                  <a:latin typeface="Arial"/>
                  <a:ea typeface="Microsoft YaHei"/>
                  <a:cs typeface="Arial"/>
                </a:rPr>
                <a:t>Pharma Background</a:t>
              </a:r>
            </a:p>
          </p:txBody>
        </p:sp>
        <p:sp>
          <p:nvSpPr>
            <p:cNvPr id="30" name="TextBox 30"/>
            <p:cNvSpPr txBox="1"/>
            <p:nvPr/>
          </p:nvSpPr>
          <p:spPr>
            <a:xfrm>
              <a:off x="4749165" y="1591628"/>
              <a:ext cx="3599217"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Pharm.D. (GPA 3.50) — Srinakarinwirot University</a:t>
              </a:r>
            </a:p>
          </p:txBody>
        </p:sp>
        <p:sp>
          <p:nvSpPr>
            <p:cNvPr id="31" name="TextBox 31"/>
            <p:cNvSpPr txBox="1"/>
            <p:nvPr/>
          </p:nvSpPr>
          <p:spPr>
            <a:xfrm>
              <a:off x="4749165" y="1782128"/>
              <a:ext cx="3828145"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Deep knowledge of drug mechanisms, pharmacokinetics,</a:t>
              </a:r>
            </a:p>
          </p:txBody>
        </p:sp>
        <p:sp>
          <p:nvSpPr>
            <p:cNvPr id="32" name="TextBox 32"/>
            <p:cNvSpPr txBox="1"/>
            <p:nvPr/>
          </p:nvSpPr>
          <p:spPr>
            <a:xfrm>
              <a:off x="4749165" y="1963102"/>
              <a:ext cx="433920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and clinical data — ready to communicate science to physicians.</a:t>
              </a:r>
            </a:p>
          </p:txBody>
        </p:sp>
      </p:grpSp>
      <p:grpSp>
        <p:nvGrpSpPr>
          <p:cNvPr id="41" name="Group 41"/>
          <p:cNvGrpSpPr/>
          <p:nvPr/>
        </p:nvGrpSpPr>
        <p:grpSpPr>
          <a:xfrm>
            <a:off x="4133850" y="2743200"/>
            <a:ext cx="5262562" cy="1381125"/>
            <a:chOff x="4133850" y="2743200"/>
            <a:chExt cx="5262562" cy="1381125"/>
          </a:xfrm>
        </p:grpSpPr>
        <p:sp>
          <p:nvSpPr>
            <p:cNvPr id="34" name="Rectangle 34"/>
            <p:cNvSpPr/>
            <p:nvPr/>
          </p:nvSpPr>
          <p:spPr>
            <a:xfrm>
              <a:off x="4133850" y="2743200"/>
              <a:ext cx="38100" cy="1381125"/>
            </a:xfrm>
            <a:prstGeom prst="roundRect">
              <a:avLst>
                <a:gd name="adj" fmla="val 50000"/>
              </a:avLst>
            </a:prstGeom>
            <a:solidFill>
              <a:srgbClr val="AE232F"/>
            </a:solidFill>
            <a:ln>
              <a:noFill/>
            </a:ln>
          </p:spPr>
        </p:sp>
        <p:sp>
          <p:nvSpPr>
            <p:cNvPr id="35" name="Ellipse 35"/>
            <p:cNvSpPr/>
            <p:nvPr/>
          </p:nvSpPr>
          <p:spPr>
            <a:xfrm>
              <a:off x="4210050" y="2828925"/>
              <a:ext cx="419100" cy="419100"/>
            </a:xfrm>
            <a:prstGeom prst="ellipse">
              <a:avLst/>
            </a:prstGeom>
            <a:solidFill>
              <a:srgbClr val="F9E5E7"/>
            </a:solidFill>
            <a:ln>
              <a:noFill/>
            </a:ln>
          </p:spPr>
        </p:sp>
        <p:sp>
          <p:nvSpPr>
            <p:cNvPr id="36" name="Freeform 36"/>
            <p:cNvSpPr/>
            <p:nvPr/>
          </p:nvSpPr>
          <p:spPr>
            <a:xfrm>
              <a:off x="4324350" y="2943225"/>
              <a:ext cx="190500" cy="180975"/>
            </a:xfrm>
            <a:custGeom>
              <a:avLst/>
              <a:gdLst/>
              <a:ahLst/>
              <a:cxnLst/>
              <a:rect l="l" t="t" r="r" b="b"/>
              <a:pathLst>
                <a:path w="190500" h="180975">
                  <a:moveTo>
                    <a:pt x="190500" y="109328"/>
                  </a:moveTo>
                  <a:lnTo>
                    <a:pt x="190500" y="152400"/>
                  </a:lnTo>
                  <a:cubicBezTo>
                    <a:pt x="190500" y="168182"/>
                    <a:pt x="177707" y="180975"/>
                    <a:pt x="161925" y="180975"/>
                  </a:cubicBezTo>
                  <a:lnTo>
                    <a:pt x="28575" y="180975"/>
                  </a:lnTo>
                  <a:cubicBezTo>
                    <a:pt x="12793" y="180975"/>
                    <a:pt x="0" y="168182"/>
                    <a:pt x="0" y="152400"/>
                  </a:cubicBezTo>
                  <a:lnTo>
                    <a:pt x="0" y="109328"/>
                  </a:lnTo>
                  <a:lnTo>
                    <a:pt x="5267" y="111966"/>
                  </a:lnTo>
                  <a:cubicBezTo>
                    <a:pt x="61879" y="140482"/>
                    <a:pt x="128656" y="140475"/>
                    <a:pt x="185261" y="111947"/>
                  </a:cubicBezTo>
                  <a:lnTo>
                    <a:pt x="190500" y="109328"/>
                  </a:lnTo>
                  <a:close/>
                  <a:moveTo>
                    <a:pt x="114300" y="0"/>
                  </a:moveTo>
                  <a:cubicBezTo>
                    <a:pt x="130082" y="0"/>
                    <a:pt x="142875" y="12793"/>
                    <a:pt x="142875" y="28575"/>
                  </a:cubicBezTo>
                  <a:lnTo>
                    <a:pt x="142875" y="38100"/>
                  </a:lnTo>
                  <a:lnTo>
                    <a:pt x="161925" y="38100"/>
                  </a:lnTo>
                  <a:cubicBezTo>
                    <a:pt x="177707" y="38100"/>
                    <a:pt x="190500" y="50893"/>
                    <a:pt x="190500" y="66675"/>
                  </a:cubicBezTo>
                  <a:lnTo>
                    <a:pt x="190500" y="88030"/>
                  </a:lnTo>
                  <a:lnTo>
                    <a:pt x="176717" y="94926"/>
                  </a:lnTo>
                  <a:cubicBezTo>
                    <a:pt x="126742" y="120116"/>
                    <a:pt x="67925" y="120770"/>
                    <a:pt x="17402" y="96698"/>
                  </a:cubicBezTo>
                  <a:lnTo>
                    <a:pt x="11240" y="93650"/>
                  </a:lnTo>
                  <a:lnTo>
                    <a:pt x="0" y="88030"/>
                  </a:lnTo>
                  <a:lnTo>
                    <a:pt x="0" y="66675"/>
                  </a:lnTo>
                  <a:cubicBezTo>
                    <a:pt x="0" y="50893"/>
                    <a:pt x="12793" y="38100"/>
                    <a:pt x="28575" y="38100"/>
                  </a:cubicBezTo>
                  <a:lnTo>
                    <a:pt x="47625" y="38100"/>
                  </a:lnTo>
                  <a:lnTo>
                    <a:pt x="47625" y="28575"/>
                  </a:lnTo>
                  <a:cubicBezTo>
                    <a:pt x="47625" y="12793"/>
                    <a:pt x="60418" y="0"/>
                    <a:pt x="76200" y="0"/>
                  </a:cubicBezTo>
                  <a:lnTo>
                    <a:pt x="114300" y="0"/>
                  </a:lnTo>
                  <a:close/>
                  <a:moveTo>
                    <a:pt x="95250" y="76200"/>
                  </a:moveTo>
                  <a:cubicBezTo>
                    <a:pt x="89989" y="76200"/>
                    <a:pt x="85725" y="80464"/>
                    <a:pt x="85725" y="85725"/>
                  </a:cubicBezTo>
                  <a:cubicBezTo>
                    <a:pt x="85708" y="89128"/>
                    <a:pt x="87508" y="92281"/>
                    <a:pt x="90446" y="93998"/>
                  </a:cubicBezTo>
                  <a:cubicBezTo>
                    <a:pt x="93385" y="95714"/>
                    <a:pt x="97016" y="95732"/>
                    <a:pt x="99971" y="94045"/>
                  </a:cubicBezTo>
                  <a:cubicBezTo>
                    <a:pt x="102927" y="92359"/>
                    <a:pt x="104758" y="89223"/>
                    <a:pt x="104775" y="85820"/>
                  </a:cubicBezTo>
                  <a:cubicBezTo>
                    <a:pt x="104775" y="80467"/>
                    <a:pt x="100508" y="76200"/>
                    <a:pt x="95250" y="76200"/>
                  </a:cubicBezTo>
                  <a:close/>
                  <a:moveTo>
                    <a:pt x="114300" y="19050"/>
                  </a:moveTo>
                  <a:lnTo>
                    <a:pt x="76200" y="19050"/>
                  </a:lnTo>
                  <a:cubicBezTo>
                    <a:pt x="70939" y="19050"/>
                    <a:pt x="66675" y="23314"/>
                    <a:pt x="66675" y="28575"/>
                  </a:cubicBezTo>
                  <a:lnTo>
                    <a:pt x="66675" y="38100"/>
                  </a:lnTo>
                  <a:lnTo>
                    <a:pt x="123825" y="38100"/>
                  </a:lnTo>
                  <a:lnTo>
                    <a:pt x="123825" y="28575"/>
                  </a:lnTo>
                  <a:cubicBezTo>
                    <a:pt x="123825" y="23314"/>
                    <a:pt x="119561" y="19050"/>
                    <a:pt x="114300" y="19050"/>
                  </a:cubicBezTo>
                  <a:close/>
                </a:path>
              </a:pathLst>
            </a:custGeom>
            <a:solidFill>
              <a:srgbClr val="AE232F"/>
            </a:solidFill>
            <a:ln>
              <a:noFill/>
            </a:ln>
          </p:spPr>
        </p:sp>
        <p:sp>
          <p:nvSpPr>
            <p:cNvPr id="37" name="TextBox 37"/>
            <p:cNvSpPr txBox="1"/>
            <p:nvPr/>
          </p:nvSpPr>
          <p:spPr>
            <a:xfrm>
              <a:off x="4747260" y="2947035"/>
              <a:ext cx="1719091" cy="243840"/>
            </a:xfrm>
            <a:prstGeom prst="rect">
              <a:avLst/>
            </a:prstGeom>
            <a:noFill/>
            <a:ln>
              <a:noFill/>
            </a:ln>
          </p:spPr>
          <p:txBody>
            <a:bodyPr wrap="none" lIns="0" tIns="0" rIns="0" bIns="0" anchor="t" anchorCtr="0">
              <a:spAutoFit/>
            </a:bodyPr>
            <a:lstStyle/>
            <a:p>
              <a:pPr algn="l"/>
              <a:r>
                <a:rPr lang="zh-CN" sz="1200" b="1" dirty="0">
                  <a:solidFill>
                    <a:srgbClr val="AE232F"/>
                  </a:solidFill>
                  <a:latin typeface="Arial"/>
                  <a:ea typeface="Microsoft YaHei"/>
                  <a:cs typeface="Arial"/>
                </a:rPr>
                <a:t>Real Field Experience</a:t>
              </a:r>
            </a:p>
          </p:txBody>
        </p:sp>
        <p:sp>
          <p:nvSpPr>
            <p:cNvPr id="38" name="TextBox 38"/>
            <p:cNvSpPr txBox="1"/>
            <p:nvPr/>
          </p:nvSpPr>
          <p:spPr>
            <a:xfrm>
              <a:off x="4749165" y="3172778"/>
              <a:ext cx="3591866"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MR Intern at Roche Thailand — solo physician visits</a:t>
              </a:r>
            </a:p>
          </p:txBody>
        </p:sp>
        <p:sp>
          <p:nvSpPr>
            <p:cNvPr id="39" name="TextBox 39"/>
            <p:cNvSpPr txBox="1"/>
            <p:nvPr/>
          </p:nvSpPr>
          <p:spPr>
            <a:xfrm>
              <a:off x="4749165" y="3363278"/>
              <a:ext cx="3751135"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across Ramathibodi, Bhumibol Adulyadej &amp; EENT Hospital</a:t>
              </a:r>
            </a:p>
          </p:txBody>
        </p:sp>
        <p:sp>
          <p:nvSpPr>
            <p:cNvPr id="40" name="TextBox 40"/>
            <p:cNvSpPr txBox="1"/>
            <p:nvPr/>
          </p:nvSpPr>
          <p:spPr>
            <a:xfrm>
              <a:off x="4749165" y="3544252"/>
              <a:ext cx="4647247"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Planned call cycles and managed physician follow-ups independently.</a:t>
              </a:r>
            </a:p>
          </p:txBody>
        </p:sp>
      </p:grpSp>
      <p:grpSp>
        <p:nvGrpSpPr>
          <p:cNvPr id="49" name="Group 49"/>
          <p:cNvGrpSpPr/>
          <p:nvPr/>
        </p:nvGrpSpPr>
        <p:grpSpPr>
          <a:xfrm>
            <a:off x="4133850" y="4343400"/>
            <a:ext cx="4905518" cy="1381125"/>
            <a:chOff x="4133850" y="4343400"/>
            <a:chExt cx="4905518" cy="1381125"/>
          </a:xfrm>
        </p:grpSpPr>
        <p:sp>
          <p:nvSpPr>
            <p:cNvPr id="42" name="Rectangle 42"/>
            <p:cNvSpPr/>
            <p:nvPr/>
          </p:nvSpPr>
          <p:spPr>
            <a:xfrm>
              <a:off x="4133850" y="4343400"/>
              <a:ext cx="38100" cy="1381125"/>
            </a:xfrm>
            <a:prstGeom prst="roundRect">
              <a:avLst>
                <a:gd name="adj" fmla="val 50000"/>
              </a:avLst>
            </a:prstGeom>
            <a:solidFill>
              <a:srgbClr val="AE232F"/>
            </a:solidFill>
            <a:ln>
              <a:noFill/>
            </a:ln>
          </p:spPr>
        </p:sp>
        <p:sp>
          <p:nvSpPr>
            <p:cNvPr id="43" name="Ellipse 43"/>
            <p:cNvSpPr/>
            <p:nvPr/>
          </p:nvSpPr>
          <p:spPr>
            <a:xfrm>
              <a:off x="4210050" y="4429125"/>
              <a:ext cx="419100" cy="419100"/>
            </a:xfrm>
            <a:prstGeom prst="ellipse">
              <a:avLst/>
            </a:prstGeom>
            <a:solidFill>
              <a:srgbClr val="F9E5E7"/>
            </a:solidFill>
            <a:ln>
              <a:noFill/>
            </a:ln>
          </p:spPr>
        </p:sp>
        <p:sp>
          <p:nvSpPr>
            <p:cNvPr id="44" name="Freeform 44"/>
            <p:cNvSpPr/>
            <p:nvPr/>
          </p:nvSpPr>
          <p:spPr>
            <a:xfrm>
              <a:off x="4320418" y="4550745"/>
              <a:ext cx="198107" cy="174587"/>
            </a:xfrm>
            <a:custGeom>
              <a:avLst/>
              <a:gdLst/>
              <a:ahLst/>
              <a:cxnLst/>
              <a:rect l="l" t="t" r="r" b="b"/>
              <a:pathLst>
                <a:path w="198107" h="174587">
                  <a:moveTo>
                    <a:pt x="51357" y="2909"/>
                  </a:moveTo>
                  <a:cubicBezTo>
                    <a:pt x="68432" y="0"/>
                    <a:pt x="85906" y="4992"/>
                    <a:pt x="98867" y="16483"/>
                  </a:cubicBezTo>
                  <a:lnTo>
                    <a:pt x="99220" y="16797"/>
                  </a:lnTo>
                  <a:lnTo>
                    <a:pt x="99544" y="16511"/>
                  </a:lnTo>
                  <a:cubicBezTo>
                    <a:pt x="111899" y="5668"/>
                    <a:pt x="128325" y="671"/>
                    <a:pt x="144625" y="2795"/>
                  </a:cubicBezTo>
                  <a:lnTo>
                    <a:pt x="146969" y="3138"/>
                  </a:lnTo>
                  <a:cubicBezTo>
                    <a:pt x="167660" y="6711"/>
                    <a:pt x="184726" y="21342"/>
                    <a:pt x="191416" y="41246"/>
                  </a:cubicBezTo>
                  <a:cubicBezTo>
                    <a:pt x="198107" y="61149"/>
                    <a:pt x="193343" y="83119"/>
                    <a:pt x="179011" y="98464"/>
                  </a:cubicBezTo>
                  <a:lnTo>
                    <a:pt x="177296" y="100226"/>
                  </a:lnTo>
                  <a:lnTo>
                    <a:pt x="176839" y="100617"/>
                  </a:lnTo>
                  <a:lnTo>
                    <a:pt x="105878" y="170902"/>
                  </a:lnTo>
                  <a:cubicBezTo>
                    <a:pt x="102491" y="174254"/>
                    <a:pt x="97149" y="174587"/>
                    <a:pt x="93371" y="171683"/>
                  </a:cubicBezTo>
                  <a:lnTo>
                    <a:pt x="92476" y="170902"/>
                  </a:lnTo>
                  <a:lnTo>
                    <a:pt x="21105" y="100207"/>
                  </a:lnTo>
                  <a:cubicBezTo>
                    <a:pt x="5688" y="85207"/>
                    <a:pt x="0" y="62820"/>
                    <a:pt x="6386" y="42279"/>
                  </a:cubicBezTo>
                  <a:cubicBezTo>
                    <a:pt x="12773" y="21739"/>
                    <a:pt x="30152" y="6524"/>
                    <a:pt x="51357" y="2909"/>
                  </a:cubicBezTo>
                  <a:close/>
                </a:path>
              </a:pathLst>
            </a:custGeom>
            <a:solidFill>
              <a:srgbClr val="AE232F"/>
            </a:solidFill>
            <a:ln>
              <a:noFill/>
            </a:ln>
          </p:spPr>
        </p:sp>
        <p:sp>
          <p:nvSpPr>
            <p:cNvPr id="45" name="TextBox 45"/>
            <p:cNvSpPr txBox="1"/>
            <p:nvPr/>
          </p:nvSpPr>
          <p:spPr>
            <a:xfrm>
              <a:off x="4747260" y="4547235"/>
              <a:ext cx="1651883" cy="243840"/>
            </a:xfrm>
            <a:prstGeom prst="rect">
              <a:avLst/>
            </a:prstGeom>
            <a:noFill/>
            <a:ln>
              <a:noFill/>
            </a:ln>
          </p:spPr>
          <p:txBody>
            <a:bodyPr wrap="none" lIns="0" tIns="0" rIns="0" bIns="0" anchor="t" anchorCtr="0">
              <a:spAutoFit/>
            </a:bodyPr>
            <a:lstStyle/>
            <a:p>
              <a:pPr algn="l"/>
              <a:r>
                <a:rPr lang="zh-CN" sz="1200" b="1" dirty="0">
                  <a:solidFill>
                    <a:srgbClr val="AE232F"/>
                  </a:solidFill>
                  <a:latin typeface="Arial"/>
                  <a:ea typeface="Microsoft YaHei"/>
                  <a:cs typeface="Arial"/>
                </a:rPr>
                <a:t>Why DKSH / Clexane?</a:t>
              </a:r>
            </a:p>
          </p:txBody>
        </p:sp>
        <p:sp>
          <p:nvSpPr>
            <p:cNvPr id="46" name="TextBox 46"/>
            <p:cNvSpPr txBox="1"/>
            <p:nvPr/>
          </p:nvSpPr>
          <p:spPr>
            <a:xfrm>
              <a:off x="4749165" y="4772978"/>
              <a:ext cx="4290203"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Clexane has strong clinical evidence in acute care settings.</a:t>
              </a:r>
            </a:p>
          </p:txBody>
        </p:sp>
        <p:sp>
          <p:nvSpPr>
            <p:cNvPr id="47" name="TextBox 47"/>
            <p:cNvSpPr txBox="1"/>
            <p:nvPr/>
          </p:nvSpPr>
          <p:spPr>
            <a:xfrm>
              <a:off x="4749165" y="4963478"/>
              <a:ext cx="3387090"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 want to be the MR who translates that evidence</a:t>
              </a:r>
            </a:p>
          </p:txBody>
        </p:sp>
        <p:sp>
          <p:nvSpPr>
            <p:cNvPr id="48" name="TextBox 48"/>
            <p:cNvSpPr txBox="1"/>
            <p:nvPr/>
          </p:nvSpPr>
          <p:spPr>
            <a:xfrm>
              <a:off x="4749165" y="5144452"/>
              <a:ext cx="3289078"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into real prescribing change at PMK and beyond.</a:t>
              </a:r>
            </a:p>
          </p:txBody>
        </p:sp>
      </p:grpSp>
      <p:grpSp>
        <p:nvGrpSpPr>
          <p:cNvPr id="52" name="Group 52"/>
          <p:cNvGrpSpPr/>
          <p:nvPr/>
        </p:nvGrpSpPr>
        <p:grpSpPr>
          <a:xfrm>
            <a:off x="0" y="6496050"/>
            <a:ext cx="12192000" cy="361950"/>
            <a:chOff x="0" y="6496050"/>
            <a:chExt cx="12192000" cy="361950"/>
          </a:xfrm>
        </p:grpSpPr>
        <p:sp>
          <p:nvSpPr>
            <p:cNvPr id="50" name="Rectangle 50"/>
            <p:cNvSpPr/>
            <p:nvPr/>
          </p:nvSpPr>
          <p:spPr>
            <a:xfrm>
              <a:off x="0" y="6496050"/>
              <a:ext cx="12192000" cy="361950"/>
            </a:xfrm>
            <a:prstGeom prst="rect">
              <a:avLst/>
            </a:prstGeom>
            <a:solidFill>
              <a:srgbClr val="AE232F"/>
            </a:solidFill>
            <a:ln>
              <a:noFill/>
            </a:ln>
          </p:spPr>
        </p:sp>
        <p:sp>
          <p:nvSpPr>
            <p:cNvPr id="51" name="TextBox 51"/>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wipe(left)">
                                      <p:cBhvr>
                                        <p:cTn id="11" dur="400"/>
                                        <p:tgtEl>
                                          <p:spTgt spid="15"/>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slide(fromBottom)">
                                      <p:cBhvr>
                                        <p:cTn id="15" dur="400"/>
                                        <p:tgtEl>
                                          <p:spTgt spid="20"/>
                                        </p:tgtEl>
                                      </p:cBhvr>
                                    </p:animEffect>
                                  </p:childTnLst>
                                </p:cTn>
                              </p:par>
                            </p:childTnLst>
                          </p:cTn>
                        </p:par>
                        <p:par>
                          <p:cTn id="16" fill="hold">
                            <p:stCondLst>
                              <p:cond delay="2700"/>
                            </p:stCondLst>
                            <p:childTnLst>
                              <p:par>
                                <p:cTn id="17" presetID="23" presetClass="entr" presetSubtype="0" fill="hold" nodeType="after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image">
                                      <p:cBhvr>
                                        <p:cTn id="19" dur="400"/>
                                        <p:tgtEl>
                                          <p:spTgt spid="33"/>
                                        </p:tgtEl>
                                      </p:cBhvr>
                                    </p:animEffect>
                                  </p:childTnLst>
                                </p:cTn>
                              </p:par>
                            </p:childTnLst>
                          </p:cTn>
                        </p:par>
                        <p:par>
                          <p:cTn id="20" fill="hold">
                            <p:stCondLst>
                              <p:cond delay="3600"/>
                            </p:stCondLst>
                            <p:childTnLst>
                              <p:par>
                                <p:cTn id="21" presetID="10" presetClass="entr" presetSubtype="0" fill="hold" nodeType="after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childTnLst>
                          </p:cTn>
                        </p:par>
                        <p:par>
                          <p:cTn id="24" fill="hold">
                            <p:stCondLst>
                              <p:cond delay="4500"/>
                            </p:stCondLst>
                            <p:childTnLst>
                              <p:par>
                                <p:cTn id="25" presetID="22" presetClass="entr" presetSubtype="1" fill="hold" nodeType="after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20" grpId="0"/>
      <p:bldP spid="33" grpId="0"/>
      <p:bldP spid="41" grpId="0"/>
      <p:bldP spid="49"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02</a:t>
            </a:r>
          </a:p>
        </p:txBody>
      </p:sp>
      <p:sp>
        <p:nvSpPr>
          <p:cNvPr id="6" name="TextBox 6"/>
          <p:cNvSpPr txBox="1"/>
          <p:nvPr/>
        </p:nvSpPr>
        <p:spPr>
          <a:xfrm>
            <a:off x="718185" y="208598"/>
            <a:ext cx="6302011"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Clexane® (Enoxaparin) — What You Need to Know</a:t>
            </a:r>
          </a:p>
        </p:txBody>
      </p:sp>
      <p:sp>
        <p:nvSpPr>
          <p:cNvPr id="7" name="TextBox 7"/>
          <p:cNvSpPr txBox="1"/>
          <p:nvPr/>
        </p:nvSpPr>
        <p:spPr>
          <a:xfrm>
            <a:off x="730568" y="504349"/>
            <a:ext cx="2683597"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Mechanism · Indications · Differentiators</a:t>
            </a:r>
          </a:p>
        </p:txBody>
      </p:sp>
      <p:grpSp>
        <p:nvGrpSpPr>
          <p:cNvPr id="31" name="Group 31"/>
          <p:cNvGrpSpPr/>
          <p:nvPr/>
        </p:nvGrpSpPr>
        <p:grpSpPr>
          <a:xfrm>
            <a:off x="342900" y="857250"/>
            <a:ext cx="3543300" cy="5467350"/>
            <a:chOff x="342900" y="857250"/>
            <a:chExt cx="3543300" cy="5467350"/>
          </a:xfrm>
          <a:effectLst>
            <a:outerShdw blurRad="76200" dist="19050" dir="5400000" algn="ctr" rotWithShape="0">
              <a:srgbClr val="000000">
                <a:alpha val="5250"/>
              </a:srgbClr>
            </a:outerShdw>
          </a:effectLst>
        </p:grpSpPr>
        <p:sp>
          <p:nvSpPr>
            <p:cNvPr id="8" name="Rectangle 8"/>
            <p:cNvSpPr/>
            <p:nvPr/>
          </p:nvSpPr>
          <p:spPr>
            <a:xfrm>
              <a:off x="342900" y="876300"/>
              <a:ext cx="3543300" cy="5448300"/>
            </a:xfrm>
            <a:prstGeom prst="roundRect">
              <a:avLst>
                <a:gd name="adj" fmla="val 2688"/>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9" name="Freeform 9"/>
            <p:cNvSpPr/>
            <p:nvPr/>
          </p:nvSpPr>
          <p:spPr>
            <a:xfrm>
              <a:off x="342900" y="876300"/>
              <a:ext cx="3543300" cy="666750"/>
            </a:xfrm>
            <a:custGeom>
              <a:avLst/>
              <a:gdLst/>
              <a:ahLst/>
              <a:cxnLst/>
              <a:rect l="l" t="t" r="r" b="b"/>
              <a:pathLst>
                <a:path w="3543300" h="666750">
                  <a:moveTo>
                    <a:pt x="0" y="95250"/>
                  </a:moveTo>
                  <a:cubicBezTo>
                    <a:pt x="0" y="31750"/>
                    <a:pt x="31750" y="0"/>
                    <a:pt x="95250" y="0"/>
                  </a:cubicBezTo>
                  <a:lnTo>
                    <a:pt x="3448050" y="0"/>
                  </a:lnTo>
                  <a:cubicBezTo>
                    <a:pt x="3511550" y="0"/>
                    <a:pt x="3543300" y="31750"/>
                    <a:pt x="3543300" y="95250"/>
                  </a:cubicBezTo>
                  <a:lnTo>
                    <a:pt x="3543300" y="666750"/>
                  </a:lnTo>
                  <a:cubicBezTo>
                    <a:pt x="3543300" y="666750"/>
                    <a:pt x="2952750" y="666750"/>
                    <a:pt x="1771650" y="666750"/>
                  </a:cubicBezTo>
                  <a:cubicBezTo>
                    <a:pt x="590550" y="666750"/>
                    <a:pt x="0" y="666750"/>
                    <a:pt x="0" y="666750"/>
                  </a:cubicBezTo>
                  <a:close/>
                </a:path>
              </a:pathLst>
            </a:custGeom>
            <a:solidFill>
              <a:srgbClr val="AE232F"/>
            </a:solidFill>
            <a:ln>
              <a:noFill/>
            </a:ln>
            <a:effectLst>
              <a:outerShdw blurRad="76200" dist="19050" dir="5400000" algn="ctr" rotWithShape="0">
                <a:srgbClr val="000000">
                  <a:alpha val="5250"/>
                </a:srgbClr>
              </a:outerShdw>
            </a:effectLst>
          </p:spPr>
        </p:sp>
        <p:sp>
          <p:nvSpPr>
            <p:cNvPr id="10" name="Ellipse 10"/>
            <p:cNvSpPr/>
            <p:nvPr/>
          </p:nvSpPr>
          <p:spPr>
            <a:xfrm>
              <a:off x="1885950" y="857250"/>
              <a:ext cx="457200" cy="457200"/>
            </a:xfrm>
            <a:prstGeom prst="ellipse">
              <a:avLst/>
            </a:prstGeom>
            <a:solidFill>
              <a:srgbClr val="8A1B25"/>
            </a:solidFill>
            <a:ln>
              <a:noFill/>
            </a:ln>
            <a:effectLst>
              <a:outerShdw blurRad="76200" dist="19050" dir="5400000" algn="ctr" rotWithShape="0">
                <a:srgbClr val="000000">
                  <a:alpha val="5250"/>
                </a:srgbClr>
              </a:outerShdw>
            </a:effectLst>
          </p:spPr>
        </p:sp>
        <p:sp>
          <p:nvSpPr>
            <p:cNvPr id="11" name="Freeform 11"/>
            <p:cNvSpPr/>
            <p:nvPr/>
          </p:nvSpPr>
          <p:spPr>
            <a:xfrm>
              <a:off x="2046526" y="990600"/>
              <a:ext cx="135742" cy="190500"/>
            </a:xfrm>
            <a:custGeom>
              <a:avLst/>
              <a:gdLst/>
              <a:ahLst/>
              <a:cxnLst/>
              <a:rect l="l" t="t" r="r" b="b"/>
              <a:pathLst>
                <a:path w="135742" h="190500">
                  <a:moveTo>
                    <a:pt x="96599" y="0"/>
                  </a:moveTo>
                  <a:cubicBezTo>
                    <a:pt x="101860" y="0"/>
                    <a:pt x="106124" y="4264"/>
                    <a:pt x="106124" y="9525"/>
                  </a:cubicBezTo>
                  <a:cubicBezTo>
                    <a:pt x="106124" y="14786"/>
                    <a:pt x="101860" y="19050"/>
                    <a:pt x="96599" y="19050"/>
                  </a:cubicBezTo>
                  <a:lnTo>
                    <a:pt x="96599" y="65018"/>
                  </a:lnTo>
                  <a:lnTo>
                    <a:pt x="134052" y="168021"/>
                  </a:lnTo>
                  <a:lnTo>
                    <a:pt x="134375" y="168754"/>
                  </a:lnTo>
                  <a:cubicBezTo>
                    <a:pt x="135742" y="172420"/>
                    <a:pt x="135735" y="176457"/>
                    <a:pt x="134356" y="180118"/>
                  </a:cubicBezTo>
                  <a:lnTo>
                    <a:pt x="133690" y="181661"/>
                  </a:lnTo>
                  <a:cubicBezTo>
                    <a:pt x="131414" y="186206"/>
                    <a:pt x="127136" y="189420"/>
                    <a:pt x="122136" y="190338"/>
                  </a:cubicBezTo>
                  <a:lnTo>
                    <a:pt x="120412" y="190500"/>
                  </a:lnTo>
                  <a:lnTo>
                    <a:pt x="15637" y="190500"/>
                  </a:lnTo>
                  <a:lnTo>
                    <a:pt x="13913" y="190338"/>
                  </a:lnTo>
                  <a:cubicBezTo>
                    <a:pt x="9204" y="189471"/>
                    <a:pt x="5121" y="186565"/>
                    <a:pt x="2759" y="182401"/>
                  </a:cubicBezTo>
                  <a:cubicBezTo>
                    <a:pt x="398" y="178236"/>
                    <a:pt x="0" y="173240"/>
                    <a:pt x="1673" y="168754"/>
                  </a:cubicBezTo>
                  <a:lnTo>
                    <a:pt x="2045" y="167897"/>
                  </a:lnTo>
                  <a:lnTo>
                    <a:pt x="39449" y="64989"/>
                  </a:lnTo>
                  <a:lnTo>
                    <a:pt x="39449" y="19050"/>
                  </a:lnTo>
                  <a:cubicBezTo>
                    <a:pt x="34189" y="19050"/>
                    <a:pt x="29924" y="14786"/>
                    <a:pt x="29924" y="9525"/>
                  </a:cubicBezTo>
                  <a:cubicBezTo>
                    <a:pt x="29924" y="4264"/>
                    <a:pt x="34189" y="0"/>
                    <a:pt x="39449" y="0"/>
                  </a:cubicBezTo>
                  <a:lnTo>
                    <a:pt x="96599" y="0"/>
                  </a:lnTo>
                  <a:close/>
                  <a:moveTo>
                    <a:pt x="77549" y="19050"/>
                  </a:moveTo>
                  <a:lnTo>
                    <a:pt x="58499" y="19050"/>
                  </a:lnTo>
                  <a:lnTo>
                    <a:pt x="58499" y="57150"/>
                  </a:lnTo>
                  <a:lnTo>
                    <a:pt x="77549" y="57150"/>
                  </a:lnTo>
                  <a:lnTo>
                    <a:pt x="77549" y="19050"/>
                  </a:lnTo>
                  <a:close/>
                </a:path>
              </a:pathLst>
            </a:custGeom>
            <a:solidFill>
              <a:srgbClr val="FFFFFF"/>
            </a:solidFill>
            <a:ln>
              <a:noFill/>
            </a:ln>
            <a:effectLst>
              <a:outerShdw blurRad="76200" dist="19050" dir="5400000" algn="ctr" rotWithShape="0">
                <a:srgbClr val="000000">
                  <a:alpha val="5250"/>
                </a:srgbClr>
              </a:outerShdw>
            </a:effectLst>
          </p:spPr>
        </p:sp>
        <p:sp>
          <p:nvSpPr>
            <p:cNvPr id="12" name="TextBox 12"/>
            <p:cNvSpPr txBox="1"/>
            <p:nvPr/>
          </p:nvSpPr>
          <p:spPr>
            <a:xfrm>
              <a:off x="1377150" y="1248728"/>
              <a:ext cx="1474801" cy="21336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1050" b="1" dirty="0">
                  <a:solidFill>
                    <a:srgbClr val="FFFFFF"/>
                  </a:solidFill>
                  <a:latin typeface="Arial"/>
                  <a:ea typeface="Microsoft YaHei"/>
                  <a:cs typeface="Arial"/>
                </a:rPr>
                <a:t>Mechanism of Action</a:t>
              </a:r>
            </a:p>
          </p:txBody>
        </p:sp>
        <p:sp>
          <p:nvSpPr>
            <p:cNvPr id="13" name="TextBox 13"/>
            <p:cNvSpPr txBox="1"/>
            <p:nvPr/>
          </p:nvSpPr>
          <p:spPr>
            <a:xfrm>
              <a:off x="521018" y="1723549"/>
              <a:ext cx="2202212"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LMWH — Targeted Anticoagulation</a:t>
              </a:r>
            </a:p>
          </p:txBody>
        </p:sp>
        <p:sp>
          <p:nvSpPr>
            <p:cNvPr id="14" name="TextBox 14"/>
            <p:cNvSpPr txBox="1"/>
            <p:nvPr/>
          </p:nvSpPr>
          <p:spPr>
            <a:xfrm>
              <a:off x="521970" y="1950720"/>
              <a:ext cx="180508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Binds antithrombin III (AT III)</a:t>
              </a:r>
            </a:p>
          </p:txBody>
        </p:sp>
        <p:sp>
          <p:nvSpPr>
            <p:cNvPr id="15" name="TextBox 15"/>
            <p:cNvSpPr txBox="1"/>
            <p:nvPr/>
          </p:nvSpPr>
          <p:spPr>
            <a:xfrm>
              <a:off x="521970" y="2131695"/>
              <a:ext cx="203311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Potentiates AT III activity ~1,000×</a:t>
              </a:r>
            </a:p>
          </p:txBody>
        </p:sp>
        <p:sp>
          <p:nvSpPr>
            <p:cNvPr id="16" name="TextBox 16"/>
            <p:cNvSpPr txBox="1"/>
            <p:nvPr/>
          </p:nvSpPr>
          <p:spPr>
            <a:xfrm>
              <a:off x="521970" y="2379345"/>
              <a:ext cx="183508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Inhibits Factor Xa selectively</a:t>
              </a:r>
            </a:p>
          </p:txBody>
        </p:sp>
        <p:sp>
          <p:nvSpPr>
            <p:cNvPr id="17" name="TextBox 17"/>
            <p:cNvSpPr txBox="1"/>
            <p:nvPr/>
          </p:nvSpPr>
          <p:spPr>
            <a:xfrm>
              <a:off x="521970" y="2560320"/>
              <a:ext cx="183508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Anti-Xa : Anti-IIa ratio ≈ 3.8:1</a:t>
              </a:r>
            </a:p>
          </p:txBody>
        </p:sp>
        <p:sp>
          <p:nvSpPr>
            <p:cNvPr id="18" name="TextBox 18"/>
            <p:cNvSpPr txBox="1"/>
            <p:nvPr/>
          </p:nvSpPr>
          <p:spPr>
            <a:xfrm>
              <a:off x="521970" y="2807970"/>
              <a:ext cx="228514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Predictable subcutaneous absorption</a:t>
              </a:r>
            </a:p>
          </p:txBody>
        </p:sp>
        <p:sp>
          <p:nvSpPr>
            <p:cNvPr id="19" name="TextBox 19"/>
            <p:cNvSpPr txBox="1"/>
            <p:nvPr/>
          </p:nvSpPr>
          <p:spPr>
            <a:xfrm>
              <a:off x="521970" y="2988945"/>
              <a:ext cx="115700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Bioavailability ~92%</a:t>
              </a:r>
            </a:p>
          </p:txBody>
        </p:sp>
        <p:sp>
          <p:nvSpPr>
            <p:cNvPr id="20" name="Line 20"/>
            <p:cNvSpPr/>
            <p:nvPr/>
          </p:nvSpPr>
          <p:spPr>
            <a:xfrm>
              <a:off x="533400" y="3257550"/>
              <a:ext cx="3162300" cy="9525"/>
            </a:xfrm>
            <a:custGeom>
              <a:avLst/>
              <a:gdLst/>
              <a:ahLst/>
              <a:cxnLst/>
              <a:rect l="l" t="t" r="r" b="b"/>
              <a:pathLst>
                <a:path w="3162300" h="9525">
                  <a:moveTo>
                    <a:pt x="0" y="0"/>
                  </a:moveTo>
                  <a:lnTo>
                    <a:pt x="3162300" y="0"/>
                  </a:lnTo>
                </a:path>
              </a:pathLst>
            </a:custGeom>
            <a:noFill/>
            <a:ln w="9525">
              <a:solidFill>
                <a:srgbClr val="E0E0E0"/>
              </a:solidFill>
            </a:ln>
          </p:spPr>
        </p:sp>
        <p:sp>
          <p:nvSpPr>
            <p:cNvPr id="21" name="TextBox 21"/>
            <p:cNvSpPr txBox="1"/>
            <p:nvPr/>
          </p:nvSpPr>
          <p:spPr>
            <a:xfrm>
              <a:off x="521018" y="3380899"/>
              <a:ext cx="1185160"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Pharmacokinetics</a:t>
              </a:r>
            </a:p>
          </p:txBody>
        </p:sp>
        <p:sp>
          <p:nvSpPr>
            <p:cNvPr id="22" name="TextBox 22"/>
            <p:cNvSpPr txBox="1"/>
            <p:nvPr/>
          </p:nvSpPr>
          <p:spPr>
            <a:xfrm>
              <a:off x="521970" y="3598545"/>
              <a:ext cx="211712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Onset: anti-Xa peak at 3–5 h (SC)</a:t>
              </a:r>
            </a:p>
          </p:txBody>
        </p:sp>
        <p:sp>
          <p:nvSpPr>
            <p:cNvPr id="23" name="TextBox 23"/>
            <p:cNvSpPr txBox="1"/>
            <p:nvPr/>
          </p:nvSpPr>
          <p:spPr>
            <a:xfrm>
              <a:off x="521970" y="3808095"/>
              <a:ext cx="213512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Half-life: ~4.5 h (renally cleared)</a:t>
              </a:r>
            </a:p>
          </p:txBody>
        </p:sp>
        <p:sp>
          <p:nvSpPr>
            <p:cNvPr id="24" name="TextBox 24"/>
            <p:cNvSpPr txBox="1"/>
            <p:nvPr/>
          </p:nvSpPr>
          <p:spPr>
            <a:xfrm>
              <a:off x="521970" y="4017645"/>
              <a:ext cx="217112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Weight-based dosing: 1 mg/kg q12h</a:t>
              </a:r>
            </a:p>
          </p:txBody>
        </p:sp>
        <p:sp>
          <p:nvSpPr>
            <p:cNvPr id="25" name="TextBox 25"/>
            <p:cNvSpPr txBox="1"/>
            <p:nvPr/>
          </p:nvSpPr>
          <p:spPr>
            <a:xfrm>
              <a:off x="521970" y="4227195"/>
              <a:ext cx="194310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or 1.5 mg/kg q24h (therapeutic)</a:t>
              </a:r>
            </a:p>
          </p:txBody>
        </p:sp>
        <p:sp>
          <p:nvSpPr>
            <p:cNvPr id="26" name="TextBox 26"/>
            <p:cNvSpPr txBox="1"/>
            <p:nvPr/>
          </p:nvSpPr>
          <p:spPr>
            <a:xfrm>
              <a:off x="521970" y="4436745"/>
              <a:ext cx="181708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No routine monitoring needed</a:t>
              </a:r>
            </a:p>
          </p:txBody>
        </p:sp>
        <p:sp>
          <p:nvSpPr>
            <p:cNvPr id="27" name="TextBox 27"/>
            <p:cNvSpPr txBox="1"/>
            <p:nvPr/>
          </p:nvSpPr>
          <p:spPr>
            <a:xfrm>
              <a:off x="521970" y="4646295"/>
              <a:ext cx="131902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(unlike UFH with aPTT)</a:t>
              </a:r>
            </a:p>
          </p:txBody>
        </p:sp>
        <p:sp>
          <p:nvSpPr>
            <p:cNvPr id="28" name="Rectangle 28"/>
            <p:cNvSpPr/>
            <p:nvPr/>
          </p:nvSpPr>
          <p:spPr>
            <a:xfrm>
              <a:off x="533400" y="5029200"/>
              <a:ext cx="3352800" cy="419100"/>
            </a:xfrm>
            <a:prstGeom prst="roundRect">
              <a:avLst>
                <a:gd name="adj" fmla="val 13636"/>
              </a:avLst>
            </a:prstGeom>
            <a:solidFill>
              <a:srgbClr val="F9E5E7"/>
            </a:solidFill>
            <a:ln>
              <a:noFill/>
            </a:ln>
            <a:effectLst>
              <a:outerShdw blurRad="76200" dist="19050" dir="5400000" algn="ctr" rotWithShape="0">
                <a:srgbClr val="000000">
                  <a:alpha val="5250"/>
                </a:srgbClr>
              </a:outerShdw>
            </a:effectLst>
          </p:spPr>
        </p:sp>
        <p:sp>
          <p:nvSpPr>
            <p:cNvPr id="29" name="TextBox 29"/>
            <p:cNvSpPr txBox="1"/>
            <p:nvPr/>
          </p:nvSpPr>
          <p:spPr>
            <a:xfrm>
              <a:off x="1196545" y="5103495"/>
              <a:ext cx="202651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Key talking point for physicians:</a:t>
              </a:r>
            </a:p>
          </p:txBody>
        </p:sp>
        <p:sp>
          <p:nvSpPr>
            <p:cNvPr id="30" name="TextBox 30"/>
            <p:cNvSpPr txBox="1"/>
            <p:nvPr/>
          </p:nvSpPr>
          <p:spPr>
            <a:xfrm>
              <a:off x="813149" y="5273516"/>
              <a:ext cx="2793302"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"Predictable PK = safe dose without lab monitoring"</a:t>
              </a:r>
            </a:p>
          </p:txBody>
        </p:sp>
      </p:grpSp>
      <p:grpSp>
        <p:nvGrpSpPr>
          <p:cNvPr id="69" name="Group 69"/>
          <p:cNvGrpSpPr/>
          <p:nvPr/>
        </p:nvGrpSpPr>
        <p:grpSpPr>
          <a:xfrm>
            <a:off x="4114800" y="857250"/>
            <a:ext cx="3543300" cy="5467350"/>
            <a:chOff x="4114800" y="857250"/>
            <a:chExt cx="3543300" cy="5467350"/>
          </a:xfrm>
          <a:effectLst>
            <a:outerShdw blurRad="76200" dist="19050" dir="5400000" algn="ctr" rotWithShape="0">
              <a:srgbClr val="000000">
                <a:alpha val="5250"/>
              </a:srgbClr>
            </a:outerShdw>
          </a:effectLst>
        </p:grpSpPr>
        <p:sp>
          <p:nvSpPr>
            <p:cNvPr id="32" name="Rectangle 32"/>
            <p:cNvSpPr/>
            <p:nvPr/>
          </p:nvSpPr>
          <p:spPr>
            <a:xfrm>
              <a:off x="4114800" y="876300"/>
              <a:ext cx="3543300" cy="5448300"/>
            </a:xfrm>
            <a:prstGeom prst="roundRect">
              <a:avLst>
                <a:gd name="adj" fmla="val 2688"/>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33" name="Freeform 33"/>
            <p:cNvSpPr/>
            <p:nvPr/>
          </p:nvSpPr>
          <p:spPr>
            <a:xfrm>
              <a:off x="4114800" y="876300"/>
              <a:ext cx="3543300" cy="666750"/>
            </a:xfrm>
            <a:custGeom>
              <a:avLst/>
              <a:gdLst/>
              <a:ahLst/>
              <a:cxnLst/>
              <a:rect l="l" t="t" r="r" b="b"/>
              <a:pathLst>
                <a:path w="3543300" h="666750">
                  <a:moveTo>
                    <a:pt x="0" y="95250"/>
                  </a:moveTo>
                  <a:cubicBezTo>
                    <a:pt x="0" y="31750"/>
                    <a:pt x="31750" y="0"/>
                    <a:pt x="95250" y="0"/>
                  </a:cubicBezTo>
                  <a:lnTo>
                    <a:pt x="3448050" y="0"/>
                  </a:lnTo>
                  <a:cubicBezTo>
                    <a:pt x="3511550" y="0"/>
                    <a:pt x="3543300" y="31750"/>
                    <a:pt x="3543300" y="95250"/>
                  </a:cubicBezTo>
                  <a:lnTo>
                    <a:pt x="3543300" y="666750"/>
                  </a:lnTo>
                  <a:cubicBezTo>
                    <a:pt x="3543300" y="666750"/>
                    <a:pt x="2952750" y="666750"/>
                    <a:pt x="1771650" y="666750"/>
                  </a:cubicBezTo>
                  <a:cubicBezTo>
                    <a:pt x="590550" y="666750"/>
                    <a:pt x="0" y="666750"/>
                    <a:pt x="0" y="666750"/>
                  </a:cubicBezTo>
                  <a:close/>
                </a:path>
              </a:pathLst>
            </a:custGeom>
            <a:solidFill>
              <a:srgbClr val="AE232F"/>
            </a:solidFill>
            <a:ln>
              <a:noFill/>
            </a:ln>
            <a:effectLst>
              <a:outerShdw blurRad="76200" dist="19050" dir="5400000" algn="ctr" rotWithShape="0">
                <a:srgbClr val="000000">
                  <a:alpha val="5250"/>
                </a:srgbClr>
              </a:outerShdw>
            </a:effectLst>
          </p:spPr>
        </p:sp>
        <p:sp>
          <p:nvSpPr>
            <p:cNvPr id="34" name="Ellipse 34"/>
            <p:cNvSpPr/>
            <p:nvPr/>
          </p:nvSpPr>
          <p:spPr>
            <a:xfrm>
              <a:off x="5657850" y="857250"/>
              <a:ext cx="457200" cy="457200"/>
            </a:xfrm>
            <a:prstGeom prst="ellipse">
              <a:avLst/>
            </a:prstGeom>
            <a:solidFill>
              <a:srgbClr val="8A1B25"/>
            </a:solidFill>
            <a:ln>
              <a:noFill/>
            </a:ln>
            <a:effectLst>
              <a:outerShdw blurRad="76200" dist="19050" dir="5400000" algn="ctr" rotWithShape="0">
                <a:srgbClr val="000000">
                  <a:alpha val="5250"/>
                </a:srgbClr>
              </a:outerShdw>
            </a:effectLst>
          </p:spPr>
        </p:sp>
        <p:sp>
          <p:nvSpPr>
            <p:cNvPr id="35" name="Freeform 35"/>
            <p:cNvSpPr/>
            <p:nvPr/>
          </p:nvSpPr>
          <p:spPr>
            <a:xfrm>
              <a:off x="5810248" y="990600"/>
              <a:ext cx="152404" cy="190500"/>
            </a:xfrm>
            <a:custGeom>
              <a:avLst/>
              <a:gdLst/>
              <a:ahLst/>
              <a:cxnLst/>
              <a:rect l="l" t="t" r="r" b="b"/>
              <a:pathLst>
                <a:path w="152404" h="190500">
                  <a:moveTo>
                    <a:pt x="133324" y="20669"/>
                  </a:moveTo>
                  <a:cubicBezTo>
                    <a:pt x="144757" y="24698"/>
                    <a:pt x="152404" y="35502"/>
                    <a:pt x="152402" y="47625"/>
                  </a:cubicBezTo>
                  <a:lnTo>
                    <a:pt x="152402" y="161925"/>
                  </a:lnTo>
                  <a:cubicBezTo>
                    <a:pt x="152402" y="177707"/>
                    <a:pt x="139609" y="190500"/>
                    <a:pt x="123827" y="190500"/>
                  </a:cubicBezTo>
                  <a:lnTo>
                    <a:pt x="28577" y="190500"/>
                  </a:lnTo>
                  <a:cubicBezTo>
                    <a:pt x="12796" y="190500"/>
                    <a:pt x="2" y="177707"/>
                    <a:pt x="2" y="161925"/>
                  </a:cubicBezTo>
                  <a:lnTo>
                    <a:pt x="2" y="47625"/>
                  </a:lnTo>
                  <a:cubicBezTo>
                    <a:pt x="0" y="35502"/>
                    <a:pt x="7647" y="24698"/>
                    <a:pt x="19081" y="20669"/>
                  </a:cubicBezTo>
                  <a:cubicBezTo>
                    <a:pt x="19948" y="41065"/>
                    <a:pt x="36738" y="57153"/>
                    <a:pt x="57152" y="57150"/>
                  </a:cubicBezTo>
                  <a:lnTo>
                    <a:pt x="95252" y="57150"/>
                  </a:lnTo>
                  <a:cubicBezTo>
                    <a:pt x="114809" y="57152"/>
                    <a:pt x="131191" y="42346"/>
                    <a:pt x="133162" y="22889"/>
                  </a:cubicBezTo>
                  <a:close/>
                  <a:moveTo>
                    <a:pt x="98043" y="88516"/>
                  </a:moveTo>
                  <a:lnTo>
                    <a:pt x="66677" y="119872"/>
                  </a:lnTo>
                  <a:lnTo>
                    <a:pt x="54361" y="107566"/>
                  </a:lnTo>
                  <a:cubicBezTo>
                    <a:pt x="51970" y="105090"/>
                    <a:pt x="48428" y="104097"/>
                    <a:pt x="45098" y="104968"/>
                  </a:cubicBezTo>
                  <a:cubicBezTo>
                    <a:pt x="41768" y="105840"/>
                    <a:pt x="39167" y="108441"/>
                    <a:pt x="38295" y="111771"/>
                  </a:cubicBezTo>
                  <a:cubicBezTo>
                    <a:pt x="37424" y="115101"/>
                    <a:pt x="38417" y="118643"/>
                    <a:pt x="40893" y="121034"/>
                  </a:cubicBezTo>
                  <a:lnTo>
                    <a:pt x="59943" y="140084"/>
                  </a:lnTo>
                  <a:cubicBezTo>
                    <a:pt x="63662" y="143803"/>
                    <a:pt x="69692" y="143803"/>
                    <a:pt x="73411" y="140084"/>
                  </a:cubicBezTo>
                  <a:lnTo>
                    <a:pt x="111511" y="101984"/>
                  </a:lnTo>
                  <a:cubicBezTo>
                    <a:pt x="115121" y="98247"/>
                    <a:pt x="115069" y="92306"/>
                    <a:pt x="111395" y="88632"/>
                  </a:cubicBezTo>
                  <a:cubicBezTo>
                    <a:pt x="107721" y="84958"/>
                    <a:pt x="101780" y="84906"/>
                    <a:pt x="98043" y="88516"/>
                  </a:cubicBezTo>
                  <a:moveTo>
                    <a:pt x="95252" y="0"/>
                  </a:moveTo>
                  <a:cubicBezTo>
                    <a:pt x="105773" y="0"/>
                    <a:pt x="114302" y="8529"/>
                    <a:pt x="114302" y="19050"/>
                  </a:cubicBezTo>
                  <a:cubicBezTo>
                    <a:pt x="114302" y="29571"/>
                    <a:pt x="105773" y="38100"/>
                    <a:pt x="95252" y="38100"/>
                  </a:cubicBezTo>
                  <a:lnTo>
                    <a:pt x="57152" y="38100"/>
                  </a:lnTo>
                  <a:cubicBezTo>
                    <a:pt x="46631" y="38100"/>
                    <a:pt x="38102" y="29571"/>
                    <a:pt x="38102" y="19050"/>
                  </a:cubicBezTo>
                  <a:cubicBezTo>
                    <a:pt x="38102" y="8529"/>
                    <a:pt x="46631" y="0"/>
                    <a:pt x="57152" y="0"/>
                  </a:cubicBezTo>
                  <a:close/>
                </a:path>
              </a:pathLst>
            </a:custGeom>
            <a:solidFill>
              <a:srgbClr val="FFFFFF"/>
            </a:solidFill>
            <a:ln>
              <a:noFill/>
            </a:ln>
            <a:effectLst>
              <a:outerShdw blurRad="76200" dist="19050" dir="5400000" algn="ctr" rotWithShape="0">
                <a:srgbClr val="000000">
                  <a:alpha val="5250"/>
                </a:srgbClr>
              </a:outerShdw>
            </a:effectLst>
          </p:spPr>
        </p:sp>
        <p:sp>
          <p:nvSpPr>
            <p:cNvPr id="36" name="TextBox 36"/>
            <p:cNvSpPr txBox="1"/>
            <p:nvPr/>
          </p:nvSpPr>
          <p:spPr>
            <a:xfrm>
              <a:off x="5340173" y="1248728"/>
              <a:ext cx="1092553" cy="21336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1050" b="1" dirty="0">
                  <a:solidFill>
                    <a:srgbClr val="FFFFFF"/>
                  </a:solidFill>
                  <a:latin typeface="Arial"/>
                  <a:ea typeface="Microsoft YaHei"/>
                  <a:cs typeface="Arial"/>
                </a:rPr>
                <a:t>Key Indications</a:t>
              </a:r>
            </a:p>
          </p:txBody>
        </p:sp>
        <p:sp>
          <p:nvSpPr>
            <p:cNvPr id="37" name="Rectangle 37"/>
            <p:cNvSpPr/>
            <p:nvPr/>
          </p:nvSpPr>
          <p:spPr>
            <a:xfrm>
              <a:off x="4305300" y="171450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38" name="TextBox 38"/>
            <p:cNvSpPr txBox="1"/>
            <p:nvPr/>
          </p:nvSpPr>
          <p:spPr>
            <a:xfrm>
              <a:off x="4358306" y="175879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1</a:t>
              </a:r>
            </a:p>
          </p:txBody>
        </p:sp>
        <p:sp>
          <p:nvSpPr>
            <p:cNvPr id="39" name="TextBox 39"/>
            <p:cNvSpPr txBox="1"/>
            <p:nvPr/>
          </p:nvSpPr>
          <p:spPr>
            <a:xfrm>
              <a:off x="4559618" y="1723549"/>
              <a:ext cx="1048643"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VTE Prophylaxis</a:t>
              </a:r>
            </a:p>
          </p:txBody>
        </p:sp>
        <p:sp>
          <p:nvSpPr>
            <p:cNvPr id="40" name="TextBox 40"/>
            <p:cNvSpPr txBox="1"/>
            <p:nvPr/>
          </p:nvSpPr>
          <p:spPr>
            <a:xfrm>
              <a:off x="4561522" y="1892141"/>
              <a:ext cx="254027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Orthopedic, general surgery, medical patients</a:t>
              </a:r>
            </a:p>
          </p:txBody>
        </p:sp>
        <p:sp>
          <p:nvSpPr>
            <p:cNvPr id="41" name="Line 41"/>
            <p:cNvSpPr/>
            <p:nvPr/>
          </p:nvSpPr>
          <p:spPr>
            <a:xfrm>
              <a:off x="4305300" y="213360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42" name="Rectangle 42"/>
            <p:cNvSpPr/>
            <p:nvPr/>
          </p:nvSpPr>
          <p:spPr>
            <a:xfrm>
              <a:off x="4305300" y="222885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43" name="TextBox 43"/>
            <p:cNvSpPr txBox="1"/>
            <p:nvPr/>
          </p:nvSpPr>
          <p:spPr>
            <a:xfrm>
              <a:off x="4358306" y="227314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2</a:t>
              </a:r>
            </a:p>
          </p:txBody>
        </p:sp>
        <p:sp>
          <p:nvSpPr>
            <p:cNvPr id="44" name="TextBox 44"/>
            <p:cNvSpPr txBox="1"/>
            <p:nvPr/>
          </p:nvSpPr>
          <p:spPr>
            <a:xfrm>
              <a:off x="4559618" y="2237899"/>
              <a:ext cx="994036"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DVT Treatment</a:t>
              </a:r>
            </a:p>
          </p:txBody>
        </p:sp>
        <p:sp>
          <p:nvSpPr>
            <p:cNvPr id="45" name="TextBox 45"/>
            <p:cNvSpPr txBox="1"/>
            <p:nvPr/>
          </p:nvSpPr>
          <p:spPr>
            <a:xfrm>
              <a:off x="4561522" y="2406491"/>
              <a:ext cx="246326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Deep vein thrombosis — inpatient &amp; outpatient</a:t>
              </a:r>
            </a:p>
          </p:txBody>
        </p:sp>
        <p:sp>
          <p:nvSpPr>
            <p:cNvPr id="46" name="Line 46"/>
            <p:cNvSpPr/>
            <p:nvPr/>
          </p:nvSpPr>
          <p:spPr>
            <a:xfrm>
              <a:off x="4305300" y="264795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47" name="Rectangle 47"/>
            <p:cNvSpPr/>
            <p:nvPr/>
          </p:nvSpPr>
          <p:spPr>
            <a:xfrm>
              <a:off x="4305300" y="274320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48" name="TextBox 48"/>
            <p:cNvSpPr txBox="1"/>
            <p:nvPr/>
          </p:nvSpPr>
          <p:spPr>
            <a:xfrm>
              <a:off x="4358306" y="278749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3</a:t>
              </a:r>
            </a:p>
          </p:txBody>
        </p:sp>
        <p:sp>
          <p:nvSpPr>
            <p:cNvPr id="49" name="TextBox 49"/>
            <p:cNvSpPr txBox="1"/>
            <p:nvPr/>
          </p:nvSpPr>
          <p:spPr>
            <a:xfrm>
              <a:off x="4559618" y="2752249"/>
              <a:ext cx="918952"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PE Treatment</a:t>
              </a:r>
            </a:p>
          </p:txBody>
        </p:sp>
        <p:sp>
          <p:nvSpPr>
            <p:cNvPr id="50" name="TextBox 50"/>
            <p:cNvSpPr txBox="1"/>
            <p:nvPr/>
          </p:nvSpPr>
          <p:spPr>
            <a:xfrm>
              <a:off x="4561522" y="2920841"/>
              <a:ext cx="2545771"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Pulmonary embolism with hemodynamic stability</a:t>
              </a:r>
            </a:p>
          </p:txBody>
        </p:sp>
        <p:sp>
          <p:nvSpPr>
            <p:cNvPr id="51" name="Line 51"/>
            <p:cNvSpPr/>
            <p:nvPr/>
          </p:nvSpPr>
          <p:spPr>
            <a:xfrm>
              <a:off x="4305300" y="316230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52" name="Rectangle 52"/>
            <p:cNvSpPr/>
            <p:nvPr/>
          </p:nvSpPr>
          <p:spPr>
            <a:xfrm>
              <a:off x="4305300" y="325755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53" name="TextBox 53"/>
            <p:cNvSpPr txBox="1"/>
            <p:nvPr/>
          </p:nvSpPr>
          <p:spPr>
            <a:xfrm>
              <a:off x="4358306" y="330184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4</a:t>
              </a:r>
            </a:p>
          </p:txBody>
        </p:sp>
        <p:sp>
          <p:nvSpPr>
            <p:cNvPr id="54" name="TextBox 54"/>
            <p:cNvSpPr txBox="1"/>
            <p:nvPr/>
          </p:nvSpPr>
          <p:spPr>
            <a:xfrm>
              <a:off x="4559618" y="3266599"/>
              <a:ext cx="1308025"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ACS / STEMI Adjunct</a:t>
              </a:r>
            </a:p>
          </p:txBody>
        </p:sp>
        <p:sp>
          <p:nvSpPr>
            <p:cNvPr id="55" name="TextBox 55"/>
            <p:cNvSpPr txBox="1"/>
            <p:nvPr/>
          </p:nvSpPr>
          <p:spPr>
            <a:xfrm>
              <a:off x="4561522" y="3435191"/>
              <a:ext cx="2353247"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UA/NSTEMI: 1 mg/kg SC q12h (ESSENCE data)</a:t>
              </a:r>
            </a:p>
          </p:txBody>
        </p:sp>
        <p:sp>
          <p:nvSpPr>
            <p:cNvPr id="56" name="Line 56"/>
            <p:cNvSpPr/>
            <p:nvPr/>
          </p:nvSpPr>
          <p:spPr>
            <a:xfrm>
              <a:off x="4305300" y="367665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57" name="Rectangle 57"/>
            <p:cNvSpPr/>
            <p:nvPr/>
          </p:nvSpPr>
          <p:spPr>
            <a:xfrm>
              <a:off x="4305300" y="377190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58" name="TextBox 58"/>
            <p:cNvSpPr txBox="1"/>
            <p:nvPr/>
          </p:nvSpPr>
          <p:spPr>
            <a:xfrm>
              <a:off x="4358306" y="381619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5</a:t>
              </a:r>
            </a:p>
          </p:txBody>
        </p:sp>
        <p:sp>
          <p:nvSpPr>
            <p:cNvPr id="59" name="TextBox 59"/>
            <p:cNvSpPr txBox="1"/>
            <p:nvPr/>
          </p:nvSpPr>
          <p:spPr>
            <a:xfrm>
              <a:off x="4559618" y="3780949"/>
              <a:ext cx="1116902"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Pregnancy (VTE)</a:t>
              </a:r>
            </a:p>
          </p:txBody>
        </p:sp>
        <p:sp>
          <p:nvSpPr>
            <p:cNvPr id="60" name="TextBox 60"/>
            <p:cNvSpPr txBox="1"/>
            <p:nvPr/>
          </p:nvSpPr>
          <p:spPr>
            <a:xfrm>
              <a:off x="4561522" y="3949541"/>
              <a:ext cx="220472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LMWH of choice; does not cross placenta</a:t>
              </a:r>
            </a:p>
          </p:txBody>
        </p:sp>
        <p:sp>
          <p:nvSpPr>
            <p:cNvPr id="61" name="Line 61"/>
            <p:cNvSpPr/>
            <p:nvPr/>
          </p:nvSpPr>
          <p:spPr>
            <a:xfrm>
              <a:off x="4305300" y="419100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62" name="Rectangle 62"/>
            <p:cNvSpPr/>
            <p:nvPr/>
          </p:nvSpPr>
          <p:spPr>
            <a:xfrm>
              <a:off x="4305300" y="4286250"/>
              <a:ext cx="3162300" cy="552450"/>
            </a:xfrm>
            <a:prstGeom prst="roundRect">
              <a:avLst>
                <a:gd name="adj" fmla="val 10345"/>
              </a:avLst>
            </a:prstGeom>
            <a:solidFill>
              <a:srgbClr val="F5F5F5"/>
            </a:solidFill>
            <a:ln>
              <a:noFill/>
            </a:ln>
            <a:effectLst>
              <a:outerShdw blurRad="76200" dist="19050" dir="5400000" algn="ctr" rotWithShape="0">
                <a:srgbClr val="000000">
                  <a:alpha val="5250"/>
                </a:srgbClr>
              </a:outerShdw>
            </a:effectLst>
          </p:spPr>
        </p:sp>
        <p:sp>
          <p:nvSpPr>
            <p:cNvPr id="63" name="TextBox 63"/>
            <p:cNvSpPr txBox="1"/>
            <p:nvPr/>
          </p:nvSpPr>
          <p:spPr>
            <a:xfrm>
              <a:off x="5125226" y="4379595"/>
              <a:ext cx="1522447"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Relevant at PMK Hospital</a:t>
              </a:r>
            </a:p>
          </p:txBody>
        </p:sp>
        <p:sp>
          <p:nvSpPr>
            <p:cNvPr id="64" name="TextBox 64"/>
            <p:cNvSpPr txBox="1"/>
            <p:nvPr/>
          </p:nvSpPr>
          <p:spPr>
            <a:xfrm>
              <a:off x="4795087" y="4549616"/>
              <a:ext cx="218272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High volume of ACS, orthopedic surgery,</a:t>
              </a:r>
            </a:p>
          </p:txBody>
        </p:sp>
        <p:sp>
          <p:nvSpPr>
            <p:cNvPr id="65" name="TextBox 65"/>
            <p:cNvSpPr txBox="1"/>
            <p:nvPr/>
          </p:nvSpPr>
          <p:spPr>
            <a:xfrm>
              <a:off x="4830842" y="4692491"/>
              <a:ext cx="2111216"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and ICU patients — all key Clexane users</a:t>
              </a:r>
            </a:p>
          </p:txBody>
        </p:sp>
        <p:sp>
          <p:nvSpPr>
            <p:cNvPr id="66" name="Rectangle 66"/>
            <p:cNvSpPr/>
            <p:nvPr/>
          </p:nvSpPr>
          <p:spPr>
            <a:xfrm>
              <a:off x="4305300" y="5029200"/>
              <a:ext cx="3162300" cy="419100"/>
            </a:xfrm>
            <a:prstGeom prst="roundRect">
              <a:avLst>
                <a:gd name="adj" fmla="val 13636"/>
              </a:avLst>
            </a:prstGeom>
            <a:solidFill>
              <a:srgbClr val="F9E5E7"/>
            </a:solidFill>
            <a:ln>
              <a:noFill/>
            </a:ln>
            <a:effectLst>
              <a:outerShdw blurRad="76200" dist="19050" dir="5400000" algn="ctr" rotWithShape="0">
                <a:srgbClr val="000000">
                  <a:alpha val="5250"/>
                </a:srgbClr>
              </a:outerShdw>
            </a:effectLst>
          </p:spPr>
        </p:sp>
        <p:sp>
          <p:nvSpPr>
            <p:cNvPr id="67" name="TextBox 67"/>
            <p:cNvSpPr txBox="1"/>
            <p:nvPr/>
          </p:nvSpPr>
          <p:spPr>
            <a:xfrm>
              <a:off x="5348904" y="5103495"/>
              <a:ext cx="107509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Guideline backed:</a:t>
              </a:r>
            </a:p>
          </p:txBody>
        </p:sp>
        <p:sp>
          <p:nvSpPr>
            <p:cNvPr id="68" name="TextBox 68"/>
            <p:cNvSpPr txBox="1"/>
            <p:nvPr/>
          </p:nvSpPr>
          <p:spPr>
            <a:xfrm>
              <a:off x="4619065" y="5273516"/>
              <a:ext cx="2534769"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ACC/AHA · ESC · ACCP anticoagulation guidelines</a:t>
              </a:r>
            </a:p>
          </p:txBody>
        </p:sp>
      </p:grpSp>
      <p:grpSp>
        <p:nvGrpSpPr>
          <p:cNvPr id="94" name="Group 94"/>
          <p:cNvGrpSpPr/>
          <p:nvPr/>
        </p:nvGrpSpPr>
        <p:grpSpPr>
          <a:xfrm>
            <a:off x="7886700" y="857250"/>
            <a:ext cx="4000500" cy="5467350"/>
            <a:chOff x="7886700" y="857250"/>
            <a:chExt cx="4000500" cy="5467350"/>
          </a:xfrm>
          <a:effectLst>
            <a:outerShdw blurRad="76200" dist="19050" dir="5400000" algn="ctr" rotWithShape="0">
              <a:srgbClr val="000000">
                <a:alpha val="5250"/>
              </a:srgbClr>
            </a:outerShdw>
          </a:effectLst>
        </p:grpSpPr>
        <p:sp>
          <p:nvSpPr>
            <p:cNvPr id="70" name="Rectangle 70"/>
            <p:cNvSpPr/>
            <p:nvPr/>
          </p:nvSpPr>
          <p:spPr>
            <a:xfrm>
              <a:off x="7886700" y="876300"/>
              <a:ext cx="4000500" cy="5448300"/>
            </a:xfrm>
            <a:prstGeom prst="roundRect">
              <a:avLst>
                <a:gd name="adj" fmla="val 238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71" name="Freeform 71"/>
            <p:cNvSpPr/>
            <p:nvPr/>
          </p:nvSpPr>
          <p:spPr>
            <a:xfrm>
              <a:off x="7886700" y="876300"/>
              <a:ext cx="4000500" cy="666750"/>
            </a:xfrm>
            <a:custGeom>
              <a:avLst/>
              <a:gdLst/>
              <a:ahLst/>
              <a:cxnLst/>
              <a:rect l="l" t="t" r="r" b="b"/>
              <a:pathLst>
                <a:path w="4000500" h="666750">
                  <a:moveTo>
                    <a:pt x="0" y="95250"/>
                  </a:moveTo>
                  <a:cubicBezTo>
                    <a:pt x="0" y="31750"/>
                    <a:pt x="31750" y="0"/>
                    <a:pt x="95250" y="0"/>
                  </a:cubicBezTo>
                  <a:lnTo>
                    <a:pt x="3905250" y="0"/>
                  </a:lnTo>
                  <a:cubicBezTo>
                    <a:pt x="3968750" y="0"/>
                    <a:pt x="4000500" y="31750"/>
                    <a:pt x="4000500" y="95250"/>
                  </a:cubicBezTo>
                  <a:lnTo>
                    <a:pt x="4000500" y="666750"/>
                  </a:lnTo>
                  <a:cubicBezTo>
                    <a:pt x="4000500" y="666750"/>
                    <a:pt x="3333750" y="666750"/>
                    <a:pt x="2000250" y="666750"/>
                  </a:cubicBezTo>
                  <a:cubicBezTo>
                    <a:pt x="666750" y="666750"/>
                    <a:pt x="0" y="666750"/>
                    <a:pt x="0" y="666750"/>
                  </a:cubicBezTo>
                  <a:close/>
                </a:path>
              </a:pathLst>
            </a:custGeom>
            <a:solidFill>
              <a:srgbClr val="AE232F"/>
            </a:solidFill>
            <a:ln>
              <a:noFill/>
            </a:ln>
            <a:effectLst>
              <a:outerShdw blurRad="76200" dist="19050" dir="5400000" algn="ctr" rotWithShape="0">
                <a:srgbClr val="000000">
                  <a:alpha val="5250"/>
                </a:srgbClr>
              </a:outerShdw>
            </a:effectLst>
          </p:spPr>
        </p:sp>
        <p:sp>
          <p:nvSpPr>
            <p:cNvPr id="72" name="Ellipse 72"/>
            <p:cNvSpPr/>
            <p:nvPr/>
          </p:nvSpPr>
          <p:spPr>
            <a:xfrm>
              <a:off x="9658350" y="857250"/>
              <a:ext cx="457200" cy="457200"/>
            </a:xfrm>
            <a:prstGeom prst="ellipse">
              <a:avLst/>
            </a:prstGeom>
            <a:solidFill>
              <a:srgbClr val="8A1B25"/>
            </a:solidFill>
            <a:ln>
              <a:noFill/>
            </a:ln>
            <a:effectLst>
              <a:outerShdw blurRad="76200" dist="19050" dir="5400000" algn="ctr" rotWithShape="0">
                <a:srgbClr val="000000">
                  <a:alpha val="5250"/>
                </a:srgbClr>
              </a:outerShdw>
            </a:effectLst>
          </p:spPr>
        </p:sp>
        <p:sp>
          <p:nvSpPr>
            <p:cNvPr id="73" name="Freeform 73"/>
            <p:cNvSpPr/>
            <p:nvPr/>
          </p:nvSpPr>
          <p:spPr>
            <a:xfrm>
              <a:off x="9787387" y="990600"/>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rgbClr val="FFFFFF"/>
            </a:solidFill>
            <a:ln>
              <a:noFill/>
            </a:ln>
            <a:effectLst>
              <a:outerShdw blurRad="76200" dist="19050" dir="5400000" algn="ctr" rotWithShape="0">
                <a:srgbClr val="000000">
                  <a:alpha val="5250"/>
                </a:srgbClr>
              </a:outerShdw>
            </a:effectLst>
          </p:spPr>
        </p:sp>
        <p:sp>
          <p:nvSpPr>
            <p:cNvPr id="74" name="TextBox 74"/>
            <p:cNvSpPr txBox="1"/>
            <p:nvPr/>
          </p:nvSpPr>
          <p:spPr>
            <a:xfrm>
              <a:off x="9303919" y="1248728"/>
              <a:ext cx="1166062" cy="21336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1050" b="1" dirty="0">
                  <a:solidFill>
                    <a:srgbClr val="FFFFFF"/>
                  </a:solidFill>
                  <a:latin typeface="Arial"/>
                  <a:ea typeface="Microsoft YaHei"/>
                  <a:cs typeface="Arial"/>
                </a:rPr>
                <a:t>Differentiators</a:t>
              </a:r>
            </a:p>
          </p:txBody>
        </p:sp>
        <p:sp>
          <p:nvSpPr>
            <p:cNvPr id="75" name="TextBox 75"/>
            <p:cNvSpPr txBox="1"/>
            <p:nvPr/>
          </p:nvSpPr>
          <p:spPr>
            <a:xfrm>
              <a:off x="8064818" y="1685449"/>
              <a:ext cx="2789236"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Clexane vs. Unfractionated Heparin (UFH)</a:t>
              </a:r>
            </a:p>
          </p:txBody>
        </p:sp>
        <p:sp>
          <p:nvSpPr>
            <p:cNvPr id="76" name="TextBox 76"/>
            <p:cNvSpPr txBox="1"/>
            <p:nvPr/>
          </p:nvSpPr>
          <p:spPr>
            <a:xfrm>
              <a:off x="8065770" y="1903095"/>
              <a:ext cx="175107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No aPTT monitoring required</a:t>
              </a:r>
            </a:p>
          </p:txBody>
        </p:sp>
        <p:sp>
          <p:nvSpPr>
            <p:cNvPr id="77" name="TextBox 77"/>
            <p:cNvSpPr txBox="1"/>
            <p:nvPr/>
          </p:nvSpPr>
          <p:spPr>
            <a:xfrm>
              <a:off x="8065770" y="2093595"/>
              <a:ext cx="258518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Once or twice daily SC (vs. continuous IV)</a:t>
              </a:r>
            </a:p>
          </p:txBody>
        </p:sp>
        <p:sp>
          <p:nvSpPr>
            <p:cNvPr id="78" name="TextBox 78"/>
            <p:cNvSpPr txBox="1"/>
            <p:nvPr/>
          </p:nvSpPr>
          <p:spPr>
            <a:xfrm>
              <a:off x="8065770" y="2284095"/>
              <a:ext cx="215312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Lower risk of HIT (heparin-induced</a:t>
              </a:r>
            </a:p>
          </p:txBody>
        </p:sp>
        <p:sp>
          <p:nvSpPr>
            <p:cNvPr id="79" name="TextBox 79"/>
            <p:cNvSpPr txBox="1"/>
            <p:nvPr/>
          </p:nvSpPr>
          <p:spPr>
            <a:xfrm>
              <a:off x="8065770" y="2455545"/>
              <a:ext cx="113899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thrombocytopenia)</a:t>
              </a:r>
            </a:p>
          </p:txBody>
        </p:sp>
        <p:sp>
          <p:nvSpPr>
            <p:cNvPr id="80" name="TextBox 80"/>
            <p:cNvSpPr txBox="1"/>
            <p:nvPr/>
          </p:nvSpPr>
          <p:spPr>
            <a:xfrm>
              <a:off x="8065770" y="2646045"/>
              <a:ext cx="200910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More predictable dose-response</a:t>
              </a:r>
            </a:p>
          </p:txBody>
        </p:sp>
        <p:sp>
          <p:nvSpPr>
            <p:cNvPr id="81" name="TextBox 81"/>
            <p:cNvSpPr txBox="1"/>
            <p:nvPr/>
          </p:nvSpPr>
          <p:spPr>
            <a:xfrm>
              <a:off x="8065770" y="2836545"/>
              <a:ext cx="212912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Can be used in outpatient settings</a:t>
              </a:r>
            </a:p>
          </p:txBody>
        </p:sp>
        <p:sp>
          <p:nvSpPr>
            <p:cNvPr id="82" name="Line 82"/>
            <p:cNvSpPr/>
            <p:nvPr/>
          </p:nvSpPr>
          <p:spPr>
            <a:xfrm>
              <a:off x="8077200" y="3105150"/>
              <a:ext cx="3619500" cy="9525"/>
            </a:xfrm>
            <a:custGeom>
              <a:avLst/>
              <a:gdLst/>
              <a:ahLst/>
              <a:cxnLst/>
              <a:rect l="l" t="t" r="r" b="b"/>
              <a:pathLst>
                <a:path w="3619500" h="9525">
                  <a:moveTo>
                    <a:pt x="0" y="0"/>
                  </a:moveTo>
                  <a:lnTo>
                    <a:pt x="3619500" y="0"/>
                  </a:lnTo>
                </a:path>
              </a:pathLst>
            </a:custGeom>
            <a:noFill/>
            <a:ln w="9525">
              <a:solidFill>
                <a:srgbClr val="E0E0E0"/>
              </a:solidFill>
            </a:ln>
          </p:spPr>
        </p:sp>
        <p:sp>
          <p:nvSpPr>
            <p:cNvPr id="83" name="TextBox 83"/>
            <p:cNvSpPr txBox="1"/>
            <p:nvPr/>
          </p:nvSpPr>
          <p:spPr>
            <a:xfrm>
              <a:off x="8064818" y="3209449"/>
              <a:ext cx="2932578"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Clexane vs. DOACs (Rivaroxaban / Apixaban)</a:t>
              </a:r>
            </a:p>
          </p:txBody>
        </p:sp>
        <p:sp>
          <p:nvSpPr>
            <p:cNvPr id="84" name="TextBox 84"/>
            <p:cNvSpPr txBox="1"/>
            <p:nvPr/>
          </p:nvSpPr>
          <p:spPr>
            <a:xfrm>
              <a:off x="8065770" y="3427095"/>
              <a:ext cx="234515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Safe in severe renal impairment (eGFR</a:t>
              </a:r>
            </a:p>
          </p:txBody>
        </p:sp>
        <p:sp>
          <p:nvSpPr>
            <p:cNvPr id="85" name="TextBox 85"/>
            <p:cNvSpPr txBox="1"/>
            <p:nvPr/>
          </p:nvSpPr>
          <p:spPr>
            <a:xfrm>
              <a:off x="8065770" y="3598545"/>
              <a:ext cx="217712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adjusted) vs. DOACs contraindicated</a:t>
              </a:r>
            </a:p>
          </p:txBody>
        </p:sp>
        <p:sp>
          <p:nvSpPr>
            <p:cNvPr id="86" name="TextBox 86"/>
            <p:cNvSpPr txBox="1"/>
            <p:nvPr/>
          </p:nvSpPr>
          <p:spPr>
            <a:xfrm>
              <a:off x="8065770" y="3789045"/>
              <a:ext cx="211112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Reversible with protamine sulfate</a:t>
              </a:r>
            </a:p>
          </p:txBody>
        </p:sp>
        <p:sp>
          <p:nvSpPr>
            <p:cNvPr id="87" name="TextBox 87"/>
            <p:cNvSpPr txBox="1"/>
            <p:nvPr/>
          </p:nvSpPr>
          <p:spPr>
            <a:xfrm>
              <a:off x="8065770" y="3979545"/>
              <a:ext cx="2477167"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Safe in pregnancy (DOACs not approved)</a:t>
              </a:r>
            </a:p>
          </p:txBody>
        </p:sp>
        <p:sp>
          <p:nvSpPr>
            <p:cNvPr id="88" name="TextBox 88"/>
            <p:cNvSpPr txBox="1"/>
            <p:nvPr/>
          </p:nvSpPr>
          <p:spPr>
            <a:xfrm>
              <a:off x="8065770" y="4170045"/>
              <a:ext cx="251917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Decades of RCT evidence &amp; real-world use</a:t>
              </a:r>
            </a:p>
          </p:txBody>
        </p:sp>
        <p:sp>
          <p:nvSpPr>
            <p:cNvPr id="89" name="TextBox 89"/>
            <p:cNvSpPr txBox="1"/>
            <p:nvPr/>
          </p:nvSpPr>
          <p:spPr>
            <a:xfrm>
              <a:off x="8065770" y="4360545"/>
              <a:ext cx="211112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Available on Thai national drug list</a:t>
              </a:r>
            </a:p>
          </p:txBody>
        </p:sp>
        <p:sp>
          <p:nvSpPr>
            <p:cNvPr id="90" name="Rectangle 90"/>
            <p:cNvSpPr/>
            <p:nvPr/>
          </p:nvSpPr>
          <p:spPr>
            <a:xfrm>
              <a:off x="8077200" y="4705350"/>
              <a:ext cx="3619500" cy="609600"/>
            </a:xfrm>
            <a:prstGeom prst="roundRect">
              <a:avLst>
                <a:gd name="adj" fmla="val 9375"/>
              </a:avLst>
            </a:prstGeom>
            <a:solidFill>
              <a:srgbClr val="F9E5E7"/>
            </a:solidFill>
            <a:ln>
              <a:noFill/>
            </a:ln>
            <a:effectLst>
              <a:outerShdw blurRad="76200" dist="19050" dir="5400000" algn="ctr" rotWithShape="0">
                <a:srgbClr val="000000">
                  <a:alpha val="5250"/>
                </a:srgbClr>
              </a:outerShdw>
            </a:effectLst>
          </p:spPr>
        </p:sp>
        <p:sp>
          <p:nvSpPr>
            <p:cNvPr id="91" name="TextBox 91"/>
            <p:cNvSpPr txBox="1"/>
            <p:nvPr/>
          </p:nvSpPr>
          <p:spPr>
            <a:xfrm>
              <a:off x="8760281" y="4798695"/>
              <a:ext cx="225333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Brand insight for MR conversations:</a:t>
              </a:r>
            </a:p>
          </p:txBody>
        </p:sp>
        <p:sp>
          <p:nvSpPr>
            <p:cNvPr id="92" name="TextBox 92"/>
            <p:cNvSpPr txBox="1"/>
            <p:nvPr/>
          </p:nvSpPr>
          <p:spPr>
            <a:xfrm>
              <a:off x="8693825" y="4978241"/>
              <a:ext cx="2386251"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"Clexane is the only LMWH with both breadth</a:t>
              </a:r>
            </a:p>
          </p:txBody>
        </p:sp>
        <p:sp>
          <p:nvSpPr>
            <p:cNvPr id="93" name="TextBox 93"/>
            <p:cNvSpPr txBox="1"/>
            <p:nvPr/>
          </p:nvSpPr>
          <p:spPr>
            <a:xfrm>
              <a:off x="8776335" y="5130641"/>
              <a:ext cx="222123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of evidence and ease of outpatient use."</a:t>
              </a:r>
            </a:p>
          </p:txBody>
        </p:sp>
      </p:grpSp>
      <p:grpSp>
        <p:nvGrpSpPr>
          <p:cNvPr id="97" name="Group 97"/>
          <p:cNvGrpSpPr/>
          <p:nvPr/>
        </p:nvGrpSpPr>
        <p:grpSpPr>
          <a:xfrm>
            <a:off x="0" y="6496050"/>
            <a:ext cx="12192000" cy="361950"/>
            <a:chOff x="0" y="6496050"/>
            <a:chExt cx="12192000" cy="361950"/>
          </a:xfrm>
        </p:grpSpPr>
        <p:sp>
          <p:nvSpPr>
            <p:cNvPr id="95" name="Rectangle 95"/>
            <p:cNvSpPr/>
            <p:nvPr/>
          </p:nvSpPr>
          <p:spPr>
            <a:xfrm>
              <a:off x="0" y="6496050"/>
              <a:ext cx="12192000" cy="361950"/>
            </a:xfrm>
            <a:prstGeom prst="rect">
              <a:avLst/>
            </a:prstGeom>
            <a:solidFill>
              <a:srgbClr val="AE232F"/>
            </a:solidFill>
            <a:ln>
              <a:noFill/>
            </a:ln>
          </p:spPr>
        </p:sp>
        <p:sp>
          <p:nvSpPr>
            <p:cNvPr id="96" name="TextBox 96"/>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slide(fromBottom)">
                                      <p:cBhvr>
                                        <p:cTn id="7" dur="400"/>
                                        <p:tgtEl>
                                          <p:spTgt spid="31"/>
                                        </p:tgtEl>
                                      </p:cBhvr>
                                    </p:animEffect>
                                  </p:childTnLst>
                                </p:cTn>
                              </p:par>
                            </p:childTnLst>
                          </p:cTn>
                        </p:par>
                        <p:par>
                          <p:cTn id="8" fill="hold">
                            <p:stCondLst>
                              <p:cond delay="900"/>
                            </p:stCondLst>
                            <p:childTnLst>
                              <p:par>
                                <p:cTn id="9" presetID="23" presetClass="entr" presetSubtype="0" fill="hold"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image">
                                      <p:cBhvr>
                                        <p:cTn id="11" dur="400"/>
                                        <p:tgtEl>
                                          <p:spTgt spid="69"/>
                                        </p:tgtEl>
                                      </p:cBhvr>
                                    </p:animEffect>
                                  </p:childTnLst>
                                </p:cTn>
                              </p:par>
                            </p:childTnLst>
                          </p:cTn>
                        </p:par>
                        <p:par>
                          <p:cTn id="12" fill="hold">
                            <p:stCondLst>
                              <p:cond delay="1800"/>
                            </p:stCondLst>
                            <p:childTnLst>
                              <p:par>
                                <p:cTn id="13" presetID="10" presetClass="entr" presetSubtype="0" fill="hold" nodeType="afterEffect">
                                  <p:stCondLst>
                                    <p:cond delay="0"/>
                                  </p:stCondLst>
                                  <p:childTnLst>
                                    <p:set>
                                      <p:cBhvr>
                                        <p:cTn id="14" dur="1" fill="hold">
                                          <p:stCondLst>
                                            <p:cond delay="0"/>
                                          </p:stCondLst>
                                        </p:cTn>
                                        <p:tgtEl>
                                          <p:spTgt spid="94"/>
                                        </p:tgtEl>
                                        <p:attrNameLst>
                                          <p:attrName>style.visibility</p:attrName>
                                        </p:attrNameLst>
                                      </p:cBhvr>
                                      <p:to>
                                        <p:strVal val="visible"/>
                                      </p:to>
                                    </p:set>
                                    <p:animEffect transition="in" filter="fade">
                                      <p:cBhvr>
                                        <p:cTn id="15" dur="4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69" grpId="0"/>
      <p:bldP spid="9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03</a:t>
            </a:r>
          </a:p>
        </p:txBody>
      </p:sp>
      <p:sp>
        <p:nvSpPr>
          <p:cNvPr id="6" name="TextBox 6"/>
          <p:cNvSpPr txBox="1"/>
          <p:nvPr/>
        </p:nvSpPr>
        <p:spPr>
          <a:xfrm>
            <a:off x="718185" y="208598"/>
            <a:ext cx="5319089"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Territory Plan — PMK &amp; Bangkok Network</a:t>
            </a:r>
          </a:p>
        </p:txBody>
      </p:sp>
      <p:sp>
        <p:nvSpPr>
          <p:cNvPr id="7" name="TextBox 7"/>
          <p:cNvSpPr txBox="1"/>
          <p:nvPr/>
        </p:nvSpPr>
        <p:spPr>
          <a:xfrm>
            <a:off x="730568" y="504349"/>
            <a:ext cx="3827740"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Hospital Network · Physician Priorities · Call Cycle Strategy</a:t>
            </a:r>
          </a:p>
        </p:txBody>
      </p:sp>
      <p:sp>
        <p:nvSpPr>
          <p:cNvPr id="8" name="TextBox 8"/>
          <p:cNvSpPr txBox="1"/>
          <p:nvPr/>
        </p:nvSpPr>
        <p:spPr>
          <a:xfrm>
            <a:off x="368618" y="923449"/>
            <a:ext cx="1151031"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Hospital Network</a:t>
            </a:r>
          </a:p>
        </p:txBody>
      </p:sp>
      <p:sp>
        <p:nvSpPr>
          <p:cNvPr id="9" name="Line 9"/>
          <p:cNvSpPr/>
          <p:nvPr/>
        </p:nvSpPr>
        <p:spPr>
          <a:xfrm>
            <a:off x="381000" y="1076325"/>
            <a:ext cx="1524000" cy="9525"/>
          </a:xfrm>
          <a:custGeom>
            <a:avLst/>
            <a:gdLst/>
            <a:ahLst/>
            <a:cxnLst/>
            <a:rect l="l" t="t" r="r" b="b"/>
            <a:pathLst>
              <a:path w="1524000" h="9525">
                <a:moveTo>
                  <a:pt x="0" y="0"/>
                </a:moveTo>
                <a:lnTo>
                  <a:pt x="1524000" y="0"/>
                </a:lnTo>
              </a:path>
            </a:pathLst>
          </a:custGeom>
          <a:noFill/>
          <a:ln w="19050">
            <a:solidFill>
              <a:srgbClr val="AE232F"/>
            </a:solidFill>
          </a:ln>
        </p:spPr>
      </p:sp>
      <p:sp>
        <p:nvSpPr>
          <p:cNvPr id="10" name="Rectangle 10"/>
          <p:cNvSpPr/>
          <p:nvPr/>
        </p:nvSpPr>
        <p:spPr>
          <a:xfrm>
            <a:off x="4667250" y="1181100"/>
            <a:ext cx="2857500" cy="609600"/>
          </a:xfrm>
          <a:prstGeom prst="roundRect">
            <a:avLst>
              <a:gd name="adj" fmla="val 15625"/>
            </a:avLst>
          </a:prstGeom>
          <a:solidFill>
            <a:srgbClr val="AE232F"/>
          </a:solidFill>
          <a:ln>
            <a:noFill/>
          </a:ln>
          <a:effectLst>
            <a:outerShdw blurRad="76200" dist="19050" dir="5400000" algn="ctr" rotWithShape="0">
              <a:srgbClr val="000000">
                <a:alpha val="5250"/>
              </a:srgbClr>
            </a:outerShdw>
          </a:effectLst>
        </p:spPr>
      </p:sp>
      <p:sp>
        <p:nvSpPr>
          <p:cNvPr id="11" name="Freeform 11"/>
          <p:cNvSpPr/>
          <p:nvPr/>
        </p:nvSpPr>
        <p:spPr>
          <a:xfrm>
            <a:off x="4819650" y="1333500"/>
            <a:ext cx="190500" cy="190500"/>
          </a:xfrm>
          <a:custGeom>
            <a:avLst/>
            <a:gdLst/>
            <a:ahLst/>
            <a:cxnLst/>
            <a:rect l="l" t="t" r="r" b="b"/>
            <a:pathLst>
              <a:path w="190500" h="190500">
                <a:moveTo>
                  <a:pt x="95250" y="0"/>
                </a:moveTo>
                <a:cubicBezTo>
                  <a:pt x="147857" y="0"/>
                  <a:pt x="190500" y="42643"/>
                  <a:pt x="190500" y="95250"/>
                </a:cubicBezTo>
                <a:cubicBezTo>
                  <a:pt x="190500" y="147855"/>
                  <a:pt x="147855" y="190500"/>
                  <a:pt x="95250" y="190500"/>
                </a:cubicBezTo>
                <a:cubicBezTo>
                  <a:pt x="42645" y="190500"/>
                  <a:pt x="0" y="147855"/>
                  <a:pt x="0" y="95250"/>
                </a:cubicBezTo>
                <a:lnTo>
                  <a:pt x="38" y="92583"/>
                </a:lnTo>
                <a:cubicBezTo>
                  <a:pt x="1448" y="41215"/>
                  <a:pt x="43529" y="0"/>
                  <a:pt x="95250" y="0"/>
                </a:cubicBezTo>
                <a:moveTo>
                  <a:pt x="114300" y="47625"/>
                </a:moveTo>
                <a:cubicBezTo>
                  <a:pt x="109039" y="47625"/>
                  <a:pt x="104775" y="51889"/>
                  <a:pt x="104775" y="57150"/>
                </a:cubicBezTo>
                <a:lnTo>
                  <a:pt x="104775" y="85715"/>
                </a:lnTo>
                <a:lnTo>
                  <a:pt x="85725" y="85715"/>
                </a:lnTo>
                <a:lnTo>
                  <a:pt x="85725" y="57150"/>
                </a:lnTo>
                <a:cubicBezTo>
                  <a:pt x="85724" y="52321"/>
                  <a:pt x="82110" y="48257"/>
                  <a:pt x="77314" y="47692"/>
                </a:cubicBezTo>
                <a:lnTo>
                  <a:pt x="76200" y="47625"/>
                </a:lnTo>
                <a:cubicBezTo>
                  <a:pt x="70939" y="47625"/>
                  <a:pt x="66675" y="51889"/>
                  <a:pt x="66675" y="57150"/>
                </a:cubicBezTo>
                <a:lnTo>
                  <a:pt x="66675" y="133350"/>
                </a:lnTo>
                <a:cubicBezTo>
                  <a:pt x="66675" y="138611"/>
                  <a:pt x="70939" y="142875"/>
                  <a:pt x="76200" y="142875"/>
                </a:cubicBezTo>
                <a:cubicBezTo>
                  <a:pt x="81461" y="142875"/>
                  <a:pt x="85725" y="138611"/>
                  <a:pt x="85725" y="133350"/>
                </a:cubicBezTo>
                <a:lnTo>
                  <a:pt x="85725" y="104765"/>
                </a:lnTo>
                <a:lnTo>
                  <a:pt x="104775" y="104765"/>
                </a:lnTo>
                <a:lnTo>
                  <a:pt x="104775" y="133350"/>
                </a:lnTo>
                <a:cubicBezTo>
                  <a:pt x="104776" y="138179"/>
                  <a:pt x="108390" y="142243"/>
                  <a:pt x="113186" y="142808"/>
                </a:cubicBezTo>
                <a:lnTo>
                  <a:pt x="114300" y="142875"/>
                </a:lnTo>
                <a:cubicBezTo>
                  <a:pt x="119561" y="142875"/>
                  <a:pt x="123825" y="138611"/>
                  <a:pt x="123825" y="133350"/>
                </a:cubicBezTo>
                <a:lnTo>
                  <a:pt x="123825" y="57150"/>
                </a:lnTo>
                <a:cubicBezTo>
                  <a:pt x="123825" y="51889"/>
                  <a:pt x="119561" y="47625"/>
                  <a:pt x="114300" y="47625"/>
                </a:cubicBezTo>
              </a:path>
            </a:pathLst>
          </a:custGeom>
          <a:solidFill>
            <a:srgbClr val="FFFFFF"/>
          </a:solidFill>
          <a:ln>
            <a:noFill/>
          </a:ln>
        </p:spPr>
      </p:sp>
      <p:sp>
        <p:nvSpPr>
          <p:cNvPr id="12" name="TextBox 12"/>
          <p:cNvSpPr txBox="1"/>
          <p:nvPr/>
        </p:nvSpPr>
        <p:spPr>
          <a:xfrm>
            <a:off x="5240985" y="1296352"/>
            <a:ext cx="17100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Phramongkutklao (PMK)</a:t>
            </a:r>
          </a:p>
        </p:txBody>
      </p:sp>
      <p:sp>
        <p:nvSpPr>
          <p:cNvPr id="13" name="TextBox 13"/>
          <p:cNvSpPr txBox="1"/>
          <p:nvPr/>
        </p:nvSpPr>
        <p:spPr>
          <a:xfrm>
            <a:off x="4440817" y="1501616"/>
            <a:ext cx="3310366" cy="167640"/>
          </a:xfrm>
          <a:prstGeom prst="rect">
            <a:avLst/>
          </a:prstGeom>
          <a:noFill/>
          <a:ln>
            <a:noFill/>
          </a:ln>
        </p:spPr>
        <p:txBody>
          <a:bodyPr wrap="none" lIns="0" tIns="0" rIns="0" bIns="0" anchor="t" anchorCtr="0">
            <a:spAutoFit/>
          </a:bodyPr>
          <a:lstStyle/>
          <a:p>
            <a:pPr algn="ctr"/>
            <a:r>
              <a:rPr lang="zh-CN" sz="825" dirty="0">
                <a:solidFill>
                  <a:srgbClr val="F9E5E7"/>
                </a:solidFill>
                <a:latin typeface="Arial"/>
                <a:ea typeface="Microsoft YaHei"/>
                <a:cs typeface="Arial"/>
              </a:rPr>
              <a:t>Primary target — Military hospital, high ACS + surgery volume</a:t>
            </a:r>
          </a:p>
        </p:txBody>
      </p:sp>
      <p:sp>
        <p:nvSpPr>
          <p:cNvPr id="14" name="Line 14"/>
          <p:cNvSpPr/>
          <p:nvPr/>
        </p:nvSpPr>
        <p:spPr>
          <a:xfrm>
            <a:off x="3009900" y="1485900"/>
            <a:ext cx="1657350" cy="609600"/>
          </a:xfrm>
          <a:custGeom>
            <a:avLst/>
            <a:gdLst/>
            <a:ahLst/>
            <a:cxnLst/>
            <a:rect l="l" t="t" r="r" b="b"/>
            <a:pathLst>
              <a:path w="1657350" h="609600">
                <a:moveTo>
                  <a:pt x="1657350" y="0"/>
                </a:moveTo>
                <a:lnTo>
                  <a:pt x="0" y="609600"/>
                </a:lnTo>
              </a:path>
            </a:pathLst>
          </a:custGeom>
          <a:noFill/>
          <a:ln w="14288">
            <a:solidFill>
              <a:srgbClr val="AE232F"/>
            </a:solidFill>
            <a:custDash>
              <a:ds d="266666" sp="200000"/>
            </a:custDash>
          </a:ln>
        </p:spPr>
      </p:sp>
      <p:sp>
        <p:nvSpPr>
          <p:cNvPr id="15" name="Line 15"/>
          <p:cNvSpPr/>
          <p:nvPr/>
        </p:nvSpPr>
        <p:spPr>
          <a:xfrm>
            <a:off x="4953000" y="1790700"/>
            <a:ext cx="1143000" cy="609600"/>
          </a:xfrm>
          <a:custGeom>
            <a:avLst/>
            <a:gdLst/>
            <a:ahLst/>
            <a:cxnLst/>
            <a:rect l="l" t="t" r="r" b="b"/>
            <a:pathLst>
              <a:path w="1143000" h="609600">
                <a:moveTo>
                  <a:pt x="1143000" y="0"/>
                </a:moveTo>
                <a:lnTo>
                  <a:pt x="0" y="609600"/>
                </a:lnTo>
              </a:path>
            </a:pathLst>
          </a:custGeom>
          <a:noFill/>
          <a:ln w="14288">
            <a:solidFill>
              <a:srgbClr val="AE232F"/>
            </a:solidFill>
            <a:custDash>
              <a:ds d="266666" sp="200000"/>
            </a:custDash>
          </a:ln>
        </p:spPr>
      </p:sp>
      <p:sp>
        <p:nvSpPr>
          <p:cNvPr id="16" name="Line 16"/>
          <p:cNvSpPr/>
          <p:nvPr/>
        </p:nvSpPr>
        <p:spPr>
          <a:xfrm>
            <a:off x="7524750" y="1485900"/>
            <a:ext cx="1047750" cy="609600"/>
          </a:xfrm>
          <a:custGeom>
            <a:avLst/>
            <a:gdLst/>
            <a:ahLst/>
            <a:cxnLst/>
            <a:rect l="l" t="t" r="r" b="b"/>
            <a:pathLst>
              <a:path w="1047750" h="609600">
                <a:moveTo>
                  <a:pt x="0" y="0"/>
                </a:moveTo>
                <a:lnTo>
                  <a:pt x="1047750" y="609600"/>
                </a:lnTo>
              </a:path>
            </a:pathLst>
          </a:custGeom>
          <a:noFill/>
          <a:ln w="14288">
            <a:solidFill>
              <a:srgbClr val="AE232F"/>
            </a:solidFill>
            <a:custDash>
              <a:ds d="266666" sp="200000"/>
            </a:custDash>
          </a:ln>
        </p:spPr>
      </p:sp>
      <p:sp>
        <p:nvSpPr>
          <p:cNvPr id="17" name="Line 17"/>
          <p:cNvSpPr/>
          <p:nvPr/>
        </p:nvSpPr>
        <p:spPr>
          <a:xfrm>
            <a:off x="6096000" y="1790700"/>
            <a:ext cx="1143000" cy="609600"/>
          </a:xfrm>
          <a:custGeom>
            <a:avLst/>
            <a:gdLst/>
            <a:ahLst/>
            <a:cxnLst/>
            <a:rect l="l" t="t" r="r" b="b"/>
            <a:pathLst>
              <a:path w="1143000" h="609600">
                <a:moveTo>
                  <a:pt x="0" y="0"/>
                </a:moveTo>
                <a:lnTo>
                  <a:pt x="1143000" y="609600"/>
                </a:lnTo>
              </a:path>
            </a:pathLst>
          </a:custGeom>
          <a:noFill/>
          <a:ln w="14288">
            <a:solidFill>
              <a:srgbClr val="AE232F"/>
            </a:solidFill>
            <a:custDash>
              <a:ds d="266666" sp="200000"/>
            </a:custDash>
          </a:ln>
        </p:spPr>
      </p:sp>
      <p:sp>
        <p:nvSpPr>
          <p:cNvPr id="18" name="Rectangle 18"/>
          <p:cNvSpPr/>
          <p:nvPr/>
        </p:nvSpPr>
        <p:spPr>
          <a:xfrm>
            <a:off x="1333500" y="2076450"/>
            <a:ext cx="2552700" cy="533400"/>
          </a:xfrm>
          <a:prstGeom prst="roundRect">
            <a:avLst>
              <a:gd name="adj" fmla="val 14286"/>
            </a:avLst>
          </a:prstGeom>
          <a:solidFill>
            <a:srgbClr val="F9E5E7"/>
          </a:solidFill>
          <a:ln w="14288">
            <a:solidFill>
              <a:srgbClr val="AE232F"/>
            </a:solidFill>
          </a:ln>
          <a:effectLst>
            <a:outerShdw blurRad="76200" dist="19050" dir="5400000" algn="ctr" rotWithShape="0">
              <a:srgbClr val="000000">
                <a:alpha val="5250"/>
              </a:srgbClr>
            </a:outerShdw>
          </a:effectLst>
        </p:spPr>
      </p:sp>
      <p:sp>
        <p:nvSpPr>
          <p:cNvPr id="19" name="Freeform 19"/>
          <p:cNvSpPr/>
          <p:nvPr/>
        </p:nvSpPr>
        <p:spPr>
          <a:xfrm>
            <a:off x="1463675" y="22256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3"/>
                </a:lnTo>
                <a:cubicBezTo>
                  <a:pt x="1206" y="34346"/>
                  <a:pt x="36274" y="0"/>
                  <a:pt x="79375" y="0"/>
                </a:cubicBezTo>
                <a:moveTo>
                  <a:pt x="95250" y="39688"/>
                </a:moveTo>
                <a:cubicBezTo>
                  <a:pt x="90866" y="39688"/>
                  <a:pt x="87313" y="43241"/>
                  <a:pt x="87313" y="47625"/>
                </a:cubicBezTo>
                <a:lnTo>
                  <a:pt x="87313" y="71430"/>
                </a:lnTo>
                <a:lnTo>
                  <a:pt x="71438" y="71430"/>
                </a:lnTo>
                <a:lnTo>
                  <a:pt x="71438" y="47625"/>
                </a:lnTo>
                <a:cubicBezTo>
                  <a:pt x="71437" y="43601"/>
                  <a:pt x="68425" y="40214"/>
                  <a:pt x="64429" y="39743"/>
                </a:cubicBezTo>
                <a:lnTo>
                  <a:pt x="63500" y="39688"/>
                </a:lnTo>
                <a:cubicBezTo>
                  <a:pt x="59116" y="39688"/>
                  <a:pt x="55563" y="43241"/>
                  <a:pt x="55563" y="47625"/>
                </a:cubicBezTo>
                <a:lnTo>
                  <a:pt x="55563" y="111125"/>
                </a:lnTo>
                <a:cubicBezTo>
                  <a:pt x="55563" y="115509"/>
                  <a:pt x="59116" y="119062"/>
                  <a:pt x="63500" y="119062"/>
                </a:cubicBezTo>
                <a:cubicBezTo>
                  <a:pt x="67884" y="119062"/>
                  <a:pt x="71438" y="115509"/>
                  <a:pt x="71438" y="111125"/>
                </a:cubicBezTo>
                <a:lnTo>
                  <a:pt x="71438" y="87305"/>
                </a:lnTo>
                <a:lnTo>
                  <a:pt x="87313" y="87305"/>
                </a:lnTo>
                <a:lnTo>
                  <a:pt x="87313" y="111125"/>
                </a:lnTo>
                <a:cubicBezTo>
                  <a:pt x="87313" y="115149"/>
                  <a:pt x="90325" y="118536"/>
                  <a:pt x="94321" y="119007"/>
                </a:cubicBezTo>
                <a:lnTo>
                  <a:pt x="95250" y="119062"/>
                </a:lnTo>
                <a:cubicBezTo>
                  <a:pt x="99634" y="119062"/>
                  <a:pt x="103188" y="115509"/>
                  <a:pt x="103188" y="111125"/>
                </a:cubicBezTo>
                <a:lnTo>
                  <a:pt x="103188" y="47625"/>
                </a:lnTo>
                <a:cubicBezTo>
                  <a:pt x="103188" y="43241"/>
                  <a:pt x="99634" y="39688"/>
                  <a:pt x="95250" y="39688"/>
                </a:cubicBezTo>
              </a:path>
            </a:pathLst>
          </a:custGeom>
          <a:solidFill>
            <a:srgbClr val="AE232F"/>
          </a:solidFill>
          <a:ln>
            <a:noFill/>
          </a:ln>
        </p:spPr>
      </p:sp>
      <p:sp>
        <p:nvSpPr>
          <p:cNvPr id="20" name="TextBox 20"/>
          <p:cNvSpPr txBox="1"/>
          <p:nvPr/>
        </p:nvSpPr>
        <p:spPr>
          <a:xfrm>
            <a:off x="2028642" y="2198370"/>
            <a:ext cx="1276717"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Ramathibodi Hospital</a:t>
            </a:r>
          </a:p>
        </p:txBody>
      </p:sp>
      <p:sp>
        <p:nvSpPr>
          <p:cNvPr id="21" name="TextBox 21"/>
          <p:cNvSpPr txBox="1"/>
          <p:nvPr/>
        </p:nvSpPr>
        <p:spPr>
          <a:xfrm>
            <a:off x="1389817" y="2366962"/>
            <a:ext cx="2554367"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Roche internship experience — existing relationships</a:t>
            </a:r>
          </a:p>
        </p:txBody>
      </p:sp>
      <p:sp>
        <p:nvSpPr>
          <p:cNvPr id="22" name="TextBox 22"/>
          <p:cNvSpPr txBox="1"/>
          <p:nvPr/>
        </p:nvSpPr>
        <p:spPr>
          <a:xfrm>
            <a:off x="1702356" y="2490788"/>
            <a:ext cx="1929289"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Cardiology + Hematology dept key users</a:t>
            </a:r>
          </a:p>
        </p:txBody>
      </p:sp>
      <p:sp>
        <p:nvSpPr>
          <p:cNvPr id="23" name="Rectangle 23"/>
          <p:cNvSpPr/>
          <p:nvPr/>
        </p:nvSpPr>
        <p:spPr>
          <a:xfrm>
            <a:off x="3581400" y="2381250"/>
            <a:ext cx="2552700" cy="533400"/>
          </a:xfrm>
          <a:prstGeom prst="roundRect">
            <a:avLst>
              <a:gd name="adj" fmla="val 14286"/>
            </a:avLst>
          </a:prstGeom>
          <a:solidFill>
            <a:srgbClr val="F9E5E7"/>
          </a:solidFill>
          <a:ln w="14288">
            <a:solidFill>
              <a:srgbClr val="AE232F"/>
            </a:solidFill>
          </a:ln>
          <a:effectLst>
            <a:outerShdw blurRad="76200" dist="19050" dir="5400000" algn="ctr" rotWithShape="0">
              <a:srgbClr val="000000">
                <a:alpha val="5250"/>
              </a:srgbClr>
            </a:outerShdw>
          </a:effectLst>
        </p:spPr>
      </p:sp>
      <p:sp>
        <p:nvSpPr>
          <p:cNvPr id="24" name="Freeform 24"/>
          <p:cNvSpPr/>
          <p:nvPr/>
        </p:nvSpPr>
        <p:spPr>
          <a:xfrm>
            <a:off x="3711575" y="25304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2"/>
                </a:lnTo>
                <a:cubicBezTo>
                  <a:pt x="1206" y="34346"/>
                  <a:pt x="36274" y="0"/>
                  <a:pt x="79375" y="0"/>
                </a:cubicBezTo>
                <a:moveTo>
                  <a:pt x="95250" y="39687"/>
                </a:moveTo>
                <a:cubicBezTo>
                  <a:pt x="90866" y="39687"/>
                  <a:pt x="87312" y="43241"/>
                  <a:pt x="87312" y="47625"/>
                </a:cubicBezTo>
                <a:lnTo>
                  <a:pt x="87312" y="71430"/>
                </a:lnTo>
                <a:lnTo>
                  <a:pt x="71438" y="71430"/>
                </a:lnTo>
                <a:lnTo>
                  <a:pt x="71438" y="47625"/>
                </a:lnTo>
                <a:cubicBezTo>
                  <a:pt x="71437" y="43601"/>
                  <a:pt x="68425" y="40214"/>
                  <a:pt x="64429" y="39743"/>
                </a:cubicBezTo>
                <a:lnTo>
                  <a:pt x="63500" y="39687"/>
                </a:lnTo>
                <a:cubicBezTo>
                  <a:pt x="59116" y="39687"/>
                  <a:pt x="55562" y="43241"/>
                  <a:pt x="55562" y="47625"/>
                </a:cubicBezTo>
                <a:lnTo>
                  <a:pt x="55562" y="111125"/>
                </a:lnTo>
                <a:cubicBezTo>
                  <a:pt x="55562" y="115509"/>
                  <a:pt x="59116" y="119062"/>
                  <a:pt x="63500" y="119062"/>
                </a:cubicBezTo>
                <a:cubicBezTo>
                  <a:pt x="67884" y="119062"/>
                  <a:pt x="71438" y="115509"/>
                  <a:pt x="71438" y="111125"/>
                </a:cubicBezTo>
                <a:lnTo>
                  <a:pt x="71438" y="87305"/>
                </a:lnTo>
                <a:lnTo>
                  <a:pt x="87312" y="87305"/>
                </a:lnTo>
                <a:lnTo>
                  <a:pt x="87312" y="111125"/>
                </a:lnTo>
                <a:cubicBezTo>
                  <a:pt x="87313" y="115149"/>
                  <a:pt x="90325" y="118536"/>
                  <a:pt x="94321" y="119007"/>
                </a:cubicBezTo>
                <a:lnTo>
                  <a:pt x="95250" y="119062"/>
                </a:lnTo>
                <a:cubicBezTo>
                  <a:pt x="99634" y="119062"/>
                  <a:pt x="103187" y="115509"/>
                  <a:pt x="103187" y="111125"/>
                </a:cubicBezTo>
                <a:lnTo>
                  <a:pt x="103187" y="47625"/>
                </a:lnTo>
                <a:cubicBezTo>
                  <a:pt x="103187" y="43241"/>
                  <a:pt x="99634" y="39687"/>
                  <a:pt x="95250" y="39687"/>
                </a:cubicBezTo>
              </a:path>
            </a:pathLst>
          </a:custGeom>
          <a:solidFill>
            <a:srgbClr val="AE232F"/>
          </a:solidFill>
          <a:ln>
            <a:noFill/>
          </a:ln>
        </p:spPr>
      </p:sp>
      <p:sp>
        <p:nvSpPr>
          <p:cNvPr id="25" name="TextBox 25"/>
          <p:cNvSpPr txBox="1"/>
          <p:nvPr/>
        </p:nvSpPr>
        <p:spPr>
          <a:xfrm>
            <a:off x="4024067" y="2503170"/>
            <a:ext cx="1667366"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Bhumibol Adulyadej Hospital</a:t>
            </a:r>
          </a:p>
        </p:txBody>
      </p:sp>
      <p:sp>
        <p:nvSpPr>
          <p:cNvPr id="26" name="TextBox 26"/>
          <p:cNvSpPr txBox="1"/>
          <p:nvPr/>
        </p:nvSpPr>
        <p:spPr>
          <a:xfrm>
            <a:off x="3740587" y="2671762"/>
            <a:ext cx="2234327"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High trauma volume — DVT prophylaxis priority</a:t>
            </a:r>
          </a:p>
        </p:txBody>
      </p:sp>
      <p:sp>
        <p:nvSpPr>
          <p:cNvPr id="27" name="TextBox 27"/>
          <p:cNvSpPr txBox="1"/>
          <p:nvPr/>
        </p:nvSpPr>
        <p:spPr>
          <a:xfrm>
            <a:off x="3760589" y="2795588"/>
            <a:ext cx="2194322"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Air Force affiliate, strong surgical caseload</a:t>
            </a:r>
          </a:p>
        </p:txBody>
      </p:sp>
      <p:sp>
        <p:nvSpPr>
          <p:cNvPr id="28" name="Rectangle 28"/>
          <p:cNvSpPr/>
          <p:nvPr/>
        </p:nvSpPr>
        <p:spPr>
          <a:xfrm>
            <a:off x="6305550" y="2381250"/>
            <a:ext cx="2552700" cy="533400"/>
          </a:xfrm>
          <a:prstGeom prst="roundRect">
            <a:avLst>
              <a:gd name="adj" fmla="val 14286"/>
            </a:avLst>
          </a:prstGeom>
          <a:solidFill>
            <a:srgbClr val="F9E5E7"/>
          </a:solidFill>
          <a:ln w="14288">
            <a:solidFill>
              <a:srgbClr val="AE232F"/>
            </a:solidFill>
          </a:ln>
          <a:effectLst>
            <a:outerShdw blurRad="76200" dist="19050" dir="5400000" algn="ctr" rotWithShape="0">
              <a:srgbClr val="000000">
                <a:alpha val="5250"/>
              </a:srgbClr>
            </a:outerShdw>
          </a:effectLst>
        </p:spPr>
      </p:sp>
      <p:sp>
        <p:nvSpPr>
          <p:cNvPr id="29" name="Freeform 29"/>
          <p:cNvSpPr/>
          <p:nvPr/>
        </p:nvSpPr>
        <p:spPr>
          <a:xfrm>
            <a:off x="6435725" y="25304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2"/>
                </a:lnTo>
                <a:cubicBezTo>
                  <a:pt x="1206" y="34346"/>
                  <a:pt x="36274" y="0"/>
                  <a:pt x="79375" y="0"/>
                </a:cubicBezTo>
                <a:moveTo>
                  <a:pt x="95250" y="39687"/>
                </a:moveTo>
                <a:cubicBezTo>
                  <a:pt x="90866" y="39687"/>
                  <a:pt x="87313" y="43241"/>
                  <a:pt x="87313" y="47625"/>
                </a:cubicBezTo>
                <a:lnTo>
                  <a:pt x="87313" y="71430"/>
                </a:lnTo>
                <a:lnTo>
                  <a:pt x="71438" y="71430"/>
                </a:lnTo>
                <a:lnTo>
                  <a:pt x="71438" y="47625"/>
                </a:lnTo>
                <a:cubicBezTo>
                  <a:pt x="71437" y="43601"/>
                  <a:pt x="68425" y="40214"/>
                  <a:pt x="64429" y="39743"/>
                </a:cubicBezTo>
                <a:lnTo>
                  <a:pt x="63500" y="39687"/>
                </a:lnTo>
                <a:cubicBezTo>
                  <a:pt x="59116" y="39687"/>
                  <a:pt x="55563" y="43241"/>
                  <a:pt x="55563" y="47625"/>
                </a:cubicBezTo>
                <a:lnTo>
                  <a:pt x="55563" y="111125"/>
                </a:lnTo>
                <a:cubicBezTo>
                  <a:pt x="55563" y="115509"/>
                  <a:pt x="59116" y="119062"/>
                  <a:pt x="63500" y="119062"/>
                </a:cubicBezTo>
                <a:cubicBezTo>
                  <a:pt x="67884" y="119062"/>
                  <a:pt x="71438" y="115509"/>
                  <a:pt x="71438" y="111125"/>
                </a:cubicBezTo>
                <a:lnTo>
                  <a:pt x="71438" y="87305"/>
                </a:lnTo>
                <a:lnTo>
                  <a:pt x="87313" y="87305"/>
                </a:lnTo>
                <a:lnTo>
                  <a:pt x="87313" y="111125"/>
                </a:lnTo>
                <a:cubicBezTo>
                  <a:pt x="87313" y="115149"/>
                  <a:pt x="90325" y="118536"/>
                  <a:pt x="94321" y="119007"/>
                </a:cubicBezTo>
                <a:lnTo>
                  <a:pt x="95250" y="119062"/>
                </a:lnTo>
                <a:cubicBezTo>
                  <a:pt x="99634" y="119062"/>
                  <a:pt x="103188" y="115509"/>
                  <a:pt x="103188" y="111125"/>
                </a:cubicBezTo>
                <a:lnTo>
                  <a:pt x="103188" y="47625"/>
                </a:lnTo>
                <a:cubicBezTo>
                  <a:pt x="103188" y="43241"/>
                  <a:pt x="99634" y="39687"/>
                  <a:pt x="95250" y="39687"/>
                </a:cubicBezTo>
              </a:path>
            </a:pathLst>
          </a:custGeom>
          <a:solidFill>
            <a:srgbClr val="AE232F"/>
          </a:solidFill>
          <a:ln>
            <a:noFill/>
          </a:ln>
        </p:spPr>
      </p:sp>
      <p:sp>
        <p:nvSpPr>
          <p:cNvPr id="30" name="TextBox 30"/>
          <p:cNvSpPr txBox="1"/>
          <p:nvPr/>
        </p:nvSpPr>
        <p:spPr>
          <a:xfrm>
            <a:off x="6886835" y="2503170"/>
            <a:ext cx="1390131"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Chulalongkorn Hospital</a:t>
            </a:r>
          </a:p>
        </p:txBody>
      </p:sp>
      <p:sp>
        <p:nvSpPr>
          <p:cNvPr id="31" name="TextBox 31"/>
          <p:cNvSpPr txBox="1"/>
          <p:nvPr/>
        </p:nvSpPr>
        <p:spPr>
          <a:xfrm>
            <a:off x="6482239" y="2671762"/>
            <a:ext cx="2199322"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Academic center — KOL influence opportunity</a:t>
            </a:r>
          </a:p>
        </p:txBody>
      </p:sp>
      <p:sp>
        <p:nvSpPr>
          <p:cNvPr id="32" name="TextBox 32"/>
          <p:cNvSpPr txBox="1"/>
          <p:nvPr/>
        </p:nvSpPr>
        <p:spPr>
          <a:xfrm>
            <a:off x="6559748" y="2795588"/>
            <a:ext cx="2044303"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Cardiology, internal medicine prescribers</a:t>
            </a:r>
          </a:p>
        </p:txBody>
      </p:sp>
      <p:sp>
        <p:nvSpPr>
          <p:cNvPr id="33" name="Rectangle 33"/>
          <p:cNvSpPr/>
          <p:nvPr/>
        </p:nvSpPr>
        <p:spPr>
          <a:xfrm>
            <a:off x="8572500" y="2076450"/>
            <a:ext cx="2266950" cy="533400"/>
          </a:xfrm>
          <a:prstGeom prst="roundRect">
            <a:avLst>
              <a:gd name="adj" fmla="val 14286"/>
            </a:avLst>
          </a:prstGeom>
          <a:solidFill>
            <a:srgbClr val="F5F5F5"/>
          </a:solidFill>
          <a:ln w="14288">
            <a:solidFill>
              <a:srgbClr val="E0E0E0"/>
            </a:solidFill>
          </a:ln>
          <a:effectLst>
            <a:outerShdw blurRad="76200" dist="19050" dir="5400000" algn="ctr" rotWithShape="0">
              <a:srgbClr val="000000">
                <a:alpha val="5250"/>
              </a:srgbClr>
            </a:outerShdw>
          </a:effectLst>
        </p:spPr>
      </p:sp>
      <p:sp>
        <p:nvSpPr>
          <p:cNvPr id="34" name="Freeform 34"/>
          <p:cNvSpPr/>
          <p:nvPr/>
        </p:nvSpPr>
        <p:spPr>
          <a:xfrm>
            <a:off x="8702675" y="22256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3"/>
                </a:lnTo>
                <a:cubicBezTo>
                  <a:pt x="1206" y="34346"/>
                  <a:pt x="36274" y="0"/>
                  <a:pt x="79375" y="0"/>
                </a:cubicBezTo>
                <a:moveTo>
                  <a:pt x="95250" y="39688"/>
                </a:moveTo>
                <a:cubicBezTo>
                  <a:pt x="90866" y="39688"/>
                  <a:pt x="87313" y="43241"/>
                  <a:pt x="87313" y="47625"/>
                </a:cubicBezTo>
                <a:lnTo>
                  <a:pt x="87313" y="71430"/>
                </a:lnTo>
                <a:lnTo>
                  <a:pt x="71438" y="71430"/>
                </a:lnTo>
                <a:lnTo>
                  <a:pt x="71438" y="47625"/>
                </a:lnTo>
                <a:cubicBezTo>
                  <a:pt x="71437" y="43601"/>
                  <a:pt x="68425" y="40214"/>
                  <a:pt x="64429" y="39743"/>
                </a:cubicBezTo>
                <a:lnTo>
                  <a:pt x="63500" y="39688"/>
                </a:lnTo>
                <a:cubicBezTo>
                  <a:pt x="59116" y="39688"/>
                  <a:pt x="55563" y="43241"/>
                  <a:pt x="55563" y="47625"/>
                </a:cubicBezTo>
                <a:lnTo>
                  <a:pt x="55563" y="111125"/>
                </a:lnTo>
                <a:cubicBezTo>
                  <a:pt x="55563" y="115509"/>
                  <a:pt x="59116" y="119062"/>
                  <a:pt x="63500" y="119062"/>
                </a:cubicBezTo>
                <a:cubicBezTo>
                  <a:pt x="67884" y="119062"/>
                  <a:pt x="71438" y="115509"/>
                  <a:pt x="71438" y="111125"/>
                </a:cubicBezTo>
                <a:lnTo>
                  <a:pt x="71438" y="87305"/>
                </a:lnTo>
                <a:lnTo>
                  <a:pt x="87313" y="87305"/>
                </a:lnTo>
                <a:lnTo>
                  <a:pt x="87313" y="111125"/>
                </a:lnTo>
                <a:cubicBezTo>
                  <a:pt x="87313" y="115149"/>
                  <a:pt x="90325" y="118536"/>
                  <a:pt x="94321" y="119007"/>
                </a:cubicBezTo>
                <a:lnTo>
                  <a:pt x="95250" y="119062"/>
                </a:lnTo>
                <a:cubicBezTo>
                  <a:pt x="99634" y="119062"/>
                  <a:pt x="103188" y="115509"/>
                  <a:pt x="103188" y="111125"/>
                </a:cubicBezTo>
                <a:lnTo>
                  <a:pt x="103188" y="47625"/>
                </a:lnTo>
                <a:cubicBezTo>
                  <a:pt x="103188" y="43241"/>
                  <a:pt x="99634" y="39688"/>
                  <a:pt x="95250" y="39688"/>
                </a:cubicBezTo>
              </a:path>
            </a:pathLst>
          </a:custGeom>
          <a:solidFill>
            <a:srgbClr val="888888"/>
          </a:solidFill>
          <a:ln>
            <a:noFill/>
          </a:ln>
        </p:spPr>
      </p:sp>
      <p:sp>
        <p:nvSpPr>
          <p:cNvPr id="35" name="TextBox 35"/>
          <p:cNvSpPr txBox="1"/>
          <p:nvPr/>
        </p:nvSpPr>
        <p:spPr>
          <a:xfrm>
            <a:off x="9010910" y="2198370"/>
            <a:ext cx="1390131" cy="182880"/>
          </a:xfrm>
          <a:prstGeom prst="rect">
            <a:avLst/>
          </a:prstGeom>
          <a:noFill/>
          <a:ln>
            <a:noFill/>
          </a:ln>
        </p:spPr>
        <p:txBody>
          <a:bodyPr wrap="none" lIns="0" tIns="0" rIns="0" bIns="0" anchor="t" anchorCtr="0">
            <a:spAutoFit/>
          </a:bodyPr>
          <a:lstStyle/>
          <a:p>
            <a:pPr algn="ctr"/>
            <a:r>
              <a:rPr lang="zh-CN" sz="900" b="1" dirty="0">
                <a:solidFill>
                  <a:srgbClr val="555555"/>
                </a:solidFill>
                <a:latin typeface="Arial"/>
                <a:ea typeface="Microsoft YaHei"/>
                <a:cs typeface="Arial"/>
              </a:rPr>
              <a:t>Phyathai / Paolo Group</a:t>
            </a:r>
          </a:p>
        </p:txBody>
      </p:sp>
      <p:sp>
        <p:nvSpPr>
          <p:cNvPr id="36" name="TextBox 36"/>
          <p:cNvSpPr txBox="1"/>
          <p:nvPr/>
        </p:nvSpPr>
        <p:spPr>
          <a:xfrm>
            <a:off x="9108877" y="2366962"/>
            <a:ext cx="1194197"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Tier 2 — build pipeline Q2</a:t>
            </a:r>
          </a:p>
        </p:txBody>
      </p:sp>
      <p:sp>
        <p:nvSpPr>
          <p:cNvPr id="37" name="TextBox 37"/>
          <p:cNvSpPr txBox="1"/>
          <p:nvPr/>
        </p:nvSpPr>
        <p:spPr>
          <a:xfrm>
            <a:off x="9086374" y="2490788"/>
            <a:ext cx="1239202"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Private sector expansion</a:t>
            </a:r>
          </a:p>
        </p:txBody>
      </p:sp>
      <p:sp>
        <p:nvSpPr>
          <p:cNvPr id="38" name="Line 38"/>
          <p:cNvSpPr/>
          <p:nvPr/>
        </p:nvSpPr>
        <p:spPr>
          <a:xfrm>
            <a:off x="381000" y="310515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39" name="TextBox 39"/>
          <p:cNvSpPr txBox="1"/>
          <p:nvPr/>
        </p:nvSpPr>
        <p:spPr>
          <a:xfrm>
            <a:off x="368618" y="3199924"/>
            <a:ext cx="1690273"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Physician Priority Matrix</a:t>
            </a:r>
          </a:p>
        </p:txBody>
      </p:sp>
      <p:sp>
        <p:nvSpPr>
          <p:cNvPr id="40" name="Line 40"/>
          <p:cNvSpPr/>
          <p:nvPr/>
        </p:nvSpPr>
        <p:spPr>
          <a:xfrm>
            <a:off x="381000" y="3352800"/>
            <a:ext cx="2190750" cy="9525"/>
          </a:xfrm>
          <a:custGeom>
            <a:avLst/>
            <a:gdLst/>
            <a:ahLst/>
            <a:cxnLst/>
            <a:rect l="l" t="t" r="r" b="b"/>
            <a:pathLst>
              <a:path w="2190750" h="9525">
                <a:moveTo>
                  <a:pt x="0" y="0"/>
                </a:moveTo>
                <a:lnTo>
                  <a:pt x="2190750" y="0"/>
                </a:lnTo>
              </a:path>
            </a:pathLst>
          </a:custGeom>
          <a:noFill/>
          <a:ln w="19050">
            <a:solidFill>
              <a:srgbClr val="AE232F"/>
            </a:solidFill>
          </a:ln>
        </p:spPr>
      </p:sp>
      <p:sp>
        <p:nvSpPr>
          <p:cNvPr id="41" name="Rectangle 41"/>
          <p:cNvSpPr/>
          <p:nvPr/>
        </p:nvSpPr>
        <p:spPr>
          <a:xfrm>
            <a:off x="381000" y="3429000"/>
            <a:ext cx="11430000" cy="304800"/>
          </a:xfrm>
          <a:prstGeom prst="roundRect">
            <a:avLst>
              <a:gd name="adj" fmla="val 12500"/>
            </a:avLst>
          </a:prstGeom>
          <a:solidFill>
            <a:srgbClr val="AE232F"/>
          </a:solidFill>
          <a:ln>
            <a:noFill/>
          </a:ln>
        </p:spPr>
      </p:sp>
      <p:sp>
        <p:nvSpPr>
          <p:cNvPr id="42" name="TextBox 42"/>
          <p:cNvSpPr txBox="1"/>
          <p:nvPr/>
        </p:nvSpPr>
        <p:spPr>
          <a:xfrm>
            <a:off x="735359" y="3531870"/>
            <a:ext cx="1005783"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Physician / Dept</a:t>
            </a:r>
          </a:p>
        </p:txBody>
      </p:sp>
      <p:sp>
        <p:nvSpPr>
          <p:cNvPr id="43" name="Line 43"/>
          <p:cNvSpPr/>
          <p:nvPr/>
        </p:nvSpPr>
        <p:spPr>
          <a:xfrm>
            <a:off x="20955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44" name="TextBox 44"/>
          <p:cNvSpPr txBox="1"/>
          <p:nvPr/>
        </p:nvSpPr>
        <p:spPr>
          <a:xfrm>
            <a:off x="3267089" y="3531870"/>
            <a:ext cx="514321"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Hospital</a:t>
            </a:r>
          </a:p>
        </p:txBody>
      </p:sp>
      <p:sp>
        <p:nvSpPr>
          <p:cNvPr id="45" name="Line 45"/>
          <p:cNvSpPr/>
          <p:nvPr/>
        </p:nvSpPr>
        <p:spPr>
          <a:xfrm>
            <a:off x="4953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46" name="TextBox 46"/>
          <p:cNvSpPr txBox="1"/>
          <p:nvPr/>
        </p:nvSpPr>
        <p:spPr>
          <a:xfrm>
            <a:off x="5613685" y="3531870"/>
            <a:ext cx="583630"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Specialty</a:t>
            </a:r>
          </a:p>
        </p:txBody>
      </p:sp>
      <p:sp>
        <p:nvSpPr>
          <p:cNvPr id="47" name="Line 47"/>
          <p:cNvSpPr/>
          <p:nvPr/>
        </p:nvSpPr>
        <p:spPr>
          <a:xfrm>
            <a:off x="6858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48" name="TextBox 48"/>
          <p:cNvSpPr txBox="1"/>
          <p:nvPr/>
        </p:nvSpPr>
        <p:spPr>
          <a:xfrm>
            <a:off x="7482357" y="3531870"/>
            <a:ext cx="1037287"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Clexane Use Case</a:t>
            </a:r>
          </a:p>
        </p:txBody>
      </p:sp>
      <p:sp>
        <p:nvSpPr>
          <p:cNvPr id="49" name="Line 49"/>
          <p:cNvSpPr/>
          <p:nvPr/>
        </p:nvSpPr>
        <p:spPr>
          <a:xfrm>
            <a:off x="9144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50" name="TextBox 50"/>
          <p:cNvSpPr txBox="1"/>
          <p:nvPr/>
        </p:nvSpPr>
        <p:spPr>
          <a:xfrm>
            <a:off x="10029839" y="3531870"/>
            <a:ext cx="514321"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Priority</a:t>
            </a:r>
          </a:p>
        </p:txBody>
      </p:sp>
      <p:sp>
        <p:nvSpPr>
          <p:cNvPr id="51" name="Line 51"/>
          <p:cNvSpPr/>
          <p:nvPr/>
        </p:nvSpPr>
        <p:spPr>
          <a:xfrm>
            <a:off x="11430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52" name="TextBox 52"/>
          <p:cNvSpPr txBox="1"/>
          <p:nvPr/>
        </p:nvSpPr>
        <p:spPr>
          <a:xfrm>
            <a:off x="11451190" y="3539966"/>
            <a:ext cx="338620"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Freq.</a:t>
            </a:r>
          </a:p>
        </p:txBody>
      </p:sp>
      <p:sp>
        <p:nvSpPr>
          <p:cNvPr id="53" name="Rectangle 53"/>
          <p:cNvSpPr/>
          <p:nvPr/>
        </p:nvSpPr>
        <p:spPr>
          <a:xfrm>
            <a:off x="381000" y="3733800"/>
            <a:ext cx="11430000" cy="381000"/>
          </a:xfrm>
          <a:prstGeom prst="rect">
            <a:avLst/>
          </a:prstGeom>
          <a:solidFill>
            <a:srgbClr val="FFFFFF"/>
          </a:solidFill>
          <a:ln>
            <a:noFill/>
          </a:ln>
        </p:spPr>
      </p:sp>
      <p:sp>
        <p:nvSpPr>
          <p:cNvPr id="54" name="Line 54"/>
          <p:cNvSpPr/>
          <p:nvPr/>
        </p:nvSpPr>
        <p:spPr>
          <a:xfrm>
            <a:off x="381000" y="4114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55" name="TextBox 55"/>
          <p:cNvSpPr txBox="1"/>
          <p:nvPr/>
        </p:nvSpPr>
        <p:spPr>
          <a:xfrm>
            <a:off x="875776" y="3874770"/>
            <a:ext cx="724948"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Cardiologist</a:t>
            </a:r>
          </a:p>
        </p:txBody>
      </p:sp>
      <p:sp>
        <p:nvSpPr>
          <p:cNvPr id="56" name="TextBox 56"/>
          <p:cNvSpPr txBox="1"/>
          <p:nvPr/>
        </p:nvSpPr>
        <p:spPr>
          <a:xfrm>
            <a:off x="3149775" y="3874770"/>
            <a:ext cx="748951"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PMK Hospital</a:t>
            </a:r>
          </a:p>
        </p:txBody>
      </p:sp>
      <p:sp>
        <p:nvSpPr>
          <p:cNvPr id="57" name="TextBox 57"/>
          <p:cNvSpPr txBox="1"/>
          <p:nvPr/>
        </p:nvSpPr>
        <p:spPr>
          <a:xfrm>
            <a:off x="5594032" y="3874770"/>
            <a:ext cx="622935"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Cardiology</a:t>
            </a:r>
          </a:p>
        </p:txBody>
      </p:sp>
      <p:sp>
        <p:nvSpPr>
          <p:cNvPr id="58" name="TextBox 58"/>
          <p:cNvSpPr txBox="1"/>
          <p:nvPr/>
        </p:nvSpPr>
        <p:spPr>
          <a:xfrm>
            <a:off x="7071455" y="3874770"/>
            <a:ext cx="1859089"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ACS adjunct, STEMI management</a:t>
            </a:r>
          </a:p>
        </p:txBody>
      </p:sp>
      <p:sp>
        <p:nvSpPr>
          <p:cNvPr id="59" name="Rectangle 59"/>
          <p:cNvSpPr/>
          <p:nvPr/>
        </p:nvSpPr>
        <p:spPr>
          <a:xfrm>
            <a:off x="9429750" y="3829050"/>
            <a:ext cx="571500" cy="190500"/>
          </a:xfrm>
          <a:prstGeom prst="roundRect">
            <a:avLst>
              <a:gd name="adj" fmla="val 20000"/>
            </a:avLst>
          </a:prstGeom>
          <a:solidFill>
            <a:srgbClr val="AE232F"/>
          </a:solidFill>
          <a:ln>
            <a:noFill/>
          </a:ln>
        </p:spPr>
      </p:sp>
      <p:sp>
        <p:nvSpPr>
          <p:cNvPr id="60" name="TextBox 60"/>
          <p:cNvSpPr txBox="1"/>
          <p:nvPr/>
        </p:nvSpPr>
        <p:spPr>
          <a:xfrm>
            <a:off x="9673256" y="3873341"/>
            <a:ext cx="84488"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A</a:t>
            </a:r>
          </a:p>
        </p:txBody>
      </p:sp>
      <p:sp>
        <p:nvSpPr>
          <p:cNvPr id="61" name="TextBox 61"/>
          <p:cNvSpPr txBox="1"/>
          <p:nvPr/>
        </p:nvSpPr>
        <p:spPr>
          <a:xfrm>
            <a:off x="11432048" y="3874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2×/wk</a:t>
            </a:r>
          </a:p>
        </p:txBody>
      </p:sp>
      <p:sp>
        <p:nvSpPr>
          <p:cNvPr id="62" name="Rectangle 62"/>
          <p:cNvSpPr/>
          <p:nvPr/>
        </p:nvSpPr>
        <p:spPr>
          <a:xfrm>
            <a:off x="381000" y="4114800"/>
            <a:ext cx="11430000" cy="381000"/>
          </a:xfrm>
          <a:prstGeom prst="rect">
            <a:avLst/>
          </a:prstGeom>
          <a:solidFill>
            <a:srgbClr val="F5F5F5"/>
          </a:solidFill>
          <a:ln>
            <a:noFill/>
          </a:ln>
        </p:spPr>
      </p:sp>
      <p:sp>
        <p:nvSpPr>
          <p:cNvPr id="63" name="Line 63"/>
          <p:cNvSpPr/>
          <p:nvPr/>
        </p:nvSpPr>
        <p:spPr>
          <a:xfrm>
            <a:off x="381000" y="4495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64" name="TextBox 64"/>
          <p:cNvSpPr txBox="1"/>
          <p:nvPr/>
        </p:nvSpPr>
        <p:spPr>
          <a:xfrm>
            <a:off x="650748" y="4255770"/>
            <a:ext cx="11750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Orthopedic Surgeon</a:t>
            </a:r>
          </a:p>
        </p:txBody>
      </p:sp>
      <p:sp>
        <p:nvSpPr>
          <p:cNvPr id="65" name="TextBox 65"/>
          <p:cNvSpPr txBox="1"/>
          <p:nvPr/>
        </p:nvSpPr>
        <p:spPr>
          <a:xfrm>
            <a:off x="3149775" y="4255770"/>
            <a:ext cx="748951"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PMK Hospital</a:t>
            </a:r>
          </a:p>
        </p:txBody>
      </p:sp>
      <p:sp>
        <p:nvSpPr>
          <p:cNvPr id="66" name="TextBox 66"/>
          <p:cNvSpPr txBox="1"/>
          <p:nvPr/>
        </p:nvSpPr>
        <p:spPr>
          <a:xfrm>
            <a:off x="5534025" y="4255770"/>
            <a:ext cx="742950"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Orthopedics</a:t>
            </a:r>
          </a:p>
        </p:txBody>
      </p:sp>
      <p:sp>
        <p:nvSpPr>
          <p:cNvPr id="67" name="TextBox 67"/>
          <p:cNvSpPr txBox="1"/>
          <p:nvPr/>
        </p:nvSpPr>
        <p:spPr>
          <a:xfrm>
            <a:off x="6957441" y="4255770"/>
            <a:ext cx="2087118"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Post-op VTE prophylaxis (hip/knee)</a:t>
            </a:r>
          </a:p>
        </p:txBody>
      </p:sp>
      <p:sp>
        <p:nvSpPr>
          <p:cNvPr id="68" name="Rectangle 68"/>
          <p:cNvSpPr/>
          <p:nvPr/>
        </p:nvSpPr>
        <p:spPr>
          <a:xfrm>
            <a:off x="9429750" y="4210050"/>
            <a:ext cx="571500" cy="190500"/>
          </a:xfrm>
          <a:prstGeom prst="roundRect">
            <a:avLst>
              <a:gd name="adj" fmla="val 20000"/>
            </a:avLst>
          </a:prstGeom>
          <a:solidFill>
            <a:srgbClr val="AE232F"/>
          </a:solidFill>
          <a:ln>
            <a:noFill/>
          </a:ln>
        </p:spPr>
      </p:sp>
      <p:sp>
        <p:nvSpPr>
          <p:cNvPr id="69" name="TextBox 69"/>
          <p:cNvSpPr txBox="1"/>
          <p:nvPr/>
        </p:nvSpPr>
        <p:spPr>
          <a:xfrm>
            <a:off x="9673256" y="4254341"/>
            <a:ext cx="84488"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A</a:t>
            </a:r>
          </a:p>
        </p:txBody>
      </p:sp>
      <p:sp>
        <p:nvSpPr>
          <p:cNvPr id="70" name="TextBox 70"/>
          <p:cNvSpPr txBox="1"/>
          <p:nvPr/>
        </p:nvSpPr>
        <p:spPr>
          <a:xfrm>
            <a:off x="11432048" y="4255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2×/wk</a:t>
            </a:r>
          </a:p>
        </p:txBody>
      </p:sp>
      <p:sp>
        <p:nvSpPr>
          <p:cNvPr id="71" name="Rectangle 71"/>
          <p:cNvSpPr/>
          <p:nvPr/>
        </p:nvSpPr>
        <p:spPr>
          <a:xfrm>
            <a:off x="381000" y="4495800"/>
            <a:ext cx="11430000" cy="381000"/>
          </a:xfrm>
          <a:prstGeom prst="rect">
            <a:avLst/>
          </a:prstGeom>
          <a:solidFill>
            <a:srgbClr val="FFFFFF"/>
          </a:solidFill>
          <a:ln>
            <a:noFill/>
          </a:ln>
        </p:spPr>
      </p:sp>
      <p:sp>
        <p:nvSpPr>
          <p:cNvPr id="72" name="Line 72"/>
          <p:cNvSpPr/>
          <p:nvPr/>
        </p:nvSpPr>
        <p:spPr>
          <a:xfrm>
            <a:off x="381000" y="4876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73" name="TextBox 73"/>
          <p:cNvSpPr txBox="1"/>
          <p:nvPr/>
        </p:nvSpPr>
        <p:spPr>
          <a:xfrm>
            <a:off x="581739" y="4636770"/>
            <a:ext cx="1313021"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Internist (Gen. Med.)</a:t>
            </a:r>
          </a:p>
        </p:txBody>
      </p:sp>
      <p:sp>
        <p:nvSpPr>
          <p:cNvPr id="74" name="TextBox 74"/>
          <p:cNvSpPr txBox="1"/>
          <p:nvPr/>
        </p:nvSpPr>
        <p:spPr>
          <a:xfrm>
            <a:off x="3167777" y="4636770"/>
            <a:ext cx="712946"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Ramathibodi</a:t>
            </a:r>
          </a:p>
        </p:txBody>
      </p:sp>
      <p:sp>
        <p:nvSpPr>
          <p:cNvPr id="75" name="TextBox 75"/>
          <p:cNvSpPr txBox="1"/>
          <p:nvPr/>
        </p:nvSpPr>
        <p:spPr>
          <a:xfrm>
            <a:off x="5396008" y="4636770"/>
            <a:ext cx="101898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Internal Medicine</a:t>
            </a:r>
          </a:p>
        </p:txBody>
      </p:sp>
      <p:sp>
        <p:nvSpPr>
          <p:cNvPr id="76" name="TextBox 76"/>
          <p:cNvSpPr txBox="1"/>
          <p:nvPr/>
        </p:nvSpPr>
        <p:spPr>
          <a:xfrm>
            <a:off x="6864429" y="4636770"/>
            <a:ext cx="2273141"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Medical VTE prophylaxis (immobile pts)</a:t>
            </a:r>
          </a:p>
        </p:txBody>
      </p:sp>
      <p:sp>
        <p:nvSpPr>
          <p:cNvPr id="77" name="Rectangle 77"/>
          <p:cNvSpPr/>
          <p:nvPr/>
        </p:nvSpPr>
        <p:spPr>
          <a:xfrm>
            <a:off x="9429750" y="4591050"/>
            <a:ext cx="571500" cy="190500"/>
          </a:xfrm>
          <a:prstGeom prst="roundRect">
            <a:avLst>
              <a:gd name="adj" fmla="val 20000"/>
            </a:avLst>
          </a:prstGeom>
          <a:solidFill>
            <a:srgbClr val="F9E5E7"/>
          </a:solidFill>
          <a:ln w="9525">
            <a:solidFill>
              <a:srgbClr val="AE232F"/>
            </a:solidFill>
          </a:ln>
        </p:spPr>
      </p:sp>
      <p:sp>
        <p:nvSpPr>
          <p:cNvPr id="78" name="TextBox 78"/>
          <p:cNvSpPr txBox="1"/>
          <p:nvPr/>
        </p:nvSpPr>
        <p:spPr>
          <a:xfrm>
            <a:off x="9673256" y="4635341"/>
            <a:ext cx="84488" cy="167640"/>
          </a:xfrm>
          <a:prstGeom prst="rect">
            <a:avLst/>
          </a:prstGeom>
          <a:noFill/>
          <a:ln>
            <a:noFill/>
          </a:ln>
        </p:spPr>
        <p:txBody>
          <a:bodyPr wrap="none" lIns="0" tIns="0" rIns="0" bIns="0" anchor="t" anchorCtr="0">
            <a:spAutoFit/>
          </a:bodyPr>
          <a:lstStyle/>
          <a:p>
            <a:pPr algn="ctr"/>
            <a:r>
              <a:rPr lang="zh-CN" sz="825" b="1" dirty="0">
                <a:solidFill>
                  <a:srgbClr val="AE232F"/>
                </a:solidFill>
                <a:latin typeface="Arial"/>
                <a:ea typeface="Microsoft YaHei"/>
                <a:cs typeface="Arial"/>
              </a:rPr>
              <a:t>B</a:t>
            </a:r>
          </a:p>
        </p:txBody>
      </p:sp>
      <p:sp>
        <p:nvSpPr>
          <p:cNvPr id="79" name="TextBox 79"/>
          <p:cNvSpPr txBox="1"/>
          <p:nvPr/>
        </p:nvSpPr>
        <p:spPr>
          <a:xfrm>
            <a:off x="11432048" y="4636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1×/wk</a:t>
            </a:r>
          </a:p>
        </p:txBody>
      </p:sp>
      <p:sp>
        <p:nvSpPr>
          <p:cNvPr id="80" name="Rectangle 80"/>
          <p:cNvSpPr/>
          <p:nvPr/>
        </p:nvSpPr>
        <p:spPr>
          <a:xfrm>
            <a:off x="381000" y="4876800"/>
            <a:ext cx="11430000" cy="381000"/>
          </a:xfrm>
          <a:prstGeom prst="rect">
            <a:avLst/>
          </a:prstGeom>
          <a:solidFill>
            <a:srgbClr val="F5F5F5"/>
          </a:solidFill>
          <a:ln>
            <a:noFill/>
          </a:ln>
        </p:spPr>
      </p:sp>
      <p:sp>
        <p:nvSpPr>
          <p:cNvPr id="81" name="Line 81"/>
          <p:cNvSpPr/>
          <p:nvPr/>
        </p:nvSpPr>
        <p:spPr>
          <a:xfrm>
            <a:off x="381000" y="5257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82" name="TextBox 82"/>
          <p:cNvSpPr txBox="1"/>
          <p:nvPr/>
        </p:nvSpPr>
        <p:spPr>
          <a:xfrm>
            <a:off x="848773" y="5017770"/>
            <a:ext cx="778955"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Hematologist</a:t>
            </a:r>
          </a:p>
        </p:txBody>
      </p:sp>
      <p:sp>
        <p:nvSpPr>
          <p:cNvPr id="83" name="TextBox 83"/>
          <p:cNvSpPr txBox="1"/>
          <p:nvPr/>
        </p:nvSpPr>
        <p:spPr>
          <a:xfrm>
            <a:off x="3113770" y="5017770"/>
            <a:ext cx="820960"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Chulalongkorn</a:t>
            </a:r>
          </a:p>
        </p:txBody>
      </p:sp>
      <p:sp>
        <p:nvSpPr>
          <p:cNvPr id="84" name="TextBox 84"/>
          <p:cNvSpPr txBox="1"/>
          <p:nvPr/>
        </p:nvSpPr>
        <p:spPr>
          <a:xfrm>
            <a:off x="5567029" y="5017770"/>
            <a:ext cx="676942"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Hematology</a:t>
            </a:r>
          </a:p>
        </p:txBody>
      </p:sp>
      <p:sp>
        <p:nvSpPr>
          <p:cNvPr id="85" name="TextBox 85"/>
          <p:cNvSpPr txBox="1"/>
          <p:nvPr/>
        </p:nvSpPr>
        <p:spPr>
          <a:xfrm>
            <a:off x="6750415" y="5017770"/>
            <a:ext cx="2501170"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DVT/PE treatment, cancer-associated VTE</a:t>
            </a:r>
          </a:p>
        </p:txBody>
      </p:sp>
      <p:sp>
        <p:nvSpPr>
          <p:cNvPr id="86" name="Rectangle 86"/>
          <p:cNvSpPr/>
          <p:nvPr/>
        </p:nvSpPr>
        <p:spPr>
          <a:xfrm>
            <a:off x="9429750" y="4972050"/>
            <a:ext cx="571500" cy="190500"/>
          </a:xfrm>
          <a:prstGeom prst="roundRect">
            <a:avLst>
              <a:gd name="adj" fmla="val 20000"/>
            </a:avLst>
          </a:prstGeom>
          <a:solidFill>
            <a:srgbClr val="F9E5E7"/>
          </a:solidFill>
          <a:ln w="9525">
            <a:solidFill>
              <a:srgbClr val="AE232F"/>
            </a:solidFill>
          </a:ln>
        </p:spPr>
      </p:sp>
      <p:sp>
        <p:nvSpPr>
          <p:cNvPr id="87" name="TextBox 87"/>
          <p:cNvSpPr txBox="1"/>
          <p:nvPr/>
        </p:nvSpPr>
        <p:spPr>
          <a:xfrm>
            <a:off x="9673256" y="5016341"/>
            <a:ext cx="84488" cy="167640"/>
          </a:xfrm>
          <a:prstGeom prst="rect">
            <a:avLst/>
          </a:prstGeom>
          <a:noFill/>
          <a:ln>
            <a:noFill/>
          </a:ln>
        </p:spPr>
        <p:txBody>
          <a:bodyPr wrap="none" lIns="0" tIns="0" rIns="0" bIns="0" anchor="t" anchorCtr="0">
            <a:spAutoFit/>
          </a:bodyPr>
          <a:lstStyle/>
          <a:p>
            <a:pPr algn="ctr"/>
            <a:r>
              <a:rPr lang="zh-CN" sz="825" b="1" dirty="0">
                <a:solidFill>
                  <a:srgbClr val="AE232F"/>
                </a:solidFill>
                <a:latin typeface="Arial"/>
                <a:ea typeface="Microsoft YaHei"/>
                <a:cs typeface="Arial"/>
              </a:rPr>
              <a:t>B</a:t>
            </a:r>
          </a:p>
        </p:txBody>
      </p:sp>
      <p:sp>
        <p:nvSpPr>
          <p:cNvPr id="88" name="TextBox 88"/>
          <p:cNvSpPr txBox="1"/>
          <p:nvPr/>
        </p:nvSpPr>
        <p:spPr>
          <a:xfrm>
            <a:off x="11432048" y="5017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1×/wk</a:t>
            </a:r>
          </a:p>
        </p:txBody>
      </p:sp>
      <p:sp>
        <p:nvSpPr>
          <p:cNvPr id="89" name="Rectangle 89"/>
          <p:cNvSpPr/>
          <p:nvPr/>
        </p:nvSpPr>
        <p:spPr>
          <a:xfrm>
            <a:off x="381000" y="5257800"/>
            <a:ext cx="11430000" cy="381000"/>
          </a:xfrm>
          <a:prstGeom prst="rect">
            <a:avLst/>
          </a:prstGeom>
          <a:solidFill>
            <a:srgbClr val="FFFFFF"/>
          </a:solidFill>
          <a:ln>
            <a:noFill/>
          </a:ln>
        </p:spPr>
      </p:sp>
      <p:sp>
        <p:nvSpPr>
          <p:cNvPr id="90" name="Line 90"/>
          <p:cNvSpPr/>
          <p:nvPr/>
        </p:nvSpPr>
        <p:spPr>
          <a:xfrm>
            <a:off x="381000" y="5638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91" name="TextBox 91"/>
          <p:cNvSpPr txBox="1"/>
          <p:nvPr/>
        </p:nvSpPr>
        <p:spPr>
          <a:xfrm>
            <a:off x="713756" y="5398770"/>
            <a:ext cx="1048988"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OB/GYN Specialist</a:t>
            </a:r>
          </a:p>
        </p:txBody>
      </p:sp>
      <p:sp>
        <p:nvSpPr>
          <p:cNvPr id="92" name="TextBox 92"/>
          <p:cNvSpPr txBox="1"/>
          <p:nvPr/>
        </p:nvSpPr>
        <p:spPr>
          <a:xfrm>
            <a:off x="3266789" y="5398770"/>
            <a:ext cx="514922"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Bhumibol</a:t>
            </a:r>
          </a:p>
        </p:txBody>
      </p:sp>
      <p:sp>
        <p:nvSpPr>
          <p:cNvPr id="93" name="TextBox 93"/>
          <p:cNvSpPr txBox="1"/>
          <p:nvPr/>
        </p:nvSpPr>
        <p:spPr>
          <a:xfrm>
            <a:off x="5684044" y="5398770"/>
            <a:ext cx="442913"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OB/GYN</a:t>
            </a:r>
          </a:p>
        </p:txBody>
      </p:sp>
      <p:sp>
        <p:nvSpPr>
          <p:cNvPr id="94" name="TextBox 94"/>
          <p:cNvSpPr txBox="1"/>
          <p:nvPr/>
        </p:nvSpPr>
        <p:spPr>
          <a:xfrm>
            <a:off x="6924437" y="5398770"/>
            <a:ext cx="2153126"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Pregnancy VTE prevention (bridging)</a:t>
            </a:r>
          </a:p>
        </p:txBody>
      </p:sp>
      <p:sp>
        <p:nvSpPr>
          <p:cNvPr id="95" name="Rectangle 95"/>
          <p:cNvSpPr/>
          <p:nvPr/>
        </p:nvSpPr>
        <p:spPr>
          <a:xfrm>
            <a:off x="9429750" y="5353050"/>
            <a:ext cx="571500" cy="190500"/>
          </a:xfrm>
          <a:prstGeom prst="roundRect">
            <a:avLst>
              <a:gd name="adj" fmla="val 20000"/>
            </a:avLst>
          </a:prstGeom>
          <a:solidFill>
            <a:srgbClr val="F5F5F5"/>
          </a:solidFill>
          <a:ln w="9525">
            <a:solidFill>
              <a:srgbClr val="E0E0E0"/>
            </a:solidFill>
          </a:ln>
        </p:spPr>
      </p:sp>
      <p:sp>
        <p:nvSpPr>
          <p:cNvPr id="96" name="TextBox 96"/>
          <p:cNvSpPr txBox="1"/>
          <p:nvPr/>
        </p:nvSpPr>
        <p:spPr>
          <a:xfrm>
            <a:off x="9673256" y="5397341"/>
            <a:ext cx="84488" cy="167640"/>
          </a:xfrm>
          <a:prstGeom prst="rect">
            <a:avLst/>
          </a:prstGeom>
          <a:noFill/>
          <a:ln>
            <a:noFill/>
          </a:ln>
        </p:spPr>
        <p:txBody>
          <a:bodyPr wrap="none" lIns="0" tIns="0" rIns="0" bIns="0" anchor="t" anchorCtr="0">
            <a:spAutoFit/>
          </a:bodyPr>
          <a:lstStyle/>
          <a:p>
            <a:pPr algn="ctr"/>
            <a:r>
              <a:rPr lang="zh-CN" sz="825" b="1" dirty="0">
                <a:solidFill>
                  <a:srgbClr val="888888"/>
                </a:solidFill>
                <a:latin typeface="Arial"/>
                <a:ea typeface="Microsoft YaHei"/>
                <a:cs typeface="Arial"/>
              </a:rPr>
              <a:t>C</a:t>
            </a:r>
          </a:p>
        </p:txBody>
      </p:sp>
      <p:sp>
        <p:nvSpPr>
          <p:cNvPr id="97" name="TextBox 97"/>
          <p:cNvSpPr txBox="1"/>
          <p:nvPr/>
        </p:nvSpPr>
        <p:spPr>
          <a:xfrm>
            <a:off x="11396043" y="5398770"/>
            <a:ext cx="448913" cy="182880"/>
          </a:xfrm>
          <a:prstGeom prst="rect">
            <a:avLst/>
          </a:prstGeom>
          <a:noFill/>
          <a:ln>
            <a:noFill/>
          </a:ln>
        </p:spPr>
        <p:txBody>
          <a:bodyPr wrap="none" lIns="0" tIns="0" rIns="0" bIns="0" anchor="t" anchorCtr="0">
            <a:spAutoFit/>
          </a:bodyPr>
          <a:lstStyle/>
          <a:p>
            <a:pPr algn="ctr"/>
            <a:r>
              <a:rPr lang="zh-CN" sz="900" dirty="0">
                <a:solidFill>
                  <a:srgbClr val="888888"/>
                </a:solidFill>
                <a:latin typeface="Arial"/>
                <a:ea typeface="Microsoft YaHei"/>
                <a:cs typeface="Arial"/>
              </a:rPr>
              <a:t>Bi-wkly</a:t>
            </a:r>
          </a:p>
        </p:txBody>
      </p:sp>
      <p:sp>
        <p:nvSpPr>
          <p:cNvPr id="98" name="Rectangle 98"/>
          <p:cNvSpPr/>
          <p:nvPr/>
        </p:nvSpPr>
        <p:spPr>
          <a:xfrm>
            <a:off x="381000" y="5638800"/>
            <a:ext cx="11430000" cy="19050"/>
          </a:xfrm>
          <a:prstGeom prst="rect">
            <a:avLst/>
          </a:prstGeom>
          <a:solidFill>
            <a:srgbClr val="E0E0E0"/>
          </a:solidFill>
          <a:ln>
            <a:noFill/>
          </a:ln>
        </p:spPr>
      </p:sp>
      <p:sp>
        <p:nvSpPr>
          <p:cNvPr id="99" name="Rectangle 99"/>
          <p:cNvSpPr/>
          <p:nvPr/>
        </p:nvSpPr>
        <p:spPr>
          <a:xfrm>
            <a:off x="381000" y="5753100"/>
            <a:ext cx="11430000" cy="457200"/>
          </a:xfrm>
          <a:prstGeom prst="roundRect">
            <a:avLst>
              <a:gd name="adj" fmla="val 12500"/>
            </a:avLst>
          </a:prstGeom>
          <a:solidFill>
            <a:srgbClr val="AE232F">
              <a:alpha val="8000"/>
            </a:srgbClr>
          </a:solidFill>
          <a:ln>
            <a:noFill/>
          </a:ln>
        </p:spPr>
      </p:sp>
      <p:sp>
        <p:nvSpPr>
          <p:cNvPr id="100" name="Rectangle 100"/>
          <p:cNvSpPr/>
          <p:nvPr/>
        </p:nvSpPr>
        <p:spPr>
          <a:xfrm>
            <a:off x="381000" y="5753100"/>
            <a:ext cx="38100" cy="457200"/>
          </a:xfrm>
          <a:prstGeom prst="roundRect">
            <a:avLst>
              <a:gd name="adj" fmla="val 50000"/>
            </a:avLst>
          </a:prstGeom>
          <a:solidFill>
            <a:srgbClr val="AE232F"/>
          </a:solidFill>
          <a:ln>
            <a:noFill/>
          </a:ln>
        </p:spPr>
      </p:sp>
      <p:sp>
        <p:nvSpPr>
          <p:cNvPr id="101" name="TextBox 101"/>
          <p:cNvSpPr txBox="1"/>
          <p:nvPr/>
        </p:nvSpPr>
        <p:spPr>
          <a:xfrm>
            <a:off x="541020" y="5846445"/>
            <a:ext cx="848263" cy="182880"/>
          </a:xfrm>
          <a:prstGeom prst="rect">
            <a:avLst/>
          </a:prstGeom>
          <a:noFill/>
          <a:ln>
            <a:noFill/>
          </a:ln>
        </p:spPr>
        <p:txBody>
          <a:bodyPr wrap="none" lIns="0" tIns="0" rIns="0" bIns="0" anchor="t" anchorCtr="0">
            <a:spAutoFit/>
          </a:bodyPr>
          <a:lstStyle/>
          <a:p>
            <a:pPr algn="l"/>
            <a:r>
              <a:rPr lang="zh-CN" sz="900" b="1" dirty="0">
                <a:solidFill>
                  <a:srgbClr val="AE232F"/>
                </a:solidFill>
                <a:latin typeface="Arial"/>
                <a:ea typeface="Microsoft YaHei"/>
                <a:cs typeface="Arial"/>
              </a:rPr>
              <a:t>MR Strategy:</a:t>
            </a:r>
          </a:p>
        </p:txBody>
      </p:sp>
      <p:sp>
        <p:nvSpPr>
          <p:cNvPr id="102" name="TextBox 102"/>
          <p:cNvSpPr txBox="1"/>
          <p:nvPr/>
        </p:nvSpPr>
        <p:spPr>
          <a:xfrm>
            <a:off x="1398270" y="5846445"/>
            <a:ext cx="6863715" cy="182880"/>
          </a:xfrm>
          <a:prstGeom prst="rect">
            <a:avLst/>
          </a:prstGeom>
          <a:noFill/>
          <a:ln>
            <a:noFill/>
          </a:ln>
        </p:spPr>
        <p:txBody>
          <a:bodyPr wrap="none" lIns="0" tIns="0" rIns="0" bIns="0" anchor="t" anchorCtr="0">
            <a:spAutoFit/>
          </a:bodyPr>
          <a:lstStyle/>
          <a:p>
            <a:pPr algn="l"/>
            <a:r>
              <a:rPr lang="zh-CN" sz="900" dirty="0">
                <a:solidFill>
                  <a:srgbClr val="1A1A1A"/>
                </a:solidFill>
                <a:latin typeface="Arial"/>
                <a:ea typeface="Microsoft YaHei"/>
                <a:cs typeface="Arial"/>
              </a:rPr>
              <a:t>Lead with PMK Cardiology + Orthopedics (Priority A). Build trust with internists &amp; hematologists (B) within 60 days.</a:t>
            </a:r>
          </a:p>
        </p:txBody>
      </p:sp>
      <p:sp>
        <p:nvSpPr>
          <p:cNvPr id="103" name="TextBox 103"/>
          <p:cNvSpPr txBox="1"/>
          <p:nvPr/>
        </p:nvSpPr>
        <p:spPr>
          <a:xfrm>
            <a:off x="541020" y="6036945"/>
            <a:ext cx="703173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 Ramathibodi internship relationships as warm entry points — I already know the call culture and gatekeeper rhythm.</a:t>
            </a:r>
          </a:p>
        </p:txBody>
      </p:sp>
      <p:grpSp>
        <p:nvGrpSpPr>
          <p:cNvPr id="106" name="Group 106"/>
          <p:cNvGrpSpPr/>
          <p:nvPr/>
        </p:nvGrpSpPr>
        <p:grpSpPr>
          <a:xfrm>
            <a:off x="0" y="6496050"/>
            <a:ext cx="12192000" cy="361950"/>
            <a:chOff x="0" y="6496050"/>
            <a:chExt cx="12192000" cy="361950"/>
          </a:xfrm>
        </p:grpSpPr>
        <p:sp>
          <p:nvSpPr>
            <p:cNvPr id="104" name="Rectangle 104"/>
            <p:cNvSpPr/>
            <p:nvPr/>
          </p:nvSpPr>
          <p:spPr>
            <a:xfrm>
              <a:off x="0" y="6496050"/>
              <a:ext cx="12192000" cy="361950"/>
            </a:xfrm>
            <a:prstGeom prst="rect">
              <a:avLst/>
            </a:prstGeom>
            <a:solidFill>
              <a:srgbClr val="AE232F"/>
            </a:solidFill>
            <a:ln>
              <a:noFill/>
            </a:ln>
          </p:spPr>
        </p:sp>
        <p:sp>
          <p:nvSpPr>
            <p:cNvPr id="105" name="TextBox 105"/>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04</a:t>
            </a:r>
          </a:p>
        </p:txBody>
      </p:sp>
      <p:sp>
        <p:nvSpPr>
          <p:cNvPr id="6" name="TextBox 6"/>
          <p:cNvSpPr txBox="1"/>
          <p:nvPr/>
        </p:nvSpPr>
        <p:spPr>
          <a:xfrm>
            <a:off x="718185" y="208598"/>
            <a:ext cx="5605774"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My Sales Call Approach — ADAPT Framework</a:t>
            </a:r>
          </a:p>
        </p:txBody>
      </p:sp>
      <p:sp>
        <p:nvSpPr>
          <p:cNvPr id="7" name="TextBox 7"/>
          <p:cNvSpPr txBox="1"/>
          <p:nvPr/>
        </p:nvSpPr>
        <p:spPr>
          <a:xfrm>
            <a:off x="730568" y="504349"/>
            <a:ext cx="3262170"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A structured, physician-centered detailing method</a:t>
            </a:r>
          </a:p>
        </p:txBody>
      </p:sp>
      <p:sp>
        <p:nvSpPr>
          <p:cNvPr id="8" name="Polygon 8"/>
          <p:cNvSpPr/>
          <p:nvPr/>
        </p:nvSpPr>
        <p:spPr>
          <a:xfrm>
            <a:off x="3810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solidFill>
          <a:ln>
            <a:noFill/>
          </a:ln>
        </p:spPr>
      </p:sp>
      <p:sp>
        <p:nvSpPr>
          <p:cNvPr id="9" name="Freeform 9"/>
          <p:cNvSpPr/>
          <p:nvPr/>
        </p:nvSpPr>
        <p:spPr>
          <a:xfrm>
            <a:off x="659163" y="1429334"/>
            <a:ext cx="198906" cy="200260"/>
          </a:xfrm>
          <a:custGeom>
            <a:avLst/>
            <a:gdLst/>
            <a:ahLst/>
            <a:cxnLst/>
            <a:rect l="l" t="t" r="r" b="b"/>
            <a:pathLst>
              <a:path w="198906" h="200260">
                <a:moveTo>
                  <a:pt x="121887" y="19152"/>
                </a:moveTo>
                <a:cubicBezTo>
                  <a:pt x="140957" y="30160"/>
                  <a:pt x="154332" y="48879"/>
                  <a:pt x="158568" y="70486"/>
                </a:cubicBezTo>
                <a:cubicBezTo>
                  <a:pt x="162804" y="92094"/>
                  <a:pt x="157487" y="114477"/>
                  <a:pt x="143985" y="131871"/>
                </a:cubicBezTo>
                <a:lnTo>
                  <a:pt x="195296" y="183182"/>
                </a:lnTo>
                <a:cubicBezTo>
                  <a:pt x="198906" y="186919"/>
                  <a:pt x="198854" y="192860"/>
                  <a:pt x="195180" y="196534"/>
                </a:cubicBezTo>
                <a:cubicBezTo>
                  <a:pt x="191506" y="200208"/>
                  <a:pt x="185565" y="200260"/>
                  <a:pt x="181828" y="196650"/>
                </a:cubicBezTo>
                <a:lnTo>
                  <a:pt x="130507" y="145339"/>
                </a:lnTo>
                <a:cubicBezTo>
                  <a:pt x="100255" y="168813"/>
                  <a:pt x="57282" y="166191"/>
                  <a:pt x="30108" y="139214"/>
                </a:cubicBezTo>
                <a:cubicBezTo>
                  <a:pt x="2934" y="112237"/>
                  <a:pt x="0" y="69284"/>
                  <a:pt x="23253" y="38862"/>
                </a:cubicBezTo>
                <a:cubicBezTo>
                  <a:pt x="46507" y="8441"/>
                  <a:pt x="88724" y="0"/>
                  <a:pt x="121887" y="19142"/>
                </a:cubicBezTo>
              </a:path>
            </a:pathLst>
          </a:custGeom>
          <a:solidFill>
            <a:srgbClr val="FFFFFF"/>
          </a:solidFill>
          <a:ln>
            <a:noFill/>
          </a:ln>
        </p:spPr>
      </p:sp>
      <p:sp>
        <p:nvSpPr>
          <p:cNvPr id="10" name="TextBox 10"/>
          <p:cNvSpPr txBox="1"/>
          <p:nvPr/>
        </p:nvSpPr>
        <p:spPr>
          <a:xfrm>
            <a:off x="14090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A</a:t>
            </a:r>
          </a:p>
        </p:txBody>
      </p:sp>
      <p:sp>
        <p:nvSpPr>
          <p:cNvPr id="11" name="TextBox 11"/>
          <p:cNvSpPr txBox="1"/>
          <p:nvPr/>
        </p:nvSpPr>
        <p:spPr>
          <a:xfrm>
            <a:off x="1248264" y="1571149"/>
            <a:ext cx="475271"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ASSESS</a:t>
            </a:r>
          </a:p>
        </p:txBody>
      </p:sp>
      <p:sp>
        <p:nvSpPr>
          <p:cNvPr id="12" name="TextBox 12"/>
          <p:cNvSpPr txBox="1"/>
          <p:nvPr/>
        </p:nvSpPr>
        <p:spPr>
          <a:xfrm>
            <a:off x="1101328" y="1766888"/>
            <a:ext cx="769144"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Physician needs</a:t>
            </a:r>
          </a:p>
        </p:txBody>
      </p:sp>
      <p:sp>
        <p:nvSpPr>
          <p:cNvPr id="13" name="Polygon 13"/>
          <p:cNvSpPr/>
          <p:nvPr/>
        </p:nvSpPr>
        <p:spPr>
          <a:xfrm>
            <a:off x="23622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alpha val="85000"/>
            </a:srgbClr>
          </a:solidFill>
          <a:ln>
            <a:noFill/>
          </a:ln>
        </p:spPr>
      </p:sp>
      <p:sp>
        <p:nvSpPr>
          <p:cNvPr id="14" name="Freeform 14"/>
          <p:cNvSpPr/>
          <p:nvPr/>
        </p:nvSpPr>
        <p:spPr>
          <a:xfrm>
            <a:off x="2523710" y="1457325"/>
            <a:ext cx="209955" cy="152400"/>
          </a:xfrm>
          <a:custGeom>
            <a:avLst/>
            <a:gdLst/>
            <a:ahLst/>
            <a:cxnLst/>
            <a:rect l="l" t="t" r="r" b="b"/>
            <a:pathLst>
              <a:path w="209955" h="152400">
                <a:moveTo>
                  <a:pt x="105190" y="0"/>
                </a:moveTo>
                <a:cubicBezTo>
                  <a:pt x="146052" y="0"/>
                  <a:pt x="180085" y="23136"/>
                  <a:pt x="206774" y="68142"/>
                </a:cubicBezTo>
                <a:lnTo>
                  <a:pt x="208870" y="71752"/>
                </a:lnTo>
                <a:lnTo>
                  <a:pt x="209298" y="72704"/>
                </a:lnTo>
                <a:lnTo>
                  <a:pt x="209584" y="73495"/>
                </a:lnTo>
                <a:lnTo>
                  <a:pt x="209717" y="74019"/>
                </a:lnTo>
                <a:lnTo>
                  <a:pt x="209851" y="74800"/>
                </a:lnTo>
                <a:lnTo>
                  <a:pt x="209955" y="75752"/>
                </a:lnTo>
                <a:lnTo>
                  <a:pt x="209955" y="76800"/>
                </a:lnTo>
                <a:lnTo>
                  <a:pt x="209822" y="77857"/>
                </a:lnTo>
                <a:cubicBezTo>
                  <a:pt x="209760" y="78211"/>
                  <a:pt x="209677" y="78561"/>
                  <a:pt x="209574" y="78905"/>
                </a:cubicBezTo>
                <a:lnTo>
                  <a:pt x="209203" y="79934"/>
                </a:lnTo>
                <a:lnTo>
                  <a:pt x="208860" y="80648"/>
                </a:lnTo>
                <a:lnTo>
                  <a:pt x="208708" y="80934"/>
                </a:lnTo>
                <a:cubicBezTo>
                  <a:pt x="182381" y="126997"/>
                  <a:pt x="148700" y="151228"/>
                  <a:pt x="108171" y="152362"/>
                </a:cubicBezTo>
                <a:lnTo>
                  <a:pt x="105190" y="152400"/>
                </a:lnTo>
                <a:cubicBezTo>
                  <a:pt x="63318" y="152400"/>
                  <a:pt x="28638" y="128121"/>
                  <a:pt x="1672" y="80924"/>
                </a:cubicBezTo>
                <a:cubicBezTo>
                  <a:pt x="0" y="77997"/>
                  <a:pt x="0" y="74403"/>
                  <a:pt x="1672" y="71476"/>
                </a:cubicBezTo>
                <a:cubicBezTo>
                  <a:pt x="28638" y="24279"/>
                  <a:pt x="63318" y="0"/>
                  <a:pt x="105190" y="0"/>
                </a:cubicBezTo>
                <a:close/>
                <a:moveTo>
                  <a:pt x="105190" y="47625"/>
                </a:moveTo>
                <a:cubicBezTo>
                  <a:pt x="89408" y="47625"/>
                  <a:pt x="76615" y="60418"/>
                  <a:pt x="76615" y="76200"/>
                </a:cubicBezTo>
                <a:cubicBezTo>
                  <a:pt x="76615" y="91982"/>
                  <a:pt x="89408" y="104775"/>
                  <a:pt x="105190" y="104775"/>
                </a:cubicBezTo>
                <a:cubicBezTo>
                  <a:pt x="120972" y="104775"/>
                  <a:pt x="133765" y="91982"/>
                  <a:pt x="133765" y="76200"/>
                </a:cubicBezTo>
                <a:cubicBezTo>
                  <a:pt x="133765" y="60418"/>
                  <a:pt x="120972" y="47625"/>
                  <a:pt x="105190" y="47625"/>
                </a:cubicBezTo>
              </a:path>
            </a:pathLst>
          </a:custGeom>
          <a:solidFill>
            <a:srgbClr val="FFFFFF"/>
          </a:solidFill>
          <a:ln>
            <a:noFill/>
          </a:ln>
        </p:spPr>
      </p:sp>
      <p:sp>
        <p:nvSpPr>
          <p:cNvPr id="15" name="TextBox 15"/>
          <p:cNvSpPr txBox="1"/>
          <p:nvPr/>
        </p:nvSpPr>
        <p:spPr>
          <a:xfrm>
            <a:off x="33140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D</a:t>
            </a:r>
          </a:p>
        </p:txBody>
      </p:sp>
      <p:sp>
        <p:nvSpPr>
          <p:cNvPr id="16" name="TextBox 16"/>
          <p:cNvSpPr txBox="1"/>
          <p:nvPr/>
        </p:nvSpPr>
        <p:spPr>
          <a:xfrm>
            <a:off x="3081593" y="1571149"/>
            <a:ext cx="618614"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DISCOVER</a:t>
            </a:r>
          </a:p>
        </p:txBody>
      </p:sp>
      <p:sp>
        <p:nvSpPr>
          <p:cNvPr id="17" name="TextBox 17"/>
          <p:cNvSpPr txBox="1"/>
          <p:nvPr/>
        </p:nvSpPr>
        <p:spPr>
          <a:xfrm>
            <a:off x="2936319" y="1766888"/>
            <a:ext cx="909161"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Patient challenges</a:t>
            </a:r>
          </a:p>
        </p:txBody>
      </p:sp>
      <p:sp>
        <p:nvSpPr>
          <p:cNvPr id="18" name="Polygon 18"/>
          <p:cNvSpPr/>
          <p:nvPr/>
        </p:nvSpPr>
        <p:spPr>
          <a:xfrm>
            <a:off x="43434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alpha val="70000"/>
            </a:srgbClr>
          </a:solidFill>
          <a:ln>
            <a:noFill/>
          </a:ln>
        </p:spPr>
      </p:sp>
      <p:sp>
        <p:nvSpPr>
          <p:cNvPr id="19" name="Freeform 19"/>
          <p:cNvSpPr/>
          <p:nvPr/>
        </p:nvSpPr>
        <p:spPr>
          <a:xfrm>
            <a:off x="4517591" y="1438275"/>
            <a:ext cx="185019" cy="190500"/>
          </a:xfrm>
          <a:custGeom>
            <a:avLst/>
            <a:gdLst/>
            <a:ahLst/>
            <a:cxnLst/>
            <a:rect l="l" t="t" r="r" b="b"/>
            <a:pathLst>
              <a:path w="185019" h="190500">
                <a:moveTo>
                  <a:pt x="82984" y="0"/>
                </a:moveTo>
                <a:lnTo>
                  <a:pt x="81556" y="48"/>
                </a:lnTo>
                <a:cubicBezTo>
                  <a:pt x="71614" y="795"/>
                  <a:pt x="63931" y="9081"/>
                  <a:pt x="63934" y="19050"/>
                </a:cubicBezTo>
                <a:lnTo>
                  <a:pt x="63934" y="45749"/>
                </a:lnTo>
                <a:lnTo>
                  <a:pt x="40808" y="32404"/>
                </a:lnTo>
                <a:cubicBezTo>
                  <a:pt x="31696" y="27144"/>
                  <a:pt x="20046" y="30265"/>
                  <a:pt x="14785" y="39376"/>
                </a:cubicBezTo>
                <a:lnTo>
                  <a:pt x="5260" y="55874"/>
                </a:lnTo>
                <a:lnTo>
                  <a:pt x="4565" y="57188"/>
                </a:lnTo>
                <a:cubicBezTo>
                  <a:pt x="279" y="66163"/>
                  <a:pt x="3619" y="76924"/>
                  <a:pt x="12233" y="81896"/>
                </a:cubicBezTo>
                <a:lnTo>
                  <a:pt x="35350" y="95250"/>
                </a:lnTo>
                <a:lnTo>
                  <a:pt x="12233" y="108604"/>
                </a:lnTo>
                <a:cubicBezTo>
                  <a:pt x="3122" y="113865"/>
                  <a:pt x="0" y="125515"/>
                  <a:pt x="5260" y="134626"/>
                </a:cubicBezTo>
                <a:lnTo>
                  <a:pt x="14785" y="151124"/>
                </a:lnTo>
                <a:lnTo>
                  <a:pt x="15576" y="152381"/>
                </a:lnTo>
                <a:cubicBezTo>
                  <a:pt x="21205" y="160580"/>
                  <a:pt x="32195" y="163070"/>
                  <a:pt x="40808" y="158096"/>
                </a:cubicBezTo>
                <a:lnTo>
                  <a:pt x="63934" y="144742"/>
                </a:lnTo>
                <a:lnTo>
                  <a:pt x="63934" y="171450"/>
                </a:lnTo>
                <a:cubicBezTo>
                  <a:pt x="63934" y="181971"/>
                  <a:pt x="72463" y="190500"/>
                  <a:pt x="82984" y="190500"/>
                </a:cubicBezTo>
                <a:lnTo>
                  <a:pt x="102034" y="190500"/>
                </a:lnTo>
                <a:lnTo>
                  <a:pt x="103463" y="190452"/>
                </a:lnTo>
                <a:cubicBezTo>
                  <a:pt x="113404" y="189705"/>
                  <a:pt x="121087" y="181419"/>
                  <a:pt x="121084" y="171450"/>
                </a:cubicBezTo>
                <a:lnTo>
                  <a:pt x="121084" y="144742"/>
                </a:lnTo>
                <a:lnTo>
                  <a:pt x="144211" y="158105"/>
                </a:lnTo>
                <a:cubicBezTo>
                  <a:pt x="153322" y="163366"/>
                  <a:pt x="164973" y="160244"/>
                  <a:pt x="170233" y="151133"/>
                </a:cubicBezTo>
                <a:lnTo>
                  <a:pt x="179758" y="134636"/>
                </a:lnTo>
                <a:lnTo>
                  <a:pt x="180454" y="133321"/>
                </a:lnTo>
                <a:cubicBezTo>
                  <a:pt x="184739" y="124347"/>
                  <a:pt x="181400" y="113585"/>
                  <a:pt x="172786" y="108614"/>
                </a:cubicBezTo>
                <a:lnTo>
                  <a:pt x="149659" y="95250"/>
                </a:lnTo>
                <a:lnTo>
                  <a:pt x="172786" y="81896"/>
                </a:lnTo>
                <a:cubicBezTo>
                  <a:pt x="181897" y="76635"/>
                  <a:pt x="185019" y="64985"/>
                  <a:pt x="179758" y="55874"/>
                </a:cubicBezTo>
                <a:lnTo>
                  <a:pt x="170233" y="39376"/>
                </a:lnTo>
                <a:lnTo>
                  <a:pt x="169443" y="38119"/>
                </a:lnTo>
                <a:cubicBezTo>
                  <a:pt x="163814" y="29920"/>
                  <a:pt x="152824" y="27430"/>
                  <a:pt x="144211" y="32404"/>
                </a:cubicBezTo>
                <a:lnTo>
                  <a:pt x="121084" y="45739"/>
                </a:lnTo>
                <a:lnTo>
                  <a:pt x="121084" y="19050"/>
                </a:lnTo>
                <a:cubicBezTo>
                  <a:pt x="121084" y="8529"/>
                  <a:pt x="112555" y="0"/>
                  <a:pt x="102034" y="0"/>
                </a:cubicBezTo>
                <a:lnTo>
                  <a:pt x="82984" y="0"/>
                </a:lnTo>
                <a:close/>
              </a:path>
            </a:pathLst>
          </a:custGeom>
          <a:solidFill>
            <a:srgbClr val="FFFFFF"/>
          </a:solidFill>
          <a:ln>
            <a:noFill/>
          </a:ln>
        </p:spPr>
      </p:sp>
      <p:sp>
        <p:nvSpPr>
          <p:cNvPr id="20" name="TextBox 20"/>
          <p:cNvSpPr txBox="1"/>
          <p:nvPr/>
        </p:nvSpPr>
        <p:spPr>
          <a:xfrm>
            <a:off x="52952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A</a:t>
            </a:r>
          </a:p>
        </p:txBody>
      </p:sp>
      <p:sp>
        <p:nvSpPr>
          <p:cNvPr id="21" name="TextBox 21"/>
          <p:cNvSpPr txBox="1"/>
          <p:nvPr/>
        </p:nvSpPr>
        <p:spPr>
          <a:xfrm>
            <a:off x="5076445" y="1571149"/>
            <a:ext cx="591311"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ACTIVATE</a:t>
            </a:r>
          </a:p>
        </p:txBody>
      </p:sp>
      <p:sp>
        <p:nvSpPr>
          <p:cNvPr id="22" name="TextBox 22"/>
          <p:cNvSpPr txBox="1"/>
          <p:nvPr/>
        </p:nvSpPr>
        <p:spPr>
          <a:xfrm>
            <a:off x="4947523" y="1766888"/>
            <a:ext cx="849154"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Present evidence</a:t>
            </a:r>
          </a:p>
        </p:txBody>
      </p:sp>
      <p:sp>
        <p:nvSpPr>
          <p:cNvPr id="23" name="Polygon 23"/>
          <p:cNvSpPr/>
          <p:nvPr/>
        </p:nvSpPr>
        <p:spPr>
          <a:xfrm>
            <a:off x="63246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alpha val="55000"/>
            </a:srgbClr>
          </a:solidFill>
          <a:ln>
            <a:noFill/>
          </a:ln>
        </p:spPr>
      </p:sp>
      <p:sp>
        <p:nvSpPr>
          <p:cNvPr id="24" name="Freeform 24"/>
          <p:cNvSpPr/>
          <p:nvPr/>
        </p:nvSpPr>
        <p:spPr>
          <a:xfrm>
            <a:off x="6486029" y="1428769"/>
            <a:ext cx="210437" cy="200562"/>
          </a:xfrm>
          <a:custGeom>
            <a:avLst/>
            <a:gdLst/>
            <a:ahLst/>
            <a:cxnLst/>
            <a:rect l="l" t="t" r="r" b="b"/>
            <a:pathLst>
              <a:path w="210437" h="200562">
                <a:moveTo>
                  <a:pt x="69485" y="60369"/>
                </a:moveTo>
                <a:lnTo>
                  <a:pt x="8716" y="69180"/>
                </a:lnTo>
                <a:lnTo>
                  <a:pt x="7639" y="69399"/>
                </a:lnTo>
                <a:cubicBezTo>
                  <a:pt x="4322" y="70279"/>
                  <a:pt x="1735" y="72877"/>
                  <a:pt x="868" y="76197"/>
                </a:cubicBezTo>
                <a:cubicBezTo>
                  <a:pt x="0" y="79518"/>
                  <a:pt x="986" y="83048"/>
                  <a:pt x="3448" y="85439"/>
                </a:cubicBezTo>
                <a:lnTo>
                  <a:pt x="47473" y="128292"/>
                </a:lnTo>
                <a:lnTo>
                  <a:pt x="37091" y="188823"/>
                </a:lnTo>
                <a:lnTo>
                  <a:pt x="36967" y="189871"/>
                </a:lnTo>
                <a:cubicBezTo>
                  <a:pt x="36764" y="193302"/>
                  <a:pt x="38425" y="196576"/>
                  <a:pt x="41313" y="198439"/>
                </a:cubicBezTo>
                <a:cubicBezTo>
                  <a:pt x="44202" y="200301"/>
                  <a:pt x="47870" y="200463"/>
                  <a:pt x="50911" y="198863"/>
                </a:cubicBezTo>
                <a:lnTo>
                  <a:pt x="105261" y="170288"/>
                </a:lnTo>
                <a:lnTo>
                  <a:pt x="159487" y="198863"/>
                </a:lnTo>
                <a:lnTo>
                  <a:pt x="160439" y="199301"/>
                </a:lnTo>
                <a:cubicBezTo>
                  <a:pt x="163640" y="200562"/>
                  <a:pt x="167273" y="199998"/>
                  <a:pt x="169941" y="197827"/>
                </a:cubicBezTo>
                <a:cubicBezTo>
                  <a:pt x="172610" y="195656"/>
                  <a:pt x="173901" y="192214"/>
                  <a:pt x="173317" y="188823"/>
                </a:cubicBezTo>
                <a:lnTo>
                  <a:pt x="162925" y="128292"/>
                </a:lnTo>
                <a:lnTo>
                  <a:pt x="206969" y="85429"/>
                </a:lnTo>
                <a:lnTo>
                  <a:pt x="207712" y="84620"/>
                </a:lnTo>
                <a:cubicBezTo>
                  <a:pt x="209872" y="81959"/>
                  <a:pt x="210437" y="78342"/>
                  <a:pt x="209189" y="75149"/>
                </a:cubicBezTo>
                <a:cubicBezTo>
                  <a:pt x="207942" y="71957"/>
                  <a:pt x="205075" y="69681"/>
                  <a:pt x="201683" y="69189"/>
                </a:cubicBezTo>
                <a:lnTo>
                  <a:pt x="140913" y="60369"/>
                </a:lnTo>
                <a:lnTo>
                  <a:pt x="113748" y="5315"/>
                </a:lnTo>
                <a:cubicBezTo>
                  <a:pt x="112144" y="2061"/>
                  <a:pt x="108832" y="0"/>
                  <a:pt x="105204" y="0"/>
                </a:cubicBezTo>
                <a:cubicBezTo>
                  <a:pt x="101576" y="0"/>
                  <a:pt x="98263" y="2061"/>
                  <a:pt x="96660" y="5315"/>
                </a:cubicBezTo>
                <a:lnTo>
                  <a:pt x="69485" y="60369"/>
                </a:lnTo>
                <a:close/>
              </a:path>
            </a:pathLst>
          </a:custGeom>
          <a:solidFill>
            <a:srgbClr val="FFFFFF"/>
          </a:solidFill>
          <a:ln>
            <a:noFill/>
          </a:ln>
        </p:spPr>
      </p:sp>
      <p:sp>
        <p:nvSpPr>
          <p:cNvPr id="25" name="TextBox 25"/>
          <p:cNvSpPr txBox="1"/>
          <p:nvPr/>
        </p:nvSpPr>
        <p:spPr>
          <a:xfrm>
            <a:off x="72764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P</a:t>
            </a:r>
          </a:p>
        </p:txBody>
      </p:sp>
      <p:sp>
        <p:nvSpPr>
          <p:cNvPr id="26" name="TextBox 26"/>
          <p:cNvSpPr txBox="1"/>
          <p:nvPr/>
        </p:nvSpPr>
        <p:spPr>
          <a:xfrm>
            <a:off x="7064470" y="1571149"/>
            <a:ext cx="577659"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PROJECT</a:t>
            </a:r>
          </a:p>
        </p:txBody>
      </p:sp>
      <p:sp>
        <p:nvSpPr>
          <p:cNvPr id="27" name="TextBox 27"/>
          <p:cNvSpPr txBox="1"/>
          <p:nvPr/>
        </p:nvSpPr>
        <p:spPr>
          <a:xfrm>
            <a:off x="6946225" y="1766888"/>
            <a:ext cx="814149"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Patient outcome</a:t>
            </a:r>
          </a:p>
        </p:txBody>
      </p:sp>
      <p:sp>
        <p:nvSpPr>
          <p:cNvPr id="28" name="Polygon 28"/>
          <p:cNvSpPr/>
          <p:nvPr/>
        </p:nvSpPr>
        <p:spPr>
          <a:xfrm>
            <a:off x="8305800" y="1219200"/>
            <a:ext cx="3505200" cy="762000"/>
          </a:xfrm>
          <a:custGeom>
            <a:avLst/>
            <a:gdLst/>
            <a:ahLst/>
            <a:cxnLst/>
            <a:rect l="l" t="t" r="r" b="b"/>
            <a:pathLst>
              <a:path w="3505200" h="762000">
                <a:moveTo>
                  <a:pt x="0" y="0"/>
                </a:moveTo>
                <a:lnTo>
                  <a:pt x="3505200" y="0"/>
                </a:lnTo>
                <a:lnTo>
                  <a:pt x="3505200" y="762000"/>
                </a:lnTo>
                <a:lnTo>
                  <a:pt x="0" y="762000"/>
                </a:lnTo>
                <a:lnTo>
                  <a:pt x="228600" y="381000"/>
                </a:lnTo>
                <a:close/>
              </a:path>
            </a:pathLst>
          </a:custGeom>
          <a:solidFill>
            <a:srgbClr val="AE232F">
              <a:alpha val="40000"/>
            </a:srgbClr>
          </a:solidFill>
          <a:ln>
            <a:noFill/>
          </a:ln>
        </p:spPr>
      </p:sp>
      <p:sp>
        <p:nvSpPr>
          <p:cNvPr id="29" name="Freeform 29"/>
          <p:cNvSpPr/>
          <p:nvPr/>
        </p:nvSpPr>
        <p:spPr>
          <a:xfrm>
            <a:off x="8629650" y="1434008"/>
            <a:ext cx="200311" cy="200639"/>
          </a:xfrm>
          <a:custGeom>
            <a:avLst/>
            <a:gdLst/>
            <a:ahLst/>
            <a:cxnLst/>
            <a:rect l="l" t="t" r="r" b="b"/>
            <a:pathLst>
              <a:path w="200311" h="200639">
                <a:moveTo>
                  <a:pt x="142875" y="17030"/>
                </a:moveTo>
                <a:cubicBezTo>
                  <a:pt x="182569" y="39949"/>
                  <a:pt x="200311" y="87890"/>
                  <a:pt x="185099" y="131128"/>
                </a:cubicBezTo>
                <a:cubicBezTo>
                  <a:pt x="169888" y="174367"/>
                  <a:pt x="126037" y="200639"/>
                  <a:pt x="80736" y="193656"/>
                </a:cubicBezTo>
                <a:cubicBezTo>
                  <a:pt x="35435" y="186673"/>
                  <a:pt x="1532" y="148415"/>
                  <a:pt x="48" y="102603"/>
                </a:cubicBezTo>
                <a:lnTo>
                  <a:pt x="0" y="99517"/>
                </a:lnTo>
                <a:lnTo>
                  <a:pt x="48" y="96431"/>
                </a:lnTo>
                <a:cubicBezTo>
                  <a:pt x="1133" y="62969"/>
                  <a:pt x="19706" y="32534"/>
                  <a:pt x="48967" y="16267"/>
                </a:cubicBezTo>
                <a:cubicBezTo>
                  <a:pt x="78228" y="0"/>
                  <a:pt x="113882" y="290"/>
                  <a:pt x="142875" y="17030"/>
                </a:cubicBezTo>
                <a:close/>
                <a:moveTo>
                  <a:pt x="130559" y="73732"/>
                </a:moveTo>
                <a:cubicBezTo>
                  <a:pt x="127166" y="70339"/>
                  <a:pt x="121778" y="70001"/>
                  <a:pt x="117986" y="72942"/>
                </a:cubicBezTo>
                <a:lnTo>
                  <a:pt x="117091" y="73732"/>
                </a:lnTo>
                <a:lnTo>
                  <a:pt x="85725" y="105089"/>
                </a:lnTo>
                <a:lnTo>
                  <a:pt x="73409" y="92782"/>
                </a:lnTo>
                <a:lnTo>
                  <a:pt x="72514" y="91992"/>
                </a:lnTo>
                <a:cubicBezTo>
                  <a:pt x="68722" y="89053"/>
                  <a:pt x="63336" y="89392"/>
                  <a:pt x="59943" y="92785"/>
                </a:cubicBezTo>
                <a:cubicBezTo>
                  <a:pt x="56551" y="96177"/>
                  <a:pt x="56211" y="101564"/>
                  <a:pt x="59150" y="105355"/>
                </a:cubicBezTo>
                <a:lnTo>
                  <a:pt x="59941" y="106251"/>
                </a:lnTo>
                <a:lnTo>
                  <a:pt x="78991" y="125301"/>
                </a:lnTo>
                <a:lnTo>
                  <a:pt x="79886" y="126091"/>
                </a:lnTo>
                <a:cubicBezTo>
                  <a:pt x="83322" y="128757"/>
                  <a:pt x="88128" y="128757"/>
                  <a:pt x="91564" y="126091"/>
                </a:cubicBezTo>
                <a:lnTo>
                  <a:pt x="92459" y="125301"/>
                </a:lnTo>
                <a:lnTo>
                  <a:pt x="130559" y="87201"/>
                </a:lnTo>
                <a:lnTo>
                  <a:pt x="131350" y="86305"/>
                </a:lnTo>
                <a:cubicBezTo>
                  <a:pt x="134291" y="82514"/>
                  <a:pt x="133952" y="77126"/>
                  <a:pt x="130559" y="73732"/>
                </a:cubicBezTo>
                <a:close/>
              </a:path>
            </a:pathLst>
          </a:custGeom>
          <a:solidFill>
            <a:srgbClr val="AE232F"/>
          </a:solidFill>
          <a:ln>
            <a:noFill/>
          </a:ln>
        </p:spPr>
      </p:sp>
      <p:sp>
        <p:nvSpPr>
          <p:cNvPr id="30" name="TextBox 30"/>
          <p:cNvSpPr txBox="1"/>
          <p:nvPr/>
        </p:nvSpPr>
        <p:spPr>
          <a:xfrm>
            <a:off x="10095893" y="1343025"/>
            <a:ext cx="153614" cy="304800"/>
          </a:xfrm>
          <a:prstGeom prst="rect">
            <a:avLst/>
          </a:prstGeom>
          <a:noFill/>
          <a:ln>
            <a:noFill/>
          </a:ln>
        </p:spPr>
        <p:txBody>
          <a:bodyPr wrap="none" lIns="0" tIns="0" rIns="0" bIns="0" anchor="t" anchorCtr="0">
            <a:spAutoFit/>
          </a:bodyPr>
          <a:lstStyle/>
          <a:p>
            <a:pPr algn="ctr"/>
            <a:r>
              <a:rPr lang="zh-CN" sz="1500" b="1" dirty="0">
                <a:solidFill>
                  <a:srgbClr val="8A1B25"/>
                </a:solidFill>
                <a:latin typeface="Arial"/>
                <a:ea typeface="Microsoft YaHei"/>
                <a:cs typeface="Arial"/>
              </a:rPr>
              <a:t>T</a:t>
            </a:r>
          </a:p>
        </p:txBody>
      </p:sp>
      <p:sp>
        <p:nvSpPr>
          <p:cNvPr id="31" name="TextBox 31"/>
          <p:cNvSpPr txBox="1"/>
          <p:nvPr/>
        </p:nvSpPr>
        <p:spPr>
          <a:xfrm>
            <a:off x="9866806" y="1571149"/>
            <a:ext cx="611788" cy="198120"/>
          </a:xfrm>
          <a:prstGeom prst="rect">
            <a:avLst/>
          </a:prstGeom>
          <a:noFill/>
          <a:ln>
            <a:noFill/>
          </a:ln>
        </p:spPr>
        <p:txBody>
          <a:bodyPr wrap="none" lIns="0" tIns="0" rIns="0" bIns="0" anchor="t" anchorCtr="0">
            <a:spAutoFit/>
          </a:bodyPr>
          <a:lstStyle/>
          <a:p>
            <a:pPr algn="ctr"/>
            <a:r>
              <a:rPr lang="zh-CN" sz="975" b="1" dirty="0">
                <a:solidFill>
                  <a:srgbClr val="8A1B25"/>
                </a:solidFill>
                <a:latin typeface="Arial"/>
                <a:ea typeface="Microsoft YaHei"/>
                <a:cs typeface="Arial"/>
              </a:rPr>
              <a:t>TIE DOWN</a:t>
            </a:r>
          </a:p>
        </p:txBody>
      </p:sp>
      <p:sp>
        <p:nvSpPr>
          <p:cNvPr id="32" name="TextBox 32"/>
          <p:cNvSpPr txBox="1"/>
          <p:nvPr/>
        </p:nvSpPr>
        <p:spPr>
          <a:xfrm>
            <a:off x="9698117" y="1766888"/>
            <a:ext cx="949166"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Commit &amp; next step</a:t>
            </a:r>
          </a:p>
        </p:txBody>
      </p:sp>
      <p:sp>
        <p:nvSpPr>
          <p:cNvPr id="33" name="Rectangle 33"/>
          <p:cNvSpPr/>
          <p:nvPr/>
        </p:nvSpPr>
        <p:spPr>
          <a:xfrm>
            <a:off x="3810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34" name="Rectangle 34"/>
          <p:cNvSpPr/>
          <p:nvPr/>
        </p:nvSpPr>
        <p:spPr>
          <a:xfrm>
            <a:off x="381000" y="2171700"/>
            <a:ext cx="2057400" cy="38100"/>
          </a:xfrm>
          <a:prstGeom prst="roundRect">
            <a:avLst>
              <a:gd name="adj" fmla="val 50000"/>
            </a:avLst>
          </a:prstGeom>
          <a:solidFill>
            <a:srgbClr val="AE232F"/>
          </a:solidFill>
          <a:ln>
            <a:noFill/>
          </a:ln>
        </p:spPr>
      </p:sp>
      <p:sp>
        <p:nvSpPr>
          <p:cNvPr id="35" name="TextBox 35"/>
          <p:cNvSpPr txBox="1"/>
          <p:nvPr/>
        </p:nvSpPr>
        <p:spPr>
          <a:xfrm>
            <a:off x="1190344" y="2322195"/>
            <a:ext cx="438712"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Assess</a:t>
            </a:r>
          </a:p>
        </p:txBody>
      </p:sp>
      <p:sp>
        <p:nvSpPr>
          <p:cNvPr id="36" name="TextBox 36"/>
          <p:cNvSpPr txBox="1"/>
          <p:nvPr/>
        </p:nvSpPr>
        <p:spPr>
          <a:xfrm>
            <a:off x="522922" y="2520791"/>
            <a:ext cx="130261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Review physician profile</a:t>
            </a:r>
          </a:p>
        </p:txBody>
      </p:sp>
      <p:sp>
        <p:nvSpPr>
          <p:cNvPr id="37" name="TextBox 37"/>
          <p:cNvSpPr txBox="1"/>
          <p:nvPr/>
        </p:nvSpPr>
        <p:spPr>
          <a:xfrm>
            <a:off x="522922" y="2682716"/>
            <a:ext cx="879062"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before each call</a:t>
            </a:r>
          </a:p>
        </p:txBody>
      </p:sp>
      <p:sp>
        <p:nvSpPr>
          <p:cNvPr id="38" name="TextBox 38"/>
          <p:cNvSpPr txBox="1"/>
          <p:nvPr/>
        </p:nvSpPr>
        <p:spPr>
          <a:xfrm>
            <a:off x="522922" y="2901791"/>
            <a:ext cx="133561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Specialty &amp; patient mix</a:t>
            </a:r>
          </a:p>
        </p:txBody>
      </p:sp>
      <p:sp>
        <p:nvSpPr>
          <p:cNvPr id="39" name="TextBox 39"/>
          <p:cNvSpPr txBox="1"/>
          <p:nvPr/>
        </p:nvSpPr>
        <p:spPr>
          <a:xfrm>
            <a:off x="522922" y="3073241"/>
            <a:ext cx="14896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Current prescribing habit</a:t>
            </a:r>
          </a:p>
        </p:txBody>
      </p:sp>
      <p:sp>
        <p:nvSpPr>
          <p:cNvPr id="40" name="TextBox 40"/>
          <p:cNvSpPr txBox="1"/>
          <p:nvPr/>
        </p:nvSpPr>
        <p:spPr>
          <a:xfrm>
            <a:off x="522922" y="3244691"/>
            <a:ext cx="118160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Unmet clinical needs</a:t>
            </a:r>
          </a:p>
        </p:txBody>
      </p:sp>
      <p:sp>
        <p:nvSpPr>
          <p:cNvPr id="41" name="TextBox 41"/>
          <p:cNvSpPr txBox="1"/>
          <p:nvPr/>
        </p:nvSpPr>
        <p:spPr>
          <a:xfrm>
            <a:off x="522922" y="3416141"/>
            <a:ext cx="123660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Gate-keeper &amp; timing</a:t>
            </a:r>
          </a:p>
        </p:txBody>
      </p:sp>
      <p:sp>
        <p:nvSpPr>
          <p:cNvPr id="42" name="TextBox 42"/>
          <p:cNvSpPr txBox="1"/>
          <p:nvPr/>
        </p:nvSpPr>
        <p:spPr>
          <a:xfrm>
            <a:off x="523875" y="3729038"/>
            <a:ext cx="1389221"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"Prepared MR = trusted MR"</a:t>
            </a:r>
          </a:p>
        </p:txBody>
      </p:sp>
      <p:sp>
        <p:nvSpPr>
          <p:cNvPr id="43" name="Rectangle 43"/>
          <p:cNvSpPr/>
          <p:nvPr/>
        </p:nvSpPr>
        <p:spPr>
          <a:xfrm>
            <a:off x="25527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44" name="Rectangle 44"/>
          <p:cNvSpPr/>
          <p:nvPr/>
        </p:nvSpPr>
        <p:spPr>
          <a:xfrm>
            <a:off x="2552700" y="2171700"/>
            <a:ext cx="2057400" cy="38100"/>
          </a:xfrm>
          <a:prstGeom prst="roundRect">
            <a:avLst>
              <a:gd name="adj" fmla="val 50000"/>
            </a:avLst>
          </a:prstGeom>
          <a:solidFill>
            <a:srgbClr val="AE232F"/>
          </a:solidFill>
          <a:ln>
            <a:noFill/>
          </a:ln>
        </p:spPr>
      </p:sp>
      <p:sp>
        <p:nvSpPr>
          <p:cNvPr id="45" name="TextBox 45"/>
          <p:cNvSpPr txBox="1"/>
          <p:nvPr/>
        </p:nvSpPr>
        <p:spPr>
          <a:xfrm>
            <a:off x="3308487" y="2322195"/>
            <a:ext cx="545825"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Discover</a:t>
            </a:r>
          </a:p>
        </p:txBody>
      </p:sp>
      <p:sp>
        <p:nvSpPr>
          <p:cNvPr id="46" name="TextBox 46"/>
          <p:cNvSpPr txBox="1"/>
          <p:nvPr/>
        </p:nvSpPr>
        <p:spPr>
          <a:xfrm>
            <a:off x="2694622" y="2520791"/>
            <a:ext cx="144563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Open questions to surface</a:t>
            </a:r>
          </a:p>
        </p:txBody>
      </p:sp>
      <p:sp>
        <p:nvSpPr>
          <p:cNvPr id="47" name="TextBox 47"/>
          <p:cNvSpPr txBox="1"/>
          <p:nvPr/>
        </p:nvSpPr>
        <p:spPr>
          <a:xfrm>
            <a:off x="2694622" y="2682716"/>
            <a:ext cx="112659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physician pain points</a:t>
            </a:r>
          </a:p>
        </p:txBody>
      </p:sp>
      <p:sp>
        <p:nvSpPr>
          <p:cNvPr id="48" name="TextBox 48"/>
          <p:cNvSpPr txBox="1"/>
          <p:nvPr/>
        </p:nvSpPr>
        <p:spPr>
          <a:xfrm>
            <a:off x="2694622" y="2901791"/>
            <a:ext cx="139062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"What challenges do you</a:t>
            </a:r>
          </a:p>
        </p:txBody>
      </p:sp>
      <p:sp>
        <p:nvSpPr>
          <p:cNvPr id="49" name="TextBox 49"/>
          <p:cNvSpPr txBox="1"/>
          <p:nvPr/>
        </p:nvSpPr>
        <p:spPr>
          <a:xfrm>
            <a:off x="2694622" y="3054191"/>
            <a:ext cx="1203603"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face with VTE cases?"</a:t>
            </a:r>
          </a:p>
        </p:txBody>
      </p:sp>
      <p:sp>
        <p:nvSpPr>
          <p:cNvPr id="50" name="TextBox 50"/>
          <p:cNvSpPr txBox="1"/>
          <p:nvPr/>
        </p:nvSpPr>
        <p:spPr>
          <a:xfrm>
            <a:off x="2694622" y="3225641"/>
            <a:ext cx="1297114"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"How do you currently</a:t>
            </a:r>
          </a:p>
        </p:txBody>
      </p:sp>
      <p:sp>
        <p:nvSpPr>
          <p:cNvPr id="51" name="TextBox 51"/>
          <p:cNvSpPr txBox="1"/>
          <p:nvPr/>
        </p:nvSpPr>
        <p:spPr>
          <a:xfrm>
            <a:off x="2694622" y="3378041"/>
            <a:ext cx="162715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manage post-op prophylaxis?"</a:t>
            </a:r>
          </a:p>
        </p:txBody>
      </p:sp>
      <p:sp>
        <p:nvSpPr>
          <p:cNvPr id="52" name="TextBox 52"/>
          <p:cNvSpPr txBox="1"/>
          <p:nvPr/>
        </p:nvSpPr>
        <p:spPr>
          <a:xfrm>
            <a:off x="2695575" y="3729038"/>
            <a:ext cx="1144191"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"Listen 70%, talk 30%"</a:t>
            </a:r>
          </a:p>
        </p:txBody>
      </p:sp>
      <p:sp>
        <p:nvSpPr>
          <p:cNvPr id="53" name="Rectangle 53"/>
          <p:cNvSpPr/>
          <p:nvPr/>
        </p:nvSpPr>
        <p:spPr>
          <a:xfrm>
            <a:off x="47244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54" name="Rectangle 54"/>
          <p:cNvSpPr/>
          <p:nvPr/>
        </p:nvSpPr>
        <p:spPr>
          <a:xfrm>
            <a:off x="4724400" y="2171700"/>
            <a:ext cx="2057400" cy="38100"/>
          </a:xfrm>
          <a:prstGeom prst="roundRect">
            <a:avLst>
              <a:gd name="adj" fmla="val 50000"/>
            </a:avLst>
          </a:prstGeom>
          <a:solidFill>
            <a:srgbClr val="AE232F"/>
          </a:solidFill>
          <a:ln>
            <a:noFill/>
          </a:ln>
        </p:spPr>
      </p:sp>
      <p:sp>
        <p:nvSpPr>
          <p:cNvPr id="55" name="TextBox 55"/>
          <p:cNvSpPr txBox="1"/>
          <p:nvPr/>
        </p:nvSpPr>
        <p:spPr>
          <a:xfrm>
            <a:off x="5480187" y="2322195"/>
            <a:ext cx="545825"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Activate</a:t>
            </a:r>
          </a:p>
        </p:txBody>
      </p:sp>
      <p:sp>
        <p:nvSpPr>
          <p:cNvPr id="56" name="TextBox 56"/>
          <p:cNvSpPr txBox="1"/>
          <p:nvPr/>
        </p:nvSpPr>
        <p:spPr>
          <a:xfrm>
            <a:off x="4866322" y="2520791"/>
            <a:ext cx="130261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Connect evidence to the</a:t>
            </a:r>
          </a:p>
        </p:txBody>
      </p:sp>
      <p:sp>
        <p:nvSpPr>
          <p:cNvPr id="57" name="TextBox 57"/>
          <p:cNvSpPr txBox="1"/>
          <p:nvPr/>
        </p:nvSpPr>
        <p:spPr>
          <a:xfrm>
            <a:off x="4866322" y="2682716"/>
            <a:ext cx="136862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physician's specific need</a:t>
            </a:r>
          </a:p>
        </p:txBody>
      </p:sp>
      <p:sp>
        <p:nvSpPr>
          <p:cNvPr id="58" name="TextBox 58"/>
          <p:cNvSpPr txBox="1"/>
          <p:nvPr/>
        </p:nvSpPr>
        <p:spPr>
          <a:xfrm>
            <a:off x="4866322" y="2901791"/>
            <a:ext cx="130811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Lead with clinical data</a:t>
            </a:r>
          </a:p>
        </p:txBody>
      </p:sp>
      <p:sp>
        <p:nvSpPr>
          <p:cNvPr id="59" name="TextBox 59"/>
          <p:cNvSpPr txBox="1"/>
          <p:nvPr/>
        </p:nvSpPr>
        <p:spPr>
          <a:xfrm>
            <a:off x="4866322" y="3073241"/>
            <a:ext cx="111559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(ESSENCE / SYNERGY)</a:t>
            </a:r>
          </a:p>
        </p:txBody>
      </p:sp>
      <p:sp>
        <p:nvSpPr>
          <p:cNvPr id="60" name="TextBox 60"/>
          <p:cNvSpPr txBox="1"/>
          <p:nvPr/>
        </p:nvSpPr>
        <p:spPr>
          <a:xfrm>
            <a:off x="4866322" y="3244691"/>
            <a:ext cx="139612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Handle objections calmly</a:t>
            </a:r>
          </a:p>
        </p:txBody>
      </p:sp>
      <p:sp>
        <p:nvSpPr>
          <p:cNvPr id="61" name="TextBox 61"/>
          <p:cNvSpPr txBox="1"/>
          <p:nvPr/>
        </p:nvSpPr>
        <p:spPr>
          <a:xfrm>
            <a:off x="4866322" y="3416141"/>
            <a:ext cx="148413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Use real patient examples</a:t>
            </a:r>
          </a:p>
        </p:txBody>
      </p:sp>
      <p:sp>
        <p:nvSpPr>
          <p:cNvPr id="62" name="TextBox 62"/>
          <p:cNvSpPr txBox="1"/>
          <p:nvPr/>
        </p:nvSpPr>
        <p:spPr>
          <a:xfrm>
            <a:off x="4867275" y="3729038"/>
            <a:ext cx="1254204"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"Science + empathy wins"</a:t>
            </a:r>
          </a:p>
        </p:txBody>
      </p:sp>
      <p:sp>
        <p:nvSpPr>
          <p:cNvPr id="63" name="Rectangle 63"/>
          <p:cNvSpPr/>
          <p:nvPr/>
        </p:nvSpPr>
        <p:spPr>
          <a:xfrm>
            <a:off x="68961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64" name="Rectangle 64"/>
          <p:cNvSpPr/>
          <p:nvPr/>
        </p:nvSpPr>
        <p:spPr>
          <a:xfrm>
            <a:off x="6896100" y="2171700"/>
            <a:ext cx="2057400" cy="38100"/>
          </a:xfrm>
          <a:prstGeom prst="roundRect">
            <a:avLst>
              <a:gd name="adj" fmla="val 50000"/>
            </a:avLst>
          </a:prstGeom>
          <a:solidFill>
            <a:srgbClr val="AE232F"/>
          </a:solidFill>
          <a:ln>
            <a:noFill/>
          </a:ln>
        </p:spPr>
      </p:sp>
      <p:sp>
        <p:nvSpPr>
          <p:cNvPr id="65" name="TextBox 65"/>
          <p:cNvSpPr txBox="1"/>
          <p:nvPr/>
        </p:nvSpPr>
        <p:spPr>
          <a:xfrm>
            <a:off x="7686542" y="2322195"/>
            <a:ext cx="476517"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Project</a:t>
            </a:r>
          </a:p>
        </p:txBody>
      </p:sp>
      <p:sp>
        <p:nvSpPr>
          <p:cNvPr id="66" name="TextBox 66"/>
          <p:cNvSpPr txBox="1"/>
          <p:nvPr/>
        </p:nvSpPr>
        <p:spPr>
          <a:xfrm>
            <a:off x="7038022" y="2520791"/>
            <a:ext cx="1418130"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Paint the patient outcome</a:t>
            </a:r>
          </a:p>
        </p:txBody>
      </p:sp>
      <p:sp>
        <p:nvSpPr>
          <p:cNvPr id="67" name="TextBox 67"/>
          <p:cNvSpPr txBox="1"/>
          <p:nvPr/>
        </p:nvSpPr>
        <p:spPr>
          <a:xfrm>
            <a:off x="7038022" y="2682716"/>
            <a:ext cx="136862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picture for the physician</a:t>
            </a:r>
          </a:p>
        </p:txBody>
      </p:sp>
      <p:sp>
        <p:nvSpPr>
          <p:cNvPr id="68" name="TextBox 68"/>
          <p:cNvSpPr txBox="1"/>
          <p:nvPr/>
        </p:nvSpPr>
        <p:spPr>
          <a:xfrm>
            <a:off x="7038022" y="2901791"/>
            <a:ext cx="163265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"Your DVT patient goes home</a:t>
            </a:r>
          </a:p>
        </p:txBody>
      </p:sp>
      <p:sp>
        <p:nvSpPr>
          <p:cNvPr id="69" name="TextBox 69"/>
          <p:cNvSpPr txBox="1"/>
          <p:nvPr/>
        </p:nvSpPr>
        <p:spPr>
          <a:xfrm>
            <a:off x="7038022" y="3054191"/>
            <a:ext cx="123660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sooner with SC dosing"</a:t>
            </a:r>
          </a:p>
        </p:txBody>
      </p:sp>
      <p:sp>
        <p:nvSpPr>
          <p:cNvPr id="70" name="TextBox 70"/>
          <p:cNvSpPr txBox="1"/>
          <p:nvPr/>
        </p:nvSpPr>
        <p:spPr>
          <a:xfrm>
            <a:off x="7038022" y="3225641"/>
            <a:ext cx="165465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Connect to their clinical goal</a:t>
            </a:r>
          </a:p>
        </p:txBody>
      </p:sp>
      <p:sp>
        <p:nvSpPr>
          <p:cNvPr id="71" name="TextBox 71"/>
          <p:cNvSpPr txBox="1"/>
          <p:nvPr/>
        </p:nvSpPr>
        <p:spPr>
          <a:xfrm>
            <a:off x="7038022" y="3397091"/>
            <a:ext cx="148413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Make the benefit tangible</a:t>
            </a:r>
          </a:p>
        </p:txBody>
      </p:sp>
      <p:sp>
        <p:nvSpPr>
          <p:cNvPr id="72" name="TextBox 72"/>
          <p:cNvSpPr txBox="1"/>
          <p:nvPr/>
        </p:nvSpPr>
        <p:spPr>
          <a:xfrm>
            <a:off x="7038975" y="3729038"/>
            <a:ext cx="1169194"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"Outcome storytelling"</a:t>
            </a:r>
          </a:p>
        </p:txBody>
      </p:sp>
      <p:sp>
        <p:nvSpPr>
          <p:cNvPr id="73" name="Rectangle 73"/>
          <p:cNvSpPr/>
          <p:nvPr/>
        </p:nvSpPr>
        <p:spPr>
          <a:xfrm>
            <a:off x="9067800" y="2171700"/>
            <a:ext cx="27432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74" name="Rectangle 74"/>
          <p:cNvSpPr/>
          <p:nvPr/>
        </p:nvSpPr>
        <p:spPr>
          <a:xfrm>
            <a:off x="9067800" y="2171700"/>
            <a:ext cx="2743200" cy="38100"/>
          </a:xfrm>
          <a:prstGeom prst="roundRect">
            <a:avLst>
              <a:gd name="adj" fmla="val 50000"/>
            </a:avLst>
          </a:prstGeom>
          <a:solidFill>
            <a:srgbClr val="AE232F"/>
          </a:solidFill>
          <a:ln>
            <a:noFill/>
          </a:ln>
        </p:spPr>
      </p:sp>
      <p:sp>
        <p:nvSpPr>
          <p:cNvPr id="75" name="TextBox 75"/>
          <p:cNvSpPr txBox="1"/>
          <p:nvPr/>
        </p:nvSpPr>
        <p:spPr>
          <a:xfrm>
            <a:off x="10169638" y="2322195"/>
            <a:ext cx="539525"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Tie Down</a:t>
            </a:r>
          </a:p>
        </p:txBody>
      </p:sp>
      <p:sp>
        <p:nvSpPr>
          <p:cNvPr id="76" name="TextBox 76"/>
          <p:cNvSpPr txBox="1"/>
          <p:nvPr/>
        </p:nvSpPr>
        <p:spPr>
          <a:xfrm>
            <a:off x="9209722" y="2520791"/>
            <a:ext cx="154464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Secure a concrete next step</a:t>
            </a:r>
          </a:p>
        </p:txBody>
      </p:sp>
      <p:sp>
        <p:nvSpPr>
          <p:cNvPr id="77" name="TextBox 77"/>
          <p:cNvSpPr txBox="1"/>
          <p:nvPr/>
        </p:nvSpPr>
        <p:spPr>
          <a:xfrm>
            <a:off x="9209722" y="2682716"/>
            <a:ext cx="122010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before leaving the call</a:t>
            </a:r>
          </a:p>
        </p:txBody>
      </p:sp>
      <p:sp>
        <p:nvSpPr>
          <p:cNvPr id="78" name="TextBox 78"/>
          <p:cNvSpPr txBox="1"/>
          <p:nvPr/>
        </p:nvSpPr>
        <p:spPr>
          <a:xfrm>
            <a:off x="9209722" y="2901791"/>
            <a:ext cx="1456634"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"Can we trial Clexane for</a:t>
            </a:r>
          </a:p>
        </p:txBody>
      </p:sp>
      <p:sp>
        <p:nvSpPr>
          <p:cNvPr id="79" name="TextBox 79"/>
          <p:cNvSpPr txBox="1"/>
          <p:nvPr/>
        </p:nvSpPr>
        <p:spPr>
          <a:xfrm>
            <a:off x="9209722" y="3054191"/>
            <a:ext cx="142363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your next 3 ortho cases?"</a:t>
            </a:r>
          </a:p>
        </p:txBody>
      </p:sp>
      <p:sp>
        <p:nvSpPr>
          <p:cNvPr id="80" name="TextBox 80"/>
          <p:cNvSpPr txBox="1"/>
          <p:nvPr/>
        </p:nvSpPr>
        <p:spPr>
          <a:xfrm>
            <a:off x="9209722" y="3225641"/>
            <a:ext cx="139062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Schedule follow-up date</a:t>
            </a:r>
          </a:p>
        </p:txBody>
      </p:sp>
      <p:sp>
        <p:nvSpPr>
          <p:cNvPr id="81" name="TextBox 81"/>
          <p:cNvSpPr txBox="1"/>
          <p:nvPr/>
        </p:nvSpPr>
        <p:spPr>
          <a:xfrm>
            <a:off x="9209722" y="3397091"/>
            <a:ext cx="14951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Leave a clinical reference</a:t>
            </a:r>
          </a:p>
        </p:txBody>
      </p:sp>
      <p:sp>
        <p:nvSpPr>
          <p:cNvPr id="82" name="TextBox 82"/>
          <p:cNvSpPr txBox="1"/>
          <p:nvPr/>
        </p:nvSpPr>
        <p:spPr>
          <a:xfrm>
            <a:off x="9210675" y="3729038"/>
            <a:ext cx="1259205"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"Always leave with a yes"</a:t>
            </a:r>
          </a:p>
        </p:txBody>
      </p:sp>
      <p:sp>
        <p:nvSpPr>
          <p:cNvPr id="83" name="Rectangle 83"/>
          <p:cNvSpPr/>
          <p:nvPr/>
        </p:nvSpPr>
        <p:spPr>
          <a:xfrm>
            <a:off x="381000" y="4152900"/>
            <a:ext cx="11430000" cy="819150"/>
          </a:xfrm>
          <a:prstGeom prst="roundRect">
            <a:avLst>
              <a:gd name="adj" fmla="val 9302"/>
            </a:avLst>
          </a:prstGeom>
          <a:solidFill>
            <a:srgbClr val="AE232F"/>
          </a:solidFill>
          <a:ln>
            <a:noFill/>
          </a:ln>
          <a:effectLst>
            <a:outerShdw blurRad="76200" dist="19050" dir="5400000" algn="ctr" rotWithShape="0">
              <a:srgbClr val="000000">
                <a:alpha val="5250"/>
              </a:srgbClr>
            </a:outerShdw>
          </a:effectLst>
        </p:spPr>
      </p:sp>
      <p:sp>
        <p:nvSpPr>
          <p:cNvPr id="84" name="Rectangle 84"/>
          <p:cNvSpPr/>
          <p:nvPr/>
        </p:nvSpPr>
        <p:spPr>
          <a:xfrm>
            <a:off x="381000" y="4152900"/>
            <a:ext cx="57150" cy="819150"/>
          </a:xfrm>
          <a:prstGeom prst="roundRect">
            <a:avLst>
              <a:gd name="adj" fmla="val 50000"/>
            </a:avLst>
          </a:prstGeom>
          <a:solidFill>
            <a:srgbClr val="8A1B25"/>
          </a:solidFill>
          <a:ln>
            <a:noFill/>
          </a:ln>
        </p:spPr>
      </p:sp>
      <p:sp>
        <p:nvSpPr>
          <p:cNvPr id="85" name="TextBox 85"/>
          <p:cNvSpPr txBox="1"/>
          <p:nvPr/>
        </p:nvSpPr>
        <p:spPr>
          <a:xfrm>
            <a:off x="634365" y="4287202"/>
            <a:ext cx="2900879"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Core Principle: Physician-First Detailing</a:t>
            </a:r>
          </a:p>
        </p:txBody>
      </p:sp>
      <p:sp>
        <p:nvSpPr>
          <p:cNvPr id="86" name="TextBox 86"/>
          <p:cNvSpPr txBox="1"/>
          <p:nvPr/>
        </p:nvSpPr>
        <p:spPr>
          <a:xfrm>
            <a:off x="635318" y="4514374"/>
            <a:ext cx="7611213"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Every ADAPT call starts with the physician's clinical reality — not with my product's features. I use Clexane's evidence</a:t>
            </a:r>
          </a:p>
        </p:txBody>
      </p:sp>
      <p:sp>
        <p:nvSpPr>
          <p:cNvPr id="87" name="TextBox 87"/>
          <p:cNvSpPr txBox="1"/>
          <p:nvPr/>
        </p:nvSpPr>
        <p:spPr>
          <a:xfrm>
            <a:off x="635318" y="4685824"/>
            <a:ext cx="7708725"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to solve a problem the physician already has. This approach was validated during my Roche internship: physicians respond</a:t>
            </a:r>
          </a:p>
        </p:txBody>
      </p:sp>
      <p:sp>
        <p:nvSpPr>
          <p:cNvPr id="88" name="TextBox 88"/>
          <p:cNvSpPr txBox="1"/>
          <p:nvPr/>
        </p:nvSpPr>
        <p:spPr>
          <a:xfrm>
            <a:off x="635318" y="4857274"/>
            <a:ext cx="2729103"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to insight and empathy, not feature lists.</a:t>
            </a:r>
          </a:p>
        </p:txBody>
      </p:sp>
      <p:sp>
        <p:nvSpPr>
          <p:cNvPr id="89" name="Rectangle 89"/>
          <p:cNvSpPr/>
          <p:nvPr/>
        </p:nvSpPr>
        <p:spPr>
          <a:xfrm>
            <a:off x="381000" y="5143500"/>
            <a:ext cx="11430000" cy="1009650"/>
          </a:xfrm>
          <a:prstGeom prst="roundRect">
            <a:avLst>
              <a:gd name="adj" fmla="val 7547"/>
            </a:avLst>
          </a:prstGeom>
          <a:solidFill>
            <a:srgbClr val="F5F5F5"/>
          </a:solidFill>
          <a:ln>
            <a:noFill/>
          </a:ln>
        </p:spPr>
      </p:sp>
      <p:sp>
        <p:nvSpPr>
          <p:cNvPr id="90" name="Rectangle 90"/>
          <p:cNvSpPr/>
          <p:nvPr/>
        </p:nvSpPr>
        <p:spPr>
          <a:xfrm>
            <a:off x="381000" y="5143500"/>
            <a:ext cx="38100" cy="1009650"/>
          </a:xfrm>
          <a:prstGeom prst="roundRect">
            <a:avLst>
              <a:gd name="adj" fmla="val 50000"/>
            </a:avLst>
          </a:prstGeom>
          <a:solidFill>
            <a:srgbClr val="AE232F"/>
          </a:solidFill>
          <a:ln>
            <a:noFill/>
          </a:ln>
        </p:spPr>
      </p:sp>
      <p:sp>
        <p:nvSpPr>
          <p:cNvPr id="91" name="TextBox 91"/>
          <p:cNvSpPr txBox="1"/>
          <p:nvPr/>
        </p:nvSpPr>
        <p:spPr>
          <a:xfrm>
            <a:off x="540068" y="5247799"/>
            <a:ext cx="4366008"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Real Example from Roche Internship (Adapted to Clexane Context)</a:t>
            </a:r>
          </a:p>
        </p:txBody>
      </p:sp>
      <p:sp>
        <p:nvSpPr>
          <p:cNvPr id="92" name="TextBox 92"/>
          <p:cNvSpPr txBox="1"/>
          <p:nvPr/>
        </p:nvSpPr>
        <p:spPr>
          <a:xfrm>
            <a:off x="541020" y="5446395"/>
            <a:ext cx="829789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A — Reviewed cardiologist at Bhumibol: high ACS volume, preferred UFH for cost. D — Asked: "Any monitoring burden concerns with UFH drips?"</a:t>
            </a:r>
          </a:p>
        </p:txBody>
      </p:sp>
      <p:sp>
        <p:nvSpPr>
          <p:cNvPr id="93" name="TextBox 93"/>
          <p:cNvSpPr txBox="1"/>
          <p:nvPr/>
        </p:nvSpPr>
        <p:spPr>
          <a:xfrm>
            <a:off x="541020" y="5617845"/>
            <a:ext cx="793184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A — Presented ESSENCE data: Clexane reduced recurrent ischemia 20% vs UFH. P — "Your team saves 2 aPTT checks per patient per day."</a:t>
            </a:r>
          </a:p>
        </p:txBody>
      </p:sp>
      <p:sp>
        <p:nvSpPr>
          <p:cNvPr id="94" name="TextBox 94"/>
          <p:cNvSpPr txBox="1"/>
          <p:nvPr/>
        </p:nvSpPr>
        <p:spPr>
          <a:xfrm>
            <a:off x="541020" y="5789295"/>
            <a:ext cx="695372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T — "Would you try Clexane on your next 5 UA patients and compare workload?" — Physician agreed to a pilot evaluation.</a:t>
            </a:r>
          </a:p>
        </p:txBody>
      </p:sp>
      <p:sp>
        <p:nvSpPr>
          <p:cNvPr id="95" name="TextBox 95"/>
          <p:cNvSpPr txBox="1"/>
          <p:nvPr/>
        </p:nvSpPr>
        <p:spPr>
          <a:xfrm>
            <a:off x="541020" y="5960745"/>
            <a:ext cx="454914" cy="182880"/>
          </a:xfrm>
          <a:prstGeom prst="rect">
            <a:avLst/>
          </a:prstGeom>
          <a:noFill/>
          <a:ln>
            <a:noFill/>
          </a:ln>
        </p:spPr>
        <p:txBody>
          <a:bodyPr wrap="none" lIns="0" tIns="0" rIns="0" bIns="0" anchor="t" anchorCtr="0">
            <a:spAutoFit/>
          </a:bodyPr>
          <a:lstStyle/>
          <a:p>
            <a:pPr algn="l"/>
            <a:r>
              <a:rPr lang="zh-CN" sz="900" dirty="0">
                <a:solidFill>
                  <a:srgbClr val="1A1A1A"/>
                </a:solidFill>
                <a:latin typeface="Arial"/>
                <a:ea typeface="Microsoft YaHei"/>
                <a:cs typeface="Arial"/>
              </a:rPr>
              <a:t>Result:</a:t>
            </a:r>
          </a:p>
        </p:txBody>
      </p:sp>
      <p:sp>
        <p:nvSpPr>
          <p:cNvPr id="96" name="TextBox 96"/>
          <p:cNvSpPr txBox="1"/>
          <p:nvPr/>
        </p:nvSpPr>
        <p:spPr>
          <a:xfrm>
            <a:off x="1017270" y="5960745"/>
            <a:ext cx="3242562" cy="182880"/>
          </a:xfrm>
          <a:prstGeom prst="rect">
            <a:avLst/>
          </a:prstGeom>
          <a:noFill/>
          <a:ln>
            <a:noFill/>
          </a:ln>
        </p:spPr>
        <p:txBody>
          <a:bodyPr wrap="none" lIns="0" tIns="0" rIns="0" bIns="0" anchor="t" anchorCtr="0">
            <a:spAutoFit/>
          </a:bodyPr>
          <a:lstStyle/>
          <a:p>
            <a:pPr algn="l"/>
            <a:r>
              <a:rPr lang="zh-CN" sz="900" b="1" dirty="0">
                <a:solidFill>
                  <a:srgbClr val="AE232F"/>
                </a:solidFill>
                <a:latin typeface="Arial"/>
                <a:ea typeface="Microsoft YaHei"/>
                <a:cs typeface="Arial"/>
              </a:rPr>
              <a:t>Pilot agreed in one call — ADAPT framework in action.</a:t>
            </a:r>
          </a:p>
        </p:txBody>
      </p:sp>
      <p:grpSp>
        <p:nvGrpSpPr>
          <p:cNvPr id="99" name="Group 99"/>
          <p:cNvGrpSpPr/>
          <p:nvPr/>
        </p:nvGrpSpPr>
        <p:grpSpPr>
          <a:xfrm>
            <a:off x="0" y="6496050"/>
            <a:ext cx="12192000" cy="361950"/>
            <a:chOff x="0" y="6496050"/>
            <a:chExt cx="12192000" cy="361950"/>
          </a:xfrm>
        </p:grpSpPr>
        <p:sp>
          <p:nvSpPr>
            <p:cNvPr id="97" name="Rectangle 97"/>
            <p:cNvSpPr/>
            <p:nvPr/>
          </p:nvSpPr>
          <p:spPr>
            <a:xfrm>
              <a:off x="0" y="6496050"/>
              <a:ext cx="12192000" cy="361950"/>
            </a:xfrm>
            <a:prstGeom prst="rect">
              <a:avLst/>
            </a:prstGeom>
            <a:solidFill>
              <a:srgbClr val="AE232F"/>
            </a:solidFill>
            <a:ln>
              <a:noFill/>
            </a:ln>
          </p:spPr>
        </p:sp>
        <p:sp>
          <p:nvSpPr>
            <p:cNvPr id="98" name="TextBox 98"/>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05</a:t>
            </a:r>
          </a:p>
        </p:txBody>
      </p:sp>
      <p:sp>
        <p:nvSpPr>
          <p:cNvPr id="6" name="TextBox 6"/>
          <p:cNvSpPr txBox="1"/>
          <p:nvPr/>
        </p:nvSpPr>
        <p:spPr>
          <a:xfrm>
            <a:off x="718185" y="208598"/>
            <a:ext cx="4185997"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Strengths &amp; Development Areas</a:t>
            </a:r>
          </a:p>
        </p:txBody>
      </p:sp>
      <p:sp>
        <p:nvSpPr>
          <p:cNvPr id="7" name="TextBox 7"/>
          <p:cNvSpPr txBox="1"/>
          <p:nvPr/>
        </p:nvSpPr>
        <p:spPr>
          <a:xfrm>
            <a:off x="730568" y="504349"/>
            <a:ext cx="3281672"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Self-aware. Growth-oriented. Ready for Clexane®.</a:t>
            </a:r>
          </a:p>
        </p:txBody>
      </p:sp>
      <p:sp>
        <p:nvSpPr>
          <p:cNvPr id="8" name="Rectangle 8"/>
          <p:cNvSpPr/>
          <p:nvPr/>
        </p:nvSpPr>
        <p:spPr>
          <a:xfrm>
            <a:off x="342900" y="914400"/>
            <a:ext cx="5600700" cy="4667250"/>
          </a:xfrm>
          <a:prstGeom prst="roundRect">
            <a:avLst>
              <a:gd name="adj" fmla="val 204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9" name="Rectangle 9"/>
          <p:cNvSpPr/>
          <p:nvPr/>
        </p:nvSpPr>
        <p:spPr>
          <a:xfrm>
            <a:off x="342900" y="914400"/>
            <a:ext cx="5600700" cy="495300"/>
          </a:xfrm>
          <a:prstGeom prst="roundRect">
            <a:avLst>
              <a:gd name="adj" fmla="val 19231"/>
            </a:avLst>
          </a:prstGeom>
          <a:solidFill>
            <a:srgbClr val="AE232F"/>
          </a:solidFill>
          <a:ln>
            <a:noFill/>
          </a:ln>
        </p:spPr>
      </p:sp>
      <p:sp>
        <p:nvSpPr>
          <p:cNvPr id="10" name="Rectangle 10"/>
          <p:cNvSpPr/>
          <p:nvPr/>
        </p:nvSpPr>
        <p:spPr>
          <a:xfrm>
            <a:off x="342900" y="1219200"/>
            <a:ext cx="5600700" cy="190500"/>
          </a:xfrm>
          <a:prstGeom prst="rect">
            <a:avLst/>
          </a:prstGeom>
          <a:solidFill>
            <a:srgbClr val="AE232F"/>
          </a:solidFill>
          <a:ln>
            <a:noFill/>
          </a:ln>
        </p:spPr>
      </p:sp>
      <p:grpSp>
        <p:nvGrpSpPr>
          <p:cNvPr id="14" name="Group 14"/>
          <p:cNvGrpSpPr/>
          <p:nvPr/>
        </p:nvGrpSpPr>
        <p:grpSpPr>
          <a:xfrm>
            <a:off x="559509" y="1050925"/>
            <a:ext cx="214369" cy="221453"/>
            <a:chOff x="559509" y="1050925"/>
            <a:chExt cx="214369" cy="221453"/>
          </a:xfrm>
        </p:grpSpPr>
        <p:sp>
          <p:nvSpPr>
            <p:cNvPr id="11" name="Freeform 11"/>
            <p:cNvSpPr/>
            <p:nvPr/>
          </p:nvSpPr>
          <p:spPr>
            <a:xfrm>
              <a:off x="673040" y="1184086"/>
              <a:ext cx="100838" cy="88292"/>
            </a:xfrm>
            <a:custGeom>
              <a:avLst/>
              <a:gdLst/>
              <a:ahLst/>
              <a:cxnLst/>
              <a:rect l="l" t="t" r="r" b="b"/>
              <a:pathLst>
                <a:path w="100838" h="88292">
                  <a:moveTo>
                    <a:pt x="77010" y="0"/>
                  </a:moveTo>
                  <a:lnTo>
                    <a:pt x="98857" y="37849"/>
                  </a:lnTo>
                  <a:cubicBezTo>
                    <a:pt x="100682" y="41013"/>
                    <a:pt x="100838" y="44870"/>
                    <a:pt x="99274" y="48170"/>
                  </a:cubicBezTo>
                  <a:cubicBezTo>
                    <a:pt x="97710" y="51471"/>
                    <a:pt x="94626" y="53793"/>
                    <a:pt x="91022" y="54385"/>
                  </a:cubicBezTo>
                  <a:lnTo>
                    <a:pt x="89767" y="54507"/>
                  </a:lnTo>
                  <a:lnTo>
                    <a:pt x="88522" y="54496"/>
                  </a:lnTo>
                  <a:lnTo>
                    <a:pt x="55929" y="52384"/>
                  </a:lnTo>
                  <a:lnTo>
                    <a:pt x="41450" y="81677"/>
                  </a:lnTo>
                  <a:cubicBezTo>
                    <a:pt x="39855" y="84895"/>
                    <a:pt x="36804" y="87145"/>
                    <a:pt x="33258" y="87718"/>
                  </a:cubicBezTo>
                  <a:cubicBezTo>
                    <a:pt x="29713" y="88292"/>
                    <a:pt x="26109" y="87118"/>
                    <a:pt x="23581" y="84566"/>
                  </a:cubicBezTo>
                  <a:lnTo>
                    <a:pt x="22669" y="83522"/>
                  </a:lnTo>
                  <a:lnTo>
                    <a:pt x="21869" y="82299"/>
                  </a:lnTo>
                  <a:lnTo>
                    <a:pt x="0" y="44439"/>
                  </a:lnTo>
                  <a:cubicBezTo>
                    <a:pt x="31208" y="42488"/>
                    <a:pt x="59705" y="26044"/>
                    <a:pt x="77010" y="0"/>
                  </a:cubicBezTo>
                  <a:close/>
                </a:path>
              </a:pathLst>
            </a:custGeom>
            <a:solidFill>
              <a:srgbClr val="FFFFFF"/>
            </a:solidFill>
            <a:ln>
              <a:noFill/>
            </a:ln>
          </p:spPr>
        </p:sp>
        <p:sp>
          <p:nvSpPr>
            <p:cNvPr id="12" name="Freeform 12"/>
            <p:cNvSpPr/>
            <p:nvPr/>
          </p:nvSpPr>
          <p:spPr>
            <a:xfrm>
              <a:off x="559509" y="1184075"/>
              <a:ext cx="100907" cy="88180"/>
            </a:xfrm>
            <a:custGeom>
              <a:avLst/>
              <a:gdLst/>
              <a:ahLst/>
              <a:cxnLst/>
              <a:rect l="l" t="t" r="r" b="b"/>
              <a:pathLst>
                <a:path w="100907" h="88180">
                  <a:moveTo>
                    <a:pt x="100907" y="44450"/>
                  </a:moveTo>
                  <a:lnTo>
                    <a:pt x="79060" y="82321"/>
                  </a:lnTo>
                  <a:cubicBezTo>
                    <a:pt x="77264" y="85434"/>
                    <a:pt x="74074" y="87488"/>
                    <a:pt x="70497" y="87834"/>
                  </a:cubicBezTo>
                  <a:cubicBezTo>
                    <a:pt x="66919" y="88180"/>
                    <a:pt x="63395" y="86777"/>
                    <a:pt x="61035" y="84066"/>
                  </a:cubicBezTo>
                  <a:lnTo>
                    <a:pt x="60191" y="82955"/>
                  </a:lnTo>
                  <a:lnTo>
                    <a:pt x="59480" y="81688"/>
                  </a:lnTo>
                  <a:lnTo>
                    <a:pt x="44989" y="52407"/>
                  </a:lnTo>
                  <a:lnTo>
                    <a:pt x="12418" y="54518"/>
                  </a:lnTo>
                  <a:cubicBezTo>
                    <a:pt x="8776" y="54752"/>
                    <a:pt x="5251" y="53185"/>
                    <a:pt x="2985" y="50325"/>
                  </a:cubicBezTo>
                  <a:cubicBezTo>
                    <a:pt x="719" y="47464"/>
                    <a:pt x="0" y="43674"/>
                    <a:pt x="1061" y="40183"/>
                  </a:cubicBezTo>
                  <a:lnTo>
                    <a:pt x="1506" y="38994"/>
                  </a:lnTo>
                  <a:lnTo>
                    <a:pt x="2061" y="37883"/>
                  </a:lnTo>
                  <a:lnTo>
                    <a:pt x="23931" y="0"/>
                  </a:lnTo>
                  <a:cubicBezTo>
                    <a:pt x="41224" y="26043"/>
                    <a:pt x="69707" y="42495"/>
                    <a:pt x="100907" y="44461"/>
                  </a:cubicBezTo>
                  <a:close/>
                </a:path>
              </a:pathLst>
            </a:custGeom>
            <a:solidFill>
              <a:srgbClr val="FFFFFF"/>
            </a:solidFill>
            <a:ln>
              <a:noFill/>
            </a:ln>
          </p:spPr>
        </p:sp>
        <p:sp>
          <p:nvSpPr>
            <p:cNvPr id="13" name="Freeform 13"/>
            <p:cNvSpPr/>
            <p:nvPr/>
          </p:nvSpPr>
          <p:spPr>
            <a:xfrm>
              <a:off x="588962" y="1050925"/>
              <a:ext cx="155576" cy="155642"/>
            </a:xfrm>
            <a:custGeom>
              <a:avLst/>
              <a:gdLst/>
              <a:ahLst/>
              <a:cxnLst/>
              <a:rect l="l" t="t" r="r" b="b"/>
              <a:pathLst>
                <a:path w="155576" h="155642">
                  <a:moveTo>
                    <a:pt x="77788" y="0"/>
                  </a:moveTo>
                  <a:lnTo>
                    <a:pt x="80455" y="44"/>
                  </a:lnTo>
                  <a:cubicBezTo>
                    <a:pt x="122354" y="1482"/>
                    <a:pt x="155576" y="35864"/>
                    <a:pt x="155576" y="77788"/>
                  </a:cubicBezTo>
                  <a:lnTo>
                    <a:pt x="155542" y="79932"/>
                  </a:lnTo>
                  <a:lnTo>
                    <a:pt x="155465" y="82066"/>
                  </a:lnTo>
                  <a:lnTo>
                    <a:pt x="155265" y="84788"/>
                  </a:lnTo>
                  <a:lnTo>
                    <a:pt x="154976" y="87478"/>
                  </a:lnTo>
                  <a:lnTo>
                    <a:pt x="154709" y="89456"/>
                  </a:lnTo>
                  <a:cubicBezTo>
                    <a:pt x="153978" y="94252"/>
                    <a:pt x="152798" y="98970"/>
                    <a:pt x="151186" y="103546"/>
                  </a:cubicBezTo>
                  <a:lnTo>
                    <a:pt x="149897" y="106969"/>
                  </a:lnTo>
                  <a:lnTo>
                    <a:pt x="148197" y="110836"/>
                  </a:lnTo>
                  <a:cubicBezTo>
                    <a:pt x="135353" y="138196"/>
                    <a:pt x="107825" y="155642"/>
                    <a:pt x="77600" y="155575"/>
                  </a:cubicBezTo>
                  <a:cubicBezTo>
                    <a:pt x="47375" y="155508"/>
                    <a:pt x="19924" y="137942"/>
                    <a:pt x="7202" y="110525"/>
                  </a:cubicBezTo>
                  <a:lnTo>
                    <a:pt x="5757" y="107225"/>
                  </a:lnTo>
                  <a:lnTo>
                    <a:pt x="5179" y="105747"/>
                  </a:lnTo>
                  <a:lnTo>
                    <a:pt x="4290" y="103335"/>
                  </a:lnTo>
                  <a:lnTo>
                    <a:pt x="3234" y="100068"/>
                  </a:lnTo>
                  <a:cubicBezTo>
                    <a:pt x="2857" y="98803"/>
                    <a:pt x="2513" y="97528"/>
                    <a:pt x="2201" y="96245"/>
                  </a:cubicBezTo>
                  <a:lnTo>
                    <a:pt x="1534" y="93234"/>
                  </a:lnTo>
                  <a:lnTo>
                    <a:pt x="990" y="90222"/>
                  </a:lnTo>
                  <a:lnTo>
                    <a:pt x="767" y="88678"/>
                  </a:lnTo>
                  <a:lnTo>
                    <a:pt x="334" y="85088"/>
                  </a:lnTo>
                  <a:lnTo>
                    <a:pt x="67" y="81032"/>
                  </a:lnTo>
                  <a:lnTo>
                    <a:pt x="1" y="77788"/>
                  </a:lnTo>
                  <a:cubicBezTo>
                    <a:pt x="0" y="35864"/>
                    <a:pt x="33223" y="1482"/>
                    <a:pt x="75121" y="44"/>
                  </a:cubicBezTo>
                  <a:lnTo>
                    <a:pt x="77788" y="0"/>
                  </a:lnTo>
                  <a:close/>
                </a:path>
              </a:pathLst>
            </a:custGeom>
            <a:solidFill>
              <a:srgbClr val="FFFFFF"/>
            </a:solidFill>
            <a:ln>
              <a:noFill/>
            </a:ln>
          </p:spPr>
        </p:sp>
      </p:grpSp>
      <p:sp>
        <p:nvSpPr>
          <p:cNvPr id="15" name="TextBox 15"/>
          <p:cNvSpPr txBox="1"/>
          <p:nvPr/>
        </p:nvSpPr>
        <p:spPr>
          <a:xfrm>
            <a:off x="2780465" y="1081564"/>
            <a:ext cx="916070"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Strengths</a:t>
            </a:r>
          </a:p>
        </p:txBody>
      </p:sp>
      <p:sp>
        <p:nvSpPr>
          <p:cNvPr id="16" name="Rectangle 16"/>
          <p:cNvSpPr/>
          <p:nvPr/>
        </p:nvSpPr>
        <p:spPr>
          <a:xfrm>
            <a:off x="533400" y="1600200"/>
            <a:ext cx="5219700" cy="914400"/>
          </a:xfrm>
          <a:prstGeom prst="roundRect">
            <a:avLst>
              <a:gd name="adj" fmla="val 8333"/>
            </a:avLst>
          </a:prstGeom>
          <a:solidFill>
            <a:srgbClr val="F9E5E7"/>
          </a:solidFill>
          <a:ln>
            <a:noFill/>
          </a:ln>
        </p:spPr>
      </p:sp>
      <p:sp>
        <p:nvSpPr>
          <p:cNvPr id="17" name="Rectangle 17"/>
          <p:cNvSpPr/>
          <p:nvPr/>
        </p:nvSpPr>
        <p:spPr>
          <a:xfrm>
            <a:off x="533400" y="1600200"/>
            <a:ext cx="38100" cy="914400"/>
          </a:xfrm>
          <a:prstGeom prst="roundRect">
            <a:avLst>
              <a:gd name="adj" fmla="val 50000"/>
            </a:avLst>
          </a:prstGeom>
          <a:solidFill>
            <a:srgbClr val="AE232F"/>
          </a:solidFill>
          <a:ln>
            <a:noFill/>
          </a:ln>
        </p:spPr>
      </p:sp>
      <p:sp>
        <p:nvSpPr>
          <p:cNvPr id="18" name="Ellipse 18"/>
          <p:cNvSpPr/>
          <p:nvPr/>
        </p:nvSpPr>
        <p:spPr>
          <a:xfrm>
            <a:off x="628650" y="1676400"/>
            <a:ext cx="342900" cy="342900"/>
          </a:xfrm>
          <a:prstGeom prst="ellipse">
            <a:avLst/>
          </a:prstGeom>
          <a:solidFill>
            <a:srgbClr val="AE232F"/>
          </a:solidFill>
          <a:ln>
            <a:noFill/>
          </a:ln>
        </p:spPr>
      </p:sp>
      <p:sp>
        <p:nvSpPr>
          <p:cNvPr id="19" name="TextBox 19"/>
          <p:cNvSpPr txBox="1"/>
          <p:nvPr/>
        </p:nvSpPr>
        <p:spPr>
          <a:xfrm>
            <a:off x="746335" y="17821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1</a:t>
            </a:r>
          </a:p>
        </p:txBody>
      </p:sp>
      <p:sp>
        <p:nvSpPr>
          <p:cNvPr id="20" name="TextBox 20"/>
          <p:cNvSpPr txBox="1"/>
          <p:nvPr/>
        </p:nvSpPr>
        <p:spPr>
          <a:xfrm>
            <a:off x="1034415" y="1734502"/>
            <a:ext cx="1930558" cy="213360"/>
          </a:xfrm>
          <a:prstGeom prst="rect">
            <a:avLst/>
          </a:prstGeom>
          <a:noFill/>
          <a:ln>
            <a:noFill/>
          </a:ln>
        </p:spPr>
        <p:txBody>
          <a:bodyPr wrap="none" lIns="0" tIns="0" rIns="0" bIns="0" anchor="t" anchorCtr="0">
            <a:spAutoFit/>
          </a:bodyPr>
          <a:lstStyle/>
          <a:p>
            <a:pPr algn="l"/>
            <a:r>
              <a:rPr lang="zh-CN" sz="1050" b="1" dirty="0">
                <a:solidFill>
                  <a:srgbClr val="AE232F"/>
                </a:solidFill>
                <a:latin typeface="Arial"/>
                <a:ea typeface="Microsoft YaHei"/>
                <a:cs typeface="Arial"/>
              </a:rPr>
              <a:t>Pharma Science Foundation</a:t>
            </a:r>
          </a:p>
        </p:txBody>
      </p:sp>
      <p:sp>
        <p:nvSpPr>
          <p:cNvPr id="21" name="TextBox 21"/>
          <p:cNvSpPr txBox="1"/>
          <p:nvPr/>
        </p:nvSpPr>
        <p:spPr>
          <a:xfrm>
            <a:off x="1036320" y="1922145"/>
            <a:ext cx="3359277"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Pharm.D. GPA 3.50 — deep grasp of drug mechanisms, PK,</a:t>
            </a:r>
          </a:p>
        </p:txBody>
      </p:sp>
      <p:sp>
        <p:nvSpPr>
          <p:cNvPr id="22" name="TextBox 22"/>
          <p:cNvSpPr txBox="1"/>
          <p:nvPr/>
        </p:nvSpPr>
        <p:spPr>
          <a:xfrm>
            <a:off x="1036320" y="2074545"/>
            <a:ext cx="340728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and clinical evidence. I can discuss Clexane's anti-Xa data</a:t>
            </a:r>
          </a:p>
        </p:txBody>
      </p:sp>
      <p:sp>
        <p:nvSpPr>
          <p:cNvPr id="23" name="TextBox 23"/>
          <p:cNvSpPr txBox="1"/>
          <p:nvPr/>
        </p:nvSpPr>
        <p:spPr>
          <a:xfrm>
            <a:off x="1036320" y="2226945"/>
            <a:ext cx="274720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credibly with cardiologists and hematologists.</a:t>
            </a:r>
          </a:p>
        </p:txBody>
      </p:sp>
      <p:sp>
        <p:nvSpPr>
          <p:cNvPr id="24" name="Rectangle 24"/>
          <p:cNvSpPr/>
          <p:nvPr/>
        </p:nvSpPr>
        <p:spPr>
          <a:xfrm>
            <a:off x="533400" y="2667000"/>
            <a:ext cx="5219700" cy="914400"/>
          </a:xfrm>
          <a:prstGeom prst="roundRect">
            <a:avLst>
              <a:gd name="adj" fmla="val 8333"/>
            </a:avLst>
          </a:prstGeom>
          <a:solidFill>
            <a:srgbClr val="F9E5E7"/>
          </a:solidFill>
          <a:ln>
            <a:noFill/>
          </a:ln>
        </p:spPr>
      </p:sp>
      <p:sp>
        <p:nvSpPr>
          <p:cNvPr id="25" name="Rectangle 25"/>
          <p:cNvSpPr/>
          <p:nvPr/>
        </p:nvSpPr>
        <p:spPr>
          <a:xfrm>
            <a:off x="533400" y="2667000"/>
            <a:ext cx="38100" cy="914400"/>
          </a:xfrm>
          <a:prstGeom prst="roundRect">
            <a:avLst>
              <a:gd name="adj" fmla="val 50000"/>
            </a:avLst>
          </a:prstGeom>
          <a:solidFill>
            <a:srgbClr val="AE232F"/>
          </a:solidFill>
          <a:ln>
            <a:noFill/>
          </a:ln>
        </p:spPr>
      </p:sp>
      <p:sp>
        <p:nvSpPr>
          <p:cNvPr id="26" name="Ellipse 26"/>
          <p:cNvSpPr/>
          <p:nvPr/>
        </p:nvSpPr>
        <p:spPr>
          <a:xfrm>
            <a:off x="628650" y="2743200"/>
            <a:ext cx="342900" cy="342900"/>
          </a:xfrm>
          <a:prstGeom prst="ellipse">
            <a:avLst/>
          </a:prstGeom>
          <a:solidFill>
            <a:srgbClr val="AE232F"/>
          </a:solidFill>
          <a:ln>
            <a:noFill/>
          </a:ln>
        </p:spPr>
      </p:sp>
      <p:sp>
        <p:nvSpPr>
          <p:cNvPr id="27" name="TextBox 27"/>
          <p:cNvSpPr txBox="1"/>
          <p:nvPr/>
        </p:nvSpPr>
        <p:spPr>
          <a:xfrm>
            <a:off x="746335" y="28489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2</a:t>
            </a:r>
          </a:p>
        </p:txBody>
      </p:sp>
      <p:sp>
        <p:nvSpPr>
          <p:cNvPr id="28" name="TextBox 28"/>
          <p:cNvSpPr txBox="1"/>
          <p:nvPr/>
        </p:nvSpPr>
        <p:spPr>
          <a:xfrm>
            <a:off x="1034415" y="2801302"/>
            <a:ext cx="1739434" cy="213360"/>
          </a:xfrm>
          <a:prstGeom prst="rect">
            <a:avLst/>
          </a:prstGeom>
          <a:noFill/>
          <a:ln>
            <a:noFill/>
          </a:ln>
        </p:spPr>
        <p:txBody>
          <a:bodyPr wrap="none" lIns="0" tIns="0" rIns="0" bIns="0" anchor="t" anchorCtr="0">
            <a:spAutoFit/>
          </a:bodyPr>
          <a:lstStyle/>
          <a:p>
            <a:pPr algn="l"/>
            <a:r>
              <a:rPr lang="zh-CN" sz="1050" b="1" dirty="0">
                <a:solidFill>
                  <a:srgbClr val="AE232F"/>
                </a:solidFill>
                <a:latin typeface="Arial"/>
                <a:ea typeface="Microsoft YaHei"/>
                <a:cs typeface="Arial"/>
              </a:rPr>
              <a:t>Real Field MR Experience</a:t>
            </a:r>
          </a:p>
        </p:txBody>
      </p:sp>
      <p:sp>
        <p:nvSpPr>
          <p:cNvPr id="29" name="TextBox 29"/>
          <p:cNvSpPr txBox="1"/>
          <p:nvPr/>
        </p:nvSpPr>
        <p:spPr>
          <a:xfrm>
            <a:off x="1036320" y="2988945"/>
            <a:ext cx="328726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Solo physician visits at Ramathibodi, Bhumibol, and EENT</a:t>
            </a:r>
          </a:p>
        </p:txBody>
      </p:sp>
      <p:sp>
        <p:nvSpPr>
          <p:cNvPr id="30" name="TextBox 30"/>
          <p:cNvSpPr txBox="1"/>
          <p:nvPr/>
        </p:nvSpPr>
        <p:spPr>
          <a:xfrm>
            <a:off x="1036320" y="3141345"/>
            <a:ext cx="359330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Hospital during Roche internship — independently managed call</a:t>
            </a:r>
          </a:p>
        </p:txBody>
      </p:sp>
      <p:sp>
        <p:nvSpPr>
          <p:cNvPr id="31" name="TextBox 31"/>
          <p:cNvSpPr txBox="1"/>
          <p:nvPr/>
        </p:nvSpPr>
        <p:spPr>
          <a:xfrm>
            <a:off x="1036320" y="3293745"/>
            <a:ext cx="374932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cycles and handled physician objections in real clinical settings.</a:t>
            </a:r>
          </a:p>
        </p:txBody>
      </p:sp>
      <p:sp>
        <p:nvSpPr>
          <p:cNvPr id="32" name="Rectangle 32"/>
          <p:cNvSpPr/>
          <p:nvPr/>
        </p:nvSpPr>
        <p:spPr>
          <a:xfrm>
            <a:off x="533400" y="3733800"/>
            <a:ext cx="5219700" cy="914400"/>
          </a:xfrm>
          <a:prstGeom prst="roundRect">
            <a:avLst>
              <a:gd name="adj" fmla="val 8333"/>
            </a:avLst>
          </a:prstGeom>
          <a:solidFill>
            <a:srgbClr val="F9E5E7"/>
          </a:solidFill>
          <a:ln>
            <a:noFill/>
          </a:ln>
        </p:spPr>
      </p:sp>
      <p:sp>
        <p:nvSpPr>
          <p:cNvPr id="33" name="Rectangle 33"/>
          <p:cNvSpPr/>
          <p:nvPr/>
        </p:nvSpPr>
        <p:spPr>
          <a:xfrm>
            <a:off x="533400" y="3733800"/>
            <a:ext cx="38100" cy="914400"/>
          </a:xfrm>
          <a:prstGeom prst="roundRect">
            <a:avLst>
              <a:gd name="adj" fmla="val 50000"/>
            </a:avLst>
          </a:prstGeom>
          <a:solidFill>
            <a:srgbClr val="AE232F"/>
          </a:solidFill>
          <a:ln>
            <a:noFill/>
          </a:ln>
        </p:spPr>
      </p:sp>
      <p:sp>
        <p:nvSpPr>
          <p:cNvPr id="34" name="Ellipse 34"/>
          <p:cNvSpPr/>
          <p:nvPr/>
        </p:nvSpPr>
        <p:spPr>
          <a:xfrm>
            <a:off x="628650" y="3810000"/>
            <a:ext cx="342900" cy="342900"/>
          </a:xfrm>
          <a:prstGeom prst="ellipse">
            <a:avLst/>
          </a:prstGeom>
          <a:solidFill>
            <a:srgbClr val="AE232F"/>
          </a:solidFill>
          <a:ln>
            <a:noFill/>
          </a:ln>
        </p:spPr>
      </p:sp>
      <p:sp>
        <p:nvSpPr>
          <p:cNvPr id="35" name="TextBox 35"/>
          <p:cNvSpPr txBox="1"/>
          <p:nvPr/>
        </p:nvSpPr>
        <p:spPr>
          <a:xfrm>
            <a:off x="746335" y="39157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3</a:t>
            </a:r>
          </a:p>
        </p:txBody>
      </p:sp>
      <p:sp>
        <p:nvSpPr>
          <p:cNvPr id="36" name="TextBox 36"/>
          <p:cNvSpPr txBox="1"/>
          <p:nvPr/>
        </p:nvSpPr>
        <p:spPr>
          <a:xfrm>
            <a:off x="1034415" y="3868102"/>
            <a:ext cx="1827645" cy="213360"/>
          </a:xfrm>
          <a:prstGeom prst="rect">
            <a:avLst/>
          </a:prstGeom>
          <a:noFill/>
          <a:ln>
            <a:noFill/>
          </a:ln>
        </p:spPr>
        <p:txBody>
          <a:bodyPr wrap="none" lIns="0" tIns="0" rIns="0" bIns="0" anchor="t" anchorCtr="0">
            <a:spAutoFit/>
          </a:bodyPr>
          <a:lstStyle/>
          <a:p>
            <a:pPr algn="l"/>
            <a:r>
              <a:rPr lang="zh-CN" sz="1050" b="1" dirty="0">
                <a:solidFill>
                  <a:srgbClr val="AE232F"/>
                </a:solidFill>
                <a:latin typeface="Arial"/>
                <a:ea typeface="Microsoft YaHei"/>
                <a:cs typeface="Arial"/>
              </a:rPr>
              <a:t>Communication &amp; Empathy</a:t>
            </a:r>
          </a:p>
        </p:txBody>
      </p:sp>
      <p:sp>
        <p:nvSpPr>
          <p:cNvPr id="37" name="TextBox 37"/>
          <p:cNvSpPr txBox="1"/>
          <p:nvPr/>
        </p:nvSpPr>
        <p:spPr>
          <a:xfrm>
            <a:off x="1036320" y="4055745"/>
            <a:ext cx="358730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Natural rapport-builder — comfortable in medical &amp; scientific</a:t>
            </a:r>
          </a:p>
        </p:txBody>
      </p:sp>
      <p:sp>
        <p:nvSpPr>
          <p:cNvPr id="38" name="TextBox 38"/>
          <p:cNvSpPr txBox="1"/>
          <p:nvPr/>
        </p:nvSpPr>
        <p:spPr>
          <a:xfrm>
            <a:off x="1036320" y="4208145"/>
            <a:ext cx="370132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discussions with both senior physicians and ward pharmacists.</a:t>
            </a:r>
          </a:p>
        </p:txBody>
      </p:sp>
      <p:sp>
        <p:nvSpPr>
          <p:cNvPr id="39" name="TextBox 39"/>
          <p:cNvSpPr txBox="1"/>
          <p:nvPr/>
        </p:nvSpPr>
        <p:spPr>
          <a:xfrm>
            <a:off x="1036320" y="4360545"/>
            <a:ext cx="252517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English and Thai medical vocabulary fluent.</a:t>
            </a:r>
          </a:p>
        </p:txBody>
      </p:sp>
      <p:sp>
        <p:nvSpPr>
          <p:cNvPr id="40" name="Rectangle 40"/>
          <p:cNvSpPr/>
          <p:nvPr/>
        </p:nvSpPr>
        <p:spPr>
          <a:xfrm>
            <a:off x="533400" y="4781550"/>
            <a:ext cx="5219700" cy="647700"/>
          </a:xfrm>
          <a:prstGeom prst="roundRect">
            <a:avLst>
              <a:gd name="adj" fmla="val 8824"/>
            </a:avLst>
          </a:prstGeom>
          <a:solidFill>
            <a:srgbClr val="F5F5F5"/>
          </a:solidFill>
          <a:ln>
            <a:noFill/>
          </a:ln>
        </p:spPr>
      </p:sp>
      <p:sp>
        <p:nvSpPr>
          <p:cNvPr id="41" name="Freeform 41"/>
          <p:cNvSpPr/>
          <p:nvPr/>
        </p:nvSpPr>
        <p:spPr>
          <a:xfrm>
            <a:off x="931862" y="4982522"/>
            <a:ext cx="174625" cy="145492"/>
          </a:xfrm>
          <a:custGeom>
            <a:avLst/>
            <a:gdLst/>
            <a:ahLst/>
            <a:cxnLst/>
            <a:rect l="l" t="t" r="r" b="b"/>
            <a:pathLst>
              <a:path w="174625" h="145492">
                <a:moveTo>
                  <a:pt x="170259" y="15304"/>
                </a:moveTo>
                <a:cubicBezTo>
                  <a:pt x="172644" y="16680"/>
                  <a:pt x="174239" y="19101"/>
                  <a:pt x="174564" y="21835"/>
                </a:cubicBezTo>
                <a:lnTo>
                  <a:pt x="174625" y="22865"/>
                </a:lnTo>
                <a:lnTo>
                  <a:pt x="174625" y="136371"/>
                </a:lnTo>
                <a:cubicBezTo>
                  <a:pt x="174625" y="139491"/>
                  <a:pt x="172961" y="142373"/>
                  <a:pt x="170259" y="143933"/>
                </a:cubicBezTo>
                <a:cubicBezTo>
                  <a:pt x="167558" y="145492"/>
                  <a:pt x="164230" y="145492"/>
                  <a:pt x="161528" y="143933"/>
                </a:cubicBezTo>
                <a:cubicBezTo>
                  <a:pt x="141440" y="132333"/>
                  <a:pt x="116903" y="131463"/>
                  <a:pt x="96044" y="141610"/>
                </a:cubicBezTo>
                <a:lnTo>
                  <a:pt x="96044" y="9122"/>
                </a:lnTo>
                <a:cubicBezTo>
                  <a:pt x="120465" y="0"/>
                  <a:pt x="147684" y="2267"/>
                  <a:pt x="170259" y="15304"/>
                </a:cubicBezTo>
                <a:moveTo>
                  <a:pt x="78581" y="9131"/>
                </a:moveTo>
                <a:lnTo>
                  <a:pt x="78590" y="141619"/>
                </a:lnTo>
                <a:cubicBezTo>
                  <a:pt x="58576" y="131876"/>
                  <a:pt x="35117" y="132255"/>
                  <a:pt x="15428" y="142640"/>
                </a:cubicBezTo>
                <a:lnTo>
                  <a:pt x="12573" y="144212"/>
                </a:lnTo>
                <a:lnTo>
                  <a:pt x="11674" y="144596"/>
                </a:lnTo>
                <a:lnTo>
                  <a:pt x="11246" y="144736"/>
                </a:lnTo>
                <a:lnTo>
                  <a:pt x="10285" y="144963"/>
                </a:lnTo>
                <a:lnTo>
                  <a:pt x="9753" y="145050"/>
                </a:lnTo>
                <a:lnTo>
                  <a:pt x="8731" y="145103"/>
                </a:lnTo>
                <a:lnTo>
                  <a:pt x="8365" y="145103"/>
                </a:lnTo>
                <a:lnTo>
                  <a:pt x="7404" y="144998"/>
                </a:lnTo>
                <a:lnTo>
                  <a:pt x="6732" y="144876"/>
                </a:lnTo>
                <a:lnTo>
                  <a:pt x="5789" y="144596"/>
                </a:lnTo>
                <a:lnTo>
                  <a:pt x="4689" y="144107"/>
                </a:lnTo>
                <a:lnTo>
                  <a:pt x="3859" y="143618"/>
                </a:lnTo>
                <a:lnTo>
                  <a:pt x="3082" y="143033"/>
                </a:lnTo>
                <a:lnTo>
                  <a:pt x="2558" y="142544"/>
                </a:lnTo>
                <a:lnTo>
                  <a:pt x="1921" y="141828"/>
                </a:lnTo>
                <a:lnTo>
                  <a:pt x="1362" y="141051"/>
                </a:lnTo>
                <a:lnTo>
                  <a:pt x="1170" y="140737"/>
                </a:lnTo>
                <a:lnTo>
                  <a:pt x="891" y="140213"/>
                </a:lnTo>
                <a:lnTo>
                  <a:pt x="506" y="139314"/>
                </a:lnTo>
                <a:lnTo>
                  <a:pt x="367" y="138886"/>
                </a:lnTo>
                <a:lnTo>
                  <a:pt x="140" y="137925"/>
                </a:lnTo>
                <a:lnTo>
                  <a:pt x="52" y="137393"/>
                </a:lnTo>
                <a:lnTo>
                  <a:pt x="17" y="136965"/>
                </a:lnTo>
                <a:lnTo>
                  <a:pt x="0" y="22865"/>
                </a:lnTo>
                <a:cubicBezTo>
                  <a:pt x="0" y="19746"/>
                  <a:pt x="1664" y="16863"/>
                  <a:pt x="4366" y="15304"/>
                </a:cubicBezTo>
                <a:cubicBezTo>
                  <a:pt x="26942" y="2270"/>
                  <a:pt x="54162" y="6"/>
                  <a:pt x="78581" y="9131"/>
                </a:cubicBezTo>
              </a:path>
            </a:pathLst>
          </a:custGeom>
          <a:solidFill>
            <a:srgbClr val="AE232F"/>
          </a:solidFill>
          <a:ln>
            <a:noFill/>
          </a:ln>
        </p:spPr>
      </p:sp>
      <p:sp>
        <p:nvSpPr>
          <p:cNvPr id="42" name="TextBox 42"/>
          <p:cNvSpPr txBox="1"/>
          <p:nvPr/>
        </p:nvSpPr>
        <p:spPr>
          <a:xfrm>
            <a:off x="1227772" y="5006816"/>
            <a:ext cx="90656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Science Literacy</a:t>
            </a:r>
          </a:p>
        </p:txBody>
      </p:sp>
      <p:sp>
        <p:nvSpPr>
          <p:cNvPr id="43" name="Freeform 43"/>
          <p:cNvSpPr/>
          <p:nvPr/>
        </p:nvSpPr>
        <p:spPr>
          <a:xfrm>
            <a:off x="2570162" y="4970462"/>
            <a:ext cx="174625" cy="165894"/>
          </a:xfrm>
          <a:custGeom>
            <a:avLst/>
            <a:gdLst/>
            <a:ahLst/>
            <a:cxnLst/>
            <a:rect l="l" t="t" r="r" b="b"/>
            <a:pathLst>
              <a:path w="174625" h="165894">
                <a:moveTo>
                  <a:pt x="174625" y="100217"/>
                </a:moveTo>
                <a:lnTo>
                  <a:pt x="174625" y="139700"/>
                </a:lnTo>
                <a:cubicBezTo>
                  <a:pt x="174625" y="154166"/>
                  <a:pt x="162898" y="165894"/>
                  <a:pt x="148431" y="165894"/>
                </a:cubicBezTo>
                <a:lnTo>
                  <a:pt x="26194" y="165894"/>
                </a:lnTo>
                <a:cubicBezTo>
                  <a:pt x="11727" y="165894"/>
                  <a:pt x="0" y="154166"/>
                  <a:pt x="0" y="139700"/>
                </a:cubicBezTo>
                <a:lnTo>
                  <a:pt x="0" y="100217"/>
                </a:lnTo>
                <a:lnTo>
                  <a:pt x="4828" y="102636"/>
                </a:lnTo>
                <a:cubicBezTo>
                  <a:pt x="56722" y="128775"/>
                  <a:pt x="117935" y="128768"/>
                  <a:pt x="169823" y="102618"/>
                </a:cubicBezTo>
                <a:lnTo>
                  <a:pt x="174625" y="100217"/>
                </a:lnTo>
                <a:close/>
                <a:moveTo>
                  <a:pt x="104775" y="0"/>
                </a:moveTo>
                <a:cubicBezTo>
                  <a:pt x="119241" y="0"/>
                  <a:pt x="130969" y="11727"/>
                  <a:pt x="130969" y="26194"/>
                </a:cubicBezTo>
                <a:lnTo>
                  <a:pt x="130969" y="34925"/>
                </a:lnTo>
                <a:lnTo>
                  <a:pt x="148431" y="34925"/>
                </a:lnTo>
                <a:cubicBezTo>
                  <a:pt x="162898" y="34925"/>
                  <a:pt x="174625" y="46652"/>
                  <a:pt x="174625" y="61119"/>
                </a:cubicBezTo>
                <a:lnTo>
                  <a:pt x="174625" y="80694"/>
                </a:lnTo>
                <a:lnTo>
                  <a:pt x="161991" y="87016"/>
                </a:lnTo>
                <a:cubicBezTo>
                  <a:pt x="116180" y="110106"/>
                  <a:pt x="62265" y="110705"/>
                  <a:pt x="15952" y="88640"/>
                </a:cubicBezTo>
                <a:lnTo>
                  <a:pt x="10303" y="85846"/>
                </a:lnTo>
                <a:lnTo>
                  <a:pt x="0" y="80694"/>
                </a:lnTo>
                <a:lnTo>
                  <a:pt x="0" y="61119"/>
                </a:lnTo>
                <a:cubicBezTo>
                  <a:pt x="0" y="46652"/>
                  <a:pt x="11727" y="34925"/>
                  <a:pt x="26194" y="34925"/>
                </a:cubicBezTo>
                <a:lnTo>
                  <a:pt x="43656" y="34925"/>
                </a:lnTo>
                <a:lnTo>
                  <a:pt x="43656" y="26194"/>
                </a:lnTo>
                <a:cubicBezTo>
                  <a:pt x="43656" y="11727"/>
                  <a:pt x="55384" y="0"/>
                  <a:pt x="69850" y="0"/>
                </a:cubicBezTo>
                <a:lnTo>
                  <a:pt x="104775" y="0"/>
                </a:lnTo>
                <a:close/>
                <a:moveTo>
                  <a:pt x="87313" y="69850"/>
                </a:moveTo>
                <a:cubicBezTo>
                  <a:pt x="82490" y="69850"/>
                  <a:pt x="78581" y="73759"/>
                  <a:pt x="78581" y="78581"/>
                </a:cubicBezTo>
                <a:cubicBezTo>
                  <a:pt x="78566" y="81701"/>
                  <a:pt x="80215" y="84591"/>
                  <a:pt x="82909" y="86165"/>
                </a:cubicBezTo>
                <a:cubicBezTo>
                  <a:pt x="85603" y="87738"/>
                  <a:pt x="88931" y="87754"/>
                  <a:pt x="91640" y="86208"/>
                </a:cubicBezTo>
                <a:cubicBezTo>
                  <a:pt x="94350" y="84662"/>
                  <a:pt x="96028" y="81788"/>
                  <a:pt x="96044" y="78669"/>
                </a:cubicBezTo>
                <a:cubicBezTo>
                  <a:pt x="96044" y="73762"/>
                  <a:pt x="92132" y="69850"/>
                  <a:pt x="87313" y="69850"/>
                </a:cubicBezTo>
                <a:close/>
                <a:moveTo>
                  <a:pt x="104775" y="17462"/>
                </a:moveTo>
                <a:lnTo>
                  <a:pt x="69850" y="17462"/>
                </a:lnTo>
                <a:cubicBezTo>
                  <a:pt x="65028" y="17462"/>
                  <a:pt x="61119" y="21372"/>
                  <a:pt x="61119" y="26194"/>
                </a:cubicBezTo>
                <a:lnTo>
                  <a:pt x="61119" y="34925"/>
                </a:lnTo>
                <a:lnTo>
                  <a:pt x="113506" y="34925"/>
                </a:lnTo>
                <a:lnTo>
                  <a:pt x="113506" y="26194"/>
                </a:lnTo>
                <a:cubicBezTo>
                  <a:pt x="113506" y="21372"/>
                  <a:pt x="109597" y="17462"/>
                  <a:pt x="104775" y="17462"/>
                </a:cubicBezTo>
                <a:close/>
              </a:path>
            </a:pathLst>
          </a:custGeom>
          <a:solidFill>
            <a:srgbClr val="AE232F"/>
          </a:solidFill>
          <a:ln>
            <a:noFill/>
          </a:ln>
        </p:spPr>
      </p:sp>
      <p:sp>
        <p:nvSpPr>
          <p:cNvPr id="44" name="TextBox 44"/>
          <p:cNvSpPr txBox="1"/>
          <p:nvPr/>
        </p:nvSpPr>
        <p:spPr>
          <a:xfrm>
            <a:off x="2866072" y="5006816"/>
            <a:ext cx="60402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Field Ready</a:t>
            </a:r>
          </a:p>
        </p:txBody>
      </p:sp>
      <p:sp>
        <p:nvSpPr>
          <p:cNvPr id="45" name="Freeform 45"/>
          <p:cNvSpPr/>
          <p:nvPr/>
        </p:nvSpPr>
        <p:spPr>
          <a:xfrm>
            <a:off x="4208462" y="4979194"/>
            <a:ext cx="174625" cy="166302"/>
          </a:xfrm>
          <a:custGeom>
            <a:avLst/>
            <a:gdLst/>
            <a:ahLst/>
            <a:cxnLst/>
            <a:rect l="l" t="t" r="r" b="b"/>
            <a:pathLst>
              <a:path w="174625" h="166302">
                <a:moveTo>
                  <a:pt x="139700" y="0"/>
                </a:moveTo>
                <a:cubicBezTo>
                  <a:pt x="158989" y="0"/>
                  <a:pt x="174625" y="15636"/>
                  <a:pt x="174625" y="34925"/>
                </a:cubicBezTo>
                <a:lnTo>
                  <a:pt x="174625" y="104775"/>
                </a:lnTo>
                <a:cubicBezTo>
                  <a:pt x="174625" y="124064"/>
                  <a:pt x="158989" y="139700"/>
                  <a:pt x="139700" y="139700"/>
                </a:cubicBezTo>
                <a:lnTo>
                  <a:pt x="98454" y="139700"/>
                </a:lnTo>
                <a:lnTo>
                  <a:pt x="56875" y="164645"/>
                </a:lnTo>
                <a:cubicBezTo>
                  <a:pt x="54331" y="166172"/>
                  <a:pt x="51185" y="166302"/>
                  <a:pt x="48524" y="164991"/>
                </a:cubicBezTo>
                <a:cubicBezTo>
                  <a:pt x="45862" y="163679"/>
                  <a:pt x="44048" y="161106"/>
                  <a:pt x="43709" y="158158"/>
                </a:cubicBezTo>
                <a:lnTo>
                  <a:pt x="43656" y="157162"/>
                </a:lnTo>
                <a:lnTo>
                  <a:pt x="43656" y="139700"/>
                </a:lnTo>
                <a:lnTo>
                  <a:pt x="34925" y="139700"/>
                </a:lnTo>
                <a:cubicBezTo>
                  <a:pt x="16315" y="139700"/>
                  <a:pt x="974" y="125108"/>
                  <a:pt x="44" y="106521"/>
                </a:cubicBezTo>
                <a:lnTo>
                  <a:pt x="0" y="104775"/>
                </a:lnTo>
                <a:lnTo>
                  <a:pt x="0" y="34925"/>
                </a:lnTo>
                <a:cubicBezTo>
                  <a:pt x="0" y="15636"/>
                  <a:pt x="15636" y="0"/>
                  <a:pt x="34925" y="0"/>
                </a:cubicBezTo>
                <a:close/>
                <a:moveTo>
                  <a:pt x="104775" y="78581"/>
                </a:moveTo>
                <a:lnTo>
                  <a:pt x="52388" y="78581"/>
                </a:lnTo>
                <a:cubicBezTo>
                  <a:pt x="47565" y="78581"/>
                  <a:pt x="43656" y="82490"/>
                  <a:pt x="43656" y="87312"/>
                </a:cubicBezTo>
                <a:cubicBezTo>
                  <a:pt x="43656" y="92135"/>
                  <a:pt x="47565" y="96044"/>
                  <a:pt x="52388" y="96044"/>
                </a:cubicBezTo>
                <a:lnTo>
                  <a:pt x="104775" y="96044"/>
                </a:lnTo>
                <a:cubicBezTo>
                  <a:pt x="109597" y="96044"/>
                  <a:pt x="113506" y="92135"/>
                  <a:pt x="113506" y="87312"/>
                </a:cubicBezTo>
                <a:cubicBezTo>
                  <a:pt x="113506" y="82490"/>
                  <a:pt x="109597" y="78581"/>
                  <a:pt x="104775" y="78581"/>
                </a:cubicBezTo>
                <a:moveTo>
                  <a:pt x="122238" y="43656"/>
                </a:moveTo>
                <a:lnTo>
                  <a:pt x="52388" y="43656"/>
                </a:lnTo>
                <a:cubicBezTo>
                  <a:pt x="47565" y="43656"/>
                  <a:pt x="43656" y="47565"/>
                  <a:pt x="43656" y="52388"/>
                </a:cubicBezTo>
                <a:cubicBezTo>
                  <a:pt x="43656" y="57210"/>
                  <a:pt x="47565" y="61119"/>
                  <a:pt x="52388" y="61119"/>
                </a:cubicBezTo>
                <a:lnTo>
                  <a:pt x="122238" y="61119"/>
                </a:lnTo>
                <a:cubicBezTo>
                  <a:pt x="127060" y="61119"/>
                  <a:pt x="130969" y="57210"/>
                  <a:pt x="130969" y="52388"/>
                </a:cubicBezTo>
                <a:cubicBezTo>
                  <a:pt x="130969" y="47565"/>
                  <a:pt x="127060" y="43656"/>
                  <a:pt x="122238" y="43656"/>
                </a:cubicBezTo>
              </a:path>
            </a:pathLst>
          </a:custGeom>
          <a:solidFill>
            <a:srgbClr val="AE232F"/>
          </a:solidFill>
          <a:ln>
            <a:noFill/>
          </a:ln>
        </p:spPr>
      </p:sp>
      <p:sp>
        <p:nvSpPr>
          <p:cNvPr id="46" name="TextBox 46"/>
          <p:cNvSpPr txBox="1"/>
          <p:nvPr/>
        </p:nvSpPr>
        <p:spPr>
          <a:xfrm>
            <a:off x="4504372" y="5006816"/>
            <a:ext cx="115959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Strong Communicator</a:t>
            </a:r>
          </a:p>
        </p:txBody>
      </p:sp>
      <p:sp>
        <p:nvSpPr>
          <p:cNvPr id="47" name="TextBox 47"/>
          <p:cNvSpPr txBox="1"/>
          <p:nvPr/>
        </p:nvSpPr>
        <p:spPr>
          <a:xfrm>
            <a:off x="904875" y="5233988"/>
            <a:ext cx="1554242" cy="152400"/>
          </a:xfrm>
          <a:prstGeom prst="rect">
            <a:avLst/>
          </a:prstGeom>
          <a:noFill/>
          <a:ln>
            <a:noFill/>
          </a:ln>
        </p:spPr>
        <p:txBody>
          <a:bodyPr wrap="none" lIns="0" tIns="0" rIns="0" bIns="0" anchor="t" anchorCtr="0">
            <a:spAutoFit/>
          </a:bodyPr>
          <a:lstStyle/>
          <a:p>
            <a:pPr algn="l"/>
            <a:r>
              <a:rPr lang="zh-CN" sz="750" dirty="0">
                <a:solidFill>
                  <a:srgbClr val="888888"/>
                </a:solidFill>
                <a:latin typeface="Arial"/>
                <a:ea typeface="Microsoft YaHei"/>
                <a:cs typeface="Arial"/>
              </a:rPr>
              <a:t>Clinical credibility from day one</a:t>
            </a:r>
          </a:p>
        </p:txBody>
      </p:sp>
      <p:sp>
        <p:nvSpPr>
          <p:cNvPr id="48" name="TextBox 48"/>
          <p:cNvSpPr txBox="1"/>
          <p:nvPr/>
        </p:nvSpPr>
        <p:spPr>
          <a:xfrm>
            <a:off x="2543175" y="5233988"/>
            <a:ext cx="1214199" cy="152400"/>
          </a:xfrm>
          <a:prstGeom prst="rect">
            <a:avLst/>
          </a:prstGeom>
          <a:noFill/>
          <a:ln>
            <a:noFill/>
          </a:ln>
        </p:spPr>
        <p:txBody>
          <a:bodyPr wrap="none" lIns="0" tIns="0" rIns="0" bIns="0" anchor="t" anchorCtr="0">
            <a:spAutoFit/>
          </a:bodyPr>
          <a:lstStyle/>
          <a:p>
            <a:pPr algn="l"/>
            <a:r>
              <a:rPr lang="zh-CN" sz="750" dirty="0">
                <a:solidFill>
                  <a:srgbClr val="888888"/>
                </a:solidFill>
                <a:latin typeface="Arial"/>
                <a:ea typeface="Microsoft YaHei"/>
                <a:cs typeface="Arial"/>
              </a:rPr>
              <a:t>Proven, not just trained</a:t>
            </a:r>
          </a:p>
        </p:txBody>
      </p:sp>
      <p:sp>
        <p:nvSpPr>
          <p:cNvPr id="49" name="TextBox 49"/>
          <p:cNvSpPr txBox="1"/>
          <p:nvPr/>
        </p:nvSpPr>
        <p:spPr>
          <a:xfrm>
            <a:off x="4181475" y="5233988"/>
            <a:ext cx="984171" cy="152400"/>
          </a:xfrm>
          <a:prstGeom prst="rect">
            <a:avLst/>
          </a:prstGeom>
          <a:noFill/>
          <a:ln>
            <a:noFill/>
          </a:ln>
        </p:spPr>
        <p:txBody>
          <a:bodyPr wrap="none" lIns="0" tIns="0" rIns="0" bIns="0" anchor="t" anchorCtr="0">
            <a:spAutoFit/>
          </a:bodyPr>
          <a:lstStyle/>
          <a:p>
            <a:pPr algn="l"/>
            <a:r>
              <a:rPr lang="zh-CN" sz="750" dirty="0">
                <a:solidFill>
                  <a:srgbClr val="888888"/>
                </a:solidFill>
                <a:latin typeface="Arial"/>
                <a:ea typeface="Microsoft YaHei"/>
                <a:cs typeface="Arial"/>
              </a:rPr>
              <a:t>Physicians trust me</a:t>
            </a:r>
          </a:p>
        </p:txBody>
      </p:sp>
      <p:sp>
        <p:nvSpPr>
          <p:cNvPr id="50" name="Rectangle 50"/>
          <p:cNvSpPr/>
          <p:nvPr/>
        </p:nvSpPr>
        <p:spPr>
          <a:xfrm>
            <a:off x="6248400" y="914400"/>
            <a:ext cx="5600700" cy="4667250"/>
          </a:xfrm>
          <a:prstGeom prst="roundRect">
            <a:avLst>
              <a:gd name="adj" fmla="val 204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51" name="Rectangle 51"/>
          <p:cNvSpPr/>
          <p:nvPr/>
        </p:nvSpPr>
        <p:spPr>
          <a:xfrm>
            <a:off x="6248400" y="914400"/>
            <a:ext cx="5600700" cy="495300"/>
          </a:xfrm>
          <a:prstGeom prst="roundRect">
            <a:avLst>
              <a:gd name="adj" fmla="val 19231"/>
            </a:avLst>
          </a:prstGeom>
          <a:solidFill>
            <a:srgbClr val="F5F5F5"/>
          </a:solidFill>
          <a:ln w="9525">
            <a:solidFill>
              <a:srgbClr val="E0E0E0"/>
            </a:solidFill>
          </a:ln>
        </p:spPr>
      </p:sp>
      <p:sp>
        <p:nvSpPr>
          <p:cNvPr id="52" name="Rectangle 52"/>
          <p:cNvSpPr/>
          <p:nvPr/>
        </p:nvSpPr>
        <p:spPr>
          <a:xfrm>
            <a:off x="6248400" y="1219200"/>
            <a:ext cx="5600700" cy="190500"/>
          </a:xfrm>
          <a:prstGeom prst="rect">
            <a:avLst/>
          </a:prstGeom>
          <a:solidFill>
            <a:srgbClr val="F5F5F5"/>
          </a:solidFill>
          <a:ln>
            <a:noFill/>
          </a:ln>
        </p:spPr>
      </p:sp>
      <p:sp>
        <p:nvSpPr>
          <p:cNvPr id="53" name="Freeform 53"/>
          <p:cNvSpPr/>
          <p:nvPr/>
        </p:nvSpPr>
        <p:spPr>
          <a:xfrm>
            <a:off x="6461136" y="1062038"/>
            <a:ext cx="224381" cy="211137"/>
          </a:xfrm>
          <a:custGeom>
            <a:avLst/>
            <a:gdLst/>
            <a:ahLst/>
            <a:cxnLst/>
            <a:rect l="l" t="t" r="r" b="b"/>
            <a:pathLst>
              <a:path w="224381" h="211137">
                <a:moveTo>
                  <a:pt x="166676" y="0"/>
                </a:moveTo>
                <a:cubicBezTo>
                  <a:pt x="172310" y="1"/>
                  <a:pt x="177052" y="4217"/>
                  <a:pt x="177711" y="9812"/>
                </a:cubicBezTo>
                <a:lnTo>
                  <a:pt x="177789" y="11113"/>
                </a:lnTo>
                <a:lnTo>
                  <a:pt x="177789" y="35227"/>
                </a:lnTo>
                <a:cubicBezTo>
                  <a:pt x="191601" y="30360"/>
                  <a:pt x="206972" y="35077"/>
                  <a:pt x="215677" y="46854"/>
                </a:cubicBezTo>
                <a:cubicBezTo>
                  <a:pt x="224381" y="58630"/>
                  <a:pt x="224381" y="74709"/>
                  <a:pt x="215677" y="86485"/>
                </a:cubicBezTo>
                <a:cubicBezTo>
                  <a:pt x="206972" y="98262"/>
                  <a:pt x="191601" y="102979"/>
                  <a:pt x="177789" y="98112"/>
                </a:cubicBezTo>
                <a:lnTo>
                  <a:pt x="177789" y="100012"/>
                </a:lnTo>
                <a:cubicBezTo>
                  <a:pt x="177785" y="132548"/>
                  <a:pt x="154306" y="160333"/>
                  <a:pt x="122226" y="165765"/>
                </a:cubicBezTo>
                <a:lnTo>
                  <a:pt x="122226" y="188913"/>
                </a:lnTo>
                <a:lnTo>
                  <a:pt x="155564" y="188913"/>
                </a:lnTo>
                <a:cubicBezTo>
                  <a:pt x="161443" y="188919"/>
                  <a:pt x="166300" y="193504"/>
                  <a:pt x="166645" y="199374"/>
                </a:cubicBezTo>
                <a:cubicBezTo>
                  <a:pt x="166990" y="205243"/>
                  <a:pt x="162702" y="210365"/>
                  <a:pt x="156864" y="211060"/>
                </a:cubicBezTo>
                <a:lnTo>
                  <a:pt x="155564" y="211137"/>
                </a:lnTo>
                <a:lnTo>
                  <a:pt x="66664" y="211137"/>
                </a:lnTo>
                <a:cubicBezTo>
                  <a:pt x="60784" y="211131"/>
                  <a:pt x="55927" y="206546"/>
                  <a:pt x="55583" y="200676"/>
                </a:cubicBezTo>
                <a:cubicBezTo>
                  <a:pt x="55238" y="194807"/>
                  <a:pt x="59525" y="189685"/>
                  <a:pt x="65364" y="188990"/>
                </a:cubicBezTo>
                <a:lnTo>
                  <a:pt x="66664" y="188913"/>
                </a:lnTo>
                <a:lnTo>
                  <a:pt x="100001" y="188913"/>
                </a:lnTo>
                <a:lnTo>
                  <a:pt x="100001" y="165765"/>
                </a:lnTo>
                <a:cubicBezTo>
                  <a:pt x="68850" y="160492"/>
                  <a:pt x="45672" y="134085"/>
                  <a:pt x="44483" y="102513"/>
                </a:cubicBezTo>
                <a:lnTo>
                  <a:pt x="44439" y="100012"/>
                </a:lnTo>
                <a:lnTo>
                  <a:pt x="44439" y="98112"/>
                </a:lnTo>
                <a:cubicBezTo>
                  <a:pt x="34558" y="101610"/>
                  <a:pt x="23607" y="100257"/>
                  <a:pt x="14875" y="94459"/>
                </a:cubicBezTo>
                <a:cubicBezTo>
                  <a:pt x="6142" y="88662"/>
                  <a:pt x="645" y="79095"/>
                  <a:pt x="33" y="68631"/>
                </a:cubicBezTo>
                <a:lnTo>
                  <a:pt x="0" y="66675"/>
                </a:lnTo>
                <a:lnTo>
                  <a:pt x="56" y="64719"/>
                </a:lnTo>
                <a:cubicBezTo>
                  <a:pt x="665" y="54256"/>
                  <a:pt x="6159" y="44688"/>
                  <a:pt x="14889" y="38889"/>
                </a:cubicBezTo>
                <a:cubicBezTo>
                  <a:pt x="23619" y="33089"/>
                  <a:pt x="34569" y="31733"/>
                  <a:pt x="44450" y="35227"/>
                </a:cubicBezTo>
                <a:lnTo>
                  <a:pt x="44439" y="11113"/>
                </a:lnTo>
                <a:cubicBezTo>
                  <a:pt x="44439" y="4975"/>
                  <a:pt x="49414" y="0"/>
                  <a:pt x="55551" y="0"/>
                </a:cubicBezTo>
                <a:lnTo>
                  <a:pt x="166676" y="0"/>
                </a:lnTo>
                <a:close/>
                <a:moveTo>
                  <a:pt x="33326" y="55562"/>
                </a:moveTo>
                <a:cubicBezTo>
                  <a:pt x="27189" y="55562"/>
                  <a:pt x="22214" y="60538"/>
                  <a:pt x="22214" y="66675"/>
                </a:cubicBezTo>
                <a:cubicBezTo>
                  <a:pt x="22214" y="72812"/>
                  <a:pt x="27189" y="77788"/>
                  <a:pt x="33326" y="77788"/>
                </a:cubicBezTo>
                <a:cubicBezTo>
                  <a:pt x="39464" y="77788"/>
                  <a:pt x="44439" y="72812"/>
                  <a:pt x="44439" y="66675"/>
                </a:cubicBezTo>
                <a:cubicBezTo>
                  <a:pt x="44439" y="60538"/>
                  <a:pt x="39464" y="55562"/>
                  <a:pt x="33326" y="55562"/>
                </a:cubicBezTo>
                <a:moveTo>
                  <a:pt x="188901" y="55562"/>
                </a:moveTo>
                <a:cubicBezTo>
                  <a:pt x="182764" y="55562"/>
                  <a:pt x="177789" y="60538"/>
                  <a:pt x="177789" y="66675"/>
                </a:cubicBezTo>
                <a:cubicBezTo>
                  <a:pt x="177789" y="72812"/>
                  <a:pt x="182764" y="77788"/>
                  <a:pt x="188901" y="77788"/>
                </a:cubicBezTo>
                <a:cubicBezTo>
                  <a:pt x="195039" y="77788"/>
                  <a:pt x="200014" y="72812"/>
                  <a:pt x="200014" y="66675"/>
                </a:cubicBezTo>
                <a:cubicBezTo>
                  <a:pt x="200014" y="60538"/>
                  <a:pt x="195039" y="55562"/>
                  <a:pt x="188901" y="55562"/>
                </a:cubicBezTo>
              </a:path>
            </a:pathLst>
          </a:custGeom>
          <a:solidFill>
            <a:srgbClr val="AE232F"/>
          </a:solidFill>
          <a:ln>
            <a:noFill/>
          </a:ln>
        </p:spPr>
      </p:sp>
      <p:sp>
        <p:nvSpPr>
          <p:cNvPr id="54" name="TextBox 54"/>
          <p:cNvSpPr txBox="1"/>
          <p:nvPr/>
        </p:nvSpPr>
        <p:spPr>
          <a:xfrm>
            <a:off x="8319994" y="1081564"/>
            <a:ext cx="1648012" cy="259080"/>
          </a:xfrm>
          <a:prstGeom prst="rect">
            <a:avLst/>
          </a:prstGeom>
          <a:noFill/>
          <a:ln>
            <a:noFill/>
          </a:ln>
        </p:spPr>
        <p:txBody>
          <a:bodyPr wrap="none" lIns="0" tIns="0" rIns="0" bIns="0" anchor="t" anchorCtr="0">
            <a:spAutoFit/>
          </a:bodyPr>
          <a:lstStyle/>
          <a:p>
            <a:pPr algn="ctr"/>
            <a:r>
              <a:rPr lang="zh-CN" sz="1275" b="1" dirty="0">
                <a:solidFill>
                  <a:srgbClr val="AE232F"/>
                </a:solidFill>
                <a:latin typeface="Arial"/>
                <a:ea typeface="Microsoft YaHei"/>
                <a:cs typeface="Arial"/>
              </a:rPr>
              <a:t>Development Areas</a:t>
            </a:r>
          </a:p>
        </p:txBody>
      </p:sp>
      <p:sp>
        <p:nvSpPr>
          <p:cNvPr id="55" name="Rectangle 55"/>
          <p:cNvSpPr/>
          <p:nvPr/>
        </p:nvSpPr>
        <p:spPr>
          <a:xfrm>
            <a:off x="6438900" y="1600200"/>
            <a:ext cx="5219700" cy="1238250"/>
          </a:xfrm>
          <a:prstGeom prst="roundRect">
            <a:avLst>
              <a:gd name="adj" fmla="val 6154"/>
            </a:avLst>
          </a:prstGeom>
          <a:solidFill>
            <a:srgbClr val="F5F5F5"/>
          </a:solidFill>
          <a:ln>
            <a:noFill/>
          </a:ln>
        </p:spPr>
      </p:sp>
      <p:sp>
        <p:nvSpPr>
          <p:cNvPr id="56" name="Rectangle 56"/>
          <p:cNvSpPr/>
          <p:nvPr/>
        </p:nvSpPr>
        <p:spPr>
          <a:xfrm>
            <a:off x="6438900" y="1600200"/>
            <a:ext cx="38100" cy="1238250"/>
          </a:xfrm>
          <a:prstGeom prst="roundRect">
            <a:avLst>
              <a:gd name="adj" fmla="val 50000"/>
            </a:avLst>
          </a:prstGeom>
          <a:solidFill>
            <a:srgbClr val="E0E0E0"/>
          </a:solidFill>
          <a:ln>
            <a:noFill/>
          </a:ln>
        </p:spPr>
      </p:sp>
      <p:sp>
        <p:nvSpPr>
          <p:cNvPr id="57" name="Ellipse 57"/>
          <p:cNvSpPr/>
          <p:nvPr/>
        </p:nvSpPr>
        <p:spPr>
          <a:xfrm>
            <a:off x="6534150" y="1733550"/>
            <a:ext cx="342900" cy="342900"/>
          </a:xfrm>
          <a:prstGeom prst="ellipse">
            <a:avLst/>
          </a:prstGeom>
          <a:solidFill>
            <a:srgbClr val="888888"/>
          </a:solidFill>
          <a:ln>
            <a:noFill/>
          </a:ln>
        </p:spPr>
      </p:sp>
      <p:sp>
        <p:nvSpPr>
          <p:cNvPr id="58" name="TextBox 58"/>
          <p:cNvSpPr txBox="1"/>
          <p:nvPr/>
        </p:nvSpPr>
        <p:spPr>
          <a:xfrm>
            <a:off x="6651835" y="183927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1</a:t>
            </a:r>
          </a:p>
        </p:txBody>
      </p:sp>
      <p:sp>
        <p:nvSpPr>
          <p:cNvPr id="59" name="TextBox 59"/>
          <p:cNvSpPr txBox="1"/>
          <p:nvPr/>
        </p:nvSpPr>
        <p:spPr>
          <a:xfrm>
            <a:off x="6939915" y="1753552"/>
            <a:ext cx="1901154" cy="213360"/>
          </a:xfrm>
          <a:prstGeom prst="rect">
            <a:avLst/>
          </a:prstGeom>
          <a:noFill/>
          <a:ln>
            <a:noFill/>
          </a:ln>
        </p:spPr>
        <p:txBody>
          <a:bodyPr wrap="none" lIns="0" tIns="0" rIns="0" bIns="0" anchor="t" anchorCtr="0">
            <a:spAutoFit/>
          </a:bodyPr>
          <a:lstStyle/>
          <a:p>
            <a:pPr algn="l"/>
            <a:r>
              <a:rPr lang="zh-CN" sz="1050" b="1" dirty="0">
                <a:solidFill>
                  <a:srgbClr val="555555"/>
                </a:solidFill>
                <a:latin typeface="Arial"/>
                <a:ea typeface="Microsoft YaHei"/>
                <a:cs typeface="Arial"/>
              </a:rPr>
              <a:t>Product Portfolio Breadth</a:t>
            </a:r>
          </a:p>
        </p:txBody>
      </p:sp>
      <p:sp>
        <p:nvSpPr>
          <p:cNvPr id="60" name="TextBox 60"/>
          <p:cNvSpPr txBox="1"/>
          <p:nvPr/>
        </p:nvSpPr>
        <p:spPr>
          <a:xfrm>
            <a:off x="6941820" y="1941195"/>
            <a:ext cx="241715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No prior Clexane-specific MR experience.</a:t>
            </a:r>
          </a:p>
        </p:txBody>
      </p:sp>
      <p:sp>
        <p:nvSpPr>
          <p:cNvPr id="61" name="TextBox 61"/>
          <p:cNvSpPr txBox="1"/>
          <p:nvPr/>
        </p:nvSpPr>
        <p:spPr>
          <a:xfrm>
            <a:off x="6941820" y="2093595"/>
            <a:ext cx="294522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Know the mechanism well — need market exposure.</a:t>
            </a:r>
          </a:p>
        </p:txBody>
      </p:sp>
      <p:sp>
        <p:nvSpPr>
          <p:cNvPr id="62" name="Rectangle 62"/>
          <p:cNvSpPr/>
          <p:nvPr/>
        </p:nvSpPr>
        <p:spPr>
          <a:xfrm>
            <a:off x="6438900" y="2419350"/>
            <a:ext cx="5219700" cy="361950"/>
          </a:xfrm>
          <a:prstGeom prst="roundRect">
            <a:avLst>
              <a:gd name="adj" fmla="val 10526"/>
            </a:avLst>
          </a:prstGeom>
          <a:solidFill>
            <a:srgbClr val="FFFFFF"/>
          </a:solidFill>
          <a:ln>
            <a:noFill/>
          </a:ln>
        </p:spPr>
      </p:sp>
      <p:sp>
        <p:nvSpPr>
          <p:cNvPr id="63" name="TextBox 63"/>
          <p:cNvSpPr txBox="1"/>
          <p:nvPr/>
        </p:nvSpPr>
        <p:spPr>
          <a:xfrm>
            <a:off x="6542722" y="2482691"/>
            <a:ext cx="696714" cy="167640"/>
          </a:xfrm>
          <a:prstGeom prst="rect">
            <a:avLst/>
          </a:prstGeom>
          <a:noFill/>
          <a:ln>
            <a:noFill/>
          </a:ln>
        </p:spPr>
        <p:txBody>
          <a:bodyPr wrap="none" lIns="0" tIns="0" rIns="0" bIns="0" anchor="t" anchorCtr="0">
            <a:spAutoFit/>
          </a:bodyPr>
          <a:lstStyle/>
          <a:p>
            <a:pPr algn="l"/>
            <a:r>
              <a:rPr lang="zh-CN" sz="825" b="1" dirty="0">
                <a:solidFill>
                  <a:srgbClr val="AE232F"/>
                </a:solidFill>
                <a:latin typeface="Arial"/>
                <a:ea typeface="Microsoft YaHei"/>
                <a:cs typeface="Arial"/>
              </a:rPr>
              <a:t>Action Plan:</a:t>
            </a:r>
          </a:p>
        </p:txBody>
      </p:sp>
      <p:sp>
        <p:nvSpPr>
          <p:cNvPr id="64" name="TextBox 64"/>
          <p:cNvSpPr txBox="1"/>
          <p:nvPr/>
        </p:nvSpPr>
        <p:spPr>
          <a:xfrm>
            <a:off x="7419022" y="2482691"/>
            <a:ext cx="301883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Completed full Clexane® self-study (PI + ESSENCE trial).</a:t>
            </a:r>
          </a:p>
        </p:txBody>
      </p:sp>
      <p:sp>
        <p:nvSpPr>
          <p:cNvPr id="65" name="TextBox 65"/>
          <p:cNvSpPr txBox="1"/>
          <p:nvPr/>
        </p:nvSpPr>
        <p:spPr>
          <a:xfrm>
            <a:off x="6542722" y="2635091"/>
            <a:ext cx="355239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Will shadow senior MR in first 2 weeks and build product call flow.</a:t>
            </a:r>
          </a:p>
        </p:txBody>
      </p:sp>
      <p:sp>
        <p:nvSpPr>
          <p:cNvPr id="66" name="Rectangle 66"/>
          <p:cNvSpPr/>
          <p:nvPr/>
        </p:nvSpPr>
        <p:spPr>
          <a:xfrm>
            <a:off x="6438900" y="3028950"/>
            <a:ext cx="5219700" cy="1238250"/>
          </a:xfrm>
          <a:prstGeom prst="roundRect">
            <a:avLst>
              <a:gd name="adj" fmla="val 6154"/>
            </a:avLst>
          </a:prstGeom>
          <a:solidFill>
            <a:srgbClr val="F5F5F5"/>
          </a:solidFill>
          <a:ln>
            <a:noFill/>
          </a:ln>
        </p:spPr>
      </p:sp>
      <p:sp>
        <p:nvSpPr>
          <p:cNvPr id="67" name="Rectangle 67"/>
          <p:cNvSpPr/>
          <p:nvPr/>
        </p:nvSpPr>
        <p:spPr>
          <a:xfrm>
            <a:off x="6438900" y="3028950"/>
            <a:ext cx="38100" cy="1238250"/>
          </a:xfrm>
          <a:prstGeom prst="roundRect">
            <a:avLst>
              <a:gd name="adj" fmla="val 50000"/>
            </a:avLst>
          </a:prstGeom>
          <a:solidFill>
            <a:srgbClr val="E0E0E0"/>
          </a:solidFill>
          <a:ln>
            <a:noFill/>
          </a:ln>
        </p:spPr>
      </p:sp>
      <p:sp>
        <p:nvSpPr>
          <p:cNvPr id="68" name="Ellipse 68"/>
          <p:cNvSpPr/>
          <p:nvPr/>
        </p:nvSpPr>
        <p:spPr>
          <a:xfrm>
            <a:off x="6534150" y="3162300"/>
            <a:ext cx="342900" cy="342900"/>
          </a:xfrm>
          <a:prstGeom prst="ellipse">
            <a:avLst/>
          </a:prstGeom>
          <a:solidFill>
            <a:srgbClr val="888888"/>
          </a:solidFill>
          <a:ln>
            <a:noFill/>
          </a:ln>
        </p:spPr>
      </p:sp>
      <p:sp>
        <p:nvSpPr>
          <p:cNvPr id="69" name="TextBox 69"/>
          <p:cNvSpPr txBox="1"/>
          <p:nvPr/>
        </p:nvSpPr>
        <p:spPr>
          <a:xfrm>
            <a:off x="6651835" y="32680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2</a:t>
            </a:r>
          </a:p>
        </p:txBody>
      </p:sp>
      <p:sp>
        <p:nvSpPr>
          <p:cNvPr id="70" name="TextBox 70"/>
          <p:cNvSpPr txBox="1"/>
          <p:nvPr/>
        </p:nvSpPr>
        <p:spPr>
          <a:xfrm>
            <a:off x="6939915" y="3182302"/>
            <a:ext cx="1798241" cy="213360"/>
          </a:xfrm>
          <a:prstGeom prst="rect">
            <a:avLst/>
          </a:prstGeom>
          <a:noFill/>
          <a:ln>
            <a:noFill/>
          </a:ln>
        </p:spPr>
        <p:txBody>
          <a:bodyPr wrap="none" lIns="0" tIns="0" rIns="0" bIns="0" anchor="t" anchorCtr="0">
            <a:spAutoFit/>
          </a:bodyPr>
          <a:lstStyle/>
          <a:p>
            <a:pPr algn="l"/>
            <a:r>
              <a:rPr lang="zh-CN" sz="1050" b="1" dirty="0">
                <a:solidFill>
                  <a:srgbClr val="555555"/>
                </a:solidFill>
                <a:latin typeface="Arial"/>
                <a:ea typeface="Microsoft YaHei"/>
                <a:cs typeface="Arial"/>
              </a:rPr>
              <a:t>Territory &amp; CRM Systems</a:t>
            </a:r>
          </a:p>
        </p:txBody>
      </p:sp>
      <p:sp>
        <p:nvSpPr>
          <p:cNvPr id="71" name="TextBox 71"/>
          <p:cNvSpPr txBox="1"/>
          <p:nvPr/>
        </p:nvSpPr>
        <p:spPr>
          <a:xfrm>
            <a:off x="6941820" y="3369945"/>
            <a:ext cx="313724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Limited exposure to formal CRM call-reporting tools.</a:t>
            </a:r>
          </a:p>
        </p:txBody>
      </p:sp>
      <p:sp>
        <p:nvSpPr>
          <p:cNvPr id="72" name="TextBox 72"/>
          <p:cNvSpPr txBox="1"/>
          <p:nvPr/>
        </p:nvSpPr>
        <p:spPr>
          <a:xfrm>
            <a:off x="6941820" y="3522345"/>
            <a:ext cx="235115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Used manual tracking during internship.</a:t>
            </a:r>
          </a:p>
        </p:txBody>
      </p:sp>
      <p:sp>
        <p:nvSpPr>
          <p:cNvPr id="73" name="Rectangle 73"/>
          <p:cNvSpPr/>
          <p:nvPr/>
        </p:nvSpPr>
        <p:spPr>
          <a:xfrm>
            <a:off x="6438900" y="3848100"/>
            <a:ext cx="5219700" cy="361950"/>
          </a:xfrm>
          <a:prstGeom prst="roundRect">
            <a:avLst>
              <a:gd name="adj" fmla="val 10526"/>
            </a:avLst>
          </a:prstGeom>
          <a:solidFill>
            <a:srgbClr val="FFFFFF"/>
          </a:solidFill>
          <a:ln>
            <a:noFill/>
          </a:ln>
        </p:spPr>
      </p:sp>
      <p:sp>
        <p:nvSpPr>
          <p:cNvPr id="74" name="TextBox 74"/>
          <p:cNvSpPr txBox="1"/>
          <p:nvPr/>
        </p:nvSpPr>
        <p:spPr>
          <a:xfrm>
            <a:off x="6542722" y="3911441"/>
            <a:ext cx="696714" cy="167640"/>
          </a:xfrm>
          <a:prstGeom prst="rect">
            <a:avLst/>
          </a:prstGeom>
          <a:noFill/>
          <a:ln>
            <a:noFill/>
          </a:ln>
        </p:spPr>
        <p:txBody>
          <a:bodyPr wrap="none" lIns="0" tIns="0" rIns="0" bIns="0" anchor="t" anchorCtr="0">
            <a:spAutoFit/>
          </a:bodyPr>
          <a:lstStyle/>
          <a:p>
            <a:pPr algn="l"/>
            <a:r>
              <a:rPr lang="zh-CN" sz="825" b="1" dirty="0">
                <a:solidFill>
                  <a:srgbClr val="AE232F"/>
                </a:solidFill>
                <a:latin typeface="Arial"/>
                <a:ea typeface="Microsoft YaHei"/>
                <a:cs typeface="Arial"/>
              </a:rPr>
              <a:t>Action Plan:</a:t>
            </a:r>
          </a:p>
        </p:txBody>
      </p:sp>
      <p:sp>
        <p:nvSpPr>
          <p:cNvPr id="75" name="TextBox 75"/>
          <p:cNvSpPr txBox="1"/>
          <p:nvPr/>
        </p:nvSpPr>
        <p:spPr>
          <a:xfrm>
            <a:off x="7419022" y="3911441"/>
            <a:ext cx="3112341"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Eager to learn DKSH's CRM quickly — I adapt fast to tools.</a:t>
            </a:r>
          </a:p>
        </p:txBody>
      </p:sp>
      <p:sp>
        <p:nvSpPr>
          <p:cNvPr id="76" name="TextBox 76"/>
          <p:cNvSpPr txBox="1"/>
          <p:nvPr/>
        </p:nvSpPr>
        <p:spPr>
          <a:xfrm>
            <a:off x="6542722" y="4063841"/>
            <a:ext cx="3783425"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My attention to detail translates directly to accurate call reporting.</a:t>
            </a:r>
          </a:p>
        </p:txBody>
      </p:sp>
      <p:sp>
        <p:nvSpPr>
          <p:cNvPr id="77" name="Rectangle 77"/>
          <p:cNvSpPr/>
          <p:nvPr/>
        </p:nvSpPr>
        <p:spPr>
          <a:xfrm>
            <a:off x="6438900" y="4438650"/>
            <a:ext cx="5219700" cy="838200"/>
          </a:xfrm>
          <a:prstGeom prst="roundRect">
            <a:avLst>
              <a:gd name="adj" fmla="val 9091"/>
            </a:avLst>
          </a:prstGeom>
          <a:solidFill>
            <a:srgbClr val="F9E5E7"/>
          </a:solidFill>
          <a:ln>
            <a:noFill/>
          </a:ln>
        </p:spPr>
      </p:sp>
      <p:sp>
        <p:nvSpPr>
          <p:cNvPr id="78" name="Rectangle 78"/>
          <p:cNvSpPr/>
          <p:nvPr/>
        </p:nvSpPr>
        <p:spPr>
          <a:xfrm>
            <a:off x="6438900" y="4438650"/>
            <a:ext cx="38100" cy="838200"/>
          </a:xfrm>
          <a:prstGeom prst="roundRect">
            <a:avLst>
              <a:gd name="adj" fmla="val 50000"/>
            </a:avLst>
          </a:prstGeom>
          <a:solidFill>
            <a:srgbClr val="AE232F"/>
          </a:solidFill>
          <a:ln>
            <a:noFill/>
          </a:ln>
        </p:spPr>
      </p:sp>
      <p:sp>
        <p:nvSpPr>
          <p:cNvPr id="79" name="Freeform 79"/>
          <p:cNvSpPr/>
          <p:nvPr/>
        </p:nvSpPr>
        <p:spPr>
          <a:xfrm>
            <a:off x="6641999" y="4632075"/>
            <a:ext cx="165089" cy="145489"/>
          </a:xfrm>
          <a:custGeom>
            <a:avLst/>
            <a:gdLst/>
            <a:ahLst/>
            <a:cxnLst/>
            <a:rect l="l" t="t" r="r" b="b"/>
            <a:pathLst>
              <a:path w="165089" h="145489">
                <a:moveTo>
                  <a:pt x="42797" y="2425"/>
                </a:moveTo>
                <a:cubicBezTo>
                  <a:pt x="57027" y="0"/>
                  <a:pt x="71588" y="4160"/>
                  <a:pt x="82389" y="13735"/>
                </a:cubicBezTo>
                <a:lnTo>
                  <a:pt x="82683" y="13997"/>
                </a:lnTo>
                <a:lnTo>
                  <a:pt x="82953" y="13759"/>
                </a:lnTo>
                <a:cubicBezTo>
                  <a:pt x="93249" y="4724"/>
                  <a:pt x="106937" y="559"/>
                  <a:pt x="120521" y="2329"/>
                </a:cubicBezTo>
                <a:lnTo>
                  <a:pt x="122474" y="2615"/>
                </a:lnTo>
                <a:cubicBezTo>
                  <a:pt x="139717" y="5592"/>
                  <a:pt x="153939" y="17785"/>
                  <a:pt x="159514" y="34372"/>
                </a:cubicBezTo>
                <a:cubicBezTo>
                  <a:pt x="165089" y="50958"/>
                  <a:pt x="161119" y="69266"/>
                  <a:pt x="149176" y="82054"/>
                </a:cubicBezTo>
                <a:lnTo>
                  <a:pt x="147747" y="83522"/>
                </a:lnTo>
                <a:lnTo>
                  <a:pt x="147366" y="83847"/>
                </a:lnTo>
                <a:lnTo>
                  <a:pt x="88231" y="142418"/>
                </a:lnTo>
                <a:cubicBezTo>
                  <a:pt x="85409" y="145211"/>
                  <a:pt x="80957" y="145489"/>
                  <a:pt x="77809" y="143069"/>
                </a:cubicBezTo>
                <a:lnTo>
                  <a:pt x="77063" y="142418"/>
                </a:lnTo>
                <a:lnTo>
                  <a:pt x="17588" y="83506"/>
                </a:lnTo>
                <a:cubicBezTo>
                  <a:pt x="4740" y="71006"/>
                  <a:pt x="0" y="52350"/>
                  <a:pt x="5322" y="35233"/>
                </a:cubicBezTo>
                <a:cubicBezTo>
                  <a:pt x="10644" y="18116"/>
                  <a:pt x="25127" y="5437"/>
                  <a:pt x="42797" y="2425"/>
                </a:cubicBezTo>
                <a:close/>
              </a:path>
            </a:pathLst>
          </a:custGeom>
          <a:solidFill>
            <a:srgbClr val="AE232F"/>
          </a:solidFill>
          <a:ln>
            <a:noFill/>
          </a:ln>
        </p:spPr>
      </p:sp>
      <p:sp>
        <p:nvSpPr>
          <p:cNvPr id="80" name="TextBox 80"/>
          <p:cNvSpPr txBox="1"/>
          <p:nvPr/>
        </p:nvSpPr>
        <p:spPr>
          <a:xfrm>
            <a:off x="6883718" y="4561999"/>
            <a:ext cx="1062295"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Growth Mindset</a:t>
            </a:r>
          </a:p>
        </p:txBody>
      </p:sp>
      <p:sp>
        <p:nvSpPr>
          <p:cNvPr id="81" name="TextBox 81"/>
          <p:cNvSpPr txBox="1"/>
          <p:nvPr/>
        </p:nvSpPr>
        <p:spPr>
          <a:xfrm>
            <a:off x="6617970" y="4760595"/>
            <a:ext cx="324526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I chose to present development areas honestly because</a:t>
            </a:r>
          </a:p>
        </p:txBody>
      </p:sp>
      <p:sp>
        <p:nvSpPr>
          <p:cNvPr id="82" name="TextBox 82"/>
          <p:cNvSpPr txBox="1"/>
          <p:nvPr/>
        </p:nvSpPr>
        <p:spPr>
          <a:xfrm>
            <a:off x="6617970" y="4932045"/>
            <a:ext cx="332927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self-awareness is a clinical skill, too. My learning curve</a:t>
            </a:r>
          </a:p>
        </p:txBody>
      </p:sp>
      <p:sp>
        <p:nvSpPr>
          <p:cNvPr id="83" name="TextBox 83"/>
          <p:cNvSpPr txBox="1"/>
          <p:nvPr/>
        </p:nvSpPr>
        <p:spPr>
          <a:xfrm>
            <a:off x="6617970" y="5103495"/>
            <a:ext cx="308324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on Clexane is short — my science base makes it fast.</a:t>
            </a:r>
          </a:p>
        </p:txBody>
      </p:sp>
      <p:sp>
        <p:nvSpPr>
          <p:cNvPr id="84" name="Rectangle 84"/>
          <p:cNvSpPr/>
          <p:nvPr/>
        </p:nvSpPr>
        <p:spPr>
          <a:xfrm>
            <a:off x="342900" y="5715000"/>
            <a:ext cx="11506200" cy="609600"/>
          </a:xfrm>
          <a:prstGeom prst="roundRect">
            <a:avLst>
              <a:gd name="adj" fmla="val 12500"/>
            </a:avLst>
          </a:prstGeom>
          <a:solidFill>
            <a:srgbClr val="AE232F"/>
          </a:solidFill>
          <a:ln>
            <a:noFill/>
          </a:ln>
          <a:effectLst>
            <a:outerShdw blurRad="76200" dist="19050" dir="5400000" algn="ctr" rotWithShape="0">
              <a:srgbClr val="000000">
                <a:alpha val="5250"/>
              </a:srgbClr>
            </a:outerShdw>
          </a:effectLst>
        </p:spPr>
      </p:sp>
      <p:grpSp>
        <p:nvGrpSpPr>
          <p:cNvPr id="87" name="Group 87"/>
          <p:cNvGrpSpPr/>
          <p:nvPr/>
        </p:nvGrpSpPr>
        <p:grpSpPr>
          <a:xfrm>
            <a:off x="611981" y="5891212"/>
            <a:ext cx="166688" cy="238126"/>
            <a:chOff x="611981" y="5891212"/>
            <a:chExt cx="166688" cy="238126"/>
          </a:xfrm>
        </p:grpSpPr>
        <p:sp>
          <p:nvSpPr>
            <p:cNvPr id="85" name="Freeform 85"/>
            <p:cNvSpPr/>
            <p:nvPr/>
          </p:nvSpPr>
          <p:spPr>
            <a:xfrm>
              <a:off x="635794" y="5891212"/>
              <a:ext cx="119062" cy="119062"/>
            </a:xfrm>
            <a:custGeom>
              <a:avLst/>
              <a:gdLst/>
              <a:ahLst/>
              <a:cxnLst/>
              <a:rect l="l" t="t" r="r" b="b"/>
              <a:pathLst>
                <a:path w="119062" h="119062">
                  <a:moveTo>
                    <a:pt x="59531" y="0"/>
                  </a:moveTo>
                  <a:cubicBezTo>
                    <a:pt x="92409" y="0"/>
                    <a:pt x="119062" y="26653"/>
                    <a:pt x="119062" y="59531"/>
                  </a:cubicBezTo>
                  <a:cubicBezTo>
                    <a:pt x="119062" y="92409"/>
                    <a:pt x="92409" y="119062"/>
                    <a:pt x="59531" y="119062"/>
                  </a:cubicBezTo>
                  <a:cubicBezTo>
                    <a:pt x="26653" y="119062"/>
                    <a:pt x="0" y="92409"/>
                    <a:pt x="0" y="59531"/>
                  </a:cubicBezTo>
                  <a:lnTo>
                    <a:pt x="60" y="56948"/>
                  </a:lnTo>
                  <a:cubicBezTo>
                    <a:pt x="1443" y="25106"/>
                    <a:pt x="27659" y="2"/>
                    <a:pt x="59531" y="0"/>
                  </a:cubicBezTo>
                  <a:close/>
                </a:path>
              </a:pathLst>
            </a:custGeom>
            <a:solidFill>
              <a:srgbClr val="FFFFFF"/>
            </a:solidFill>
            <a:ln>
              <a:noFill/>
            </a:ln>
          </p:spPr>
        </p:sp>
        <p:sp>
          <p:nvSpPr>
            <p:cNvPr id="86" name="Freeform 86"/>
            <p:cNvSpPr/>
            <p:nvPr/>
          </p:nvSpPr>
          <p:spPr>
            <a:xfrm>
              <a:off x="611981" y="6034088"/>
              <a:ext cx="166688" cy="95250"/>
            </a:xfrm>
            <a:custGeom>
              <a:avLst/>
              <a:gdLst/>
              <a:ahLst/>
              <a:cxnLst/>
              <a:rect l="l" t="t" r="r" b="b"/>
              <a:pathLst>
                <a:path w="166688" h="95250">
                  <a:moveTo>
                    <a:pt x="107156" y="0"/>
                  </a:moveTo>
                  <a:cubicBezTo>
                    <a:pt x="140034" y="0"/>
                    <a:pt x="166688" y="26653"/>
                    <a:pt x="166688" y="59531"/>
                  </a:cubicBezTo>
                  <a:lnTo>
                    <a:pt x="166688" y="71438"/>
                  </a:lnTo>
                  <a:cubicBezTo>
                    <a:pt x="166688" y="84589"/>
                    <a:pt x="156026" y="95250"/>
                    <a:pt x="142875" y="95250"/>
                  </a:cubicBezTo>
                  <a:lnTo>
                    <a:pt x="23812" y="95250"/>
                  </a:lnTo>
                  <a:cubicBezTo>
                    <a:pt x="10661" y="95250"/>
                    <a:pt x="0" y="84589"/>
                    <a:pt x="0" y="71438"/>
                  </a:cubicBezTo>
                  <a:lnTo>
                    <a:pt x="0" y="59531"/>
                  </a:lnTo>
                  <a:cubicBezTo>
                    <a:pt x="0" y="26653"/>
                    <a:pt x="26653" y="0"/>
                    <a:pt x="59531" y="0"/>
                  </a:cubicBezTo>
                  <a:lnTo>
                    <a:pt x="107156" y="0"/>
                  </a:lnTo>
                  <a:close/>
                </a:path>
              </a:pathLst>
            </a:custGeom>
            <a:solidFill>
              <a:srgbClr val="FFFFFF"/>
            </a:solidFill>
            <a:ln>
              <a:noFill/>
            </a:ln>
          </p:spPr>
        </p:sp>
      </p:grpSp>
      <p:sp>
        <p:nvSpPr>
          <p:cNvPr id="88" name="TextBox 88"/>
          <p:cNvSpPr txBox="1"/>
          <p:nvPr/>
        </p:nvSpPr>
        <p:spPr>
          <a:xfrm>
            <a:off x="938212" y="5831681"/>
            <a:ext cx="2533138" cy="228600"/>
          </a:xfrm>
          <a:prstGeom prst="rect">
            <a:avLst/>
          </a:prstGeom>
          <a:noFill/>
          <a:ln>
            <a:noFill/>
          </a:ln>
        </p:spPr>
        <p:txBody>
          <a:bodyPr wrap="none" lIns="0" tIns="0" rIns="0" bIns="0" anchor="t" anchorCtr="0">
            <a:spAutoFit/>
          </a:bodyPr>
          <a:lstStyle/>
          <a:p>
            <a:pPr algn="l"/>
            <a:r>
              <a:rPr lang="zh-CN" sz="1125" b="1" dirty="0">
                <a:solidFill>
                  <a:srgbClr val="FFFFFF"/>
                </a:solidFill>
                <a:latin typeface="Arial"/>
                <a:ea typeface="Microsoft YaHei"/>
                <a:cs typeface="Arial"/>
              </a:rPr>
              <a:t>Why Me for Clexane® MR at DKSH?</a:t>
            </a:r>
          </a:p>
        </p:txBody>
      </p:sp>
      <p:sp>
        <p:nvSpPr>
          <p:cNvPr id="89" name="TextBox 89"/>
          <p:cNvSpPr txBox="1"/>
          <p:nvPr/>
        </p:nvSpPr>
        <p:spPr>
          <a:xfrm>
            <a:off x="940118" y="6057424"/>
            <a:ext cx="9977509"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Pharm.D. science + real MR field experience + honest self-awareness = a rep physicians trust and DKSH can develop. I'm not a blank slate — I'm a head start.</a:t>
            </a:r>
          </a:p>
        </p:txBody>
      </p:sp>
      <p:grpSp>
        <p:nvGrpSpPr>
          <p:cNvPr id="92" name="Group 92"/>
          <p:cNvGrpSpPr/>
          <p:nvPr/>
        </p:nvGrpSpPr>
        <p:grpSpPr>
          <a:xfrm>
            <a:off x="0" y="6496050"/>
            <a:ext cx="12192000" cy="361950"/>
            <a:chOff x="0" y="6496050"/>
            <a:chExt cx="12192000" cy="361950"/>
          </a:xfrm>
        </p:grpSpPr>
        <p:sp>
          <p:nvSpPr>
            <p:cNvPr id="90" name="Rectangle 90"/>
            <p:cNvSpPr/>
            <p:nvPr/>
          </p:nvSpPr>
          <p:spPr>
            <a:xfrm>
              <a:off x="0" y="6496050"/>
              <a:ext cx="12192000" cy="361950"/>
            </a:xfrm>
            <a:prstGeom prst="rect">
              <a:avLst/>
            </a:prstGeom>
            <a:solidFill>
              <a:srgbClr val="AE232F"/>
            </a:solidFill>
            <a:ln>
              <a:noFill/>
            </a:ln>
          </p:spPr>
        </p:sp>
        <p:sp>
          <p:nvSpPr>
            <p:cNvPr id="91" name="TextBox 91"/>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Polygon 3"/>
          <p:cNvSpPr/>
          <p:nvPr/>
        </p:nvSpPr>
        <p:spPr>
          <a:xfrm>
            <a:off x="0" y="0"/>
            <a:ext cx="3048000" cy="2095500"/>
          </a:xfrm>
          <a:custGeom>
            <a:avLst/>
            <a:gdLst/>
            <a:ahLst/>
            <a:cxnLst/>
            <a:rect l="l" t="t" r="r" b="b"/>
            <a:pathLst>
              <a:path w="3048000" h="2095500">
                <a:moveTo>
                  <a:pt x="0" y="0"/>
                </a:moveTo>
                <a:lnTo>
                  <a:pt x="3048000" y="0"/>
                </a:lnTo>
                <a:lnTo>
                  <a:pt x="0" y="2095500"/>
                </a:lnTo>
                <a:close/>
              </a:path>
            </a:pathLst>
          </a:custGeom>
          <a:solidFill>
            <a:srgbClr val="F9E5E7"/>
          </a:solidFill>
          <a:ln>
            <a:noFill/>
          </a:ln>
        </p:spPr>
      </p:sp>
      <p:sp>
        <p:nvSpPr>
          <p:cNvPr id="4" name="Polygon 4"/>
          <p:cNvSpPr/>
          <p:nvPr/>
        </p:nvSpPr>
        <p:spPr>
          <a:xfrm>
            <a:off x="0" y="0"/>
            <a:ext cx="1905000" cy="1238250"/>
          </a:xfrm>
          <a:custGeom>
            <a:avLst/>
            <a:gdLst/>
            <a:ahLst/>
            <a:cxnLst/>
            <a:rect l="l" t="t" r="r" b="b"/>
            <a:pathLst>
              <a:path w="1905000" h="1238250">
                <a:moveTo>
                  <a:pt x="0" y="0"/>
                </a:moveTo>
                <a:lnTo>
                  <a:pt x="1905000" y="0"/>
                </a:lnTo>
                <a:lnTo>
                  <a:pt x="0" y="1238250"/>
                </a:lnTo>
                <a:close/>
              </a:path>
            </a:pathLst>
          </a:custGeom>
          <a:solidFill>
            <a:srgbClr val="AE232F">
              <a:alpha val="12000"/>
            </a:srgbClr>
          </a:solidFill>
          <a:ln>
            <a:noFill/>
          </a:ln>
        </p:spPr>
      </p:sp>
      <p:sp>
        <p:nvSpPr>
          <p:cNvPr id="5" name="Polygon 5"/>
          <p:cNvSpPr/>
          <p:nvPr/>
        </p:nvSpPr>
        <p:spPr>
          <a:xfrm>
            <a:off x="9144000" y="4762500"/>
            <a:ext cx="3048000" cy="2095500"/>
          </a:xfrm>
          <a:custGeom>
            <a:avLst/>
            <a:gdLst/>
            <a:ahLst/>
            <a:cxnLst/>
            <a:rect l="l" t="t" r="r" b="b"/>
            <a:pathLst>
              <a:path w="3048000" h="2095500">
                <a:moveTo>
                  <a:pt x="3048000" y="2095500"/>
                </a:moveTo>
                <a:lnTo>
                  <a:pt x="0" y="2095500"/>
                </a:lnTo>
                <a:lnTo>
                  <a:pt x="3048000" y="0"/>
                </a:lnTo>
                <a:close/>
              </a:path>
            </a:pathLst>
          </a:custGeom>
          <a:solidFill>
            <a:srgbClr val="F9E5E7"/>
          </a:solidFill>
          <a:ln>
            <a:noFill/>
          </a:ln>
        </p:spPr>
      </p:sp>
      <p:sp>
        <p:nvSpPr>
          <p:cNvPr id="6" name="Polygon 6"/>
          <p:cNvSpPr/>
          <p:nvPr/>
        </p:nvSpPr>
        <p:spPr>
          <a:xfrm>
            <a:off x="10287000" y="5619750"/>
            <a:ext cx="1905000" cy="1238250"/>
          </a:xfrm>
          <a:custGeom>
            <a:avLst/>
            <a:gdLst/>
            <a:ahLst/>
            <a:cxnLst/>
            <a:rect l="l" t="t" r="r" b="b"/>
            <a:pathLst>
              <a:path w="1905000" h="1238250">
                <a:moveTo>
                  <a:pt x="1905000" y="1238250"/>
                </a:moveTo>
                <a:lnTo>
                  <a:pt x="0" y="1238250"/>
                </a:lnTo>
                <a:lnTo>
                  <a:pt x="1905000" y="0"/>
                </a:lnTo>
                <a:close/>
              </a:path>
            </a:pathLst>
          </a:custGeom>
          <a:solidFill>
            <a:srgbClr val="AE232F">
              <a:alpha val="12000"/>
            </a:srgbClr>
          </a:solidFill>
          <a:ln>
            <a:noFill/>
          </a:ln>
        </p:spPr>
      </p:sp>
      <p:sp>
        <p:nvSpPr>
          <p:cNvPr id="7" name="TextBox 7"/>
          <p:cNvSpPr txBox="1"/>
          <p:nvPr/>
        </p:nvSpPr>
        <p:spPr>
          <a:xfrm>
            <a:off x="330518" y="294799"/>
            <a:ext cx="460319" cy="198120"/>
          </a:xfrm>
          <a:prstGeom prst="rect">
            <a:avLst/>
          </a:prstGeom>
          <a:noFill/>
          <a:ln>
            <a:noFill/>
          </a:ln>
        </p:spPr>
        <p:txBody>
          <a:bodyPr wrap="none" lIns="0" tIns="0" rIns="0" bIns="0" anchor="t" anchorCtr="0">
            <a:spAutoFit/>
          </a:bodyPr>
          <a:lstStyle/>
          <a:p>
            <a:pPr algn="l"/>
            <a:r>
              <a:rPr lang="zh-CN" sz="975" dirty="0">
                <a:solidFill>
                  <a:srgbClr val="AE232F">
                    <a:alphaMod val="60000"/>
                  </a:srgbClr>
                </a:solidFill>
                <a:latin typeface="Arial"/>
                <a:ea typeface="Microsoft YaHei"/>
                <a:cs typeface="Arial"/>
              </a:rPr>
              <a:t>06 / 06</a:t>
            </a:r>
          </a:p>
        </p:txBody>
      </p:sp>
      <p:sp>
        <p:nvSpPr>
          <p:cNvPr id="8" name="Rectangle 8"/>
          <p:cNvSpPr/>
          <p:nvPr/>
        </p:nvSpPr>
        <p:spPr>
          <a:xfrm>
            <a:off x="4572000" y="1123950"/>
            <a:ext cx="3048000" cy="38100"/>
          </a:xfrm>
          <a:prstGeom prst="roundRect">
            <a:avLst>
              <a:gd name="adj" fmla="val 50000"/>
            </a:avLst>
          </a:prstGeom>
          <a:solidFill>
            <a:srgbClr val="AE232F"/>
          </a:solidFill>
          <a:ln>
            <a:noFill/>
          </a:ln>
        </p:spPr>
      </p:sp>
      <p:sp>
        <p:nvSpPr>
          <p:cNvPr id="9" name="TextBox 9"/>
          <p:cNvSpPr txBox="1"/>
          <p:nvPr/>
        </p:nvSpPr>
        <p:spPr>
          <a:xfrm>
            <a:off x="2219401" y="1306830"/>
            <a:ext cx="7753198" cy="731520"/>
          </a:xfrm>
          <a:prstGeom prst="rect">
            <a:avLst/>
          </a:prstGeom>
          <a:noFill/>
          <a:ln>
            <a:noFill/>
          </a:ln>
        </p:spPr>
        <p:txBody>
          <a:bodyPr wrap="none" lIns="0" tIns="0" rIns="0" bIns="0" anchor="t" anchorCtr="0">
            <a:spAutoFit/>
          </a:bodyPr>
          <a:lstStyle/>
          <a:p>
            <a:pPr algn="ctr"/>
            <a:r>
              <a:rPr lang="zh-CN" sz="3600" b="1" dirty="0">
                <a:solidFill>
                  <a:srgbClr val="1A1A1A"/>
                </a:solidFill>
                <a:latin typeface="Arial"/>
                <a:ea typeface="Microsoft YaHei"/>
                <a:cs typeface="Arial"/>
              </a:rPr>
              <a:t>Thank You for This Opportunity</a:t>
            </a:r>
          </a:p>
        </p:txBody>
      </p:sp>
      <p:sp>
        <p:nvSpPr>
          <p:cNvPr id="10" name="TextBox 10"/>
          <p:cNvSpPr txBox="1"/>
          <p:nvPr/>
        </p:nvSpPr>
        <p:spPr>
          <a:xfrm>
            <a:off x="3171587" y="1971675"/>
            <a:ext cx="5848826" cy="304800"/>
          </a:xfrm>
          <a:prstGeom prst="rect">
            <a:avLst/>
          </a:prstGeom>
          <a:noFill/>
          <a:ln>
            <a:noFill/>
          </a:ln>
        </p:spPr>
        <p:txBody>
          <a:bodyPr wrap="none" lIns="0" tIns="0" rIns="0" bIns="0" anchor="t" anchorCtr="0">
            <a:spAutoFit/>
          </a:bodyPr>
          <a:lstStyle/>
          <a:p>
            <a:pPr algn="ctr"/>
            <a:r>
              <a:rPr lang="zh-CN" sz="1500" dirty="0">
                <a:solidFill>
                  <a:srgbClr val="AE232F"/>
                </a:solidFill>
                <a:latin typeface="Arial"/>
                <a:ea typeface="Microsoft YaHei"/>
                <a:cs typeface="Arial"/>
              </a:rPr>
              <a:t>I am ready to represent Clexane® with science and purpose.</a:t>
            </a:r>
          </a:p>
        </p:txBody>
      </p:sp>
      <p:sp>
        <p:nvSpPr>
          <p:cNvPr id="11" name="Line 11"/>
          <p:cNvSpPr/>
          <p:nvPr/>
        </p:nvSpPr>
        <p:spPr>
          <a:xfrm>
            <a:off x="4572000" y="2419350"/>
            <a:ext cx="3048000" cy="9525"/>
          </a:xfrm>
          <a:custGeom>
            <a:avLst/>
            <a:gdLst/>
            <a:ahLst/>
            <a:cxnLst/>
            <a:rect l="l" t="t" r="r" b="b"/>
            <a:pathLst>
              <a:path w="3048000" h="9525">
                <a:moveTo>
                  <a:pt x="0" y="0"/>
                </a:moveTo>
                <a:lnTo>
                  <a:pt x="3048000" y="0"/>
                </a:lnTo>
              </a:path>
            </a:pathLst>
          </a:custGeom>
          <a:noFill/>
          <a:ln w="9525">
            <a:solidFill>
              <a:srgbClr val="E0E0E0"/>
            </a:solidFill>
          </a:ln>
        </p:spPr>
      </p:sp>
      <p:sp>
        <p:nvSpPr>
          <p:cNvPr id="12" name="TextBox 12"/>
          <p:cNvSpPr txBox="1"/>
          <p:nvPr/>
        </p:nvSpPr>
        <p:spPr>
          <a:xfrm>
            <a:off x="3700462" y="2689860"/>
            <a:ext cx="4791075" cy="243840"/>
          </a:xfrm>
          <a:prstGeom prst="rect">
            <a:avLst/>
          </a:prstGeom>
          <a:noFill/>
          <a:ln>
            <a:noFill/>
          </a:ln>
        </p:spPr>
        <p:txBody>
          <a:bodyPr wrap="none" lIns="0" tIns="0" rIns="0" bIns="0" anchor="t" anchorCtr="0">
            <a:spAutoFit/>
          </a:bodyPr>
          <a:lstStyle/>
          <a:p>
            <a:pPr algn="ctr"/>
            <a:r>
              <a:rPr lang="zh-CN" sz="1200" dirty="0">
                <a:solidFill>
                  <a:srgbClr val="555555"/>
                </a:solidFill>
                <a:latin typeface="Arial"/>
                <a:ea typeface="Microsoft YaHei"/>
                <a:cs typeface="Arial"/>
              </a:rPr>
              <a:t>My commitment: Every physician I visit will leave knowing one</a:t>
            </a:r>
          </a:p>
        </p:txBody>
      </p:sp>
      <p:sp>
        <p:nvSpPr>
          <p:cNvPr id="13" name="TextBox 13"/>
          <p:cNvSpPr txBox="1"/>
          <p:nvPr/>
        </p:nvSpPr>
        <p:spPr>
          <a:xfrm>
            <a:off x="3244405" y="2899410"/>
            <a:ext cx="5703189" cy="243840"/>
          </a:xfrm>
          <a:prstGeom prst="rect">
            <a:avLst/>
          </a:prstGeom>
          <a:noFill/>
          <a:ln>
            <a:noFill/>
          </a:ln>
        </p:spPr>
        <p:txBody>
          <a:bodyPr wrap="none" lIns="0" tIns="0" rIns="0" bIns="0" anchor="t" anchorCtr="0">
            <a:spAutoFit/>
          </a:bodyPr>
          <a:lstStyle/>
          <a:p>
            <a:pPr algn="ctr"/>
            <a:r>
              <a:rPr lang="zh-CN" sz="1200" dirty="0">
                <a:solidFill>
                  <a:srgbClr val="555555"/>
                </a:solidFill>
                <a:latin typeface="Arial"/>
                <a:ea typeface="Microsoft YaHei"/>
                <a:cs typeface="Arial"/>
              </a:rPr>
              <a:t>new reason to trust Clexane® — backed by evidence, delivered with care.</a:t>
            </a:r>
          </a:p>
        </p:txBody>
      </p:sp>
      <p:sp>
        <p:nvSpPr>
          <p:cNvPr id="14" name="Rectangle 14"/>
          <p:cNvSpPr/>
          <p:nvPr/>
        </p:nvSpPr>
        <p:spPr>
          <a:xfrm>
            <a:off x="3714750" y="3352800"/>
            <a:ext cx="4762500" cy="1333500"/>
          </a:xfrm>
          <a:prstGeom prst="roundRect">
            <a:avLst>
              <a:gd name="adj" fmla="val 8571"/>
            </a:avLst>
          </a:prstGeom>
          <a:solidFill>
            <a:srgbClr val="F5F5F5"/>
          </a:solidFill>
          <a:ln>
            <a:noFill/>
          </a:ln>
          <a:effectLst>
            <a:outerShdw blurRad="95250" dist="28575" dir="5400000" algn="ctr" rotWithShape="0">
              <a:srgbClr val="000000">
                <a:alpha val="6000"/>
              </a:srgbClr>
            </a:outerShdw>
          </a:effectLst>
        </p:spPr>
      </p:sp>
      <p:sp>
        <p:nvSpPr>
          <p:cNvPr id="15" name="Rectangle 15"/>
          <p:cNvSpPr/>
          <p:nvPr/>
        </p:nvSpPr>
        <p:spPr>
          <a:xfrm>
            <a:off x="3714750" y="3352800"/>
            <a:ext cx="4762500" cy="38100"/>
          </a:xfrm>
          <a:prstGeom prst="roundRect">
            <a:avLst>
              <a:gd name="adj" fmla="val 50000"/>
            </a:avLst>
          </a:prstGeom>
          <a:solidFill>
            <a:srgbClr val="AE232F"/>
          </a:solidFill>
          <a:ln>
            <a:noFill/>
          </a:ln>
        </p:spPr>
      </p:sp>
      <p:sp>
        <p:nvSpPr>
          <p:cNvPr id="16" name="TextBox 16"/>
          <p:cNvSpPr txBox="1"/>
          <p:nvPr/>
        </p:nvSpPr>
        <p:spPr>
          <a:xfrm>
            <a:off x="4538508" y="3571875"/>
            <a:ext cx="3114985" cy="304800"/>
          </a:xfrm>
          <a:prstGeom prst="rect">
            <a:avLst/>
          </a:prstGeom>
          <a:noFill/>
          <a:ln>
            <a:noFill/>
          </a:ln>
        </p:spPr>
        <p:txBody>
          <a:bodyPr wrap="none" lIns="0" tIns="0" rIns="0" bIns="0" anchor="t" anchorCtr="0">
            <a:spAutoFit/>
          </a:bodyPr>
          <a:lstStyle/>
          <a:p>
            <a:pPr algn="ctr"/>
            <a:r>
              <a:rPr lang="zh-CN" sz="1500" b="1" dirty="0">
                <a:solidFill>
                  <a:srgbClr val="1A1A1A"/>
                </a:solidFill>
                <a:latin typeface="Arial"/>
                <a:ea typeface="Microsoft YaHei"/>
                <a:cs typeface="Arial"/>
              </a:rPr>
              <a:t>Rattanakorn Rattanaroj (Jan)</a:t>
            </a:r>
          </a:p>
        </p:txBody>
      </p:sp>
      <p:sp>
        <p:nvSpPr>
          <p:cNvPr id="17" name="TextBox 17"/>
          <p:cNvSpPr txBox="1"/>
          <p:nvPr/>
        </p:nvSpPr>
        <p:spPr>
          <a:xfrm>
            <a:off x="4339447" y="3849052"/>
            <a:ext cx="3513106" cy="213360"/>
          </a:xfrm>
          <a:prstGeom prst="rect">
            <a:avLst/>
          </a:prstGeom>
          <a:noFill/>
          <a:ln>
            <a:noFill/>
          </a:ln>
        </p:spPr>
        <p:txBody>
          <a:bodyPr wrap="none" lIns="0" tIns="0" rIns="0" bIns="0" anchor="t" anchorCtr="0">
            <a:spAutoFit/>
          </a:bodyPr>
          <a:lstStyle/>
          <a:p>
            <a:pPr algn="ctr"/>
            <a:r>
              <a:rPr lang="zh-CN" sz="1050" dirty="0">
                <a:solidFill>
                  <a:srgbClr val="AE232F"/>
                </a:solidFill>
                <a:latin typeface="Arial"/>
                <a:ea typeface="Microsoft YaHei"/>
                <a:cs typeface="Arial"/>
              </a:rPr>
              <a:t>Pharm.D. · MR Candidate · Clexane® / DKSH Thailand</a:t>
            </a:r>
          </a:p>
        </p:txBody>
      </p:sp>
      <p:sp>
        <p:nvSpPr>
          <p:cNvPr id="18" name="Line 18"/>
          <p:cNvSpPr/>
          <p:nvPr/>
        </p:nvSpPr>
        <p:spPr>
          <a:xfrm>
            <a:off x="4095750" y="4114800"/>
            <a:ext cx="4000500" cy="9525"/>
          </a:xfrm>
          <a:custGeom>
            <a:avLst/>
            <a:gdLst/>
            <a:ahLst/>
            <a:cxnLst/>
            <a:rect l="l" t="t" r="r" b="b"/>
            <a:pathLst>
              <a:path w="4000500" h="9525">
                <a:moveTo>
                  <a:pt x="0" y="0"/>
                </a:moveTo>
                <a:lnTo>
                  <a:pt x="4000500" y="0"/>
                </a:lnTo>
              </a:path>
            </a:pathLst>
          </a:custGeom>
          <a:noFill/>
          <a:ln w="9525">
            <a:solidFill>
              <a:srgbClr val="E0E0E0"/>
            </a:solidFill>
          </a:ln>
        </p:spPr>
      </p:sp>
      <p:sp>
        <p:nvSpPr>
          <p:cNvPr id="19" name="TextBox 19"/>
          <p:cNvSpPr txBox="1"/>
          <p:nvPr/>
        </p:nvSpPr>
        <p:spPr>
          <a:xfrm>
            <a:off x="3931015" y="4238149"/>
            <a:ext cx="1662970" cy="198120"/>
          </a:xfrm>
          <a:prstGeom prst="rect">
            <a:avLst/>
          </a:prstGeom>
          <a:noFill/>
          <a:ln>
            <a:noFill/>
          </a:ln>
        </p:spPr>
        <p:txBody>
          <a:bodyPr wrap="none" lIns="0" tIns="0" rIns="0" bIns="0" anchor="t" anchorCtr="0">
            <a:spAutoFit/>
          </a:bodyPr>
          <a:lstStyle/>
          <a:p>
            <a:pPr algn="ctr"/>
            <a:r>
              <a:rPr lang="zh-CN" sz="975" dirty="0">
                <a:solidFill>
                  <a:srgbClr val="555555"/>
                </a:solidFill>
                <a:latin typeface="Arial"/>
                <a:ea typeface="Microsoft YaHei"/>
                <a:cs typeface="Arial"/>
              </a:rPr>
              <a:t>Rattanaroj.jan@gmail.com</a:t>
            </a:r>
          </a:p>
        </p:txBody>
      </p:sp>
      <p:sp>
        <p:nvSpPr>
          <p:cNvPr id="20" name="TextBox 20"/>
          <p:cNvSpPr txBox="1"/>
          <p:nvPr/>
        </p:nvSpPr>
        <p:spPr>
          <a:xfrm>
            <a:off x="6064115" y="4238149"/>
            <a:ext cx="63770" cy="198120"/>
          </a:xfrm>
          <a:prstGeom prst="rect">
            <a:avLst/>
          </a:prstGeom>
          <a:noFill/>
          <a:ln>
            <a:noFill/>
          </a:ln>
        </p:spPr>
        <p:txBody>
          <a:bodyPr wrap="none" lIns="0" tIns="0" rIns="0" bIns="0" anchor="t" anchorCtr="0">
            <a:spAutoFit/>
          </a:bodyPr>
          <a:lstStyle/>
          <a:p>
            <a:pPr algn="ctr"/>
            <a:r>
              <a:rPr lang="zh-CN" sz="975" dirty="0">
                <a:solidFill>
                  <a:srgbClr val="E0E0E0"/>
                </a:solidFill>
                <a:latin typeface="Arial"/>
                <a:ea typeface="Microsoft YaHei"/>
                <a:cs typeface="Arial"/>
              </a:rPr>
              <a:t>|</a:t>
            </a:r>
          </a:p>
        </p:txBody>
      </p:sp>
      <p:sp>
        <p:nvSpPr>
          <p:cNvPr id="21" name="TextBox 21"/>
          <p:cNvSpPr txBox="1"/>
          <p:nvPr/>
        </p:nvSpPr>
        <p:spPr>
          <a:xfrm>
            <a:off x="6988064" y="4238149"/>
            <a:ext cx="882872" cy="198120"/>
          </a:xfrm>
          <a:prstGeom prst="rect">
            <a:avLst/>
          </a:prstGeom>
          <a:noFill/>
          <a:ln>
            <a:noFill/>
          </a:ln>
        </p:spPr>
        <p:txBody>
          <a:bodyPr wrap="none" lIns="0" tIns="0" rIns="0" bIns="0" anchor="t" anchorCtr="0">
            <a:spAutoFit/>
          </a:bodyPr>
          <a:lstStyle/>
          <a:p>
            <a:pPr algn="ctr"/>
            <a:r>
              <a:rPr lang="zh-CN" sz="975" dirty="0">
                <a:solidFill>
                  <a:srgbClr val="555555"/>
                </a:solidFill>
                <a:latin typeface="Arial"/>
                <a:ea typeface="Microsoft YaHei"/>
                <a:cs typeface="Arial"/>
              </a:rPr>
              <a:t>080-045-0821</a:t>
            </a:r>
          </a:p>
        </p:txBody>
      </p:sp>
      <p:sp>
        <p:nvSpPr>
          <p:cNvPr id="22" name="TextBox 22"/>
          <p:cNvSpPr txBox="1"/>
          <p:nvPr/>
        </p:nvSpPr>
        <p:spPr>
          <a:xfrm>
            <a:off x="4085272" y="4501991"/>
            <a:ext cx="1110091" cy="167640"/>
          </a:xfrm>
          <a:prstGeom prst="rect">
            <a:avLst/>
          </a:prstGeom>
          <a:noFill/>
          <a:ln>
            <a:noFill/>
          </a:ln>
        </p:spPr>
        <p:txBody>
          <a:bodyPr wrap="none" lIns="0" tIns="0" rIns="0" bIns="0" anchor="t" anchorCtr="0">
            <a:spAutoFit/>
          </a:bodyPr>
          <a:lstStyle/>
          <a:p>
            <a:pPr algn="l"/>
            <a:r>
              <a:rPr lang="zh-CN" sz="825" dirty="0">
                <a:solidFill>
                  <a:srgbClr val="888888"/>
                </a:solidFill>
                <a:latin typeface="Arial"/>
                <a:ea typeface="Microsoft YaHei"/>
                <a:cs typeface="Arial"/>
              </a:rPr>
              <a:t>✔ Pharm.D. GPA 3.50</a:t>
            </a:r>
          </a:p>
        </p:txBody>
      </p:sp>
      <p:sp>
        <p:nvSpPr>
          <p:cNvPr id="23" name="TextBox 23"/>
          <p:cNvSpPr txBox="1"/>
          <p:nvPr/>
        </p:nvSpPr>
        <p:spPr>
          <a:xfrm>
            <a:off x="5609272" y="4501991"/>
            <a:ext cx="961573" cy="167640"/>
          </a:xfrm>
          <a:prstGeom prst="rect">
            <a:avLst/>
          </a:prstGeom>
          <a:noFill/>
          <a:ln>
            <a:noFill/>
          </a:ln>
        </p:spPr>
        <p:txBody>
          <a:bodyPr wrap="none" lIns="0" tIns="0" rIns="0" bIns="0" anchor="t" anchorCtr="0">
            <a:spAutoFit/>
          </a:bodyPr>
          <a:lstStyle/>
          <a:p>
            <a:pPr algn="l"/>
            <a:r>
              <a:rPr lang="zh-CN" sz="825" dirty="0">
                <a:solidFill>
                  <a:srgbClr val="888888"/>
                </a:solidFill>
                <a:latin typeface="Arial"/>
                <a:ea typeface="Microsoft YaHei"/>
                <a:cs typeface="Arial"/>
              </a:rPr>
              <a:t>✔ Roche MR Intern</a:t>
            </a:r>
          </a:p>
        </p:txBody>
      </p:sp>
      <p:sp>
        <p:nvSpPr>
          <p:cNvPr id="24" name="TextBox 24"/>
          <p:cNvSpPr txBox="1"/>
          <p:nvPr/>
        </p:nvSpPr>
        <p:spPr>
          <a:xfrm>
            <a:off x="6942772" y="4501991"/>
            <a:ext cx="1027581" cy="167640"/>
          </a:xfrm>
          <a:prstGeom prst="rect">
            <a:avLst/>
          </a:prstGeom>
          <a:noFill/>
          <a:ln>
            <a:noFill/>
          </a:ln>
        </p:spPr>
        <p:txBody>
          <a:bodyPr wrap="none" lIns="0" tIns="0" rIns="0" bIns="0" anchor="t" anchorCtr="0">
            <a:spAutoFit/>
          </a:bodyPr>
          <a:lstStyle/>
          <a:p>
            <a:pPr algn="l"/>
            <a:r>
              <a:rPr lang="zh-CN" sz="825" dirty="0">
                <a:solidFill>
                  <a:srgbClr val="888888"/>
                </a:solidFill>
                <a:latin typeface="Arial"/>
                <a:ea typeface="Microsoft YaHei"/>
                <a:cs typeface="Arial"/>
              </a:rPr>
              <a:t>✔ 3 Major Hospitals</a:t>
            </a:r>
          </a:p>
        </p:txBody>
      </p:sp>
      <p:sp>
        <p:nvSpPr>
          <p:cNvPr id="25" name="Rectangle 25"/>
          <p:cNvSpPr/>
          <p:nvPr/>
        </p:nvSpPr>
        <p:spPr>
          <a:xfrm>
            <a:off x="0" y="5810250"/>
            <a:ext cx="12192000" cy="685800"/>
          </a:xfrm>
          <a:prstGeom prst="rect">
            <a:avLst/>
          </a:prstGeom>
          <a:solidFill>
            <a:srgbClr val="AE232F"/>
          </a:solidFill>
          <a:ln>
            <a:noFill/>
          </a:ln>
        </p:spPr>
      </p:sp>
      <p:sp>
        <p:nvSpPr>
          <p:cNvPr id="26" name="Ellipse 26"/>
          <p:cNvSpPr/>
          <p:nvPr/>
        </p:nvSpPr>
        <p:spPr>
          <a:xfrm>
            <a:off x="533400" y="6115050"/>
            <a:ext cx="76200" cy="76200"/>
          </a:xfrm>
          <a:prstGeom prst="ellipse">
            <a:avLst/>
          </a:prstGeom>
          <a:solidFill>
            <a:srgbClr val="FFFFFF">
              <a:alpha val="30000"/>
            </a:srgbClr>
          </a:solidFill>
          <a:ln>
            <a:noFill/>
          </a:ln>
        </p:spPr>
      </p:sp>
      <p:sp>
        <p:nvSpPr>
          <p:cNvPr id="27" name="Ellipse 27"/>
          <p:cNvSpPr/>
          <p:nvPr/>
        </p:nvSpPr>
        <p:spPr>
          <a:xfrm>
            <a:off x="723900" y="6115050"/>
            <a:ext cx="76200" cy="76200"/>
          </a:xfrm>
          <a:prstGeom prst="ellipse">
            <a:avLst/>
          </a:prstGeom>
          <a:solidFill>
            <a:srgbClr val="FFFFFF">
              <a:alpha val="20000"/>
            </a:srgbClr>
          </a:solidFill>
          <a:ln>
            <a:noFill/>
          </a:ln>
        </p:spPr>
      </p:sp>
      <p:sp>
        <p:nvSpPr>
          <p:cNvPr id="28" name="Ellipse 28"/>
          <p:cNvSpPr/>
          <p:nvPr/>
        </p:nvSpPr>
        <p:spPr>
          <a:xfrm>
            <a:off x="914400" y="6115050"/>
            <a:ext cx="76200" cy="76200"/>
          </a:xfrm>
          <a:prstGeom prst="ellipse">
            <a:avLst/>
          </a:prstGeom>
          <a:solidFill>
            <a:srgbClr val="FFFFFF">
              <a:alpha val="10000"/>
            </a:srgbClr>
          </a:solidFill>
          <a:ln>
            <a:noFill/>
          </a:ln>
        </p:spPr>
      </p:sp>
      <p:sp>
        <p:nvSpPr>
          <p:cNvPr id="29" name="Ellipse 29"/>
          <p:cNvSpPr/>
          <p:nvPr/>
        </p:nvSpPr>
        <p:spPr>
          <a:xfrm>
            <a:off x="11201400" y="6115050"/>
            <a:ext cx="76200" cy="76200"/>
          </a:xfrm>
          <a:prstGeom prst="ellipse">
            <a:avLst/>
          </a:prstGeom>
          <a:solidFill>
            <a:srgbClr val="FFFFFF">
              <a:alpha val="10000"/>
            </a:srgbClr>
          </a:solidFill>
          <a:ln>
            <a:noFill/>
          </a:ln>
        </p:spPr>
      </p:sp>
      <p:sp>
        <p:nvSpPr>
          <p:cNvPr id="30" name="Ellipse 30"/>
          <p:cNvSpPr/>
          <p:nvPr/>
        </p:nvSpPr>
        <p:spPr>
          <a:xfrm>
            <a:off x="11391900" y="6115050"/>
            <a:ext cx="76200" cy="76200"/>
          </a:xfrm>
          <a:prstGeom prst="ellipse">
            <a:avLst/>
          </a:prstGeom>
          <a:solidFill>
            <a:srgbClr val="FFFFFF">
              <a:alpha val="20000"/>
            </a:srgbClr>
          </a:solidFill>
          <a:ln>
            <a:noFill/>
          </a:ln>
        </p:spPr>
      </p:sp>
      <p:sp>
        <p:nvSpPr>
          <p:cNvPr id="31" name="Ellipse 31"/>
          <p:cNvSpPr/>
          <p:nvPr/>
        </p:nvSpPr>
        <p:spPr>
          <a:xfrm>
            <a:off x="11582400" y="6115050"/>
            <a:ext cx="76200" cy="76200"/>
          </a:xfrm>
          <a:prstGeom prst="ellipse">
            <a:avLst/>
          </a:prstGeom>
          <a:solidFill>
            <a:srgbClr val="FFFFFF">
              <a:alpha val="30000"/>
            </a:srgbClr>
          </a:solidFill>
          <a:ln>
            <a:noFill/>
          </a:ln>
        </p:spPr>
      </p:sp>
      <p:sp>
        <p:nvSpPr>
          <p:cNvPr id="32" name="TextBox 32"/>
          <p:cNvSpPr txBox="1"/>
          <p:nvPr/>
        </p:nvSpPr>
        <p:spPr>
          <a:xfrm>
            <a:off x="3792854" y="5935028"/>
            <a:ext cx="4606292"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"Science in my hands. Patients in my mind. Growth in my goals."</a:t>
            </a:r>
          </a:p>
        </p:txBody>
      </p:sp>
      <p:sp>
        <p:nvSpPr>
          <p:cNvPr id="33" name="TextBox 33"/>
          <p:cNvSpPr txBox="1"/>
          <p:nvPr/>
        </p:nvSpPr>
        <p:spPr>
          <a:xfrm>
            <a:off x="4725400" y="6208395"/>
            <a:ext cx="2741200" cy="182880"/>
          </a:xfrm>
          <a:prstGeom prst="rect">
            <a:avLst/>
          </a:prstGeom>
          <a:noFill/>
          <a:ln>
            <a:noFill/>
          </a:ln>
        </p:spPr>
        <p:txBody>
          <a:bodyPr wrap="none" lIns="0" tIns="0" rIns="0" bIns="0" anchor="t" anchorCtr="0">
            <a:spAutoFit/>
          </a:bodyPr>
          <a:lstStyle/>
          <a:p>
            <a:pPr algn="ctr"/>
            <a:r>
              <a:rPr lang="zh-CN" sz="900" dirty="0">
                <a:solidFill>
                  <a:srgbClr val="F9E5E7"/>
                </a:solidFill>
                <a:latin typeface="Arial"/>
                <a:ea typeface="Microsoft YaHei"/>
                <a:cs typeface="Arial"/>
              </a:rPr>
              <a:t>— Rattanakorn Rattanaroj (Jan), MR Candidate</a:t>
            </a:r>
          </a:p>
        </p:txBody>
      </p:sp>
      <p:grpSp>
        <p:nvGrpSpPr>
          <p:cNvPr id="36" name="Group 36"/>
          <p:cNvGrpSpPr/>
          <p:nvPr/>
        </p:nvGrpSpPr>
        <p:grpSpPr>
          <a:xfrm>
            <a:off x="0" y="6496050"/>
            <a:ext cx="12192000" cy="361950"/>
            <a:chOff x="0" y="6496050"/>
            <a:chExt cx="12192000" cy="361950"/>
          </a:xfrm>
        </p:grpSpPr>
        <p:sp>
          <p:nvSpPr>
            <p:cNvPr id="34" name="Rectangle 34"/>
            <p:cNvSpPr/>
            <p:nvPr/>
          </p:nvSpPr>
          <p:spPr>
            <a:xfrm>
              <a:off x="0" y="6496050"/>
              <a:ext cx="12192000" cy="361950"/>
            </a:xfrm>
            <a:prstGeom prst="rect">
              <a:avLst/>
            </a:prstGeom>
            <a:solidFill>
              <a:srgbClr val="8A1B25"/>
            </a:solidFill>
            <a:ln>
              <a:noFill/>
            </a:ln>
          </p:spPr>
        </p:sp>
        <p:sp>
          <p:nvSpPr>
            <p:cNvPr id="35" name="TextBox 35"/>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2026-06-15T07:35:27Z</dcterms:created>
  <dcterms:modified xsi:type="dcterms:W3CDTF">2026-06-15T07:35:27Z</dcterms:modified>
  <cp:category/>
  <cp:contentStatus/>
</cp:coreProperties>
</file>