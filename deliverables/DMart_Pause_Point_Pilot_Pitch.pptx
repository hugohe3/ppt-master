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16x9"/>
  <p:notesSz cx="6858000" cy="9144000"/>
  <p:defaultTextStyle>
    <a:defPPr>
      <a:defRPr lang="en-IN"/>
    </a:defPPr>
    <a:lvl1pPr marL="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  <Relationship Id="rId1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I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Pause Point addresses a simple shopper truth in the source: older and pregnant shoppers can become exhausted in long billing queues without somewhere to rest; the render shows a trolley-linked seat concept, not a finished product.</a:t>
            </a:r>
          </a:p>
          <a:p>
            <a:pPr/>
            <a:r>
              <a:rPr lang="en-IN" dirty="0"/>
              <a:t>For DMart, the pitch is to test practical comfort while protecting everyday-value positioning—not to add a premium claim or promise ROI.</a:t>
            </a:r>
          </a:p>
          <a:p>
            <a:pPr/>
            <a:r>
              <a:rPr lang="en-IN" dirty="0"/>
              <a:t>The next question is whether the source gives us a credible signal that resting matters.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source reports that around seventy-five percent flagged no seating or resting as a serious issue, based on roughly fifty responses gathered through college, relatives and family.</a:t>
            </a:r>
          </a:p>
          <a:p>
            <a:pPr/>
            <a:r>
              <a:rPr lang="en-IN" dirty="0"/>
              <a:t>This is exploratory, mixed-retailer evidence—not a DMart-wide finding; DMart-specific incidence and any effect on baskets, visits or repeat shopping are still needed.</a:t>
            </a:r>
          </a:p>
          <a:p>
            <a:pPr/>
            <a:r>
              <a:rPr lang="en-IN" dirty="0"/>
              <a:t>That limitation makes the shopper journey a useful guide to where a pilot might focus.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source journey notes fatigue around an hour into shopping, followed by a last grocery check and the billing queue; these are qualitative observations rather than a timed DMart study.</a:t>
            </a:r>
          </a:p>
          <a:p>
            <a:pPr/>
            <a:r>
              <a:rPr lang="en-IN" dirty="0"/>
              <a:t>The insight is to make a short rest available near the shopper in a tight billing space, rather than assume a fixed seating area solves every moment of fatigue.</a:t>
            </a:r>
          </a:p>
          <a:p>
            <a:pPr/>
            <a:r>
              <a:rPr lang="en-IN" dirty="0"/>
              <a:t>That leads us from a broad store problem to a trolley-linked concept.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team explored seating, loose grains, trolley handling and navigation, then focused on customers because staff and retailer primary data could not be obtained.</a:t>
            </a:r>
          </a:p>
          <a:p>
            <a:pPr/>
            <a:r>
              <a:rPr lang="en-IN" dirty="0"/>
              <a:t>Two seating mechanism ideas were explored against independent use, body support, unobstructed flow and daily durability; the source does not document a scored comparison or a final winning rationale, which remains needed.</a:t>
            </a:r>
          </a:p>
          <a:p>
            <a:pPr/>
            <a:r>
              <a:rPr lang="en-IN" dirty="0"/>
              <a:t>The prototype work helps explain what was built, but should not be mistaken for proof that the chosen mechanism works safely.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source shows a mini mock-up, Blender models and mechanism proofs; the cardboard photograph is evidence of that early build process, not shopper testing.</a:t>
            </a:r>
          </a:p>
          <a:p>
            <a:pPr/>
            <a:r>
              <a:rPr lang="en-IN" dirty="0"/>
              <a:t>The team identified that seat load could move the cart and proposed stopping or locking its wheels, but user-test methods and results, load rating and brake verification are still needed.</a:t>
            </a:r>
          </a:p>
          <a:p>
            <a:pPr/>
            <a:r>
              <a:rPr lang="en-IN" dirty="0"/>
              <a:t>Those unresolved safety questions frame how we should describe the product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Pause Point is a foldable trolley-linked resting-seat concept for shoppers who need a short pause; the image is the source's folded-seat render, not a production product.</a:t>
            </a:r>
          </a:p>
          <a:p>
            <a:pPr/>
            <a:r>
              <a:rPr lang="en-IN" dirty="0"/>
              <a:t>The proposed experience is to stop and secure the trolley, unfold the seat and rest, then fold it away and continue; operating-sequence approval, brake checks and stability sign-off are needed before shopper use.</a:t>
            </a:r>
          </a:p>
          <a:p>
            <a:pPr/>
            <a:r>
              <a:rPr lang="en-IN" dirty="0"/>
              <a:t>With that safety boundary clear, the intended functions can be tied to practical DMart benefits without claiming tested outcomes.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five intended functions form three practical benefit groups: a foldable seat and body-support intent for independent rest; compact fold-away form and a proposed wheel brake for flow and stability; and a firm wipe-clean surface for routine upkeep.</a:t>
            </a:r>
          </a:p>
          <a:p>
            <a:pPr/>
            <a:r>
              <a:rPr lang="en-IN" dirty="0"/>
              <a:t>These are intended benefits, not demonstrated results: comfort, aisle clearance, stability and durability all need validation.</a:t>
            </a:r>
          </a:p>
          <a:p>
            <a:pPr/>
            <a:r>
              <a:rPr lang="en-IN" dirty="0"/>
              <a:t>The design challenge is to make the whole physical experience easy to find, easy to use and easy to clear away.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This is a physical experience, not an app: a visible resting option lets shoppers keep bags nearby, pause independently on a firm rounded surface with body-support intent, and fold it away to resume without obstructing the aisle or queue.</a:t>
            </a:r>
          </a:p>
          <a:p>
            <a:pPr/>
            <a:r>
              <a:rPr lang="en-IN" dirty="0"/>
              <a:t>Those are design goals rather than verified capabilities; on-trolley instructions, accessibility checks and safety validation are needed before shoppers use it.</a:t>
            </a:r>
          </a:p>
          <a:p>
            <a:pPr/>
            <a:r>
              <a:rPr lang="en-IN" dirty="0"/>
              <a:t>The pilot therefore needs to measure both comfort and the practical consequences of introducing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proposed evaluation has three parts: comfort and use through rest uptake, feedback and incidents; shopping behavior through footfall, basket size and repeat rate; and economics through cost, incremental contribution and ROI—all baselines and targets are needed.</a:t>
            </a:r>
          </a:p>
          <a:p>
            <a:pPr/>
            <a:r>
              <a:rPr lang="en-IN" dirty="0"/>
              <a:t>Candidate methods are observation and feedback, visit counts and transaction data, and cost tracking, with a pre-pilot baseline followed by a pilot/control comparison; owners, definitions, repeat-visit tracking, attribution and review dates remain needed.</a:t>
            </a:r>
          </a:p>
          <a:p>
            <a:pPr/>
            <a:r>
              <a:rPr lang="en-IN" dirty="0"/>
              <a:t>None of these are source results: this is a framework to approve so the pilot earns a business case rather than assumes one.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-IN" dirty="0"/>
              <a:t>The ask is sponsorship for a gated pilot plan, not immediate rollout: first validate brake, load, stability and aisle fit; then agree stores, trolley count, owner, timeline and investment; then set comfort, safety and business decision thresholds and a review date.</a:t>
            </a:r>
          </a:p>
          <a:p>
            <a:pPr/>
            <a:r>
              <a:rPr lang="en-IN" dirty="0"/>
              <a:t>All of those sign-offs, scope choices, budgets and go/no-go criteria remain needed; the expected outcome is decision evidence, while quantified commercial uplift is unknown.</a:t>
            </a:r>
          </a:p>
          <a:p>
            <a:pPr/>
            <a:r>
              <a:rPr lang="en-IN" dirty="0"/>
              <a:t>This protects DMart's everyday-value positioning and makes adoption conditional on proof, not a pre-sold ROI promise.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mart_pause_poin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mart_pause_poin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en-I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en-I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N"/>
      </a:defPPr>
      <a:lvl1pPr marL="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en-I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fed273a2d834269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b3020b5b170ec10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fed273a2d834269.jpg"/>
  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-field"/>
          <p:cNvSpPr/>
          <p:nvPr/>
        </p:nvSpPr>
        <p:spPr>
          <a:xfrm>
            <a:off x="8077200" y="0"/>
            <a:ext cx="41148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03504" y="476250"/>
            <a:ext cx="48371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rgbClr val="F2EFE9"/>
                </a:solidFill>
                <a:latin typeface="+mn-lt"/>
                <a:ea typeface="+mn-ea"/>
                <a:cs typeface="+mn-cs"/>
              </a:rPr>
              <a:t>PAUSE POINT / A PILOT PROPOSAL FOR DMART</a:t>
            </a:r>
          </a:p>
        </p:txBody>
      </p:sp>
      <p:grpSp>
        <p:nvGrpSpPr>
          <p:cNvPr id="5" name="headline"/>
          <p:cNvGrpSpPr/>
          <p:nvPr/>
        </p:nvGrpSpPr>
        <p:grpSpPr>
          <a:xfrm>
            <a:off x="592836" y="1317625"/>
            <a:ext cx="4203322" cy="1188339"/>
            <a:chOff x="592836" y="1317625"/>
            <a:chExt cx="4203322" cy="1188339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1317625"/>
              <a:ext cx="4203322" cy="1188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275"/>
                </a:lnSpc>
              </a:pPr>
              <a:r>
                <a:rPr lang="en-IN" sz="33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Make the wait easier,</a:t>
              </a:r>
              <a:br>
                <a:rPr lang="en-IN" sz="33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33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not the shop pricier.</a:t>
              </a:r>
            </a:p>
          </p:txBody>
        </p:sp>
      </p:grpSp>
      <p:grpSp>
        <p:nvGrpSpPr>
          <p:cNvPr id="8" name="shopper-truth"/>
          <p:cNvGrpSpPr/>
          <p:nvPr/>
        </p:nvGrpSpPr>
        <p:grpSpPr>
          <a:xfrm>
            <a:off x="600456" y="3390900"/>
            <a:ext cx="4542465" cy="1041019"/>
            <a:chOff x="600456" y="3390900"/>
            <a:chExt cx="4542465" cy="1041019"/>
          </a:xfrm>
        </p:grpSpPr>
        <p:sp>
          <p:nvSpPr>
            <p:cNvPr id="6" name="TextBox 6"/>
            <p:cNvSpPr txBox="1"/>
            <p:nvPr/>
          </p:nvSpPr>
          <p:spPr>
            <a:xfrm>
              <a:off x="603504" y="3390900"/>
              <a:ext cx="22028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spc="15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THE SHOPPER TRUTH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0456" y="3736975"/>
              <a:ext cx="4542465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Long billing queues can exhaust older</a:t>
              </a:r>
              <a:b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and pregnant shoppers with nowhere to rest.</a:t>
              </a:r>
            </a:p>
          </p:txBody>
        </p:sp>
      </p:grpSp>
      <p:grpSp>
        <p:nvGrpSpPr>
          <p:cNvPr id="12" name="hypothesis"/>
          <p:cNvGrpSpPr/>
          <p:nvPr/>
        </p:nvGrpSpPr>
        <p:grpSpPr>
          <a:xfrm>
            <a:off x="600456" y="5095875"/>
            <a:ext cx="6657594" cy="758571"/>
            <a:chOff x="600456" y="5095875"/>
            <a:chExt cx="6657594" cy="758571"/>
          </a:xfrm>
        </p:grpSpPr>
        <p:sp>
          <p:nvSpPr>
            <p:cNvPr id="9" name="Line 9"/>
            <p:cNvSpPr/>
            <p:nvPr/>
          </p:nvSpPr>
          <p:spPr>
            <a:xfrm>
              <a:off x="609600" y="5095875"/>
              <a:ext cx="6648450" cy="9525"/>
            </a:xfrm>
            <a:custGeom>
              <a:avLst/>
              <a:gdLst/>
              <a:ahLst/>
              <a:cxnLst/>
              <a:rect l="l" t="t" r="r" b="b"/>
              <a:pathLst>
                <a:path w="6648450" h="9525">
                  <a:moveTo>
                    <a:pt x="0" y="0"/>
                  </a:moveTo>
                  <a:lnTo>
                    <a:pt x="6648450" y="0"/>
                  </a:lnTo>
                </a:path>
              </a:pathLst>
            </a:custGeom>
            <a:noFill/>
            <a:ln w="9525">
              <a:solidFill>
                <a:schemeClr val="accent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00456" y="5210175"/>
              <a:ext cx="52373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Test comfort before claiming commercial upside.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3504" y="5619750"/>
              <a:ext cx="44497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A trolley-linked resting-seat concept—not a proven ROI claim.</a:t>
              </a:r>
            </a:p>
          </p:txBody>
        </p:sp>
      </p:grpSp>
      <p:grpSp>
        <p:nvGrpSpPr>
          <p:cNvPr id="17" name="concept-render"/>
          <p:cNvGrpSpPr/>
          <p:nvPr/>
        </p:nvGrpSpPr>
        <p:grpSpPr>
          <a:xfrm>
            <a:off x="8343900" y="1485900"/>
            <a:ext cx="3467100" cy="3810000"/>
            <a:chOff x="8343900" y="1485900"/>
            <a:chExt cx="3467100" cy="3810000"/>
          </a:xfrm>
        </p:grpSpPr>
        <p:sp>
          <p:nvSpPr>
            <p:cNvPr id="13" name="Rectangle 13"/>
            <p:cNvSpPr/>
            <p:nvPr/>
          </p:nvSpPr>
          <p:spPr>
            <a:xfrm>
              <a:off x="8343900" y="1485900"/>
              <a:ext cx="3467100" cy="381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34400" y="1695450"/>
              <a:ext cx="3086100" cy="2543175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8522970" y="4378325"/>
              <a:ext cx="177613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Pause Point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28304" y="4848225"/>
              <a:ext cx="293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 concept render / not final product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40475"/>
              <a:ext cx="49320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Source: Group 7 HCD deck, pp. 16, 23, 26. Commercial framing is a proposal.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33389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02 THE PROBLEM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8739042" cy="645414"/>
            <a:chOff x="592836" y="1041400"/>
            <a:chExt cx="8739042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87390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place to rest is a real shopper concern.</a:t>
              </a:r>
            </a:p>
          </p:txBody>
        </p:sp>
      </p:grpSp>
      <p:grpSp>
        <p:nvGrpSpPr>
          <p:cNvPr id="9" name="survey-signal"/>
          <p:cNvGrpSpPr/>
          <p:nvPr/>
        </p:nvGrpSpPr>
        <p:grpSpPr>
          <a:xfrm>
            <a:off x="590550" y="2292350"/>
            <a:ext cx="4629150" cy="3092069"/>
            <a:chOff x="590550" y="2292350"/>
            <a:chExt cx="4629150" cy="3092069"/>
          </a:xfrm>
        </p:grpSpPr>
        <p:sp>
          <p:nvSpPr>
            <p:cNvPr id="5" name="TextBox 5"/>
            <p:cNvSpPr txBox="1"/>
            <p:nvPr/>
          </p:nvSpPr>
          <p:spPr>
            <a:xfrm>
              <a:off x="590550" y="2292350"/>
              <a:ext cx="2961917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8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~75%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36270" y="3540125"/>
              <a:ext cx="3737953" cy="8020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flagged no seating / resting</a:t>
              </a:r>
              <a:b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as a serious issue.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47700" y="455295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38556" y="4689475"/>
              <a:ext cx="2572390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Exploratory signal—not a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DMart-wide finding.</a:t>
              </a:r>
            </a:p>
          </p:txBody>
        </p:sp>
      </p:grpSp>
      <p:grpSp>
        <p:nvGrpSpPr>
          <p:cNvPr id="12" name="research-context"/>
          <p:cNvGrpSpPr/>
          <p:nvPr/>
        </p:nvGrpSpPr>
        <p:grpSpPr>
          <a:xfrm>
            <a:off x="6144006" y="2495550"/>
            <a:ext cx="4071640" cy="1412494"/>
            <a:chOff x="6144006" y="2495550"/>
            <a:chExt cx="4071640" cy="1412494"/>
          </a:xfrm>
        </p:grpSpPr>
        <p:sp>
          <p:nvSpPr>
            <p:cNvPr id="10" name="TextBox 10"/>
            <p:cNvSpPr txBox="1"/>
            <p:nvPr/>
          </p:nvSpPr>
          <p:spPr>
            <a:xfrm>
              <a:off x="6147054" y="2495550"/>
              <a:ext cx="37110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spc="1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WHAT THE SOURCE ACTUALLY SAYS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144006" y="2870200"/>
              <a:ext cx="4071640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Around 50 survey responses, gathered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through college, relatives and family.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Research covered multiple retail chains.</a:t>
              </a:r>
            </a:p>
          </p:txBody>
        </p:sp>
      </p:grpSp>
      <p:grpSp>
        <p:nvGrpSpPr>
          <p:cNvPr id="16" name="evidence-gap"/>
          <p:cNvGrpSpPr/>
          <p:nvPr/>
        </p:nvGrpSpPr>
        <p:grpSpPr>
          <a:xfrm>
            <a:off x="6153150" y="4343400"/>
            <a:ext cx="5429250" cy="1428750"/>
            <a:chOff x="6153150" y="4343400"/>
            <a:chExt cx="5429250" cy="1428750"/>
          </a:xfrm>
        </p:grpSpPr>
        <p:sp>
          <p:nvSpPr>
            <p:cNvPr id="13" name="Rectangle 13"/>
            <p:cNvSpPr/>
            <p:nvPr/>
          </p:nvSpPr>
          <p:spPr>
            <a:xfrm>
              <a:off x="6153150" y="4343400"/>
              <a:ext cx="5429250" cy="1428750"/>
            </a:xfrm>
            <a:prstGeom prst="roundRect">
              <a:avLst>
                <a:gd name="adj" fmla="val 8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3754" y="4572000"/>
              <a:ext cx="41088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BEFORE CLAIMING BUSINESS IMPACT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10706" y="4889500"/>
              <a:ext cx="3893881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DMart-specific incidence and any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lost baskets, visits or repeat shopping.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17" name="TextBox 17"/>
            <p:cNvSpPr txBox="1"/>
            <p:nvPr/>
          </p:nvSpPr>
          <p:spPr>
            <a:xfrm>
              <a:off x="604266" y="6340475"/>
              <a:ext cx="61087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9–10, 16. Percent and sample size are approximate as reported.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319647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03 THE INSIGHT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7848020" cy="645414"/>
            <a:chOff x="592836" y="1041400"/>
            <a:chExt cx="7848020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784802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Put a short rest where fatigue builds.</a:t>
              </a:r>
            </a:p>
          </p:txBody>
        </p:sp>
      </p:grpSp>
      <p:grpSp>
        <p:nvGrpSpPr>
          <p:cNvPr id="18" name="journey"/>
          <p:cNvGrpSpPr/>
          <p:nvPr/>
        </p:nvGrpSpPr>
        <p:grpSpPr>
          <a:xfrm>
            <a:off x="598170" y="2514600"/>
            <a:ext cx="10355580" cy="1936369"/>
            <a:chOff x="598170" y="2514600"/>
            <a:chExt cx="10355580" cy="1936369"/>
          </a:xfrm>
        </p:grpSpPr>
        <p:sp>
          <p:nvSpPr>
            <p:cNvPr id="5" name="Line 5"/>
            <p:cNvSpPr/>
            <p:nvPr/>
          </p:nvSpPr>
          <p:spPr>
            <a:xfrm>
              <a:off x="1123950" y="2800350"/>
              <a:ext cx="9829800" cy="9525"/>
            </a:xfrm>
            <a:custGeom>
              <a:avLst/>
              <a:gdLst/>
              <a:ahLst/>
              <a:cxnLst/>
              <a:rect l="l" t="t" r="r" b="b"/>
              <a:pathLst>
                <a:path w="9829800" h="9525">
                  <a:moveTo>
                    <a:pt x="0" y="0"/>
                  </a:moveTo>
                  <a:lnTo>
                    <a:pt x="98298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685800" y="2514600"/>
              <a:ext cx="571500" cy="571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86206" y="26574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170" y="3273425"/>
              <a:ext cx="7906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Shop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0456" y="3756025"/>
              <a:ext cx="2623871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 journey notes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fatigue around an hour in.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4667250" y="2514600"/>
              <a:ext cx="571500" cy="571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867656" y="26574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60570" y="3273425"/>
              <a:ext cx="127904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Recheck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62856" y="3756025"/>
              <a:ext cx="2356134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One last grocery check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adds to time on feet.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8543925" y="2514600"/>
              <a:ext cx="571500" cy="571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744331" y="26574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37245" y="3273425"/>
              <a:ext cx="97607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Queue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439531" y="3756025"/>
              <a:ext cx="2483876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short pause is needed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 a tight billing space.</a:t>
              </a:r>
            </a:p>
          </p:txBody>
        </p:sp>
      </p:grpSp>
      <p:grpSp>
        <p:nvGrpSpPr>
          <p:cNvPr id="21" name="aha"/>
          <p:cNvGrpSpPr/>
          <p:nvPr/>
        </p:nvGrpSpPr>
        <p:grpSpPr>
          <a:xfrm>
            <a:off x="609600" y="5267325"/>
            <a:ext cx="10972800" cy="742950"/>
            <a:chOff x="609600" y="5267325"/>
            <a:chExt cx="10972800" cy="742950"/>
          </a:xfrm>
        </p:grpSpPr>
        <p:sp>
          <p:nvSpPr>
            <p:cNvPr id="19" name="Rectangle 19"/>
            <p:cNvSpPr/>
            <p:nvPr/>
          </p:nvSpPr>
          <p:spPr>
            <a:xfrm>
              <a:off x="609600" y="5267325"/>
              <a:ext cx="10972800" cy="742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5820" y="5445125"/>
              <a:ext cx="808002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The opportunity: let the resting point travel with the shopper.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2" name="TextBox 22"/>
            <p:cNvSpPr txBox="1"/>
            <p:nvPr/>
          </p:nvSpPr>
          <p:spPr>
            <a:xfrm>
              <a:off x="604266" y="6340475"/>
              <a:ext cx="64386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14–16. Journey observations are qualitative, not a timed DMart study.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285752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04 IDEATION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9599925" cy="645414"/>
            <a:chOff x="592836" y="1041400"/>
            <a:chExt cx="9599925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959992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The brief narrowed from store friction to rest.</a:t>
              </a:r>
            </a:p>
          </p:txBody>
        </p:sp>
      </p:grpSp>
      <p:grpSp>
        <p:nvGrpSpPr>
          <p:cNvPr id="18" name="narrowing-path"/>
          <p:cNvGrpSpPr/>
          <p:nvPr/>
        </p:nvGrpSpPr>
        <p:grpSpPr>
          <a:xfrm>
            <a:off x="704850" y="2435225"/>
            <a:ext cx="8079153" cy="3079369"/>
            <a:chOff x="704850" y="2435225"/>
            <a:chExt cx="8079153" cy="3079369"/>
          </a:xfrm>
        </p:grpSpPr>
        <p:sp>
          <p:nvSpPr>
            <p:cNvPr id="5" name="Line 5"/>
            <p:cNvSpPr/>
            <p:nvPr/>
          </p:nvSpPr>
          <p:spPr>
            <a:xfrm>
              <a:off x="933450" y="2743200"/>
              <a:ext cx="9525" cy="2571750"/>
            </a:xfrm>
            <a:custGeom>
              <a:avLst/>
              <a:gdLst/>
              <a:ahLst/>
              <a:cxnLst/>
              <a:rect l="l" t="t" r="r" b="b"/>
              <a:pathLst>
                <a:path w="9525" h="2571750">
                  <a:moveTo>
                    <a:pt x="0" y="0"/>
                  </a:moveTo>
                  <a:lnTo>
                    <a:pt x="0" y="25717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704850" y="24765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57631" y="256222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55420" y="2435225"/>
              <a:ext cx="353242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Explore shopper friction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57706" y="2857500"/>
              <a:ext cx="576431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Seating, loose grains, trolley handling and navigation.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04850" y="36004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57631" y="36861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55420" y="3568700"/>
              <a:ext cx="420757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Focus on customer evidence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57706" y="4000500"/>
              <a:ext cx="5669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Staff and retailer primary data could not be obtained.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04850" y="4762500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57631" y="484822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5420" y="4730750"/>
              <a:ext cx="481341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Explore two seating mechanisms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57706" y="5162550"/>
              <a:ext cx="73262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Filter: independent use, body support, clear flow and daily durability.</a:t>
              </a:r>
            </a:p>
          </p:txBody>
        </p:sp>
      </p:grpSp>
      <p:grpSp>
        <p:nvGrpSpPr>
          <p:cNvPr id="20" name="selection-gap"/>
          <p:cNvGrpSpPr/>
          <p:nvPr/>
        </p:nvGrpSpPr>
        <p:grpSpPr>
          <a:xfrm>
            <a:off x="603504" y="5857875"/>
            <a:ext cx="6937055" cy="234696"/>
            <a:chOff x="603504" y="5857875"/>
            <a:chExt cx="6937055" cy="234696"/>
          </a:xfrm>
        </p:grpSpPr>
        <p:sp>
          <p:nvSpPr>
            <p:cNvPr id="19" name="TextBox 19"/>
            <p:cNvSpPr txBox="1"/>
            <p:nvPr/>
          </p:nvSpPr>
          <p:spPr>
            <a:xfrm>
              <a:off x="603504" y="5857875"/>
              <a:ext cx="69370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Documented comparison, selection scoring and why the final mechanism won.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604266" y="6340475"/>
              <a:ext cx="65034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4, 8, 18–22. Source shows two mechanism ideas, not a scored winner.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312547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05 PROTOTYPE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9059276" cy="645414"/>
            <a:chOff x="592836" y="1041400"/>
            <a:chExt cx="9059276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905927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Mock-ups exposed a stability risk to solve.</a:t>
              </a:r>
            </a:p>
          </p:txBody>
        </p:sp>
      </p:grpSp>
      <p:grpSp>
        <p:nvGrpSpPr>
          <p:cNvPr id="7" name="mockup-evidence"/>
          <p:cNvGrpSpPr/>
          <p:nvPr/>
        </p:nvGrpSpPr>
        <p:grpSpPr>
          <a:xfrm>
            <a:off x="603504" y="2305050"/>
            <a:ext cx="2577846" cy="3749421"/>
            <a:chOff x="603504" y="2305050"/>
            <a:chExt cx="2577846" cy="3749421"/>
          </a:xfrm>
        </p:grpSpPr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305050"/>
              <a:ext cx="2571750" cy="3429000"/>
            </a:xfrm>
            <a:prstGeom prst="rect">
              <a:avLst/>
            </a:prstGeom>
          </p:spPr>
        </p:pic>
        <p:sp>
          <p:nvSpPr>
            <p:cNvPr id="6" name="TextBox 6"/>
            <p:cNvSpPr txBox="1"/>
            <p:nvPr/>
          </p:nvSpPr>
          <p:spPr>
            <a:xfrm>
              <a:off x="603504" y="5819775"/>
              <a:ext cx="2405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First mini mock-up / source photo</a:t>
              </a:r>
            </a:p>
          </p:txBody>
        </p:sp>
      </p:grpSp>
      <p:grpSp>
        <p:nvGrpSpPr>
          <p:cNvPr id="10" name="build-progression"/>
          <p:cNvGrpSpPr/>
          <p:nvPr/>
        </p:nvGrpSpPr>
        <p:grpSpPr>
          <a:xfrm>
            <a:off x="3896106" y="2409825"/>
            <a:ext cx="6015010" cy="713994"/>
            <a:chOff x="3896106" y="2409825"/>
            <a:chExt cx="6015010" cy="713994"/>
          </a:xfrm>
        </p:grpSpPr>
        <p:sp>
          <p:nvSpPr>
            <p:cNvPr id="8" name="TextBox 8"/>
            <p:cNvSpPr txBox="1"/>
            <p:nvPr/>
          </p:nvSpPr>
          <p:spPr>
            <a:xfrm>
              <a:off x="3899154" y="2409825"/>
              <a:ext cx="17593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spc="1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WHAT WAS BUILT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896106" y="2771775"/>
              <a:ext cx="601501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Mini mock-up</a:t>
              </a: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→ Blender models → mechanism proofs</a:t>
              </a:r>
            </a:p>
          </p:txBody>
        </p:sp>
      </p:grpSp>
      <p:grpSp>
        <p:nvGrpSpPr>
          <p:cNvPr id="13" name="learning"/>
          <p:cNvGrpSpPr/>
          <p:nvPr/>
        </p:nvGrpSpPr>
        <p:grpSpPr>
          <a:xfrm>
            <a:off x="3893820" y="3530600"/>
            <a:ext cx="5471221" cy="1158494"/>
            <a:chOff x="3893820" y="3530600"/>
            <a:chExt cx="5471221" cy="1158494"/>
          </a:xfrm>
        </p:grpSpPr>
        <p:sp>
          <p:nvSpPr>
            <p:cNvPr id="11" name="TextBox 11"/>
            <p:cNvSpPr txBox="1"/>
            <p:nvPr/>
          </p:nvSpPr>
          <p:spPr>
            <a:xfrm>
              <a:off x="3893820" y="3530600"/>
              <a:ext cx="41239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Seat load can move the cart.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6106" y="3994150"/>
              <a:ext cx="5468935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The source proposes stopping / locking the wheels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 address that risk. This is not a verified safety result.</a:t>
              </a:r>
            </a:p>
          </p:txBody>
        </p:sp>
      </p:grpSp>
      <p:grpSp>
        <p:nvGrpSpPr>
          <p:cNvPr id="17" name="test-gap"/>
          <p:cNvGrpSpPr/>
          <p:nvPr/>
        </p:nvGrpSpPr>
        <p:grpSpPr>
          <a:xfrm>
            <a:off x="3905250" y="4981575"/>
            <a:ext cx="7677150" cy="1047750"/>
            <a:chOff x="3905250" y="4981575"/>
            <a:chExt cx="7677150" cy="1047750"/>
          </a:xfrm>
        </p:grpSpPr>
        <p:sp>
          <p:nvSpPr>
            <p:cNvPr id="14" name="Rectangle 14"/>
            <p:cNvSpPr/>
            <p:nvPr/>
          </p:nvSpPr>
          <p:spPr>
            <a:xfrm>
              <a:off x="3905250" y="4981575"/>
              <a:ext cx="7677150" cy="1047750"/>
            </a:xfrm>
            <a:prstGeom prst="roundRect">
              <a:avLst>
                <a:gd name="adj" fmla="val 10909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65854" y="5181600"/>
              <a:ext cx="39382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USER TESTING AND SAFETY PROOF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62806" y="5524500"/>
              <a:ext cx="6868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Test method, shopper results, load rating and brake verification.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40475"/>
              <a:ext cx="5984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20–23, 26–27. Shopper validation results are not documented.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33481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06 THE PRODUCT</a:t>
            </a:r>
          </a:p>
        </p:txBody>
      </p:sp>
      <p:grpSp>
        <p:nvGrpSpPr>
          <p:cNvPr id="5" name="headline"/>
          <p:cNvGrpSpPr/>
          <p:nvPr/>
        </p:nvGrpSpPr>
        <p:grpSpPr>
          <a:xfrm>
            <a:off x="592836" y="1041400"/>
            <a:ext cx="9985270" cy="1034669"/>
            <a:chOff x="592836" y="1041400"/>
            <a:chExt cx="9985270" cy="1034669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998527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Pause Point brings a resting seat to the trolley.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0456" y="1724025"/>
              <a:ext cx="810806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foldable trolley-linked seat concept for shoppers who need a short pause.</a:t>
              </a:r>
            </a:p>
          </p:txBody>
        </p:sp>
      </p:grpSp>
      <p:grpSp>
        <p:nvGrpSpPr>
          <p:cNvPr id="8" name="render-evidence"/>
          <p:cNvGrpSpPr/>
          <p:nvPr/>
        </p:nvGrpSpPr>
        <p:grpSpPr>
          <a:xfrm>
            <a:off x="603504" y="2562225"/>
            <a:ext cx="3444621" cy="3320796"/>
            <a:chOff x="603504" y="2562225"/>
            <a:chExt cx="3444621" cy="3320796"/>
          </a:xfrm>
        </p:grpSpPr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562225"/>
              <a:ext cx="3438525" cy="2828925"/>
            </a:xfrm>
            <a:prstGeom prst="rect">
              <a:avLst/>
            </a:prstGeom>
          </p:spPr>
        </p:pic>
        <p:sp>
          <p:nvSpPr>
            <p:cNvPr id="7" name="TextBox 7"/>
            <p:cNvSpPr txBox="1"/>
            <p:nvPr/>
          </p:nvSpPr>
          <p:spPr>
            <a:xfrm>
              <a:off x="603504" y="5648325"/>
              <a:ext cx="25766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 render / folded seat concept</a:t>
              </a:r>
            </a:p>
          </p:txBody>
        </p:sp>
      </p:grpSp>
      <p:grpSp>
        <p:nvGrpSpPr>
          <p:cNvPr id="20" name="proposed-use"/>
          <p:cNvGrpSpPr/>
          <p:nvPr/>
        </p:nvGrpSpPr>
        <p:grpSpPr>
          <a:xfrm>
            <a:off x="4946904" y="2609850"/>
            <a:ext cx="4639076" cy="2284730"/>
            <a:chOff x="4946904" y="2609850"/>
            <a:chExt cx="4639076" cy="2284730"/>
          </a:xfrm>
        </p:grpSpPr>
        <p:sp>
          <p:nvSpPr>
            <p:cNvPr id="9" name="TextBox 9"/>
            <p:cNvSpPr txBox="1"/>
            <p:nvPr/>
          </p:nvSpPr>
          <p:spPr>
            <a:xfrm>
              <a:off x="4946904" y="2609850"/>
              <a:ext cx="31634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spc="1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PROPOSED USE / TO VALIDATE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5219700" y="3200400"/>
              <a:ext cx="9525" cy="1419225"/>
            </a:xfrm>
            <a:custGeom>
              <a:avLst/>
              <a:gdLst/>
              <a:ahLst/>
              <a:cxnLst/>
              <a:rect l="l" t="t" r="r" b="b"/>
              <a:pathLst>
                <a:path w="9525" h="1419225">
                  <a:moveTo>
                    <a:pt x="0" y="0"/>
                  </a:moveTo>
                  <a:lnTo>
                    <a:pt x="0" y="1419225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010150" y="3000375"/>
              <a:ext cx="419100" cy="419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43881" y="305752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65470" y="3025775"/>
              <a:ext cx="39205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Stop and secure the trolley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10150" y="3714750"/>
              <a:ext cx="419100" cy="419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43881" y="37719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665470" y="3740150"/>
              <a:ext cx="348278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Unfold the seat and rest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010150" y="4429125"/>
              <a:ext cx="419100" cy="419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143881" y="44862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65470" y="4454525"/>
              <a:ext cx="34661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Fold away and continue</a:t>
              </a:r>
            </a:p>
          </p:txBody>
        </p:sp>
      </p:grpSp>
      <p:grpSp>
        <p:nvGrpSpPr>
          <p:cNvPr id="24" name="safety-prerequisite"/>
          <p:cNvGrpSpPr/>
          <p:nvPr/>
        </p:nvGrpSpPr>
        <p:grpSpPr>
          <a:xfrm>
            <a:off x="4953000" y="5362575"/>
            <a:ext cx="6629400" cy="666750"/>
            <a:chOff x="4953000" y="5362575"/>
            <a:chExt cx="6629400" cy="666750"/>
          </a:xfrm>
        </p:grpSpPr>
        <p:sp>
          <p:nvSpPr>
            <p:cNvPr id="21" name="Rectangle 21"/>
            <p:cNvSpPr/>
            <p:nvPr/>
          </p:nvSpPr>
          <p:spPr>
            <a:xfrm>
              <a:off x="4953000" y="5362575"/>
              <a:ext cx="6629400" cy="666750"/>
            </a:xfrm>
            <a:prstGeom prst="roundRect">
              <a:avLst>
                <a:gd name="adj" fmla="val 1714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75504" y="5467350"/>
              <a:ext cx="3956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Operating sequence and safety sign-off.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75504" y="5724525"/>
              <a:ext cx="50181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Brake and stability checks are prerequisites—not certified capabilities.</a:t>
              </a:r>
            </a:p>
          </p:txBody>
        </p:sp>
      </p:grpSp>
      <p:grpSp>
        <p:nvGrpSpPr>
          <p:cNvPr id="27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5" name="TextBox 25"/>
            <p:cNvSpPr txBox="1"/>
            <p:nvPr/>
          </p:nvSpPr>
          <p:spPr>
            <a:xfrm>
              <a:off x="604266" y="6340475"/>
              <a:ext cx="66885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18, 23–26. Operating sequence is a proposed interpretation for validation.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354270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07 KEY FUNCTIONS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9650917" cy="645414"/>
            <a:chOff x="592836" y="1041400"/>
            <a:chExt cx="9650917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965091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Five intended functions serve practical value.</a:t>
              </a:r>
            </a:p>
          </p:txBody>
        </p:sp>
      </p:grpSp>
      <p:grpSp>
        <p:nvGrpSpPr>
          <p:cNvPr id="9" name="rest-benefit"/>
          <p:cNvGrpSpPr/>
          <p:nvPr/>
        </p:nvGrpSpPr>
        <p:grpSpPr>
          <a:xfrm>
            <a:off x="609600" y="2343150"/>
            <a:ext cx="10972800" cy="990600"/>
            <a:chOff x="609600" y="2343150"/>
            <a:chExt cx="10972800" cy="990600"/>
          </a:xfrm>
        </p:grpSpPr>
        <p:sp>
          <p:nvSpPr>
            <p:cNvPr id="5" name="Rectangle 5"/>
            <p:cNvSpPr/>
            <p:nvPr/>
          </p:nvSpPr>
          <p:spPr>
            <a:xfrm>
              <a:off x="609600" y="2343150"/>
              <a:ext cx="10972800" cy="990600"/>
            </a:xfrm>
            <a:prstGeom prst="roundRect">
              <a:avLst>
                <a:gd name="adj" fmla="val 1153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51154" y="2543175"/>
              <a:ext cx="41517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 / FOLDABLE SEAT + 2 / BODY-SUPPORT INTENT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45820" y="2816225"/>
              <a:ext cx="247237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Independent rest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639181" y="2828925"/>
              <a:ext cx="51035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Intended benefit: a less tiring wait for shoppers.</a:t>
              </a:r>
            </a:p>
          </p:txBody>
        </p:sp>
      </p:grpSp>
      <p:grpSp>
        <p:nvGrpSpPr>
          <p:cNvPr id="14" name="flow-benefit"/>
          <p:cNvGrpSpPr/>
          <p:nvPr/>
        </p:nvGrpSpPr>
        <p:grpSpPr>
          <a:xfrm>
            <a:off x="609600" y="3581400"/>
            <a:ext cx="10972800" cy="990600"/>
            <a:chOff x="609600" y="3581400"/>
            <a:chExt cx="10972800" cy="990600"/>
          </a:xfrm>
        </p:grpSpPr>
        <p:sp>
          <p:nvSpPr>
            <p:cNvPr id="10" name="Rectangle 10"/>
            <p:cNvSpPr/>
            <p:nvPr/>
          </p:nvSpPr>
          <p:spPr>
            <a:xfrm>
              <a:off x="609600" y="3581400"/>
              <a:ext cx="10972800" cy="990600"/>
            </a:xfrm>
            <a:prstGeom prst="roundRect">
              <a:avLst>
                <a:gd name="adj" fmla="val 1153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51154" y="3781425"/>
              <a:ext cx="5469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 / COMPACT FOLD-AWAY FORM + 4 / PROPOSED WHEEL BRAKE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45820" y="4054475"/>
              <a:ext cx="257295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Flow and stability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9181" y="4067175"/>
              <a:ext cx="51579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Intended benefit: rest without blocking the shop.</a:t>
              </a:r>
            </a:p>
          </p:txBody>
        </p:sp>
      </p:grpSp>
      <p:grpSp>
        <p:nvGrpSpPr>
          <p:cNvPr id="19" name="upkeep-benefit"/>
          <p:cNvGrpSpPr/>
          <p:nvPr/>
        </p:nvGrpSpPr>
        <p:grpSpPr>
          <a:xfrm>
            <a:off x="609600" y="4819650"/>
            <a:ext cx="10972800" cy="990600"/>
            <a:chOff x="609600" y="4819650"/>
            <a:chExt cx="10972800" cy="990600"/>
          </a:xfrm>
        </p:grpSpPr>
        <p:sp>
          <p:nvSpPr>
            <p:cNvPr id="15" name="Rectangle 15"/>
            <p:cNvSpPr/>
            <p:nvPr/>
          </p:nvSpPr>
          <p:spPr>
            <a:xfrm>
              <a:off x="609600" y="4819650"/>
              <a:ext cx="10972800" cy="990600"/>
            </a:xfrm>
            <a:prstGeom prst="roundRect">
              <a:avLst>
                <a:gd name="adj" fmla="val 11538"/>
              </a:avLst>
            </a:pr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1154" y="5019675"/>
              <a:ext cx="2714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 / FIRM, WIPE-CLEAN SURFACE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45820" y="5292725"/>
              <a:ext cx="23045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Routine upkeep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639181" y="5305425"/>
              <a:ext cx="47670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Intended benefit: simpler everyday cleaning.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604266" y="6159500"/>
            <a:ext cx="10816857" cy="443484"/>
            <a:chOff x="604266" y="6159500"/>
            <a:chExt cx="10816857" cy="443484"/>
          </a:xfrm>
        </p:grpSpPr>
        <p:sp>
          <p:nvSpPr>
            <p:cNvPr id="20" name="TextBox 20"/>
            <p:cNvSpPr txBox="1"/>
            <p:nvPr/>
          </p:nvSpPr>
          <p:spPr>
            <a:xfrm>
              <a:off x="604266" y="6159500"/>
              <a:ext cx="67630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Validate comfort, clearance, stability and durability. Benefits are intended—not tested outcomes.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4266" y="6397625"/>
              <a:ext cx="27518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18, 23, 26.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53216" y="639762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40456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08 EXPERIENCE DESIGN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9676579" cy="645414"/>
            <a:chOff x="592836" y="1041400"/>
            <a:chExt cx="9676579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967657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Design for a pause that feels simple and safe.</a:t>
              </a:r>
            </a:p>
          </p:txBody>
        </p:sp>
      </p:grpSp>
      <p:grpSp>
        <p:nvGrpSpPr>
          <p:cNvPr id="21" name="physical-journey"/>
          <p:cNvGrpSpPr/>
          <p:nvPr/>
        </p:nvGrpSpPr>
        <p:grpSpPr>
          <a:xfrm>
            <a:off x="598170" y="2476500"/>
            <a:ext cx="10527030" cy="2682621"/>
            <a:chOff x="598170" y="2476500"/>
            <a:chExt cx="10527030" cy="2682621"/>
          </a:xfrm>
        </p:grpSpPr>
        <p:sp>
          <p:nvSpPr>
            <p:cNvPr id="5" name="Line 5"/>
            <p:cNvSpPr/>
            <p:nvPr/>
          </p:nvSpPr>
          <p:spPr>
            <a:xfrm>
              <a:off x="1028700" y="276225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742950" y="2476500"/>
              <a:ext cx="571500" cy="571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3356" y="26193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170" y="3282950"/>
              <a:ext cx="95730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Notice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0456" y="3775075"/>
              <a:ext cx="2369119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visible resting option.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Bags stay nearby.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3504" y="4924425"/>
              <a:ext cx="22597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PRINCIPLE / EASY TO FIND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648200" y="2476500"/>
              <a:ext cx="571500" cy="571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848606" y="26193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22470" y="3282950"/>
              <a:ext cx="68870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Rest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24756" y="3775075"/>
              <a:ext cx="2330806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Independent use.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Rounded, firm surface.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Body-support intent.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27804" y="4924425"/>
              <a:ext cx="22125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PRINCIPLE / EASY TO USE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8572500" y="2476500"/>
              <a:ext cx="571500" cy="571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72906" y="26193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446770" y="3282950"/>
              <a:ext cx="12124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Resume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49056" y="3775075"/>
              <a:ext cx="191214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Simple fold-away.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Keep the aisle and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queue clear.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52104" y="4924425"/>
              <a:ext cx="24494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PRINCIPLE / EASY TO CLEAR</a:t>
              </a:r>
            </a:p>
          </p:txBody>
        </p:sp>
      </p:grpSp>
      <p:grpSp>
        <p:nvGrpSpPr>
          <p:cNvPr id="23" name="experience-gap"/>
          <p:cNvGrpSpPr/>
          <p:nvPr/>
        </p:nvGrpSpPr>
        <p:grpSpPr>
          <a:xfrm>
            <a:off x="603504" y="5724525"/>
            <a:ext cx="7481644" cy="234696"/>
            <a:chOff x="603504" y="5724525"/>
            <a:chExt cx="7481644" cy="234696"/>
          </a:xfrm>
        </p:grpSpPr>
        <p:sp>
          <p:nvSpPr>
            <p:cNvPr id="22" name="TextBox 22"/>
            <p:cNvSpPr txBox="1"/>
            <p:nvPr/>
          </p:nvSpPr>
          <p:spPr>
            <a:xfrm>
              <a:off x="603504" y="5724525"/>
              <a:ext cx="74816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On-trolley instructions, accessibility checks and safety validation before shopper use.</a:t>
              </a:r>
            </a:p>
          </p:txBody>
        </p:sp>
      </p:grpSp>
      <p:grpSp>
        <p:nvGrpSpPr>
          <p:cNvPr id="26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604266" y="6340475"/>
              <a:ext cx="70439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Source: Group 7 HCD deck, pp. 15, 18, 23–26. Physical experience, not digital screens; design goals, not proof.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46500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PAUSE POINT / 09 PROPOSED MEASUREMENT</a:t>
            </a:r>
          </a:p>
        </p:txBody>
      </p:sp>
      <p:grpSp>
        <p:nvGrpSpPr>
          <p:cNvPr id="4" name="headline"/>
          <p:cNvGrpSpPr/>
          <p:nvPr/>
        </p:nvGrpSpPr>
        <p:grpSpPr>
          <a:xfrm>
            <a:off x="592836" y="1041400"/>
            <a:ext cx="8783404" cy="645414"/>
            <a:chOff x="592836" y="1041400"/>
            <a:chExt cx="8783404" cy="64541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878340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Measure comfort first; earn the ROI case.</a:t>
              </a:r>
            </a:p>
          </p:txBody>
        </p:sp>
      </p:grpSp>
      <p:grpSp>
        <p:nvGrpSpPr>
          <p:cNvPr id="11" name="comfort-kpis"/>
          <p:cNvGrpSpPr/>
          <p:nvPr/>
        </p:nvGrpSpPr>
        <p:grpSpPr>
          <a:xfrm>
            <a:off x="609600" y="2343150"/>
            <a:ext cx="3352800" cy="2476500"/>
            <a:chOff x="609600" y="2343150"/>
            <a:chExt cx="3352800" cy="2476500"/>
          </a:xfrm>
        </p:grpSpPr>
        <p:sp>
          <p:nvSpPr>
            <p:cNvPr id="5" name="Rectangle 5"/>
            <p:cNvSpPr/>
            <p:nvPr/>
          </p:nvSpPr>
          <p:spPr>
            <a:xfrm>
              <a:off x="609600" y="2343150"/>
              <a:ext cx="3352800" cy="2476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26770" y="2454275"/>
              <a:ext cx="207927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Comfort + use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9056" y="2936875"/>
              <a:ext cx="2420371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Rest uptake, comfort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feedback and incidents.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838200" y="38576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2104" y="4057650"/>
              <a:ext cx="23007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Baseline → target: [NEEDED]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4410075"/>
              <a:ext cx="27790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How: observation + shopper feedback.</a:t>
              </a:r>
            </a:p>
          </p:txBody>
        </p:sp>
      </p:grpSp>
      <p:grpSp>
        <p:nvGrpSpPr>
          <p:cNvPr id="18" name="business-kpis"/>
          <p:cNvGrpSpPr/>
          <p:nvPr/>
        </p:nvGrpSpPr>
        <p:grpSpPr>
          <a:xfrm>
            <a:off x="4343400" y="2343150"/>
            <a:ext cx="3352800" cy="2476500"/>
            <a:chOff x="4343400" y="2343150"/>
            <a:chExt cx="3352800" cy="2476500"/>
          </a:xfrm>
        </p:grpSpPr>
        <p:sp>
          <p:nvSpPr>
            <p:cNvPr id="12" name="Rectangle 12"/>
            <p:cNvSpPr/>
            <p:nvPr/>
          </p:nvSpPr>
          <p:spPr>
            <a:xfrm>
              <a:off x="4343400" y="2343150"/>
              <a:ext cx="3352800" cy="24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560570" y="2454275"/>
              <a:ext cx="277539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Shopping behavior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62856" y="2936875"/>
              <a:ext cx="2038563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Footfall, basket size</a:t>
              </a:r>
              <a:b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and repeat rate.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572000" y="38576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chemeClr val="accent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65904" y="4057650"/>
              <a:ext cx="24796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Baselines → targets: [NEEDED]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65904" y="4410075"/>
              <a:ext cx="26077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How: visit counts + transaction data.</a:t>
              </a:r>
            </a:p>
          </p:txBody>
        </p:sp>
      </p:grpSp>
      <p:grpSp>
        <p:nvGrpSpPr>
          <p:cNvPr id="25" name="economics-kpis"/>
          <p:cNvGrpSpPr/>
          <p:nvPr/>
        </p:nvGrpSpPr>
        <p:grpSpPr>
          <a:xfrm>
            <a:off x="8077200" y="2343150"/>
            <a:ext cx="3505200" cy="2476500"/>
            <a:chOff x="8077200" y="2343150"/>
            <a:chExt cx="3505200" cy="2476500"/>
          </a:xfrm>
        </p:grpSpPr>
        <p:sp>
          <p:nvSpPr>
            <p:cNvPr id="19" name="Rectangle 19"/>
            <p:cNvSpPr/>
            <p:nvPr/>
          </p:nvSpPr>
          <p:spPr>
            <a:xfrm>
              <a:off x="8077200" y="2343150"/>
              <a:ext cx="3505200" cy="2476500"/>
            </a:xfrm>
            <a:prstGeom prst="rect">
              <a:avLst/>
            </a:pr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94370" y="2454275"/>
              <a:ext cx="235497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Pilot economics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96656" y="2936875"/>
              <a:ext cx="217855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Cost, incremental</a:t>
              </a:r>
              <a:b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contribution and ROI.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8305800" y="3857625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chemeClr val="accent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99704" y="4057650"/>
              <a:ext cx="2627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ROI baseline → target: [NEEDED]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99704" y="4410075"/>
              <a:ext cx="2576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How: cost and contribution tracking.</a:t>
              </a:r>
            </a:p>
          </p:txBody>
        </p:sp>
      </p:grpSp>
      <p:grpSp>
        <p:nvGrpSpPr>
          <p:cNvPr id="28" name="measurement-plan"/>
          <p:cNvGrpSpPr/>
          <p:nvPr/>
        </p:nvGrpSpPr>
        <p:grpSpPr>
          <a:xfrm>
            <a:off x="600456" y="5219700"/>
            <a:ext cx="7439829" cy="701421"/>
            <a:chOff x="600456" y="5219700"/>
            <a:chExt cx="7439829" cy="701421"/>
          </a:xfrm>
        </p:grpSpPr>
        <p:sp>
          <p:nvSpPr>
            <p:cNvPr id="26" name="TextBox 26"/>
            <p:cNvSpPr txBox="1"/>
            <p:nvPr/>
          </p:nvSpPr>
          <p:spPr>
            <a:xfrm>
              <a:off x="600456" y="5219700"/>
              <a:ext cx="71913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Proposed timing: pre-pilot baseline, then pilot / control comparison.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3504" y="5686425"/>
              <a:ext cx="74367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[NEEDED] Owners, metric definitions, repeat-visit tracking, attribution method and review dates.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604266" y="6340475"/>
              <a:ext cx="7408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Proposed framework for approval—not source results. The attached HCD deck supplies no commercial KPI evidence.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438150"/>
            <a:ext cx="429461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IN" sz="1200" spc="150" dirty="0">
                <a:solidFill>
                  <a:srgbClr val="F2EFE9"/>
                </a:solidFill>
                <a:latin typeface="+mn-lt"/>
                <a:ea typeface="+mn-ea"/>
                <a:cs typeface="+mn-cs"/>
              </a:rPr>
              <a:t>PAUSE POINT / 10 THE ASK + NEXT STEPS</a:t>
            </a:r>
          </a:p>
        </p:txBody>
      </p:sp>
      <p:grpSp>
        <p:nvGrpSpPr>
          <p:cNvPr id="5" name="headline"/>
          <p:cNvGrpSpPr/>
          <p:nvPr/>
        </p:nvGrpSpPr>
        <p:grpSpPr>
          <a:xfrm>
            <a:off x="592836" y="1041400"/>
            <a:ext cx="8835786" cy="1082294"/>
            <a:chOff x="592836" y="1041400"/>
            <a:chExt cx="8835786" cy="1082294"/>
          </a:xfrm>
        </p:grpSpPr>
        <p:sp>
          <p:nvSpPr>
            <p:cNvPr id="3" name="TextBox 3"/>
            <p:cNvSpPr txBox="1"/>
            <p:nvPr/>
          </p:nvSpPr>
          <p:spPr>
            <a:xfrm>
              <a:off x="592836" y="1041400"/>
              <a:ext cx="883578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33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Back a gated pilot—not a rollout promise.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0456" y="1771650"/>
              <a:ext cx="766361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The ask: sponsor a safety-cleared pilot plan before approving adoption.</a:t>
              </a:r>
            </a:p>
          </p:txBody>
        </p:sp>
      </p:grpSp>
      <p:grpSp>
        <p:nvGrpSpPr>
          <p:cNvPr id="22" name="gated-next-steps"/>
          <p:cNvGrpSpPr/>
          <p:nvPr/>
        </p:nvGrpSpPr>
        <p:grpSpPr>
          <a:xfrm>
            <a:off x="598170" y="2619375"/>
            <a:ext cx="10753634" cy="2396871"/>
            <a:chOff x="598170" y="2619375"/>
            <a:chExt cx="10753634" cy="2396871"/>
          </a:xfrm>
        </p:grpSpPr>
        <p:sp>
          <p:nvSpPr>
            <p:cNvPr id="6" name="Line 6"/>
            <p:cNvSpPr/>
            <p:nvPr/>
          </p:nvSpPr>
          <p:spPr>
            <a:xfrm>
              <a:off x="1028700" y="2876550"/>
              <a:ext cx="9944100" cy="9525"/>
            </a:xfrm>
            <a:custGeom>
              <a:avLst/>
              <a:gdLst/>
              <a:ahLst/>
              <a:cxnLst/>
              <a:rect l="l" t="t" r="r" b="b"/>
              <a:pathLst>
                <a:path w="9944100" h="9525">
                  <a:moveTo>
                    <a:pt x="0" y="0"/>
                  </a:moveTo>
                  <a:lnTo>
                    <a:pt x="99441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71525" y="2619375"/>
              <a:ext cx="514350" cy="514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3356" y="27336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8170" y="3349625"/>
              <a:ext cx="119268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Validate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0456" y="3822700"/>
              <a:ext cx="2064029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Brake, load, stability</a:t>
              </a:r>
              <a:b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and aisle-fit checks.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3504" y="4781550"/>
              <a:ext cx="20553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Safety sign-off: [NEEDED]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676775" y="2619375"/>
              <a:ext cx="514350" cy="514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848606" y="27336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03420" y="3349625"/>
              <a:ext cx="68648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Pilot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05706" y="3822700"/>
              <a:ext cx="2724729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Stores, trolleys and owner.</a:t>
              </a:r>
              <a:b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Timeline and investment.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08754" y="4781550"/>
              <a:ext cx="21475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Scope + budget: [NEEDED]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582025" y="2619375"/>
              <a:ext cx="514350" cy="514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856" y="273367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08670" y="3349625"/>
              <a:ext cx="10255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Decide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10956" y="3822700"/>
              <a:ext cx="29408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Comfort / safety threshold.</a:t>
              </a:r>
              <a:b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Business targets and review.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14004" y="4781550"/>
              <a:ext cx="23278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b="1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Go / no-go criteria: [NEEDED]</a:t>
              </a:r>
            </a:p>
          </p:txBody>
        </p:sp>
      </p:grpSp>
      <p:grpSp>
        <p:nvGrpSpPr>
          <p:cNvPr id="25" name="expected-outcome"/>
          <p:cNvGrpSpPr/>
          <p:nvPr/>
        </p:nvGrpSpPr>
        <p:grpSpPr>
          <a:xfrm>
            <a:off x="600456" y="5514975"/>
            <a:ext cx="6965985" cy="568071"/>
            <a:chOff x="600456" y="5514975"/>
            <a:chExt cx="6965985" cy="568071"/>
          </a:xfrm>
        </p:grpSpPr>
        <p:sp>
          <p:nvSpPr>
            <p:cNvPr id="23" name="TextBox 23"/>
            <p:cNvSpPr txBox="1"/>
            <p:nvPr/>
          </p:nvSpPr>
          <p:spPr>
            <a:xfrm>
              <a:off x="600456" y="5514975"/>
              <a:ext cx="587266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Expected outcome: evidence for a go / no-go decision.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3504" y="5848350"/>
              <a:ext cx="69629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Quantified commercial uplift: [NEEDED]. Protect everyday-value positioning; do not pre-sell ROI.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604266" y="6340475"/>
            <a:ext cx="10816857" cy="205359"/>
            <a:chOff x="604266" y="6340475"/>
            <a:chExt cx="10816857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604266" y="6340475"/>
              <a:ext cx="63979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Proposed decision gates, not source commitments. Risks grounded in Group 7 HCD deck, pp. 26–27.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3216" y="6340475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F2EFE9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mart_pause_point">
  <a:themeElements>
    <a:clrScheme name="dmart_pause_point">
      <a:dk1>
        <a:srgbClr val="3A4C40"/>
      </a:dk1>
      <a:lt1>
        <a:srgbClr val="F2EFE9"/>
      </a:lt1>
      <a:dk2>
        <a:srgbClr val="1F497D"/>
      </a:dk2>
      <a:lt2>
        <a:srgbClr val="8BA892"/>
      </a:lt2>
      <a:accent1>
        <a:srgbClr val="3A4C40"/>
      </a:accent1>
      <a:accent2>
        <a:srgbClr val="C4694A"/>
      </a:accent2>
      <a:accent3>
        <a:srgbClr val="8BA892"/>
      </a:accent3>
      <a:accent4>
        <a:srgbClr val="3A4C40"/>
      </a:accent4>
      <a:accent5>
        <a:srgbClr val="3A4C40"/>
      </a:accent5>
      <a:accent6>
        <a:srgbClr val="8BA892"/>
      </a:accent6>
      <a:hlink>
        <a:srgbClr val="C4694A"/>
      </a:hlink>
      <a:folHlink>
        <a:srgbClr val="8BA892"/>
      </a:folHlink>
    </a:clrScheme>
    <a:fontScheme name="dmart_pause_poin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mart_pause_poi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mart_pause_point">
  <a:themeElements>
    <a:clrScheme name="dmart_pause_point">
      <a:dk1>
        <a:srgbClr val="3A4C40"/>
      </a:dk1>
      <a:lt1>
        <a:srgbClr val="F2EFE9"/>
      </a:lt1>
      <a:dk2>
        <a:srgbClr val="1F497D"/>
      </a:dk2>
      <a:lt2>
        <a:srgbClr val="8BA892"/>
      </a:lt2>
      <a:accent1>
        <a:srgbClr val="3A4C40"/>
      </a:accent1>
      <a:accent2>
        <a:srgbClr val="C4694A"/>
      </a:accent2>
      <a:accent3>
        <a:srgbClr val="8BA892"/>
      </a:accent3>
      <a:accent4>
        <a:srgbClr val="3A4C40"/>
      </a:accent4>
      <a:accent5>
        <a:srgbClr val="3A4C40"/>
      </a:accent5>
      <a:accent6>
        <a:srgbClr val="8BA892"/>
      </a:accent6>
      <a:hlink>
        <a:srgbClr val="C4694A"/>
      </a:hlink>
      <a:folHlink>
        <a:srgbClr val="8BA892"/>
      </a:folHlink>
    </a:clrScheme>
    <a:fontScheme name="dmart_pause_poin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mart_pause_poi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en-IN</dc:language>
  <cp:lastModifiedBy/>
  <cp:revision>1</cp:revision>
  <dcterms:created xsi:type="dcterms:W3CDTF">2026-10-30T09:12:27Z</dcterms:created>
  <dcterms:modified xsi:type="dcterms:W3CDTF">2026-10-30T09:12:27Z</dcterms:modified>
  <cp:category/>
  <cp:contentStatus/>
</cp:coreProperties>
</file>