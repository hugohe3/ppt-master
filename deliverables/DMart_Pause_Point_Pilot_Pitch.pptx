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1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 type="screen16x9"/>
  <p:notesSz cx="6858000" cy="9144000"/>
  <p:defaultTextStyle>
    <a:defPPr>
      <a:defRPr lang="en-IN"/>
    </a:defPPr>
    <a:lvl1pPr marL="0" algn="l" defTabSz="457200" rtl="0" eaLnBrk="1" latinLnBrk="0" hangingPunct="1">
      <a:defRPr sz="1800" kern="1200" lang="en-I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-I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-I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-I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-I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-I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-I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-I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-I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  <Relationship Id="rId17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I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IN" dirty="0"/>
              <a:t>Pause Point addresses a simple shopper truth in the source: older and pregnant shoppers can become exhausted in long billing queues without somewhere to rest; the trolley illustration is a conceptual schematic, not an engineering drawing or a finished product.</a:t>
            </a:r>
          </a:p>
          <a:p>
            <a:pPr/>
            <a:r>
              <a:rPr lang="en-IN" dirty="0"/>
              <a:t>For DMart, the pitch is to test practical comfort while protecting everyday-value positioning—not to add a premium claim or promise ROI.</a:t>
            </a:r>
          </a:p>
          <a:p>
            <a:pPr/>
            <a:r>
              <a:rPr lang="en-IN" dirty="0"/>
              <a:t>The next question is whether the source gives us a credible signal that resting matters.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IN" dirty="0"/>
              <a:t>The source reports that around seventy-five percent flagged no seating or resting as a serious issue, based on roughly fifty responses gathered through college, relatives and family.</a:t>
            </a:r>
          </a:p>
          <a:p>
            <a:pPr/>
            <a:r>
              <a:rPr lang="en-IN" dirty="0"/>
              <a:t>This is exploratory, mixed-retailer evidence—not a DMart-wide finding; DMart-specific incidence and any effect on baskets, visits or repeat shopping are still needed.</a:t>
            </a:r>
          </a:p>
          <a:p>
            <a:pPr/>
            <a:r>
              <a:rPr lang="en-IN" dirty="0"/>
              <a:t>That limitation makes the shopper journey a useful guide to where a pilot might focus.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IN" dirty="0"/>
              <a:t>The source journey notes fatigue around an hour into shopping, followed by a last grocery check and the billing queue; these are qualitative observations rather than a timed DMart study.</a:t>
            </a:r>
          </a:p>
          <a:p>
            <a:pPr/>
            <a:r>
              <a:rPr lang="en-IN" dirty="0"/>
              <a:t>The insight is to make a short rest available near the shopper in a tight billing space, rather than assume a fixed seating area solves every moment of fatigue.</a:t>
            </a:r>
          </a:p>
          <a:p>
            <a:pPr/>
            <a:r>
              <a:rPr lang="en-IN" dirty="0"/>
              <a:t>That leads us from a broad store problem to a trolley-linked concept.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IN" dirty="0"/>
              <a:t>The team explored seating, loose grains, trolley handling and navigation, then focused on customers because staff and retailer primary data could not be obtained.</a:t>
            </a:r>
          </a:p>
          <a:p>
            <a:pPr/>
            <a:r>
              <a:rPr lang="en-IN" dirty="0"/>
              <a:t>Two seating mechanism ideas were explored against independent use, body support, unobstructed flow and daily durability; the source does not document a scored comparison or a final winning rationale, which remains needed.</a:t>
            </a:r>
          </a:p>
          <a:p>
            <a:pPr/>
            <a:r>
              <a:rPr lang="en-IN" dirty="0"/>
              <a:t>The prototype work helps explain what was built, but should not be mistaken for proof that the chosen mechanism works safely.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IN" dirty="0"/>
              <a:t>The source shows a mini mock-up, Blender models and mechanism proofs; the cardboard photograph and digital concept render are evidence of that early build process, not shopper testing.</a:t>
            </a:r>
          </a:p>
          <a:p>
            <a:pPr/>
            <a:r>
              <a:rPr lang="en-IN" dirty="0"/>
              <a:t>The team identified that seat load could move the cart and proposed stopping or locking its wheels, but user-test methods and results, load rating and brake verification are still needed.</a:t>
            </a:r>
          </a:p>
          <a:p>
            <a:pPr/>
            <a:r>
              <a:rPr lang="en-IN" dirty="0"/>
              <a:t>Those unresolved safety questions frame how we should describe the product today.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IN" dirty="0"/>
              <a:t>Pause Point is a foldable trolley-linked resting-seat concept for shoppers who need a short pause; the image is the source's folded-seat render, not a production product.</a:t>
            </a:r>
          </a:p>
          <a:p>
            <a:pPr/>
            <a:r>
              <a:rPr lang="en-IN" dirty="0"/>
              <a:t>The proposed experience is to stop and secure the trolley, unfold the seat and rest, then fold it away and continue; operating-sequence approval, brake checks and stability sign-off are needed before shopper use.</a:t>
            </a:r>
          </a:p>
          <a:p>
            <a:pPr/>
            <a:r>
              <a:rPr lang="en-IN" dirty="0"/>
              <a:t>With that safety boundary clear, the intended functions can be tied to practical DMart benefits without claiming tested outcomes.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IN" dirty="0"/>
              <a:t>The five intended functions form three practical benefit groups: a foldable seat and body-support intent for independent rest; compact fold-away form and a proposed wheel brake for flow and stability; and a firm wipe-clean surface for routine upkeep.</a:t>
            </a:r>
          </a:p>
          <a:p>
            <a:pPr/>
            <a:r>
              <a:rPr lang="en-IN" dirty="0"/>
              <a:t>These are intended benefits, not demonstrated results: comfort, aisle clearance, stability and durability all need validation.</a:t>
            </a:r>
          </a:p>
          <a:p>
            <a:pPr/>
            <a:r>
              <a:rPr lang="en-IN" dirty="0"/>
              <a:t>The design challenge is to make the whole physical experience easy to find, easy to use and easy to clear away.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IN" dirty="0"/>
              <a:t>This is a physical experience, not an app: a visible resting option lets shoppers keep bags nearby, pause independently on a firm rounded surface with body-support intent, and fold it away to resume without obstructing the aisle or queue.</a:t>
            </a:r>
          </a:p>
          <a:p>
            <a:pPr/>
            <a:r>
              <a:rPr lang="en-IN" dirty="0"/>
              <a:t>Those are design goals rather than verified capabilities; on-trolley instructions, accessibility checks and safety validation are needed before shoppers use it.</a:t>
            </a:r>
          </a:p>
          <a:p>
            <a:pPr/>
            <a:r>
              <a:rPr lang="en-IN" dirty="0"/>
              <a:t>The pilot therefore needs to measure both comfort and the practical consequences of introducing it.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IN" dirty="0"/>
              <a:t>The proposed evaluation has three parts: comfort and use through rest uptake, feedback and incidents; shopping behavior through footfall, basket size and repeat rate; and economics through cost, incremental contribution and ROI—all baselines and targets are needed.</a:t>
            </a:r>
          </a:p>
          <a:p>
            <a:pPr/>
            <a:r>
              <a:rPr lang="en-IN" dirty="0"/>
              <a:t>Candidate methods are observation and feedback, visit counts and transaction data, and cost tracking, with a pre-pilot baseline followed by a pilot/control comparison; owners, definitions, repeat-visit tracking, attribution and review dates remain needed.</a:t>
            </a:r>
          </a:p>
          <a:p>
            <a:pPr/>
            <a:r>
              <a:rPr lang="en-IN" dirty="0"/>
              <a:t>None of these are source results: this is a framework to approve so the pilot earns a business case rather than assumes one.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en-IN" dirty="0"/>
              <a:t>The ask is sponsorship for a gated pilot plan, not immediate rollout: first validate brake, load, stability and aisle fit; then agree stores, trolley count, owner, timeline and investment; then set comfort, safety and business decision thresholds and a review date.</a:t>
            </a:r>
          </a:p>
          <a:p>
            <a:pPr/>
            <a:r>
              <a:rPr lang="en-IN" dirty="0"/>
              <a:t>All of those sign-offs, scope choices, budgets and go/no-go criteria remain needed; the expected outcome is decision evidence, while quantified commercial uplift is unknown.</a:t>
            </a:r>
          </a:p>
          <a:p>
            <a:pPr/>
            <a:r>
              <a:rPr lang="en-IN" dirty="0"/>
              <a:t>This protects DMart's everyday-value positioning and makes adoption conditional on proof, not a pre-sold ROI promise.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mart_pause_point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IN" smtClean="0"/>
              <a:t>1/27/13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mart_pause_point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-I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IN" smtClean="0"/>
              <a:t>1/27/13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-I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-I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800" kern="1200" lang="en-I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en-I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en-I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en-I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en-I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en-I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en-I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en-I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en-I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en-I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N"/>
      </a:defPPr>
      <a:lvl1pPr marL="0" algn="l" defTabSz="457200" rtl="0" eaLnBrk="1" latinLnBrk="0" hangingPunct="1">
        <a:defRPr sz="1800" kern="1200" lang="en-I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en-I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en-I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en-I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en-I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en-I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en-I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en-I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en-I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3b3020b5b170ec10.jpg"/>
  <Relationship Id="rId3" Type="http://schemas.openxmlformats.org/officeDocument/2006/relationships/image" Target="../media/image_cfed273a2d834269.jpg"/>
  <Relationship Id="rId4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fed273a2d834269.jp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-field"/>
          <p:cNvSpPr/>
          <p:nvPr/>
        </p:nvSpPr>
        <p:spPr>
          <a:xfrm>
            <a:off x="6705600" y="704850"/>
            <a:ext cx="6210300" cy="6210300"/>
          </a:xfrm>
          <a:prstGeom prst="ellipse">
            <a:avLst/>
          </a:prstGeom>
          <a:solidFill>
            <a:schemeClr val="accent3">
              <a:alpha val="10000"/>
            </a:schemeClr>
          </a:solidFill>
          <a:ln>
            <a:noFill/>
          </a:ln>
        </p:spPr>
      </p:sp>
      <p:sp>
        <p:nvSpPr>
          <p:cNvPr id="3" name="stage-outline"/>
          <p:cNvSpPr/>
          <p:nvPr/>
        </p:nvSpPr>
        <p:spPr>
          <a:xfrm>
            <a:off x="6972300" y="971550"/>
            <a:ext cx="5676900" cy="5676900"/>
          </a:xfrm>
          <a:prstGeom prst="ellipse">
            <a:avLst/>
          </a:prstGeom>
          <a:noFill/>
          <a:ln w="9525">
            <a:solidFill>
              <a:schemeClr val="accent3">
                <a:alpha val="35000"/>
              </a:schemeClr>
            </a:solidFill>
          </a:ln>
        </p:spPr>
      </p:sp>
      <p:grpSp>
        <p:nvGrpSpPr>
          <p:cNvPr id="8" name="brand"/>
          <p:cNvGrpSpPr/>
          <p:nvPr/>
        </p:nvGrpSpPr>
        <p:grpSpPr>
          <a:xfrm>
            <a:off x="533400" y="381000"/>
            <a:ext cx="11131296" cy="289433"/>
            <a:chOff x="533400" y="381000"/>
            <a:chExt cx="11131296" cy="289433"/>
          </a:xfrm>
        </p:grpSpPr>
        <p:sp>
          <p:nvSpPr>
            <p:cNvPr id="4" name="Rectangle 4"/>
            <p:cNvSpPr/>
            <p:nvPr/>
          </p:nvSpPr>
          <p:spPr>
            <a:xfrm>
              <a:off x="533400" y="381000"/>
              <a:ext cx="66675" cy="228600"/>
            </a:xfrm>
            <a:prstGeom prst="roundRect">
              <a:avLst>
                <a:gd name="adj" fmla="val 2857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" name="Rectangle 5"/>
            <p:cNvSpPr/>
            <p:nvPr/>
          </p:nvSpPr>
          <p:spPr>
            <a:xfrm>
              <a:off x="666750" y="381000"/>
              <a:ext cx="66675" cy="228600"/>
            </a:xfrm>
            <a:prstGeom prst="roundRect">
              <a:avLst>
                <a:gd name="adj" fmla="val 28571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88492" y="406400"/>
              <a:ext cx="15287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350" b="1" spc="15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PAUSE POINT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949523" y="419100"/>
              <a:ext cx="27151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N" sz="120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A PILOT PROPOSAL FOR DMART</a:t>
              </a:r>
            </a:p>
          </p:txBody>
        </p:sp>
      </p:grpSp>
      <p:grpSp>
        <p:nvGrpSpPr>
          <p:cNvPr id="10" name="headline"/>
          <p:cNvGrpSpPr/>
          <p:nvPr/>
        </p:nvGrpSpPr>
        <p:grpSpPr>
          <a:xfrm>
            <a:off x="514350" y="1387475"/>
            <a:ext cx="4856119" cy="2438400"/>
            <a:chOff x="514350" y="1387475"/>
            <a:chExt cx="4856119" cy="2438400"/>
          </a:xfrm>
        </p:grpSpPr>
        <p:sp>
          <p:nvSpPr>
            <p:cNvPr id="9" name="TextBox 9"/>
            <p:cNvSpPr txBox="1"/>
            <p:nvPr/>
          </p:nvSpPr>
          <p:spPr>
            <a:xfrm>
              <a:off x="514350" y="1387475"/>
              <a:ext cx="4856119" cy="2438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8250"/>
                </a:lnSpc>
              </a:pPr>
              <a:r>
                <a:rPr lang="en-IN" sz="7200" b="1" spc="-225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Make room</a:t>
              </a:r>
              <a:br>
                <a:rPr lang="en-IN" sz="7200" b="1" spc="-225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</a:br>
              <a:r>
                <a:rPr lang="en-IN" sz="7200" b="1" spc="-225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for a pause.</a:t>
              </a:r>
            </a:p>
          </p:txBody>
        </p:sp>
      </p:grpSp>
      <p:grpSp>
        <p:nvGrpSpPr>
          <p:cNvPr id="13" name="shopper-truth"/>
          <p:cNvGrpSpPr/>
          <p:nvPr/>
        </p:nvGrpSpPr>
        <p:grpSpPr>
          <a:xfrm>
            <a:off x="562356" y="4400550"/>
            <a:ext cx="4542465" cy="983869"/>
            <a:chOff x="562356" y="4400550"/>
            <a:chExt cx="4542465" cy="983869"/>
          </a:xfrm>
        </p:grpSpPr>
        <p:sp>
          <p:nvSpPr>
            <p:cNvPr id="11" name="TextBox 11"/>
            <p:cNvSpPr txBox="1"/>
            <p:nvPr/>
          </p:nvSpPr>
          <p:spPr>
            <a:xfrm>
              <a:off x="565404" y="4400550"/>
              <a:ext cx="22028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SHOPPER TRUTH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62356" y="4699000"/>
              <a:ext cx="4542465" cy="685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IN" sz="180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Long billing queues can exhaust older</a:t>
              </a:r>
              <a:br>
                <a:rPr lang="en-IN" sz="180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80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and pregnant shoppers with nowhere to rest.</a:t>
              </a:r>
            </a:p>
          </p:txBody>
        </p:sp>
      </p:grpSp>
      <p:grpSp>
        <p:nvGrpSpPr>
          <p:cNvPr id="17" name="!!pause-mark"/>
          <p:cNvGrpSpPr/>
          <p:nvPr/>
        </p:nvGrpSpPr>
        <p:grpSpPr>
          <a:xfrm>
            <a:off x="9629775" y="1057275"/>
            <a:ext cx="1543050" cy="1543050"/>
            <a:chOff x="9629775" y="1057275"/>
            <a:chExt cx="1543050" cy="1543050"/>
          </a:xfrm>
        </p:grpSpPr>
        <p:sp>
          <p:nvSpPr>
            <p:cNvPr id="14" name="Ellipse 14"/>
            <p:cNvSpPr/>
            <p:nvPr/>
          </p:nvSpPr>
          <p:spPr>
            <a:xfrm>
              <a:off x="9629775" y="1057275"/>
              <a:ext cx="1543050" cy="15430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10106025" y="1476375"/>
              <a:ext cx="190500" cy="70485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10506075" y="1476375"/>
              <a:ext cx="190500" cy="70485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>
              <a:noFill/>
            </a:ln>
          </p:spPr>
        </p:sp>
      </p:grpSp>
      <p:grpSp>
        <p:nvGrpSpPr>
          <p:cNvPr id="38" name="trolley-schematic"/>
          <p:cNvGrpSpPr/>
          <p:nvPr/>
        </p:nvGrpSpPr>
        <p:grpSpPr>
          <a:xfrm>
            <a:off x="7400925" y="3114675"/>
            <a:ext cx="3686175" cy="2741168"/>
            <a:chOff x="7400925" y="3114675"/>
            <a:chExt cx="3686175" cy="2741168"/>
          </a:xfrm>
        </p:grpSpPr>
        <p:grpSp>
          <p:nvGrpSpPr>
            <p:cNvPr id="34" name="Group 34"/>
            <p:cNvGrpSpPr/>
            <p:nvPr/>
          </p:nvGrpSpPr>
          <p:grpSpPr>
            <a:xfrm>
              <a:off x="7400925" y="3114675"/>
              <a:ext cx="3686175" cy="2390775"/>
              <a:chOff x="7400925" y="3114675"/>
              <a:chExt cx="3686175" cy="2390775"/>
            </a:xfrm>
          </p:grpSpPr>
          <p:sp>
            <p:nvSpPr>
              <p:cNvPr id="18" name="Line 18"/>
              <p:cNvSpPr/>
              <p:nvPr/>
            </p:nvSpPr>
            <p:spPr>
              <a:xfrm>
                <a:off x="7734300" y="3295650"/>
                <a:ext cx="3352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352800" h="9525">
                    <a:moveTo>
                      <a:pt x="0" y="0"/>
                    </a:moveTo>
                    <a:lnTo>
                      <a:pt x="3352800" y="0"/>
                    </a:lnTo>
                  </a:path>
                </a:pathLst>
              </a:custGeom>
              <a:noFill/>
              <a:ln w="47625" cap="rnd">
                <a:solidFill>
                  <a:srgbClr val="F2EFE9"/>
                </a:solidFill>
                <a:round/>
              </a:ln>
            </p:spPr>
          </p:sp>
          <p:sp>
            <p:nvSpPr>
              <p:cNvPr id="19" name="Line 19"/>
              <p:cNvSpPr/>
              <p:nvPr/>
            </p:nvSpPr>
            <p:spPr>
              <a:xfrm>
                <a:off x="8048625" y="4429125"/>
                <a:ext cx="27622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762250" h="9525">
                    <a:moveTo>
                      <a:pt x="0" y="0"/>
                    </a:moveTo>
                    <a:lnTo>
                      <a:pt x="2762250" y="0"/>
                    </a:lnTo>
                  </a:path>
                </a:pathLst>
              </a:custGeom>
              <a:noFill/>
              <a:ln w="47625" cap="rnd">
                <a:solidFill>
                  <a:srgbClr val="F2EFE9"/>
                </a:solidFill>
                <a:round/>
              </a:ln>
            </p:spPr>
          </p:sp>
          <p:sp>
            <p:nvSpPr>
              <p:cNvPr id="20" name="Line 20"/>
              <p:cNvSpPr/>
              <p:nvPr/>
            </p:nvSpPr>
            <p:spPr>
              <a:xfrm>
                <a:off x="7734300" y="3295650"/>
                <a:ext cx="314325" cy="1133475"/>
              </a:xfrm>
              <a:custGeom>
                <a:avLst/>
                <a:gdLst/>
                <a:ahLst/>
                <a:cxnLst/>
                <a:rect l="l" t="t" r="r" b="b"/>
                <a:pathLst>
                  <a:path w="314325" h="1133475">
                    <a:moveTo>
                      <a:pt x="0" y="0"/>
                    </a:moveTo>
                    <a:lnTo>
                      <a:pt x="314325" y="1133475"/>
                    </a:lnTo>
                  </a:path>
                </a:pathLst>
              </a:custGeom>
              <a:noFill/>
              <a:ln w="47625" cap="rnd">
                <a:solidFill>
                  <a:srgbClr val="F2EFE9"/>
                </a:solidFill>
                <a:round/>
              </a:ln>
            </p:spPr>
          </p:sp>
          <p:sp>
            <p:nvSpPr>
              <p:cNvPr id="21" name="Line 21"/>
              <p:cNvSpPr/>
              <p:nvPr/>
            </p:nvSpPr>
            <p:spPr>
              <a:xfrm>
                <a:off x="10810875" y="3295650"/>
                <a:ext cx="276225" cy="1133475"/>
              </a:xfrm>
              <a:custGeom>
                <a:avLst/>
                <a:gdLst/>
                <a:ahLst/>
                <a:cxnLst/>
                <a:rect l="l" t="t" r="r" b="b"/>
                <a:pathLst>
                  <a:path w="276225" h="1133475">
                    <a:moveTo>
                      <a:pt x="276225" y="0"/>
                    </a:moveTo>
                    <a:lnTo>
                      <a:pt x="0" y="1133475"/>
                    </a:lnTo>
                  </a:path>
                </a:pathLst>
              </a:custGeom>
              <a:noFill/>
              <a:ln w="47625" cap="rnd">
                <a:solidFill>
                  <a:srgbClr val="F2EFE9"/>
                </a:solidFill>
                <a:round/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8239125" y="3333750"/>
                <a:ext cx="123825" cy="1095375"/>
              </a:xfrm>
              <a:custGeom>
                <a:avLst/>
                <a:gdLst/>
                <a:ahLst/>
                <a:cxnLst/>
                <a:rect l="l" t="t" r="r" b="b"/>
                <a:pathLst>
                  <a:path w="123825" h="1095375">
                    <a:moveTo>
                      <a:pt x="0" y="0"/>
                    </a:moveTo>
                    <a:lnTo>
                      <a:pt x="123825" y="1095375"/>
                    </a:lnTo>
                  </a:path>
                </a:pathLst>
              </a:custGeom>
              <a:noFill/>
              <a:ln w="47625" cap="rnd">
                <a:solidFill>
                  <a:srgbClr val="F2EFE9"/>
                </a:solidFill>
                <a:round/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8810625" y="3333750"/>
                <a:ext cx="76200" cy="1095375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95375">
                    <a:moveTo>
                      <a:pt x="0" y="0"/>
                    </a:moveTo>
                    <a:lnTo>
                      <a:pt x="76200" y="1095375"/>
                    </a:lnTo>
                  </a:path>
                </a:pathLst>
              </a:custGeom>
              <a:noFill/>
              <a:ln w="47625" cap="rnd">
                <a:solidFill>
                  <a:srgbClr val="F2EFE9"/>
                </a:solidFill>
                <a:round/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9382125" y="3333750"/>
                <a:ext cx="9525" cy="109537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95375">
                    <a:moveTo>
                      <a:pt x="0" y="0"/>
                    </a:moveTo>
                    <a:lnTo>
                      <a:pt x="0" y="1095375"/>
                    </a:lnTo>
                  </a:path>
                </a:pathLst>
              </a:custGeom>
              <a:noFill/>
              <a:ln w="47625" cap="rnd">
                <a:solidFill>
                  <a:srgbClr val="F2EFE9"/>
                </a:solidFill>
                <a:round/>
              </a:ln>
            </p:spPr>
          </p:sp>
          <p:sp>
            <p:nvSpPr>
              <p:cNvPr id="25" name="Line 25"/>
              <p:cNvSpPr/>
              <p:nvPr/>
            </p:nvSpPr>
            <p:spPr>
              <a:xfrm>
                <a:off x="9906000" y="3333750"/>
                <a:ext cx="47625" cy="109537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1095375">
                    <a:moveTo>
                      <a:pt x="47625" y="0"/>
                    </a:moveTo>
                    <a:lnTo>
                      <a:pt x="0" y="1095375"/>
                    </a:lnTo>
                  </a:path>
                </a:pathLst>
              </a:custGeom>
              <a:noFill/>
              <a:ln w="47625" cap="rnd">
                <a:solidFill>
                  <a:srgbClr val="F2EFE9"/>
                </a:solidFill>
                <a:round/>
              </a:ln>
            </p:spPr>
          </p:sp>
          <p:sp>
            <p:nvSpPr>
              <p:cNvPr id="26" name="Line 26"/>
              <p:cNvSpPr/>
              <p:nvPr/>
            </p:nvSpPr>
            <p:spPr>
              <a:xfrm>
                <a:off x="10429875" y="3333750"/>
                <a:ext cx="95250" cy="1095375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095375">
                    <a:moveTo>
                      <a:pt x="95250" y="0"/>
                    </a:moveTo>
                    <a:lnTo>
                      <a:pt x="0" y="1095375"/>
                    </a:lnTo>
                  </a:path>
                </a:pathLst>
              </a:custGeom>
              <a:noFill/>
              <a:ln w="47625" cap="rnd">
                <a:solidFill>
                  <a:srgbClr val="F2EFE9"/>
                </a:solidFill>
                <a:round/>
              </a:ln>
            </p:spPr>
          </p:sp>
          <p:sp>
            <p:nvSpPr>
              <p:cNvPr id="27" name="Line 27"/>
              <p:cNvSpPr/>
              <p:nvPr/>
            </p:nvSpPr>
            <p:spPr>
              <a:xfrm>
                <a:off x="7867650" y="3857625"/>
                <a:ext cx="30670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067050" h="9525">
                    <a:moveTo>
                      <a:pt x="0" y="0"/>
                    </a:moveTo>
                    <a:lnTo>
                      <a:pt x="3067050" y="0"/>
                    </a:lnTo>
                  </a:path>
                </a:pathLst>
              </a:custGeom>
              <a:noFill/>
              <a:ln w="47625" cap="rnd">
                <a:solidFill>
                  <a:srgbClr val="F2EFE9"/>
                </a:solidFill>
                <a:round/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8124825" y="4429125"/>
                <a:ext cx="2686050" cy="676275"/>
              </a:xfrm>
              <a:custGeom>
                <a:avLst/>
                <a:gdLst/>
                <a:ahLst/>
                <a:cxnLst/>
                <a:rect l="l" t="t" r="r" b="b"/>
                <a:pathLst>
                  <a:path w="2686050" h="676275">
                    <a:moveTo>
                      <a:pt x="2686050" y="0"/>
                    </a:moveTo>
                    <a:lnTo>
                      <a:pt x="0" y="676275"/>
                    </a:lnTo>
                  </a:path>
                </a:pathLst>
              </a:custGeom>
              <a:noFill/>
              <a:ln w="47625" cap="rnd">
                <a:solidFill>
                  <a:srgbClr val="F2EFE9"/>
                </a:solidFill>
                <a:round/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8124825" y="5105400"/>
                <a:ext cx="28479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47975" h="9525">
                    <a:moveTo>
                      <a:pt x="0" y="0"/>
                    </a:moveTo>
                    <a:lnTo>
                      <a:pt x="2847975" y="0"/>
                    </a:lnTo>
                  </a:path>
                </a:pathLst>
              </a:custGeom>
              <a:noFill/>
              <a:ln w="47625" cap="rnd">
                <a:solidFill>
                  <a:srgbClr val="F2EFE9"/>
                </a:solidFill>
                <a:round/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7562850" y="3114675"/>
                <a:ext cx="171450" cy="180975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80975">
                    <a:moveTo>
                      <a:pt x="171450" y="180975"/>
                    </a:moveTo>
                    <a:lnTo>
                      <a:pt x="0" y="0"/>
                    </a:lnTo>
                  </a:path>
                </a:pathLst>
              </a:custGeom>
              <a:noFill/>
              <a:ln w="47625" cap="rnd">
                <a:solidFill>
                  <a:srgbClr val="F2EFE9"/>
                </a:solidFill>
                <a:round/>
              </a:ln>
            </p:spPr>
          </p:sp>
          <p:sp>
            <p:nvSpPr>
              <p:cNvPr id="31" name="Line 31"/>
              <p:cNvSpPr/>
              <p:nvPr/>
            </p:nvSpPr>
            <p:spPr>
              <a:xfrm>
                <a:off x="7400925" y="3114675"/>
                <a:ext cx="1619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1925" h="9525">
                    <a:moveTo>
                      <a:pt x="161925" y="0"/>
                    </a:moveTo>
                    <a:lnTo>
                      <a:pt x="0" y="0"/>
                    </a:lnTo>
                  </a:path>
                </a:pathLst>
              </a:custGeom>
              <a:noFill/>
              <a:ln w="47625" cap="rnd">
                <a:solidFill>
                  <a:srgbClr val="F2EFE9"/>
                </a:solidFill>
                <a:round/>
              </a:ln>
            </p:spPr>
          </p:sp>
          <p:sp>
            <p:nvSpPr>
              <p:cNvPr id="32" name="Ellipse 32"/>
              <p:cNvSpPr/>
              <p:nvPr/>
            </p:nvSpPr>
            <p:spPr>
              <a:xfrm>
                <a:off x="8153400" y="5162550"/>
                <a:ext cx="342900" cy="342900"/>
              </a:xfrm>
              <a:prstGeom prst="ellipse">
                <a:avLst/>
              </a:prstGeom>
              <a:noFill/>
              <a:ln w="47625" cap="rnd">
                <a:solidFill>
                  <a:srgbClr val="F2EFE9"/>
                </a:solidFill>
                <a:round/>
              </a:ln>
            </p:spPr>
          </p:sp>
          <p:sp>
            <p:nvSpPr>
              <p:cNvPr id="33" name="Ellipse 33"/>
              <p:cNvSpPr/>
              <p:nvPr/>
            </p:nvSpPr>
            <p:spPr>
              <a:xfrm>
                <a:off x="10506075" y="5162550"/>
                <a:ext cx="342900" cy="342900"/>
              </a:xfrm>
              <a:prstGeom prst="ellipse">
                <a:avLst/>
              </a:prstGeom>
              <a:noFill/>
              <a:ln w="47625" cap="rnd">
                <a:solidFill>
                  <a:srgbClr val="F2EFE9"/>
                </a:solidFill>
                <a:round/>
              </a:ln>
            </p:spPr>
          </p:sp>
        </p:grpSp>
        <p:sp>
          <p:nvSpPr>
            <p:cNvPr id="35" name="Rectangle 35"/>
            <p:cNvSpPr/>
            <p:nvPr/>
          </p:nvSpPr>
          <p:spPr>
            <a:xfrm>
              <a:off x="7477125" y="3533775"/>
              <a:ext cx="638175" cy="895350"/>
            </a:xfrm>
            <a:prstGeom prst="roundRect">
              <a:avLst>
                <a:gd name="adj" fmla="val 1791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429500" y="3533775"/>
              <a:ext cx="114300" cy="895350"/>
            </a:xfrm>
            <a:prstGeom prst="roundRect">
              <a:avLst>
                <a:gd name="adj" fmla="val 41667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500747" y="5664200"/>
              <a:ext cx="283762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98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Concept schematic / not an engineering drawing</a:t>
              </a:r>
            </a:p>
          </p:txBody>
        </p:sp>
      </p:grpSp>
      <p:grpSp>
        <p:nvGrpSpPr>
          <p:cNvPr id="43" name="footer"/>
          <p:cNvGrpSpPr/>
          <p:nvPr/>
        </p:nvGrpSpPr>
        <p:grpSpPr>
          <a:xfrm>
            <a:off x="527304" y="6115050"/>
            <a:ext cx="11138154" cy="540893"/>
            <a:chOff x="527304" y="6115050"/>
            <a:chExt cx="11138154" cy="540893"/>
          </a:xfrm>
        </p:grpSpPr>
        <p:sp>
          <p:nvSpPr>
            <p:cNvPr id="39" name="Line 39"/>
            <p:cNvSpPr/>
            <p:nvPr/>
          </p:nvSpPr>
          <p:spPr>
            <a:xfrm>
              <a:off x="533400" y="611505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3">
                  <a:alpha val="45000"/>
                </a:schemeClr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27304" y="6210300"/>
              <a:ext cx="3267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b="1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TEST COMFORT. DON'T PRE-SELL ROI.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28447" y="6464300"/>
              <a:ext cx="532752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98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Source: Group 7 HCD deck, pp. 16, 23, 26. Commercial upside remains a pilot hypothesis.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095954" y="6369050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N" sz="135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01 / 10</a:t>
              </a:r>
            </a:p>
          </p:txBody>
        </p:sp>
      </p:grpSp>
    </p:spTree>
  </p:cSld>
  <p:clrMapOvr>
    <a:masterClrMapping/>
  </p:clrMapOvr>
  <p:transition p14:dur="6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 decel="65000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8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8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8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vidence-field"/>
          <p:cNvSpPr/>
          <p:nvPr/>
        </p:nvSpPr>
        <p:spPr>
          <a:xfrm>
            <a:off x="7229475" y="2171700"/>
            <a:ext cx="4962525" cy="387667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5" name="brand"/>
          <p:cNvGrpSpPr/>
          <p:nvPr/>
        </p:nvGrpSpPr>
        <p:grpSpPr>
          <a:xfrm>
            <a:off x="526542" y="406400"/>
            <a:ext cx="11138154" cy="264033"/>
            <a:chOff x="526542" y="406400"/>
            <a:chExt cx="11138154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526542" y="406400"/>
              <a:ext cx="15287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350" b="1" spc="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PAUSE POINT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215045" y="419100"/>
              <a:ext cx="24496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WHY / THE SHOPPER SIGNAL</a:t>
              </a:r>
            </a:p>
          </p:txBody>
        </p:sp>
      </p:grpSp>
      <p:grpSp>
        <p:nvGrpSpPr>
          <p:cNvPr id="7" name="headline"/>
          <p:cNvGrpSpPr/>
          <p:nvPr/>
        </p:nvGrpSpPr>
        <p:grpSpPr>
          <a:xfrm>
            <a:off x="514350" y="1076325"/>
            <a:ext cx="4563069" cy="1638300"/>
            <a:chOff x="514350" y="1076325"/>
            <a:chExt cx="4563069" cy="1638300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1076325"/>
              <a:ext cx="4563069" cy="1638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550"/>
                </a:lnSpc>
              </a:pPr>
              <a:r>
                <a:rPr lang="en-IN" sz="4800" b="1" spc="-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Rest is not</a:t>
              </a:r>
              <a:br>
                <a:rPr lang="en-IN" sz="4800" b="1" spc="-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IN" sz="4800" b="1" spc="-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niche concern.</a:t>
              </a:r>
            </a:p>
          </p:txBody>
        </p:sp>
      </p:grpSp>
      <p:grpSp>
        <p:nvGrpSpPr>
          <p:cNvPr id="11" name="!!pause-mark"/>
          <p:cNvGrpSpPr/>
          <p:nvPr/>
        </p:nvGrpSpPr>
        <p:grpSpPr>
          <a:xfrm>
            <a:off x="10315575" y="1076325"/>
            <a:ext cx="933450" cy="933450"/>
            <a:chOff x="10315575" y="1076325"/>
            <a:chExt cx="933450" cy="933450"/>
          </a:xfrm>
        </p:grpSpPr>
        <p:sp>
          <p:nvSpPr>
            <p:cNvPr id="8" name="Ellipse 8"/>
            <p:cNvSpPr/>
            <p:nvPr/>
          </p:nvSpPr>
          <p:spPr>
            <a:xfrm>
              <a:off x="10315575" y="1076325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0610850" y="1333500"/>
              <a:ext cx="114300" cy="4191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848975" y="1333500"/>
              <a:ext cx="114300" cy="4191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>
              <a:noFill/>
            </a:ln>
          </p:spPr>
        </p:sp>
      </p:grpSp>
      <p:grpSp>
        <p:nvGrpSpPr>
          <p:cNvPr id="14" name="hero-evidence"/>
          <p:cNvGrpSpPr/>
          <p:nvPr/>
        </p:nvGrpSpPr>
        <p:grpSpPr>
          <a:xfrm>
            <a:off x="514350" y="2559050"/>
            <a:ext cx="5478417" cy="3230880"/>
            <a:chOff x="514350" y="2559050"/>
            <a:chExt cx="5478417" cy="3230880"/>
          </a:xfrm>
        </p:grpSpPr>
        <p:sp>
          <p:nvSpPr>
            <p:cNvPr id="12" name="TextBox 12"/>
            <p:cNvSpPr txBox="1"/>
            <p:nvPr/>
          </p:nvSpPr>
          <p:spPr>
            <a:xfrm>
              <a:off x="514350" y="2559050"/>
              <a:ext cx="5478417" cy="31623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6500" b="1" spc="-7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~75%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98170" y="4978400"/>
              <a:ext cx="3737953" cy="81153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925"/>
                </a:lnSpc>
              </a:pPr>
              <a:r>
                <a:rPr lang="en-I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flagged no seating / resting</a:t>
              </a:r>
              <a:br>
                <a:rPr lang="en-I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I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 a serious issue.</a:t>
              </a:r>
            </a:p>
          </p:txBody>
        </p:sp>
      </p:grpSp>
      <p:grpSp>
        <p:nvGrpSpPr>
          <p:cNvPr id="17" name="research-context"/>
          <p:cNvGrpSpPr/>
          <p:nvPr/>
        </p:nvGrpSpPr>
        <p:grpSpPr>
          <a:xfrm>
            <a:off x="7589520" y="2540000"/>
            <a:ext cx="3216171" cy="1482344"/>
            <a:chOff x="7589520" y="2540000"/>
            <a:chExt cx="3216171" cy="1482344"/>
          </a:xfrm>
        </p:grpSpPr>
        <p:sp>
          <p:nvSpPr>
            <p:cNvPr id="15" name="TextBox 15"/>
            <p:cNvSpPr txBox="1"/>
            <p:nvPr/>
          </p:nvSpPr>
          <p:spPr>
            <a:xfrm>
              <a:off x="7589520" y="2540000"/>
              <a:ext cx="321617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Around 50 responses.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591806" y="3003550"/>
              <a:ext cx="2851419" cy="1018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Shared through college,</a:t>
              </a:r>
              <a:b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relatives and family.</a:t>
              </a:r>
              <a:b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Exploratory. Mixed retailers.</a:t>
              </a:r>
            </a:p>
          </p:txBody>
        </p:sp>
      </p:grpSp>
      <p:grpSp>
        <p:nvGrpSpPr>
          <p:cNvPr id="20" name="evidence-gap"/>
          <p:cNvGrpSpPr/>
          <p:nvPr/>
        </p:nvGrpSpPr>
        <p:grpSpPr>
          <a:xfrm>
            <a:off x="7591806" y="4629150"/>
            <a:ext cx="3474629" cy="1002919"/>
            <a:chOff x="7591806" y="4629150"/>
            <a:chExt cx="3474629" cy="1002919"/>
          </a:xfrm>
        </p:grpSpPr>
        <p:sp>
          <p:nvSpPr>
            <p:cNvPr id="18" name="TextBox 18"/>
            <p:cNvSpPr txBox="1"/>
            <p:nvPr/>
          </p:nvSpPr>
          <p:spPr>
            <a:xfrm>
              <a:off x="7594854" y="4629150"/>
              <a:ext cx="28001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[NEEDED] THE DMART BASELINE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591806" y="4946650"/>
              <a:ext cx="3474629" cy="685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Incidence and any effect on</a:t>
              </a:r>
              <a:b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baskets, visits or repeat shopping.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528447" y="6210300"/>
            <a:ext cx="11137011" cy="422783"/>
            <a:chOff x="528447" y="6210300"/>
            <a:chExt cx="11137011" cy="422783"/>
          </a:xfrm>
        </p:grpSpPr>
        <p:sp>
          <p:nvSpPr>
            <p:cNvPr id="21" name="Line 21"/>
            <p:cNvSpPr/>
            <p:nvPr/>
          </p:nvSpPr>
          <p:spPr>
            <a:xfrm>
              <a:off x="533400" y="6210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28447" y="6321425"/>
              <a:ext cx="567417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Source: Group 7 HCD deck, pp. 9–10, 16. Approximate survey figures; not a DMart-wide finding.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095954" y="6369050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/ 10</a:t>
              </a:r>
            </a:p>
          </p:txBody>
        </p:sp>
      </p:grpSp>
    </p:spTree>
  </p:cSld>
  <p:clrMapOvr>
    <a:masterClrMapping/>
  </p:clrMapOvr>
  <mc:AlternateContent>
    <mc:Choice Requires="p159">
      <p:transition p14:dur="9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 decel="65000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wer-field"/>
          <p:cNvSpPr/>
          <p:nvPr/>
        </p:nvSpPr>
        <p:spPr>
          <a:xfrm>
            <a:off x="0" y="5657850"/>
            <a:ext cx="12192000" cy="12001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5" name="brand"/>
          <p:cNvGrpSpPr/>
          <p:nvPr/>
        </p:nvGrpSpPr>
        <p:grpSpPr>
          <a:xfrm>
            <a:off x="526542" y="406400"/>
            <a:ext cx="11138154" cy="264033"/>
            <a:chOff x="526542" y="406400"/>
            <a:chExt cx="11138154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526542" y="406400"/>
              <a:ext cx="15287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350" b="1" spc="15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PAUSE POINT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608761" y="419100"/>
              <a:ext cx="30559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N" sz="120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WHY / THE MOMENT THAT MATTERS</a:t>
              </a:r>
            </a:p>
          </p:txBody>
        </p:sp>
      </p:grpSp>
      <p:grpSp>
        <p:nvGrpSpPr>
          <p:cNvPr id="7" name="headline"/>
          <p:cNvGrpSpPr/>
          <p:nvPr/>
        </p:nvGrpSpPr>
        <p:grpSpPr>
          <a:xfrm>
            <a:off x="514350" y="1085850"/>
            <a:ext cx="4258026" cy="1647825"/>
            <a:chOff x="514350" y="1085850"/>
            <a:chExt cx="4258026" cy="1647825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1085850"/>
              <a:ext cx="4258026" cy="16478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625"/>
                </a:lnSpc>
              </a:pPr>
              <a:r>
                <a:rPr lang="en-IN" sz="4800" b="1" spc="-15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The last stretch</a:t>
              </a:r>
              <a:br>
                <a:rPr lang="en-IN" sz="4800" b="1" spc="-15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</a:br>
              <a:r>
                <a:rPr lang="en-IN" sz="4800" b="1" spc="-15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needs a pause.</a:t>
              </a:r>
            </a:p>
          </p:txBody>
        </p:sp>
      </p:grpSp>
      <p:grpSp>
        <p:nvGrpSpPr>
          <p:cNvPr id="11" name="!!pause-mark"/>
          <p:cNvGrpSpPr/>
          <p:nvPr/>
        </p:nvGrpSpPr>
        <p:grpSpPr>
          <a:xfrm>
            <a:off x="10315575" y="1076325"/>
            <a:ext cx="933450" cy="933450"/>
            <a:chOff x="10315575" y="1076325"/>
            <a:chExt cx="933450" cy="933450"/>
          </a:xfrm>
        </p:grpSpPr>
        <p:sp>
          <p:nvSpPr>
            <p:cNvPr id="8" name="Ellipse 8"/>
            <p:cNvSpPr/>
            <p:nvPr/>
          </p:nvSpPr>
          <p:spPr>
            <a:xfrm>
              <a:off x="10315575" y="1076325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10610850" y="1333500"/>
              <a:ext cx="114300" cy="4191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10848975" y="1333500"/>
              <a:ext cx="114300" cy="419100"/>
            </a:xfrm>
            <a:prstGeom prst="roundRect">
              <a:avLst>
                <a:gd name="adj" fmla="val 25000"/>
              </a:avLst>
            </a:prstGeom>
            <a:solidFill>
              <a:schemeClr val="lt1"/>
            </a:solidFill>
            <a:ln>
              <a:noFill/>
            </a:ln>
          </p:spPr>
        </p:sp>
      </p:grpSp>
      <p:grpSp>
        <p:nvGrpSpPr>
          <p:cNvPr id="16" name="shopping-stage"/>
          <p:cNvGrpSpPr/>
          <p:nvPr/>
        </p:nvGrpSpPr>
        <p:grpSpPr>
          <a:xfrm>
            <a:off x="514350" y="2940050"/>
            <a:ext cx="3343275" cy="2136775"/>
            <a:chOff x="514350" y="2940050"/>
            <a:chExt cx="3343275" cy="2136775"/>
          </a:xfrm>
        </p:grpSpPr>
        <p:sp>
          <p:nvSpPr>
            <p:cNvPr id="12" name="TextBox 12"/>
            <p:cNvSpPr txBox="1"/>
            <p:nvPr/>
          </p:nvSpPr>
          <p:spPr>
            <a:xfrm>
              <a:off x="514350" y="2940050"/>
              <a:ext cx="2381780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7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~1 hr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0070" y="4054475"/>
              <a:ext cx="7906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Shop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2356" y="4514850"/>
              <a:ext cx="240908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80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Fatigue starts to build.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71500" y="5067300"/>
              <a:ext cx="3286125" cy="9525"/>
            </a:xfrm>
            <a:custGeom>
              <a:avLst/>
              <a:gdLst/>
              <a:ahLst/>
              <a:cxnLst/>
              <a:rect l="l" t="t" r="r" b="b"/>
              <a:pathLst>
                <a:path w="3286125" h="9525">
                  <a:moveTo>
                    <a:pt x="0" y="0"/>
                  </a:moveTo>
                  <a:lnTo>
                    <a:pt x="3286125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</p:grpSp>
      <p:grpSp>
        <p:nvGrpSpPr>
          <p:cNvPr id="21" name="recheck-stage"/>
          <p:cNvGrpSpPr/>
          <p:nvPr/>
        </p:nvGrpSpPr>
        <p:grpSpPr>
          <a:xfrm>
            <a:off x="4293870" y="3406775"/>
            <a:ext cx="3107055" cy="1670050"/>
            <a:chOff x="4293870" y="3406775"/>
            <a:chExt cx="3107055" cy="1670050"/>
          </a:xfrm>
        </p:grpSpPr>
        <p:sp>
          <p:nvSpPr>
            <p:cNvPr id="17" name="TextBox 17"/>
            <p:cNvSpPr txBox="1"/>
            <p:nvPr/>
          </p:nvSpPr>
          <p:spPr>
            <a:xfrm>
              <a:off x="4293870" y="3406775"/>
              <a:ext cx="276150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LAST CHECK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93870" y="4054475"/>
              <a:ext cx="127904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Recheck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96156" y="4514850"/>
              <a:ext cx="197905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80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More time on feet.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4305300" y="5067300"/>
              <a:ext cx="3095625" cy="9525"/>
            </a:xfrm>
            <a:custGeom>
              <a:avLst/>
              <a:gdLst/>
              <a:ahLst/>
              <a:cxnLst/>
              <a:rect l="l" t="t" r="r" b="b"/>
              <a:pathLst>
                <a:path w="3095625" h="9525">
                  <a:moveTo>
                    <a:pt x="0" y="0"/>
                  </a:moveTo>
                  <a:lnTo>
                    <a:pt x="3095625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</p:grpSp>
      <p:grpSp>
        <p:nvGrpSpPr>
          <p:cNvPr id="26" name="queue-stage"/>
          <p:cNvGrpSpPr/>
          <p:nvPr/>
        </p:nvGrpSpPr>
        <p:grpSpPr>
          <a:xfrm>
            <a:off x="7894320" y="3406775"/>
            <a:ext cx="3764280" cy="1670050"/>
            <a:chOff x="7894320" y="3406775"/>
            <a:chExt cx="3764280" cy="1670050"/>
          </a:xfrm>
        </p:grpSpPr>
        <p:sp>
          <p:nvSpPr>
            <p:cNvPr id="22" name="TextBox 22"/>
            <p:cNvSpPr txBox="1"/>
            <p:nvPr/>
          </p:nvSpPr>
          <p:spPr>
            <a:xfrm>
              <a:off x="7894320" y="3406775"/>
              <a:ext cx="28856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THE TIGHT SPACE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94320" y="4054475"/>
              <a:ext cx="193328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Billing queue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896606" y="4514850"/>
              <a:ext cx="24628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80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A short rest is missing.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7905750" y="5067300"/>
              <a:ext cx="3752850" cy="9525"/>
            </a:xfrm>
            <a:custGeom>
              <a:avLst/>
              <a:gdLst/>
              <a:ahLst/>
              <a:cxnLst/>
              <a:rect l="l" t="t" r="r" b="b"/>
              <a:pathLst>
                <a:path w="3752850" h="9525">
                  <a:moveTo>
                    <a:pt x="0" y="0"/>
                  </a:moveTo>
                  <a:lnTo>
                    <a:pt x="3752850" y="0"/>
                  </a:lnTo>
                </a:path>
              </a:pathLst>
            </a:custGeom>
            <a:noFill/>
            <a:ln w="76200">
              <a:solidFill>
                <a:schemeClr val="accent2"/>
              </a:solidFill>
            </a:ln>
          </p:spPr>
        </p:sp>
      </p:grpSp>
      <p:grpSp>
        <p:nvGrpSpPr>
          <p:cNvPr id="28" name="insight"/>
          <p:cNvGrpSpPr/>
          <p:nvPr/>
        </p:nvGrpSpPr>
        <p:grpSpPr>
          <a:xfrm>
            <a:off x="521970" y="5788025"/>
            <a:ext cx="6427226" cy="440055"/>
            <a:chOff x="521970" y="5788025"/>
            <a:chExt cx="6427226" cy="440055"/>
          </a:xfrm>
        </p:grpSpPr>
        <p:sp>
          <p:nvSpPr>
            <p:cNvPr id="27" name="TextBox 27"/>
            <p:cNvSpPr txBox="1"/>
            <p:nvPr/>
          </p:nvSpPr>
          <p:spPr>
            <a:xfrm>
              <a:off x="521970" y="5788025"/>
              <a:ext cx="64272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Let the resting point travel with the shopper.</a:t>
              </a:r>
            </a:p>
          </p:txBody>
        </p:sp>
      </p:grpSp>
      <p:grpSp>
        <p:nvGrpSpPr>
          <p:cNvPr id="31" name="footer"/>
          <p:cNvGrpSpPr/>
          <p:nvPr/>
        </p:nvGrpSpPr>
        <p:grpSpPr>
          <a:xfrm>
            <a:off x="528447" y="6369050"/>
            <a:ext cx="11137011" cy="264033"/>
            <a:chOff x="528447" y="6369050"/>
            <a:chExt cx="11137011" cy="264033"/>
          </a:xfrm>
        </p:grpSpPr>
        <p:sp>
          <p:nvSpPr>
            <p:cNvPr id="29" name="TextBox 29"/>
            <p:cNvSpPr txBox="1"/>
            <p:nvPr/>
          </p:nvSpPr>
          <p:spPr>
            <a:xfrm>
              <a:off x="528447" y="6397625"/>
              <a:ext cx="577470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Source: Group 7 HCD deck, pp. 14–16. Qualitative journey observations, not a timed DMart study.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095954" y="6369050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/ 10</a:t>
              </a:r>
            </a:p>
          </p:txBody>
        </p:sp>
      </p:grpSp>
    </p:spTree>
  </p:cSld>
  <p:clrMapOvr>
    <a:masterClrMapping/>
  </p:clrMapOvr>
  <mc:AlternateContent>
    <mc:Choice Requires="p159">
      <p:transition p14:dur="85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1" fill="hold" grpId="0" nodeType="clickEffect" decel="65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brand"/>
          <p:cNvGrpSpPr/>
          <p:nvPr/>
        </p:nvGrpSpPr>
        <p:grpSpPr>
          <a:xfrm>
            <a:off x="526542" y="406400"/>
            <a:ext cx="11138154" cy="264033"/>
            <a:chOff x="526542" y="406400"/>
            <a:chExt cx="111381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06400"/>
              <a:ext cx="15287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350" b="1" spc="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PAUSE POINT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9538021" y="419100"/>
              <a:ext cx="21266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WHAT / THE NARROWING</a:t>
              </a:r>
            </a:p>
          </p:txBody>
        </p:sp>
      </p:grpSp>
      <p:grpSp>
        <p:nvGrpSpPr>
          <p:cNvPr id="6" name="headline"/>
          <p:cNvGrpSpPr/>
          <p:nvPr/>
        </p:nvGrpSpPr>
        <p:grpSpPr>
          <a:xfrm>
            <a:off x="514350" y="1085850"/>
            <a:ext cx="6228710" cy="1647825"/>
            <a:chOff x="514350" y="1085850"/>
            <a:chExt cx="6228710" cy="1647825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1085850"/>
              <a:ext cx="6228710" cy="16478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625"/>
                </a:lnSpc>
              </a:pPr>
              <a:r>
                <a:rPr lang="en-IN" sz="4800" b="1" spc="-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Explore broadly.</a:t>
              </a:r>
              <a:br>
                <a:rPr lang="en-IN" sz="4800" b="1" spc="-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IN" sz="4800" b="1" spc="-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Choose with evidence.</a:t>
              </a:r>
            </a:p>
          </p:txBody>
        </p:sp>
      </p:grpSp>
      <p:grpSp>
        <p:nvGrpSpPr>
          <p:cNvPr id="11" name="explore"/>
          <p:cNvGrpSpPr/>
          <p:nvPr/>
        </p:nvGrpSpPr>
        <p:grpSpPr>
          <a:xfrm>
            <a:off x="514350" y="2835275"/>
            <a:ext cx="3156827" cy="2628646"/>
            <a:chOff x="514350" y="2835275"/>
            <a:chExt cx="3156827" cy="2628646"/>
          </a:xfrm>
        </p:grpSpPr>
        <p:sp>
          <p:nvSpPr>
            <p:cNvPr id="7" name="TextBox 7"/>
            <p:cNvSpPr txBox="1"/>
            <p:nvPr/>
          </p:nvSpPr>
          <p:spPr>
            <a:xfrm>
              <a:off x="514350" y="2835275"/>
              <a:ext cx="1116309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7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21970" y="3911600"/>
              <a:ext cx="19158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Store friction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4256" y="4365625"/>
              <a:ext cx="2293224" cy="685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Seating. Loose grains.</a:t>
              </a:r>
              <a:b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Trolleys. Navigation.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7304" y="5229225"/>
              <a:ext cx="31438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spc="75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START WITH THE WHOLE SYSTEM</a:t>
              </a:r>
            </a:p>
          </p:txBody>
        </p:sp>
      </p:grpSp>
      <p:grpSp>
        <p:nvGrpSpPr>
          <p:cNvPr id="16" name="focus"/>
          <p:cNvGrpSpPr/>
          <p:nvPr/>
        </p:nvGrpSpPr>
        <p:grpSpPr>
          <a:xfrm>
            <a:off x="4305300" y="2835275"/>
            <a:ext cx="2346277" cy="2628646"/>
            <a:chOff x="4305300" y="2835275"/>
            <a:chExt cx="2346277" cy="2628646"/>
          </a:xfrm>
        </p:grpSpPr>
        <p:sp>
          <p:nvSpPr>
            <p:cNvPr id="12" name="TextBox 12"/>
            <p:cNvSpPr txBox="1"/>
            <p:nvPr/>
          </p:nvSpPr>
          <p:spPr>
            <a:xfrm>
              <a:off x="4305300" y="2835275"/>
              <a:ext cx="1116309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7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12920" y="3911600"/>
              <a:ext cx="2338657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Customer focus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315206" y="4365625"/>
              <a:ext cx="2217009" cy="685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Staff / retailer primary</a:t>
              </a:r>
              <a:b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data was unavailable.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18254" y="5229225"/>
              <a:ext cx="2233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spc="75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FOLLOW THE EVIDENCE</a:t>
              </a:r>
            </a:p>
          </p:txBody>
        </p:sp>
      </p:grpSp>
      <p:grpSp>
        <p:nvGrpSpPr>
          <p:cNvPr id="21" name="mechanisms"/>
          <p:cNvGrpSpPr/>
          <p:nvPr/>
        </p:nvGrpSpPr>
        <p:grpSpPr>
          <a:xfrm>
            <a:off x="8020050" y="2835275"/>
            <a:ext cx="3360065" cy="2628646"/>
            <a:chOff x="8020050" y="2835275"/>
            <a:chExt cx="3360065" cy="2628646"/>
          </a:xfrm>
        </p:grpSpPr>
        <p:sp>
          <p:nvSpPr>
            <p:cNvPr id="17" name="TextBox 17"/>
            <p:cNvSpPr txBox="1"/>
            <p:nvPr/>
          </p:nvSpPr>
          <p:spPr>
            <a:xfrm>
              <a:off x="8020050" y="2835275"/>
              <a:ext cx="1116309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7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27670" y="3911600"/>
              <a:ext cx="3248918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Two seat mechanisms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029956" y="4365625"/>
              <a:ext cx="2711699" cy="685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Independent. Supportive.</a:t>
              </a:r>
              <a:b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Clear flow. Daily durability.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033004" y="5229225"/>
              <a:ext cx="33471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spc="75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FILTER AGAINST PRACTICAL NEEDS</a:t>
              </a:r>
            </a:p>
          </p:txBody>
        </p:sp>
      </p:grpSp>
      <p:sp>
        <p:nvSpPr>
          <p:cNvPr id="22" name="Freeform 22"/>
          <p:cNvSpPr/>
          <p:nvPr/>
        </p:nvSpPr>
        <p:spPr>
          <a:xfrm>
            <a:off x="3895725" y="4067175"/>
            <a:ext cx="247650" cy="40005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</p:sp>
      <p:sp>
        <p:nvSpPr>
          <p:cNvPr id="23" name="Freeform 23"/>
          <p:cNvSpPr/>
          <p:nvPr/>
        </p:nvSpPr>
        <p:spPr>
          <a:xfrm>
            <a:off x="7620000" y="4067175"/>
            <a:ext cx="247650" cy="400050"/>
          </a:xfrm>
          <a:prstGeom prst="chevron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25" name="selection-gap"/>
          <p:cNvGrpSpPr/>
          <p:nvPr/>
        </p:nvGrpSpPr>
        <p:grpSpPr>
          <a:xfrm>
            <a:off x="527304" y="5886450"/>
            <a:ext cx="6937055" cy="234696"/>
            <a:chOff x="527304" y="5886450"/>
            <a:chExt cx="6937055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527304" y="5886450"/>
              <a:ext cx="69370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[NEEDED] Documented comparison, selection scoring and why the final mechanism won.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528447" y="6369050"/>
            <a:ext cx="11137011" cy="264033"/>
            <a:chOff x="528447" y="6369050"/>
            <a:chExt cx="11137011" cy="264033"/>
          </a:xfrm>
        </p:grpSpPr>
        <p:sp>
          <p:nvSpPr>
            <p:cNvPr id="26" name="TextBox 26"/>
            <p:cNvSpPr txBox="1"/>
            <p:nvPr/>
          </p:nvSpPr>
          <p:spPr>
            <a:xfrm>
              <a:off x="528447" y="6397625"/>
              <a:ext cx="602603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Source: Group 7 HCD deck, pp. 4, 8, 18–22. Two mechanism ideas are shown; a scored winner is not.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95954" y="6369050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04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6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9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mage-stage"/>
          <p:cNvSpPr/>
          <p:nvPr/>
        </p:nvSpPr>
        <p:spPr>
          <a:xfrm>
            <a:off x="5238750" y="2038350"/>
            <a:ext cx="6953250" cy="409575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5" name="brand"/>
          <p:cNvGrpSpPr/>
          <p:nvPr/>
        </p:nvGrpSpPr>
        <p:grpSpPr>
          <a:xfrm>
            <a:off x="526542" y="406400"/>
            <a:ext cx="11138154" cy="264033"/>
            <a:chOff x="526542" y="406400"/>
            <a:chExt cx="11138154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526542" y="406400"/>
              <a:ext cx="15287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350" b="1" spc="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PAUSE POINT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660309" y="419100"/>
              <a:ext cx="30043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WHAT / THE BUILD + THE LEARNING</a:t>
              </a:r>
            </a:p>
          </p:txBody>
        </p:sp>
      </p:grpSp>
      <p:grpSp>
        <p:nvGrpSpPr>
          <p:cNvPr id="7" name="headline"/>
          <p:cNvGrpSpPr/>
          <p:nvPr/>
        </p:nvGrpSpPr>
        <p:grpSpPr>
          <a:xfrm>
            <a:off x="514350" y="1060450"/>
            <a:ext cx="7241776" cy="933450"/>
            <a:chOff x="514350" y="1060450"/>
            <a:chExt cx="7241776" cy="933450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1060450"/>
              <a:ext cx="724177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4800" b="1" spc="-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Mock-ups found the risk.</a:t>
              </a:r>
            </a:p>
          </p:txBody>
        </p:sp>
      </p:grpSp>
      <p:grpSp>
        <p:nvGrpSpPr>
          <p:cNvPr id="10" name="build-progression"/>
          <p:cNvGrpSpPr/>
          <p:nvPr/>
        </p:nvGrpSpPr>
        <p:grpSpPr>
          <a:xfrm>
            <a:off x="524256" y="2362200"/>
            <a:ext cx="3321604" cy="993394"/>
            <a:chOff x="524256" y="2362200"/>
            <a:chExt cx="3321604" cy="993394"/>
          </a:xfrm>
        </p:grpSpPr>
        <p:sp>
          <p:nvSpPr>
            <p:cNvPr id="8" name="TextBox 8"/>
            <p:cNvSpPr txBox="1"/>
            <p:nvPr/>
          </p:nvSpPr>
          <p:spPr>
            <a:xfrm>
              <a:off x="527304" y="2362200"/>
              <a:ext cx="16743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spc="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BUILT TO LEARN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4256" y="2670175"/>
              <a:ext cx="3321604" cy="685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Mini mock-up → Blender models</a:t>
              </a:r>
              <a:b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mechanism proofs.</a:t>
              </a:r>
            </a:p>
          </p:txBody>
        </p:sp>
      </p:grpSp>
      <p:grpSp>
        <p:nvGrpSpPr>
          <p:cNvPr id="14" name="learning"/>
          <p:cNvGrpSpPr/>
          <p:nvPr/>
        </p:nvGrpSpPr>
        <p:grpSpPr>
          <a:xfrm>
            <a:off x="533400" y="3683000"/>
            <a:ext cx="4322102" cy="1139444"/>
            <a:chOff x="533400" y="3683000"/>
            <a:chExt cx="4322102" cy="1139444"/>
          </a:xfrm>
        </p:grpSpPr>
        <p:sp>
          <p:nvSpPr>
            <p:cNvPr id="11" name="Rectangle 11"/>
            <p:cNvSpPr/>
            <p:nvPr/>
          </p:nvSpPr>
          <p:spPr>
            <a:xfrm>
              <a:off x="533400" y="3686175"/>
              <a:ext cx="57150" cy="10191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31520" y="3683000"/>
              <a:ext cx="4123982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Seat load can move the cart.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3806" y="4137025"/>
              <a:ext cx="2687010" cy="68541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Proposed response: stop /</a:t>
              </a:r>
              <a:b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lock the wheels.</a:t>
              </a:r>
            </a:p>
          </p:txBody>
        </p:sp>
      </p:grpSp>
      <p:grpSp>
        <p:nvGrpSpPr>
          <p:cNvPr id="17" name="test-gap"/>
          <p:cNvGrpSpPr/>
          <p:nvPr/>
        </p:nvGrpSpPr>
        <p:grpSpPr>
          <a:xfrm>
            <a:off x="524256" y="5248275"/>
            <a:ext cx="3533768" cy="942594"/>
            <a:chOff x="524256" y="5248275"/>
            <a:chExt cx="3533768" cy="942594"/>
          </a:xfrm>
        </p:grpSpPr>
        <p:sp>
          <p:nvSpPr>
            <p:cNvPr id="15" name="TextBox 15"/>
            <p:cNvSpPr txBox="1"/>
            <p:nvPr/>
          </p:nvSpPr>
          <p:spPr>
            <a:xfrm>
              <a:off x="527304" y="5248275"/>
              <a:ext cx="353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[NEEDED] PROOF BEFORE SHOPPER USE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24256" y="5534025"/>
              <a:ext cx="2254819" cy="6568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User tests, load rating</a:t>
              </a:r>
              <a:b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and brake verification.</a:t>
              </a:r>
            </a:p>
          </p:txBody>
        </p:sp>
      </p:grpSp>
      <p:grpSp>
        <p:nvGrpSpPr>
          <p:cNvPr id="21" name="mockup-evidence"/>
          <p:cNvGrpSpPr/>
          <p:nvPr/>
        </p:nvGrpSpPr>
        <p:grpSpPr>
          <a:xfrm>
            <a:off x="5480304" y="2390775"/>
            <a:ext cx="2063496" cy="3465068"/>
            <a:chOff x="5480304" y="2390775"/>
            <a:chExt cx="2063496" cy="3465068"/>
          </a:xfrm>
        </p:grpSpPr>
        <p:sp>
          <p:nvSpPr>
            <p:cNvPr id="18" name="TextBox 18"/>
            <p:cNvSpPr txBox="1"/>
            <p:nvPr/>
          </p:nvSpPr>
          <p:spPr>
            <a:xfrm>
              <a:off x="5480304" y="2390775"/>
              <a:ext cx="175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FIRST MOCK-UP</a:t>
              </a:r>
            </a:p>
          </p:txBody>
        </p:sp>
        <p:pic>
          <p:nvPicPr>
            <p:cNvPr id="19" name="Image 1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86400" y="2790825"/>
              <a:ext cx="2057400" cy="2743200"/>
            </a:xfrm>
            <a:prstGeom prst="rect">
              <a:avLst/>
            </a:prstGeom>
          </p:spPr>
        </p:pic>
        <p:sp>
          <p:nvSpPr>
            <p:cNvPr id="20" name="TextBox 20"/>
            <p:cNvSpPr txBox="1"/>
            <p:nvPr/>
          </p:nvSpPr>
          <p:spPr>
            <a:xfrm>
              <a:off x="5481447" y="5664200"/>
              <a:ext cx="189905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Source photo / cardboard model</a:t>
              </a:r>
            </a:p>
          </p:txBody>
        </p:sp>
      </p:grpSp>
      <p:grpSp>
        <p:nvGrpSpPr>
          <p:cNvPr id="25" name="!!source-product"/>
          <p:cNvGrpSpPr/>
          <p:nvPr/>
        </p:nvGrpSpPr>
        <p:grpSpPr>
          <a:xfrm>
            <a:off x="7909179" y="2390775"/>
            <a:ext cx="3444621" cy="3465068"/>
            <a:chOff x="7909179" y="2390775"/>
            <a:chExt cx="3444621" cy="3465068"/>
          </a:xfrm>
        </p:grpSpPr>
        <p:sp>
          <p:nvSpPr>
            <p:cNvPr id="22" name="TextBox 22"/>
            <p:cNvSpPr txBox="1"/>
            <p:nvPr/>
          </p:nvSpPr>
          <p:spPr>
            <a:xfrm>
              <a:off x="7909179" y="2390775"/>
              <a:ext cx="19655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 DIGITAL CONCEPT</a:t>
              </a:r>
            </a:p>
          </p:txBody>
        </p:sp>
        <p:pic>
          <p:nvPicPr>
            <p:cNvPr id="23" name="Image 2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15275" y="2790825"/>
              <a:ext cx="3438525" cy="2828925"/>
            </a:xfrm>
            <a:prstGeom prst="rect">
              <a:avLst/>
            </a:prstGeom>
          </p:spPr>
        </p:pic>
        <p:sp>
          <p:nvSpPr>
            <p:cNvPr id="24" name="TextBox 24"/>
            <p:cNvSpPr txBox="1"/>
            <p:nvPr/>
          </p:nvSpPr>
          <p:spPr>
            <a:xfrm>
              <a:off x="7910322" y="5664200"/>
              <a:ext cx="2716895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Source Blender render / not a finished product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528447" y="6369050"/>
            <a:ext cx="11137011" cy="264033"/>
            <a:chOff x="528447" y="6369050"/>
            <a:chExt cx="11137011" cy="264033"/>
          </a:xfrm>
        </p:grpSpPr>
        <p:sp>
          <p:nvSpPr>
            <p:cNvPr id="26" name="TextBox 26"/>
            <p:cNvSpPr txBox="1"/>
            <p:nvPr/>
          </p:nvSpPr>
          <p:spPr>
            <a:xfrm>
              <a:off x="528447" y="6397625"/>
              <a:ext cx="558586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Source: Group 7 HCD deck, pp. 20–23, 26–27. Shopper validation results are not documented.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95954" y="6369050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05 / 10</a:t>
              </a:r>
            </a:p>
          </p:txBody>
        </p:sp>
      </p:grpSp>
    </p:spTree>
  </p:cSld>
  <p:clrMapOvr>
    <a:masterClrMapping/>
  </p:clrMapOvr>
  <p:transition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 decel="7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mc="http://schemas.openxmlformats.org/markup-compatibility/2006" xmlns:p="http://schemas.openxmlformats.org/presentationml/2006/main" xmlns:p14="http://schemas.microsoft.com/office/powerpoint/2010/main" xmlns:p159="http://schemas.microsoft.com/office/powerpoint/2015/09/main" xmlns:r="http://schemas.openxmlformats.org/officeDocument/2006/relationships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ge-circle"/>
          <p:cNvSpPr/>
          <p:nvPr/>
        </p:nvSpPr>
        <p:spPr>
          <a:xfrm>
            <a:off x="571500" y="2266950"/>
            <a:ext cx="4191000" cy="4191000"/>
          </a:xfrm>
          <a:prstGeom prst="ellipse">
            <a:avLst/>
          </a:prstGeom>
          <a:solidFill>
            <a:schemeClr val="accent3">
              <a:alpha val="12000"/>
            </a:schemeClr>
          </a:solidFill>
          <a:ln>
            <a:noFill/>
          </a:ln>
        </p:spPr>
      </p:sp>
      <p:grpSp>
        <p:nvGrpSpPr>
          <p:cNvPr id="5" name="brand"/>
          <p:cNvGrpSpPr/>
          <p:nvPr/>
        </p:nvGrpSpPr>
        <p:grpSpPr>
          <a:xfrm>
            <a:off x="526542" y="406400"/>
            <a:ext cx="11138154" cy="264033"/>
            <a:chOff x="526542" y="406400"/>
            <a:chExt cx="11138154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526542" y="406400"/>
              <a:ext cx="15287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350" b="1" spc="15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PAUSE POINT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775038" y="419100"/>
              <a:ext cx="18896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N" sz="120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WHAT / THE PRODUCT</a:t>
              </a:r>
            </a:p>
          </p:txBody>
        </p:sp>
      </p:grpSp>
      <p:grpSp>
        <p:nvGrpSpPr>
          <p:cNvPr id="8" name="headline"/>
          <p:cNvGrpSpPr/>
          <p:nvPr/>
        </p:nvGrpSpPr>
        <p:grpSpPr>
          <a:xfrm>
            <a:off x="514350" y="1050925"/>
            <a:ext cx="6927863" cy="1291844"/>
            <a:chOff x="514350" y="1050925"/>
            <a:chExt cx="6927863" cy="1291844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1050925"/>
              <a:ext cx="692786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4800" b="1" spc="-15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Rest, right at the trolley.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2356" y="1990725"/>
              <a:ext cx="67332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80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A foldable trolley-linked resting-seat concept for a short pause.</a:t>
              </a:r>
            </a:p>
          </p:txBody>
        </p:sp>
      </p:grpSp>
      <p:grpSp>
        <p:nvGrpSpPr>
          <p:cNvPr id="11" name="!!source-product"/>
          <p:cNvGrpSpPr/>
          <p:nvPr/>
        </p:nvGrpSpPr>
        <p:grpSpPr>
          <a:xfrm>
            <a:off x="527304" y="2781300"/>
            <a:ext cx="3444621" cy="3171825"/>
            <a:chOff x="527304" y="2781300"/>
            <a:chExt cx="3444621" cy="3171825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2781300"/>
              <a:ext cx="20132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SOURCE CONCEPT</a:t>
              </a:r>
            </a:p>
          </p:txBody>
        </p:sp>
        <p:pic>
          <p:nvPicPr>
            <p:cNvPr id="10" name="Image 10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3124200"/>
              <a:ext cx="3438525" cy="2828925"/>
            </a:xfrm>
            <a:prstGeom prst="rect">
              <a:avLst/>
            </a:prstGeom>
          </p:spPr>
        </p:pic>
      </p:grpSp>
      <p:grpSp>
        <p:nvGrpSpPr>
          <p:cNvPr id="16" name="secure-step"/>
          <p:cNvGrpSpPr/>
          <p:nvPr/>
        </p:nvGrpSpPr>
        <p:grpSpPr>
          <a:xfrm>
            <a:off x="5410200" y="2765425"/>
            <a:ext cx="6248400" cy="933450"/>
            <a:chOff x="5410200" y="2765425"/>
            <a:chExt cx="6248400" cy="933450"/>
          </a:xfrm>
        </p:grpSpPr>
        <p:sp>
          <p:nvSpPr>
            <p:cNvPr id="12" name="TextBox 12"/>
            <p:cNvSpPr txBox="1"/>
            <p:nvPr/>
          </p:nvSpPr>
          <p:spPr>
            <a:xfrm>
              <a:off x="5410200" y="2765425"/>
              <a:ext cx="75690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4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89954" y="2924175"/>
              <a:ext cx="28967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spc="75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PROPOSED USE / TO VALIDATE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484620" y="3187700"/>
              <a:ext cx="355932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Stop + secure the trolley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429250" y="3619500"/>
              <a:ext cx="6229350" cy="9525"/>
            </a:xfrm>
            <a:custGeom>
              <a:avLst/>
              <a:gdLst/>
              <a:ahLst/>
              <a:cxnLst/>
              <a:rect l="l" t="t" r="r" b="b"/>
              <a:pathLst>
                <a:path w="6229350" h="9525">
                  <a:moveTo>
                    <a:pt x="0" y="0"/>
                  </a:moveTo>
                  <a:lnTo>
                    <a:pt x="6229350" y="0"/>
                  </a:lnTo>
                </a:path>
              </a:pathLst>
            </a:custGeom>
            <a:noFill/>
            <a:ln w="9525">
              <a:solidFill>
                <a:schemeClr val="accent3">
                  <a:alpha val="50000"/>
                </a:schemeClr>
              </a:solidFill>
            </a:ln>
          </p:spPr>
        </p:sp>
      </p:grpSp>
      <p:grpSp>
        <p:nvGrpSpPr>
          <p:cNvPr id="20" name="rest-step"/>
          <p:cNvGrpSpPr/>
          <p:nvPr/>
        </p:nvGrpSpPr>
        <p:grpSpPr>
          <a:xfrm>
            <a:off x="5410200" y="3851275"/>
            <a:ext cx="6248400" cy="933450"/>
            <a:chOff x="5410200" y="3851275"/>
            <a:chExt cx="6248400" cy="933450"/>
          </a:xfrm>
        </p:grpSpPr>
        <p:sp>
          <p:nvSpPr>
            <p:cNvPr id="17" name="TextBox 17"/>
            <p:cNvSpPr txBox="1"/>
            <p:nvPr/>
          </p:nvSpPr>
          <p:spPr>
            <a:xfrm>
              <a:off x="5410200" y="3851275"/>
              <a:ext cx="75690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4800" b="1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484620" y="4130675"/>
              <a:ext cx="18930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Unfold + rest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429250" y="4676775"/>
              <a:ext cx="6229350" cy="9525"/>
            </a:xfrm>
            <a:custGeom>
              <a:avLst/>
              <a:gdLst/>
              <a:ahLst/>
              <a:cxnLst/>
              <a:rect l="l" t="t" r="r" b="b"/>
              <a:pathLst>
                <a:path w="6229350" h="9525">
                  <a:moveTo>
                    <a:pt x="0" y="0"/>
                  </a:moveTo>
                  <a:lnTo>
                    <a:pt x="6229350" y="0"/>
                  </a:lnTo>
                </a:path>
              </a:pathLst>
            </a:custGeom>
            <a:noFill/>
            <a:ln w="9525">
              <a:solidFill>
                <a:schemeClr val="accent3">
                  <a:alpha val="50000"/>
                </a:schemeClr>
              </a:solidFill>
            </a:ln>
          </p:spPr>
        </p:sp>
      </p:grpSp>
      <p:grpSp>
        <p:nvGrpSpPr>
          <p:cNvPr id="23" name="resume-step"/>
          <p:cNvGrpSpPr/>
          <p:nvPr/>
        </p:nvGrpSpPr>
        <p:grpSpPr>
          <a:xfrm>
            <a:off x="5410200" y="4918075"/>
            <a:ext cx="3354206" cy="933450"/>
            <a:chOff x="5410200" y="4918075"/>
            <a:chExt cx="3354206" cy="933450"/>
          </a:xfrm>
        </p:grpSpPr>
        <p:sp>
          <p:nvSpPr>
            <p:cNvPr id="21" name="TextBox 21"/>
            <p:cNvSpPr txBox="1"/>
            <p:nvPr/>
          </p:nvSpPr>
          <p:spPr>
            <a:xfrm>
              <a:off x="5410200" y="4918075"/>
              <a:ext cx="756906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4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484620" y="5197475"/>
              <a:ext cx="227978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Fold + continue</a:t>
              </a:r>
            </a:p>
          </p:txBody>
        </p:sp>
      </p:grpSp>
      <p:grpSp>
        <p:nvGrpSpPr>
          <p:cNvPr id="25" name="safety-gap"/>
          <p:cNvGrpSpPr/>
          <p:nvPr/>
        </p:nvGrpSpPr>
        <p:grpSpPr>
          <a:xfrm>
            <a:off x="5423154" y="5895975"/>
            <a:ext cx="4427632" cy="234696"/>
            <a:chOff x="5423154" y="5895975"/>
            <a:chExt cx="4427632" cy="234696"/>
          </a:xfrm>
        </p:grpSpPr>
        <p:sp>
          <p:nvSpPr>
            <p:cNvPr id="24" name="TextBox 24"/>
            <p:cNvSpPr txBox="1"/>
            <p:nvPr/>
          </p:nvSpPr>
          <p:spPr>
            <a:xfrm>
              <a:off x="5423154" y="5895975"/>
              <a:ext cx="44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b="1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[NEEDED] Operating sequence, brake + stability sign-off.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528447" y="6369050"/>
            <a:ext cx="11137011" cy="264033"/>
            <a:chOff x="528447" y="6369050"/>
            <a:chExt cx="11137011" cy="264033"/>
          </a:xfrm>
        </p:grpSpPr>
        <p:sp>
          <p:nvSpPr>
            <p:cNvPr id="26" name="TextBox 26"/>
            <p:cNvSpPr txBox="1"/>
            <p:nvPr/>
          </p:nvSpPr>
          <p:spPr>
            <a:xfrm>
              <a:off x="528447" y="6369050"/>
              <a:ext cx="628805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98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Source: Group 7 HCD deck, pp. 18, 23–26. Concept, not a certified product; proposed operating sequence.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95954" y="6369050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N" sz="135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06 / 10</a:t>
              </a:r>
            </a:p>
          </p:txBody>
        </p:sp>
      </p:grpSp>
    </p:spTree>
  </p:cSld>
  <p:clrMapOvr>
    <a:masterClrMapping/>
  </p:clrMapOvr>
  <mc:AlternateContent>
    <mc:Choice Requires="p159">
      <p:transition p14:dur="10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 decel="7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 decel="7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grpId="0" nodeType="clickEffect" decel="7000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ide-field"/>
          <p:cNvSpPr/>
          <p:nvPr/>
        </p:nvSpPr>
        <p:spPr>
          <a:xfrm>
            <a:off x="0" y="0"/>
            <a:ext cx="523875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</p:sp>
      <p:grpSp>
        <p:nvGrpSpPr>
          <p:cNvPr id="5" name="brand"/>
          <p:cNvGrpSpPr/>
          <p:nvPr/>
        </p:nvGrpSpPr>
        <p:grpSpPr>
          <a:xfrm>
            <a:off x="526542" y="406400"/>
            <a:ext cx="11138154" cy="264033"/>
            <a:chOff x="526542" y="406400"/>
            <a:chExt cx="11138154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526542" y="406400"/>
              <a:ext cx="15287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350" b="1" spc="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PAUSE POINT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665498" y="419100"/>
              <a:ext cx="2999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WHAT / FIVE INTENDED FUNCTIONS</a:t>
              </a:r>
            </a:p>
          </p:txBody>
        </p:sp>
      </p:grpSp>
      <p:grpSp>
        <p:nvGrpSpPr>
          <p:cNvPr id="7" name="headline"/>
          <p:cNvGrpSpPr/>
          <p:nvPr/>
        </p:nvGrpSpPr>
        <p:grpSpPr>
          <a:xfrm>
            <a:off x="514350" y="1257300"/>
            <a:ext cx="3417875" cy="2362200"/>
            <a:chOff x="514350" y="1257300"/>
            <a:chExt cx="3417875" cy="2362200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1257300"/>
              <a:ext cx="3417875" cy="23622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625"/>
                </a:lnSpc>
              </a:pPr>
              <a:r>
                <a:rPr lang="en-IN" sz="4800" b="1" spc="-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Built around</a:t>
              </a:r>
              <a:br>
                <a:rPr lang="en-IN" sz="4800" b="1" spc="-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IN" sz="4800" b="1" spc="-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practical</a:t>
              </a:r>
              <a:br>
                <a:rPr lang="en-IN" sz="4800" b="1" spc="-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IN" sz="4800" b="1" spc="-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value.</a:t>
              </a:r>
            </a:p>
          </p:txBody>
        </p:sp>
      </p:grpSp>
      <p:grpSp>
        <p:nvGrpSpPr>
          <p:cNvPr id="11" name="promise-boundary"/>
          <p:cNvGrpSpPr/>
          <p:nvPr/>
        </p:nvGrpSpPr>
        <p:grpSpPr>
          <a:xfrm>
            <a:off x="562356" y="4029075"/>
            <a:ext cx="2457953" cy="1822069"/>
            <a:chOff x="562356" y="4029075"/>
            <a:chExt cx="2457953" cy="1822069"/>
          </a:xfrm>
        </p:grpSpPr>
        <p:sp>
          <p:nvSpPr>
            <p:cNvPr id="8" name="Rectangle 8"/>
            <p:cNvSpPr/>
            <p:nvPr/>
          </p:nvSpPr>
          <p:spPr>
            <a:xfrm>
              <a:off x="571500" y="4029075"/>
              <a:ext cx="171450" cy="55245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876300" y="4029075"/>
              <a:ext cx="171450" cy="552450"/>
            </a:xfrm>
            <a:prstGeom prst="roundRect">
              <a:avLst>
                <a:gd name="adj" fmla="val 2222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62356" y="4832350"/>
              <a:ext cx="2457953" cy="10187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625"/>
                </a:lnSpc>
              </a:pP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Five intended functions.</a:t>
              </a:r>
              <a:b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Three practical benefits.</a:t>
              </a:r>
              <a:b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All still to validate.</a:t>
              </a:r>
            </a:p>
          </p:txBody>
        </p:sp>
      </p:grpSp>
      <p:grpSp>
        <p:nvGrpSpPr>
          <p:cNvPr id="16" name="rest-benefit"/>
          <p:cNvGrpSpPr/>
          <p:nvPr/>
        </p:nvGrpSpPr>
        <p:grpSpPr>
          <a:xfrm>
            <a:off x="5703570" y="1323975"/>
            <a:ext cx="5955030" cy="1304925"/>
            <a:chOff x="5703570" y="1323975"/>
            <a:chExt cx="5955030" cy="1304925"/>
          </a:xfrm>
        </p:grpSpPr>
        <p:sp>
          <p:nvSpPr>
            <p:cNvPr id="12" name="TextBox 12"/>
            <p:cNvSpPr txBox="1"/>
            <p:nvPr/>
          </p:nvSpPr>
          <p:spPr>
            <a:xfrm>
              <a:off x="5708904" y="1323975"/>
              <a:ext cx="40996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FOLDABLE SEAT / 02 BODY-SUPPORT INTENT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03570" y="1692275"/>
              <a:ext cx="247237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Independent rest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05856" y="2152650"/>
              <a:ext cx="325762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less tiring wait for shoppers.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715000" y="261937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</p:grpSp>
      <p:grpSp>
        <p:nvGrpSpPr>
          <p:cNvPr id="21" name="flow-benefit"/>
          <p:cNvGrpSpPr/>
          <p:nvPr/>
        </p:nvGrpSpPr>
        <p:grpSpPr>
          <a:xfrm>
            <a:off x="5703570" y="3019425"/>
            <a:ext cx="5955030" cy="1304925"/>
            <a:chOff x="5703570" y="3019425"/>
            <a:chExt cx="5955030" cy="1304925"/>
          </a:xfrm>
        </p:grpSpPr>
        <p:sp>
          <p:nvSpPr>
            <p:cNvPr id="17" name="TextBox 17"/>
            <p:cNvSpPr txBox="1"/>
            <p:nvPr/>
          </p:nvSpPr>
          <p:spPr>
            <a:xfrm>
              <a:off x="5708904" y="3019425"/>
              <a:ext cx="43273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COMPACT FORM / 04 PROPOSED WHEEL BRAKE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03570" y="3387725"/>
              <a:ext cx="221186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Flow + stability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05856" y="3848100"/>
              <a:ext cx="337968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Rest without blocking the shop.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715000" y="4314825"/>
              <a:ext cx="5943600" cy="9525"/>
            </a:xfrm>
            <a:custGeom>
              <a:avLst/>
              <a:gdLst/>
              <a:ahLst/>
              <a:cxnLst/>
              <a:rect l="l" t="t" r="r" b="b"/>
              <a:pathLst>
                <a:path w="5943600" h="9525">
                  <a:moveTo>
                    <a:pt x="0" y="0"/>
                  </a:moveTo>
                  <a:lnTo>
                    <a:pt x="59436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</p:grpSp>
      <p:grpSp>
        <p:nvGrpSpPr>
          <p:cNvPr id="25" name="upkeep-benefit"/>
          <p:cNvGrpSpPr/>
          <p:nvPr/>
        </p:nvGrpSpPr>
        <p:grpSpPr>
          <a:xfrm>
            <a:off x="5703570" y="4714875"/>
            <a:ext cx="2937077" cy="1180719"/>
            <a:chOff x="5703570" y="4714875"/>
            <a:chExt cx="2937077" cy="1180719"/>
          </a:xfrm>
        </p:grpSpPr>
        <p:sp>
          <p:nvSpPr>
            <p:cNvPr id="22" name="TextBox 22"/>
            <p:cNvSpPr txBox="1"/>
            <p:nvPr/>
          </p:nvSpPr>
          <p:spPr>
            <a:xfrm>
              <a:off x="5708904" y="4714875"/>
              <a:ext cx="2714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05 FIRM, WIPE-CLEAN SURFACE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03570" y="5083175"/>
              <a:ext cx="230458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Routine upkeep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705856" y="5543550"/>
              <a:ext cx="293479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Simpler everyday cleaning.</a:t>
              </a:r>
            </a:p>
          </p:txBody>
        </p:sp>
      </p:grpSp>
      <p:grpSp>
        <p:nvGrpSpPr>
          <p:cNvPr id="29" name="footer"/>
          <p:cNvGrpSpPr/>
          <p:nvPr/>
        </p:nvGrpSpPr>
        <p:grpSpPr>
          <a:xfrm>
            <a:off x="528447" y="6264275"/>
            <a:ext cx="11137011" cy="391668"/>
            <a:chOff x="528447" y="6264275"/>
            <a:chExt cx="11137011" cy="391668"/>
          </a:xfrm>
        </p:grpSpPr>
        <p:sp>
          <p:nvSpPr>
            <p:cNvPr id="26" name="TextBox 26"/>
            <p:cNvSpPr txBox="1"/>
            <p:nvPr/>
          </p:nvSpPr>
          <p:spPr>
            <a:xfrm>
              <a:off x="528447" y="6264275"/>
              <a:ext cx="649566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[NEEDED] Comfort, clearance, stability and durability proof. These are intended benefits, not tested outcomes.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28447" y="6464300"/>
              <a:ext cx="256832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Source: Group 7 HCD deck, pp. 18, 23, 26.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095954" y="6369050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07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600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brand"/>
          <p:cNvGrpSpPr/>
          <p:nvPr/>
        </p:nvGrpSpPr>
        <p:grpSpPr>
          <a:xfrm>
            <a:off x="526542" y="406400"/>
            <a:ext cx="11138154" cy="264033"/>
            <a:chOff x="526542" y="406400"/>
            <a:chExt cx="111381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06400"/>
              <a:ext cx="15287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350" b="1" spc="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PAUSE POINT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8626957" y="419100"/>
              <a:ext cx="30377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WHAT / THE PHYSICAL EXPERIENCE</a:t>
              </a:r>
            </a:p>
          </p:txBody>
        </p:sp>
      </p:grpSp>
      <p:grpSp>
        <p:nvGrpSpPr>
          <p:cNvPr id="6" name="headline"/>
          <p:cNvGrpSpPr/>
          <p:nvPr/>
        </p:nvGrpSpPr>
        <p:grpSpPr>
          <a:xfrm>
            <a:off x="514350" y="1069975"/>
            <a:ext cx="8255340" cy="933450"/>
            <a:chOff x="514350" y="1069975"/>
            <a:chExt cx="8255340" cy="933450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1069975"/>
              <a:ext cx="825534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4800" b="1" spc="-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Make a pause feel effortless.</a:t>
              </a:r>
            </a:p>
          </p:txBody>
        </p:sp>
      </p:grpSp>
      <p:grpSp>
        <p:nvGrpSpPr>
          <p:cNvPr id="11" name="notice-moment"/>
          <p:cNvGrpSpPr/>
          <p:nvPr/>
        </p:nvGrpSpPr>
        <p:grpSpPr>
          <a:xfrm>
            <a:off x="514350" y="2466975"/>
            <a:ext cx="11144250" cy="1079500"/>
            <a:chOff x="514350" y="2466975"/>
            <a:chExt cx="11144250" cy="1079500"/>
          </a:xfrm>
        </p:grpSpPr>
        <p:sp>
          <p:nvSpPr>
            <p:cNvPr id="7" name="TextBox 7"/>
            <p:cNvSpPr txBox="1"/>
            <p:nvPr/>
          </p:nvSpPr>
          <p:spPr>
            <a:xfrm>
              <a:off x="527304" y="2466975"/>
              <a:ext cx="15297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01 / EASY TO FIND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14350" y="2613025"/>
              <a:ext cx="2090474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4800" b="1" spc="-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Notice.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48656" y="2517775"/>
              <a:ext cx="2369119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 visible resting option.</a:t>
              </a:r>
              <a:b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Bags stay nearby.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5257800" y="3314700"/>
              <a:ext cx="6400800" cy="9525"/>
            </a:xfrm>
            <a:custGeom>
              <a:avLst/>
              <a:gdLst/>
              <a:ahLst/>
              <a:cxnLst/>
              <a:rect l="l" t="t" r="r" b="b"/>
              <a:pathLst>
                <a:path w="6400800" h="9525">
                  <a:moveTo>
                    <a:pt x="0" y="0"/>
                  </a:moveTo>
                  <a:lnTo>
                    <a:pt x="64008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</p:grpSp>
      <p:grpSp>
        <p:nvGrpSpPr>
          <p:cNvPr id="16" name="rest-moment"/>
          <p:cNvGrpSpPr/>
          <p:nvPr/>
        </p:nvGrpSpPr>
        <p:grpSpPr>
          <a:xfrm>
            <a:off x="514350" y="3733800"/>
            <a:ext cx="11144250" cy="1079500"/>
            <a:chOff x="514350" y="3733800"/>
            <a:chExt cx="11144250" cy="1079500"/>
          </a:xfrm>
        </p:grpSpPr>
        <p:sp>
          <p:nvSpPr>
            <p:cNvPr id="12" name="TextBox 12"/>
            <p:cNvSpPr txBox="1"/>
            <p:nvPr/>
          </p:nvSpPr>
          <p:spPr>
            <a:xfrm>
              <a:off x="527304" y="3733800"/>
              <a:ext cx="1482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02 / EASY TO USE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14350" y="3879850"/>
              <a:ext cx="1558705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4800" b="1" spc="-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Rest.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248656" y="3784600"/>
              <a:ext cx="4161252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Independent use. Rounded, firm surface.</a:t>
              </a:r>
              <a:b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Body-support intent.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5257800" y="4581525"/>
              <a:ext cx="6400800" cy="9525"/>
            </a:xfrm>
            <a:custGeom>
              <a:avLst/>
              <a:gdLst/>
              <a:ahLst/>
              <a:cxnLst/>
              <a:rect l="l" t="t" r="r" b="b"/>
              <a:pathLst>
                <a:path w="6400800" h="9525">
                  <a:moveTo>
                    <a:pt x="0" y="0"/>
                  </a:moveTo>
                  <a:lnTo>
                    <a:pt x="64008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</a:ln>
          </p:spPr>
        </p:sp>
      </p:grpSp>
      <p:grpSp>
        <p:nvGrpSpPr>
          <p:cNvPr id="20" name="resume-moment"/>
          <p:cNvGrpSpPr/>
          <p:nvPr/>
        </p:nvGrpSpPr>
        <p:grpSpPr>
          <a:xfrm>
            <a:off x="514350" y="5000625"/>
            <a:ext cx="7968219" cy="1079500"/>
            <a:chOff x="514350" y="5000625"/>
            <a:chExt cx="7968219" cy="1079500"/>
          </a:xfrm>
        </p:grpSpPr>
        <p:sp>
          <p:nvSpPr>
            <p:cNvPr id="17" name="TextBox 17"/>
            <p:cNvSpPr txBox="1"/>
            <p:nvPr/>
          </p:nvSpPr>
          <p:spPr>
            <a:xfrm>
              <a:off x="527304" y="5000625"/>
              <a:ext cx="1700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03 / EASY TO CLEAR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14350" y="5146675"/>
              <a:ext cx="2634860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4800" b="1" spc="-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Resume.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248656" y="5051425"/>
              <a:ext cx="3233913" cy="6949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700"/>
                </a:lnSpc>
              </a:pP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Simple fold-away.</a:t>
              </a:r>
              <a:b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Keep the aisle and queue clear.</a:t>
              </a:r>
            </a:p>
          </p:txBody>
        </p:sp>
      </p:grpSp>
      <p:grpSp>
        <p:nvGrpSpPr>
          <p:cNvPr id="24" name="footer"/>
          <p:cNvGrpSpPr/>
          <p:nvPr/>
        </p:nvGrpSpPr>
        <p:grpSpPr>
          <a:xfrm>
            <a:off x="527304" y="6124575"/>
            <a:ext cx="11138154" cy="508508"/>
            <a:chOff x="527304" y="6124575"/>
            <a:chExt cx="11138154" cy="508508"/>
          </a:xfrm>
        </p:grpSpPr>
        <p:sp>
          <p:nvSpPr>
            <p:cNvPr id="21" name="TextBox 21"/>
            <p:cNvSpPr txBox="1"/>
            <p:nvPr/>
          </p:nvSpPr>
          <p:spPr>
            <a:xfrm>
              <a:off x="527304" y="6124575"/>
              <a:ext cx="5937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[NEEDED] On-trolley instructions, accessibility checks and safety validation.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28447" y="6426200"/>
              <a:ext cx="6002976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Source: Group 7 HCD deck, pp. 15, 18, 23–26. Design goals, not verified capabilities; no app screens.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095954" y="6369050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08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5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" presetClass="entr" presetSubtype="1" fill="hold" grpId="0" nodeType="withEffect" decel="70000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9" presetID="2" presetClass="entr" presetSubtype="1" fill="hold" grpId="0" nodeType="withEffect" decel="70000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3" presetID="2" presetClass="entr" presetSubtype="1" fill="hold" grpId="0" nodeType="withEffect" decel="70000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brand"/>
          <p:cNvGrpSpPr/>
          <p:nvPr/>
        </p:nvGrpSpPr>
        <p:grpSpPr>
          <a:xfrm>
            <a:off x="526542" y="406400"/>
            <a:ext cx="11138154" cy="264033"/>
            <a:chOff x="526542" y="406400"/>
            <a:chExt cx="11138154" cy="264033"/>
          </a:xfrm>
        </p:grpSpPr>
        <p:sp>
          <p:nvSpPr>
            <p:cNvPr id="2" name="TextBox 2"/>
            <p:cNvSpPr txBox="1"/>
            <p:nvPr/>
          </p:nvSpPr>
          <p:spPr>
            <a:xfrm>
              <a:off x="526542" y="406400"/>
              <a:ext cx="15287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350" b="1" spc="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PAUSE POINT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8702879" y="419100"/>
              <a:ext cx="29618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PROVE / THE MEASUREMENT PLAN</a:t>
              </a:r>
            </a:p>
          </p:txBody>
        </p:sp>
      </p:grpSp>
      <p:grpSp>
        <p:nvGrpSpPr>
          <p:cNvPr id="6" name="headline"/>
          <p:cNvGrpSpPr/>
          <p:nvPr/>
        </p:nvGrpSpPr>
        <p:grpSpPr>
          <a:xfrm>
            <a:off x="514350" y="1085850"/>
            <a:ext cx="6665732" cy="1647825"/>
            <a:chOff x="514350" y="1085850"/>
            <a:chExt cx="6665732" cy="1647825"/>
          </a:xfrm>
        </p:grpSpPr>
        <p:sp>
          <p:nvSpPr>
            <p:cNvPr id="5" name="TextBox 5"/>
            <p:cNvSpPr txBox="1"/>
            <p:nvPr/>
          </p:nvSpPr>
          <p:spPr>
            <a:xfrm>
              <a:off x="514350" y="1085850"/>
              <a:ext cx="6665732" cy="16478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5625"/>
                </a:lnSpc>
              </a:pPr>
              <a:r>
                <a:rPr lang="en-IN" sz="4800" b="1" spc="-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Comfort first.</a:t>
              </a:r>
              <a:br>
                <a:rPr lang="en-IN" sz="4800" b="1" spc="-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IN" sz="4800" b="1" spc="-1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Then the business case.</a:t>
              </a:r>
            </a:p>
          </p:txBody>
        </p:sp>
      </p:grpSp>
      <p:grpSp>
        <p:nvGrpSpPr>
          <p:cNvPr id="12" name="comfort-measures"/>
          <p:cNvGrpSpPr/>
          <p:nvPr/>
        </p:nvGrpSpPr>
        <p:grpSpPr>
          <a:xfrm>
            <a:off x="521970" y="3028950"/>
            <a:ext cx="3345180" cy="2120646"/>
            <a:chOff x="521970" y="3028950"/>
            <a:chExt cx="3345180" cy="2120646"/>
          </a:xfrm>
        </p:grpSpPr>
        <p:sp>
          <p:nvSpPr>
            <p:cNvPr id="7" name="Rectangle 7"/>
            <p:cNvSpPr/>
            <p:nvPr/>
          </p:nvSpPr>
          <p:spPr>
            <a:xfrm>
              <a:off x="533400" y="3028950"/>
              <a:ext cx="3333750" cy="66675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21970" y="3273425"/>
              <a:ext cx="6375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Feel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24256" y="3708400"/>
              <a:ext cx="2293087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Rest uptake, feedback</a:t>
              </a:r>
              <a:b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and safety incidents.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27304" y="4552950"/>
              <a:ext cx="23007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Baseline → target: [NEEDED]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27304" y="4914900"/>
              <a:ext cx="2401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Observation + shopper feedback.</a:t>
              </a:r>
            </a:p>
          </p:txBody>
        </p:sp>
      </p:grpSp>
      <p:grpSp>
        <p:nvGrpSpPr>
          <p:cNvPr id="18" name="shopping-measures"/>
          <p:cNvGrpSpPr/>
          <p:nvPr/>
        </p:nvGrpSpPr>
        <p:grpSpPr>
          <a:xfrm>
            <a:off x="4331970" y="3028950"/>
            <a:ext cx="3345180" cy="2120646"/>
            <a:chOff x="4331970" y="3028950"/>
            <a:chExt cx="3345180" cy="2120646"/>
          </a:xfrm>
        </p:grpSpPr>
        <p:sp>
          <p:nvSpPr>
            <p:cNvPr id="13" name="Rectangle 13"/>
            <p:cNvSpPr/>
            <p:nvPr/>
          </p:nvSpPr>
          <p:spPr>
            <a:xfrm>
              <a:off x="4343400" y="3028950"/>
              <a:ext cx="3333750" cy="666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331970" y="3273425"/>
              <a:ext cx="79062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Shop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34256" y="3708400"/>
              <a:ext cx="2038563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Footfall, basket size</a:t>
              </a:r>
              <a:b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and repeat rate.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37304" y="4552950"/>
              <a:ext cx="24796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Baselines → targets: [NEEDED]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37304" y="4914900"/>
              <a:ext cx="22215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Visit counts + transaction data.</a:t>
              </a:r>
            </a:p>
          </p:txBody>
        </p:sp>
      </p:grpSp>
      <p:grpSp>
        <p:nvGrpSpPr>
          <p:cNvPr id="24" name="economic-measures"/>
          <p:cNvGrpSpPr/>
          <p:nvPr/>
        </p:nvGrpSpPr>
        <p:grpSpPr>
          <a:xfrm>
            <a:off x="8141970" y="3028950"/>
            <a:ext cx="3516630" cy="2120646"/>
            <a:chOff x="8141970" y="3028950"/>
            <a:chExt cx="3516630" cy="2120646"/>
          </a:xfrm>
        </p:grpSpPr>
        <p:sp>
          <p:nvSpPr>
            <p:cNvPr id="19" name="Rectangle 19"/>
            <p:cNvSpPr/>
            <p:nvPr/>
          </p:nvSpPr>
          <p:spPr>
            <a:xfrm>
              <a:off x="8153400" y="3028950"/>
              <a:ext cx="3505200" cy="6667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41970" y="3273425"/>
              <a:ext cx="200290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Earn the case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44256" y="3708400"/>
              <a:ext cx="2178558" cy="67589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550"/>
                </a:lnSpc>
              </a:pP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Cost, incremental</a:t>
              </a:r>
              <a:b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</a:br>
              <a:r>
                <a:rPr lang="en-I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contribution and ROI.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47304" y="4552950"/>
              <a:ext cx="26270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ROI baseline → target: [NEEDED]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47304" y="4914900"/>
              <a:ext cx="20238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Cost + contribution tracking.</a:t>
              </a:r>
            </a:p>
          </p:txBody>
        </p:sp>
      </p:grpSp>
      <p:grpSp>
        <p:nvGrpSpPr>
          <p:cNvPr id="27" name="measurement-sequence"/>
          <p:cNvGrpSpPr/>
          <p:nvPr/>
        </p:nvGrpSpPr>
        <p:grpSpPr>
          <a:xfrm>
            <a:off x="533400" y="5629275"/>
            <a:ext cx="11125200" cy="504825"/>
            <a:chOff x="533400" y="5629275"/>
            <a:chExt cx="11125200" cy="504825"/>
          </a:xfrm>
        </p:grpSpPr>
        <p:sp>
          <p:nvSpPr>
            <p:cNvPr id="25" name="Rectangle 25"/>
            <p:cNvSpPr/>
            <p:nvPr/>
          </p:nvSpPr>
          <p:spPr>
            <a:xfrm>
              <a:off x="533400" y="5629275"/>
              <a:ext cx="11125200" cy="50482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55142" y="5788025"/>
              <a:ext cx="79830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350" b="1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PROPOSED: PRE-PILOT BASELINE → PILOT / CONTROL → REVIEW DATES [NEEDED]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528447" y="6292850"/>
            <a:ext cx="11137011" cy="340233"/>
            <a:chOff x="528447" y="6292850"/>
            <a:chExt cx="11137011" cy="340233"/>
          </a:xfrm>
        </p:grpSpPr>
        <p:sp>
          <p:nvSpPr>
            <p:cNvPr id="28" name="TextBox 28"/>
            <p:cNvSpPr txBox="1"/>
            <p:nvPr/>
          </p:nvSpPr>
          <p:spPr>
            <a:xfrm>
              <a:off x="528447" y="6292850"/>
              <a:ext cx="7023271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9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[NEEDED] Owners, definitions, repeat tracking and attribution. Proposed evaluation only; no source commercial results.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095954" y="6369050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09 / 10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p14="http://schemas.microsoft.com/office/powerpoint/2010/main" p14:dur="750">
        <p14:reveal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18" presetID="22" presetClass="entr" presetSubtype="2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6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ding-field"/>
          <p:cNvSpPr/>
          <p:nvPr/>
        </p:nvSpPr>
        <p:spPr>
          <a:xfrm>
            <a:off x="8039100" y="2924175"/>
            <a:ext cx="6972300" cy="6972300"/>
          </a:xfrm>
          <a:prstGeom prst="ellipse">
            <a:avLst/>
          </a:prstGeom>
          <a:solidFill>
            <a:schemeClr val="accent3">
              <a:alpha val="9000"/>
            </a:schemeClr>
          </a:solidFill>
          <a:ln>
            <a:noFill/>
          </a:ln>
        </p:spPr>
      </p:sp>
      <p:grpSp>
        <p:nvGrpSpPr>
          <p:cNvPr id="5" name="brand"/>
          <p:cNvGrpSpPr/>
          <p:nvPr/>
        </p:nvGrpSpPr>
        <p:grpSpPr>
          <a:xfrm>
            <a:off x="526542" y="406400"/>
            <a:ext cx="11138154" cy="264033"/>
            <a:chOff x="526542" y="406400"/>
            <a:chExt cx="11138154" cy="264033"/>
          </a:xfrm>
        </p:grpSpPr>
        <p:sp>
          <p:nvSpPr>
            <p:cNvPr id="3" name="TextBox 3"/>
            <p:cNvSpPr txBox="1"/>
            <p:nvPr/>
          </p:nvSpPr>
          <p:spPr>
            <a:xfrm>
              <a:off x="526542" y="406400"/>
              <a:ext cx="15287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350" b="1" spc="15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PAUSE POINT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698775" y="419100"/>
              <a:ext cx="19659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N" sz="120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PROVE / THE DECISION</a:t>
              </a:r>
            </a:p>
          </p:txBody>
        </p:sp>
      </p:grpSp>
      <p:grpSp>
        <p:nvGrpSpPr>
          <p:cNvPr id="7" name="headline"/>
          <p:cNvGrpSpPr/>
          <p:nvPr/>
        </p:nvGrpSpPr>
        <p:grpSpPr>
          <a:xfrm>
            <a:off x="514350" y="1377950"/>
            <a:ext cx="5312771" cy="2438400"/>
            <a:chOff x="514350" y="1377950"/>
            <a:chExt cx="5312771" cy="2438400"/>
          </a:xfrm>
        </p:grpSpPr>
        <p:sp>
          <p:nvSpPr>
            <p:cNvPr id="6" name="TextBox 6"/>
            <p:cNvSpPr txBox="1"/>
            <p:nvPr/>
          </p:nvSpPr>
          <p:spPr>
            <a:xfrm>
              <a:off x="514350" y="1377950"/>
              <a:ext cx="5312771" cy="2438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8250"/>
                </a:lnSpc>
              </a:pPr>
              <a:r>
                <a:rPr lang="en-IN" sz="7200" b="1" spc="-225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Pilot. Prove.</a:t>
              </a:r>
              <a:br>
                <a:rPr lang="en-IN" sz="7200" b="1" spc="-225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</a:br>
              <a:r>
                <a:rPr lang="en-IN" sz="7200" b="1" spc="-225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Then decide.</a:t>
              </a:r>
            </a:p>
          </p:txBody>
        </p:sp>
      </p:grpSp>
      <p:grpSp>
        <p:nvGrpSpPr>
          <p:cNvPr id="11" name="ask"/>
          <p:cNvGrpSpPr/>
          <p:nvPr/>
        </p:nvGrpSpPr>
        <p:grpSpPr>
          <a:xfrm>
            <a:off x="560070" y="4267200"/>
            <a:ext cx="5149320" cy="1190244"/>
            <a:chOff x="560070" y="4267200"/>
            <a:chExt cx="5149320" cy="1190244"/>
          </a:xfrm>
        </p:grpSpPr>
        <p:sp>
          <p:nvSpPr>
            <p:cNvPr id="8" name="TextBox 8"/>
            <p:cNvSpPr txBox="1"/>
            <p:nvPr/>
          </p:nvSpPr>
          <p:spPr>
            <a:xfrm>
              <a:off x="565404" y="4267200"/>
              <a:ext cx="8705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spc="1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THE ASK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60070" y="4597400"/>
              <a:ext cx="51493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Sponsor a safety-cleared pilot plan.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2356" y="5105400"/>
              <a:ext cx="35279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80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Evidence—not a rollout promise.</a:t>
              </a:r>
            </a:p>
          </p:txBody>
        </p:sp>
      </p:grpSp>
      <p:grpSp>
        <p:nvGrpSpPr>
          <p:cNvPr id="15" name="validate-gate"/>
          <p:cNvGrpSpPr/>
          <p:nvPr/>
        </p:nvGrpSpPr>
        <p:grpSpPr>
          <a:xfrm>
            <a:off x="7113270" y="1533525"/>
            <a:ext cx="3622647" cy="1034796"/>
            <a:chOff x="7113270" y="1533525"/>
            <a:chExt cx="3622647" cy="1034796"/>
          </a:xfrm>
        </p:grpSpPr>
        <p:sp>
          <p:nvSpPr>
            <p:cNvPr id="12" name="TextBox 12"/>
            <p:cNvSpPr txBox="1"/>
            <p:nvPr/>
          </p:nvSpPr>
          <p:spPr>
            <a:xfrm>
              <a:off x="7118604" y="1533525"/>
              <a:ext cx="11695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01 / VALIDATE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13270" y="1825625"/>
              <a:ext cx="18337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Clear safety.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118604" y="2333625"/>
              <a:ext cx="36173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[NEEDED] Brake, load, stability + aisle-fit sign-off.</a:t>
              </a:r>
            </a:p>
          </p:txBody>
        </p:sp>
      </p:grpSp>
      <p:grpSp>
        <p:nvGrpSpPr>
          <p:cNvPr id="19" name="pilot-gate"/>
          <p:cNvGrpSpPr/>
          <p:nvPr/>
        </p:nvGrpSpPr>
        <p:grpSpPr>
          <a:xfrm>
            <a:off x="7113270" y="3114675"/>
            <a:ext cx="4031486" cy="1034796"/>
            <a:chOff x="7113270" y="3114675"/>
            <a:chExt cx="4031486" cy="1034796"/>
          </a:xfrm>
        </p:grpSpPr>
        <p:sp>
          <p:nvSpPr>
            <p:cNvPr id="16" name="TextBox 16"/>
            <p:cNvSpPr txBox="1"/>
            <p:nvPr/>
          </p:nvSpPr>
          <p:spPr>
            <a:xfrm>
              <a:off x="7118604" y="3114675"/>
              <a:ext cx="837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02 / PILOT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113270" y="3406775"/>
              <a:ext cx="403148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Set the scope + investment.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18604" y="3914775"/>
              <a:ext cx="38260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[NEEDED] Stores, trolleys, owner, timeline + budget.</a:t>
              </a:r>
            </a:p>
          </p:txBody>
        </p:sp>
      </p:grpSp>
      <p:grpSp>
        <p:nvGrpSpPr>
          <p:cNvPr id="23" name="decision-gate"/>
          <p:cNvGrpSpPr/>
          <p:nvPr/>
        </p:nvGrpSpPr>
        <p:grpSpPr>
          <a:xfrm>
            <a:off x="7113270" y="4695825"/>
            <a:ext cx="3938561" cy="1034796"/>
            <a:chOff x="7113270" y="4695825"/>
            <a:chExt cx="3938561" cy="1034796"/>
          </a:xfrm>
        </p:grpSpPr>
        <p:sp>
          <p:nvSpPr>
            <p:cNvPr id="20" name="TextBox 20"/>
            <p:cNvSpPr txBox="1"/>
            <p:nvPr/>
          </p:nvSpPr>
          <p:spPr>
            <a:xfrm>
              <a:off x="7118604" y="4695825"/>
              <a:ext cx="9892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03 / DECIDE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13270" y="4987925"/>
              <a:ext cx="333287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2250" b="1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Agree go / no-go rules.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18604" y="5495925"/>
              <a:ext cx="39332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[NEEDED] Comfort / safety thresholds, KPIs + review.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527304" y="6096000"/>
            <a:ext cx="11138154" cy="559943"/>
            <a:chOff x="527304" y="6096000"/>
            <a:chExt cx="11138154" cy="559943"/>
          </a:xfrm>
        </p:grpSpPr>
        <p:sp>
          <p:nvSpPr>
            <p:cNvPr id="24" name="Line 24"/>
            <p:cNvSpPr/>
            <p:nvPr/>
          </p:nvSpPr>
          <p:spPr>
            <a:xfrm>
              <a:off x="533400" y="60960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chemeClr val="accent3">
                  <a:alpha val="40000"/>
                </a:schemeClr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7304" y="6191250"/>
              <a:ext cx="59086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120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Expected outcome: a decision grounded in evidence. Quantified uplift: [NEEDED].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8447" y="6464300"/>
              <a:ext cx="61444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IN" sz="98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Proposed gates, not commitments. Protect everyday value. Source risks: Group 7 HCD deck, pp. 26–27.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095954" y="6369050"/>
              <a:ext cx="5695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IN" sz="1350" dirty="0">
                  <a:solidFill>
                    <a:srgbClr val="F2EFE9"/>
                  </a:solidFill>
                  <a:latin typeface="+mn-lt"/>
                  <a:ea typeface="+mn-ea"/>
                  <a:cs typeface="+mn-cs"/>
                </a:rPr>
                <a:t>10 / 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75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5" presetID="2" presetClass="entr" presetSubtype="1" fill="hold" grpId="0" nodeType="withEffect" decel="70000">
                                  <p:stCondLst>
                                    <p:cond delay="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xmlns:p="http://schemas.openxmlformats.org/presentationml/2006/main"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xmlns:p="http://schemas.openxmlformats.org/presentationml/2006/main" id="24" presetID="2" presetClass="entr" presetSubtype="1" fill="hold" grpId="0" nodeType="withEffect" decel="70000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6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mart_pause_point">
  <a:themeElements>
    <a:clrScheme name="dmart_pause_point">
      <a:dk1>
        <a:srgbClr val="3A4C40"/>
      </a:dk1>
      <a:lt1>
        <a:srgbClr val="F2EFE9"/>
      </a:lt1>
      <a:dk2>
        <a:srgbClr val="1F497D"/>
      </a:dk2>
      <a:lt2>
        <a:srgbClr val="8BA892"/>
      </a:lt2>
      <a:accent1>
        <a:srgbClr val="3A4C40"/>
      </a:accent1>
      <a:accent2>
        <a:srgbClr val="C4694A"/>
      </a:accent2>
      <a:accent3>
        <a:srgbClr val="8BA892"/>
      </a:accent3>
      <a:accent4>
        <a:srgbClr val="3A4C40"/>
      </a:accent4>
      <a:accent5>
        <a:srgbClr val="3A4C40"/>
      </a:accent5>
      <a:accent6>
        <a:srgbClr val="8BA892"/>
      </a:accent6>
      <a:hlink>
        <a:srgbClr val="C4694A"/>
      </a:hlink>
      <a:folHlink>
        <a:srgbClr val="8BA892"/>
      </a:folHlink>
    </a:clrScheme>
    <a:fontScheme name="dmart_pause_poin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mart_pause_poi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dmart_pause_point">
  <a:themeElements>
    <a:clrScheme name="dmart_pause_point">
      <a:dk1>
        <a:srgbClr val="3A4C40"/>
      </a:dk1>
      <a:lt1>
        <a:srgbClr val="F2EFE9"/>
      </a:lt1>
      <a:dk2>
        <a:srgbClr val="1F497D"/>
      </a:dk2>
      <a:lt2>
        <a:srgbClr val="8BA892"/>
      </a:lt2>
      <a:accent1>
        <a:srgbClr val="3A4C40"/>
      </a:accent1>
      <a:accent2>
        <a:srgbClr val="C4694A"/>
      </a:accent2>
      <a:accent3>
        <a:srgbClr val="8BA892"/>
      </a:accent3>
      <a:accent4>
        <a:srgbClr val="3A4C40"/>
      </a:accent4>
      <a:accent5>
        <a:srgbClr val="3A4C40"/>
      </a:accent5>
      <a:accent6>
        <a:srgbClr val="8BA892"/>
      </a:accent6>
      <a:hlink>
        <a:srgbClr val="C4694A"/>
      </a:hlink>
      <a:folHlink>
        <a:srgbClr val="8BA892"/>
      </a:folHlink>
    </a:clrScheme>
    <a:fontScheme name="dmart_pause_point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mart_pause_poin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en-IN</dc:language>
  <cp:lastModifiedBy/>
  <cp:revision>1</cp:revision>
  <dcterms:created xsi:type="dcterms:W3CDTF">2026-10-30T09:54:44Z</dcterms:created>
  <dcterms:modified xsi:type="dcterms:W3CDTF">2026-10-30T09:54:44Z</dcterms:modified>
  <cp:category/>
  <cp:contentStatus/>
</cp:coreProperties>
</file>